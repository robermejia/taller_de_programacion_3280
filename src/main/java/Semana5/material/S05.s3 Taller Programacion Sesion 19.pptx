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403" r:id="rId3"/>
    <p:sldId id="404" r:id="rId4"/>
    <p:sldId id="405" r:id="rId5"/>
    <p:sldId id="406" r:id="rId6"/>
    <p:sldId id="258" r:id="rId7"/>
    <p:sldId id="257" r:id="rId8"/>
    <p:sldId id="263" r:id="rId9"/>
    <p:sldId id="264" r:id="rId10"/>
    <p:sldId id="380" r:id="rId11"/>
    <p:sldId id="396" r:id="rId12"/>
    <p:sldId id="395" r:id="rId13"/>
    <p:sldId id="397" r:id="rId14"/>
    <p:sldId id="398" r:id="rId15"/>
    <p:sldId id="400" r:id="rId16"/>
    <p:sldId id="399" r:id="rId17"/>
    <p:sldId id="401" r:id="rId18"/>
    <p:sldId id="261" r:id="rId19"/>
    <p:sldId id="329" r:id="rId20"/>
    <p:sldId id="25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8" roundtripDataSignature="AMtx7mh2+CB7AwAKHevBYi6hg66TyKQME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86062B-CF97-CD71-5A85-9B4FD42F42A3}" name="FERNANDO IGNACIO DIAZ SANCHEZ" initials="FIDS" userId="S::fidiaz@utp.edu.pe::ba36fe69-f35f-4358-9126-4b1eb463af6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CA5"/>
    <a:srgbClr val="65AAF7"/>
    <a:srgbClr val="33D6F5"/>
    <a:srgbClr val="8F32F6"/>
    <a:srgbClr val="FF0080"/>
    <a:srgbClr val="7200F3"/>
    <a:srgbClr val="3D95F6"/>
    <a:srgbClr val="00CCF1"/>
    <a:srgbClr val="FE349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5" autoAdjust="0"/>
    <p:restoredTop sz="83439" autoAdjust="0"/>
  </p:normalViewPr>
  <p:slideViewPr>
    <p:cSldViewPr snapToGrid="0">
      <p:cViewPr varScale="1">
        <p:scale>
          <a:sx n="124" d="100"/>
          <a:sy n="124" d="100"/>
        </p:scale>
        <p:origin x="422" y="125"/>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80"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83"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9"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819eedc26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g7819eedc26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Errores:</a:t>
            </a:r>
          </a:p>
          <a:p>
            <a:pPr marL="171450" lvl="0" indent="-171450" algn="l" rtl="0">
              <a:spcBef>
                <a:spcPts val="0"/>
              </a:spcBef>
              <a:spcAft>
                <a:spcPts val="0"/>
              </a:spcAft>
              <a:buFont typeface="Arial" panose="020B0604020202020204" pitchFamily="34" charset="0"/>
              <a:buChar char="•"/>
            </a:pP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Los </a:t>
            </a:r>
            <a:r>
              <a:rPr kumimoji="0" lang="en-US" altLang="en-US" sz="1100" b="0" i="0" u="none" strike="noStrike" cap="none" normalizeH="0" baseline="0" dirty="0" err="1">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corchetes</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en</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 &gt;&gt; 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5</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marL="171450" lvl="0" indent="-171450" algn="l" rtl="0">
              <a:spcBef>
                <a:spcPts val="0"/>
              </a:spcBef>
              <a:spcAft>
                <a:spcPts val="0"/>
              </a:spcAft>
              <a:buFont typeface="Arial" panose="020B0604020202020204" pitchFamily="34" charset="0"/>
              <a:buChar char="•"/>
            </a:pPr>
            <a:r>
              <a:rPr lang="es-ES" dirty="0"/>
              <a:t>No se puede asignar </a:t>
            </a:r>
            <a:r>
              <a:rPr lang="es-ES" dirty="0" err="1"/>
              <a:t>float</a:t>
            </a:r>
            <a:r>
              <a:rPr lang="es-ES" dirty="0"/>
              <a:t> a un arreglo de </a:t>
            </a:r>
            <a:r>
              <a:rPr lang="es-ES" dirty="0" err="1"/>
              <a:t>int</a:t>
            </a:r>
            <a:r>
              <a:rPr lang="es-ES" dirty="0"/>
              <a:t> &gt;&gt;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22f</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marL="171450" lvl="0" indent="-171450" algn="l" rtl="0">
              <a:spcBef>
                <a:spcPts val="0"/>
              </a:spcBef>
              <a:spcAft>
                <a:spcPts val="0"/>
              </a:spcAft>
              <a:buFont typeface="Arial" panose="020B0604020202020204" pitchFamily="34" charset="0"/>
              <a:buChar char="•"/>
            </a:pPr>
            <a:r>
              <a:rPr lang="es-ES" dirty="0"/>
              <a:t>La cantidad de elementos ingresados está determinado solo por la variable contador &gt;&gt;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println</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Cantidad</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de </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elementos</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10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lang="en-US" altLang="en-US" sz="1100" dirty="0">
                <a:solidFill>
                  <a:srgbClr val="72CFD6"/>
                </a:solidFill>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marL="171450" lvl="0" indent="-171450" algn="l" rtl="0">
              <a:spcBef>
                <a:spcPts val="0"/>
              </a:spcBef>
              <a:spcAft>
                <a:spcPts val="0"/>
              </a:spcAft>
              <a:buFont typeface="Arial" panose="020B0604020202020204" pitchFamily="34" charset="0"/>
              <a:buChar char="•"/>
            </a:pP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La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condición</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de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terminación</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del primer for es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incorrecta</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&gt;&gt; </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for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&gt;=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10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marL="171450" lvl="0" indent="-171450" algn="l" rtl="0">
              <a:spcBef>
                <a:spcPts val="0"/>
              </a:spcBef>
              <a:spcAft>
                <a:spcPts val="0"/>
              </a:spcAft>
              <a:buFont typeface="Arial" panose="020B0604020202020204" pitchFamily="34" charset="0"/>
              <a:buChar char="•"/>
            </a:pP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En</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el</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Segundo for, la forma de acceder al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elemento</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es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incorrecta</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&gt;&gt;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endParaRPr dirty="0"/>
          </a:p>
        </p:txBody>
      </p:sp>
      <p:sp>
        <p:nvSpPr>
          <p:cNvPr id="67" name="Google Shape;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0">
              <a:buNone/>
            </a:pPr>
            <a:endParaRPr lang="es-ES" dirty="0"/>
          </a:p>
        </p:txBody>
      </p:sp>
    </p:spTree>
    <p:extLst>
      <p:ext uri="{BB962C8B-B14F-4D97-AF65-F5344CB8AC3E}">
        <p14:creationId xmlns:p14="http://schemas.microsoft.com/office/powerpoint/2010/main" val="3956568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https://i.pinimg.com/736x/bc/89/ad/bc89ad92528fcb93c4e8c101f4336052--table-of-contents-template-templates-for-powerpoint.jpg</a:t>
            </a:r>
          </a:p>
        </p:txBody>
      </p:sp>
    </p:spTree>
    <p:extLst>
      <p:ext uri="{BB962C8B-B14F-4D97-AF65-F5344CB8AC3E}">
        <p14:creationId xmlns:p14="http://schemas.microsoft.com/office/powerpoint/2010/main" val="482977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https://i.pinimg.com/736x/bc/89/ad/bc89ad92528fcb93c4e8c101f4336052--table-of-contents-template-templates-for-powerpoint.jpg</a:t>
            </a:r>
          </a:p>
        </p:txBody>
      </p:sp>
    </p:spTree>
    <p:extLst>
      <p:ext uri="{BB962C8B-B14F-4D97-AF65-F5344CB8AC3E}">
        <p14:creationId xmlns:p14="http://schemas.microsoft.com/office/powerpoint/2010/main" val="3066179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https://i.pinimg.com/736x/bc/89/ad/bc89ad92528fcb93c4e8c101f4336052--table-of-contents-template-templates-for-powerpoint.jpg</a:t>
            </a:r>
          </a:p>
        </p:txBody>
      </p:sp>
    </p:spTree>
    <p:extLst>
      <p:ext uri="{BB962C8B-B14F-4D97-AF65-F5344CB8AC3E}">
        <p14:creationId xmlns:p14="http://schemas.microsoft.com/office/powerpoint/2010/main" val="2849557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dirty="0"/>
              <a:t>Ayuda para el docente:</a:t>
            </a:r>
          </a:p>
          <a:p>
            <a:pPr algn="just" fontAlgn="base"/>
            <a:r>
              <a:rPr lang="en-US" b="0" i="0" dirty="0" err="1">
                <a:effectLst/>
                <a:latin typeface="var(--font-sofia)"/>
              </a:rPr>
              <a:t>Contiene</a:t>
            </a:r>
            <a:r>
              <a:rPr lang="en-US" b="0" i="0" dirty="0">
                <a:effectLst/>
                <a:latin typeface="var(--font-sofia)"/>
              </a:rPr>
              <a:t> la </a:t>
            </a:r>
            <a:r>
              <a:rPr lang="en-US" b="0" i="0" dirty="0" err="1">
                <a:effectLst/>
                <a:latin typeface="var(--font-sofia)"/>
              </a:rPr>
              <a:t>implementación</a:t>
            </a:r>
            <a:r>
              <a:rPr lang="en-US" b="0" i="0" dirty="0">
                <a:effectLst/>
                <a:latin typeface="var(--font-sofia)"/>
              </a:rPr>
              <a:t> de más de 25 </a:t>
            </a:r>
            <a:r>
              <a:rPr lang="en-US" b="0" i="0" dirty="0" err="1">
                <a:effectLst/>
                <a:latin typeface="var(--font-sofia)"/>
              </a:rPr>
              <a:t>métodos</a:t>
            </a:r>
            <a:r>
              <a:rPr lang="en-US" b="0" i="0" dirty="0">
                <a:effectLst/>
                <a:latin typeface="var(--font-sofia)"/>
              </a:rPr>
              <a:t> de </a:t>
            </a:r>
            <a:r>
              <a:rPr lang="en-US" b="0" i="0" dirty="0" err="1">
                <a:effectLst/>
                <a:latin typeface="var(--font-sofia)"/>
              </a:rPr>
              <a:t>ordenamiento</a:t>
            </a:r>
            <a:r>
              <a:rPr lang="en-US" b="0" i="0" dirty="0">
                <a:effectLst/>
                <a:latin typeface="var(--font-sofia)"/>
              </a:rPr>
              <a:t> de </a:t>
            </a:r>
            <a:r>
              <a:rPr lang="en-US" b="0" i="0" dirty="0" err="1">
                <a:effectLst/>
                <a:latin typeface="var(--font-sofia)"/>
              </a:rPr>
              <a:t>arreglos</a:t>
            </a:r>
            <a:r>
              <a:rPr lang="en-US" b="0" i="0" dirty="0">
                <a:effectLst/>
                <a:latin typeface="var(--font-sofia)"/>
              </a:rPr>
              <a:t> </a:t>
            </a:r>
            <a:r>
              <a:rPr lang="en-US" b="0" i="0" dirty="0" err="1">
                <a:effectLst/>
                <a:latin typeface="var(--font-sofia)"/>
              </a:rPr>
              <a:t>en</a:t>
            </a:r>
            <a:r>
              <a:rPr lang="en-US" b="0" i="0" dirty="0">
                <a:effectLst/>
                <a:latin typeface="var(--font-sofia)"/>
              </a:rPr>
              <a:t> </a:t>
            </a:r>
            <a:r>
              <a:rPr lang="en-US" b="0" i="0" dirty="0" err="1">
                <a:effectLst/>
                <a:latin typeface="var(--font-sofia)"/>
              </a:rPr>
              <a:t>diversos</a:t>
            </a:r>
            <a:r>
              <a:rPr lang="en-US" b="0" i="0" dirty="0">
                <a:effectLst/>
                <a:latin typeface="var(--font-sofia)"/>
              </a:rPr>
              <a:t> </a:t>
            </a:r>
            <a:r>
              <a:rPr lang="en-US" b="0" i="0" dirty="0" err="1">
                <a:effectLst/>
                <a:latin typeface="var(--font-sofia)"/>
              </a:rPr>
              <a:t>lenguajes</a:t>
            </a:r>
            <a:r>
              <a:rPr lang="en-US" b="0" i="0" dirty="0">
                <a:effectLst/>
                <a:latin typeface="var(--font-sofia)"/>
              </a:rPr>
              <a:t>.</a:t>
            </a:r>
          </a:p>
          <a:p>
            <a:pPr algn="just" fontAlgn="base"/>
            <a:endParaRPr lang="en-US" b="0" i="0" dirty="0">
              <a:effectLst/>
              <a:latin typeface="var(--font-sofia)"/>
            </a:endParaRPr>
          </a:p>
          <a:p>
            <a:pPr algn="just" fontAlgn="base"/>
            <a:r>
              <a:rPr lang="en-US" b="0" i="0" dirty="0">
                <a:effectLst/>
                <a:latin typeface="var(--font-sofia)"/>
              </a:rPr>
              <a:t>Sorting Algorithms</a:t>
            </a:r>
            <a:endParaRPr lang="en-US" dirty="0"/>
          </a:p>
          <a:p>
            <a:r>
              <a:rPr lang="en-US" dirty="0"/>
              <a:t>https://www.geeksforgeeks.org/sorting-algorithms/</a:t>
            </a:r>
          </a:p>
        </p:txBody>
      </p:sp>
    </p:spTree>
    <p:extLst>
      <p:ext uri="{BB962C8B-B14F-4D97-AF65-F5344CB8AC3E}">
        <p14:creationId xmlns:p14="http://schemas.microsoft.com/office/powerpoint/2010/main" val="665082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pic>
        <p:nvPicPr>
          <p:cNvPr id="12" name="Google Shape;12;p7"/>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13" name="Google Shape;13;p7"/>
          <p:cNvSpPr txBox="1">
            <a:spLocks noGrp="1"/>
          </p:cNvSpPr>
          <p:nvPr>
            <p:ph type="ctrTitle"/>
          </p:nvPr>
        </p:nvSpPr>
        <p:spPr>
          <a:xfrm>
            <a:off x="1524000" y="1122363"/>
            <a:ext cx="9144000" cy="193642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b="1">
                <a:latin typeface="Helvetica" pitchFamily="2" charset="0"/>
                <a:ea typeface="Helvetica" pitchFamily="2"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7"/>
          <p:cNvSpPr txBox="1">
            <a:spLocks noGrp="1"/>
          </p:cNvSpPr>
          <p:nvPr>
            <p:ph type="subTitle" idx="1"/>
          </p:nvPr>
        </p:nvSpPr>
        <p:spPr>
          <a:xfrm>
            <a:off x="1524000" y="3178688"/>
            <a:ext cx="9144000" cy="50062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Helvetica" pitchFamily="2" charset="0"/>
                <a:ea typeface="Helvetica" pitchFamily="2" charset="0"/>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 name="Rectangle 5">
            <a:extLst>
              <a:ext uri="{FF2B5EF4-FFF2-40B4-BE49-F238E27FC236}">
                <a16:creationId xmlns:a16="http://schemas.microsoft.com/office/drawing/2014/main" id="{0BF22F04-4BC9-41E2-B353-830397417302}"/>
              </a:ext>
            </a:extLst>
          </p:cNvPr>
          <p:cNvSpPr/>
          <p:nvPr userDrawn="1"/>
        </p:nvSpPr>
        <p:spPr>
          <a:xfrm>
            <a:off x="4058520" y="5231177"/>
            <a:ext cx="4063504" cy="936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pic>
        <p:nvPicPr>
          <p:cNvPr id="5" name="Picture 2" descr="Inicio – 10 - Universidad Tecnológica del Perú - UTP – Colegio Anglo  Americano Prescott">
            <a:extLst>
              <a:ext uri="{FF2B5EF4-FFF2-40B4-BE49-F238E27FC236}">
                <a16:creationId xmlns:a16="http://schemas.microsoft.com/office/drawing/2014/main" id="{4E2C1613-F647-4454-932D-F9B6B9380A9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21555" y="5135036"/>
            <a:ext cx="4173573" cy="10928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9555-3685-4E25-8B53-D766AA066161}"/>
              </a:ext>
            </a:extLst>
          </p:cNvPr>
          <p:cNvSpPr>
            <a:spLocks noGrp="1"/>
          </p:cNvSpPr>
          <p:nvPr>
            <p:ph type="title"/>
          </p:nvPr>
        </p:nvSpPr>
        <p:spPr>
          <a:xfrm>
            <a:off x="1203649" y="429863"/>
            <a:ext cx="10150151" cy="785528"/>
          </a:xfrm>
        </p:spPr>
        <p:txBody>
          <a:bodyPr>
            <a:normAutofit/>
          </a:bodyPr>
          <a:lstStyle>
            <a:lvl1pPr>
              <a:defRPr sz="4400" b="1">
                <a:solidFill>
                  <a:srgbClr val="D3052C"/>
                </a:solidFill>
                <a:latin typeface="Helvetica" pitchFamily="2"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AA88F942-990C-4C84-A1C3-F5F0BCBF93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‹Nº›</a:t>
            </a:fld>
            <a:endParaRPr lang="es-PE"/>
          </a:p>
        </p:txBody>
      </p:sp>
      <p:sp>
        <p:nvSpPr>
          <p:cNvPr id="8" name="Content Placeholder 7">
            <a:extLst>
              <a:ext uri="{FF2B5EF4-FFF2-40B4-BE49-F238E27FC236}">
                <a16:creationId xmlns:a16="http://schemas.microsoft.com/office/drawing/2014/main" id="{368538E7-9E81-474C-AD3B-32C2198C15F0}"/>
              </a:ext>
            </a:extLst>
          </p:cNvPr>
          <p:cNvSpPr>
            <a:spLocks noGrp="1"/>
          </p:cNvSpPr>
          <p:nvPr>
            <p:ph sz="quarter" idx="13"/>
          </p:nvPr>
        </p:nvSpPr>
        <p:spPr>
          <a:xfrm>
            <a:off x="1203649" y="1436914"/>
            <a:ext cx="10150151" cy="4782911"/>
          </a:xfrm>
        </p:spPr>
        <p:txBody>
          <a:bodyPr/>
          <a:lstStyle>
            <a:lvl1pPr>
              <a:lnSpc>
                <a:spcPct val="100000"/>
              </a:lnSpc>
              <a:defRPr>
                <a:latin typeface="Helvetica" pitchFamily="2" charset="0"/>
              </a:defRPr>
            </a:lvl1pPr>
            <a:lvl2pPr>
              <a:lnSpc>
                <a:spcPct val="100000"/>
              </a:lnSpc>
              <a:defRPr>
                <a:latin typeface="Helvetica" pitchFamily="2" charset="0"/>
              </a:defRPr>
            </a:lvl2pPr>
            <a:lvl3pPr>
              <a:lnSpc>
                <a:spcPct val="100000"/>
              </a:lnSpc>
              <a:defRPr>
                <a:latin typeface="Helvetica" pitchFamily="2" charset="0"/>
              </a:defRPr>
            </a:lvl3pPr>
            <a:lvl4pPr>
              <a:lnSpc>
                <a:spcPct val="100000"/>
              </a:lnSpc>
              <a:defRPr>
                <a:latin typeface="Helvetica" pitchFamily="2" charset="0"/>
              </a:defRPr>
            </a:lvl4pPr>
            <a:lvl5pPr>
              <a:lnSpc>
                <a:spcPct val="100000"/>
              </a:lnSpc>
              <a:defRPr>
                <a:latin typeface="Helvetica"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descr="Inicio – 10 - Universidad Tecnológica del Perú - UTP – Colegio Anglo  Americano Prescott">
            <a:extLst>
              <a:ext uri="{FF2B5EF4-FFF2-40B4-BE49-F238E27FC236}">
                <a16:creationId xmlns:a16="http://schemas.microsoft.com/office/drawing/2014/main" id="{322DE48A-2D4F-4873-8D66-AF7F3593CA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66428" y="136525"/>
            <a:ext cx="1559859" cy="40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3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preserve="1" userDrawn="1">
  <p:cSld name="2_Solo el título">
    <p:bg>
      <p:bgPr>
        <a:solidFill>
          <a:schemeClr val="accent4">
            <a:lumMod val="20000"/>
            <a:lumOff val="80000"/>
          </a:schemeClr>
        </a:solidFill>
        <a:effectLst/>
      </p:bgPr>
    </p:bg>
    <p:spTree>
      <p:nvGrpSpPr>
        <p:cNvPr id="1" name="Shape 15"/>
        <p:cNvGrpSpPr/>
        <p:nvPr/>
      </p:nvGrpSpPr>
      <p:grpSpPr>
        <a:xfrm>
          <a:off x="0" y="0"/>
          <a:ext cx="0" cy="0"/>
          <a:chOff x="0" y="0"/>
          <a:chExt cx="0" cy="0"/>
        </a:xfrm>
      </p:grpSpPr>
      <p:pic>
        <p:nvPicPr>
          <p:cNvPr id="5" name="Picture 2" descr="Inicio – 10 - Universidad Tecnológica del Perú - UTP – Colegio Anglo  Americano Prescott">
            <a:extLst>
              <a:ext uri="{FF2B5EF4-FFF2-40B4-BE49-F238E27FC236}">
                <a16:creationId xmlns:a16="http://schemas.microsoft.com/office/drawing/2014/main" id="{240F2624-FBFA-46AE-9892-D42C673614F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52847" y="141009"/>
            <a:ext cx="1559859" cy="40133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835F4D67-4966-C21F-A09E-7658BEBF99DD}"/>
              </a:ext>
            </a:extLst>
          </p:cNvPr>
          <p:cNvSpPr>
            <a:spLocks noGrp="1"/>
          </p:cNvSpPr>
          <p:nvPr>
            <p:ph type="title"/>
          </p:nvPr>
        </p:nvSpPr>
        <p:spPr>
          <a:xfrm>
            <a:off x="838200" y="868217"/>
            <a:ext cx="10515600" cy="4959927"/>
          </a:xfrm>
        </p:spPr>
        <p:txBody>
          <a:bodyPr/>
          <a:lstStyle>
            <a:lvl1pPr algn="ctr">
              <a:defRPr b="1">
                <a:solidFill>
                  <a:schemeClr val="bg1">
                    <a:lumMod val="50000"/>
                  </a:schemeClr>
                </a:solidFill>
                <a:latin typeface="Helvetica" pitchFamily="2" charset="0"/>
              </a:defRPr>
            </a:lvl1pPr>
          </a:lstStyle>
          <a:p>
            <a:r>
              <a:rPr lang="en-US"/>
              <a:t>Click to edit Master title style</a:t>
            </a:r>
          </a:p>
        </p:txBody>
      </p:sp>
    </p:spTree>
    <p:extLst>
      <p:ext uri="{BB962C8B-B14F-4D97-AF65-F5344CB8AC3E}">
        <p14:creationId xmlns:p14="http://schemas.microsoft.com/office/powerpoint/2010/main" val="229667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8"/>
        <p:cNvGrpSpPr/>
        <p:nvPr/>
      </p:nvGrpSpPr>
      <p:grpSpPr>
        <a:xfrm>
          <a:off x="0" y="0"/>
          <a:ext cx="0" cy="0"/>
          <a:chOff x="0" y="0"/>
          <a:chExt cx="0" cy="0"/>
        </a:xfrm>
      </p:grpSpPr>
      <p:pic>
        <p:nvPicPr>
          <p:cNvPr id="19" name="Google Shape;19;p9"/>
          <p:cNvPicPr preferRelativeResize="0"/>
          <p:nvPr/>
        </p:nvPicPr>
        <p:blipFill rotWithShape="1">
          <a:blip r:embed="rId2">
            <a:alphaModFix/>
          </a:blip>
          <a:srcRect/>
          <a:stretch/>
        </p:blipFill>
        <p:spPr>
          <a:xfrm>
            <a:off x="2467" y="0"/>
            <a:ext cx="12187066" cy="6858000"/>
          </a:xfrm>
          <a:prstGeom prst="rect">
            <a:avLst/>
          </a:prstGeom>
          <a:noFill/>
          <a:ln>
            <a:noFill/>
          </a:ln>
        </p:spPr>
      </p:pic>
      <p:sp>
        <p:nvSpPr>
          <p:cNvPr id="5" name="Rectangle 4">
            <a:extLst>
              <a:ext uri="{FF2B5EF4-FFF2-40B4-BE49-F238E27FC236}">
                <a16:creationId xmlns:a16="http://schemas.microsoft.com/office/drawing/2014/main" id="{6D22FCA6-0FCB-4C91-BEC5-A93A5D856507}"/>
              </a:ext>
            </a:extLst>
          </p:cNvPr>
          <p:cNvSpPr/>
          <p:nvPr userDrawn="1"/>
        </p:nvSpPr>
        <p:spPr>
          <a:xfrm>
            <a:off x="8713694" y="0"/>
            <a:ext cx="3478306" cy="1461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20;p9"/>
          <p:cNvSpPr txBox="1">
            <a:spLocks noGrp="1"/>
          </p:cNvSpPr>
          <p:nvPr>
            <p:ph type="body" idx="1"/>
          </p:nvPr>
        </p:nvSpPr>
        <p:spPr>
          <a:xfrm>
            <a:off x="831850" y="469339"/>
            <a:ext cx="10515600" cy="56203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1" name="Google Shape;21;p9"/>
          <p:cNvSpPr txBox="1"/>
          <p:nvPr/>
        </p:nvSpPr>
        <p:spPr>
          <a:xfrm>
            <a:off x="831850" y="6457444"/>
            <a:ext cx="10515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400" b="0" i="0" u="none" strike="noStrike" cap="none">
                <a:solidFill>
                  <a:schemeClr val="lt1"/>
                </a:solidFill>
                <a:latin typeface="Arial"/>
                <a:ea typeface="Arial"/>
                <a:cs typeface="Arial"/>
                <a:sym typeface="Arial"/>
              </a:rPr>
              <a:t>Datos/Observaciones</a:t>
            </a:r>
            <a:endParaRPr/>
          </a:p>
        </p:txBody>
      </p:sp>
      <p:pic>
        <p:nvPicPr>
          <p:cNvPr id="6" name="Picture 2" descr="Inicio – 10 - Universidad Tecnológica del Perú - UTP – Colegio Anglo  Americano Prescott">
            <a:extLst>
              <a:ext uri="{FF2B5EF4-FFF2-40B4-BE49-F238E27FC236}">
                <a16:creationId xmlns:a16="http://schemas.microsoft.com/office/drawing/2014/main" id="{1B93EADB-A85F-4945-BEEA-1073EED2962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52847" y="122286"/>
            <a:ext cx="1559859" cy="401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22"/>
        <p:cNvGrpSpPr/>
        <p:nvPr/>
      </p:nvGrpSpPr>
      <p:grpSpPr>
        <a:xfrm>
          <a:off x="0" y="0"/>
          <a:ext cx="0" cy="0"/>
          <a:chOff x="0" y="0"/>
          <a:chExt cx="0" cy="0"/>
        </a:xfrm>
      </p:grpSpPr>
      <p:pic>
        <p:nvPicPr>
          <p:cNvPr id="23" name="Google Shape;23;p10"/>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 name="Rectangle 4">
            <a:extLst>
              <a:ext uri="{FF2B5EF4-FFF2-40B4-BE49-F238E27FC236}">
                <a16:creationId xmlns:a16="http://schemas.microsoft.com/office/drawing/2014/main" id="{345ECD6E-A13D-41C4-A8AA-AC936BA167FF}"/>
              </a:ext>
            </a:extLst>
          </p:cNvPr>
          <p:cNvSpPr/>
          <p:nvPr userDrawn="1"/>
        </p:nvSpPr>
        <p:spPr>
          <a:xfrm>
            <a:off x="8713694" y="0"/>
            <a:ext cx="3478306" cy="1461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Google Shape;24;p10"/>
          <p:cNvSpPr txBox="1">
            <a:spLocks noGrp="1"/>
          </p:cNvSpPr>
          <p:nvPr>
            <p:ph type="body" idx="1"/>
          </p:nvPr>
        </p:nvSpPr>
        <p:spPr>
          <a:xfrm>
            <a:off x="831850" y="469339"/>
            <a:ext cx="10515600" cy="56203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5" name="Google Shape;25;p10"/>
          <p:cNvSpPr txBox="1">
            <a:spLocks noGrp="1"/>
          </p:cNvSpPr>
          <p:nvPr>
            <p:ph type="body" idx="2"/>
          </p:nvPr>
        </p:nvSpPr>
        <p:spPr>
          <a:xfrm>
            <a:off x="831850" y="6382418"/>
            <a:ext cx="10515600" cy="27429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6" name="Picture 2" descr="Inicio – 10 - Universidad Tecnológica del Perú - UTP – Colegio Anglo  Americano Prescott">
            <a:extLst>
              <a:ext uri="{FF2B5EF4-FFF2-40B4-BE49-F238E27FC236}">
                <a16:creationId xmlns:a16="http://schemas.microsoft.com/office/drawing/2014/main" id="{E630A3B5-109D-4437-9425-DCBCCE7F66F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52847" y="122286"/>
            <a:ext cx="1559859" cy="401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Solo el título">
  <p:cSld name="1_Solo el título">
    <p:spTree>
      <p:nvGrpSpPr>
        <p:cNvPr id="1" name="Shape 26"/>
        <p:cNvGrpSpPr/>
        <p:nvPr/>
      </p:nvGrpSpPr>
      <p:grpSpPr>
        <a:xfrm>
          <a:off x="0" y="0"/>
          <a:ext cx="0" cy="0"/>
          <a:chOff x="0" y="0"/>
          <a:chExt cx="0" cy="0"/>
        </a:xfrm>
      </p:grpSpPr>
      <p:pic>
        <p:nvPicPr>
          <p:cNvPr id="27" name="Google Shape;27;p11"/>
          <p:cNvPicPr preferRelativeResize="0"/>
          <p:nvPr/>
        </p:nvPicPr>
        <p:blipFill rotWithShape="1">
          <a:blip r:embed="rId2">
            <a:alphaModFix/>
          </a:blip>
          <a:srcRect/>
          <a:stretch/>
        </p:blipFill>
        <p:spPr>
          <a:xfrm>
            <a:off x="5639" y="0"/>
            <a:ext cx="12180722"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28"/>
        <p:cNvGrpSpPr/>
        <p:nvPr/>
      </p:nvGrpSpPr>
      <p:grpSpPr>
        <a:xfrm>
          <a:off x="0" y="0"/>
          <a:ext cx="0" cy="0"/>
          <a:chOff x="0" y="0"/>
          <a:chExt cx="0" cy="0"/>
        </a:xfrm>
      </p:grpSpPr>
      <p:pic>
        <p:nvPicPr>
          <p:cNvPr id="29" name="Google Shape;29;p12"/>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30" name="Google Shape;3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ntenido con título">
  <p:cSld name="1_Contenido con título">
    <p:spTree>
      <p:nvGrpSpPr>
        <p:cNvPr id="1" name="Shape 31"/>
        <p:cNvGrpSpPr/>
        <p:nvPr/>
      </p:nvGrpSpPr>
      <p:grpSpPr>
        <a:xfrm>
          <a:off x="0" y="0"/>
          <a:ext cx="0" cy="0"/>
          <a:chOff x="0" y="0"/>
          <a:chExt cx="0" cy="0"/>
        </a:xfrm>
      </p:grpSpPr>
      <p:pic>
        <p:nvPicPr>
          <p:cNvPr id="32" name="Google Shape;32;p13"/>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3" name="Google Shape;33;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ntenido con título">
  <p:cSld name="2_Contenido con título">
    <p:spTree>
      <p:nvGrpSpPr>
        <p:cNvPr id="1" name="Shape 34"/>
        <p:cNvGrpSpPr/>
        <p:nvPr/>
      </p:nvGrpSpPr>
      <p:grpSpPr>
        <a:xfrm>
          <a:off x="0" y="0"/>
          <a:ext cx="0" cy="0"/>
          <a:chOff x="0" y="0"/>
          <a:chExt cx="0" cy="0"/>
        </a:xfrm>
      </p:grpSpPr>
      <p:pic>
        <p:nvPicPr>
          <p:cNvPr id="35" name="Google Shape;35;p14"/>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6" name="Google Shape;3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Contenido con título">
  <p:cSld name="3_Contenido con título">
    <p:spTree>
      <p:nvGrpSpPr>
        <p:cNvPr id="1" name="Shape 37"/>
        <p:cNvGrpSpPr/>
        <p:nvPr/>
      </p:nvGrpSpPr>
      <p:grpSpPr>
        <a:xfrm>
          <a:off x="0" y="0"/>
          <a:ext cx="0" cy="0"/>
          <a:chOff x="0" y="0"/>
          <a:chExt cx="0" cy="0"/>
        </a:xfrm>
      </p:grpSpPr>
      <p:pic>
        <p:nvPicPr>
          <p:cNvPr id="38" name="Google Shape;38;p15"/>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9" name="Google Shape;39;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Contenido con título">
  <p:cSld name="4_Contenido con título">
    <p:spTree>
      <p:nvGrpSpPr>
        <p:cNvPr id="1" name="Shape 40"/>
        <p:cNvGrpSpPr/>
        <p:nvPr/>
      </p:nvGrpSpPr>
      <p:grpSpPr>
        <a:xfrm>
          <a:off x="0" y="0"/>
          <a:ext cx="0" cy="0"/>
          <a:chOff x="0" y="0"/>
          <a:chExt cx="0" cy="0"/>
        </a:xfrm>
      </p:grpSpPr>
      <p:pic>
        <p:nvPicPr>
          <p:cNvPr id="41" name="Google Shape;41;p16"/>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42" name="Google Shape;42;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Contenido con título">
  <p:cSld name="5_Contenido con título">
    <p:spTree>
      <p:nvGrpSpPr>
        <p:cNvPr id="1" name="Shape 43"/>
        <p:cNvGrpSpPr/>
        <p:nvPr/>
      </p:nvGrpSpPr>
      <p:grpSpPr>
        <a:xfrm>
          <a:off x="0" y="0"/>
          <a:ext cx="0" cy="0"/>
          <a:chOff x="0" y="0"/>
          <a:chExt cx="0" cy="0"/>
        </a:xfrm>
      </p:grpSpPr>
      <p:pic>
        <p:nvPicPr>
          <p:cNvPr id="44" name="Google Shape;44;p17"/>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45" name="Google Shape;4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Contenido con título">
  <p:cSld name="6_Contenido con título">
    <p:spTree>
      <p:nvGrpSpPr>
        <p:cNvPr id="1" name="Shape 46"/>
        <p:cNvGrpSpPr/>
        <p:nvPr/>
      </p:nvGrpSpPr>
      <p:grpSpPr>
        <a:xfrm>
          <a:off x="0" y="0"/>
          <a:ext cx="0" cy="0"/>
          <a:chOff x="0" y="0"/>
          <a:chExt cx="0" cy="0"/>
        </a:xfrm>
      </p:grpSpPr>
      <p:pic>
        <p:nvPicPr>
          <p:cNvPr id="47" name="Google Shape;47;p18"/>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48" name="Google Shape;4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Contenido con título">
  <p:cSld name="7_Contenido con título">
    <p:spTree>
      <p:nvGrpSpPr>
        <p:cNvPr id="1" name="Shape 49"/>
        <p:cNvGrpSpPr/>
        <p:nvPr/>
      </p:nvGrpSpPr>
      <p:grpSpPr>
        <a:xfrm>
          <a:off x="0" y="0"/>
          <a:ext cx="0" cy="0"/>
          <a:chOff x="0" y="0"/>
          <a:chExt cx="0" cy="0"/>
        </a:xfrm>
      </p:grpSpPr>
      <p:pic>
        <p:nvPicPr>
          <p:cNvPr id="50" name="Google Shape;50;p19"/>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51" name="Google Shape;51;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Contenido con título">
  <p:cSld name="8_Contenido con título">
    <p:spTree>
      <p:nvGrpSpPr>
        <p:cNvPr id="1" name="Shape 52"/>
        <p:cNvGrpSpPr/>
        <p:nvPr/>
      </p:nvGrpSpPr>
      <p:grpSpPr>
        <a:xfrm>
          <a:off x="0" y="0"/>
          <a:ext cx="0" cy="0"/>
          <a:chOff x="0" y="0"/>
          <a:chExt cx="0" cy="0"/>
        </a:xfrm>
      </p:grpSpPr>
      <p:pic>
        <p:nvPicPr>
          <p:cNvPr id="53" name="Google Shape;53;p20"/>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4" name="Google Shape;54;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9_Contenido con título">
  <p:cSld name="9_Contenido con título">
    <p:spTree>
      <p:nvGrpSpPr>
        <p:cNvPr id="1" name="Shape 55"/>
        <p:cNvGrpSpPr/>
        <p:nvPr/>
      </p:nvGrpSpPr>
      <p:grpSpPr>
        <a:xfrm>
          <a:off x="0" y="0"/>
          <a:ext cx="0" cy="0"/>
          <a:chOff x="0" y="0"/>
          <a:chExt cx="0" cy="0"/>
        </a:xfrm>
      </p:grpSpPr>
      <p:pic>
        <p:nvPicPr>
          <p:cNvPr id="56" name="Google Shape;56;p21"/>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7" name="Google Shape;57;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0_Contenido con título">
  <p:cSld name="10_Contenido con título">
    <p:spTree>
      <p:nvGrpSpPr>
        <p:cNvPr id="1" name="Shape 58"/>
        <p:cNvGrpSpPr/>
        <p:nvPr/>
      </p:nvGrpSpPr>
      <p:grpSpPr>
        <a:xfrm>
          <a:off x="0" y="0"/>
          <a:ext cx="0" cy="0"/>
          <a:chOff x="0" y="0"/>
          <a:chExt cx="0" cy="0"/>
        </a:xfrm>
      </p:grpSpPr>
      <p:pic>
        <p:nvPicPr>
          <p:cNvPr id="59" name="Google Shape;59;p22"/>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66" r:id="rId2"/>
    <p:sldLayoutId id="2147483665"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D3052C"/>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8">
            <a:extLst>
              <a:ext uri="{FF2B5EF4-FFF2-40B4-BE49-F238E27FC236}">
                <a16:creationId xmlns:a16="http://schemas.microsoft.com/office/drawing/2014/main" id="{F876E9D0-D0F1-5B0E-7886-75A77C280850}"/>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CF66C8B-894E-49C8-97F0-0500C46A7D38}"/>
              </a:ext>
            </a:extLst>
          </p:cNvPr>
          <p:cNvSpPr>
            <a:spLocks noGrp="1"/>
          </p:cNvSpPr>
          <p:nvPr>
            <p:ph type="ctrTitle"/>
          </p:nvPr>
        </p:nvSpPr>
        <p:spPr>
          <a:xfrm>
            <a:off x="653361" y="1029710"/>
            <a:ext cx="7361383" cy="1936426"/>
          </a:xfrm>
        </p:spPr>
        <p:txBody>
          <a:bodyPr/>
          <a:lstStyle/>
          <a:p>
            <a:pPr algn="l"/>
            <a:r>
              <a:rPr lang="es-ES" dirty="0">
                <a:solidFill>
                  <a:schemeClr val="bg1"/>
                </a:solidFill>
              </a:rPr>
              <a:t>Taller de Programación</a:t>
            </a:r>
            <a:endParaRPr lang="en-US" dirty="0">
              <a:solidFill>
                <a:schemeClr val="bg1"/>
              </a:solidFill>
            </a:endParaRPr>
          </a:p>
        </p:txBody>
      </p:sp>
      <p:pic>
        <p:nvPicPr>
          <p:cNvPr id="5" name="Picture 4">
            <a:extLst>
              <a:ext uri="{FF2B5EF4-FFF2-40B4-BE49-F238E27FC236}">
                <a16:creationId xmlns:a16="http://schemas.microsoft.com/office/drawing/2014/main" id="{7377311F-912E-F29A-7CC2-5367F66BE24D}"/>
              </a:ext>
            </a:extLst>
          </p:cNvPr>
          <p:cNvPicPr>
            <a:picLocks noChangeAspect="1"/>
          </p:cNvPicPr>
          <p:nvPr/>
        </p:nvPicPr>
        <p:blipFill rotWithShape="1">
          <a:blip r:embed="rId4"/>
          <a:srcRect r="34114"/>
          <a:stretch/>
        </p:blipFill>
        <p:spPr>
          <a:xfrm>
            <a:off x="653361" y="5419035"/>
            <a:ext cx="2528344" cy="839943"/>
          </a:xfrm>
          <a:prstGeom prst="rect">
            <a:avLst/>
          </a:prstGeom>
        </p:spPr>
      </p:pic>
      <p:pic>
        <p:nvPicPr>
          <p:cNvPr id="6" name="Picture 5">
            <a:extLst>
              <a:ext uri="{FF2B5EF4-FFF2-40B4-BE49-F238E27FC236}">
                <a16:creationId xmlns:a16="http://schemas.microsoft.com/office/drawing/2014/main" id="{C3EBC89A-FF84-877C-D866-0A9D5D51CCDE}"/>
              </a:ext>
            </a:extLst>
          </p:cNvPr>
          <p:cNvPicPr>
            <a:picLocks noChangeAspect="1"/>
          </p:cNvPicPr>
          <p:nvPr/>
        </p:nvPicPr>
        <p:blipFill rotWithShape="1">
          <a:blip r:embed="rId4">
            <a:lum bright="70000" contrast="-70000"/>
          </a:blip>
          <a:srcRect l="66576"/>
          <a:stretch/>
        </p:blipFill>
        <p:spPr>
          <a:xfrm>
            <a:off x="3208204" y="5419034"/>
            <a:ext cx="1282645" cy="839943"/>
          </a:xfrm>
          <a:prstGeom prst="rect">
            <a:avLst/>
          </a:prstGeom>
        </p:spPr>
      </p:pic>
      <p:sp>
        <p:nvSpPr>
          <p:cNvPr id="8" name="Rectangle 7">
            <a:extLst>
              <a:ext uri="{FF2B5EF4-FFF2-40B4-BE49-F238E27FC236}">
                <a16:creationId xmlns:a16="http://schemas.microsoft.com/office/drawing/2014/main" id="{33B98E4C-CEFA-1581-AF50-FEF751C6337A}"/>
              </a:ext>
            </a:extLst>
          </p:cNvPr>
          <p:cNvSpPr/>
          <p:nvPr/>
        </p:nvSpPr>
        <p:spPr>
          <a:xfrm>
            <a:off x="803564" y="3186545"/>
            <a:ext cx="720435" cy="14778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1110DC5-E042-6864-A9C7-29E21EDB9714}"/>
              </a:ext>
            </a:extLst>
          </p:cNvPr>
          <p:cNvSpPr txBox="1"/>
          <p:nvPr/>
        </p:nvSpPr>
        <p:spPr>
          <a:xfrm>
            <a:off x="-4618" y="6627169"/>
            <a:ext cx="7735454" cy="230832"/>
          </a:xfrm>
          <a:prstGeom prst="rect">
            <a:avLst/>
          </a:prstGeom>
          <a:noFill/>
        </p:spPr>
        <p:txBody>
          <a:bodyPr wrap="square">
            <a:spAutoFit/>
          </a:bodyPr>
          <a:lstStyle/>
          <a:p>
            <a:pPr marL="0" lvl="0" indent="0" algn="l" rtl="0">
              <a:spcBef>
                <a:spcPts val="0"/>
              </a:spcBef>
              <a:spcAft>
                <a:spcPts val="0"/>
              </a:spcAft>
              <a:buNone/>
            </a:pPr>
            <a:r>
              <a:rPr lang="en-US" sz="900" dirty="0">
                <a:solidFill>
                  <a:schemeClr val="tx1">
                    <a:lumMod val="75000"/>
                    <a:lumOff val="25000"/>
                  </a:schemeClr>
                </a:solidFill>
              </a:rPr>
              <a:t>Imagen </a:t>
            </a:r>
            <a:r>
              <a:rPr lang="en-US" sz="900" dirty="0" err="1">
                <a:solidFill>
                  <a:schemeClr val="tx1">
                    <a:lumMod val="75000"/>
                    <a:lumOff val="25000"/>
                  </a:schemeClr>
                </a:solidFill>
              </a:rPr>
              <a:t>obtenida</a:t>
            </a:r>
            <a:r>
              <a:rPr lang="en-US" sz="900" dirty="0">
                <a:solidFill>
                  <a:schemeClr val="tx1">
                    <a:lumMod val="75000"/>
                    <a:lumOff val="25000"/>
                  </a:schemeClr>
                </a:solidFill>
              </a:rPr>
              <a:t> de: https://images.wallpapersden.com/image/download/cool-4k-pattern_bGduZWyUmZqaraWkpJRobWllrWdma2U.jpg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68FE-A2C2-54C1-D40F-27766C5E9748}"/>
              </a:ext>
            </a:extLst>
          </p:cNvPr>
          <p:cNvSpPr>
            <a:spLocks noGrp="1"/>
          </p:cNvSpPr>
          <p:nvPr>
            <p:ph type="title"/>
          </p:nvPr>
        </p:nvSpPr>
        <p:spPr>
          <a:xfrm>
            <a:off x="867267" y="429863"/>
            <a:ext cx="10486534"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30405BA1-5C53-7BC3-3DF8-C4CFAF87E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a:t>
            </a:fld>
            <a:endParaRPr lang="es-PE"/>
          </a:p>
        </p:txBody>
      </p:sp>
      <p:sp>
        <p:nvSpPr>
          <p:cNvPr id="5" name="Right Triangle 4">
            <a:extLst>
              <a:ext uri="{FF2B5EF4-FFF2-40B4-BE49-F238E27FC236}">
                <a16:creationId xmlns:a16="http://schemas.microsoft.com/office/drawing/2014/main" id="{25F5F8C1-ABC8-4AF2-3001-AF5DD99BB1FB}"/>
              </a:ext>
            </a:extLst>
          </p:cNvPr>
          <p:cNvSpPr/>
          <p:nvPr/>
        </p:nvSpPr>
        <p:spPr>
          <a:xfrm>
            <a:off x="2064470" y="1762807"/>
            <a:ext cx="1668545" cy="1131217"/>
          </a:xfrm>
          <a:prstGeom prst="rtTriangle">
            <a:avLst/>
          </a:prstGeom>
          <a:solidFill>
            <a:srgbClr val="33D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10B716CA-3B1A-1446-D256-AE6819AA0B39}"/>
              </a:ext>
            </a:extLst>
          </p:cNvPr>
          <p:cNvSpPr/>
          <p:nvPr/>
        </p:nvSpPr>
        <p:spPr>
          <a:xfrm flipH="1" flipV="1">
            <a:off x="2064469" y="3888554"/>
            <a:ext cx="1668545" cy="1131217"/>
          </a:xfrm>
          <a:prstGeom prst="rtTriangle">
            <a:avLst/>
          </a:prstGeom>
          <a:solidFill>
            <a:srgbClr val="65A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7244C98-5E97-1AAA-98F4-77CBB334FB39}"/>
              </a:ext>
            </a:extLst>
          </p:cNvPr>
          <p:cNvSpPr/>
          <p:nvPr/>
        </p:nvSpPr>
        <p:spPr>
          <a:xfrm>
            <a:off x="0" y="1762807"/>
            <a:ext cx="2064470" cy="1131217"/>
          </a:xfrm>
          <a:prstGeom prst="rect">
            <a:avLst/>
          </a:prstGeom>
          <a:solidFill>
            <a:srgbClr val="00C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11D3B3-CEEA-EC5C-863D-DE692A60FB96}"/>
              </a:ext>
            </a:extLst>
          </p:cNvPr>
          <p:cNvSpPr/>
          <p:nvPr/>
        </p:nvSpPr>
        <p:spPr>
          <a:xfrm>
            <a:off x="3733014" y="3888553"/>
            <a:ext cx="2488676" cy="1131217"/>
          </a:xfrm>
          <a:prstGeom prst="rect">
            <a:avLst/>
          </a:prstGeom>
          <a:solidFill>
            <a:srgbClr val="3D9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1B122428-86F2-84AD-F6CE-D13FAA9367C0}"/>
              </a:ext>
            </a:extLst>
          </p:cNvPr>
          <p:cNvSpPr/>
          <p:nvPr/>
        </p:nvSpPr>
        <p:spPr>
          <a:xfrm>
            <a:off x="7610570" y="2757335"/>
            <a:ext cx="1668545" cy="1131217"/>
          </a:xfrm>
          <a:prstGeom prst="rtTriangle">
            <a:avLst/>
          </a:prstGeom>
          <a:solidFill>
            <a:srgbClr val="8F3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954678-BA3F-8155-D82A-ACC305A6881D}"/>
              </a:ext>
            </a:extLst>
          </p:cNvPr>
          <p:cNvSpPr/>
          <p:nvPr/>
        </p:nvSpPr>
        <p:spPr>
          <a:xfrm>
            <a:off x="5121895" y="2757335"/>
            <a:ext cx="2488676" cy="1131217"/>
          </a:xfrm>
          <a:prstGeom prst="rect">
            <a:avLst/>
          </a:prstGeom>
          <a:solidFill>
            <a:srgbClr val="720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8F9F8DA-7BFD-B5FD-1C0D-E419E9989822}"/>
              </a:ext>
            </a:extLst>
          </p:cNvPr>
          <p:cNvSpPr/>
          <p:nvPr/>
        </p:nvSpPr>
        <p:spPr>
          <a:xfrm flipH="1" flipV="1">
            <a:off x="7610569" y="4883080"/>
            <a:ext cx="1668545" cy="1131217"/>
          </a:xfrm>
          <a:prstGeom prst="rtTriangle">
            <a:avLst/>
          </a:prstGeom>
          <a:solidFill>
            <a:srgbClr val="FE4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BB2CBF-D6AB-95DF-0493-5BB302225DE9}"/>
              </a:ext>
            </a:extLst>
          </p:cNvPr>
          <p:cNvSpPr/>
          <p:nvPr/>
        </p:nvSpPr>
        <p:spPr>
          <a:xfrm>
            <a:off x="9279110" y="4883079"/>
            <a:ext cx="2912889" cy="1131217"/>
          </a:xfrm>
          <a:prstGeom prst="rect">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6A0F35-A326-D134-3FBF-CD0CD0836ADD}"/>
              </a:ext>
            </a:extLst>
          </p:cNvPr>
          <p:cNvSpPr/>
          <p:nvPr/>
        </p:nvSpPr>
        <p:spPr>
          <a:xfrm>
            <a:off x="2062113" y="2894025"/>
            <a:ext cx="1668544"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F8E9E3-7866-6AE1-54F8-39385B92A048}"/>
              </a:ext>
            </a:extLst>
          </p:cNvPr>
          <p:cNvSpPr/>
          <p:nvPr/>
        </p:nvSpPr>
        <p:spPr>
          <a:xfrm>
            <a:off x="7608212" y="3888552"/>
            <a:ext cx="1670901"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72D0DD2-1E5F-5E34-5F16-C8626820FB3B}"/>
              </a:ext>
            </a:extLst>
          </p:cNvPr>
          <p:cNvSpPr txBox="1"/>
          <p:nvPr/>
        </p:nvSpPr>
        <p:spPr>
          <a:xfrm>
            <a:off x="826582" y="1912916"/>
            <a:ext cx="870751" cy="830997"/>
          </a:xfrm>
          <a:prstGeom prst="rect">
            <a:avLst/>
          </a:prstGeom>
          <a:noFill/>
        </p:spPr>
        <p:txBody>
          <a:bodyPr wrap="none" rtlCol="0">
            <a:spAutoFit/>
          </a:bodyPr>
          <a:lstStyle/>
          <a:p>
            <a:r>
              <a:rPr lang="es-ES" sz="4800" b="1" dirty="0">
                <a:solidFill>
                  <a:schemeClr val="bg1"/>
                </a:solidFill>
              </a:rPr>
              <a:t>01</a:t>
            </a:r>
            <a:endParaRPr lang="en-US" sz="4800" b="1" dirty="0">
              <a:solidFill>
                <a:schemeClr val="bg1"/>
              </a:solidFill>
            </a:endParaRPr>
          </a:p>
        </p:txBody>
      </p:sp>
      <p:sp>
        <p:nvSpPr>
          <p:cNvPr id="16" name="TextBox 15">
            <a:extLst>
              <a:ext uri="{FF2B5EF4-FFF2-40B4-BE49-F238E27FC236}">
                <a16:creationId xmlns:a16="http://schemas.microsoft.com/office/drawing/2014/main" id="{A5BBE478-8E0F-B656-3C5F-3307EA8D3EB2}"/>
              </a:ext>
            </a:extLst>
          </p:cNvPr>
          <p:cNvSpPr txBox="1"/>
          <p:nvPr/>
        </p:nvSpPr>
        <p:spPr>
          <a:xfrm>
            <a:off x="4202611" y="4052082"/>
            <a:ext cx="870751" cy="830997"/>
          </a:xfrm>
          <a:prstGeom prst="rect">
            <a:avLst/>
          </a:prstGeom>
          <a:noFill/>
        </p:spPr>
        <p:txBody>
          <a:bodyPr wrap="none" rtlCol="0">
            <a:spAutoFit/>
          </a:bodyPr>
          <a:lstStyle/>
          <a:p>
            <a:r>
              <a:rPr lang="es-ES" sz="4800" b="1" dirty="0">
                <a:solidFill>
                  <a:srgbClr val="65AAF7"/>
                </a:solidFill>
              </a:rPr>
              <a:t>02</a:t>
            </a:r>
            <a:endParaRPr lang="en-US" sz="4800" b="1" dirty="0">
              <a:solidFill>
                <a:srgbClr val="65AAF7"/>
              </a:solidFill>
            </a:endParaRPr>
          </a:p>
        </p:txBody>
      </p:sp>
      <p:sp>
        <p:nvSpPr>
          <p:cNvPr id="17" name="TextBox 16">
            <a:extLst>
              <a:ext uri="{FF2B5EF4-FFF2-40B4-BE49-F238E27FC236}">
                <a16:creationId xmlns:a16="http://schemas.microsoft.com/office/drawing/2014/main" id="{A54DCABF-B868-75BE-9A95-ED8D8451A646}"/>
              </a:ext>
            </a:extLst>
          </p:cNvPr>
          <p:cNvSpPr txBox="1"/>
          <p:nvPr/>
        </p:nvSpPr>
        <p:spPr>
          <a:xfrm>
            <a:off x="6271966" y="2907444"/>
            <a:ext cx="870751" cy="830997"/>
          </a:xfrm>
          <a:prstGeom prst="rect">
            <a:avLst/>
          </a:prstGeom>
          <a:noFill/>
        </p:spPr>
        <p:txBody>
          <a:bodyPr wrap="none" rtlCol="0">
            <a:spAutoFit/>
          </a:bodyPr>
          <a:lstStyle/>
          <a:p>
            <a:r>
              <a:rPr lang="es-ES" sz="4800" b="1" dirty="0">
                <a:solidFill>
                  <a:srgbClr val="8F32F6"/>
                </a:solidFill>
              </a:rPr>
              <a:t>03</a:t>
            </a:r>
            <a:endParaRPr lang="en-US" sz="4800" b="1" dirty="0">
              <a:solidFill>
                <a:srgbClr val="8F32F6"/>
              </a:solidFill>
            </a:endParaRPr>
          </a:p>
        </p:txBody>
      </p:sp>
      <p:sp>
        <p:nvSpPr>
          <p:cNvPr id="18" name="TextBox 17">
            <a:extLst>
              <a:ext uri="{FF2B5EF4-FFF2-40B4-BE49-F238E27FC236}">
                <a16:creationId xmlns:a16="http://schemas.microsoft.com/office/drawing/2014/main" id="{B88A490A-4EE9-B348-0B39-05FDD9F41B7C}"/>
              </a:ext>
            </a:extLst>
          </p:cNvPr>
          <p:cNvSpPr txBox="1"/>
          <p:nvPr/>
        </p:nvSpPr>
        <p:spPr>
          <a:xfrm>
            <a:off x="9545765" y="5019770"/>
            <a:ext cx="870751" cy="830997"/>
          </a:xfrm>
          <a:prstGeom prst="rect">
            <a:avLst/>
          </a:prstGeom>
          <a:noFill/>
        </p:spPr>
        <p:txBody>
          <a:bodyPr wrap="none" rtlCol="0">
            <a:spAutoFit/>
          </a:bodyPr>
          <a:lstStyle/>
          <a:p>
            <a:r>
              <a:rPr lang="es-ES" sz="4800" b="1" dirty="0">
                <a:solidFill>
                  <a:srgbClr val="FE4CA5"/>
                </a:solidFill>
              </a:rPr>
              <a:t>04</a:t>
            </a:r>
            <a:endParaRPr lang="en-US" sz="4800" b="1" dirty="0">
              <a:solidFill>
                <a:srgbClr val="FE4CA5"/>
              </a:solidFill>
            </a:endParaRPr>
          </a:p>
        </p:txBody>
      </p:sp>
      <p:sp>
        <p:nvSpPr>
          <p:cNvPr id="20" name="TextBox 19">
            <a:extLst>
              <a:ext uri="{FF2B5EF4-FFF2-40B4-BE49-F238E27FC236}">
                <a16:creationId xmlns:a16="http://schemas.microsoft.com/office/drawing/2014/main" id="{1F4F7D83-D44D-991F-7971-159DA610AFE1}"/>
              </a:ext>
            </a:extLst>
          </p:cNvPr>
          <p:cNvSpPr txBox="1"/>
          <p:nvPr/>
        </p:nvSpPr>
        <p:spPr>
          <a:xfrm>
            <a:off x="222649" y="3062668"/>
            <a:ext cx="1764385" cy="1200329"/>
          </a:xfrm>
          <a:prstGeom prst="rect">
            <a:avLst/>
          </a:prstGeom>
          <a:noFill/>
        </p:spPr>
        <p:txBody>
          <a:bodyPr wrap="square">
            <a:spAutoFit/>
          </a:bodyPr>
          <a:lstStyle/>
          <a:p>
            <a:pPr algn="ctr"/>
            <a:r>
              <a:rPr lang="es-ES" sz="2400" dirty="0">
                <a:solidFill>
                  <a:srgbClr val="00CCF1"/>
                </a:solidFill>
              </a:rPr>
              <a:t>¿Para qué sirven los arreglos?​</a:t>
            </a:r>
            <a:endParaRPr lang="en-US" sz="2400" dirty="0">
              <a:solidFill>
                <a:srgbClr val="00CCF1"/>
              </a:solidFill>
            </a:endParaRPr>
          </a:p>
        </p:txBody>
      </p:sp>
      <p:sp>
        <p:nvSpPr>
          <p:cNvPr id="22" name="TextBox 21">
            <a:extLst>
              <a:ext uri="{FF2B5EF4-FFF2-40B4-BE49-F238E27FC236}">
                <a16:creationId xmlns:a16="http://schemas.microsoft.com/office/drawing/2014/main" id="{7CE82AB1-F349-BF3A-8779-BB58A0610864}"/>
              </a:ext>
            </a:extLst>
          </p:cNvPr>
          <p:cNvSpPr txBox="1"/>
          <p:nvPr/>
        </p:nvSpPr>
        <p:spPr>
          <a:xfrm>
            <a:off x="821702" y="5285160"/>
            <a:ext cx="6094428" cy="830997"/>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¿Se puede agregar o eliminar elementos después de crear el arreglo?​</a:t>
            </a:r>
            <a:endParaRPr lang="en-US" dirty="0"/>
          </a:p>
        </p:txBody>
      </p:sp>
      <p:sp>
        <p:nvSpPr>
          <p:cNvPr id="24" name="TextBox 23">
            <a:extLst>
              <a:ext uri="{FF2B5EF4-FFF2-40B4-BE49-F238E27FC236}">
                <a16:creationId xmlns:a16="http://schemas.microsoft.com/office/drawing/2014/main" id="{384780E0-0296-5058-29D0-D8AAE0ECB4F9}"/>
              </a:ext>
            </a:extLst>
          </p:cNvPr>
          <p:cNvSpPr txBox="1"/>
          <p:nvPr/>
        </p:nvSpPr>
        <p:spPr>
          <a:xfrm>
            <a:off x="4033102" y="1610019"/>
            <a:ext cx="6094428" cy="830997"/>
          </a:xfrm>
          <a:prstGeom prst="rect">
            <a:avLst/>
          </a:prstGeom>
          <a:noFill/>
        </p:spPr>
        <p:txBody>
          <a:bodyPr wrap="square">
            <a:spAutoFit/>
          </a:bodyPr>
          <a:lstStyle>
            <a:defPPr marR="0" lvl="0" algn="l" rtl="0">
              <a:lnSpc>
                <a:spcPct val="100000"/>
              </a:lnSpc>
              <a:spcBef>
                <a:spcPts val="0"/>
              </a:spcBef>
              <a:spcAft>
                <a:spcPts val="0"/>
              </a:spcAft>
              <a:defRPr/>
            </a:defPPr>
            <a:lvl1pPr algn="ctr">
              <a:defRPr sz="2400">
                <a:solidFill>
                  <a:schemeClr val="bg1">
                    <a:lumMod val="85000"/>
                  </a:schemeClr>
                </a:solidFill>
              </a:defRPr>
            </a:lvl1pPr>
          </a:lstStyle>
          <a:p>
            <a:r>
              <a:rPr lang="es-ES" dirty="0"/>
              <a:t>Mencione algunas operaciones que se pueden realizar con arreglos​.</a:t>
            </a:r>
            <a:endParaRPr lang="en-US" dirty="0"/>
          </a:p>
        </p:txBody>
      </p:sp>
      <p:sp>
        <p:nvSpPr>
          <p:cNvPr id="26" name="TextBox 25">
            <a:extLst>
              <a:ext uri="{FF2B5EF4-FFF2-40B4-BE49-F238E27FC236}">
                <a16:creationId xmlns:a16="http://schemas.microsoft.com/office/drawing/2014/main" id="{81D651CD-5972-1EE9-B31D-DC6B5AE905D0}"/>
              </a:ext>
            </a:extLst>
          </p:cNvPr>
          <p:cNvSpPr txBox="1"/>
          <p:nvPr/>
        </p:nvSpPr>
        <p:spPr>
          <a:xfrm>
            <a:off x="9421296" y="3103722"/>
            <a:ext cx="2488677" cy="1569660"/>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¿Cómo podemos copiar los datos de un arreglo en otro?​</a:t>
            </a:r>
            <a:endParaRPr lang="en-US" dirty="0"/>
          </a:p>
        </p:txBody>
      </p:sp>
    </p:spTree>
    <p:extLst>
      <p:ext uri="{BB962C8B-B14F-4D97-AF65-F5344CB8AC3E}">
        <p14:creationId xmlns:p14="http://schemas.microsoft.com/office/powerpoint/2010/main" val="101128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68FE-A2C2-54C1-D40F-27766C5E9748}"/>
              </a:ext>
            </a:extLst>
          </p:cNvPr>
          <p:cNvSpPr>
            <a:spLocks noGrp="1"/>
          </p:cNvSpPr>
          <p:nvPr>
            <p:ph type="title"/>
          </p:nvPr>
        </p:nvSpPr>
        <p:spPr>
          <a:xfrm>
            <a:off x="867267" y="429863"/>
            <a:ext cx="10486534"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30405BA1-5C53-7BC3-3DF8-C4CFAF87E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3</a:t>
            </a:fld>
            <a:endParaRPr lang="es-PE"/>
          </a:p>
        </p:txBody>
      </p:sp>
      <p:sp>
        <p:nvSpPr>
          <p:cNvPr id="5" name="Right Triangle 4">
            <a:extLst>
              <a:ext uri="{FF2B5EF4-FFF2-40B4-BE49-F238E27FC236}">
                <a16:creationId xmlns:a16="http://schemas.microsoft.com/office/drawing/2014/main" id="{25F5F8C1-ABC8-4AF2-3001-AF5DD99BB1FB}"/>
              </a:ext>
            </a:extLst>
          </p:cNvPr>
          <p:cNvSpPr/>
          <p:nvPr/>
        </p:nvSpPr>
        <p:spPr>
          <a:xfrm>
            <a:off x="2064470" y="1762807"/>
            <a:ext cx="1668545" cy="1131217"/>
          </a:xfrm>
          <a:prstGeom prst="rtTriangle">
            <a:avLst/>
          </a:prstGeom>
          <a:solidFill>
            <a:srgbClr val="33D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10B716CA-3B1A-1446-D256-AE6819AA0B39}"/>
              </a:ext>
            </a:extLst>
          </p:cNvPr>
          <p:cNvSpPr/>
          <p:nvPr/>
        </p:nvSpPr>
        <p:spPr>
          <a:xfrm flipH="1" flipV="1">
            <a:off x="2064469" y="3888554"/>
            <a:ext cx="1668545" cy="1131217"/>
          </a:xfrm>
          <a:prstGeom prst="rtTriangle">
            <a:avLst/>
          </a:prstGeom>
          <a:solidFill>
            <a:srgbClr val="65A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7244C98-5E97-1AAA-98F4-77CBB334FB39}"/>
              </a:ext>
            </a:extLst>
          </p:cNvPr>
          <p:cNvSpPr/>
          <p:nvPr/>
        </p:nvSpPr>
        <p:spPr>
          <a:xfrm>
            <a:off x="0" y="1762807"/>
            <a:ext cx="2064470" cy="1131217"/>
          </a:xfrm>
          <a:prstGeom prst="rect">
            <a:avLst/>
          </a:prstGeom>
          <a:solidFill>
            <a:srgbClr val="00C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11D3B3-CEEA-EC5C-863D-DE692A60FB96}"/>
              </a:ext>
            </a:extLst>
          </p:cNvPr>
          <p:cNvSpPr/>
          <p:nvPr/>
        </p:nvSpPr>
        <p:spPr>
          <a:xfrm>
            <a:off x="3733014" y="3888553"/>
            <a:ext cx="2488676" cy="1131217"/>
          </a:xfrm>
          <a:prstGeom prst="rect">
            <a:avLst/>
          </a:prstGeom>
          <a:solidFill>
            <a:srgbClr val="3D9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1B122428-86F2-84AD-F6CE-D13FAA9367C0}"/>
              </a:ext>
            </a:extLst>
          </p:cNvPr>
          <p:cNvSpPr/>
          <p:nvPr/>
        </p:nvSpPr>
        <p:spPr>
          <a:xfrm>
            <a:off x="7610570" y="2757335"/>
            <a:ext cx="1668545" cy="1131217"/>
          </a:xfrm>
          <a:prstGeom prst="rtTriangle">
            <a:avLst/>
          </a:prstGeom>
          <a:solidFill>
            <a:srgbClr val="8F3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954678-BA3F-8155-D82A-ACC305A6881D}"/>
              </a:ext>
            </a:extLst>
          </p:cNvPr>
          <p:cNvSpPr/>
          <p:nvPr/>
        </p:nvSpPr>
        <p:spPr>
          <a:xfrm>
            <a:off x="5121895" y="2757335"/>
            <a:ext cx="2488676" cy="1131217"/>
          </a:xfrm>
          <a:prstGeom prst="rect">
            <a:avLst/>
          </a:prstGeom>
          <a:solidFill>
            <a:srgbClr val="720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8F9F8DA-7BFD-B5FD-1C0D-E419E9989822}"/>
              </a:ext>
            </a:extLst>
          </p:cNvPr>
          <p:cNvSpPr/>
          <p:nvPr/>
        </p:nvSpPr>
        <p:spPr>
          <a:xfrm flipH="1" flipV="1">
            <a:off x="7610569" y="4883080"/>
            <a:ext cx="1668545" cy="1131217"/>
          </a:xfrm>
          <a:prstGeom prst="rtTriangle">
            <a:avLst/>
          </a:prstGeom>
          <a:solidFill>
            <a:srgbClr val="FE4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BB2CBF-D6AB-95DF-0493-5BB302225DE9}"/>
              </a:ext>
            </a:extLst>
          </p:cNvPr>
          <p:cNvSpPr/>
          <p:nvPr/>
        </p:nvSpPr>
        <p:spPr>
          <a:xfrm>
            <a:off x="9279110" y="4883079"/>
            <a:ext cx="2912889" cy="1131217"/>
          </a:xfrm>
          <a:prstGeom prst="rect">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6A0F35-A326-D134-3FBF-CD0CD0836ADD}"/>
              </a:ext>
            </a:extLst>
          </p:cNvPr>
          <p:cNvSpPr/>
          <p:nvPr/>
        </p:nvSpPr>
        <p:spPr>
          <a:xfrm>
            <a:off x="2062113" y="2894025"/>
            <a:ext cx="1668544"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F8E9E3-7866-6AE1-54F8-39385B92A048}"/>
              </a:ext>
            </a:extLst>
          </p:cNvPr>
          <p:cNvSpPr/>
          <p:nvPr/>
        </p:nvSpPr>
        <p:spPr>
          <a:xfrm>
            <a:off x="7608212" y="3888552"/>
            <a:ext cx="1670901"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72D0DD2-1E5F-5E34-5F16-C8626820FB3B}"/>
              </a:ext>
            </a:extLst>
          </p:cNvPr>
          <p:cNvSpPr txBox="1"/>
          <p:nvPr/>
        </p:nvSpPr>
        <p:spPr>
          <a:xfrm>
            <a:off x="826582" y="1912916"/>
            <a:ext cx="870751" cy="830997"/>
          </a:xfrm>
          <a:prstGeom prst="rect">
            <a:avLst/>
          </a:prstGeom>
          <a:noFill/>
        </p:spPr>
        <p:txBody>
          <a:bodyPr wrap="none" rtlCol="0">
            <a:spAutoFit/>
          </a:bodyPr>
          <a:lstStyle/>
          <a:p>
            <a:r>
              <a:rPr lang="es-ES" sz="4800" b="1" dirty="0">
                <a:solidFill>
                  <a:srgbClr val="33D6F5"/>
                </a:solidFill>
              </a:rPr>
              <a:t>01</a:t>
            </a:r>
            <a:endParaRPr lang="en-US" sz="4800" b="1" dirty="0">
              <a:solidFill>
                <a:srgbClr val="33D6F5"/>
              </a:solidFill>
            </a:endParaRPr>
          </a:p>
        </p:txBody>
      </p:sp>
      <p:sp>
        <p:nvSpPr>
          <p:cNvPr id="16" name="TextBox 15">
            <a:extLst>
              <a:ext uri="{FF2B5EF4-FFF2-40B4-BE49-F238E27FC236}">
                <a16:creationId xmlns:a16="http://schemas.microsoft.com/office/drawing/2014/main" id="{A5BBE478-8E0F-B656-3C5F-3307EA8D3EB2}"/>
              </a:ext>
            </a:extLst>
          </p:cNvPr>
          <p:cNvSpPr txBox="1"/>
          <p:nvPr/>
        </p:nvSpPr>
        <p:spPr>
          <a:xfrm>
            <a:off x="4202611" y="4052082"/>
            <a:ext cx="870751" cy="830997"/>
          </a:xfrm>
          <a:prstGeom prst="rect">
            <a:avLst/>
          </a:prstGeom>
          <a:noFill/>
        </p:spPr>
        <p:txBody>
          <a:bodyPr wrap="none" rtlCol="0">
            <a:spAutoFit/>
          </a:bodyPr>
          <a:lstStyle/>
          <a:p>
            <a:r>
              <a:rPr lang="es-ES" sz="4800" b="1" dirty="0">
                <a:solidFill>
                  <a:schemeClr val="bg1"/>
                </a:solidFill>
              </a:rPr>
              <a:t>02</a:t>
            </a:r>
            <a:endParaRPr lang="en-US" sz="4800" b="1" dirty="0">
              <a:solidFill>
                <a:schemeClr val="bg1"/>
              </a:solidFill>
            </a:endParaRPr>
          </a:p>
        </p:txBody>
      </p:sp>
      <p:sp>
        <p:nvSpPr>
          <p:cNvPr id="17" name="TextBox 16">
            <a:extLst>
              <a:ext uri="{FF2B5EF4-FFF2-40B4-BE49-F238E27FC236}">
                <a16:creationId xmlns:a16="http://schemas.microsoft.com/office/drawing/2014/main" id="{A54DCABF-B868-75BE-9A95-ED8D8451A646}"/>
              </a:ext>
            </a:extLst>
          </p:cNvPr>
          <p:cNvSpPr txBox="1"/>
          <p:nvPr/>
        </p:nvSpPr>
        <p:spPr>
          <a:xfrm>
            <a:off x="6271966" y="2907444"/>
            <a:ext cx="870751" cy="830997"/>
          </a:xfrm>
          <a:prstGeom prst="rect">
            <a:avLst/>
          </a:prstGeom>
          <a:noFill/>
        </p:spPr>
        <p:txBody>
          <a:bodyPr wrap="none" rtlCol="0">
            <a:spAutoFit/>
          </a:bodyPr>
          <a:lstStyle/>
          <a:p>
            <a:r>
              <a:rPr lang="es-ES" sz="4800" b="1" dirty="0">
                <a:solidFill>
                  <a:srgbClr val="8F32F6"/>
                </a:solidFill>
              </a:rPr>
              <a:t>03</a:t>
            </a:r>
            <a:endParaRPr lang="en-US" sz="4800" b="1" dirty="0">
              <a:solidFill>
                <a:srgbClr val="8F32F6"/>
              </a:solidFill>
            </a:endParaRPr>
          </a:p>
        </p:txBody>
      </p:sp>
      <p:sp>
        <p:nvSpPr>
          <p:cNvPr id="18" name="TextBox 17">
            <a:extLst>
              <a:ext uri="{FF2B5EF4-FFF2-40B4-BE49-F238E27FC236}">
                <a16:creationId xmlns:a16="http://schemas.microsoft.com/office/drawing/2014/main" id="{B88A490A-4EE9-B348-0B39-05FDD9F41B7C}"/>
              </a:ext>
            </a:extLst>
          </p:cNvPr>
          <p:cNvSpPr txBox="1"/>
          <p:nvPr/>
        </p:nvSpPr>
        <p:spPr>
          <a:xfrm>
            <a:off x="9545765" y="5019770"/>
            <a:ext cx="870751" cy="830997"/>
          </a:xfrm>
          <a:prstGeom prst="rect">
            <a:avLst/>
          </a:prstGeom>
          <a:noFill/>
        </p:spPr>
        <p:txBody>
          <a:bodyPr wrap="none" rtlCol="0">
            <a:spAutoFit/>
          </a:bodyPr>
          <a:lstStyle/>
          <a:p>
            <a:r>
              <a:rPr lang="es-ES" sz="4800" b="1" dirty="0">
                <a:solidFill>
                  <a:srgbClr val="FE4CA5"/>
                </a:solidFill>
              </a:rPr>
              <a:t>04</a:t>
            </a:r>
            <a:endParaRPr lang="en-US" sz="4800" b="1" dirty="0">
              <a:solidFill>
                <a:srgbClr val="FE4CA5"/>
              </a:solidFill>
            </a:endParaRPr>
          </a:p>
        </p:txBody>
      </p:sp>
      <p:sp>
        <p:nvSpPr>
          <p:cNvPr id="20" name="TextBox 19">
            <a:extLst>
              <a:ext uri="{FF2B5EF4-FFF2-40B4-BE49-F238E27FC236}">
                <a16:creationId xmlns:a16="http://schemas.microsoft.com/office/drawing/2014/main" id="{1F4F7D83-D44D-991F-7971-159DA610AFE1}"/>
              </a:ext>
            </a:extLst>
          </p:cNvPr>
          <p:cNvSpPr txBox="1"/>
          <p:nvPr/>
        </p:nvSpPr>
        <p:spPr>
          <a:xfrm>
            <a:off x="222649" y="3062668"/>
            <a:ext cx="1764385" cy="1200329"/>
          </a:xfrm>
          <a:prstGeom prst="rect">
            <a:avLst/>
          </a:prstGeom>
          <a:noFill/>
        </p:spPr>
        <p:txBody>
          <a:bodyPr wrap="square">
            <a:spAutoFit/>
          </a:bodyPr>
          <a:lstStyle/>
          <a:p>
            <a:pPr algn="ctr"/>
            <a:r>
              <a:rPr lang="es-ES" sz="2400" dirty="0">
                <a:solidFill>
                  <a:schemeClr val="bg1">
                    <a:lumMod val="85000"/>
                  </a:schemeClr>
                </a:solidFill>
              </a:rPr>
              <a:t>¿Para qué sirven los arreglos?​</a:t>
            </a:r>
            <a:endParaRPr lang="en-US" sz="2400" dirty="0">
              <a:solidFill>
                <a:schemeClr val="bg1">
                  <a:lumMod val="85000"/>
                </a:schemeClr>
              </a:solidFill>
            </a:endParaRPr>
          </a:p>
        </p:txBody>
      </p:sp>
      <p:sp>
        <p:nvSpPr>
          <p:cNvPr id="22" name="TextBox 21">
            <a:extLst>
              <a:ext uri="{FF2B5EF4-FFF2-40B4-BE49-F238E27FC236}">
                <a16:creationId xmlns:a16="http://schemas.microsoft.com/office/drawing/2014/main" id="{7CE82AB1-F349-BF3A-8779-BB58A0610864}"/>
              </a:ext>
            </a:extLst>
          </p:cNvPr>
          <p:cNvSpPr txBox="1"/>
          <p:nvPr/>
        </p:nvSpPr>
        <p:spPr>
          <a:xfrm>
            <a:off x="821702" y="5285160"/>
            <a:ext cx="6094428" cy="830997"/>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solidFill>
                  <a:srgbClr val="3D95F6"/>
                </a:solidFill>
              </a:rPr>
              <a:t>¿Se puede agregar o eliminar elementos después de crear el arreglo?​</a:t>
            </a:r>
            <a:endParaRPr lang="en-US" dirty="0">
              <a:solidFill>
                <a:srgbClr val="3D95F6"/>
              </a:solidFill>
            </a:endParaRPr>
          </a:p>
        </p:txBody>
      </p:sp>
      <p:sp>
        <p:nvSpPr>
          <p:cNvPr id="24" name="TextBox 23">
            <a:extLst>
              <a:ext uri="{FF2B5EF4-FFF2-40B4-BE49-F238E27FC236}">
                <a16:creationId xmlns:a16="http://schemas.microsoft.com/office/drawing/2014/main" id="{384780E0-0296-5058-29D0-D8AAE0ECB4F9}"/>
              </a:ext>
            </a:extLst>
          </p:cNvPr>
          <p:cNvSpPr txBox="1"/>
          <p:nvPr/>
        </p:nvSpPr>
        <p:spPr>
          <a:xfrm>
            <a:off x="4033102" y="1610019"/>
            <a:ext cx="6094428" cy="830997"/>
          </a:xfrm>
          <a:prstGeom prst="rect">
            <a:avLst/>
          </a:prstGeom>
          <a:noFill/>
        </p:spPr>
        <p:txBody>
          <a:bodyPr wrap="square">
            <a:spAutoFit/>
          </a:bodyPr>
          <a:lstStyle>
            <a:defPPr marR="0" lvl="0" algn="l" rtl="0">
              <a:lnSpc>
                <a:spcPct val="100000"/>
              </a:lnSpc>
              <a:spcBef>
                <a:spcPts val="0"/>
              </a:spcBef>
              <a:spcAft>
                <a:spcPts val="0"/>
              </a:spcAft>
              <a:defRPr/>
            </a:defPPr>
            <a:lvl1pPr algn="ctr">
              <a:defRPr sz="2400">
                <a:solidFill>
                  <a:schemeClr val="bg1">
                    <a:lumMod val="85000"/>
                  </a:schemeClr>
                </a:solidFill>
              </a:defRPr>
            </a:lvl1pPr>
          </a:lstStyle>
          <a:p>
            <a:r>
              <a:rPr lang="es-ES" dirty="0"/>
              <a:t>Mencione algunas operaciones que se pueden realizar con arreglos​.</a:t>
            </a:r>
            <a:endParaRPr lang="en-US" dirty="0"/>
          </a:p>
        </p:txBody>
      </p:sp>
      <p:sp>
        <p:nvSpPr>
          <p:cNvPr id="26" name="TextBox 25">
            <a:extLst>
              <a:ext uri="{FF2B5EF4-FFF2-40B4-BE49-F238E27FC236}">
                <a16:creationId xmlns:a16="http://schemas.microsoft.com/office/drawing/2014/main" id="{81D651CD-5972-1EE9-B31D-DC6B5AE905D0}"/>
              </a:ext>
            </a:extLst>
          </p:cNvPr>
          <p:cNvSpPr txBox="1"/>
          <p:nvPr/>
        </p:nvSpPr>
        <p:spPr>
          <a:xfrm>
            <a:off x="9421296" y="3103722"/>
            <a:ext cx="2488677" cy="1569660"/>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¿Cómo podemos copiar los datos de un arreglo en otro?​</a:t>
            </a:r>
            <a:endParaRPr lang="en-US" dirty="0"/>
          </a:p>
        </p:txBody>
      </p:sp>
    </p:spTree>
    <p:extLst>
      <p:ext uri="{BB962C8B-B14F-4D97-AF65-F5344CB8AC3E}">
        <p14:creationId xmlns:p14="http://schemas.microsoft.com/office/powerpoint/2010/main" val="24207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68FE-A2C2-54C1-D40F-27766C5E9748}"/>
              </a:ext>
            </a:extLst>
          </p:cNvPr>
          <p:cNvSpPr>
            <a:spLocks noGrp="1"/>
          </p:cNvSpPr>
          <p:nvPr>
            <p:ph type="title"/>
          </p:nvPr>
        </p:nvSpPr>
        <p:spPr>
          <a:xfrm>
            <a:off x="867267" y="429863"/>
            <a:ext cx="10486534"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30405BA1-5C53-7BC3-3DF8-C4CFAF87E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4</a:t>
            </a:fld>
            <a:endParaRPr lang="es-PE"/>
          </a:p>
        </p:txBody>
      </p:sp>
      <p:sp>
        <p:nvSpPr>
          <p:cNvPr id="5" name="Right Triangle 4">
            <a:extLst>
              <a:ext uri="{FF2B5EF4-FFF2-40B4-BE49-F238E27FC236}">
                <a16:creationId xmlns:a16="http://schemas.microsoft.com/office/drawing/2014/main" id="{25F5F8C1-ABC8-4AF2-3001-AF5DD99BB1FB}"/>
              </a:ext>
            </a:extLst>
          </p:cNvPr>
          <p:cNvSpPr/>
          <p:nvPr/>
        </p:nvSpPr>
        <p:spPr>
          <a:xfrm>
            <a:off x="2064470" y="1762807"/>
            <a:ext cx="1668545" cy="1131217"/>
          </a:xfrm>
          <a:prstGeom prst="rtTriangle">
            <a:avLst/>
          </a:prstGeom>
          <a:solidFill>
            <a:srgbClr val="33D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10B716CA-3B1A-1446-D256-AE6819AA0B39}"/>
              </a:ext>
            </a:extLst>
          </p:cNvPr>
          <p:cNvSpPr/>
          <p:nvPr/>
        </p:nvSpPr>
        <p:spPr>
          <a:xfrm flipH="1" flipV="1">
            <a:off x="2064469" y="3888554"/>
            <a:ext cx="1668545" cy="1131217"/>
          </a:xfrm>
          <a:prstGeom prst="rtTriangle">
            <a:avLst/>
          </a:prstGeom>
          <a:solidFill>
            <a:srgbClr val="65A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7244C98-5E97-1AAA-98F4-77CBB334FB39}"/>
              </a:ext>
            </a:extLst>
          </p:cNvPr>
          <p:cNvSpPr/>
          <p:nvPr/>
        </p:nvSpPr>
        <p:spPr>
          <a:xfrm>
            <a:off x="0" y="1762807"/>
            <a:ext cx="2064470" cy="1131217"/>
          </a:xfrm>
          <a:prstGeom prst="rect">
            <a:avLst/>
          </a:prstGeom>
          <a:solidFill>
            <a:srgbClr val="00C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11D3B3-CEEA-EC5C-863D-DE692A60FB96}"/>
              </a:ext>
            </a:extLst>
          </p:cNvPr>
          <p:cNvSpPr/>
          <p:nvPr/>
        </p:nvSpPr>
        <p:spPr>
          <a:xfrm>
            <a:off x="3733014" y="3888553"/>
            <a:ext cx="2488676" cy="1131217"/>
          </a:xfrm>
          <a:prstGeom prst="rect">
            <a:avLst/>
          </a:prstGeom>
          <a:solidFill>
            <a:srgbClr val="3D9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1B122428-86F2-84AD-F6CE-D13FAA9367C0}"/>
              </a:ext>
            </a:extLst>
          </p:cNvPr>
          <p:cNvSpPr/>
          <p:nvPr/>
        </p:nvSpPr>
        <p:spPr>
          <a:xfrm>
            <a:off x="7610570" y="2757335"/>
            <a:ext cx="1668545" cy="1131217"/>
          </a:xfrm>
          <a:prstGeom prst="rtTriangle">
            <a:avLst/>
          </a:prstGeom>
          <a:solidFill>
            <a:srgbClr val="8F3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954678-BA3F-8155-D82A-ACC305A6881D}"/>
              </a:ext>
            </a:extLst>
          </p:cNvPr>
          <p:cNvSpPr/>
          <p:nvPr/>
        </p:nvSpPr>
        <p:spPr>
          <a:xfrm>
            <a:off x="5121895" y="2757335"/>
            <a:ext cx="2488676" cy="1131217"/>
          </a:xfrm>
          <a:prstGeom prst="rect">
            <a:avLst/>
          </a:prstGeom>
          <a:solidFill>
            <a:srgbClr val="720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8F9F8DA-7BFD-B5FD-1C0D-E419E9989822}"/>
              </a:ext>
            </a:extLst>
          </p:cNvPr>
          <p:cNvSpPr/>
          <p:nvPr/>
        </p:nvSpPr>
        <p:spPr>
          <a:xfrm flipH="1" flipV="1">
            <a:off x="7610569" y="4883080"/>
            <a:ext cx="1668545" cy="1131217"/>
          </a:xfrm>
          <a:prstGeom prst="rtTriangle">
            <a:avLst/>
          </a:prstGeom>
          <a:solidFill>
            <a:srgbClr val="FE4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BB2CBF-D6AB-95DF-0493-5BB302225DE9}"/>
              </a:ext>
            </a:extLst>
          </p:cNvPr>
          <p:cNvSpPr/>
          <p:nvPr/>
        </p:nvSpPr>
        <p:spPr>
          <a:xfrm>
            <a:off x="9279110" y="4883079"/>
            <a:ext cx="2912889" cy="1131217"/>
          </a:xfrm>
          <a:prstGeom prst="rect">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6A0F35-A326-D134-3FBF-CD0CD0836ADD}"/>
              </a:ext>
            </a:extLst>
          </p:cNvPr>
          <p:cNvSpPr/>
          <p:nvPr/>
        </p:nvSpPr>
        <p:spPr>
          <a:xfrm>
            <a:off x="2062113" y="2894025"/>
            <a:ext cx="1668544"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F8E9E3-7866-6AE1-54F8-39385B92A048}"/>
              </a:ext>
            </a:extLst>
          </p:cNvPr>
          <p:cNvSpPr/>
          <p:nvPr/>
        </p:nvSpPr>
        <p:spPr>
          <a:xfrm>
            <a:off x="7608212" y="3888552"/>
            <a:ext cx="1670901"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72D0DD2-1E5F-5E34-5F16-C8626820FB3B}"/>
              </a:ext>
            </a:extLst>
          </p:cNvPr>
          <p:cNvSpPr txBox="1"/>
          <p:nvPr/>
        </p:nvSpPr>
        <p:spPr>
          <a:xfrm>
            <a:off x="826582" y="1912916"/>
            <a:ext cx="870751" cy="830997"/>
          </a:xfrm>
          <a:prstGeom prst="rect">
            <a:avLst/>
          </a:prstGeom>
          <a:noFill/>
        </p:spPr>
        <p:txBody>
          <a:bodyPr wrap="none" rtlCol="0">
            <a:spAutoFit/>
          </a:bodyPr>
          <a:lstStyle/>
          <a:p>
            <a:r>
              <a:rPr lang="es-ES" sz="4800" b="1" dirty="0">
                <a:solidFill>
                  <a:srgbClr val="33D6F5"/>
                </a:solidFill>
              </a:rPr>
              <a:t>01</a:t>
            </a:r>
            <a:endParaRPr lang="en-US" sz="4800" b="1" dirty="0">
              <a:solidFill>
                <a:srgbClr val="33D6F5"/>
              </a:solidFill>
            </a:endParaRPr>
          </a:p>
        </p:txBody>
      </p:sp>
      <p:sp>
        <p:nvSpPr>
          <p:cNvPr id="16" name="TextBox 15">
            <a:extLst>
              <a:ext uri="{FF2B5EF4-FFF2-40B4-BE49-F238E27FC236}">
                <a16:creationId xmlns:a16="http://schemas.microsoft.com/office/drawing/2014/main" id="{A5BBE478-8E0F-B656-3C5F-3307EA8D3EB2}"/>
              </a:ext>
            </a:extLst>
          </p:cNvPr>
          <p:cNvSpPr txBox="1"/>
          <p:nvPr/>
        </p:nvSpPr>
        <p:spPr>
          <a:xfrm>
            <a:off x="4202611" y="4052082"/>
            <a:ext cx="870751" cy="830997"/>
          </a:xfrm>
          <a:prstGeom prst="rect">
            <a:avLst/>
          </a:prstGeom>
          <a:noFill/>
        </p:spPr>
        <p:txBody>
          <a:bodyPr wrap="none" rtlCol="0">
            <a:spAutoFit/>
          </a:bodyPr>
          <a:lstStyle/>
          <a:p>
            <a:r>
              <a:rPr lang="es-ES" sz="4800" b="1" dirty="0">
                <a:solidFill>
                  <a:srgbClr val="65AAF7"/>
                </a:solidFill>
              </a:rPr>
              <a:t>02</a:t>
            </a:r>
            <a:endParaRPr lang="en-US" sz="4800" b="1" dirty="0">
              <a:solidFill>
                <a:srgbClr val="65AAF7"/>
              </a:solidFill>
            </a:endParaRPr>
          </a:p>
        </p:txBody>
      </p:sp>
      <p:sp>
        <p:nvSpPr>
          <p:cNvPr id="17" name="TextBox 16">
            <a:extLst>
              <a:ext uri="{FF2B5EF4-FFF2-40B4-BE49-F238E27FC236}">
                <a16:creationId xmlns:a16="http://schemas.microsoft.com/office/drawing/2014/main" id="{A54DCABF-B868-75BE-9A95-ED8D8451A646}"/>
              </a:ext>
            </a:extLst>
          </p:cNvPr>
          <p:cNvSpPr txBox="1"/>
          <p:nvPr/>
        </p:nvSpPr>
        <p:spPr>
          <a:xfrm>
            <a:off x="6271966" y="2907444"/>
            <a:ext cx="870751" cy="830997"/>
          </a:xfrm>
          <a:prstGeom prst="rect">
            <a:avLst/>
          </a:prstGeom>
          <a:noFill/>
        </p:spPr>
        <p:txBody>
          <a:bodyPr wrap="none" rtlCol="0">
            <a:spAutoFit/>
          </a:bodyPr>
          <a:lstStyle/>
          <a:p>
            <a:r>
              <a:rPr lang="es-ES" sz="4800" b="1" dirty="0">
                <a:solidFill>
                  <a:schemeClr val="bg1"/>
                </a:solidFill>
              </a:rPr>
              <a:t>03</a:t>
            </a:r>
            <a:endParaRPr lang="en-US" sz="4800" b="1" dirty="0">
              <a:solidFill>
                <a:schemeClr val="bg1"/>
              </a:solidFill>
            </a:endParaRPr>
          </a:p>
        </p:txBody>
      </p:sp>
      <p:sp>
        <p:nvSpPr>
          <p:cNvPr id="18" name="TextBox 17">
            <a:extLst>
              <a:ext uri="{FF2B5EF4-FFF2-40B4-BE49-F238E27FC236}">
                <a16:creationId xmlns:a16="http://schemas.microsoft.com/office/drawing/2014/main" id="{B88A490A-4EE9-B348-0B39-05FDD9F41B7C}"/>
              </a:ext>
            </a:extLst>
          </p:cNvPr>
          <p:cNvSpPr txBox="1"/>
          <p:nvPr/>
        </p:nvSpPr>
        <p:spPr>
          <a:xfrm>
            <a:off x="9545765" y="5019770"/>
            <a:ext cx="870751" cy="830997"/>
          </a:xfrm>
          <a:prstGeom prst="rect">
            <a:avLst/>
          </a:prstGeom>
          <a:noFill/>
        </p:spPr>
        <p:txBody>
          <a:bodyPr wrap="none" rtlCol="0">
            <a:spAutoFit/>
          </a:bodyPr>
          <a:lstStyle/>
          <a:p>
            <a:r>
              <a:rPr lang="es-ES" sz="4800" b="1" dirty="0">
                <a:solidFill>
                  <a:srgbClr val="FE4CA5"/>
                </a:solidFill>
              </a:rPr>
              <a:t>04</a:t>
            </a:r>
            <a:endParaRPr lang="en-US" sz="4800" b="1" dirty="0">
              <a:solidFill>
                <a:srgbClr val="FE4CA5"/>
              </a:solidFill>
            </a:endParaRPr>
          </a:p>
        </p:txBody>
      </p:sp>
      <p:sp>
        <p:nvSpPr>
          <p:cNvPr id="20" name="TextBox 19">
            <a:extLst>
              <a:ext uri="{FF2B5EF4-FFF2-40B4-BE49-F238E27FC236}">
                <a16:creationId xmlns:a16="http://schemas.microsoft.com/office/drawing/2014/main" id="{1F4F7D83-D44D-991F-7971-159DA610AFE1}"/>
              </a:ext>
            </a:extLst>
          </p:cNvPr>
          <p:cNvSpPr txBox="1"/>
          <p:nvPr/>
        </p:nvSpPr>
        <p:spPr>
          <a:xfrm>
            <a:off x="222649" y="3062668"/>
            <a:ext cx="1764385" cy="1200329"/>
          </a:xfrm>
          <a:prstGeom prst="rect">
            <a:avLst/>
          </a:prstGeom>
          <a:noFill/>
        </p:spPr>
        <p:txBody>
          <a:bodyPr wrap="square">
            <a:spAutoFit/>
          </a:bodyPr>
          <a:lstStyle/>
          <a:p>
            <a:pPr algn="ctr"/>
            <a:r>
              <a:rPr lang="es-ES" sz="2400" dirty="0">
                <a:solidFill>
                  <a:schemeClr val="bg1">
                    <a:lumMod val="85000"/>
                  </a:schemeClr>
                </a:solidFill>
              </a:rPr>
              <a:t>¿Para qué sirven los arreglos?​</a:t>
            </a:r>
            <a:endParaRPr lang="en-US" sz="2400" dirty="0">
              <a:solidFill>
                <a:schemeClr val="bg1">
                  <a:lumMod val="85000"/>
                </a:schemeClr>
              </a:solidFill>
            </a:endParaRPr>
          </a:p>
        </p:txBody>
      </p:sp>
      <p:sp>
        <p:nvSpPr>
          <p:cNvPr id="22" name="TextBox 21">
            <a:extLst>
              <a:ext uri="{FF2B5EF4-FFF2-40B4-BE49-F238E27FC236}">
                <a16:creationId xmlns:a16="http://schemas.microsoft.com/office/drawing/2014/main" id="{7CE82AB1-F349-BF3A-8779-BB58A0610864}"/>
              </a:ext>
            </a:extLst>
          </p:cNvPr>
          <p:cNvSpPr txBox="1"/>
          <p:nvPr/>
        </p:nvSpPr>
        <p:spPr>
          <a:xfrm>
            <a:off x="821702" y="5285160"/>
            <a:ext cx="6094428" cy="830997"/>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¿Se puede agregar o eliminar elementos después de crear el arreglo?​</a:t>
            </a:r>
            <a:endParaRPr lang="en-US" dirty="0"/>
          </a:p>
        </p:txBody>
      </p:sp>
      <p:sp>
        <p:nvSpPr>
          <p:cNvPr id="24" name="TextBox 23">
            <a:extLst>
              <a:ext uri="{FF2B5EF4-FFF2-40B4-BE49-F238E27FC236}">
                <a16:creationId xmlns:a16="http://schemas.microsoft.com/office/drawing/2014/main" id="{384780E0-0296-5058-29D0-D8AAE0ECB4F9}"/>
              </a:ext>
            </a:extLst>
          </p:cNvPr>
          <p:cNvSpPr txBox="1"/>
          <p:nvPr/>
        </p:nvSpPr>
        <p:spPr>
          <a:xfrm>
            <a:off x="4033102" y="1610019"/>
            <a:ext cx="6094428" cy="830997"/>
          </a:xfrm>
          <a:prstGeom prst="rect">
            <a:avLst/>
          </a:prstGeom>
          <a:noFill/>
        </p:spPr>
        <p:txBody>
          <a:bodyPr wrap="square">
            <a:spAutoFit/>
          </a:bodyPr>
          <a:lstStyle>
            <a:defPPr marR="0" lvl="0" algn="l" rtl="0">
              <a:lnSpc>
                <a:spcPct val="100000"/>
              </a:lnSpc>
              <a:spcBef>
                <a:spcPts val="0"/>
              </a:spcBef>
              <a:spcAft>
                <a:spcPts val="0"/>
              </a:spcAft>
              <a:defRPr/>
            </a:defPPr>
            <a:lvl1pPr algn="ctr">
              <a:defRPr sz="2400">
                <a:solidFill>
                  <a:schemeClr val="bg1">
                    <a:lumMod val="85000"/>
                  </a:schemeClr>
                </a:solidFill>
              </a:defRPr>
            </a:lvl1pPr>
          </a:lstStyle>
          <a:p>
            <a:r>
              <a:rPr lang="es-ES" dirty="0">
                <a:solidFill>
                  <a:srgbClr val="7200F3"/>
                </a:solidFill>
              </a:rPr>
              <a:t>Mencione algunas operaciones que se pueden realizar con arreglos​.</a:t>
            </a:r>
            <a:endParaRPr lang="en-US" dirty="0">
              <a:solidFill>
                <a:srgbClr val="7200F3"/>
              </a:solidFill>
            </a:endParaRPr>
          </a:p>
        </p:txBody>
      </p:sp>
      <p:sp>
        <p:nvSpPr>
          <p:cNvPr id="26" name="TextBox 25">
            <a:extLst>
              <a:ext uri="{FF2B5EF4-FFF2-40B4-BE49-F238E27FC236}">
                <a16:creationId xmlns:a16="http://schemas.microsoft.com/office/drawing/2014/main" id="{81D651CD-5972-1EE9-B31D-DC6B5AE905D0}"/>
              </a:ext>
            </a:extLst>
          </p:cNvPr>
          <p:cNvSpPr txBox="1"/>
          <p:nvPr/>
        </p:nvSpPr>
        <p:spPr>
          <a:xfrm>
            <a:off x="9421296" y="3103722"/>
            <a:ext cx="2488677" cy="1569660"/>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¿Cómo podemos copiar los datos de un arreglo en otro?​</a:t>
            </a:r>
            <a:endParaRPr lang="en-US" dirty="0"/>
          </a:p>
        </p:txBody>
      </p:sp>
    </p:spTree>
    <p:extLst>
      <p:ext uri="{BB962C8B-B14F-4D97-AF65-F5344CB8AC3E}">
        <p14:creationId xmlns:p14="http://schemas.microsoft.com/office/powerpoint/2010/main" val="36116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68FE-A2C2-54C1-D40F-27766C5E9748}"/>
              </a:ext>
            </a:extLst>
          </p:cNvPr>
          <p:cNvSpPr>
            <a:spLocks noGrp="1"/>
          </p:cNvSpPr>
          <p:nvPr>
            <p:ph type="title"/>
          </p:nvPr>
        </p:nvSpPr>
        <p:spPr>
          <a:xfrm>
            <a:off x="867267" y="429863"/>
            <a:ext cx="10486534"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30405BA1-5C53-7BC3-3DF8-C4CFAF87E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5</a:t>
            </a:fld>
            <a:endParaRPr lang="es-PE"/>
          </a:p>
        </p:txBody>
      </p:sp>
      <p:sp>
        <p:nvSpPr>
          <p:cNvPr id="5" name="Right Triangle 4">
            <a:extLst>
              <a:ext uri="{FF2B5EF4-FFF2-40B4-BE49-F238E27FC236}">
                <a16:creationId xmlns:a16="http://schemas.microsoft.com/office/drawing/2014/main" id="{25F5F8C1-ABC8-4AF2-3001-AF5DD99BB1FB}"/>
              </a:ext>
            </a:extLst>
          </p:cNvPr>
          <p:cNvSpPr/>
          <p:nvPr/>
        </p:nvSpPr>
        <p:spPr>
          <a:xfrm>
            <a:off x="2064470" y="1762807"/>
            <a:ext cx="1668545" cy="1131217"/>
          </a:xfrm>
          <a:prstGeom prst="rtTriangle">
            <a:avLst/>
          </a:prstGeom>
          <a:solidFill>
            <a:srgbClr val="33D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10B716CA-3B1A-1446-D256-AE6819AA0B39}"/>
              </a:ext>
            </a:extLst>
          </p:cNvPr>
          <p:cNvSpPr/>
          <p:nvPr/>
        </p:nvSpPr>
        <p:spPr>
          <a:xfrm flipH="1" flipV="1">
            <a:off x="2064469" y="3888554"/>
            <a:ext cx="1668545" cy="1131217"/>
          </a:xfrm>
          <a:prstGeom prst="rtTriangle">
            <a:avLst/>
          </a:prstGeom>
          <a:solidFill>
            <a:srgbClr val="65A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7244C98-5E97-1AAA-98F4-77CBB334FB39}"/>
              </a:ext>
            </a:extLst>
          </p:cNvPr>
          <p:cNvSpPr/>
          <p:nvPr/>
        </p:nvSpPr>
        <p:spPr>
          <a:xfrm>
            <a:off x="0" y="1762807"/>
            <a:ext cx="2064470" cy="1131217"/>
          </a:xfrm>
          <a:prstGeom prst="rect">
            <a:avLst/>
          </a:prstGeom>
          <a:solidFill>
            <a:srgbClr val="00C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11D3B3-CEEA-EC5C-863D-DE692A60FB96}"/>
              </a:ext>
            </a:extLst>
          </p:cNvPr>
          <p:cNvSpPr/>
          <p:nvPr/>
        </p:nvSpPr>
        <p:spPr>
          <a:xfrm>
            <a:off x="3733014" y="3888553"/>
            <a:ext cx="2488676" cy="1131217"/>
          </a:xfrm>
          <a:prstGeom prst="rect">
            <a:avLst/>
          </a:prstGeom>
          <a:solidFill>
            <a:srgbClr val="3D9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1B122428-86F2-84AD-F6CE-D13FAA9367C0}"/>
              </a:ext>
            </a:extLst>
          </p:cNvPr>
          <p:cNvSpPr/>
          <p:nvPr/>
        </p:nvSpPr>
        <p:spPr>
          <a:xfrm>
            <a:off x="7610570" y="2757335"/>
            <a:ext cx="1668545" cy="1131217"/>
          </a:xfrm>
          <a:prstGeom prst="rtTriangle">
            <a:avLst/>
          </a:prstGeom>
          <a:solidFill>
            <a:srgbClr val="8F3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954678-BA3F-8155-D82A-ACC305A6881D}"/>
              </a:ext>
            </a:extLst>
          </p:cNvPr>
          <p:cNvSpPr/>
          <p:nvPr/>
        </p:nvSpPr>
        <p:spPr>
          <a:xfrm>
            <a:off x="5121895" y="2757335"/>
            <a:ext cx="2488676" cy="1131217"/>
          </a:xfrm>
          <a:prstGeom prst="rect">
            <a:avLst/>
          </a:prstGeom>
          <a:solidFill>
            <a:srgbClr val="720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8F9F8DA-7BFD-B5FD-1C0D-E419E9989822}"/>
              </a:ext>
            </a:extLst>
          </p:cNvPr>
          <p:cNvSpPr/>
          <p:nvPr/>
        </p:nvSpPr>
        <p:spPr>
          <a:xfrm flipH="1" flipV="1">
            <a:off x="7610569" y="4883080"/>
            <a:ext cx="1668545" cy="1131217"/>
          </a:xfrm>
          <a:prstGeom prst="rtTriangle">
            <a:avLst/>
          </a:prstGeom>
          <a:solidFill>
            <a:srgbClr val="FE4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BB2CBF-D6AB-95DF-0493-5BB302225DE9}"/>
              </a:ext>
            </a:extLst>
          </p:cNvPr>
          <p:cNvSpPr/>
          <p:nvPr/>
        </p:nvSpPr>
        <p:spPr>
          <a:xfrm>
            <a:off x="9279110" y="4883079"/>
            <a:ext cx="2912889" cy="1131217"/>
          </a:xfrm>
          <a:prstGeom prst="rect">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6A0F35-A326-D134-3FBF-CD0CD0836ADD}"/>
              </a:ext>
            </a:extLst>
          </p:cNvPr>
          <p:cNvSpPr/>
          <p:nvPr/>
        </p:nvSpPr>
        <p:spPr>
          <a:xfrm>
            <a:off x="2062113" y="2894025"/>
            <a:ext cx="1668544"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F8E9E3-7866-6AE1-54F8-39385B92A048}"/>
              </a:ext>
            </a:extLst>
          </p:cNvPr>
          <p:cNvSpPr/>
          <p:nvPr/>
        </p:nvSpPr>
        <p:spPr>
          <a:xfrm>
            <a:off x="7608212" y="3888552"/>
            <a:ext cx="1670901" cy="99452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88A490A-4EE9-B348-0B39-05FDD9F41B7C}"/>
              </a:ext>
            </a:extLst>
          </p:cNvPr>
          <p:cNvSpPr txBox="1"/>
          <p:nvPr/>
        </p:nvSpPr>
        <p:spPr>
          <a:xfrm>
            <a:off x="9545765" y="5019770"/>
            <a:ext cx="870751" cy="830997"/>
          </a:xfrm>
          <a:prstGeom prst="rect">
            <a:avLst/>
          </a:prstGeom>
          <a:noFill/>
        </p:spPr>
        <p:txBody>
          <a:bodyPr wrap="none" rtlCol="0">
            <a:spAutoFit/>
          </a:bodyPr>
          <a:lstStyle/>
          <a:p>
            <a:r>
              <a:rPr lang="es-ES" sz="4800" b="1" dirty="0">
                <a:solidFill>
                  <a:schemeClr val="bg1"/>
                </a:solidFill>
              </a:rPr>
              <a:t>04</a:t>
            </a:r>
            <a:endParaRPr lang="en-US" sz="4800" b="1" dirty="0">
              <a:solidFill>
                <a:schemeClr val="bg1"/>
              </a:solidFill>
            </a:endParaRPr>
          </a:p>
        </p:txBody>
      </p:sp>
      <p:sp>
        <p:nvSpPr>
          <p:cNvPr id="20" name="TextBox 19">
            <a:extLst>
              <a:ext uri="{FF2B5EF4-FFF2-40B4-BE49-F238E27FC236}">
                <a16:creationId xmlns:a16="http://schemas.microsoft.com/office/drawing/2014/main" id="{1F4F7D83-D44D-991F-7971-159DA610AFE1}"/>
              </a:ext>
            </a:extLst>
          </p:cNvPr>
          <p:cNvSpPr txBox="1"/>
          <p:nvPr/>
        </p:nvSpPr>
        <p:spPr>
          <a:xfrm>
            <a:off x="222649" y="3062668"/>
            <a:ext cx="1764385" cy="1200329"/>
          </a:xfrm>
          <a:prstGeom prst="rect">
            <a:avLst/>
          </a:prstGeom>
          <a:noFill/>
        </p:spPr>
        <p:txBody>
          <a:bodyPr wrap="square">
            <a:spAutoFit/>
          </a:bodyPr>
          <a:lstStyle/>
          <a:p>
            <a:pPr algn="ctr"/>
            <a:r>
              <a:rPr lang="es-ES" sz="2400" dirty="0">
                <a:solidFill>
                  <a:schemeClr val="bg1">
                    <a:lumMod val="85000"/>
                  </a:schemeClr>
                </a:solidFill>
              </a:rPr>
              <a:t>¿Para qué sirven los arreglos?​</a:t>
            </a:r>
            <a:endParaRPr lang="en-US" sz="2400" dirty="0">
              <a:solidFill>
                <a:schemeClr val="bg1">
                  <a:lumMod val="85000"/>
                </a:schemeClr>
              </a:solidFill>
            </a:endParaRPr>
          </a:p>
        </p:txBody>
      </p:sp>
      <p:sp>
        <p:nvSpPr>
          <p:cNvPr id="22" name="TextBox 21">
            <a:extLst>
              <a:ext uri="{FF2B5EF4-FFF2-40B4-BE49-F238E27FC236}">
                <a16:creationId xmlns:a16="http://schemas.microsoft.com/office/drawing/2014/main" id="{7CE82AB1-F349-BF3A-8779-BB58A0610864}"/>
              </a:ext>
            </a:extLst>
          </p:cNvPr>
          <p:cNvSpPr txBox="1"/>
          <p:nvPr/>
        </p:nvSpPr>
        <p:spPr>
          <a:xfrm>
            <a:off x="821702" y="5285160"/>
            <a:ext cx="6094428" cy="830997"/>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t>¿Se puede agregar o eliminar elementos después de crear el arreglo?​</a:t>
            </a:r>
            <a:endParaRPr lang="en-US" dirty="0"/>
          </a:p>
        </p:txBody>
      </p:sp>
      <p:sp>
        <p:nvSpPr>
          <p:cNvPr id="24" name="TextBox 23">
            <a:extLst>
              <a:ext uri="{FF2B5EF4-FFF2-40B4-BE49-F238E27FC236}">
                <a16:creationId xmlns:a16="http://schemas.microsoft.com/office/drawing/2014/main" id="{384780E0-0296-5058-29D0-D8AAE0ECB4F9}"/>
              </a:ext>
            </a:extLst>
          </p:cNvPr>
          <p:cNvSpPr txBox="1"/>
          <p:nvPr/>
        </p:nvSpPr>
        <p:spPr>
          <a:xfrm>
            <a:off x="4033102" y="1610019"/>
            <a:ext cx="6094428" cy="830997"/>
          </a:xfrm>
          <a:prstGeom prst="rect">
            <a:avLst/>
          </a:prstGeom>
          <a:noFill/>
        </p:spPr>
        <p:txBody>
          <a:bodyPr wrap="square">
            <a:spAutoFit/>
          </a:bodyPr>
          <a:lstStyle>
            <a:defPPr marR="0" lvl="0" algn="l" rtl="0">
              <a:lnSpc>
                <a:spcPct val="100000"/>
              </a:lnSpc>
              <a:spcBef>
                <a:spcPts val="0"/>
              </a:spcBef>
              <a:spcAft>
                <a:spcPts val="0"/>
              </a:spcAft>
              <a:defRPr/>
            </a:defPPr>
            <a:lvl1pPr algn="ctr">
              <a:defRPr sz="2400">
                <a:solidFill>
                  <a:schemeClr val="bg1">
                    <a:lumMod val="85000"/>
                  </a:schemeClr>
                </a:solidFill>
              </a:defRPr>
            </a:lvl1pPr>
          </a:lstStyle>
          <a:p>
            <a:r>
              <a:rPr lang="es-ES" dirty="0"/>
              <a:t>Mencione algunas operaciones que se pueden realizar con arreglos​.</a:t>
            </a:r>
            <a:endParaRPr lang="en-US" dirty="0"/>
          </a:p>
        </p:txBody>
      </p:sp>
      <p:sp>
        <p:nvSpPr>
          <p:cNvPr id="26" name="TextBox 25">
            <a:extLst>
              <a:ext uri="{FF2B5EF4-FFF2-40B4-BE49-F238E27FC236}">
                <a16:creationId xmlns:a16="http://schemas.microsoft.com/office/drawing/2014/main" id="{81D651CD-5972-1EE9-B31D-DC6B5AE905D0}"/>
              </a:ext>
            </a:extLst>
          </p:cNvPr>
          <p:cNvSpPr txBox="1"/>
          <p:nvPr/>
        </p:nvSpPr>
        <p:spPr>
          <a:xfrm>
            <a:off x="9421296" y="3103722"/>
            <a:ext cx="2488677" cy="1569660"/>
          </a:xfrm>
          <a:prstGeom prst="rect">
            <a:avLst/>
          </a:prstGeom>
          <a:noFill/>
        </p:spPr>
        <p:txBody>
          <a:bodyPr wrap="square">
            <a:spAutoFit/>
          </a:bodyPr>
          <a:lstStyle>
            <a:defPPr marR="0" lvl="0" algn="l" rtl="0">
              <a:lnSpc>
                <a:spcPct val="100000"/>
              </a:lnSpc>
              <a:spcBef>
                <a:spcPts val="0"/>
              </a:spcBef>
              <a:spcAft>
                <a:spcPts val="0"/>
              </a:spcAft>
            </a:defPPr>
            <a:lvl1pPr algn="ctr">
              <a:defRPr sz="2400">
                <a:solidFill>
                  <a:schemeClr val="bg1">
                    <a:lumMod val="85000"/>
                  </a:schemeClr>
                </a:solidFill>
              </a:defRPr>
            </a:lvl1pPr>
          </a:lstStyle>
          <a:p>
            <a:r>
              <a:rPr lang="es-ES" dirty="0">
                <a:solidFill>
                  <a:srgbClr val="FF0080"/>
                </a:solidFill>
              </a:rPr>
              <a:t>¿Cómo podemos copiar los datos de un arreglo en otro?​</a:t>
            </a:r>
            <a:endParaRPr lang="en-US" dirty="0">
              <a:solidFill>
                <a:srgbClr val="FF0080"/>
              </a:solidFill>
            </a:endParaRPr>
          </a:p>
        </p:txBody>
      </p:sp>
      <p:sp>
        <p:nvSpPr>
          <p:cNvPr id="4" name="TextBox 3">
            <a:extLst>
              <a:ext uri="{FF2B5EF4-FFF2-40B4-BE49-F238E27FC236}">
                <a16:creationId xmlns:a16="http://schemas.microsoft.com/office/drawing/2014/main" id="{644184D0-852A-4438-6AA9-672A1FDE7957}"/>
              </a:ext>
            </a:extLst>
          </p:cNvPr>
          <p:cNvSpPr txBox="1"/>
          <p:nvPr/>
        </p:nvSpPr>
        <p:spPr>
          <a:xfrm>
            <a:off x="826582" y="1912916"/>
            <a:ext cx="870751" cy="830997"/>
          </a:xfrm>
          <a:prstGeom prst="rect">
            <a:avLst/>
          </a:prstGeom>
          <a:noFill/>
        </p:spPr>
        <p:txBody>
          <a:bodyPr wrap="none" rtlCol="0">
            <a:spAutoFit/>
          </a:bodyPr>
          <a:lstStyle/>
          <a:p>
            <a:r>
              <a:rPr lang="es-ES" sz="4800" b="1" dirty="0">
                <a:solidFill>
                  <a:srgbClr val="33D6F5"/>
                </a:solidFill>
              </a:rPr>
              <a:t>01</a:t>
            </a:r>
            <a:endParaRPr lang="en-US" sz="4800" b="1" dirty="0">
              <a:solidFill>
                <a:srgbClr val="33D6F5"/>
              </a:solidFill>
            </a:endParaRPr>
          </a:p>
        </p:txBody>
      </p:sp>
      <p:sp>
        <p:nvSpPr>
          <p:cNvPr id="19" name="TextBox 18">
            <a:extLst>
              <a:ext uri="{FF2B5EF4-FFF2-40B4-BE49-F238E27FC236}">
                <a16:creationId xmlns:a16="http://schemas.microsoft.com/office/drawing/2014/main" id="{0E137B69-4CF2-2BD4-3615-6FB04859E548}"/>
              </a:ext>
            </a:extLst>
          </p:cNvPr>
          <p:cNvSpPr txBox="1"/>
          <p:nvPr/>
        </p:nvSpPr>
        <p:spPr>
          <a:xfrm>
            <a:off x="4202611" y="4052082"/>
            <a:ext cx="870751" cy="830997"/>
          </a:xfrm>
          <a:prstGeom prst="rect">
            <a:avLst/>
          </a:prstGeom>
          <a:noFill/>
        </p:spPr>
        <p:txBody>
          <a:bodyPr wrap="none" rtlCol="0">
            <a:spAutoFit/>
          </a:bodyPr>
          <a:lstStyle/>
          <a:p>
            <a:r>
              <a:rPr lang="es-ES" sz="4800" b="1" dirty="0">
                <a:solidFill>
                  <a:srgbClr val="65AAF7"/>
                </a:solidFill>
              </a:rPr>
              <a:t>02</a:t>
            </a:r>
            <a:endParaRPr lang="en-US" sz="4800" b="1" dirty="0">
              <a:solidFill>
                <a:srgbClr val="65AAF7"/>
              </a:solidFill>
            </a:endParaRPr>
          </a:p>
        </p:txBody>
      </p:sp>
      <p:sp>
        <p:nvSpPr>
          <p:cNvPr id="21" name="TextBox 20">
            <a:extLst>
              <a:ext uri="{FF2B5EF4-FFF2-40B4-BE49-F238E27FC236}">
                <a16:creationId xmlns:a16="http://schemas.microsoft.com/office/drawing/2014/main" id="{2AB85A15-5ED1-972E-2AB3-C7284A0F029A}"/>
              </a:ext>
            </a:extLst>
          </p:cNvPr>
          <p:cNvSpPr txBox="1"/>
          <p:nvPr/>
        </p:nvSpPr>
        <p:spPr>
          <a:xfrm>
            <a:off x="6271966" y="2907444"/>
            <a:ext cx="870751" cy="830997"/>
          </a:xfrm>
          <a:prstGeom prst="rect">
            <a:avLst/>
          </a:prstGeom>
          <a:noFill/>
        </p:spPr>
        <p:txBody>
          <a:bodyPr wrap="none" rtlCol="0">
            <a:spAutoFit/>
          </a:bodyPr>
          <a:lstStyle/>
          <a:p>
            <a:r>
              <a:rPr lang="es-ES" sz="4800" b="1" dirty="0">
                <a:solidFill>
                  <a:srgbClr val="8F32F6"/>
                </a:solidFill>
              </a:rPr>
              <a:t>03</a:t>
            </a:r>
            <a:endParaRPr lang="en-US" sz="4800" b="1" dirty="0">
              <a:solidFill>
                <a:srgbClr val="8F32F6"/>
              </a:solidFill>
            </a:endParaRPr>
          </a:p>
        </p:txBody>
      </p:sp>
    </p:spTree>
    <p:extLst>
      <p:ext uri="{BB962C8B-B14F-4D97-AF65-F5344CB8AC3E}">
        <p14:creationId xmlns:p14="http://schemas.microsoft.com/office/powerpoint/2010/main" val="184704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5" name="Picture 4">
            <a:extLst>
              <a:ext uri="{FF2B5EF4-FFF2-40B4-BE49-F238E27FC236}">
                <a16:creationId xmlns:a16="http://schemas.microsoft.com/office/drawing/2014/main" id="{A90EF3B4-21BF-4F13-19D8-12C79D4741F8}"/>
              </a:ext>
            </a:extLst>
          </p:cNvPr>
          <p:cNvPicPr>
            <a:picLocks noChangeAspect="1"/>
          </p:cNvPicPr>
          <p:nvPr/>
        </p:nvPicPr>
        <p:blipFill>
          <a:blip r:embed="rId3">
            <a:alphaModFix amt="10000"/>
          </a:blip>
          <a:stretch>
            <a:fillRect/>
          </a:stretch>
        </p:blipFill>
        <p:spPr>
          <a:xfrm>
            <a:off x="0" y="3623"/>
            <a:ext cx="12192000" cy="6858000"/>
          </a:xfrm>
          <a:prstGeom prst="rect">
            <a:avLst/>
          </a:prstGeom>
        </p:spPr>
      </p:pic>
      <p:sp>
        <p:nvSpPr>
          <p:cNvPr id="2" name="Title 1">
            <a:extLst>
              <a:ext uri="{FF2B5EF4-FFF2-40B4-BE49-F238E27FC236}">
                <a16:creationId xmlns:a16="http://schemas.microsoft.com/office/drawing/2014/main" id="{F54600F7-1DA8-4B6F-94D5-F0D0A43E9216}"/>
              </a:ext>
            </a:extLst>
          </p:cNvPr>
          <p:cNvSpPr>
            <a:spLocks noGrp="1"/>
          </p:cNvSpPr>
          <p:nvPr>
            <p:ph type="ctrTitle"/>
          </p:nvPr>
        </p:nvSpPr>
        <p:spPr>
          <a:xfrm>
            <a:off x="4109883" y="200968"/>
            <a:ext cx="7364361" cy="3053510"/>
          </a:xfrm>
        </p:spPr>
        <p:txBody>
          <a:bodyPr anchor="ctr" anchorCtr="0">
            <a:noAutofit/>
          </a:bodyPr>
          <a:lstStyle/>
          <a:p>
            <a:pPr algn="l"/>
            <a:r>
              <a:rPr lang="es-ES" sz="4400" dirty="0">
                <a:latin typeface="Helvetica"/>
              </a:rPr>
              <a:t>Problemas con Estructuras Repetitivas y Arreglos</a:t>
            </a:r>
            <a:endParaRPr lang="en-US" sz="4400" dirty="0"/>
          </a:p>
        </p:txBody>
      </p:sp>
      <p:sp>
        <p:nvSpPr>
          <p:cNvPr id="6" name="Rectangle 5">
            <a:extLst>
              <a:ext uri="{FF2B5EF4-FFF2-40B4-BE49-F238E27FC236}">
                <a16:creationId xmlns:a16="http://schemas.microsoft.com/office/drawing/2014/main" id="{C7B251AC-3951-3B47-1B07-C76D85252ACA}"/>
              </a:ext>
            </a:extLst>
          </p:cNvPr>
          <p:cNvSpPr/>
          <p:nvPr/>
        </p:nvSpPr>
        <p:spPr>
          <a:xfrm>
            <a:off x="4109883" y="2871019"/>
            <a:ext cx="8082117" cy="786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Java logo and symbol, meaning, history, PNG">
            <a:extLst>
              <a:ext uri="{FF2B5EF4-FFF2-40B4-BE49-F238E27FC236}">
                <a16:creationId xmlns:a16="http://schemas.microsoft.com/office/drawing/2014/main" id="{AAB33131-EF3E-5FB0-0827-F338AF1CAE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280" r="54839"/>
          <a:stretch/>
        </p:blipFill>
        <p:spPr bwMode="auto">
          <a:xfrm>
            <a:off x="0" y="-174523"/>
            <a:ext cx="2949677" cy="6858000"/>
          </a:xfrm>
          <a:prstGeom prst="rect">
            <a:avLst/>
          </a:prstGeom>
          <a:noFill/>
          <a:effectLst>
            <a:outerShdw blurRad="152400" dist="1143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E781919-DECA-3D78-81A0-35CD43938DF7}"/>
              </a:ext>
            </a:extLst>
          </p:cNvPr>
          <p:cNvSpPr txBox="1"/>
          <p:nvPr/>
        </p:nvSpPr>
        <p:spPr>
          <a:xfrm>
            <a:off x="68827" y="6605045"/>
            <a:ext cx="6135328" cy="230832"/>
          </a:xfrm>
          <a:prstGeom prst="rect">
            <a:avLst/>
          </a:prstGeom>
          <a:noFill/>
        </p:spPr>
        <p:txBody>
          <a:bodyPr wrap="square">
            <a:spAutoFit/>
          </a:bodyPr>
          <a:lstStyle/>
          <a:p>
            <a:r>
              <a:rPr lang="en-US" sz="900" dirty="0">
                <a:solidFill>
                  <a:schemeClr val="bg1">
                    <a:lumMod val="65000"/>
                  </a:schemeClr>
                </a:solidFill>
              </a:rPr>
              <a:t>Imagen </a:t>
            </a:r>
            <a:r>
              <a:rPr lang="en-US" sz="900" dirty="0" err="1">
                <a:solidFill>
                  <a:schemeClr val="bg1">
                    <a:lumMod val="65000"/>
                  </a:schemeClr>
                </a:solidFill>
              </a:rPr>
              <a:t>obtenida</a:t>
            </a:r>
            <a:r>
              <a:rPr lang="en-US" sz="900" dirty="0">
                <a:solidFill>
                  <a:schemeClr val="bg1">
                    <a:lumMod val="65000"/>
                  </a:schemeClr>
                </a:solidFill>
              </a:rPr>
              <a:t> de: https://1000logos.net/wp-content/uploads/2020/09/Java-Logo.png</a:t>
            </a:r>
          </a:p>
        </p:txBody>
      </p:sp>
      <p:sp>
        <p:nvSpPr>
          <p:cNvPr id="7" name="Subtítulo 6">
            <a:extLst>
              <a:ext uri="{FF2B5EF4-FFF2-40B4-BE49-F238E27FC236}">
                <a16:creationId xmlns:a16="http://schemas.microsoft.com/office/drawing/2014/main" id="{067FB53B-11A1-4D7F-A2C3-F3C14A3D4D43}"/>
              </a:ext>
            </a:extLst>
          </p:cNvPr>
          <p:cNvSpPr>
            <a:spLocks noGrp="1"/>
          </p:cNvSpPr>
          <p:nvPr>
            <p:ph type="subTitle" idx="1"/>
          </p:nvPr>
        </p:nvSpPr>
        <p:spPr/>
        <p:txBody>
          <a:bodyPr>
            <a:normAutofit fontScale="92500" lnSpcReduction="10000"/>
          </a:bodyPr>
          <a:lstStyle/>
          <a:p>
            <a:endParaRPr lang="es-P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 name="Title 5">
            <a:extLst>
              <a:ext uri="{FF2B5EF4-FFF2-40B4-BE49-F238E27FC236}">
                <a16:creationId xmlns:a16="http://schemas.microsoft.com/office/drawing/2014/main" id="{0077C684-06B1-44CA-9235-D863CE03882E}"/>
              </a:ext>
            </a:extLst>
          </p:cNvPr>
          <p:cNvSpPr>
            <a:spLocks noGrp="1"/>
          </p:cNvSpPr>
          <p:nvPr>
            <p:ph type="title"/>
          </p:nvPr>
        </p:nvSpPr>
        <p:spPr>
          <a:xfrm>
            <a:off x="763571" y="429863"/>
            <a:ext cx="10590229" cy="785528"/>
          </a:xfrm>
        </p:spPr>
        <p:txBody>
          <a:bodyPr/>
          <a:lstStyle/>
          <a:p>
            <a:r>
              <a:rPr lang="es-ES" dirty="0"/>
              <a:t>Conocimientos previos</a:t>
            </a:r>
            <a:endParaRPr lang="en-US" dirty="0"/>
          </a:p>
        </p:txBody>
      </p:sp>
      <p:sp>
        <p:nvSpPr>
          <p:cNvPr id="2" name="Slide Number Placeholder 1">
            <a:extLst>
              <a:ext uri="{FF2B5EF4-FFF2-40B4-BE49-F238E27FC236}">
                <a16:creationId xmlns:a16="http://schemas.microsoft.com/office/drawing/2014/main" id="{DAD4DF39-413F-41FB-80F6-1CF57DEA76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7</a:t>
            </a:fld>
            <a:endParaRPr lang="es-PE"/>
          </a:p>
        </p:txBody>
      </p:sp>
      <p:sp>
        <p:nvSpPr>
          <p:cNvPr id="7" name="Content Placeholder 6">
            <a:extLst>
              <a:ext uri="{FF2B5EF4-FFF2-40B4-BE49-F238E27FC236}">
                <a16:creationId xmlns:a16="http://schemas.microsoft.com/office/drawing/2014/main" id="{5BE97547-6358-4D01-A970-DA2F4BB59220}"/>
              </a:ext>
            </a:extLst>
          </p:cNvPr>
          <p:cNvSpPr>
            <a:spLocks noGrp="1"/>
          </p:cNvSpPr>
          <p:nvPr>
            <p:ph sz="quarter" idx="13"/>
          </p:nvPr>
        </p:nvSpPr>
        <p:spPr>
          <a:xfrm>
            <a:off x="9449978" y="1064559"/>
            <a:ext cx="2256934" cy="5004434"/>
          </a:xfrm>
        </p:spPr>
        <p:txBody>
          <a:bodyPr>
            <a:normAutofit/>
          </a:bodyPr>
          <a:lstStyle/>
          <a:p>
            <a:pPr marL="50800" indent="0">
              <a:lnSpc>
                <a:spcPct val="120000"/>
              </a:lnSpc>
              <a:buNone/>
            </a:pPr>
            <a:r>
              <a:rPr lang="es-ES" sz="2000" dirty="0">
                <a:solidFill>
                  <a:schemeClr val="bg1">
                    <a:lumMod val="50000"/>
                  </a:schemeClr>
                </a:solidFill>
              </a:rPr>
              <a:t>Ayuda a Luis a encontrar los 5 errores de código/lógica.</a:t>
            </a:r>
          </a:p>
        </p:txBody>
      </p:sp>
      <p:sp>
        <p:nvSpPr>
          <p:cNvPr id="3" name="Rectangle 1">
            <a:extLst>
              <a:ext uri="{FF2B5EF4-FFF2-40B4-BE49-F238E27FC236}">
                <a16:creationId xmlns:a16="http://schemas.microsoft.com/office/drawing/2014/main" id="{369BC185-2F43-9A5F-1C7B-6D0F351B9F5A}"/>
              </a:ext>
            </a:extLst>
          </p:cNvPr>
          <p:cNvSpPr>
            <a:spLocks noChangeArrowheads="1"/>
          </p:cNvSpPr>
          <p:nvPr/>
        </p:nvSpPr>
        <p:spPr bwMode="auto">
          <a:xfrm>
            <a:off x="763571" y="1232894"/>
            <a:ext cx="8465270" cy="5257749"/>
          </a:xfrm>
          <a:prstGeom prst="roundRect">
            <a:avLst>
              <a:gd name="adj" fmla="val 2825"/>
            </a:avLst>
          </a:prstGeom>
          <a:solidFill>
            <a:schemeClr val="bg2">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1600"/>
              </a:lnSpc>
              <a:buClrTx/>
              <a:buSzTx/>
              <a:buFontTx/>
              <a:buNone/>
              <a:tabLst/>
            </a:pP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public class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DemoBasicoArrays</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public static void </a:t>
            </a:r>
            <a:r>
              <a:rPr kumimoji="0" lang="en-US" altLang="en-US" sz="1050" b="0" i="0" u="none" strike="noStrike" cap="none" normalizeH="0" baseline="0" dirty="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main</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(String[] </a:t>
            </a:r>
            <a:r>
              <a:rPr kumimoji="0" lang="en-US" altLang="en-US" sz="1050" b="0" i="0" u="none" strike="noStrike" cap="none" normalizeH="0" baseline="0" dirty="0" err="1">
                <a:ln>
                  <a:noFill/>
                </a:ln>
                <a:solidFill>
                  <a:srgbClr val="B189F5"/>
                </a:solidFill>
                <a:effectLst/>
                <a:latin typeface="JetBrains Mono" panose="02000009000000000000" pitchFamily="49" charset="0"/>
                <a:ea typeface="JetBrains Mono" panose="02000009000000000000" pitchFamily="49" charset="0"/>
                <a:cs typeface="JetBrains Mono" panose="02000009000000000000" pitchFamily="49" charset="0"/>
              </a:rPr>
              <a:t>args</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int</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5</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15</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22f</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31</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05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println</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Capacidad</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del </a:t>
            </a:r>
            <a:r>
              <a:rPr kumimoji="0" lang="en-US" altLang="en-US" sz="105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05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println</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Cantidad</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de </a:t>
            </a:r>
            <a:r>
              <a:rPr kumimoji="0" lang="en-US" altLang="en-US" sz="105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elementos</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ingresados</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lang="en-US" altLang="en-US" sz="1050" dirty="0">
                <a:solidFill>
                  <a:srgbClr val="72CFD6"/>
                </a:solidFill>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Publicamos</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el</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completo</a:t>
            </a:r>
            <a:b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for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&gt;=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05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05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println</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Publicamos</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sólo</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los</a:t>
            </a: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valores </a:t>
            </a:r>
            <a:r>
              <a:rPr kumimoji="0" lang="en-US" altLang="en-US" sz="1050" b="0" i="0" u="none" strike="noStrike" cap="none" normalizeH="0" baseline="0" dirty="0" err="1">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válidos</a:t>
            </a:r>
            <a:b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6F737A"/>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for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&lt;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05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05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contador</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05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05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kumimoji="0" lang="en-US" altLang="en-US" sz="2000" b="0" i="0" u="none" strike="noStrike" cap="none" normalizeH="0" baseline="0" dirty="0">
              <a:ln>
                <a:noFill/>
              </a:ln>
              <a:solidFill>
                <a:schemeClr val="tx1"/>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4" name="Picture 3">
            <a:extLst>
              <a:ext uri="{FF2B5EF4-FFF2-40B4-BE49-F238E27FC236}">
                <a16:creationId xmlns:a16="http://schemas.microsoft.com/office/drawing/2014/main" id="{489A36A8-112C-FBF1-1465-ABBA8CFD11BF}"/>
              </a:ext>
            </a:extLst>
          </p:cNvPr>
          <p:cNvPicPr>
            <a:picLocks noChangeAspect="1"/>
          </p:cNvPicPr>
          <p:nvPr/>
        </p:nvPicPr>
        <p:blipFill rotWithShape="1">
          <a:blip r:embed="rId3"/>
          <a:srcRect r="16902"/>
          <a:stretch/>
        </p:blipFill>
        <p:spPr>
          <a:xfrm>
            <a:off x="6358043" y="2177592"/>
            <a:ext cx="5833957" cy="4680408"/>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BBE7665C-E768-93F4-E3E8-285EC8D34AD7}"/>
              </a:ext>
            </a:extLst>
          </p:cNvPr>
          <p:cNvSpPr txBox="1"/>
          <p:nvPr/>
        </p:nvSpPr>
        <p:spPr>
          <a:xfrm>
            <a:off x="103792" y="6570307"/>
            <a:ext cx="8587720"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https://www.ahdubai.com/uploads/contents/16128475801593696444blog-removebg-preview-Recovered-removebg-preview(3).webp</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AF3303-4E64-5C14-FEC7-C5CF31C9889E}"/>
              </a:ext>
            </a:extLst>
          </p:cNvPr>
          <p:cNvSpPr/>
          <p:nvPr/>
        </p:nvSpPr>
        <p:spPr>
          <a:xfrm>
            <a:off x="0" y="5850194"/>
            <a:ext cx="12192000" cy="10078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1FBA0-0CED-4DB2-9F90-291CADA87F48}"/>
              </a:ext>
            </a:extLst>
          </p:cNvPr>
          <p:cNvSpPr>
            <a:spLocks noGrp="1"/>
          </p:cNvSpPr>
          <p:nvPr>
            <p:ph type="title"/>
          </p:nvPr>
        </p:nvSpPr>
        <p:spPr>
          <a:xfrm>
            <a:off x="725864" y="429863"/>
            <a:ext cx="10627937" cy="785528"/>
          </a:xfrm>
        </p:spPr>
        <p:txBody>
          <a:bodyPr/>
          <a:lstStyle/>
          <a:p>
            <a:r>
              <a:rPr lang="es-ES" dirty="0"/>
              <a:t>Logro de aprendizaje</a:t>
            </a:r>
            <a:endParaRPr lang="en-US" dirty="0"/>
          </a:p>
        </p:txBody>
      </p:sp>
      <p:sp>
        <p:nvSpPr>
          <p:cNvPr id="4" name="Slide Number Placeholder 3">
            <a:extLst>
              <a:ext uri="{FF2B5EF4-FFF2-40B4-BE49-F238E27FC236}">
                <a16:creationId xmlns:a16="http://schemas.microsoft.com/office/drawing/2014/main" id="{F64BAA4A-C973-4872-991F-677E20FF8B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8</a:t>
            </a:fld>
            <a:endParaRPr lang="es-PE"/>
          </a:p>
        </p:txBody>
      </p:sp>
      <p:sp>
        <p:nvSpPr>
          <p:cNvPr id="3" name="Content Placeholder 2">
            <a:extLst>
              <a:ext uri="{FF2B5EF4-FFF2-40B4-BE49-F238E27FC236}">
                <a16:creationId xmlns:a16="http://schemas.microsoft.com/office/drawing/2014/main" id="{1DD37DCA-ED6E-428D-A48F-1565A2EA97A3}"/>
              </a:ext>
            </a:extLst>
          </p:cNvPr>
          <p:cNvSpPr>
            <a:spLocks noGrp="1"/>
          </p:cNvSpPr>
          <p:nvPr>
            <p:ph sz="quarter" idx="13"/>
          </p:nvPr>
        </p:nvSpPr>
        <p:spPr>
          <a:xfrm>
            <a:off x="725865" y="1894788"/>
            <a:ext cx="5524106" cy="3629319"/>
          </a:xfrm>
        </p:spPr>
        <p:txBody>
          <a:bodyPr>
            <a:normAutofit/>
          </a:bodyPr>
          <a:lstStyle/>
          <a:p>
            <a:pPr marL="50800" indent="0">
              <a:lnSpc>
                <a:spcPct val="100000"/>
              </a:lnSpc>
              <a:buNone/>
            </a:pPr>
            <a:r>
              <a:rPr lang="es-ES" dirty="0">
                <a:solidFill>
                  <a:srgbClr val="00B050"/>
                </a:solidFill>
              </a:rPr>
              <a:t>Al finalizar la sesión</a:t>
            </a:r>
            <a:r>
              <a:rPr lang="es-ES" dirty="0"/>
              <a:t>, </a:t>
            </a:r>
            <a:r>
              <a:rPr lang="es-ES" dirty="0">
                <a:solidFill>
                  <a:schemeClr val="accent2"/>
                </a:solidFill>
              </a:rPr>
              <a:t>el estudiante</a:t>
            </a:r>
            <a:r>
              <a:rPr lang="es-ES" dirty="0"/>
              <a:t> </a:t>
            </a:r>
            <a:r>
              <a:rPr lang="es-ES" dirty="0">
                <a:solidFill>
                  <a:schemeClr val="accent5"/>
                </a:solidFill>
              </a:rPr>
              <a:t>desarrolla</a:t>
            </a:r>
            <a:r>
              <a:rPr lang="es-ES" dirty="0"/>
              <a:t> </a:t>
            </a:r>
            <a:r>
              <a:rPr lang="es-ES" dirty="0">
                <a:solidFill>
                  <a:schemeClr val="accent4"/>
                </a:solidFill>
              </a:rPr>
              <a:t>programas con arreglos unidimensionales </a:t>
            </a:r>
            <a:r>
              <a:rPr lang="es-ES" dirty="0">
                <a:solidFill>
                  <a:srgbClr val="D3052C"/>
                </a:solidFill>
              </a:rPr>
              <a:t>usando un IDE Java </a:t>
            </a:r>
            <a:r>
              <a:rPr lang="es-ES" dirty="0">
                <a:solidFill>
                  <a:srgbClr val="7030A0"/>
                </a:solidFill>
              </a:rPr>
              <a:t>para almacenar información en estructuras de datos lineales.</a:t>
            </a:r>
            <a:endParaRPr lang="en-US" dirty="0">
              <a:solidFill>
                <a:srgbClr val="7030A0"/>
              </a:solidFill>
            </a:endParaRPr>
          </a:p>
        </p:txBody>
      </p:sp>
      <p:sp>
        <p:nvSpPr>
          <p:cNvPr id="6" name="TextBox 5">
            <a:extLst>
              <a:ext uri="{FF2B5EF4-FFF2-40B4-BE49-F238E27FC236}">
                <a16:creationId xmlns:a16="http://schemas.microsoft.com/office/drawing/2014/main" id="{56ADFA50-2D5F-464F-91EF-0F1911F9CA8D}"/>
              </a:ext>
            </a:extLst>
          </p:cNvPr>
          <p:cNvSpPr txBox="1"/>
          <p:nvPr/>
        </p:nvSpPr>
        <p:spPr>
          <a:xfrm>
            <a:off x="126748" y="6376940"/>
            <a:ext cx="10583502" cy="369332"/>
          </a:xfrm>
          <a:prstGeom prst="rect">
            <a:avLst/>
          </a:prstGeom>
          <a:noFill/>
        </p:spPr>
        <p:txBody>
          <a:bodyPr wrap="square" rtlCol="0">
            <a:spAutoFit/>
          </a:bodyPr>
          <a:lstStyle/>
          <a:p>
            <a:r>
              <a:rPr lang="en-US" sz="900" dirty="0">
                <a:solidFill>
                  <a:schemeClr val="accent3"/>
                </a:solidFill>
              </a:rPr>
              <a:t>Imagen </a:t>
            </a:r>
            <a:r>
              <a:rPr lang="en-US" sz="900" dirty="0" err="1">
                <a:solidFill>
                  <a:schemeClr val="accent3"/>
                </a:solidFill>
              </a:rPr>
              <a:t>obtenida</a:t>
            </a:r>
            <a:r>
              <a:rPr lang="en-US" sz="900" dirty="0">
                <a:solidFill>
                  <a:schemeClr val="accent3"/>
                </a:solidFill>
              </a:rPr>
              <a:t> de:</a:t>
            </a:r>
            <a:br>
              <a:rPr lang="en-US" sz="900" dirty="0">
                <a:solidFill>
                  <a:schemeClr val="accent3"/>
                </a:solidFill>
              </a:rPr>
            </a:br>
            <a:r>
              <a:rPr lang="en-US" sz="900" dirty="0">
                <a:solidFill>
                  <a:schemeClr val="accent3"/>
                </a:solidFill>
              </a:rPr>
              <a:t>https://www.pngmart.com/files/21/Book-PNG-Photos.png</a:t>
            </a:r>
          </a:p>
        </p:txBody>
      </p:sp>
      <p:pic>
        <p:nvPicPr>
          <p:cNvPr id="9" name="Picture 8">
            <a:extLst>
              <a:ext uri="{FF2B5EF4-FFF2-40B4-BE49-F238E27FC236}">
                <a16:creationId xmlns:a16="http://schemas.microsoft.com/office/drawing/2014/main" id="{96604D54-ECF5-DDCE-515E-887F2AFEE5DB}"/>
              </a:ext>
            </a:extLst>
          </p:cNvPr>
          <p:cNvPicPr>
            <a:picLocks noChangeAspect="1"/>
          </p:cNvPicPr>
          <p:nvPr/>
        </p:nvPicPr>
        <p:blipFill rotWithShape="1">
          <a:blip r:embed="rId2"/>
          <a:srcRect r="20659"/>
          <a:stretch/>
        </p:blipFill>
        <p:spPr>
          <a:xfrm>
            <a:off x="6750817" y="-136525"/>
            <a:ext cx="5441183" cy="6858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94817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7613-AEC1-4435-8375-CCB96C0E89F5}"/>
              </a:ext>
            </a:extLst>
          </p:cNvPr>
          <p:cNvSpPr>
            <a:spLocks noGrp="1"/>
          </p:cNvSpPr>
          <p:nvPr>
            <p:ph type="title"/>
          </p:nvPr>
        </p:nvSpPr>
        <p:spPr>
          <a:xfrm>
            <a:off x="688157" y="429863"/>
            <a:ext cx="10665643" cy="785528"/>
          </a:xfrm>
        </p:spPr>
        <p:txBody>
          <a:bodyPr/>
          <a:lstStyle/>
          <a:p>
            <a:r>
              <a:rPr lang="es-ES" dirty="0"/>
              <a:t>Utilidad</a:t>
            </a:r>
            <a:endParaRPr lang="en-US" dirty="0"/>
          </a:p>
        </p:txBody>
      </p:sp>
      <p:sp>
        <p:nvSpPr>
          <p:cNvPr id="4" name="Slide Number Placeholder 3">
            <a:extLst>
              <a:ext uri="{FF2B5EF4-FFF2-40B4-BE49-F238E27FC236}">
                <a16:creationId xmlns:a16="http://schemas.microsoft.com/office/drawing/2014/main" id="{8E4C16D3-358F-4224-9D29-22D3C58B56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9</a:t>
            </a:fld>
            <a:endParaRPr lang="es-PE"/>
          </a:p>
        </p:txBody>
      </p:sp>
      <p:sp>
        <p:nvSpPr>
          <p:cNvPr id="3" name="Content Placeholder 2">
            <a:extLst>
              <a:ext uri="{FF2B5EF4-FFF2-40B4-BE49-F238E27FC236}">
                <a16:creationId xmlns:a16="http://schemas.microsoft.com/office/drawing/2014/main" id="{E100B77D-CEBE-2C98-CAEE-95363F3396DA}"/>
              </a:ext>
            </a:extLst>
          </p:cNvPr>
          <p:cNvSpPr>
            <a:spLocks noGrp="1"/>
          </p:cNvSpPr>
          <p:nvPr>
            <p:ph sz="quarter" idx="13"/>
          </p:nvPr>
        </p:nvSpPr>
        <p:spPr>
          <a:xfrm>
            <a:off x="688159" y="1436914"/>
            <a:ext cx="5524106" cy="4782911"/>
          </a:xfrm>
        </p:spPr>
        <p:txBody>
          <a:bodyPr>
            <a:normAutofit/>
          </a:bodyPr>
          <a:lstStyle/>
          <a:p>
            <a:r>
              <a:rPr lang="es-ES" sz="2400" dirty="0">
                <a:solidFill>
                  <a:schemeClr val="bg1">
                    <a:lumMod val="50000"/>
                  </a:schemeClr>
                </a:solidFill>
              </a:rPr>
              <a:t>¿Para qué nos sirve una estructura repetitiva?</a:t>
            </a:r>
          </a:p>
          <a:p>
            <a:r>
              <a:rPr lang="es-ES" sz="2400" dirty="0">
                <a:solidFill>
                  <a:schemeClr val="bg1">
                    <a:lumMod val="50000"/>
                  </a:schemeClr>
                </a:solidFill>
              </a:rPr>
              <a:t>¿Para qué nos sirve un arreglo?</a:t>
            </a:r>
          </a:p>
          <a:p>
            <a:r>
              <a:rPr lang="es-ES" sz="2400" dirty="0">
                <a:solidFill>
                  <a:schemeClr val="bg1">
                    <a:lumMod val="50000"/>
                  </a:schemeClr>
                </a:solidFill>
              </a:rPr>
              <a:t>¿Qué tipo de problemas nos ayudan a resolver?</a:t>
            </a:r>
          </a:p>
          <a:p>
            <a:r>
              <a:rPr lang="es-ES" sz="2400" dirty="0">
                <a:solidFill>
                  <a:schemeClr val="bg1">
                    <a:lumMod val="50000"/>
                  </a:schemeClr>
                </a:solidFill>
              </a:rPr>
              <a:t>¿Qué esperas de la sesión práctica de hoy?</a:t>
            </a:r>
            <a:endParaRPr lang="en-US" sz="2400" dirty="0">
              <a:solidFill>
                <a:schemeClr val="bg1">
                  <a:lumMod val="50000"/>
                </a:schemeClr>
              </a:solidFill>
            </a:endParaRPr>
          </a:p>
        </p:txBody>
      </p:sp>
      <p:sp>
        <p:nvSpPr>
          <p:cNvPr id="20" name="TextBox 19">
            <a:extLst>
              <a:ext uri="{FF2B5EF4-FFF2-40B4-BE49-F238E27FC236}">
                <a16:creationId xmlns:a16="http://schemas.microsoft.com/office/drawing/2014/main" id="{9498B822-51C5-52A1-4285-E6E96F77F7EE}"/>
              </a:ext>
            </a:extLst>
          </p:cNvPr>
          <p:cNvSpPr txBox="1"/>
          <p:nvPr/>
        </p:nvSpPr>
        <p:spPr>
          <a:xfrm>
            <a:off x="838200" y="5278775"/>
            <a:ext cx="7071549" cy="954107"/>
          </a:xfrm>
          <a:prstGeom prst="rect">
            <a:avLst/>
          </a:prstGeom>
          <a:noFill/>
        </p:spPr>
        <p:txBody>
          <a:bodyPr wrap="square">
            <a:spAutoFit/>
          </a:bodyPr>
          <a:lstStyle/>
          <a:p>
            <a:pPr marL="228600" indent="0">
              <a:buNone/>
            </a:pPr>
            <a:r>
              <a:rPr lang="en-US" sz="2800" dirty="0">
                <a:solidFill>
                  <a:srgbClr val="0E7D73"/>
                </a:solidFill>
                <a:latin typeface="Helvetica" pitchFamily="2" charset="0"/>
              </a:rPr>
              <a:t>Resolver </a:t>
            </a:r>
            <a:r>
              <a:rPr lang="en-US" sz="2800" dirty="0" err="1">
                <a:solidFill>
                  <a:srgbClr val="0E7D73"/>
                </a:solidFill>
                <a:latin typeface="Helvetica" pitchFamily="2" charset="0"/>
              </a:rPr>
              <a:t>problemas</a:t>
            </a:r>
            <a:r>
              <a:rPr lang="en-US" sz="2800" dirty="0">
                <a:latin typeface="Helvetica" pitchFamily="2" charset="0"/>
              </a:rPr>
              <a:t> </a:t>
            </a:r>
            <a:r>
              <a:rPr lang="en-US" sz="2800" dirty="0">
                <a:solidFill>
                  <a:srgbClr val="CC7832"/>
                </a:solidFill>
                <a:latin typeface="Helvetica" pitchFamily="2" charset="0"/>
              </a:rPr>
              <a:t>con </a:t>
            </a:r>
            <a:r>
              <a:rPr lang="en-US" sz="2800" dirty="0" err="1">
                <a:solidFill>
                  <a:srgbClr val="CC7832"/>
                </a:solidFill>
                <a:latin typeface="Helvetica" pitchFamily="2" charset="0"/>
              </a:rPr>
              <a:t>arreglos</a:t>
            </a:r>
            <a:r>
              <a:rPr lang="en-US" sz="2800" dirty="0">
                <a:solidFill>
                  <a:srgbClr val="CC7832"/>
                </a:solidFill>
                <a:latin typeface="Helvetica" pitchFamily="2" charset="0"/>
              </a:rPr>
              <a:t> y </a:t>
            </a:r>
            <a:r>
              <a:rPr lang="en-US" sz="2800" dirty="0" err="1">
                <a:solidFill>
                  <a:srgbClr val="CC7832"/>
                </a:solidFill>
                <a:latin typeface="Helvetica" pitchFamily="2" charset="0"/>
              </a:rPr>
              <a:t>estructuras</a:t>
            </a:r>
            <a:r>
              <a:rPr lang="en-US" sz="2800" dirty="0">
                <a:solidFill>
                  <a:srgbClr val="CC7832"/>
                </a:solidFill>
                <a:latin typeface="Helvetica" pitchFamily="2" charset="0"/>
              </a:rPr>
              <a:t> </a:t>
            </a:r>
            <a:r>
              <a:rPr lang="en-US" sz="2800" dirty="0" err="1">
                <a:solidFill>
                  <a:srgbClr val="CC7832"/>
                </a:solidFill>
                <a:latin typeface="Helvetica" pitchFamily="2" charset="0"/>
              </a:rPr>
              <a:t>repetitivas</a:t>
            </a:r>
            <a:r>
              <a:rPr lang="en-US" sz="2800" dirty="0">
                <a:solidFill>
                  <a:srgbClr val="CC7832"/>
                </a:solidFill>
                <a:latin typeface="Helvetica" pitchFamily="2" charset="0"/>
              </a:rPr>
              <a:t> </a:t>
            </a:r>
            <a:r>
              <a:rPr lang="en-US" sz="2800" dirty="0" err="1">
                <a:latin typeface="Helvetica" pitchFamily="2" charset="0"/>
              </a:rPr>
              <a:t>en</a:t>
            </a:r>
            <a:r>
              <a:rPr lang="en-US" sz="2800" dirty="0">
                <a:latin typeface="Helvetica" pitchFamily="2" charset="0"/>
              </a:rPr>
              <a:t> Java</a:t>
            </a:r>
            <a:endParaRPr lang="es-ES" sz="2800" dirty="0">
              <a:latin typeface="Helvetica" pitchFamily="2" charset="0"/>
            </a:endParaRPr>
          </a:p>
        </p:txBody>
      </p:sp>
      <p:pic>
        <p:nvPicPr>
          <p:cNvPr id="5" name="Picture 4">
            <a:extLst>
              <a:ext uri="{FF2B5EF4-FFF2-40B4-BE49-F238E27FC236}">
                <a16:creationId xmlns:a16="http://schemas.microsoft.com/office/drawing/2014/main" id="{7E0A22D5-AD6D-A697-62FA-7DCB9E5EF161}"/>
              </a:ext>
            </a:extLst>
          </p:cNvPr>
          <p:cNvPicPr>
            <a:picLocks noChangeAspect="1"/>
          </p:cNvPicPr>
          <p:nvPr/>
        </p:nvPicPr>
        <p:blipFill>
          <a:blip r:embed="rId3"/>
          <a:stretch>
            <a:fillRect/>
          </a:stretch>
        </p:blipFill>
        <p:spPr>
          <a:xfrm>
            <a:off x="6846702" y="1571076"/>
            <a:ext cx="5337897" cy="3557729"/>
          </a:xfrm>
          <a:prstGeom prst="rect">
            <a:avLst/>
          </a:prstGeom>
          <a:effectLst>
            <a:outerShdw blurRad="50800" dist="38100" dir="5400000" algn="t" rotWithShape="0">
              <a:prstClr val="black">
                <a:alpha val="40000"/>
              </a:prstClr>
            </a:outerShdw>
          </a:effectLst>
        </p:spPr>
      </p:pic>
      <p:sp>
        <p:nvSpPr>
          <p:cNvPr id="6" name="TextBox 5">
            <a:extLst>
              <a:ext uri="{FF2B5EF4-FFF2-40B4-BE49-F238E27FC236}">
                <a16:creationId xmlns:a16="http://schemas.microsoft.com/office/drawing/2014/main" id="{8990F7AF-0545-22D7-731F-2E06981ADDE9}"/>
              </a:ext>
            </a:extLst>
          </p:cNvPr>
          <p:cNvSpPr txBox="1"/>
          <p:nvPr/>
        </p:nvSpPr>
        <p:spPr>
          <a:xfrm>
            <a:off x="202753" y="6502565"/>
            <a:ext cx="9336249"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https://www.americanwatercollege.org/wp-content/uploads/2016/11/Problem-solving.jpg</a:t>
            </a:r>
          </a:p>
        </p:txBody>
      </p:sp>
    </p:spTree>
    <p:extLst>
      <p:ext uri="{BB962C8B-B14F-4D97-AF65-F5344CB8AC3E}">
        <p14:creationId xmlns:p14="http://schemas.microsoft.com/office/powerpoint/2010/main" val="381246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10</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039430" y="2800020"/>
            <a:ext cx="5599610" cy="1446550"/>
          </a:xfrm>
          <a:prstGeom prst="rect">
            <a:avLst/>
          </a:prstGeom>
          <a:noFill/>
        </p:spPr>
        <p:txBody>
          <a:bodyPr wrap="none" rtlCol="0">
            <a:spAutoFit/>
          </a:bodyPr>
          <a:lstStyle/>
          <a:p>
            <a:r>
              <a:rPr lang="es-ES" sz="8800" b="1" dirty="0">
                <a:solidFill>
                  <a:schemeClr val="accent1">
                    <a:lumMod val="60000"/>
                    <a:lumOff val="40000"/>
                  </a:schemeClr>
                </a:solidFill>
                <a:latin typeface="Helvetica" pitchFamily="2" charset="0"/>
              </a:rPr>
              <a:t>contenido</a:t>
            </a:r>
            <a:endParaRPr lang="en-US" sz="8800" b="1" dirty="0">
              <a:solidFill>
                <a:schemeClr val="accent1">
                  <a:lumMod val="60000"/>
                  <a:lumOff val="40000"/>
                </a:schemeClr>
              </a:solidFill>
              <a:latin typeface="Helvetica" pitchFamily="2" charset="0"/>
            </a:endParaRPr>
          </a:p>
        </p:txBody>
      </p:sp>
      <p:grpSp>
        <p:nvGrpSpPr>
          <p:cNvPr id="48" name="Group 47">
            <a:extLst>
              <a:ext uri="{FF2B5EF4-FFF2-40B4-BE49-F238E27FC236}">
                <a16:creationId xmlns:a16="http://schemas.microsoft.com/office/drawing/2014/main" id="{CC03EC01-3410-3753-838A-CBAF48C6B899}"/>
              </a:ext>
            </a:extLst>
          </p:cNvPr>
          <p:cNvGrpSpPr/>
          <p:nvPr/>
        </p:nvGrpSpPr>
        <p:grpSpPr>
          <a:xfrm>
            <a:off x="2783393" y="482329"/>
            <a:ext cx="3503525" cy="1862048"/>
            <a:chOff x="2592475" y="894308"/>
            <a:chExt cx="3503525" cy="1862048"/>
          </a:xfrm>
        </p:grpSpPr>
        <p:sp>
          <p:nvSpPr>
            <p:cNvPr id="4" name="Rectangle 3">
              <a:extLst>
                <a:ext uri="{FF2B5EF4-FFF2-40B4-BE49-F238E27FC236}">
                  <a16:creationId xmlns:a16="http://schemas.microsoft.com/office/drawing/2014/main" id="{2E3F793D-9F3A-9CB6-BB43-2BE49A384566}"/>
                </a:ext>
              </a:extLst>
            </p:cNvPr>
            <p:cNvSpPr/>
            <p:nvPr/>
          </p:nvSpPr>
          <p:spPr>
            <a:xfrm>
              <a:off x="2592475" y="1276141"/>
              <a:ext cx="1024932" cy="1024932"/>
            </a:xfrm>
            <a:prstGeom prst="rect">
              <a:avLst/>
            </a:prstGeom>
            <a:solidFill>
              <a:srgbClr val="3821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4E5F22-E391-D88E-BBA2-49677A37E1E4}"/>
                </a:ext>
              </a:extLst>
            </p:cNvPr>
            <p:cNvSpPr txBox="1"/>
            <p:nvPr/>
          </p:nvSpPr>
          <p:spPr>
            <a:xfrm>
              <a:off x="2730534"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1</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46" name="Rectangle 45">
              <a:extLst>
                <a:ext uri="{FF2B5EF4-FFF2-40B4-BE49-F238E27FC236}">
                  <a16:creationId xmlns:a16="http://schemas.microsoft.com/office/drawing/2014/main" id="{9B3C8AD1-9836-58ED-EB32-5005786BE9DC}"/>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Operaciones con Arreglos unidimensionales (repaso)</a:t>
              </a:r>
              <a:endParaRPr lang="en-US" sz="1800" dirty="0">
                <a:solidFill>
                  <a:schemeClr val="bg1">
                    <a:lumMod val="50000"/>
                  </a:schemeClr>
                </a:solidFill>
              </a:endParaRPr>
            </a:p>
          </p:txBody>
        </p:sp>
      </p:grpSp>
      <p:grpSp>
        <p:nvGrpSpPr>
          <p:cNvPr id="49" name="Group 48">
            <a:extLst>
              <a:ext uri="{FF2B5EF4-FFF2-40B4-BE49-F238E27FC236}">
                <a16:creationId xmlns:a16="http://schemas.microsoft.com/office/drawing/2014/main" id="{9892BF36-842E-D6E3-10B2-7C5054E9682B}"/>
              </a:ext>
            </a:extLst>
          </p:cNvPr>
          <p:cNvGrpSpPr/>
          <p:nvPr/>
        </p:nvGrpSpPr>
        <p:grpSpPr>
          <a:xfrm>
            <a:off x="2783393" y="1902748"/>
            <a:ext cx="3503525" cy="1862048"/>
            <a:chOff x="2592475" y="894308"/>
            <a:chExt cx="3503525" cy="1862048"/>
          </a:xfrm>
        </p:grpSpPr>
        <p:sp>
          <p:nvSpPr>
            <p:cNvPr id="50" name="Rectangle 49">
              <a:extLst>
                <a:ext uri="{FF2B5EF4-FFF2-40B4-BE49-F238E27FC236}">
                  <a16:creationId xmlns:a16="http://schemas.microsoft.com/office/drawing/2014/main" id="{06142F58-5226-BA35-9969-57C16866CCC1}"/>
                </a:ext>
              </a:extLst>
            </p:cNvPr>
            <p:cNvSpPr/>
            <p:nvPr/>
          </p:nvSpPr>
          <p:spPr>
            <a:xfrm>
              <a:off x="2592475" y="1276141"/>
              <a:ext cx="1024932" cy="1024932"/>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88136D1-9413-F8D4-A74C-53EACFBC9CBA}"/>
                </a:ext>
              </a:extLst>
            </p:cNvPr>
            <p:cNvSpPr txBox="1"/>
            <p:nvPr/>
          </p:nvSpPr>
          <p:spPr>
            <a:xfrm>
              <a:off x="2780776"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2</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51" name="Rectangle 50">
              <a:extLst>
                <a:ext uri="{FF2B5EF4-FFF2-40B4-BE49-F238E27FC236}">
                  <a16:creationId xmlns:a16="http://schemas.microsoft.com/office/drawing/2014/main" id="{A7D6B8A0-3C80-5604-A8A1-15D59C71EB77}"/>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Práctica</a:t>
              </a:r>
              <a:endParaRPr lang="en-US" sz="1800" dirty="0">
                <a:solidFill>
                  <a:schemeClr val="bg1">
                    <a:lumMod val="50000"/>
                  </a:schemeClr>
                </a:solidFill>
              </a:endParaRPr>
            </a:p>
          </p:txBody>
        </p:sp>
      </p:grpSp>
    </p:spTree>
    <p:extLst>
      <p:ext uri="{BB962C8B-B14F-4D97-AF65-F5344CB8AC3E}">
        <p14:creationId xmlns:p14="http://schemas.microsoft.com/office/powerpoint/2010/main" val="242307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11</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039430" y="2800020"/>
            <a:ext cx="5599610" cy="1446550"/>
          </a:xfrm>
          <a:prstGeom prst="rect">
            <a:avLst/>
          </a:prstGeom>
          <a:noFill/>
        </p:spPr>
        <p:txBody>
          <a:bodyPr wrap="none" rtlCol="0">
            <a:spAutoFit/>
          </a:bodyPr>
          <a:lstStyle/>
          <a:p>
            <a:r>
              <a:rPr lang="es-ES" sz="8800" b="1" dirty="0">
                <a:solidFill>
                  <a:schemeClr val="accent1">
                    <a:lumMod val="60000"/>
                    <a:lumOff val="40000"/>
                  </a:schemeClr>
                </a:solidFill>
                <a:latin typeface="Helvetica" pitchFamily="2" charset="0"/>
              </a:rPr>
              <a:t>contenido</a:t>
            </a:r>
            <a:endParaRPr lang="en-US" sz="8800" b="1" dirty="0">
              <a:solidFill>
                <a:schemeClr val="accent1">
                  <a:lumMod val="60000"/>
                  <a:lumOff val="40000"/>
                </a:schemeClr>
              </a:solidFill>
              <a:latin typeface="Helvetica" pitchFamily="2" charset="0"/>
            </a:endParaRPr>
          </a:p>
        </p:txBody>
      </p:sp>
      <p:grpSp>
        <p:nvGrpSpPr>
          <p:cNvPr id="49" name="Group 48">
            <a:extLst>
              <a:ext uri="{FF2B5EF4-FFF2-40B4-BE49-F238E27FC236}">
                <a16:creationId xmlns:a16="http://schemas.microsoft.com/office/drawing/2014/main" id="{9892BF36-842E-D6E3-10B2-7C5054E9682B}"/>
              </a:ext>
            </a:extLst>
          </p:cNvPr>
          <p:cNvGrpSpPr/>
          <p:nvPr/>
        </p:nvGrpSpPr>
        <p:grpSpPr>
          <a:xfrm>
            <a:off x="2783393" y="1902748"/>
            <a:ext cx="3503525" cy="1862048"/>
            <a:chOff x="2592475" y="894308"/>
            <a:chExt cx="3503525" cy="1862048"/>
          </a:xfrm>
        </p:grpSpPr>
        <p:sp>
          <p:nvSpPr>
            <p:cNvPr id="50" name="Rectangle 49">
              <a:extLst>
                <a:ext uri="{FF2B5EF4-FFF2-40B4-BE49-F238E27FC236}">
                  <a16:creationId xmlns:a16="http://schemas.microsoft.com/office/drawing/2014/main" id="{06142F58-5226-BA35-9969-57C16866CCC1}"/>
                </a:ext>
              </a:extLst>
            </p:cNvPr>
            <p:cNvSpPr/>
            <p:nvPr/>
          </p:nvSpPr>
          <p:spPr>
            <a:xfrm>
              <a:off x="2592475" y="1276141"/>
              <a:ext cx="1024932" cy="1024932"/>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88136D1-9413-F8D4-A74C-53EACFBC9CBA}"/>
                </a:ext>
              </a:extLst>
            </p:cNvPr>
            <p:cNvSpPr txBox="1"/>
            <p:nvPr/>
          </p:nvSpPr>
          <p:spPr>
            <a:xfrm>
              <a:off x="2780776"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2</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51" name="Rectangle 50">
              <a:extLst>
                <a:ext uri="{FF2B5EF4-FFF2-40B4-BE49-F238E27FC236}">
                  <a16:creationId xmlns:a16="http://schemas.microsoft.com/office/drawing/2014/main" id="{A7D6B8A0-3C80-5604-A8A1-15D59C71EB77}"/>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Práctica</a:t>
              </a:r>
              <a:endParaRPr lang="en-US" sz="1800" dirty="0">
                <a:solidFill>
                  <a:schemeClr val="bg1">
                    <a:lumMod val="50000"/>
                  </a:schemeClr>
                </a:solidFill>
              </a:endParaRPr>
            </a:p>
          </p:txBody>
        </p:sp>
      </p:grpSp>
      <p:sp>
        <p:nvSpPr>
          <p:cNvPr id="5" name="Rectangle 4">
            <a:extLst>
              <a:ext uri="{FF2B5EF4-FFF2-40B4-BE49-F238E27FC236}">
                <a16:creationId xmlns:a16="http://schemas.microsoft.com/office/drawing/2014/main" id="{3224C328-3754-6A9E-07EB-B5EC61156058}"/>
              </a:ext>
            </a:extLst>
          </p:cNvPr>
          <p:cNvSpPr/>
          <p:nvPr/>
        </p:nvSpPr>
        <p:spPr>
          <a:xfrm>
            <a:off x="2483651" y="683513"/>
            <a:ext cx="7722218" cy="559961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CC03EC01-3410-3753-838A-CBAF48C6B899}"/>
              </a:ext>
            </a:extLst>
          </p:cNvPr>
          <p:cNvGrpSpPr/>
          <p:nvPr/>
        </p:nvGrpSpPr>
        <p:grpSpPr>
          <a:xfrm>
            <a:off x="2783393" y="482329"/>
            <a:ext cx="3503525" cy="1862048"/>
            <a:chOff x="2592475" y="894308"/>
            <a:chExt cx="3503525" cy="1862048"/>
          </a:xfrm>
        </p:grpSpPr>
        <p:sp>
          <p:nvSpPr>
            <p:cNvPr id="4" name="Rectangle 3">
              <a:extLst>
                <a:ext uri="{FF2B5EF4-FFF2-40B4-BE49-F238E27FC236}">
                  <a16:creationId xmlns:a16="http://schemas.microsoft.com/office/drawing/2014/main" id="{2E3F793D-9F3A-9CB6-BB43-2BE49A384566}"/>
                </a:ext>
              </a:extLst>
            </p:cNvPr>
            <p:cNvSpPr/>
            <p:nvPr/>
          </p:nvSpPr>
          <p:spPr>
            <a:xfrm>
              <a:off x="2592475" y="1276141"/>
              <a:ext cx="1024932" cy="1024932"/>
            </a:xfrm>
            <a:prstGeom prst="rect">
              <a:avLst/>
            </a:prstGeom>
            <a:solidFill>
              <a:srgbClr val="3821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4E5F22-E391-D88E-BBA2-49677A37E1E4}"/>
                </a:ext>
              </a:extLst>
            </p:cNvPr>
            <p:cNvSpPr txBox="1"/>
            <p:nvPr/>
          </p:nvSpPr>
          <p:spPr>
            <a:xfrm>
              <a:off x="2730534"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1</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46" name="Rectangle 45">
              <a:extLst>
                <a:ext uri="{FF2B5EF4-FFF2-40B4-BE49-F238E27FC236}">
                  <a16:creationId xmlns:a16="http://schemas.microsoft.com/office/drawing/2014/main" id="{9B3C8AD1-9836-58ED-EB32-5005786BE9DC}"/>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Operaciones con Arreglos unidimensionales (repaso)</a:t>
              </a:r>
              <a:endParaRPr lang="en-US" sz="1800" dirty="0">
                <a:solidFill>
                  <a:schemeClr val="bg1">
                    <a:lumMod val="50000"/>
                  </a:schemeClr>
                </a:solidFill>
              </a:endParaRPr>
            </a:p>
          </p:txBody>
        </p:sp>
      </p:grpSp>
    </p:spTree>
    <p:extLst>
      <p:ext uri="{BB962C8B-B14F-4D97-AF65-F5344CB8AC3E}">
        <p14:creationId xmlns:p14="http://schemas.microsoft.com/office/powerpoint/2010/main" val="69842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C3EF-5D84-4CA1-A49C-42748C91DEF8}"/>
              </a:ext>
            </a:extLst>
          </p:cNvPr>
          <p:cNvSpPr>
            <a:spLocks noGrp="1"/>
          </p:cNvSpPr>
          <p:nvPr>
            <p:ph type="title"/>
          </p:nvPr>
        </p:nvSpPr>
        <p:spPr/>
        <p:txBody>
          <a:bodyPr/>
          <a:lstStyle/>
          <a:p>
            <a:r>
              <a:rPr lang="es-ES" dirty="0"/>
              <a:t>Operaciones con arreglos (repaso)</a:t>
            </a:r>
            <a:endParaRPr lang="en-US" dirty="0"/>
          </a:p>
        </p:txBody>
      </p:sp>
      <p:sp>
        <p:nvSpPr>
          <p:cNvPr id="3" name="Slide Number Placeholder 2">
            <a:extLst>
              <a:ext uri="{FF2B5EF4-FFF2-40B4-BE49-F238E27FC236}">
                <a16:creationId xmlns:a16="http://schemas.microsoft.com/office/drawing/2014/main" id="{9DE662C6-2911-4CF7-8D3C-003C85D6C4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12</a:t>
            </a:fld>
            <a:endParaRPr lang="es-PE"/>
          </a:p>
        </p:txBody>
      </p:sp>
      <p:sp>
        <p:nvSpPr>
          <p:cNvPr id="14" name="Content Placeholder 13">
            <a:extLst>
              <a:ext uri="{FF2B5EF4-FFF2-40B4-BE49-F238E27FC236}">
                <a16:creationId xmlns:a16="http://schemas.microsoft.com/office/drawing/2014/main" id="{43F32973-D01E-1762-F7A9-248AC09487D7}"/>
              </a:ext>
            </a:extLst>
          </p:cNvPr>
          <p:cNvSpPr>
            <a:spLocks noGrp="1"/>
          </p:cNvSpPr>
          <p:nvPr>
            <p:ph sz="quarter" idx="13"/>
          </p:nvPr>
        </p:nvSpPr>
        <p:spPr/>
        <p:txBody>
          <a:bodyPr>
            <a:normAutofit/>
          </a:bodyPr>
          <a:lstStyle/>
          <a:p>
            <a:pPr>
              <a:lnSpc>
                <a:spcPct val="150000"/>
              </a:lnSpc>
            </a:pPr>
            <a:r>
              <a:rPr lang="es-ES" dirty="0"/>
              <a:t>Copiado</a:t>
            </a:r>
          </a:p>
          <a:p>
            <a:pPr>
              <a:lnSpc>
                <a:spcPct val="150000"/>
              </a:lnSpc>
            </a:pPr>
            <a:endParaRPr lang="es-ES" dirty="0"/>
          </a:p>
          <a:p>
            <a:pPr>
              <a:lnSpc>
                <a:spcPct val="150000"/>
              </a:lnSpc>
            </a:pPr>
            <a:r>
              <a:rPr lang="es-ES" dirty="0"/>
              <a:t>Ordenamiento</a:t>
            </a:r>
          </a:p>
          <a:p>
            <a:pPr>
              <a:lnSpc>
                <a:spcPct val="150000"/>
              </a:lnSpc>
            </a:pPr>
            <a:endParaRPr lang="es-ES" dirty="0"/>
          </a:p>
          <a:p>
            <a:pPr>
              <a:lnSpc>
                <a:spcPct val="150000"/>
              </a:lnSpc>
            </a:pPr>
            <a:r>
              <a:rPr lang="es-ES" dirty="0"/>
              <a:t>Comparación</a:t>
            </a:r>
          </a:p>
        </p:txBody>
      </p:sp>
      <p:sp>
        <p:nvSpPr>
          <p:cNvPr id="19" name="Rectangle 18">
            <a:extLst>
              <a:ext uri="{FF2B5EF4-FFF2-40B4-BE49-F238E27FC236}">
                <a16:creationId xmlns:a16="http://schemas.microsoft.com/office/drawing/2014/main" id="{8770F16F-F121-84F9-5675-DD0B133A83B9}"/>
              </a:ext>
            </a:extLst>
          </p:cNvPr>
          <p:cNvSpPr/>
          <p:nvPr/>
        </p:nvSpPr>
        <p:spPr>
          <a:xfrm>
            <a:off x="0" y="0"/>
            <a:ext cx="619432" cy="6858000"/>
          </a:xfrm>
          <a:prstGeom prst="rect">
            <a:avLst/>
          </a:prstGeom>
          <a:solidFill>
            <a:srgbClr val="38213B"/>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dirty="0">
                <a:solidFill>
                  <a:srgbClr val="A36AAE"/>
                </a:solidFill>
              </a:rPr>
              <a:t>1. Operaciones con Arreglos (repaso)</a:t>
            </a:r>
            <a:endParaRPr lang="en-US" sz="2400" dirty="0">
              <a:solidFill>
                <a:srgbClr val="A36AAE"/>
              </a:solidFill>
            </a:endParaRPr>
          </a:p>
        </p:txBody>
      </p:sp>
      <p:sp>
        <p:nvSpPr>
          <p:cNvPr id="5" name="TextBox 4">
            <a:extLst>
              <a:ext uri="{FF2B5EF4-FFF2-40B4-BE49-F238E27FC236}">
                <a16:creationId xmlns:a16="http://schemas.microsoft.com/office/drawing/2014/main" id="{747E6E4F-5831-59D0-F76E-6B6B5CEE8095}"/>
              </a:ext>
            </a:extLst>
          </p:cNvPr>
          <p:cNvSpPr txBox="1"/>
          <p:nvPr/>
        </p:nvSpPr>
        <p:spPr>
          <a:xfrm>
            <a:off x="1750925" y="2355987"/>
            <a:ext cx="9438691" cy="547779"/>
          </a:xfrm>
          <a:prstGeom prst="roundRect">
            <a:avLst/>
          </a:prstGeom>
          <a:solidFill>
            <a:schemeClr val="bg2">
              <a:lumMod val="75000"/>
            </a:schemeClr>
          </a:solidFill>
        </p:spPr>
        <p:txBody>
          <a:bodyPr wrap="square" lIns="180000" tIns="108000" rIns="180000" bIns="108000">
            <a:spAutoFit/>
          </a:bodyPr>
          <a:lstStyle/>
          <a:p>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800" b="0" i="1"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arraycopy</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arrOrigen</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8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arrDestino</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8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arrOrigen.</a:t>
            </a:r>
            <a:r>
              <a:rPr kumimoji="0" lang="en-US" altLang="en-US" sz="180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US" sz="1800" dirty="0"/>
          </a:p>
        </p:txBody>
      </p:sp>
      <p:sp>
        <p:nvSpPr>
          <p:cNvPr id="6" name="TextBox 5">
            <a:extLst>
              <a:ext uri="{FF2B5EF4-FFF2-40B4-BE49-F238E27FC236}">
                <a16:creationId xmlns:a16="http://schemas.microsoft.com/office/drawing/2014/main" id="{94F5E99B-A192-2866-E27E-CF97B5FC52B8}"/>
              </a:ext>
            </a:extLst>
          </p:cNvPr>
          <p:cNvSpPr txBox="1"/>
          <p:nvPr/>
        </p:nvSpPr>
        <p:spPr>
          <a:xfrm>
            <a:off x="1750926" y="3912988"/>
            <a:ext cx="3355922" cy="547779"/>
          </a:xfrm>
          <a:prstGeom prst="roundRect">
            <a:avLst/>
          </a:prstGeom>
          <a:solidFill>
            <a:schemeClr val="bg2">
              <a:lumMod val="75000"/>
            </a:schemeClr>
          </a:solidFill>
        </p:spPr>
        <p:txBody>
          <a:bodyPr wrap="square" lIns="180000" tIns="108000" rIns="180000" bIns="108000">
            <a:spAutoFit/>
          </a:bodyPr>
          <a:lstStyle/>
          <a:p>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Arrays.</a:t>
            </a:r>
            <a:r>
              <a:rPr kumimoji="0" lang="en-US" altLang="en-US" sz="1800" b="0" i="1"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sort</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US" sz="1800" dirty="0"/>
          </a:p>
        </p:txBody>
      </p:sp>
      <p:sp>
        <p:nvSpPr>
          <p:cNvPr id="7" name="TextBox 6">
            <a:extLst>
              <a:ext uri="{FF2B5EF4-FFF2-40B4-BE49-F238E27FC236}">
                <a16:creationId xmlns:a16="http://schemas.microsoft.com/office/drawing/2014/main" id="{ACAC44EC-1E08-7587-98D1-446CD497A7A7}"/>
              </a:ext>
            </a:extLst>
          </p:cNvPr>
          <p:cNvSpPr txBox="1"/>
          <p:nvPr/>
        </p:nvSpPr>
        <p:spPr>
          <a:xfrm>
            <a:off x="1750925" y="5431103"/>
            <a:ext cx="7733437" cy="547779"/>
          </a:xfrm>
          <a:prstGeom prst="roundRect">
            <a:avLst/>
          </a:prstGeom>
          <a:solidFill>
            <a:schemeClr val="bg2">
              <a:lumMod val="75000"/>
            </a:schemeClr>
          </a:solidFill>
        </p:spPr>
        <p:txBody>
          <a:bodyPr wrap="square" lIns="180000" tIns="108000" rIns="180000" bIns="108000">
            <a:spAutoFit/>
          </a:bodyPr>
          <a:lstStyle/>
          <a:p>
            <a:r>
              <a:rPr kumimoji="0" lang="en-US" altLang="en-US" sz="1800" b="0" i="0" u="none" strike="noStrike" cap="none" normalizeH="0" baseline="0" dirty="0" err="1">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boolean</a:t>
            </a:r>
            <a:r>
              <a:rPr kumimoji="0" lang="en-US" altLang="en-US" sz="18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iguales</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8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Arrays.</a:t>
            </a:r>
            <a:r>
              <a:rPr kumimoji="0" lang="en-US" altLang="en-US" sz="1800" b="0" i="1"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equals</a:t>
            </a:r>
            <a:r>
              <a:rPr kumimoji="0" lang="en-US" altLang="en-US" sz="18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(arreglo1, arreglo2);</a:t>
            </a:r>
            <a:endParaRPr lang="en-US" sz="1800" dirty="0"/>
          </a:p>
        </p:txBody>
      </p:sp>
    </p:spTree>
    <p:extLst>
      <p:ext uri="{BB962C8B-B14F-4D97-AF65-F5344CB8AC3E}">
        <p14:creationId xmlns:p14="http://schemas.microsoft.com/office/powerpoint/2010/main" val="170030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F148-3319-03E1-9BD2-84E093CDBB40}"/>
              </a:ext>
            </a:extLst>
          </p:cNvPr>
          <p:cNvSpPr>
            <a:spLocks noGrp="1"/>
          </p:cNvSpPr>
          <p:nvPr>
            <p:ph type="title"/>
          </p:nvPr>
        </p:nvSpPr>
        <p:spPr/>
        <p:txBody>
          <a:bodyPr/>
          <a:lstStyle/>
          <a:p>
            <a:r>
              <a:rPr lang="es-ES" dirty="0"/>
              <a:t>Arreglos paralelos. Ejemplo.</a:t>
            </a:r>
            <a:endParaRPr lang="en-US" dirty="0"/>
          </a:p>
        </p:txBody>
      </p:sp>
      <p:sp>
        <p:nvSpPr>
          <p:cNvPr id="3" name="Slide Number Placeholder 2">
            <a:extLst>
              <a:ext uri="{FF2B5EF4-FFF2-40B4-BE49-F238E27FC236}">
                <a16:creationId xmlns:a16="http://schemas.microsoft.com/office/drawing/2014/main" id="{45EE1E6E-62ED-39CB-0B6B-23F63A2BB0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13</a:t>
            </a:fld>
            <a:endParaRPr lang="es-PE"/>
          </a:p>
        </p:txBody>
      </p:sp>
      <p:sp>
        <p:nvSpPr>
          <p:cNvPr id="4" name="Content Placeholder 3">
            <a:extLst>
              <a:ext uri="{FF2B5EF4-FFF2-40B4-BE49-F238E27FC236}">
                <a16:creationId xmlns:a16="http://schemas.microsoft.com/office/drawing/2014/main" id="{7398BE50-879B-9AB7-57E5-96BB5854BD9B}"/>
              </a:ext>
            </a:extLst>
          </p:cNvPr>
          <p:cNvSpPr>
            <a:spLocks noGrp="1"/>
          </p:cNvSpPr>
          <p:nvPr>
            <p:ph sz="quarter" idx="13"/>
          </p:nvPr>
        </p:nvSpPr>
        <p:spPr>
          <a:xfrm>
            <a:off x="1203650" y="1436914"/>
            <a:ext cx="2654917" cy="4782911"/>
          </a:xfrm>
        </p:spPr>
        <p:txBody>
          <a:bodyPr>
            <a:normAutofit fontScale="70000" lnSpcReduction="20000"/>
          </a:bodyPr>
          <a:lstStyle/>
          <a:p>
            <a:pPr marL="50800" indent="0">
              <a:lnSpc>
                <a:spcPct val="120000"/>
              </a:lnSpc>
              <a:buNone/>
            </a:pPr>
            <a:r>
              <a:rPr lang="es-ES" dirty="0">
                <a:solidFill>
                  <a:schemeClr val="bg1">
                    <a:lumMod val="50000"/>
                  </a:schemeClr>
                </a:solidFill>
              </a:rPr>
              <a:t>Programa que solicita los nombres y edades de 5 personas y muestra los datos formateados y un mensaje que indica si son mayores o menores de edad.</a:t>
            </a:r>
          </a:p>
          <a:p>
            <a:pPr marL="50800" indent="0">
              <a:lnSpc>
                <a:spcPct val="120000"/>
              </a:lnSpc>
              <a:buNone/>
            </a:pPr>
            <a:endParaRPr lang="es-ES" dirty="0">
              <a:solidFill>
                <a:schemeClr val="bg1">
                  <a:lumMod val="50000"/>
                </a:schemeClr>
              </a:solidFill>
            </a:endParaRPr>
          </a:p>
          <a:p>
            <a:pPr marL="50800" indent="0">
              <a:lnSpc>
                <a:spcPct val="120000"/>
              </a:lnSpc>
              <a:buNone/>
            </a:pPr>
            <a:endParaRPr lang="es-ES" dirty="0">
              <a:solidFill>
                <a:schemeClr val="bg1">
                  <a:lumMod val="50000"/>
                </a:schemeClr>
              </a:solidFill>
            </a:endParaRPr>
          </a:p>
          <a:p>
            <a:pPr marL="50800" indent="0">
              <a:lnSpc>
                <a:spcPct val="120000"/>
              </a:lnSpc>
              <a:buNone/>
            </a:pPr>
            <a:r>
              <a:rPr lang="es-ES" sz="2000" dirty="0">
                <a:solidFill>
                  <a:schemeClr val="bg1">
                    <a:lumMod val="50000"/>
                  </a:schemeClr>
                </a:solidFill>
              </a:rPr>
              <a:t>Programa completo en el archivo ArreglosParalelosDemo2.java</a:t>
            </a:r>
            <a:endParaRPr lang="en-US" sz="2000" dirty="0">
              <a:solidFill>
                <a:schemeClr val="bg1">
                  <a:lumMod val="50000"/>
                </a:schemeClr>
              </a:solidFill>
            </a:endParaRPr>
          </a:p>
        </p:txBody>
      </p:sp>
      <p:sp>
        <p:nvSpPr>
          <p:cNvPr id="5" name="Rectangle 4">
            <a:extLst>
              <a:ext uri="{FF2B5EF4-FFF2-40B4-BE49-F238E27FC236}">
                <a16:creationId xmlns:a16="http://schemas.microsoft.com/office/drawing/2014/main" id="{E6CFBE9B-752F-AB89-C077-BE89E54F7988}"/>
              </a:ext>
            </a:extLst>
          </p:cNvPr>
          <p:cNvSpPr/>
          <p:nvPr/>
        </p:nvSpPr>
        <p:spPr>
          <a:xfrm>
            <a:off x="0" y="0"/>
            <a:ext cx="619432" cy="6858000"/>
          </a:xfrm>
          <a:prstGeom prst="rect">
            <a:avLst/>
          </a:prstGeom>
          <a:solidFill>
            <a:srgbClr val="38213B"/>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dirty="0">
                <a:solidFill>
                  <a:srgbClr val="A36AAE"/>
                </a:solidFill>
              </a:rPr>
              <a:t>1. Operaciones con Arreglos (repaso)</a:t>
            </a:r>
            <a:endParaRPr lang="en-US" sz="2400" dirty="0">
              <a:solidFill>
                <a:srgbClr val="A36AAE"/>
              </a:solidFill>
            </a:endParaRPr>
          </a:p>
        </p:txBody>
      </p:sp>
      <p:sp>
        <p:nvSpPr>
          <p:cNvPr id="6" name="Rectangle 1">
            <a:extLst>
              <a:ext uri="{FF2B5EF4-FFF2-40B4-BE49-F238E27FC236}">
                <a16:creationId xmlns:a16="http://schemas.microsoft.com/office/drawing/2014/main" id="{552AF80A-9359-0216-9852-F391EE1EBE4C}"/>
              </a:ext>
            </a:extLst>
          </p:cNvPr>
          <p:cNvSpPr>
            <a:spLocks noChangeArrowheads="1"/>
          </p:cNvSpPr>
          <p:nvPr/>
        </p:nvSpPr>
        <p:spPr bwMode="auto">
          <a:xfrm>
            <a:off x="3857730" y="1466746"/>
            <a:ext cx="4391967" cy="5145639"/>
          </a:xfrm>
          <a:prstGeom prst="roundRect">
            <a:avLst>
              <a:gd name="adj" fmla="val 1833"/>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a:t>
            </a:r>
            <a:r>
              <a:rPr kumimoji="0" lang="en-US" altLang="en-US" sz="1100" b="0" i="0" u="none" strike="noStrike" cap="none" normalizeH="0" baseline="0" dirty="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in</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endPar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String[]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nombres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a:t>
            </a:r>
            <a:r>
              <a:rPr kumimoji="0" lang="en-US" altLang="en-US" sz="1100" b="0" i="0" u="none" strike="noStrike" cap="none" normalizeH="0" baseline="0" dirty="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String</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5</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edades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5</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&lt;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nombres.</a:t>
            </a:r>
            <a:r>
              <a:rPr kumimoji="0" lang="en-US" altLang="en-US" sz="110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printf</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"%dº Persona</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1</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printf</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Ingrese</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Nombre</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nombres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nextLine</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printf</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Ingrese</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edad</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edades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nextInt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nextLine</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0</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&lt;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nombres.</a:t>
            </a:r>
            <a:r>
              <a:rPr kumimoji="0" lang="en-US" altLang="en-US" sz="1100" b="0" i="0"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length</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dirty="0" err="1">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printf</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"%-16s %2d [%s]</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nombres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edades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edades</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i</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&gt;= </a:t>
            </a:r>
            <a:r>
              <a:rPr kumimoji="0" lang="en-US" altLang="en-US" sz="1100" b="0" i="0" u="none" strike="noStrike" cap="none" normalizeH="0" baseline="0" dirty="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18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100" dirty="0">
                <a:solidFill>
                  <a:srgbClr val="CED0D6"/>
                </a:solidFill>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"Mayor de </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edad</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Menor</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 de </a:t>
            </a:r>
            <a:r>
              <a:rPr kumimoji="0" lang="en-US" altLang="en-US" sz="1100" b="0" i="0" u="none" strike="noStrike" cap="none" normalizeH="0" baseline="0" dirty="0" err="1">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edad</a:t>
            </a:r>
            <a:r>
              <a:rPr kumimoji="0" lang="en-US" altLang="en-US" sz="1100" b="0" i="0" u="none" strike="noStrike" cap="none" normalizeH="0" baseline="0" dirty="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dirty="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kumimoji="0" lang="en-US" altLang="en-US" sz="2400" b="0" i="0" u="none" strike="noStrike" cap="none" normalizeH="0" baseline="0" dirty="0">
              <a:ln>
                <a:noFill/>
              </a:ln>
              <a:solidFill>
                <a:schemeClr val="tx1"/>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8" name="TextBox 7">
            <a:extLst>
              <a:ext uri="{FF2B5EF4-FFF2-40B4-BE49-F238E27FC236}">
                <a16:creationId xmlns:a16="http://schemas.microsoft.com/office/drawing/2014/main" id="{0DAD3B48-0EC0-3D71-0A1B-9E168CA58660}"/>
              </a:ext>
            </a:extLst>
          </p:cNvPr>
          <p:cNvSpPr txBox="1"/>
          <p:nvPr/>
        </p:nvSpPr>
        <p:spPr>
          <a:xfrm>
            <a:off x="8526445" y="1465623"/>
            <a:ext cx="2911509" cy="5147884"/>
          </a:xfrm>
          <a:prstGeom prst="rect">
            <a:avLst/>
          </a:prstGeom>
          <a:solidFill>
            <a:schemeClr val="accent5">
              <a:lumMod val="75000"/>
            </a:schemeClr>
          </a:solidFill>
        </p:spPr>
        <p:txBody>
          <a:bodyPr wrap="square">
            <a:spAutoFit/>
          </a:bodyPr>
          <a:lstStyle/>
          <a:p>
            <a:pPr>
              <a:lnSpc>
                <a:spcPct val="150000"/>
              </a:lnSpc>
            </a:pP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1º Persona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Nombre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Luisa Elena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32</a:t>
            </a:r>
          </a:p>
          <a:p>
            <a:pPr>
              <a:lnSpc>
                <a:spcPct val="150000"/>
              </a:lnSpc>
            </a:pP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2º Persona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Nombre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Camila Gabriela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9</a:t>
            </a:r>
          </a:p>
          <a:p>
            <a:pPr>
              <a:lnSpc>
                <a:spcPct val="150000"/>
              </a:lnSpc>
            </a:pP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3º Persona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Nombre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Adriana Jimena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5</a:t>
            </a:r>
          </a:p>
          <a:p>
            <a:pPr>
              <a:lnSpc>
                <a:spcPct val="150000"/>
              </a:lnSpc>
            </a:pP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4º Persona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Nombre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Jorge Martín</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47</a:t>
            </a:r>
          </a:p>
          <a:p>
            <a:pPr>
              <a:lnSpc>
                <a:spcPct val="150000"/>
              </a:lnSpc>
            </a:pP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5º Persona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Nombre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Miriam Graciela</a:t>
            </a:r>
          </a:p>
          <a:p>
            <a:pPr>
              <a:lnSpc>
                <a:spcPct val="150000"/>
              </a:lnSpc>
            </a:pP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Ingrese</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err="1">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dirty="0">
                <a:solidFill>
                  <a:srgbClr val="00CC66"/>
                </a:solidFill>
                <a:latin typeface="JetBrains Mono" panose="02000009000000000000" pitchFamily="49" charset="0"/>
                <a:ea typeface="JetBrains Mono" panose="02000009000000000000" pitchFamily="49" charset="0"/>
                <a:cs typeface="JetBrains Mono" panose="02000009000000000000" pitchFamily="49" charset="0"/>
              </a:rPr>
              <a:t>43</a:t>
            </a:r>
          </a:p>
          <a:p>
            <a:pPr>
              <a:lnSpc>
                <a:spcPct val="150000"/>
              </a:lnSpc>
            </a:pPr>
            <a:endPar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endParaRPr>
          </a:p>
          <a:p>
            <a:pPr>
              <a:lnSpc>
                <a:spcPct val="150000"/>
              </a:lnSpc>
            </a:pPr>
            <a:endParaRPr lang="en-US" sz="1000" dirty="0">
              <a:solidFill>
                <a:schemeClr val="bg1"/>
              </a:solidFill>
              <a:latin typeface="JetBrains Mono" panose="02000009000000000000" pitchFamily="49" charset="0"/>
              <a:ea typeface="JetBrains Mono" panose="02000009000000000000" pitchFamily="49" charset="0"/>
              <a:cs typeface="JetBrains Mono" panose="02000009000000000000" pitchFamily="49" charset="0"/>
            </a:endParaRPr>
          </a:p>
          <a:p>
            <a:pPr>
              <a:lnSpc>
                <a:spcPct val="150000"/>
              </a:lnSpc>
            </a:pP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Luisa Elena      32 [Mayor de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t>
            </a:r>
          </a:p>
          <a:p>
            <a:pPr>
              <a:lnSpc>
                <a:spcPct val="150000"/>
              </a:lnSpc>
            </a:pP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Camila Gabriela   9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Menor</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 de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t>
            </a:r>
          </a:p>
          <a:p>
            <a:pPr>
              <a:lnSpc>
                <a:spcPct val="150000"/>
              </a:lnSpc>
            </a:pP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Adriana Jimena    5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Menor</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 de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t>
            </a:r>
          </a:p>
          <a:p>
            <a:pPr>
              <a:lnSpc>
                <a:spcPct val="150000"/>
              </a:lnSpc>
            </a:pP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Jorge Martín     47 [Mayor de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t>
            </a:r>
          </a:p>
          <a:p>
            <a:pPr>
              <a:lnSpc>
                <a:spcPct val="150000"/>
              </a:lnSpc>
            </a:pP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Miriam Graciela  43 [Mayor de </a:t>
            </a:r>
            <a:r>
              <a:rPr lang="en-US" sz="1000" dirty="0" err="1">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edad</a:t>
            </a:r>
            <a:r>
              <a:rPr lang="en-US" sz="1000" dirty="0">
                <a:solidFill>
                  <a:srgbClr val="FFFF00"/>
                </a:solidFill>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757767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14</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039430" y="2800020"/>
            <a:ext cx="5599610" cy="1446550"/>
          </a:xfrm>
          <a:prstGeom prst="rect">
            <a:avLst/>
          </a:prstGeom>
          <a:noFill/>
        </p:spPr>
        <p:txBody>
          <a:bodyPr wrap="none" rtlCol="0">
            <a:spAutoFit/>
          </a:bodyPr>
          <a:lstStyle/>
          <a:p>
            <a:r>
              <a:rPr lang="es-ES" sz="8800" b="1" dirty="0">
                <a:solidFill>
                  <a:schemeClr val="accent1">
                    <a:lumMod val="60000"/>
                    <a:lumOff val="40000"/>
                  </a:schemeClr>
                </a:solidFill>
                <a:latin typeface="Helvetica" pitchFamily="2" charset="0"/>
              </a:rPr>
              <a:t>contenido</a:t>
            </a:r>
            <a:endParaRPr lang="en-US" sz="8800" b="1" dirty="0">
              <a:solidFill>
                <a:schemeClr val="accent1">
                  <a:lumMod val="60000"/>
                  <a:lumOff val="40000"/>
                </a:schemeClr>
              </a:solidFill>
              <a:latin typeface="Helvetica" pitchFamily="2" charset="0"/>
            </a:endParaRPr>
          </a:p>
        </p:txBody>
      </p:sp>
      <p:grpSp>
        <p:nvGrpSpPr>
          <p:cNvPr id="48" name="Group 47">
            <a:extLst>
              <a:ext uri="{FF2B5EF4-FFF2-40B4-BE49-F238E27FC236}">
                <a16:creationId xmlns:a16="http://schemas.microsoft.com/office/drawing/2014/main" id="{CC03EC01-3410-3753-838A-CBAF48C6B899}"/>
              </a:ext>
            </a:extLst>
          </p:cNvPr>
          <p:cNvGrpSpPr/>
          <p:nvPr/>
        </p:nvGrpSpPr>
        <p:grpSpPr>
          <a:xfrm>
            <a:off x="2783393" y="482329"/>
            <a:ext cx="3503525" cy="1862048"/>
            <a:chOff x="2592475" y="894308"/>
            <a:chExt cx="3503525" cy="1862048"/>
          </a:xfrm>
        </p:grpSpPr>
        <p:sp>
          <p:nvSpPr>
            <p:cNvPr id="4" name="Rectangle 3">
              <a:extLst>
                <a:ext uri="{FF2B5EF4-FFF2-40B4-BE49-F238E27FC236}">
                  <a16:creationId xmlns:a16="http://schemas.microsoft.com/office/drawing/2014/main" id="{2E3F793D-9F3A-9CB6-BB43-2BE49A384566}"/>
                </a:ext>
              </a:extLst>
            </p:cNvPr>
            <p:cNvSpPr/>
            <p:nvPr/>
          </p:nvSpPr>
          <p:spPr>
            <a:xfrm>
              <a:off x="2592475" y="1276141"/>
              <a:ext cx="1024932" cy="1024932"/>
            </a:xfrm>
            <a:prstGeom prst="rect">
              <a:avLst/>
            </a:prstGeom>
            <a:solidFill>
              <a:srgbClr val="3821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4E5F22-E391-D88E-BBA2-49677A37E1E4}"/>
                </a:ext>
              </a:extLst>
            </p:cNvPr>
            <p:cNvSpPr txBox="1"/>
            <p:nvPr/>
          </p:nvSpPr>
          <p:spPr>
            <a:xfrm>
              <a:off x="2730534"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1</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46" name="Rectangle 45">
              <a:extLst>
                <a:ext uri="{FF2B5EF4-FFF2-40B4-BE49-F238E27FC236}">
                  <a16:creationId xmlns:a16="http://schemas.microsoft.com/office/drawing/2014/main" id="{9B3C8AD1-9836-58ED-EB32-5005786BE9DC}"/>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Operaciones con Arreglos unidimensionales (repaso)</a:t>
              </a:r>
              <a:endParaRPr lang="en-US" sz="1800" dirty="0">
                <a:solidFill>
                  <a:schemeClr val="bg1">
                    <a:lumMod val="50000"/>
                  </a:schemeClr>
                </a:solidFill>
              </a:endParaRPr>
            </a:p>
          </p:txBody>
        </p:sp>
      </p:grpSp>
      <p:sp>
        <p:nvSpPr>
          <p:cNvPr id="5" name="Rectangle 4">
            <a:extLst>
              <a:ext uri="{FF2B5EF4-FFF2-40B4-BE49-F238E27FC236}">
                <a16:creationId xmlns:a16="http://schemas.microsoft.com/office/drawing/2014/main" id="{3224C328-3754-6A9E-07EB-B5EC61156058}"/>
              </a:ext>
            </a:extLst>
          </p:cNvPr>
          <p:cNvSpPr/>
          <p:nvPr/>
        </p:nvSpPr>
        <p:spPr>
          <a:xfrm>
            <a:off x="2483651" y="683513"/>
            <a:ext cx="7722218" cy="559961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9892BF36-842E-D6E3-10B2-7C5054E9682B}"/>
              </a:ext>
            </a:extLst>
          </p:cNvPr>
          <p:cNvGrpSpPr/>
          <p:nvPr/>
        </p:nvGrpSpPr>
        <p:grpSpPr>
          <a:xfrm>
            <a:off x="2783393" y="1902748"/>
            <a:ext cx="3503525" cy="1862048"/>
            <a:chOff x="2592475" y="894308"/>
            <a:chExt cx="3503525" cy="1862048"/>
          </a:xfrm>
        </p:grpSpPr>
        <p:sp>
          <p:nvSpPr>
            <p:cNvPr id="50" name="Rectangle 49">
              <a:extLst>
                <a:ext uri="{FF2B5EF4-FFF2-40B4-BE49-F238E27FC236}">
                  <a16:creationId xmlns:a16="http://schemas.microsoft.com/office/drawing/2014/main" id="{06142F58-5226-BA35-9969-57C16866CCC1}"/>
                </a:ext>
              </a:extLst>
            </p:cNvPr>
            <p:cNvSpPr/>
            <p:nvPr/>
          </p:nvSpPr>
          <p:spPr>
            <a:xfrm>
              <a:off x="2592475" y="1276141"/>
              <a:ext cx="1024932" cy="1024932"/>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88136D1-9413-F8D4-A74C-53EACFBC9CBA}"/>
                </a:ext>
              </a:extLst>
            </p:cNvPr>
            <p:cNvSpPr txBox="1"/>
            <p:nvPr/>
          </p:nvSpPr>
          <p:spPr>
            <a:xfrm>
              <a:off x="2780776" y="894308"/>
              <a:ext cx="1237269" cy="1862048"/>
            </a:xfrm>
            <a:prstGeom prst="rect">
              <a:avLst/>
            </a:prstGeom>
            <a:noFill/>
          </p:spPr>
          <p:txBody>
            <a:bodyPr wrap="square" rtlCol="0">
              <a:spAutoFit/>
            </a:bodyPr>
            <a:lstStyle/>
            <a:p>
              <a:pPr algn="r"/>
              <a:r>
                <a:rPr lang="es-E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rPr>
                <a:t>2</a:t>
              </a:r>
              <a:endParaRPr lang="en-US" sz="11500" b="1" dirty="0">
                <a:solidFill>
                  <a:schemeClr val="bg1"/>
                </a:solidFill>
                <a:latin typeface="Arial Black" panose="020B0A04020102020204" pitchFamily="34" charset="0"/>
                <a:ea typeface="JetBrains Mono" panose="02000009000000000000" pitchFamily="49" charset="0"/>
                <a:cs typeface="JetBrains Mono" panose="02000009000000000000" pitchFamily="49" charset="0"/>
              </a:endParaRPr>
            </a:p>
          </p:txBody>
        </p:sp>
        <p:sp>
          <p:nvSpPr>
            <p:cNvPr id="51" name="Rectangle 50">
              <a:extLst>
                <a:ext uri="{FF2B5EF4-FFF2-40B4-BE49-F238E27FC236}">
                  <a16:creationId xmlns:a16="http://schemas.microsoft.com/office/drawing/2014/main" id="{A7D6B8A0-3C80-5604-A8A1-15D59C71EB77}"/>
                </a:ext>
              </a:extLst>
            </p:cNvPr>
            <p:cNvSpPr/>
            <p:nvPr/>
          </p:nvSpPr>
          <p:spPr>
            <a:xfrm>
              <a:off x="3617407" y="1276141"/>
              <a:ext cx="2478593" cy="1024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800" dirty="0">
                  <a:solidFill>
                    <a:schemeClr val="bg1">
                      <a:lumMod val="50000"/>
                    </a:schemeClr>
                  </a:solidFill>
                </a:rPr>
                <a:t>Práctica</a:t>
              </a:r>
              <a:endParaRPr lang="en-US" sz="1800" dirty="0">
                <a:solidFill>
                  <a:schemeClr val="bg1">
                    <a:lumMod val="50000"/>
                  </a:schemeClr>
                </a:solidFill>
              </a:endParaRPr>
            </a:p>
          </p:txBody>
        </p:sp>
      </p:grpSp>
    </p:spTree>
    <p:extLst>
      <p:ext uri="{BB962C8B-B14F-4D97-AF65-F5344CB8AC3E}">
        <p14:creationId xmlns:p14="http://schemas.microsoft.com/office/powerpoint/2010/main" val="199044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6760-A7DB-C83F-C768-E1329FC2305B}"/>
              </a:ext>
            </a:extLst>
          </p:cNvPr>
          <p:cNvSpPr>
            <a:spLocks noGrp="1"/>
          </p:cNvSpPr>
          <p:nvPr>
            <p:ph type="title"/>
          </p:nvPr>
        </p:nvSpPr>
        <p:spPr/>
        <p:txBody>
          <a:bodyPr/>
          <a:lstStyle/>
          <a:p>
            <a:r>
              <a:rPr lang="es-ES" dirty="0"/>
              <a:t>Ejercicio 1 </a:t>
            </a:r>
            <a:r>
              <a:rPr lang="es-ES" sz="3200" dirty="0"/>
              <a:t>(Guiado por el docente)</a:t>
            </a:r>
            <a:endParaRPr lang="en-US" sz="3200" dirty="0"/>
          </a:p>
        </p:txBody>
      </p:sp>
      <p:sp>
        <p:nvSpPr>
          <p:cNvPr id="3" name="Slide Number Placeholder 2">
            <a:extLst>
              <a:ext uri="{FF2B5EF4-FFF2-40B4-BE49-F238E27FC236}">
                <a16:creationId xmlns:a16="http://schemas.microsoft.com/office/drawing/2014/main" id="{9DE662C6-2911-4CF7-8D3C-003C85D6C4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15</a:t>
            </a:fld>
            <a:endParaRPr lang="es-PE"/>
          </a:p>
        </p:txBody>
      </p:sp>
      <p:sp>
        <p:nvSpPr>
          <p:cNvPr id="4" name="Content Placeholder 3">
            <a:extLst>
              <a:ext uri="{FF2B5EF4-FFF2-40B4-BE49-F238E27FC236}">
                <a16:creationId xmlns:a16="http://schemas.microsoft.com/office/drawing/2014/main" id="{34C9F823-95C5-E306-1199-9B9F57FE14CB}"/>
              </a:ext>
            </a:extLst>
          </p:cNvPr>
          <p:cNvSpPr>
            <a:spLocks noGrp="1"/>
          </p:cNvSpPr>
          <p:nvPr>
            <p:ph sz="quarter" idx="13"/>
          </p:nvPr>
        </p:nvSpPr>
        <p:spPr/>
        <p:txBody>
          <a:bodyPr/>
          <a:lstStyle/>
          <a:p>
            <a:pPr marL="50800" indent="0">
              <a:buNone/>
            </a:pPr>
            <a:r>
              <a:rPr lang="es-ES" dirty="0">
                <a:solidFill>
                  <a:schemeClr val="bg1">
                    <a:lumMod val="50000"/>
                  </a:schemeClr>
                </a:solidFill>
              </a:rPr>
              <a:t>Escribir un programa que implemente alguno de los algoritmos de ordenamiento existentes de arreglos unidimensionales.</a:t>
            </a:r>
            <a:endParaRPr lang="en-US" dirty="0">
              <a:solidFill>
                <a:schemeClr val="bg1">
                  <a:lumMod val="50000"/>
                </a:schemeClr>
              </a:solidFill>
            </a:endParaRPr>
          </a:p>
        </p:txBody>
      </p:sp>
      <p:sp>
        <p:nvSpPr>
          <p:cNvPr id="28" name="Rectangle 27">
            <a:extLst>
              <a:ext uri="{FF2B5EF4-FFF2-40B4-BE49-F238E27FC236}">
                <a16:creationId xmlns:a16="http://schemas.microsoft.com/office/drawing/2014/main" id="{43870ED4-1262-20C3-6897-749A7A6CA312}"/>
              </a:ext>
            </a:extLst>
          </p:cNvPr>
          <p:cNvSpPr/>
          <p:nvPr/>
        </p:nvSpPr>
        <p:spPr>
          <a:xfrm>
            <a:off x="0" y="0"/>
            <a:ext cx="619432" cy="6858000"/>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dirty="0">
                <a:solidFill>
                  <a:schemeClr val="accent6">
                    <a:lumMod val="60000"/>
                    <a:lumOff val="40000"/>
                  </a:schemeClr>
                </a:solidFill>
              </a:rPr>
              <a:t>2. Práctica</a:t>
            </a:r>
            <a:endParaRPr lang="en-US" sz="2400" dirty="0">
              <a:solidFill>
                <a:schemeClr val="accent6">
                  <a:lumMod val="60000"/>
                  <a:lumOff val="40000"/>
                </a:schemeClr>
              </a:solidFill>
            </a:endParaRPr>
          </a:p>
        </p:txBody>
      </p:sp>
      <p:grpSp>
        <p:nvGrpSpPr>
          <p:cNvPr id="5" name="Group 4">
            <a:extLst>
              <a:ext uri="{FF2B5EF4-FFF2-40B4-BE49-F238E27FC236}">
                <a16:creationId xmlns:a16="http://schemas.microsoft.com/office/drawing/2014/main" id="{17624452-CD6A-CF1E-260C-87DF8050CCAA}"/>
              </a:ext>
            </a:extLst>
          </p:cNvPr>
          <p:cNvGrpSpPr/>
          <p:nvPr/>
        </p:nvGrpSpPr>
        <p:grpSpPr>
          <a:xfrm>
            <a:off x="2893704" y="3553617"/>
            <a:ext cx="6223285" cy="806234"/>
            <a:chOff x="4126563" y="2572184"/>
            <a:chExt cx="6223285" cy="806234"/>
          </a:xfrm>
        </p:grpSpPr>
        <p:grpSp>
          <p:nvGrpSpPr>
            <p:cNvPr id="6" name="Group 5">
              <a:extLst>
                <a:ext uri="{FF2B5EF4-FFF2-40B4-BE49-F238E27FC236}">
                  <a16:creationId xmlns:a16="http://schemas.microsoft.com/office/drawing/2014/main" id="{7CE689F7-9BE7-5D71-AD70-C0020EF6A110}"/>
                </a:ext>
              </a:extLst>
            </p:cNvPr>
            <p:cNvGrpSpPr/>
            <p:nvPr/>
          </p:nvGrpSpPr>
          <p:grpSpPr>
            <a:xfrm>
              <a:off x="5190712" y="2572184"/>
              <a:ext cx="5159136" cy="486000"/>
              <a:chOff x="3924717" y="3185649"/>
              <a:chExt cx="5159136" cy="683394"/>
            </a:xfrm>
            <a:effectLst>
              <a:outerShdw blurRad="50800" dist="38100" dir="2700000" algn="tl" rotWithShape="0">
                <a:prstClr val="black">
                  <a:alpha val="40000"/>
                </a:prstClr>
              </a:outerShdw>
            </a:effectLst>
          </p:grpSpPr>
          <p:sp>
            <p:nvSpPr>
              <p:cNvPr id="16" name="Rectangle 15">
                <a:extLst>
                  <a:ext uri="{FF2B5EF4-FFF2-40B4-BE49-F238E27FC236}">
                    <a16:creationId xmlns:a16="http://schemas.microsoft.com/office/drawing/2014/main" id="{8F82847A-657D-302F-A596-7B454351B87A}"/>
                  </a:ext>
                </a:extLst>
              </p:cNvPr>
              <p:cNvSpPr/>
              <p:nvPr/>
            </p:nvSpPr>
            <p:spPr>
              <a:xfrm>
                <a:off x="3924717"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16</a:t>
                </a:r>
                <a:endParaRPr lang="en-US" sz="1800" dirty="0"/>
              </a:p>
            </p:txBody>
          </p:sp>
          <p:sp>
            <p:nvSpPr>
              <p:cNvPr id="17" name="Rectangle 16">
                <a:extLst>
                  <a:ext uri="{FF2B5EF4-FFF2-40B4-BE49-F238E27FC236}">
                    <a16:creationId xmlns:a16="http://schemas.microsoft.com/office/drawing/2014/main" id="{74BFF071-BE52-2B9A-92B3-E2B8DA4350C4}"/>
                  </a:ext>
                </a:extLst>
              </p:cNvPr>
              <p:cNvSpPr/>
              <p:nvPr/>
            </p:nvSpPr>
            <p:spPr>
              <a:xfrm>
                <a:off x="4569609"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25</a:t>
                </a:r>
                <a:endParaRPr lang="en-US" sz="1800" dirty="0"/>
              </a:p>
            </p:txBody>
          </p:sp>
          <p:sp>
            <p:nvSpPr>
              <p:cNvPr id="18" name="Rectangle 17">
                <a:extLst>
                  <a:ext uri="{FF2B5EF4-FFF2-40B4-BE49-F238E27FC236}">
                    <a16:creationId xmlns:a16="http://schemas.microsoft.com/office/drawing/2014/main" id="{1BB8D02D-3781-2FAD-88A8-D757BF64501A}"/>
                  </a:ext>
                </a:extLst>
              </p:cNvPr>
              <p:cNvSpPr/>
              <p:nvPr/>
            </p:nvSpPr>
            <p:spPr>
              <a:xfrm>
                <a:off x="5214501"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34</a:t>
                </a:r>
                <a:endParaRPr lang="en-US" sz="1800" dirty="0"/>
              </a:p>
            </p:txBody>
          </p:sp>
          <p:sp>
            <p:nvSpPr>
              <p:cNvPr id="19" name="Rectangle 18">
                <a:extLst>
                  <a:ext uri="{FF2B5EF4-FFF2-40B4-BE49-F238E27FC236}">
                    <a16:creationId xmlns:a16="http://schemas.microsoft.com/office/drawing/2014/main" id="{3AFE4DBE-F419-7D9F-46CF-67B1E0536E51}"/>
                  </a:ext>
                </a:extLst>
              </p:cNvPr>
              <p:cNvSpPr/>
              <p:nvPr/>
            </p:nvSpPr>
            <p:spPr>
              <a:xfrm>
                <a:off x="5859393"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11</a:t>
                </a:r>
                <a:endParaRPr lang="en-US" sz="1800" dirty="0"/>
              </a:p>
            </p:txBody>
          </p:sp>
          <p:sp>
            <p:nvSpPr>
              <p:cNvPr id="20" name="Rectangle 19">
                <a:extLst>
                  <a:ext uri="{FF2B5EF4-FFF2-40B4-BE49-F238E27FC236}">
                    <a16:creationId xmlns:a16="http://schemas.microsoft.com/office/drawing/2014/main" id="{F49DD23E-C74E-E573-DBEF-6A83D59FE46B}"/>
                  </a:ext>
                </a:extLst>
              </p:cNvPr>
              <p:cNvSpPr/>
              <p:nvPr/>
            </p:nvSpPr>
            <p:spPr>
              <a:xfrm>
                <a:off x="6504285"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78</a:t>
                </a:r>
                <a:endParaRPr lang="en-US" sz="1800" dirty="0"/>
              </a:p>
            </p:txBody>
          </p:sp>
          <p:sp>
            <p:nvSpPr>
              <p:cNvPr id="21" name="Rectangle 20">
                <a:extLst>
                  <a:ext uri="{FF2B5EF4-FFF2-40B4-BE49-F238E27FC236}">
                    <a16:creationId xmlns:a16="http://schemas.microsoft.com/office/drawing/2014/main" id="{4A76CA70-0985-B092-339C-343C8051AFB5}"/>
                  </a:ext>
                </a:extLst>
              </p:cNvPr>
              <p:cNvSpPr/>
              <p:nvPr/>
            </p:nvSpPr>
            <p:spPr>
              <a:xfrm>
                <a:off x="7149177"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6</a:t>
                </a:r>
                <a:endParaRPr lang="en-US" sz="1800" dirty="0"/>
              </a:p>
            </p:txBody>
          </p:sp>
          <p:sp>
            <p:nvSpPr>
              <p:cNvPr id="22" name="Rectangle 21">
                <a:extLst>
                  <a:ext uri="{FF2B5EF4-FFF2-40B4-BE49-F238E27FC236}">
                    <a16:creationId xmlns:a16="http://schemas.microsoft.com/office/drawing/2014/main" id="{55E3915D-2173-A64C-3D39-D0A838C038DC}"/>
                  </a:ext>
                </a:extLst>
              </p:cNvPr>
              <p:cNvSpPr/>
              <p:nvPr/>
            </p:nvSpPr>
            <p:spPr>
              <a:xfrm>
                <a:off x="7794069"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31</a:t>
                </a:r>
                <a:endParaRPr lang="en-US" sz="1800" dirty="0"/>
              </a:p>
            </p:txBody>
          </p:sp>
          <p:sp>
            <p:nvSpPr>
              <p:cNvPr id="23" name="Rectangle 22">
                <a:extLst>
                  <a:ext uri="{FF2B5EF4-FFF2-40B4-BE49-F238E27FC236}">
                    <a16:creationId xmlns:a16="http://schemas.microsoft.com/office/drawing/2014/main" id="{33F907CC-F1BD-F5DC-6328-CA8852633356}"/>
                  </a:ext>
                </a:extLst>
              </p:cNvPr>
              <p:cNvSpPr/>
              <p:nvPr/>
            </p:nvSpPr>
            <p:spPr>
              <a:xfrm>
                <a:off x="8438961" y="3185649"/>
                <a:ext cx="644892" cy="683394"/>
              </a:xfrm>
              <a:prstGeom prst="rect">
                <a:avLst/>
              </a:prstGeom>
              <a:solidFill>
                <a:srgbClr val="00CC99"/>
              </a:solidFill>
              <a:ln>
                <a:solidFill>
                  <a:srgbClr val="00A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55</a:t>
                </a:r>
                <a:endParaRPr lang="en-US" sz="1800" dirty="0"/>
              </a:p>
            </p:txBody>
          </p:sp>
        </p:grpSp>
        <p:sp>
          <p:nvSpPr>
            <p:cNvPr id="7" name="TextBox 6">
              <a:extLst>
                <a:ext uri="{FF2B5EF4-FFF2-40B4-BE49-F238E27FC236}">
                  <a16:creationId xmlns:a16="http://schemas.microsoft.com/office/drawing/2014/main" id="{C8A35A48-F3CE-3694-F431-52E310F580FB}"/>
                </a:ext>
              </a:extLst>
            </p:cNvPr>
            <p:cNvSpPr txBox="1"/>
            <p:nvPr/>
          </p:nvSpPr>
          <p:spPr>
            <a:xfrm>
              <a:off x="5335090" y="3101419"/>
              <a:ext cx="308009" cy="276999"/>
            </a:xfrm>
            <a:prstGeom prst="rect">
              <a:avLst/>
            </a:prstGeom>
            <a:noFill/>
          </p:spPr>
          <p:txBody>
            <a:bodyPr wrap="square" rtlCol="0">
              <a:spAutoFit/>
            </a:bodyPr>
            <a:lstStyle/>
            <a:p>
              <a:pPr algn="ctr"/>
              <a:r>
                <a:rPr lang="es-ES" sz="1200" dirty="0"/>
                <a:t>0</a:t>
              </a:r>
              <a:endParaRPr lang="en-US" sz="1200" dirty="0"/>
            </a:p>
          </p:txBody>
        </p:sp>
        <p:sp>
          <p:nvSpPr>
            <p:cNvPr id="8" name="TextBox 7">
              <a:extLst>
                <a:ext uri="{FF2B5EF4-FFF2-40B4-BE49-F238E27FC236}">
                  <a16:creationId xmlns:a16="http://schemas.microsoft.com/office/drawing/2014/main" id="{13E7B3C4-2759-E5AF-40DC-2CAA4B318754}"/>
                </a:ext>
              </a:extLst>
            </p:cNvPr>
            <p:cNvSpPr txBox="1"/>
            <p:nvPr/>
          </p:nvSpPr>
          <p:spPr>
            <a:xfrm>
              <a:off x="6004045" y="3101419"/>
              <a:ext cx="274321" cy="276999"/>
            </a:xfrm>
            <a:prstGeom prst="rect">
              <a:avLst/>
            </a:prstGeom>
            <a:noFill/>
          </p:spPr>
          <p:txBody>
            <a:bodyPr wrap="square" rtlCol="0">
              <a:spAutoFit/>
            </a:bodyPr>
            <a:lstStyle/>
            <a:p>
              <a:pPr algn="ctr"/>
              <a:r>
                <a:rPr lang="es-ES" sz="1200" dirty="0"/>
                <a:t>1</a:t>
              </a:r>
              <a:endParaRPr lang="en-US" sz="1200" dirty="0"/>
            </a:p>
          </p:txBody>
        </p:sp>
        <p:sp>
          <p:nvSpPr>
            <p:cNvPr id="9" name="TextBox 8">
              <a:extLst>
                <a:ext uri="{FF2B5EF4-FFF2-40B4-BE49-F238E27FC236}">
                  <a16:creationId xmlns:a16="http://schemas.microsoft.com/office/drawing/2014/main" id="{004179C8-E0C6-4EC1-06FB-2068DF5E5EB1}"/>
                </a:ext>
              </a:extLst>
            </p:cNvPr>
            <p:cNvSpPr txBox="1"/>
            <p:nvPr/>
          </p:nvSpPr>
          <p:spPr>
            <a:xfrm>
              <a:off x="6665781" y="3101418"/>
              <a:ext cx="274321" cy="276999"/>
            </a:xfrm>
            <a:prstGeom prst="rect">
              <a:avLst/>
            </a:prstGeom>
            <a:noFill/>
          </p:spPr>
          <p:txBody>
            <a:bodyPr wrap="square" rtlCol="0">
              <a:spAutoFit/>
            </a:bodyPr>
            <a:lstStyle/>
            <a:p>
              <a:pPr algn="ctr"/>
              <a:r>
                <a:rPr lang="es-ES" sz="1200" dirty="0"/>
                <a:t>2</a:t>
              </a:r>
              <a:endParaRPr lang="en-US" sz="1200" dirty="0"/>
            </a:p>
          </p:txBody>
        </p:sp>
        <p:sp>
          <p:nvSpPr>
            <p:cNvPr id="10" name="TextBox 9">
              <a:extLst>
                <a:ext uri="{FF2B5EF4-FFF2-40B4-BE49-F238E27FC236}">
                  <a16:creationId xmlns:a16="http://schemas.microsoft.com/office/drawing/2014/main" id="{D64797DB-F583-3D84-F125-DF23A110C842}"/>
                </a:ext>
              </a:extLst>
            </p:cNvPr>
            <p:cNvSpPr txBox="1"/>
            <p:nvPr/>
          </p:nvSpPr>
          <p:spPr>
            <a:xfrm>
              <a:off x="7327517" y="3101418"/>
              <a:ext cx="308009" cy="276999"/>
            </a:xfrm>
            <a:prstGeom prst="rect">
              <a:avLst/>
            </a:prstGeom>
            <a:noFill/>
          </p:spPr>
          <p:txBody>
            <a:bodyPr wrap="square" rtlCol="0">
              <a:spAutoFit/>
            </a:bodyPr>
            <a:lstStyle/>
            <a:p>
              <a:pPr algn="ctr"/>
              <a:r>
                <a:rPr lang="es-ES" sz="1200" dirty="0"/>
                <a:t>3</a:t>
              </a:r>
              <a:endParaRPr lang="en-US" sz="1200" dirty="0"/>
            </a:p>
          </p:txBody>
        </p:sp>
        <p:sp>
          <p:nvSpPr>
            <p:cNvPr id="11" name="TextBox 10">
              <a:extLst>
                <a:ext uri="{FF2B5EF4-FFF2-40B4-BE49-F238E27FC236}">
                  <a16:creationId xmlns:a16="http://schemas.microsoft.com/office/drawing/2014/main" id="{4471A696-8D56-58EC-6ABE-2093E8A34B08}"/>
                </a:ext>
              </a:extLst>
            </p:cNvPr>
            <p:cNvSpPr txBox="1"/>
            <p:nvPr/>
          </p:nvSpPr>
          <p:spPr>
            <a:xfrm>
              <a:off x="7996472" y="3101418"/>
              <a:ext cx="274321" cy="276999"/>
            </a:xfrm>
            <a:prstGeom prst="rect">
              <a:avLst/>
            </a:prstGeom>
            <a:noFill/>
          </p:spPr>
          <p:txBody>
            <a:bodyPr wrap="square" rtlCol="0">
              <a:spAutoFit/>
            </a:bodyPr>
            <a:lstStyle/>
            <a:p>
              <a:pPr algn="ctr"/>
              <a:r>
                <a:rPr lang="es-ES" sz="1200" dirty="0"/>
                <a:t>4</a:t>
              </a:r>
              <a:endParaRPr lang="en-US" sz="1200" dirty="0"/>
            </a:p>
          </p:txBody>
        </p:sp>
        <p:sp>
          <p:nvSpPr>
            <p:cNvPr id="12" name="TextBox 11">
              <a:extLst>
                <a:ext uri="{FF2B5EF4-FFF2-40B4-BE49-F238E27FC236}">
                  <a16:creationId xmlns:a16="http://schemas.microsoft.com/office/drawing/2014/main" id="{38F2C719-40EC-1CD4-DAD8-DF29F2FC037C}"/>
                </a:ext>
              </a:extLst>
            </p:cNvPr>
            <p:cNvSpPr txBox="1"/>
            <p:nvPr/>
          </p:nvSpPr>
          <p:spPr>
            <a:xfrm>
              <a:off x="8658208" y="3101417"/>
              <a:ext cx="274321" cy="276999"/>
            </a:xfrm>
            <a:prstGeom prst="rect">
              <a:avLst/>
            </a:prstGeom>
            <a:noFill/>
          </p:spPr>
          <p:txBody>
            <a:bodyPr wrap="square" rtlCol="0">
              <a:spAutoFit/>
            </a:bodyPr>
            <a:lstStyle/>
            <a:p>
              <a:pPr algn="ctr"/>
              <a:r>
                <a:rPr lang="es-ES" sz="1200" dirty="0"/>
                <a:t>5</a:t>
              </a:r>
              <a:endParaRPr lang="en-US" sz="1200" dirty="0"/>
            </a:p>
          </p:txBody>
        </p:sp>
        <p:sp>
          <p:nvSpPr>
            <p:cNvPr id="13" name="TextBox 12">
              <a:extLst>
                <a:ext uri="{FF2B5EF4-FFF2-40B4-BE49-F238E27FC236}">
                  <a16:creationId xmlns:a16="http://schemas.microsoft.com/office/drawing/2014/main" id="{5344F1D4-3990-AE75-C000-7BAFE7E80BFC}"/>
                </a:ext>
              </a:extLst>
            </p:cNvPr>
            <p:cNvSpPr txBox="1"/>
            <p:nvPr/>
          </p:nvSpPr>
          <p:spPr>
            <a:xfrm>
              <a:off x="9242148" y="3101417"/>
              <a:ext cx="308009" cy="276999"/>
            </a:xfrm>
            <a:prstGeom prst="rect">
              <a:avLst/>
            </a:prstGeom>
            <a:noFill/>
          </p:spPr>
          <p:txBody>
            <a:bodyPr wrap="square" rtlCol="0">
              <a:spAutoFit/>
            </a:bodyPr>
            <a:lstStyle/>
            <a:p>
              <a:pPr algn="ctr"/>
              <a:r>
                <a:rPr lang="es-ES" sz="1200" dirty="0"/>
                <a:t>6</a:t>
              </a:r>
              <a:endParaRPr lang="en-US" sz="1200" dirty="0"/>
            </a:p>
          </p:txBody>
        </p:sp>
        <p:sp>
          <p:nvSpPr>
            <p:cNvPr id="14" name="TextBox 13">
              <a:extLst>
                <a:ext uri="{FF2B5EF4-FFF2-40B4-BE49-F238E27FC236}">
                  <a16:creationId xmlns:a16="http://schemas.microsoft.com/office/drawing/2014/main" id="{2828338C-79B2-3867-0146-DCB875F4BBC9}"/>
                </a:ext>
              </a:extLst>
            </p:cNvPr>
            <p:cNvSpPr txBox="1"/>
            <p:nvPr/>
          </p:nvSpPr>
          <p:spPr>
            <a:xfrm>
              <a:off x="9911103" y="3101417"/>
              <a:ext cx="274321" cy="276999"/>
            </a:xfrm>
            <a:prstGeom prst="rect">
              <a:avLst/>
            </a:prstGeom>
            <a:noFill/>
          </p:spPr>
          <p:txBody>
            <a:bodyPr wrap="square" rtlCol="0">
              <a:spAutoFit/>
            </a:bodyPr>
            <a:lstStyle/>
            <a:p>
              <a:pPr algn="ctr"/>
              <a:r>
                <a:rPr lang="es-ES" sz="1200" dirty="0"/>
                <a:t>7</a:t>
              </a:r>
              <a:endParaRPr lang="en-US" sz="1200" dirty="0"/>
            </a:p>
          </p:txBody>
        </p:sp>
        <p:sp>
          <p:nvSpPr>
            <p:cNvPr id="15" name="TextBox 14">
              <a:extLst>
                <a:ext uri="{FF2B5EF4-FFF2-40B4-BE49-F238E27FC236}">
                  <a16:creationId xmlns:a16="http://schemas.microsoft.com/office/drawing/2014/main" id="{CCA40AB8-B747-4AAF-23B2-6D2DF2C08A37}"/>
                </a:ext>
              </a:extLst>
            </p:cNvPr>
            <p:cNvSpPr txBox="1"/>
            <p:nvPr/>
          </p:nvSpPr>
          <p:spPr>
            <a:xfrm>
              <a:off x="4126563" y="2665669"/>
              <a:ext cx="924397" cy="369332"/>
            </a:xfrm>
            <a:prstGeom prst="rect">
              <a:avLst/>
            </a:prstGeom>
            <a:noFill/>
          </p:spPr>
          <p:txBody>
            <a:bodyPr wrap="square" rtlCol="0">
              <a:spAutoFit/>
            </a:bodyPr>
            <a:lstStyle/>
            <a:p>
              <a:r>
                <a:rPr lang="es-ES" sz="1800" dirty="0">
                  <a:solidFill>
                    <a:schemeClr val="bg1">
                      <a:lumMod val="50000"/>
                    </a:schemeClr>
                  </a:solidFill>
                </a:rPr>
                <a:t>datos</a:t>
              </a:r>
              <a:endParaRPr lang="en-US" sz="1800" dirty="0">
                <a:solidFill>
                  <a:schemeClr val="bg1">
                    <a:lumMod val="50000"/>
                  </a:schemeClr>
                </a:solidFill>
              </a:endParaRPr>
            </a:p>
          </p:txBody>
        </p:sp>
      </p:grpSp>
      <p:grpSp>
        <p:nvGrpSpPr>
          <p:cNvPr id="24" name="Group 23">
            <a:extLst>
              <a:ext uri="{FF2B5EF4-FFF2-40B4-BE49-F238E27FC236}">
                <a16:creationId xmlns:a16="http://schemas.microsoft.com/office/drawing/2014/main" id="{5FAAE73A-9E5C-DF7D-3E26-774F7E85B3D2}"/>
              </a:ext>
            </a:extLst>
          </p:cNvPr>
          <p:cNvGrpSpPr/>
          <p:nvPr/>
        </p:nvGrpSpPr>
        <p:grpSpPr>
          <a:xfrm>
            <a:off x="2893704" y="5184454"/>
            <a:ext cx="6223285" cy="806234"/>
            <a:chOff x="4126563" y="2572184"/>
            <a:chExt cx="6223285" cy="806234"/>
          </a:xfrm>
        </p:grpSpPr>
        <p:grpSp>
          <p:nvGrpSpPr>
            <p:cNvPr id="25" name="Group 24">
              <a:extLst>
                <a:ext uri="{FF2B5EF4-FFF2-40B4-BE49-F238E27FC236}">
                  <a16:creationId xmlns:a16="http://schemas.microsoft.com/office/drawing/2014/main" id="{FE408E28-2F2F-F1AB-74C6-CE50641C3F25}"/>
                </a:ext>
              </a:extLst>
            </p:cNvPr>
            <p:cNvGrpSpPr/>
            <p:nvPr/>
          </p:nvGrpSpPr>
          <p:grpSpPr>
            <a:xfrm>
              <a:off x="5190712" y="2572184"/>
              <a:ext cx="5159136" cy="486000"/>
              <a:chOff x="3924717" y="3185649"/>
              <a:chExt cx="5159136" cy="683394"/>
            </a:xfrm>
            <a:effectLst>
              <a:outerShdw blurRad="50800" dist="38100" dir="2700000" algn="tl" rotWithShape="0">
                <a:prstClr val="black">
                  <a:alpha val="40000"/>
                </a:prstClr>
              </a:outerShdw>
            </a:effectLst>
          </p:grpSpPr>
          <p:sp>
            <p:nvSpPr>
              <p:cNvPr id="36" name="Rectangle 35">
                <a:extLst>
                  <a:ext uri="{FF2B5EF4-FFF2-40B4-BE49-F238E27FC236}">
                    <a16:creationId xmlns:a16="http://schemas.microsoft.com/office/drawing/2014/main" id="{4441E108-7DBE-4576-3483-88EE6921A321}"/>
                  </a:ext>
                </a:extLst>
              </p:cNvPr>
              <p:cNvSpPr/>
              <p:nvPr/>
            </p:nvSpPr>
            <p:spPr>
              <a:xfrm>
                <a:off x="3924717"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6</a:t>
                </a:r>
                <a:endParaRPr lang="en-US" sz="1800" dirty="0"/>
              </a:p>
            </p:txBody>
          </p:sp>
          <p:sp>
            <p:nvSpPr>
              <p:cNvPr id="37" name="Rectangle 36">
                <a:extLst>
                  <a:ext uri="{FF2B5EF4-FFF2-40B4-BE49-F238E27FC236}">
                    <a16:creationId xmlns:a16="http://schemas.microsoft.com/office/drawing/2014/main" id="{1835D080-2262-3961-8F6E-909B1A5895AF}"/>
                  </a:ext>
                </a:extLst>
              </p:cNvPr>
              <p:cNvSpPr/>
              <p:nvPr/>
            </p:nvSpPr>
            <p:spPr>
              <a:xfrm>
                <a:off x="4569609"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11</a:t>
                </a:r>
                <a:endParaRPr lang="en-US" sz="1800" dirty="0"/>
              </a:p>
            </p:txBody>
          </p:sp>
          <p:sp>
            <p:nvSpPr>
              <p:cNvPr id="38" name="Rectangle 37">
                <a:extLst>
                  <a:ext uri="{FF2B5EF4-FFF2-40B4-BE49-F238E27FC236}">
                    <a16:creationId xmlns:a16="http://schemas.microsoft.com/office/drawing/2014/main" id="{F0AFD5ED-66C5-4343-4E34-047D13C2672A}"/>
                  </a:ext>
                </a:extLst>
              </p:cNvPr>
              <p:cNvSpPr/>
              <p:nvPr/>
            </p:nvSpPr>
            <p:spPr>
              <a:xfrm>
                <a:off x="5214501"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16</a:t>
                </a:r>
                <a:endParaRPr lang="en-US" sz="1800" dirty="0"/>
              </a:p>
            </p:txBody>
          </p:sp>
          <p:sp>
            <p:nvSpPr>
              <p:cNvPr id="39" name="Rectangle 38">
                <a:extLst>
                  <a:ext uri="{FF2B5EF4-FFF2-40B4-BE49-F238E27FC236}">
                    <a16:creationId xmlns:a16="http://schemas.microsoft.com/office/drawing/2014/main" id="{C6D31AA2-A1AA-AA0D-DD1C-18A03E6DB882}"/>
                  </a:ext>
                </a:extLst>
              </p:cNvPr>
              <p:cNvSpPr/>
              <p:nvPr/>
            </p:nvSpPr>
            <p:spPr>
              <a:xfrm>
                <a:off x="5859393"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25</a:t>
                </a:r>
                <a:endParaRPr lang="en-US" sz="1800" dirty="0"/>
              </a:p>
            </p:txBody>
          </p:sp>
          <p:sp>
            <p:nvSpPr>
              <p:cNvPr id="40" name="Rectangle 39">
                <a:extLst>
                  <a:ext uri="{FF2B5EF4-FFF2-40B4-BE49-F238E27FC236}">
                    <a16:creationId xmlns:a16="http://schemas.microsoft.com/office/drawing/2014/main" id="{8A2FC336-507C-644C-8093-95B38FDAE604}"/>
                  </a:ext>
                </a:extLst>
              </p:cNvPr>
              <p:cNvSpPr/>
              <p:nvPr/>
            </p:nvSpPr>
            <p:spPr>
              <a:xfrm>
                <a:off x="6504285"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31</a:t>
                </a:r>
                <a:endParaRPr lang="en-US" sz="1800" dirty="0"/>
              </a:p>
            </p:txBody>
          </p:sp>
          <p:sp>
            <p:nvSpPr>
              <p:cNvPr id="41" name="Rectangle 40">
                <a:extLst>
                  <a:ext uri="{FF2B5EF4-FFF2-40B4-BE49-F238E27FC236}">
                    <a16:creationId xmlns:a16="http://schemas.microsoft.com/office/drawing/2014/main" id="{F4A70B1D-3DF8-E4FF-A8EF-B3A1C080F188}"/>
                  </a:ext>
                </a:extLst>
              </p:cNvPr>
              <p:cNvSpPr/>
              <p:nvPr/>
            </p:nvSpPr>
            <p:spPr>
              <a:xfrm>
                <a:off x="7149177"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34</a:t>
                </a:r>
                <a:endParaRPr lang="en-US" sz="1800" dirty="0"/>
              </a:p>
            </p:txBody>
          </p:sp>
          <p:sp>
            <p:nvSpPr>
              <p:cNvPr id="42" name="Rectangle 41">
                <a:extLst>
                  <a:ext uri="{FF2B5EF4-FFF2-40B4-BE49-F238E27FC236}">
                    <a16:creationId xmlns:a16="http://schemas.microsoft.com/office/drawing/2014/main" id="{DB56ED47-0890-CE75-9EA7-7AC4BD560BDB}"/>
                  </a:ext>
                </a:extLst>
              </p:cNvPr>
              <p:cNvSpPr/>
              <p:nvPr/>
            </p:nvSpPr>
            <p:spPr>
              <a:xfrm>
                <a:off x="7794069"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55</a:t>
                </a:r>
                <a:endParaRPr lang="en-US" sz="1800" dirty="0"/>
              </a:p>
            </p:txBody>
          </p:sp>
          <p:sp>
            <p:nvSpPr>
              <p:cNvPr id="43" name="Rectangle 42">
                <a:extLst>
                  <a:ext uri="{FF2B5EF4-FFF2-40B4-BE49-F238E27FC236}">
                    <a16:creationId xmlns:a16="http://schemas.microsoft.com/office/drawing/2014/main" id="{7E494382-8B87-4B0F-C77F-CB82BDAA2ECE}"/>
                  </a:ext>
                </a:extLst>
              </p:cNvPr>
              <p:cNvSpPr/>
              <p:nvPr/>
            </p:nvSpPr>
            <p:spPr>
              <a:xfrm>
                <a:off x="8438961" y="3185649"/>
                <a:ext cx="644892" cy="683394"/>
              </a:xfrm>
              <a:prstGeom prst="rect">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dirty="0"/>
                  <a:t>78</a:t>
                </a:r>
                <a:endParaRPr lang="en-US" sz="1800" dirty="0"/>
              </a:p>
            </p:txBody>
          </p:sp>
        </p:grpSp>
        <p:sp>
          <p:nvSpPr>
            <p:cNvPr id="26" name="TextBox 25">
              <a:extLst>
                <a:ext uri="{FF2B5EF4-FFF2-40B4-BE49-F238E27FC236}">
                  <a16:creationId xmlns:a16="http://schemas.microsoft.com/office/drawing/2014/main" id="{64F0DDFB-7338-ECC5-AE67-18E979FCD637}"/>
                </a:ext>
              </a:extLst>
            </p:cNvPr>
            <p:cNvSpPr txBox="1"/>
            <p:nvPr/>
          </p:nvSpPr>
          <p:spPr>
            <a:xfrm>
              <a:off x="5335090" y="3101419"/>
              <a:ext cx="308009" cy="276999"/>
            </a:xfrm>
            <a:prstGeom prst="rect">
              <a:avLst/>
            </a:prstGeom>
            <a:noFill/>
          </p:spPr>
          <p:txBody>
            <a:bodyPr wrap="square" rtlCol="0">
              <a:spAutoFit/>
            </a:bodyPr>
            <a:lstStyle/>
            <a:p>
              <a:pPr algn="ctr"/>
              <a:r>
                <a:rPr lang="es-ES" sz="1200" dirty="0"/>
                <a:t>0</a:t>
              </a:r>
              <a:endParaRPr lang="en-US" sz="1200" dirty="0"/>
            </a:p>
          </p:txBody>
        </p:sp>
        <p:sp>
          <p:nvSpPr>
            <p:cNvPr id="27" name="TextBox 26">
              <a:extLst>
                <a:ext uri="{FF2B5EF4-FFF2-40B4-BE49-F238E27FC236}">
                  <a16:creationId xmlns:a16="http://schemas.microsoft.com/office/drawing/2014/main" id="{9C070A6E-F33E-9AB6-E72A-97AB9233E1DB}"/>
                </a:ext>
              </a:extLst>
            </p:cNvPr>
            <p:cNvSpPr txBox="1"/>
            <p:nvPr/>
          </p:nvSpPr>
          <p:spPr>
            <a:xfrm>
              <a:off x="6004045" y="3101419"/>
              <a:ext cx="274321" cy="276999"/>
            </a:xfrm>
            <a:prstGeom prst="rect">
              <a:avLst/>
            </a:prstGeom>
            <a:noFill/>
          </p:spPr>
          <p:txBody>
            <a:bodyPr wrap="square" rtlCol="0">
              <a:spAutoFit/>
            </a:bodyPr>
            <a:lstStyle/>
            <a:p>
              <a:pPr algn="ctr"/>
              <a:r>
                <a:rPr lang="es-ES" sz="1200" dirty="0"/>
                <a:t>1</a:t>
              </a:r>
              <a:endParaRPr lang="en-US" sz="1200" dirty="0"/>
            </a:p>
          </p:txBody>
        </p:sp>
        <p:sp>
          <p:nvSpPr>
            <p:cNvPr id="29" name="TextBox 28">
              <a:extLst>
                <a:ext uri="{FF2B5EF4-FFF2-40B4-BE49-F238E27FC236}">
                  <a16:creationId xmlns:a16="http://schemas.microsoft.com/office/drawing/2014/main" id="{C39E05AA-115F-0D56-F542-84C618EC8CD4}"/>
                </a:ext>
              </a:extLst>
            </p:cNvPr>
            <p:cNvSpPr txBox="1"/>
            <p:nvPr/>
          </p:nvSpPr>
          <p:spPr>
            <a:xfrm>
              <a:off x="6665781" y="3101418"/>
              <a:ext cx="274321" cy="276999"/>
            </a:xfrm>
            <a:prstGeom prst="rect">
              <a:avLst/>
            </a:prstGeom>
            <a:noFill/>
          </p:spPr>
          <p:txBody>
            <a:bodyPr wrap="square" rtlCol="0">
              <a:spAutoFit/>
            </a:bodyPr>
            <a:lstStyle/>
            <a:p>
              <a:pPr algn="ctr"/>
              <a:r>
                <a:rPr lang="es-ES" sz="1200" dirty="0"/>
                <a:t>2</a:t>
              </a:r>
              <a:endParaRPr lang="en-US" sz="1200" dirty="0"/>
            </a:p>
          </p:txBody>
        </p:sp>
        <p:sp>
          <p:nvSpPr>
            <p:cNvPr id="30" name="TextBox 29">
              <a:extLst>
                <a:ext uri="{FF2B5EF4-FFF2-40B4-BE49-F238E27FC236}">
                  <a16:creationId xmlns:a16="http://schemas.microsoft.com/office/drawing/2014/main" id="{22D82D08-AE84-7334-E18B-531A37091984}"/>
                </a:ext>
              </a:extLst>
            </p:cNvPr>
            <p:cNvSpPr txBox="1"/>
            <p:nvPr/>
          </p:nvSpPr>
          <p:spPr>
            <a:xfrm>
              <a:off x="7327517" y="3101418"/>
              <a:ext cx="308009" cy="276999"/>
            </a:xfrm>
            <a:prstGeom prst="rect">
              <a:avLst/>
            </a:prstGeom>
            <a:noFill/>
          </p:spPr>
          <p:txBody>
            <a:bodyPr wrap="square" rtlCol="0">
              <a:spAutoFit/>
            </a:bodyPr>
            <a:lstStyle/>
            <a:p>
              <a:pPr algn="ctr"/>
              <a:r>
                <a:rPr lang="es-ES" sz="1200" dirty="0"/>
                <a:t>3</a:t>
              </a:r>
              <a:endParaRPr lang="en-US" sz="1200" dirty="0"/>
            </a:p>
          </p:txBody>
        </p:sp>
        <p:sp>
          <p:nvSpPr>
            <p:cNvPr id="31" name="TextBox 30">
              <a:extLst>
                <a:ext uri="{FF2B5EF4-FFF2-40B4-BE49-F238E27FC236}">
                  <a16:creationId xmlns:a16="http://schemas.microsoft.com/office/drawing/2014/main" id="{0CE78A18-434C-9303-FC79-56318A4F7784}"/>
                </a:ext>
              </a:extLst>
            </p:cNvPr>
            <p:cNvSpPr txBox="1"/>
            <p:nvPr/>
          </p:nvSpPr>
          <p:spPr>
            <a:xfrm>
              <a:off x="7996472" y="3101418"/>
              <a:ext cx="274321" cy="276999"/>
            </a:xfrm>
            <a:prstGeom prst="rect">
              <a:avLst/>
            </a:prstGeom>
            <a:noFill/>
          </p:spPr>
          <p:txBody>
            <a:bodyPr wrap="square" rtlCol="0">
              <a:spAutoFit/>
            </a:bodyPr>
            <a:lstStyle/>
            <a:p>
              <a:pPr algn="ctr"/>
              <a:r>
                <a:rPr lang="es-ES" sz="1200" dirty="0"/>
                <a:t>4</a:t>
              </a:r>
              <a:endParaRPr lang="en-US" sz="1200" dirty="0"/>
            </a:p>
          </p:txBody>
        </p:sp>
        <p:sp>
          <p:nvSpPr>
            <p:cNvPr id="32" name="TextBox 31">
              <a:extLst>
                <a:ext uri="{FF2B5EF4-FFF2-40B4-BE49-F238E27FC236}">
                  <a16:creationId xmlns:a16="http://schemas.microsoft.com/office/drawing/2014/main" id="{7303646B-F0C6-41D5-2A6C-5FC065CD048B}"/>
                </a:ext>
              </a:extLst>
            </p:cNvPr>
            <p:cNvSpPr txBox="1"/>
            <p:nvPr/>
          </p:nvSpPr>
          <p:spPr>
            <a:xfrm>
              <a:off x="8658208" y="3101417"/>
              <a:ext cx="274321" cy="276999"/>
            </a:xfrm>
            <a:prstGeom prst="rect">
              <a:avLst/>
            </a:prstGeom>
            <a:noFill/>
          </p:spPr>
          <p:txBody>
            <a:bodyPr wrap="square" rtlCol="0">
              <a:spAutoFit/>
            </a:bodyPr>
            <a:lstStyle/>
            <a:p>
              <a:pPr algn="ctr"/>
              <a:r>
                <a:rPr lang="es-ES" sz="1200" dirty="0"/>
                <a:t>5</a:t>
              </a:r>
              <a:endParaRPr lang="en-US" sz="1200" dirty="0"/>
            </a:p>
          </p:txBody>
        </p:sp>
        <p:sp>
          <p:nvSpPr>
            <p:cNvPr id="33" name="TextBox 32">
              <a:extLst>
                <a:ext uri="{FF2B5EF4-FFF2-40B4-BE49-F238E27FC236}">
                  <a16:creationId xmlns:a16="http://schemas.microsoft.com/office/drawing/2014/main" id="{2B7EDD6C-0F14-627F-1560-29B773557E84}"/>
                </a:ext>
              </a:extLst>
            </p:cNvPr>
            <p:cNvSpPr txBox="1"/>
            <p:nvPr/>
          </p:nvSpPr>
          <p:spPr>
            <a:xfrm>
              <a:off x="9242148" y="3101417"/>
              <a:ext cx="308009" cy="276999"/>
            </a:xfrm>
            <a:prstGeom prst="rect">
              <a:avLst/>
            </a:prstGeom>
            <a:noFill/>
          </p:spPr>
          <p:txBody>
            <a:bodyPr wrap="square" rtlCol="0">
              <a:spAutoFit/>
            </a:bodyPr>
            <a:lstStyle/>
            <a:p>
              <a:pPr algn="ctr"/>
              <a:r>
                <a:rPr lang="es-ES" sz="1200" dirty="0"/>
                <a:t>6</a:t>
              </a:r>
              <a:endParaRPr lang="en-US" sz="1200" dirty="0"/>
            </a:p>
          </p:txBody>
        </p:sp>
        <p:sp>
          <p:nvSpPr>
            <p:cNvPr id="34" name="TextBox 33">
              <a:extLst>
                <a:ext uri="{FF2B5EF4-FFF2-40B4-BE49-F238E27FC236}">
                  <a16:creationId xmlns:a16="http://schemas.microsoft.com/office/drawing/2014/main" id="{A57C5FEC-A088-6569-3A42-59B11BE97CCE}"/>
                </a:ext>
              </a:extLst>
            </p:cNvPr>
            <p:cNvSpPr txBox="1"/>
            <p:nvPr/>
          </p:nvSpPr>
          <p:spPr>
            <a:xfrm>
              <a:off x="9911103" y="3101417"/>
              <a:ext cx="274321" cy="276999"/>
            </a:xfrm>
            <a:prstGeom prst="rect">
              <a:avLst/>
            </a:prstGeom>
            <a:noFill/>
          </p:spPr>
          <p:txBody>
            <a:bodyPr wrap="square" rtlCol="0">
              <a:spAutoFit/>
            </a:bodyPr>
            <a:lstStyle/>
            <a:p>
              <a:pPr algn="ctr"/>
              <a:r>
                <a:rPr lang="es-ES" sz="1200" dirty="0"/>
                <a:t>7</a:t>
              </a:r>
              <a:endParaRPr lang="en-US" sz="1200" dirty="0"/>
            </a:p>
          </p:txBody>
        </p:sp>
        <p:sp>
          <p:nvSpPr>
            <p:cNvPr id="35" name="TextBox 34">
              <a:extLst>
                <a:ext uri="{FF2B5EF4-FFF2-40B4-BE49-F238E27FC236}">
                  <a16:creationId xmlns:a16="http://schemas.microsoft.com/office/drawing/2014/main" id="{1FE510C2-F791-12B8-3030-2DD980BE60E2}"/>
                </a:ext>
              </a:extLst>
            </p:cNvPr>
            <p:cNvSpPr txBox="1"/>
            <p:nvPr/>
          </p:nvSpPr>
          <p:spPr>
            <a:xfrm>
              <a:off x="4126563" y="2665669"/>
              <a:ext cx="924397" cy="369332"/>
            </a:xfrm>
            <a:prstGeom prst="rect">
              <a:avLst/>
            </a:prstGeom>
            <a:noFill/>
          </p:spPr>
          <p:txBody>
            <a:bodyPr wrap="square" rtlCol="0">
              <a:spAutoFit/>
            </a:bodyPr>
            <a:lstStyle/>
            <a:p>
              <a:r>
                <a:rPr lang="es-ES" sz="1800" dirty="0">
                  <a:solidFill>
                    <a:schemeClr val="bg1">
                      <a:lumMod val="50000"/>
                    </a:schemeClr>
                  </a:solidFill>
                </a:rPr>
                <a:t>datos</a:t>
              </a:r>
              <a:endParaRPr lang="en-US" sz="1800" dirty="0">
                <a:solidFill>
                  <a:schemeClr val="bg1">
                    <a:lumMod val="50000"/>
                  </a:schemeClr>
                </a:solidFill>
              </a:endParaRPr>
            </a:p>
          </p:txBody>
        </p:sp>
      </p:grpSp>
      <p:sp>
        <p:nvSpPr>
          <p:cNvPr id="44" name="Arrow: Chevron 43">
            <a:extLst>
              <a:ext uri="{FF2B5EF4-FFF2-40B4-BE49-F238E27FC236}">
                <a16:creationId xmlns:a16="http://schemas.microsoft.com/office/drawing/2014/main" id="{EB8F8AEA-DBF3-53B2-1692-EF333F06E17B}"/>
              </a:ext>
            </a:extLst>
          </p:cNvPr>
          <p:cNvSpPr/>
          <p:nvPr/>
        </p:nvSpPr>
        <p:spPr>
          <a:xfrm rot="5400000">
            <a:off x="6345361" y="4273602"/>
            <a:ext cx="384119" cy="831944"/>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5362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6760-A7DB-C83F-C768-E1329FC2305B}"/>
              </a:ext>
            </a:extLst>
          </p:cNvPr>
          <p:cNvSpPr>
            <a:spLocks noGrp="1"/>
          </p:cNvSpPr>
          <p:nvPr>
            <p:ph type="title"/>
          </p:nvPr>
        </p:nvSpPr>
        <p:spPr/>
        <p:txBody>
          <a:bodyPr/>
          <a:lstStyle/>
          <a:p>
            <a:r>
              <a:rPr lang="es-ES" dirty="0"/>
              <a:t>Ejercicio 2 </a:t>
            </a:r>
            <a:r>
              <a:rPr lang="es-ES" sz="3200" dirty="0"/>
              <a:t>(Grupal)</a:t>
            </a:r>
            <a:endParaRPr lang="en-US" sz="3200" dirty="0"/>
          </a:p>
        </p:txBody>
      </p:sp>
      <p:sp>
        <p:nvSpPr>
          <p:cNvPr id="3" name="Slide Number Placeholder 2">
            <a:extLst>
              <a:ext uri="{FF2B5EF4-FFF2-40B4-BE49-F238E27FC236}">
                <a16:creationId xmlns:a16="http://schemas.microsoft.com/office/drawing/2014/main" id="{9DE662C6-2911-4CF7-8D3C-003C85D6C4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16</a:t>
            </a:fld>
            <a:endParaRPr lang="es-PE"/>
          </a:p>
        </p:txBody>
      </p:sp>
      <p:sp>
        <p:nvSpPr>
          <p:cNvPr id="4" name="Content Placeholder 3">
            <a:extLst>
              <a:ext uri="{FF2B5EF4-FFF2-40B4-BE49-F238E27FC236}">
                <a16:creationId xmlns:a16="http://schemas.microsoft.com/office/drawing/2014/main" id="{34C9F823-95C5-E306-1199-9B9F57FE14CB}"/>
              </a:ext>
            </a:extLst>
          </p:cNvPr>
          <p:cNvSpPr>
            <a:spLocks noGrp="1"/>
          </p:cNvSpPr>
          <p:nvPr>
            <p:ph sz="quarter" idx="13"/>
          </p:nvPr>
        </p:nvSpPr>
        <p:spPr>
          <a:xfrm>
            <a:off x="1203649" y="1436914"/>
            <a:ext cx="9889731" cy="4782911"/>
          </a:xfrm>
        </p:spPr>
        <p:txBody>
          <a:bodyPr/>
          <a:lstStyle/>
          <a:p>
            <a:pPr marL="50800" indent="0">
              <a:buNone/>
            </a:pPr>
            <a:r>
              <a:rPr lang="es-ES" dirty="0">
                <a:solidFill>
                  <a:schemeClr val="bg1">
                    <a:lumMod val="50000"/>
                  </a:schemeClr>
                </a:solidFill>
              </a:rPr>
              <a:t>Crear un programa en Java que realice una intersección de conjuntos. Dado dos arreglos de 10 números enteros (inicializados), mostrar qué números del primer arreglo están también en el segundo arreglo.</a:t>
            </a:r>
            <a:endParaRPr lang="en-US" dirty="0">
              <a:solidFill>
                <a:schemeClr val="bg1">
                  <a:lumMod val="50000"/>
                </a:schemeClr>
              </a:solidFill>
            </a:endParaRPr>
          </a:p>
        </p:txBody>
      </p:sp>
      <p:sp>
        <p:nvSpPr>
          <p:cNvPr id="28" name="Rectangle 27">
            <a:extLst>
              <a:ext uri="{FF2B5EF4-FFF2-40B4-BE49-F238E27FC236}">
                <a16:creationId xmlns:a16="http://schemas.microsoft.com/office/drawing/2014/main" id="{43870ED4-1262-20C3-6897-749A7A6CA312}"/>
              </a:ext>
            </a:extLst>
          </p:cNvPr>
          <p:cNvSpPr/>
          <p:nvPr/>
        </p:nvSpPr>
        <p:spPr>
          <a:xfrm>
            <a:off x="0" y="0"/>
            <a:ext cx="619432" cy="6858000"/>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dirty="0">
                <a:solidFill>
                  <a:schemeClr val="accent6">
                    <a:lumMod val="60000"/>
                    <a:lumOff val="40000"/>
                  </a:schemeClr>
                </a:solidFill>
              </a:rPr>
              <a:t>2. Práctica</a:t>
            </a:r>
            <a:endParaRPr lang="en-US" sz="2400" dirty="0">
              <a:solidFill>
                <a:schemeClr val="accent6">
                  <a:lumMod val="60000"/>
                  <a:lumOff val="40000"/>
                </a:schemeClr>
              </a:solidFill>
            </a:endParaRPr>
          </a:p>
        </p:txBody>
      </p:sp>
      <p:pic>
        <p:nvPicPr>
          <p:cNvPr id="5" name="Picture 4">
            <a:extLst>
              <a:ext uri="{FF2B5EF4-FFF2-40B4-BE49-F238E27FC236}">
                <a16:creationId xmlns:a16="http://schemas.microsoft.com/office/drawing/2014/main" id="{42ED46A6-A091-12E8-492F-B41D0885E259}"/>
              </a:ext>
            </a:extLst>
          </p:cNvPr>
          <p:cNvPicPr>
            <a:picLocks noChangeAspect="1"/>
          </p:cNvPicPr>
          <p:nvPr/>
        </p:nvPicPr>
        <p:blipFill>
          <a:blip r:embed="rId2"/>
          <a:stretch>
            <a:fillRect/>
          </a:stretch>
        </p:blipFill>
        <p:spPr>
          <a:xfrm>
            <a:off x="4248309" y="3534601"/>
            <a:ext cx="4060830" cy="2685224"/>
          </a:xfrm>
          <a:prstGeom prst="rect">
            <a:avLst/>
          </a:prstGeom>
        </p:spPr>
      </p:pic>
      <p:sp>
        <p:nvSpPr>
          <p:cNvPr id="7" name="TextBox 6">
            <a:extLst>
              <a:ext uri="{FF2B5EF4-FFF2-40B4-BE49-F238E27FC236}">
                <a16:creationId xmlns:a16="http://schemas.microsoft.com/office/drawing/2014/main" id="{171B0EFA-4F5E-5342-0E1D-B49F76AEEC2E}"/>
              </a:ext>
            </a:extLst>
          </p:cNvPr>
          <p:cNvSpPr txBox="1"/>
          <p:nvPr/>
        </p:nvSpPr>
        <p:spPr>
          <a:xfrm>
            <a:off x="838200" y="6490643"/>
            <a:ext cx="9586545"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https://www.conoce3000.com/html/espaniol/Libros/Matematica01/imagenes/Interseccion01.jpg</a:t>
            </a:r>
          </a:p>
        </p:txBody>
      </p:sp>
    </p:spTree>
    <p:extLst>
      <p:ext uri="{BB962C8B-B14F-4D97-AF65-F5344CB8AC3E}">
        <p14:creationId xmlns:p14="http://schemas.microsoft.com/office/powerpoint/2010/main" val="2797974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6760-A7DB-C83F-C768-E1329FC2305B}"/>
              </a:ext>
            </a:extLst>
          </p:cNvPr>
          <p:cNvSpPr>
            <a:spLocks noGrp="1"/>
          </p:cNvSpPr>
          <p:nvPr>
            <p:ph type="title"/>
          </p:nvPr>
        </p:nvSpPr>
        <p:spPr/>
        <p:txBody>
          <a:bodyPr/>
          <a:lstStyle/>
          <a:p>
            <a:r>
              <a:rPr lang="es-ES" dirty="0"/>
              <a:t>Ejercicio 3 </a:t>
            </a:r>
            <a:r>
              <a:rPr lang="es-ES" sz="3200" dirty="0"/>
              <a:t>(Grupal)</a:t>
            </a:r>
            <a:endParaRPr lang="en-US" sz="3200" dirty="0"/>
          </a:p>
        </p:txBody>
      </p:sp>
      <p:sp>
        <p:nvSpPr>
          <p:cNvPr id="3" name="Slide Number Placeholder 2">
            <a:extLst>
              <a:ext uri="{FF2B5EF4-FFF2-40B4-BE49-F238E27FC236}">
                <a16:creationId xmlns:a16="http://schemas.microsoft.com/office/drawing/2014/main" id="{9DE662C6-2911-4CF7-8D3C-003C85D6C4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17</a:t>
            </a:fld>
            <a:endParaRPr lang="es-PE"/>
          </a:p>
        </p:txBody>
      </p:sp>
      <p:sp>
        <p:nvSpPr>
          <p:cNvPr id="4" name="Content Placeholder 3">
            <a:extLst>
              <a:ext uri="{FF2B5EF4-FFF2-40B4-BE49-F238E27FC236}">
                <a16:creationId xmlns:a16="http://schemas.microsoft.com/office/drawing/2014/main" id="{34C9F823-95C5-E306-1199-9B9F57FE14CB}"/>
              </a:ext>
            </a:extLst>
          </p:cNvPr>
          <p:cNvSpPr>
            <a:spLocks noGrp="1"/>
          </p:cNvSpPr>
          <p:nvPr>
            <p:ph sz="quarter" idx="13"/>
          </p:nvPr>
        </p:nvSpPr>
        <p:spPr/>
        <p:txBody>
          <a:bodyPr/>
          <a:lstStyle/>
          <a:p>
            <a:pPr marL="50800" indent="0">
              <a:buNone/>
            </a:pPr>
            <a:r>
              <a:rPr lang="es-ES" dirty="0">
                <a:solidFill>
                  <a:schemeClr val="bg1">
                    <a:lumMod val="50000"/>
                  </a:schemeClr>
                </a:solidFill>
              </a:rPr>
              <a:t>Escribir un programa que solicite los nombres y edades de 5 personas y muestre un reporte ASCII con los datos ingresados, ordenados por edad, en orden ascendente.</a:t>
            </a:r>
            <a:endParaRPr lang="en-US" dirty="0">
              <a:solidFill>
                <a:schemeClr val="bg1">
                  <a:lumMod val="50000"/>
                </a:schemeClr>
              </a:solidFill>
            </a:endParaRPr>
          </a:p>
        </p:txBody>
      </p:sp>
      <p:sp>
        <p:nvSpPr>
          <p:cNvPr id="28" name="Rectangle 27">
            <a:extLst>
              <a:ext uri="{FF2B5EF4-FFF2-40B4-BE49-F238E27FC236}">
                <a16:creationId xmlns:a16="http://schemas.microsoft.com/office/drawing/2014/main" id="{43870ED4-1262-20C3-6897-749A7A6CA312}"/>
              </a:ext>
            </a:extLst>
          </p:cNvPr>
          <p:cNvSpPr/>
          <p:nvPr/>
        </p:nvSpPr>
        <p:spPr>
          <a:xfrm>
            <a:off x="0" y="0"/>
            <a:ext cx="619432" cy="6858000"/>
          </a:xfrm>
          <a:prstGeom prst="rect">
            <a:avLst/>
          </a:prstGeom>
          <a:solidFill>
            <a:srgbClr val="77933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dirty="0">
                <a:solidFill>
                  <a:schemeClr val="accent6">
                    <a:lumMod val="60000"/>
                    <a:lumOff val="40000"/>
                  </a:schemeClr>
                </a:solidFill>
              </a:rPr>
              <a:t>2. Práctica</a:t>
            </a:r>
            <a:endParaRPr lang="en-US" sz="2400" dirty="0">
              <a:solidFill>
                <a:schemeClr val="accent6">
                  <a:lumMod val="60000"/>
                  <a:lumOff val="40000"/>
                </a:schemeClr>
              </a:solidFill>
            </a:endParaRPr>
          </a:p>
        </p:txBody>
      </p:sp>
      <p:pic>
        <p:nvPicPr>
          <p:cNvPr id="5" name="Picture 4">
            <a:extLst>
              <a:ext uri="{FF2B5EF4-FFF2-40B4-BE49-F238E27FC236}">
                <a16:creationId xmlns:a16="http://schemas.microsoft.com/office/drawing/2014/main" id="{1EA7943E-02C6-2818-73A3-D4D85CF84E17}"/>
              </a:ext>
            </a:extLst>
          </p:cNvPr>
          <p:cNvPicPr>
            <a:picLocks noChangeAspect="1"/>
          </p:cNvPicPr>
          <p:nvPr/>
        </p:nvPicPr>
        <p:blipFill rotWithShape="1">
          <a:blip r:embed="rId2"/>
          <a:srcRect b="8910"/>
          <a:stretch/>
        </p:blipFill>
        <p:spPr>
          <a:xfrm>
            <a:off x="2743200" y="3617929"/>
            <a:ext cx="7239000" cy="2429366"/>
          </a:xfrm>
          <a:prstGeom prst="rect">
            <a:avLst/>
          </a:prstGeom>
          <a:effectLst>
            <a:reflection blurRad="6350" stA="52000" endA="300" endPos="35000" dir="5400000" sy="-100000" algn="bl" rotWithShape="0"/>
          </a:effectLst>
        </p:spPr>
      </p:pic>
      <p:sp>
        <p:nvSpPr>
          <p:cNvPr id="7" name="TextBox 6">
            <a:extLst>
              <a:ext uri="{FF2B5EF4-FFF2-40B4-BE49-F238E27FC236}">
                <a16:creationId xmlns:a16="http://schemas.microsoft.com/office/drawing/2014/main" id="{E6FF59D5-C16E-CAD8-90AF-798ACD239FD4}"/>
              </a:ext>
            </a:extLst>
          </p:cNvPr>
          <p:cNvSpPr txBox="1"/>
          <p:nvPr/>
        </p:nvSpPr>
        <p:spPr>
          <a:xfrm>
            <a:off x="838200" y="6441348"/>
            <a:ext cx="8208389"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https://www.shutterstock.com/image-photo/collage-group-young-people-over-260nw-1237652128.jpg</a:t>
            </a:r>
          </a:p>
        </p:txBody>
      </p:sp>
    </p:spTree>
    <p:extLst>
      <p:ext uri="{BB962C8B-B14F-4D97-AF65-F5344CB8AC3E}">
        <p14:creationId xmlns:p14="http://schemas.microsoft.com/office/powerpoint/2010/main" val="122453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3CC1341-D226-6934-FD26-94AD29B043A7}"/>
              </a:ext>
            </a:extLst>
          </p:cNvPr>
          <p:cNvSpPr/>
          <p:nvPr/>
        </p:nvSpPr>
        <p:spPr>
          <a:xfrm>
            <a:off x="7982678" y="-9833"/>
            <a:ext cx="4193457" cy="6877665"/>
          </a:xfrm>
          <a:custGeom>
            <a:avLst/>
            <a:gdLst>
              <a:gd name="connsiteX0" fmla="*/ 0 w 4935794"/>
              <a:gd name="connsiteY0" fmla="*/ 0 h 6858000"/>
              <a:gd name="connsiteX1" fmla="*/ 4935794 w 4935794"/>
              <a:gd name="connsiteY1" fmla="*/ 0 h 6858000"/>
              <a:gd name="connsiteX2" fmla="*/ 4935794 w 4935794"/>
              <a:gd name="connsiteY2" fmla="*/ 6858000 h 6858000"/>
              <a:gd name="connsiteX3" fmla="*/ 0 w 4935794"/>
              <a:gd name="connsiteY3" fmla="*/ 6858000 h 6858000"/>
              <a:gd name="connsiteX4" fmla="*/ 0 w 4935794"/>
              <a:gd name="connsiteY4" fmla="*/ 0 h 6858000"/>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0 w 4935794"/>
              <a:gd name="connsiteY4" fmla="*/ 0 h 6867833"/>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1081549 w 4935794"/>
              <a:gd name="connsiteY4" fmla="*/ 2054942 h 6867833"/>
              <a:gd name="connsiteX5" fmla="*/ 0 w 4935794"/>
              <a:gd name="connsiteY5" fmla="*/ 0 h 6867833"/>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658762 w 4935794"/>
              <a:gd name="connsiteY4" fmla="*/ 2605549 h 6867833"/>
              <a:gd name="connsiteX5" fmla="*/ 0 w 4935794"/>
              <a:gd name="connsiteY5" fmla="*/ 0 h 6867833"/>
              <a:gd name="connsiteX0" fmla="*/ 1828799 w 4277032"/>
              <a:gd name="connsiteY0" fmla="*/ 19665 h 6867833"/>
              <a:gd name="connsiteX1" fmla="*/ 4277032 w 4277032"/>
              <a:gd name="connsiteY1" fmla="*/ 0 h 6867833"/>
              <a:gd name="connsiteX2" fmla="*/ 4277032 w 4277032"/>
              <a:gd name="connsiteY2" fmla="*/ 6858000 h 6867833"/>
              <a:gd name="connsiteX3" fmla="*/ 2979174 w 4277032"/>
              <a:gd name="connsiteY3" fmla="*/ 6867833 h 6867833"/>
              <a:gd name="connsiteX4" fmla="*/ 0 w 4277032"/>
              <a:gd name="connsiteY4" fmla="*/ 2605549 h 6867833"/>
              <a:gd name="connsiteX5" fmla="*/ 1828799 w 4277032"/>
              <a:gd name="connsiteY5" fmla="*/ 19665 h 6867833"/>
              <a:gd name="connsiteX0" fmla="*/ 1769805 w 4277032"/>
              <a:gd name="connsiteY0" fmla="*/ 9833 h 6867833"/>
              <a:gd name="connsiteX1" fmla="*/ 4277032 w 4277032"/>
              <a:gd name="connsiteY1" fmla="*/ 0 h 6867833"/>
              <a:gd name="connsiteX2" fmla="*/ 4277032 w 4277032"/>
              <a:gd name="connsiteY2" fmla="*/ 6858000 h 6867833"/>
              <a:gd name="connsiteX3" fmla="*/ 2979174 w 4277032"/>
              <a:gd name="connsiteY3" fmla="*/ 6867833 h 6867833"/>
              <a:gd name="connsiteX4" fmla="*/ 0 w 4277032"/>
              <a:gd name="connsiteY4" fmla="*/ 2605549 h 6867833"/>
              <a:gd name="connsiteX5" fmla="*/ 1769805 w 4277032"/>
              <a:gd name="connsiteY5" fmla="*/ 9833 h 6867833"/>
              <a:gd name="connsiteX0" fmla="*/ 1769805 w 4277032"/>
              <a:gd name="connsiteY0" fmla="*/ 0 h 6897330"/>
              <a:gd name="connsiteX1" fmla="*/ 4277032 w 4277032"/>
              <a:gd name="connsiteY1" fmla="*/ 29497 h 6897330"/>
              <a:gd name="connsiteX2" fmla="*/ 4277032 w 4277032"/>
              <a:gd name="connsiteY2" fmla="*/ 6887497 h 6897330"/>
              <a:gd name="connsiteX3" fmla="*/ 2979174 w 4277032"/>
              <a:gd name="connsiteY3" fmla="*/ 6897330 h 6897330"/>
              <a:gd name="connsiteX4" fmla="*/ 0 w 4277032"/>
              <a:gd name="connsiteY4" fmla="*/ 2635046 h 6897330"/>
              <a:gd name="connsiteX5" fmla="*/ 1769805 w 4277032"/>
              <a:gd name="connsiteY5" fmla="*/ 0 h 6897330"/>
              <a:gd name="connsiteX0" fmla="*/ 1868128 w 4277032"/>
              <a:gd name="connsiteY0" fmla="*/ 0 h 6877665"/>
              <a:gd name="connsiteX1" fmla="*/ 4277032 w 4277032"/>
              <a:gd name="connsiteY1" fmla="*/ 9832 h 6877665"/>
              <a:gd name="connsiteX2" fmla="*/ 4277032 w 4277032"/>
              <a:gd name="connsiteY2" fmla="*/ 6867832 h 6877665"/>
              <a:gd name="connsiteX3" fmla="*/ 2979174 w 4277032"/>
              <a:gd name="connsiteY3" fmla="*/ 6877665 h 6877665"/>
              <a:gd name="connsiteX4" fmla="*/ 0 w 4277032"/>
              <a:gd name="connsiteY4" fmla="*/ 2615381 h 6877665"/>
              <a:gd name="connsiteX5" fmla="*/ 1868128 w 4277032"/>
              <a:gd name="connsiteY5" fmla="*/ 0 h 6877665"/>
              <a:gd name="connsiteX0" fmla="*/ 1868128 w 4277032"/>
              <a:gd name="connsiteY0" fmla="*/ 0 h 6877665"/>
              <a:gd name="connsiteX1" fmla="*/ 4277032 w 4277032"/>
              <a:gd name="connsiteY1" fmla="*/ 9832 h 6877665"/>
              <a:gd name="connsiteX2" fmla="*/ 4277032 w 4277032"/>
              <a:gd name="connsiteY2" fmla="*/ 6867832 h 6877665"/>
              <a:gd name="connsiteX3" fmla="*/ 3352800 w 4277032"/>
              <a:gd name="connsiteY3" fmla="*/ 6877665 h 6877665"/>
              <a:gd name="connsiteX4" fmla="*/ 0 w 4277032"/>
              <a:gd name="connsiteY4" fmla="*/ 2615381 h 6877665"/>
              <a:gd name="connsiteX5" fmla="*/ 1868128 w 4277032"/>
              <a:gd name="connsiteY5" fmla="*/ 0 h 6877665"/>
              <a:gd name="connsiteX0" fmla="*/ 1557384 w 3966288"/>
              <a:gd name="connsiteY0" fmla="*/ 0 h 6877665"/>
              <a:gd name="connsiteX1" fmla="*/ 3966288 w 3966288"/>
              <a:gd name="connsiteY1" fmla="*/ 9832 h 6877665"/>
              <a:gd name="connsiteX2" fmla="*/ 3966288 w 3966288"/>
              <a:gd name="connsiteY2" fmla="*/ 6867832 h 6877665"/>
              <a:gd name="connsiteX3" fmla="*/ 3042056 w 3966288"/>
              <a:gd name="connsiteY3" fmla="*/ 6877665 h 6877665"/>
              <a:gd name="connsiteX4" fmla="*/ 0 w 3966288"/>
              <a:gd name="connsiteY4" fmla="*/ 2664542 h 6877665"/>
              <a:gd name="connsiteX5" fmla="*/ 1557384 w 3966288"/>
              <a:gd name="connsiteY5" fmla="*/ 0 h 6877665"/>
              <a:gd name="connsiteX0" fmla="*/ 1272536 w 3681440"/>
              <a:gd name="connsiteY0" fmla="*/ 0 h 6877665"/>
              <a:gd name="connsiteX1" fmla="*/ 3681440 w 3681440"/>
              <a:gd name="connsiteY1" fmla="*/ 9832 h 6877665"/>
              <a:gd name="connsiteX2" fmla="*/ 3681440 w 3681440"/>
              <a:gd name="connsiteY2" fmla="*/ 6867832 h 6877665"/>
              <a:gd name="connsiteX3" fmla="*/ 2757208 w 3681440"/>
              <a:gd name="connsiteY3" fmla="*/ 6877665 h 6877665"/>
              <a:gd name="connsiteX4" fmla="*/ 0 w 3681440"/>
              <a:gd name="connsiteY4" fmla="*/ 2979174 h 6877665"/>
              <a:gd name="connsiteX5" fmla="*/ 1272536 w 3681440"/>
              <a:gd name="connsiteY5" fmla="*/ 0 h 687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1440" h="6877665">
                <a:moveTo>
                  <a:pt x="1272536" y="0"/>
                </a:moveTo>
                <a:lnTo>
                  <a:pt x="3681440" y="9832"/>
                </a:lnTo>
                <a:lnTo>
                  <a:pt x="3681440" y="6867832"/>
                </a:lnTo>
                <a:lnTo>
                  <a:pt x="2757208" y="6877665"/>
                </a:lnTo>
                <a:lnTo>
                  <a:pt x="0" y="2979174"/>
                </a:lnTo>
                <a:lnTo>
                  <a:pt x="1272536" y="0"/>
                </a:lnTo>
                <a:close/>
              </a:path>
            </a:pathLst>
          </a:custGeom>
          <a:solidFill>
            <a:schemeClr val="accent4"/>
          </a:solidFill>
          <a:ln>
            <a:noFill/>
          </a:ln>
          <a:effectLst>
            <a:outerShdw blurRad="1524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550029-C1D9-4608-C29D-C2E80A101086}"/>
              </a:ext>
            </a:extLst>
          </p:cNvPr>
          <p:cNvSpPr/>
          <p:nvPr/>
        </p:nvSpPr>
        <p:spPr>
          <a:xfrm>
            <a:off x="7914968" y="-9832"/>
            <a:ext cx="4277032" cy="6877665"/>
          </a:xfrm>
          <a:custGeom>
            <a:avLst/>
            <a:gdLst>
              <a:gd name="connsiteX0" fmla="*/ 0 w 4935794"/>
              <a:gd name="connsiteY0" fmla="*/ 0 h 6858000"/>
              <a:gd name="connsiteX1" fmla="*/ 4935794 w 4935794"/>
              <a:gd name="connsiteY1" fmla="*/ 0 h 6858000"/>
              <a:gd name="connsiteX2" fmla="*/ 4935794 w 4935794"/>
              <a:gd name="connsiteY2" fmla="*/ 6858000 h 6858000"/>
              <a:gd name="connsiteX3" fmla="*/ 0 w 4935794"/>
              <a:gd name="connsiteY3" fmla="*/ 6858000 h 6858000"/>
              <a:gd name="connsiteX4" fmla="*/ 0 w 4935794"/>
              <a:gd name="connsiteY4" fmla="*/ 0 h 6858000"/>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0 w 4935794"/>
              <a:gd name="connsiteY4" fmla="*/ 0 h 6867833"/>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1081549 w 4935794"/>
              <a:gd name="connsiteY4" fmla="*/ 2054942 h 6867833"/>
              <a:gd name="connsiteX5" fmla="*/ 0 w 4935794"/>
              <a:gd name="connsiteY5" fmla="*/ 0 h 6867833"/>
              <a:gd name="connsiteX0" fmla="*/ 0 w 4935794"/>
              <a:gd name="connsiteY0" fmla="*/ 0 h 6867833"/>
              <a:gd name="connsiteX1" fmla="*/ 4935794 w 4935794"/>
              <a:gd name="connsiteY1" fmla="*/ 0 h 6867833"/>
              <a:gd name="connsiteX2" fmla="*/ 4935794 w 4935794"/>
              <a:gd name="connsiteY2" fmla="*/ 6858000 h 6867833"/>
              <a:gd name="connsiteX3" fmla="*/ 3637936 w 4935794"/>
              <a:gd name="connsiteY3" fmla="*/ 6867833 h 6867833"/>
              <a:gd name="connsiteX4" fmla="*/ 658762 w 4935794"/>
              <a:gd name="connsiteY4" fmla="*/ 2605549 h 6867833"/>
              <a:gd name="connsiteX5" fmla="*/ 0 w 4935794"/>
              <a:gd name="connsiteY5" fmla="*/ 0 h 6867833"/>
              <a:gd name="connsiteX0" fmla="*/ 1828799 w 4277032"/>
              <a:gd name="connsiteY0" fmla="*/ 19665 h 6867833"/>
              <a:gd name="connsiteX1" fmla="*/ 4277032 w 4277032"/>
              <a:gd name="connsiteY1" fmla="*/ 0 h 6867833"/>
              <a:gd name="connsiteX2" fmla="*/ 4277032 w 4277032"/>
              <a:gd name="connsiteY2" fmla="*/ 6858000 h 6867833"/>
              <a:gd name="connsiteX3" fmla="*/ 2979174 w 4277032"/>
              <a:gd name="connsiteY3" fmla="*/ 6867833 h 6867833"/>
              <a:gd name="connsiteX4" fmla="*/ 0 w 4277032"/>
              <a:gd name="connsiteY4" fmla="*/ 2605549 h 6867833"/>
              <a:gd name="connsiteX5" fmla="*/ 1828799 w 4277032"/>
              <a:gd name="connsiteY5" fmla="*/ 19665 h 6867833"/>
              <a:gd name="connsiteX0" fmla="*/ 1769805 w 4277032"/>
              <a:gd name="connsiteY0" fmla="*/ 9833 h 6867833"/>
              <a:gd name="connsiteX1" fmla="*/ 4277032 w 4277032"/>
              <a:gd name="connsiteY1" fmla="*/ 0 h 6867833"/>
              <a:gd name="connsiteX2" fmla="*/ 4277032 w 4277032"/>
              <a:gd name="connsiteY2" fmla="*/ 6858000 h 6867833"/>
              <a:gd name="connsiteX3" fmla="*/ 2979174 w 4277032"/>
              <a:gd name="connsiteY3" fmla="*/ 6867833 h 6867833"/>
              <a:gd name="connsiteX4" fmla="*/ 0 w 4277032"/>
              <a:gd name="connsiteY4" fmla="*/ 2605549 h 6867833"/>
              <a:gd name="connsiteX5" fmla="*/ 1769805 w 4277032"/>
              <a:gd name="connsiteY5" fmla="*/ 9833 h 6867833"/>
              <a:gd name="connsiteX0" fmla="*/ 1769805 w 4277032"/>
              <a:gd name="connsiteY0" fmla="*/ 0 h 6897330"/>
              <a:gd name="connsiteX1" fmla="*/ 4277032 w 4277032"/>
              <a:gd name="connsiteY1" fmla="*/ 29497 h 6897330"/>
              <a:gd name="connsiteX2" fmla="*/ 4277032 w 4277032"/>
              <a:gd name="connsiteY2" fmla="*/ 6887497 h 6897330"/>
              <a:gd name="connsiteX3" fmla="*/ 2979174 w 4277032"/>
              <a:gd name="connsiteY3" fmla="*/ 6897330 h 6897330"/>
              <a:gd name="connsiteX4" fmla="*/ 0 w 4277032"/>
              <a:gd name="connsiteY4" fmla="*/ 2635046 h 6897330"/>
              <a:gd name="connsiteX5" fmla="*/ 1769805 w 4277032"/>
              <a:gd name="connsiteY5" fmla="*/ 0 h 6897330"/>
              <a:gd name="connsiteX0" fmla="*/ 1868128 w 4277032"/>
              <a:gd name="connsiteY0" fmla="*/ 0 h 6877665"/>
              <a:gd name="connsiteX1" fmla="*/ 4277032 w 4277032"/>
              <a:gd name="connsiteY1" fmla="*/ 9832 h 6877665"/>
              <a:gd name="connsiteX2" fmla="*/ 4277032 w 4277032"/>
              <a:gd name="connsiteY2" fmla="*/ 6867832 h 6877665"/>
              <a:gd name="connsiteX3" fmla="*/ 2979174 w 4277032"/>
              <a:gd name="connsiteY3" fmla="*/ 6877665 h 6877665"/>
              <a:gd name="connsiteX4" fmla="*/ 0 w 4277032"/>
              <a:gd name="connsiteY4" fmla="*/ 2615381 h 6877665"/>
              <a:gd name="connsiteX5" fmla="*/ 1868128 w 4277032"/>
              <a:gd name="connsiteY5" fmla="*/ 0 h 6877665"/>
              <a:gd name="connsiteX0" fmla="*/ 1868128 w 4277032"/>
              <a:gd name="connsiteY0" fmla="*/ 0 h 6877665"/>
              <a:gd name="connsiteX1" fmla="*/ 4277032 w 4277032"/>
              <a:gd name="connsiteY1" fmla="*/ 9832 h 6877665"/>
              <a:gd name="connsiteX2" fmla="*/ 4277032 w 4277032"/>
              <a:gd name="connsiteY2" fmla="*/ 6867832 h 6877665"/>
              <a:gd name="connsiteX3" fmla="*/ 3352800 w 4277032"/>
              <a:gd name="connsiteY3" fmla="*/ 6877665 h 6877665"/>
              <a:gd name="connsiteX4" fmla="*/ 0 w 4277032"/>
              <a:gd name="connsiteY4" fmla="*/ 2615381 h 6877665"/>
              <a:gd name="connsiteX5" fmla="*/ 1868128 w 4277032"/>
              <a:gd name="connsiteY5" fmla="*/ 0 h 687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032" h="6877665">
                <a:moveTo>
                  <a:pt x="1868128" y="0"/>
                </a:moveTo>
                <a:lnTo>
                  <a:pt x="4277032" y="9832"/>
                </a:lnTo>
                <a:lnTo>
                  <a:pt x="4277032" y="6867832"/>
                </a:lnTo>
                <a:lnTo>
                  <a:pt x="3352800" y="6877665"/>
                </a:lnTo>
                <a:lnTo>
                  <a:pt x="0" y="2615381"/>
                </a:lnTo>
                <a:lnTo>
                  <a:pt x="1868128" y="0"/>
                </a:lnTo>
                <a:close/>
              </a:path>
            </a:pathLst>
          </a:custGeom>
          <a:solidFill>
            <a:srgbClr val="FCF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BEE9576-177F-AC2B-3010-6C3B058129CC}"/>
              </a:ext>
            </a:extLst>
          </p:cNvPr>
          <p:cNvPicPr>
            <a:picLocks noChangeAspect="1"/>
          </p:cNvPicPr>
          <p:nvPr/>
        </p:nvPicPr>
        <p:blipFill rotWithShape="1">
          <a:blip r:embed="rId2"/>
          <a:srcRect r="43065"/>
          <a:stretch/>
        </p:blipFill>
        <p:spPr>
          <a:xfrm>
            <a:off x="8721213" y="343004"/>
            <a:ext cx="3470787" cy="6858000"/>
          </a:xfrm>
          <a:prstGeom prst="rect">
            <a:avLst/>
          </a:prstGeom>
        </p:spPr>
      </p:pic>
      <p:sp>
        <p:nvSpPr>
          <p:cNvPr id="3" name="Title 2">
            <a:extLst>
              <a:ext uri="{FF2B5EF4-FFF2-40B4-BE49-F238E27FC236}">
                <a16:creationId xmlns:a16="http://schemas.microsoft.com/office/drawing/2014/main" id="{5B03D496-97CF-4B26-B9D0-D39676049E37}"/>
              </a:ext>
            </a:extLst>
          </p:cNvPr>
          <p:cNvSpPr>
            <a:spLocks noGrp="1"/>
          </p:cNvSpPr>
          <p:nvPr>
            <p:ph type="title"/>
          </p:nvPr>
        </p:nvSpPr>
        <p:spPr>
          <a:xfrm>
            <a:off x="626725" y="429863"/>
            <a:ext cx="10727076" cy="785528"/>
          </a:xfrm>
        </p:spPr>
        <p:txBody>
          <a:bodyPr/>
          <a:lstStyle/>
          <a:p>
            <a:r>
              <a:rPr lang="es-ES" dirty="0"/>
              <a:t>Resumen de la sesión</a:t>
            </a:r>
            <a:endParaRPr lang="en-US" dirty="0"/>
          </a:p>
        </p:txBody>
      </p:sp>
      <p:sp>
        <p:nvSpPr>
          <p:cNvPr id="2" name="Slide Number Placeholder 1">
            <a:extLst>
              <a:ext uri="{FF2B5EF4-FFF2-40B4-BE49-F238E27FC236}">
                <a16:creationId xmlns:a16="http://schemas.microsoft.com/office/drawing/2014/main" id="{1C714D7F-9F45-47C5-88DE-53E493F191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18</a:t>
            </a:fld>
            <a:endParaRPr lang="es-PE"/>
          </a:p>
        </p:txBody>
      </p:sp>
      <p:sp>
        <p:nvSpPr>
          <p:cNvPr id="5" name="Content Placeholder 4">
            <a:extLst>
              <a:ext uri="{FF2B5EF4-FFF2-40B4-BE49-F238E27FC236}">
                <a16:creationId xmlns:a16="http://schemas.microsoft.com/office/drawing/2014/main" id="{23C4AF93-4E4C-5B4B-6F8D-742F13670E98}"/>
              </a:ext>
            </a:extLst>
          </p:cNvPr>
          <p:cNvSpPr>
            <a:spLocks noGrp="1"/>
          </p:cNvSpPr>
          <p:nvPr>
            <p:ph sz="quarter" idx="13"/>
          </p:nvPr>
        </p:nvSpPr>
        <p:spPr>
          <a:xfrm>
            <a:off x="626725" y="1436914"/>
            <a:ext cx="7288244" cy="4782911"/>
          </a:xfrm>
        </p:spPr>
        <p:txBody>
          <a:bodyPr/>
          <a:lstStyle/>
          <a:p>
            <a:r>
              <a:rPr lang="es-ES" dirty="0"/>
              <a:t>¿Cuál es la utilidad de los arreglos paralelos?</a:t>
            </a:r>
          </a:p>
          <a:p>
            <a:r>
              <a:rPr lang="es-ES" dirty="0"/>
              <a:t>¿Cuántos arreglos paralelos podemos crear en nuestros programas?</a:t>
            </a:r>
          </a:p>
          <a:p>
            <a:r>
              <a:rPr lang="es-ES" dirty="0"/>
              <a:t>¿Cómo ordenamos dos o más arreglos paralelos al mismo tiempo?</a:t>
            </a:r>
          </a:p>
        </p:txBody>
      </p:sp>
      <p:sp>
        <p:nvSpPr>
          <p:cNvPr id="8" name="TextBox 7">
            <a:extLst>
              <a:ext uri="{FF2B5EF4-FFF2-40B4-BE49-F238E27FC236}">
                <a16:creationId xmlns:a16="http://schemas.microsoft.com/office/drawing/2014/main" id="{E2EC220F-3C2B-B243-4B55-66FDD2674876}"/>
              </a:ext>
            </a:extLst>
          </p:cNvPr>
          <p:cNvSpPr txBox="1"/>
          <p:nvPr/>
        </p:nvSpPr>
        <p:spPr>
          <a:xfrm>
            <a:off x="101603" y="6107707"/>
            <a:ext cx="10886747" cy="646331"/>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p>
          <a:p>
            <a:r>
              <a:rPr lang="en-US" sz="900" dirty="0">
                <a:solidFill>
                  <a:schemeClr val="bg1">
                    <a:lumMod val="50000"/>
                  </a:schemeClr>
                </a:solidFill>
              </a:rPr>
              <a:t>https://www.pngmart.com/files/16/Portable-Laptop-Top-View-PNG-Transparent-Image.png  /  https://static.vecteezy.com/system/resources/previews/010/851/398/original/realistic-black-glasses-top-view-png.png</a:t>
            </a:r>
          </a:p>
          <a:p>
            <a:r>
              <a:rPr lang="en-US" sz="900" dirty="0">
                <a:solidFill>
                  <a:schemeClr val="bg1">
                    <a:lumMod val="50000"/>
                  </a:schemeClr>
                </a:solidFill>
              </a:rPr>
              <a:t>https://creazilla-store.fra1.digitaloceanspaces.com/cliparts/61158/paperclips-clipart-xl.png   /   https://images.frandroid.com/wp-content/uploads/2019/04/google-nexus-6.png</a:t>
            </a:r>
          </a:p>
          <a:p>
            <a:r>
              <a:rPr lang="en-US" sz="900" dirty="0">
                <a:solidFill>
                  <a:schemeClr val="bg1">
                    <a:lumMod val="50000"/>
                  </a:schemeClr>
                </a:solidFill>
              </a:rPr>
              <a:t>https://www.freeiconspng.com/thumbs/pencil-png/pencil-4.png</a:t>
            </a:r>
          </a:p>
        </p:txBody>
      </p:sp>
      <p:pic>
        <p:nvPicPr>
          <p:cNvPr id="9" name="Picture 8">
            <a:extLst>
              <a:ext uri="{FF2B5EF4-FFF2-40B4-BE49-F238E27FC236}">
                <a16:creationId xmlns:a16="http://schemas.microsoft.com/office/drawing/2014/main" id="{9E949E4C-2370-2348-5C0A-672EAE02A052}"/>
              </a:ext>
            </a:extLst>
          </p:cNvPr>
          <p:cNvPicPr>
            <a:picLocks noChangeAspect="1"/>
          </p:cNvPicPr>
          <p:nvPr/>
        </p:nvPicPr>
        <p:blipFill>
          <a:blip r:embed="rId3"/>
          <a:stretch>
            <a:fillRect/>
          </a:stretch>
        </p:blipFill>
        <p:spPr>
          <a:xfrm rot="1523687">
            <a:off x="9269482" y="3041293"/>
            <a:ext cx="1134497" cy="599156"/>
          </a:xfrm>
          <a:prstGeom prst="rect">
            <a:avLst/>
          </a:prstGeom>
        </p:spPr>
      </p:pic>
      <p:pic>
        <p:nvPicPr>
          <p:cNvPr id="11" name="Picture 10">
            <a:extLst>
              <a:ext uri="{FF2B5EF4-FFF2-40B4-BE49-F238E27FC236}">
                <a16:creationId xmlns:a16="http://schemas.microsoft.com/office/drawing/2014/main" id="{791E9B67-10EC-1AA4-A5E8-47C1707172A8}"/>
              </a:ext>
            </a:extLst>
          </p:cNvPr>
          <p:cNvPicPr>
            <a:picLocks noChangeAspect="1"/>
          </p:cNvPicPr>
          <p:nvPr/>
        </p:nvPicPr>
        <p:blipFill rotWithShape="1">
          <a:blip r:embed="rId4"/>
          <a:srcRect l="26429" t="3247" r="24723" b="2817"/>
          <a:stretch/>
        </p:blipFill>
        <p:spPr>
          <a:xfrm rot="20308301">
            <a:off x="10734652" y="4326432"/>
            <a:ext cx="1005900" cy="1934371"/>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6AAEC929-D47B-2FDD-AFA2-52AE3390DF28}"/>
              </a:ext>
            </a:extLst>
          </p:cNvPr>
          <p:cNvPicPr>
            <a:picLocks noChangeAspect="1"/>
          </p:cNvPicPr>
          <p:nvPr/>
        </p:nvPicPr>
        <p:blipFill>
          <a:blip r:embed="rId5"/>
          <a:stretch>
            <a:fillRect/>
          </a:stretch>
        </p:blipFill>
        <p:spPr>
          <a:xfrm rot="538350" flipH="1">
            <a:off x="8564312" y="384380"/>
            <a:ext cx="2531472" cy="2017267"/>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4D79C2A6-1CC9-2ADF-272F-ADD1B64D978F}"/>
              </a:ext>
            </a:extLst>
          </p:cNvPr>
          <p:cNvPicPr>
            <a:picLocks noChangeAspect="1"/>
          </p:cNvPicPr>
          <p:nvPr/>
        </p:nvPicPr>
        <p:blipFill rotWithShape="1">
          <a:blip r:embed="rId6"/>
          <a:srcRect t="34409" b="34623"/>
          <a:stretch/>
        </p:blipFill>
        <p:spPr>
          <a:xfrm rot="19496666">
            <a:off x="8412092" y="1611320"/>
            <a:ext cx="2656202" cy="82256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05705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725B1C-2916-4D63-980D-34A5C1D90E20}"/>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Effect>
                      <a14:colorTemperature colorTemp="11200"/>
                    </a14:imgEffect>
                  </a14:imgLayer>
                </a14:imgProps>
              </a:ext>
            </a:extLst>
          </a:blip>
          <a:srcRect l="19554" r="10344"/>
          <a:stretch/>
        </p:blipFill>
        <p:spPr>
          <a:xfrm>
            <a:off x="8992709" y="0"/>
            <a:ext cx="3205114" cy="6858000"/>
          </a:xfrm>
          <a:prstGeom prst="rect">
            <a:avLst/>
          </a:prstGeom>
          <a:effectLst>
            <a:outerShdw blurRad="50800" dist="38100" dir="10800000" algn="r" rotWithShape="0">
              <a:prstClr val="black">
                <a:alpha val="40000"/>
              </a:prstClr>
            </a:outerShdw>
          </a:effectLst>
        </p:spPr>
      </p:pic>
      <p:sp>
        <p:nvSpPr>
          <p:cNvPr id="2" name="Title 1">
            <a:extLst>
              <a:ext uri="{FF2B5EF4-FFF2-40B4-BE49-F238E27FC236}">
                <a16:creationId xmlns:a16="http://schemas.microsoft.com/office/drawing/2014/main" id="{0172AAE1-A89A-796E-F861-8B102D4BD0A5}"/>
              </a:ext>
            </a:extLst>
          </p:cNvPr>
          <p:cNvSpPr>
            <a:spLocks noGrp="1"/>
          </p:cNvSpPr>
          <p:nvPr>
            <p:ph type="title"/>
          </p:nvPr>
        </p:nvSpPr>
        <p:spPr>
          <a:xfrm>
            <a:off x="688157" y="429863"/>
            <a:ext cx="10665643" cy="785528"/>
          </a:xfrm>
        </p:spPr>
        <p:txBody>
          <a:bodyPr/>
          <a:lstStyle/>
          <a:p>
            <a:r>
              <a:rPr lang="es-ES" dirty="0"/>
              <a:t>Bibliografía</a:t>
            </a:r>
            <a:endParaRPr lang="en-US" dirty="0"/>
          </a:p>
        </p:txBody>
      </p:sp>
      <p:sp>
        <p:nvSpPr>
          <p:cNvPr id="3" name="Slide Number Placeholder 2">
            <a:extLst>
              <a:ext uri="{FF2B5EF4-FFF2-40B4-BE49-F238E27FC236}">
                <a16:creationId xmlns:a16="http://schemas.microsoft.com/office/drawing/2014/main" id="{4E7596FB-30E1-8EAC-F179-F56EE7A8D8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19</a:t>
            </a:fld>
            <a:endParaRPr lang="es-PE"/>
          </a:p>
        </p:txBody>
      </p:sp>
      <p:sp>
        <p:nvSpPr>
          <p:cNvPr id="4" name="Content Placeholder 3">
            <a:extLst>
              <a:ext uri="{FF2B5EF4-FFF2-40B4-BE49-F238E27FC236}">
                <a16:creationId xmlns:a16="http://schemas.microsoft.com/office/drawing/2014/main" id="{0293BD92-8F52-2949-7992-63F50DB2ABB3}"/>
              </a:ext>
            </a:extLst>
          </p:cNvPr>
          <p:cNvSpPr>
            <a:spLocks noGrp="1"/>
          </p:cNvSpPr>
          <p:nvPr>
            <p:ph sz="quarter" idx="13"/>
          </p:nvPr>
        </p:nvSpPr>
        <p:spPr>
          <a:xfrm>
            <a:off x="622169" y="1436914"/>
            <a:ext cx="7988431" cy="4782911"/>
          </a:xfrm>
        </p:spPr>
        <p:txBody>
          <a:bodyPr>
            <a:normAutofit fontScale="77500" lnSpcReduction="20000"/>
          </a:bodyPr>
          <a:lstStyle/>
          <a:p>
            <a:pPr>
              <a:lnSpc>
                <a:spcPct val="120000"/>
              </a:lnSpc>
            </a:pPr>
            <a:r>
              <a:rPr lang="es-ES" dirty="0"/>
              <a:t>Tanenbaum &amp; Van </a:t>
            </a:r>
            <a:r>
              <a:rPr lang="es-ES" dirty="0" err="1"/>
              <a:t>Steen</a:t>
            </a:r>
            <a:r>
              <a:rPr lang="es-ES" dirty="0"/>
              <a:t> (2008). </a:t>
            </a:r>
            <a:r>
              <a:rPr lang="es-ES" i="1" dirty="0">
                <a:solidFill>
                  <a:schemeClr val="bg1">
                    <a:lumMod val="50000"/>
                  </a:schemeClr>
                </a:solidFill>
              </a:rPr>
              <a:t>Algoritmos y Estructuras de Datos - Principios y Paradigmas, 2da Edición</a:t>
            </a:r>
            <a:r>
              <a:rPr lang="es-ES" dirty="0"/>
              <a:t>. Pearson </a:t>
            </a:r>
            <a:r>
              <a:rPr lang="es-ES" dirty="0" err="1"/>
              <a:t>Education</a:t>
            </a:r>
            <a:r>
              <a:rPr lang="es-ES" dirty="0"/>
              <a:t>​.</a:t>
            </a:r>
          </a:p>
          <a:p>
            <a:pPr>
              <a:lnSpc>
                <a:spcPct val="120000"/>
              </a:lnSpc>
            </a:pPr>
            <a:r>
              <a:rPr lang="en-US" dirty="0"/>
              <a:t>Khalid A. Mughal &amp; Rolf W. Rasmussen (2017). </a:t>
            </a:r>
            <a:r>
              <a:rPr lang="en-US" i="1" dirty="0">
                <a:solidFill>
                  <a:schemeClr val="bg1">
                    <a:lumMod val="50000"/>
                  </a:schemeClr>
                </a:solidFill>
              </a:rPr>
              <a:t>A Programmer’s guide to Java SE 8 Oracle Certified Associate</a:t>
            </a:r>
            <a:r>
              <a:rPr lang="es-ES" dirty="0"/>
              <a:t>.</a:t>
            </a:r>
          </a:p>
          <a:p>
            <a:pPr>
              <a:lnSpc>
                <a:spcPct val="120000"/>
              </a:lnSpc>
            </a:pPr>
            <a:r>
              <a:rPr lang="es-ES" dirty="0" err="1"/>
              <a:t>Schildt</a:t>
            </a:r>
            <a:r>
              <a:rPr lang="es-ES" dirty="0"/>
              <a:t>, Herbert (2019). </a:t>
            </a:r>
            <a:r>
              <a:rPr lang="es-ES" i="1" dirty="0">
                <a:solidFill>
                  <a:schemeClr val="bg1">
                    <a:lumMod val="50000"/>
                  </a:schemeClr>
                </a:solidFill>
              </a:rPr>
              <a:t>A Java </a:t>
            </a:r>
            <a:r>
              <a:rPr lang="es-ES" i="1" dirty="0" err="1">
                <a:solidFill>
                  <a:schemeClr val="bg1">
                    <a:lumMod val="50000"/>
                  </a:schemeClr>
                </a:solidFill>
              </a:rPr>
              <a:t>Beginner’s</a:t>
            </a:r>
            <a:r>
              <a:rPr lang="es-ES" i="1" dirty="0">
                <a:solidFill>
                  <a:schemeClr val="bg1">
                    <a:lumMod val="50000"/>
                  </a:schemeClr>
                </a:solidFill>
              </a:rPr>
              <a:t> Guide </a:t>
            </a:r>
            <a:r>
              <a:rPr lang="es-ES" i="1" dirty="0" err="1">
                <a:solidFill>
                  <a:schemeClr val="bg1">
                    <a:lumMod val="50000"/>
                  </a:schemeClr>
                </a:solidFill>
              </a:rPr>
              <a:t>Eighth</a:t>
            </a:r>
            <a:r>
              <a:rPr lang="es-ES" i="1" dirty="0">
                <a:solidFill>
                  <a:schemeClr val="bg1">
                    <a:lumMod val="50000"/>
                  </a:schemeClr>
                </a:solidFill>
              </a:rPr>
              <a:t> </a:t>
            </a:r>
            <a:r>
              <a:rPr lang="es-ES" i="1" dirty="0" err="1">
                <a:solidFill>
                  <a:schemeClr val="bg1">
                    <a:lumMod val="50000"/>
                  </a:schemeClr>
                </a:solidFill>
              </a:rPr>
              <a:t>Edition</a:t>
            </a:r>
            <a:r>
              <a:rPr lang="es-ES" dirty="0"/>
              <a:t>. Oracle </a:t>
            </a:r>
            <a:r>
              <a:rPr lang="es-ES" dirty="0" err="1"/>
              <a:t>Press</a:t>
            </a:r>
            <a:r>
              <a:rPr lang="es-ES" dirty="0"/>
              <a:t>.</a:t>
            </a:r>
          </a:p>
          <a:p>
            <a:pPr>
              <a:lnSpc>
                <a:spcPct val="120000"/>
              </a:lnSpc>
            </a:pPr>
            <a:r>
              <a:rPr lang="es-ES" dirty="0" err="1"/>
              <a:t>Schildt</a:t>
            </a:r>
            <a:r>
              <a:rPr lang="es-ES" dirty="0"/>
              <a:t>, Herbert (2019). </a:t>
            </a:r>
            <a:r>
              <a:rPr lang="es-ES" i="1" dirty="0">
                <a:solidFill>
                  <a:schemeClr val="bg1">
                    <a:lumMod val="50000"/>
                  </a:schemeClr>
                </a:solidFill>
              </a:rPr>
              <a:t>Java </a:t>
            </a:r>
            <a:r>
              <a:rPr lang="es-ES" i="1" dirty="0" err="1">
                <a:solidFill>
                  <a:schemeClr val="bg1">
                    <a:lumMod val="50000"/>
                  </a:schemeClr>
                </a:solidFill>
              </a:rPr>
              <a:t>The</a:t>
            </a:r>
            <a:r>
              <a:rPr lang="es-ES" i="1" dirty="0">
                <a:solidFill>
                  <a:schemeClr val="bg1">
                    <a:lumMod val="50000"/>
                  </a:schemeClr>
                </a:solidFill>
              </a:rPr>
              <a:t> Complete Reference </a:t>
            </a:r>
            <a:r>
              <a:rPr lang="es-ES" i="1" dirty="0" err="1">
                <a:solidFill>
                  <a:schemeClr val="bg1">
                    <a:lumMod val="50000"/>
                  </a:schemeClr>
                </a:solidFill>
              </a:rPr>
              <a:t>Eleventh</a:t>
            </a:r>
            <a:r>
              <a:rPr lang="es-ES" i="1" dirty="0">
                <a:solidFill>
                  <a:schemeClr val="bg1">
                    <a:lumMod val="50000"/>
                  </a:schemeClr>
                </a:solidFill>
              </a:rPr>
              <a:t> </a:t>
            </a:r>
            <a:r>
              <a:rPr lang="es-ES" i="1" dirty="0" err="1">
                <a:solidFill>
                  <a:schemeClr val="bg1">
                    <a:lumMod val="50000"/>
                  </a:schemeClr>
                </a:solidFill>
              </a:rPr>
              <a:t>Edition</a:t>
            </a:r>
            <a:r>
              <a:rPr lang="es-ES" dirty="0"/>
              <a:t>. Oracle </a:t>
            </a:r>
            <a:r>
              <a:rPr lang="es-ES" dirty="0" err="1"/>
              <a:t>Press</a:t>
            </a:r>
            <a:r>
              <a:rPr lang="es-ES" dirty="0"/>
              <a:t>.</a:t>
            </a:r>
          </a:p>
          <a:p>
            <a:pPr>
              <a:lnSpc>
                <a:spcPct val="120000"/>
              </a:lnSpc>
            </a:pPr>
            <a:r>
              <a:rPr lang="es-ES" dirty="0"/>
              <a:t>Joyanes, Luis (2008). </a:t>
            </a:r>
            <a:r>
              <a:rPr lang="es-ES" i="1" dirty="0">
                <a:solidFill>
                  <a:schemeClr val="bg1">
                    <a:lumMod val="50000"/>
                  </a:schemeClr>
                </a:solidFill>
              </a:rPr>
              <a:t>Fundamentos de Programación</a:t>
            </a:r>
            <a:r>
              <a:rPr lang="es-ES" dirty="0"/>
              <a:t>. </a:t>
            </a:r>
            <a:r>
              <a:rPr lang="es-ES" i="1" dirty="0">
                <a:solidFill>
                  <a:schemeClr val="bg1">
                    <a:lumMod val="50000"/>
                  </a:schemeClr>
                </a:solidFill>
              </a:rPr>
              <a:t>Cuarta edición</a:t>
            </a:r>
            <a:r>
              <a:rPr lang="es-ES" dirty="0"/>
              <a:t>. McGraw-Hill.</a:t>
            </a:r>
            <a:endParaRPr lang="en-US" dirty="0"/>
          </a:p>
        </p:txBody>
      </p:sp>
      <p:sp>
        <p:nvSpPr>
          <p:cNvPr id="6" name="TextBox 5">
            <a:extLst>
              <a:ext uri="{FF2B5EF4-FFF2-40B4-BE49-F238E27FC236}">
                <a16:creationId xmlns:a16="http://schemas.microsoft.com/office/drawing/2014/main" id="{E4B7CE11-3AE4-2A5E-0825-C0E9DFAB006E}"/>
              </a:ext>
            </a:extLst>
          </p:cNvPr>
          <p:cNvSpPr txBox="1"/>
          <p:nvPr/>
        </p:nvSpPr>
        <p:spPr>
          <a:xfrm>
            <a:off x="101604" y="6421002"/>
            <a:ext cx="10852341"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p>
          <a:p>
            <a:r>
              <a:rPr lang="en-US" sz="900" dirty="0">
                <a:solidFill>
                  <a:schemeClr val="bg1">
                    <a:lumMod val="50000"/>
                  </a:schemeClr>
                </a:solidFill>
              </a:rPr>
              <a:t>https://images.unsplash.com/photo-1567168544646-208fa5d408fb?ixlib=rb-4.0.3&amp;ixid=MnwxMjA3fDB8MHxzZWFyY2h8Mnx8c3R1ZGVudCUyMGxpYnJhcnl8ZW58MHx8MHx8&amp;w=1000&amp;q=80</a:t>
            </a:r>
          </a:p>
        </p:txBody>
      </p:sp>
    </p:spTree>
    <p:extLst>
      <p:ext uri="{BB962C8B-B14F-4D97-AF65-F5344CB8AC3E}">
        <p14:creationId xmlns:p14="http://schemas.microsoft.com/office/powerpoint/2010/main" val="359810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UTP">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1789</TotalTime>
  <Words>1705</Words>
  <Application>Microsoft Office PowerPoint</Application>
  <PresentationFormat>Panorámica</PresentationFormat>
  <Paragraphs>202</Paragraphs>
  <Slides>20</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Arial Black</vt:lpstr>
      <vt:lpstr>Helvetica</vt:lpstr>
      <vt:lpstr>JetBrains Mono</vt:lpstr>
      <vt:lpstr>var(--font-sofia)</vt:lpstr>
      <vt:lpstr>TemaUTP</vt:lpstr>
      <vt:lpstr>Taller de Programación</vt:lpstr>
      <vt:lpstr>Dudas de la clase anterior</vt:lpstr>
      <vt:lpstr>Dudas de la clase anterior</vt:lpstr>
      <vt:lpstr>Dudas de la clase anterior</vt:lpstr>
      <vt:lpstr>Dudas de la clase anterior</vt:lpstr>
      <vt:lpstr>Problemas con Estructuras Repetitivas y Arreglos</vt:lpstr>
      <vt:lpstr>Conocimientos previos</vt:lpstr>
      <vt:lpstr>Logro de aprendizaje</vt:lpstr>
      <vt:lpstr>Utilidad</vt:lpstr>
      <vt:lpstr>Presentación de PowerPoint</vt:lpstr>
      <vt:lpstr>Presentación de PowerPoint</vt:lpstr>
      <vt:lpstr>Operaciones con arreglos (repaso)</vt:lpstr>
      <vt:lpstr>Arreglos paralelos. Ejemplo.</vt:lpstr>
      <vt:lpstr>Presentación de PowerPoint</vt:lpstr>
      <vt:lpstr>Ejercicio 1 (Guiado por el docente)</vt:lpstr>
      <vt:lpstr>Ejercicio 2 (Grupal)</vt:lpstr>
      <vt:lpstr>Ejercicio 3 (Grupal)</vt:lpstr>
      <vt:lpstr>Resumen de la sesión</vt:lpstr>
      <vt:lpstr>Bibliografía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UTP - Taller Programación - Semana 10-Sesión 19</dc:title>
  <dc:creator>jorgerodcas@hotmail.com</dc:creator>
  <cp:lastModifiedBy>Juan Carlos García</cp:lastModifiedBy>
  <cp:revision>146</cp:revision>
  <dcterms:modified xsi:type="dcterms:W3CDTF">2023-10-23T15:45:49Z</dcterms:modified>
</cp:coreProperties>
</file>