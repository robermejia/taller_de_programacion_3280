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430" r:id="rId3"/>
    <p:sldId id="442" r:id="rId4"/>
    <p:sldId id="443" r:id="rId5"/>
    <p:sldId id="258" r:id="rId6"/>
    <p:sldId id="257" r:id="rId7"/>
    <p:sldId id="263" r:id="rId8"/>
    <p:sldId id="431" r:id="rId9"/>
    <p:sldId id="330" r:id="rId10"/>
    <p:sldId id="434" r:id="rId11"/>
    <p:sldId id="401" r:id="rId12"/>
    <p:sldId id="435" r:id="rId13"/>
    <p:sldId id="436" r:id="rId14"/>
    <p:sldId id="380" r:id="rId15"/>
    <p:sldId id="439" r:id="rId16"/>
    <p:sldId id="440" r:id="rId17"/>
    <p:sldId id="441" r:id="rId18"/>
    <p:sldId id="437" r:id="rId19"/>
    <p:sldId id="429" r:id="rId20"/>
    <p:sldId id="432" r:id="rId21"/>
    <p:sldId id="433" r:id="rId22"/>
    <p:sldId id="327" r:id="rId23"/>
    <p:sldId id="261" r:id="rId24"/>
    <p:sldId id="329" r:id="rId25"/>
    <p:sldId id="25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40"/>
    <a:srgbClr val="007376"/>
    <a:srgbClr val="00969A"/>
    <a:srgbClr val="1B5E8B"/>
    <a:srgbClr val="00C7CA"/>
    <a:srgbClr val="00ECF2"/>
    <a:srgbClr val="758F3A"/>
    <a:srgbClr val="EF477C"/>
    <a:srgbClr val="0E7D73"/>
    <a:srgbClr val="CC78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60B73-A423-B812-5CE1-C8DAD5587D31}" v="389" dt="2023-01-25T19:12:52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6346" autoAdjust="0"/>
  </p:normalViewPr>
  <p:slideViewPr>
    <p:cSldViewPr snapToGrid="0">
      <p:cViewPr varScale="1">
        <p:scale>
          <a:sx n="124" d="100"/>
          <a:sy n="124" d="100"/>
        </p:scale>
        <p:origin x="389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8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8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Respuesta: A</a:t>
            </a: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787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614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894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974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45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135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82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C8AA-73DB-2B5C-CE5B-00DFF3B5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1DB303-BDE1-F424-94B5-2ED3E87665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946E68-0E8C-B2D0-D9BE-2EFA47F7A6E7}"/>
              </a:ext>
            </a:extLst>
          </p:cNvPr>
          <p:cNvGrpSpPr/>
          <p:nvPr/>
        </p:nvGrpSpPr>
        <p:grpSpPr>
          <a:xfrm>
            <a:off x="4799814" y="2043735"/>
            <a:ext cx="2592371" cy="3964520"/>
            <a:chOff x="7967908" y="2046145"/>
            <a:chExt cx="2592371" cy="396452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1FE17B-9115-A922-DFBA-6FD23C1712A0}"/>
                </a:ext>
              </a:extLst>
            </p:cNvPr>
            <p:cNvSpPr/>
            <p:nvPr/>
          </p:nvSpPr>
          <p:spPr>
            <a:xfrm>
              <a:off x="8006710" y="2055422"/>
              <a:ext cx="2552474" cy="3955243"/>
            </a:xfrm>
            <a:custGeom>
              <a:avLst/>
              <a:gdLst>
                <a:gd name="connsiteX0" fmla="*/ 1050487 w 2552474"/>
                <a:gd name="connsiteY0" fmla="*/ 3463255 h 3955243"/>
                <a:gd name="connsiteX1" fmla="*/ 1296481 w 2552474"/>
                <a:gd name="connsiteY1" fmla="*/ 3709249 h 3955243"/>
                <a:gd name="connsiteX2" fmla="*/ 1050487 w 2552474"/>
                <a:gd name="connsiteY2" fmla="*/ 3955243 h 3955243"/>
                <a:gd name="connsiteX3" fmla="*/ 804493 w 2552474"/>
                <a:gd name="connsiteY3" fmla="*/ 3709249 h 3955243"/>
                <a:gd name="connsiteX4" fmla="*/ 1050487 w 2552474"/>
                <a:gd name="connsiteY4" fmla="*/ 3463255 h 3955243"/>
                <a:gd name="connsiteX5" fmla="*/ 1191640 w 2552474"/>
                <a:gd name="connsiteY5" fmla="*/ 1566 h 3955243"/>
                <a:gd name="connsiteX6" fmla="*/ 1576649 w 2552474"/>
                <a:gd name="connsiteY6" fmla="*/ 40586 h 3955243"/>
                <a:gd name="connsiteX7" fmla="*/ 2540080 w 2552474"/>
                <a:gd name="connsiteY7" fmla="*/ 1473916 h 3955243"/>
                <a:gd name="connsiteX8" fmla="*/ 2518984 w 2552474"/>
                <a:gd name="connsiteY8" fmla="*/ 1584291 h 3955243"/>
                <a:gd name="connsiteX9" fmla="*/ 2518922 w 2552474"/>
                <a:gd name="connsiteY9" fmla="*/ 1584912 h 3955243"/>
                <a:gd name="connsiteX10" fmla="*/ 2518776 w 2552474"/>
                <a:gd name="connsiteY10" fmla="*/ 1585382 h 3955243"/>
                <a:gd name="connsiteX11" fmla="*/ 2515358 w 2552474"/>
                <a:gd name="connsiteY11" fmla="*/ 1603261 h 3955243"/>
                <a:gd name="connsiteX12" fmla="*/ 1348912 w 2552474"/>
                <a:gd name="connsiteY12" fmla="*/ 2589670 h 3955243"/>
                <a:gd name="connsiteX13" fmla="*/ 1296481 w 2552474"/>
                <a:gd name="connsiteY13" fmla="*/ 2590819 h 3955243"/>
                <a:gd name="connsiteX14" fmla="*/ 1296480 w 2552474"/>
                <a:gd name="connsiteY14" fmla="*/ 3119396 h 3955243"/>
                <a:gd name="connsiteX15" fmla="*/ 1050486 w 2552474"/>
                <a:gd name="connsiteY15" fmla="*/ 3365390 h 3955243"/>
                <a:gd name="connsiteX16" fmla="*/ 1050487 w 2552474"/>
                <a:gd name="connsiteY16" fmla="*/ 3365389 h 3955243"/>
                <a:gd name="connsiteX17" fmla="*/ 804493 w 2552474"/>
                <a:gd name="connsiteY17" fmla="*/ 3119395 h 3955243"/>
                <a:gd name="connsiteX18" fmla="*/ 804493 w 2552474"/>
                <a:gd name="connsiteY18" fmla="*/ 2324709 h 3955243"/>
                <a:gd name="connsiteX19" fmla="*/ 1050487 w 2552474"/>
                <a:gd name="connsiteY19" fmla="*/ 2078715 h 3955243"/>
                <a:gd name="connsiteX20" fmla="*/ 1073491 w 2552474"/>
                <a:gd name="connsiteY20" fmla="*/ 2083359 h 3955243"/>
                <a:gd name="connsiteX21" fmla="*/ 1074523 w 2552474"/>
                <a:gd name="connsiteY21" fmla="*/ 2078909 h 3955243"/>
                <a:gd name="connsiteX22" fmla="*/ 2036373 w 2552474"/>
                <a:gd name="connsiteY22" fmla="*/ 1486582 h 3955243"/>
                <a:gd name="connsiteX23" fmla="*/ 1454693 w 2552474"/>
                <a:gd name="connsiteY23" fmla="*/ 518256 h 3955243"/>
                <a:gd name="connsiteX24" fmla="*/ 480009 w 2552474"/>
                <a:gd name="connsiteY24" fmla="*/ 1089218 h 3955243"/>
                <a:gd name="connsiteX25" fmla="*/ 478420 w 2552474"/>
                <a:gd name="connsiteY25" fmla="*/ 1088794 h 3955243"/>
                <a:gd name="connsiteX26" fmla="*/ 472657 w 2552474"/>
                <a:gd name="connsiteY26" fmla="*/ 1107360 h 3955243"/>
                <a:gd name="connsiteX27" fmla="*/ 245994 w 2552474"/>
                <a:gd name="connsiteY27" fmla="*/ 1257602 h 3955243"/>
                <a:gd name="connsiteX28" fmla="*/ 0 w 2552474"/>
                <a:gd name="connsiteY28" fmla="*/ 1011608 h 3955243"/>
                <a:gd name="connsiteX29" fmla="*/ 4968 w 2552474"/>
                <a:gd name="connsiteY29" fmla="*/ 962333 h 3955243"/>
                <a:gd name="connsiteX30" fmla="*/ 3714 w 2552474"/>
                <a:gd name="connsiteY30" fmla="*/ 961998 h 3955243"/>
                <a:gd name="connsiteX31" fmla="*/ 1191640 w 2552474"/>
                <a:gd name="connsiteY31" fmla="*/ 1566 h 3955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52474" h="3955243">
                  <a:moveTo>
                    <a:pt x="1050487" y="3463255"/>
                  </a:moveTo>
                  <a:cubicBezTo>
                    <a:pt x="1186346" y="3463255"/>
                    <a:pt x="1296481" y="3573390"/>
                    <a:pt x="1296481" y="3709249"/>
                  </a:cubicBezTo>
                  <a:cubicBezTo>
                    <a:pt x="1296481" y="3845108"/>
                    <a:pt x="1186346" y="3955243"/>
                    <a:pt x="1050487" y="3955243"/>
                  </a:cubicBezTo>
                  <a:cubicBezTo>
                    <a:pt x="914628" y="3955243"/>
                    <a:pt x="804493" y="3845108"/>
                    <a:pt x="804493" y="3709249"/>
                  </a:cubicBezTo>
                  <a:cubicBezTo>
                    <a:pt x="804493" y="3573390"/>
                    <a:pt x="914628" y="3463255"/>
                    <a:pt x="1050487" y="3463255"/>
                  </a:cubicBezTo>
                  <a:close/>
                  <a:moveTo>
                    <a:pt x="1191640" y="1566"/>
                  </a:moveTo>
                  <a:cubicBezTo>
                    <a:pt x="1318106" y="-4682"/>
                    <a:pt x="1447610" y="7641"/>
                    <a:pt x="1576649" y="40586"/>
                  </a:cubicBezTo>
                  <a:cubicBezTo>
                    <a:pt x="2221845" y="205315"/>
                    <a:pt x="2630087" y="828084"/>
                    <a:pt x="2540080" y="1473916"/>
                  </a:cubicBezTo>
                  <a:lnTo>
                    <a:pt x="2518984" y="1584291"/>
                  </a:lnTo>
                  <a:lnTo>
                    <a:pt x="2518922" y="1584912"/>
                  </a:lnTo>
                  <a:lnTo>
                    <a:pt x="2518776" y="1585382"/>
                  </a:lnTo>
                  <a:lnTo>
                    <a:pt x="2515358" y="1603261"/>
                  </a:lnTo>
                  <a:cubicBezTo>
                    <a:pt x="2378771" y="2163972"/>
                    <a:pt x="1896202" y="2550511"/>
                    <a:pt x="1348912" y="2589670"/>
                  </a:cubicBezTo>
                  <a:lnTo>
                    <a:pt x="1296481" y="2590819"/>
                  </a:lnTo>
                  <a:lnTo>
                    <a:pt x="1296480" y="3119396"/>
                  </a:lnTo>
                  <a:cubicBezTo>
                    <a:pt x="1296480" y="3255255"/>
                    <a:pt x="1186345" y="3365390"/>
                    <a:pt x="1050486" y="3365390"/>
                  </a:cubicBezTo>
                  <a:lnTo>
                    <a:pt x="1050487" y="3365389"/>
                  </a:lnTo>
                  <a:cubicBezTo>
                    <a:pt x="914628" y="3365389"/>
                    <a:pt x="804493" y="3255254"/>
                    <a:pt x="804493" y="3119395"/>
                  </a:cubicBezTo>
                  <a:lnTo>
                    <a:pt x="804493" y="2324709"/>
                  </a:lnTo>
                  <a:cubicBezTo>
                    <a:pt x="804493" y="2188850"/>
                    <a:pt x="914628" y="2078715"/>
                    <a:pt x="1050487" y="2078715"/>
                  </a:cubicBezTo>
                  <a:lnTo>
                    <a:pt x="1073491" y="2083359"/>
                  </a:lnTo>
                  <a:lnTo>
                    <a:pt x="1074523" y="2078909"/>
                  </a:lnTo>
                  <a:cubicBezTo>
                    <a:pt x="1503277" y="2178354"/>
                    <a:pt x="1932204" y="1914212"/>
                    <a:pt x="2036373" y="1486582"/>
                  </a:cubicBezTo>
                  <a:cubicBezTo>
                    <a:pt x="2140542" y="1058952"/>
                    <a:pt x="1881148" y="627137"/>
                    <a:pt x="1454693" y="518256"/>
                  </a:cubicBezTo>
                  <a:cubicBezTo>
                    <a:pt x="1028238" y="409375"/>
                    <a:pt x="593587" y="663990"/>
                    <a:pt x="480009" y="1089218"/>
                  </a:cubicBezTo>
                  <a:lnTo>
                    <a:pt x="478420" y="1088794"/>
                  </a:lnTo>
                  <a:lnTo>
                    <a:pt x="472657" y="1107360"/>
                  </a:lnTo>
                  <a:cubicBezTo>
                    <a:pt x="435313" y="1195651"/>
                    <a:pt x="347889" y="1257602"/>
                    <a:pt x="245994" y="1257602"/>
                  </a:cubicBezTo>
                  <a:cubicBezTo>
                    <a:pt x="110135" y="1257602"/>
                    <a:pt x="0" y="1147467"/>
                    <a:pt x="0" y="1011608"/>
                  </a:cubicBezTo>
                  <a:lnTo>
                    <a:pt x="4968" y="962333"/>
                  </a:lnTo>
                  <a:lnTo>
                    <a:pt x="3714" y="961998"/>
                  </a:lnTo>
                  <a:cubicBezTo>
                    <a:pt x="152639" y="404437"/>
                    <a:pt x="643618" y="28640"/>
                    <a:pt x="1191640" y="1566"/>
                  </a:cubicBezTo>
                  <a:close/>
                </a:path>
              </a:pathLst>
            </a:custGeom>
            <a:solidFill>
              <a:srgbClr val="00C7CA"/>
            </a:solidFill>
            <a:ln w="228600">
              <a:solidFill>
                <a:srgbClr val="00ECF2"/>
              </a:solidFill>
            </a:ln>
            <a:effectLst>
              <a:outerShdw blurRad="1524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89DC39-1B53-6D26-2491-A0B2691AE50C}"/>
                </a:ext>
              </a:extLst>
            </p:cNvPr>
            <p:cNvGrpSpPr/>
            <p:nvPr/>
          </p:nvGrpSpPr>
          <p:grpSpPr>
            <a:xfrm>
              <a:off x="7967908" y="2046145"/>
              <a:ext cx="2592371" cy="3954943"/>
              <a:chOff x="7654564" y="2132814"/>
              <a:chExt cx="2592371" cy="3954943"/>
            </a:xfrm>
          </p:grpSpPr>
          <p:sp>
            <p:nvSpPr>
              <p:cNvPr id="5" name="Block Arc 4">
                <a:extLst>
                  <a:ext uri="{FF2B5EF4-FFF2-40B4-BE49-F238E27FC236}">
                    <a16:creationId xmlns:a16="http://schemas.microsoft.com/office/drawing/2014/main" id="{FEAED553-AFA7-A1D4-8E99-6ADC4EA8E7E6}"/>
                  </a:ext>
                </a:extLst>
              </p:cNvPr>
              <p:cNvSpPr/>
              <p:nvPr/>
            </p:nvSpPr>
            <p:spPr>
              <a:xfrm>
                <a:off x="7654564" y="2132814"/>
                <a:ext cx="2592371" cy="2592371"/>
              </a:xfrm>
              <a:prstGeom prst="blockArc">
                <a:avLst>
                  <a:gd name="adj1" fmla="val 11697278"/>
                  <a:gd name="adj2" fmla="val 6183499"/>
                  <a:gd name="adj3" fmla="val 19017"/>
                </a:avLst>
              </a:prstGeom>
              <a:solidFill>
                <a:srgbClr val="00C7CA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8505FD-0383-B5AA-86DA-4B985156D803}"/>
                  </a:ext>
                </a:extLst>
              </p:cNvPr>
              <p:cNvSpPr/>
              <p:nvPr/>
            </p:nvSpPr>
            <p:spPr>
              <a:xfrm>
                <a:off x="7694751" y="2898129"/>
                <a:ext cx="491987" cy="491987"/>
              </a:xfrm>
              <a:prstGeom prst="ellipse">
                <a:avLst/>
              </a:prstGeom>
              <a:solidFill>
                <a:srgbClr val="1B5E8B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BB46384-3ECA-B1A7-EB92-93D99E583C6A}"/>
                  </a:ext>
                </a:extLst>
              </p:cNvPr>
              <p:cNvSpPr/>
              <p:nvPr/>
            </p:nvSpPr>
            <p:spPr>
              <a:xfrm>
                <a:off x="8499244" y="5595770"/>
                <a:ext cx="491987" cy="491987"/>
              </a:xfrm>
              <a:prstGeom prst="ellipse">
                <a:avLst/>
              </a:prstGeom>
              <a:solidFill>
                <a:srgbClr val="00C7CA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BE3F0157-DD41-E879-C08A-83D0BABC6B7D}"/>
                  </a:ext>
                </a:extLst>
              </p:cNvPr>
              <p:cNvSpPr/>
              <p:nvPr/>
            </p:nvSpPr>
            <p:spPr>
              <a:xfrm>
                <a:off x="8499244" y="4211230"/>
                <a:ext cx="491987" cy="1286674"/>
              </a:xfrm>
              <a:prstGeom prst="roundRect">
                <a:avLst>
                  <a:gd name="adj" fmla="val 50000"/>
                </a:avLst>
              </a:prstGeom>
              <a:solidFill>
                <a:srgbClr val="007376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562C395-2E36-652A-4B21-23CDDB1E65B2}"/>
                  </a:ext>
                </a:extLst>
              </p:cNvPr>
              <p:cNvSpPr/>
              <p:nvPr/>
            </p:nvSpPr>
            <p:spPr>
              <a:xfrm>
                <a:off x="9726682" y="3421856"/>
                <a:ext cx="491987" cy="491987"/>
              </a:xfrm>
              <a:prstGeom prst="ellipse">
                <a:avLst/>
              </a:prstGeom>
              <a:solidFill>
                <a:srgbClr val="00969A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5802A29-F617-E238-DA9F-262CE86CB6FC}"/>
              </a:ext>
            </a:extLst>
          </p:cNvPr>
          <p:cNvSpPr txBox="1"/>
          <p:nvPr/>
        </p:nvSpPr>
        <p:spPr>
          <a:xfrm>
            <a:off x="1312157" y="2224275"/>
            <a:ext cx="18547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rgbClr val="1B5E8B"/>
                </a:solidFill>
              </a:rPr>
              <a:t>Bucle </a:t>
            </a:r>
            <a:r>
              <a:rPr lang="es-ES" sz="3200" b="1" dirty="0" err="1">
                <a:solidFill>
                  <a:srgbClr val="1B5E8B"/>
                </a:solidFill>
              </a:rPr>
              <a:t>for</a:t>
            </a:r>
            <a:endParaRPr lang="en-US" sz="3200" dirty="0">
              <a:solidFill>
                <a:srgbClr val="1B5E8B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63C39-1CD0-89B5-B395-059DBD2D4958}"/>
              </a:ext>
            </a:extLst>
          </p:cNvPr>
          <p:cNvSpPr txBox="1"/>
          <p:nvPr/>
        </p:nvSpPr>
        <p:spPr>
          <a:xfrm>
            <a:off x="7906644" y="3824764"/>
            <a:ext cx="35968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>
                    <a:lumMod val="85000"/>
                  </a:schemeClr>
                </a:solidFill>
              </a:rPr>
              <a:t>Bucle </a:t>
            </a:r>
            <a:r>
              <a:rPr lang="es-ES" sz="3200" b="1" dirty="0" err="1">
                <a:solidFill>
                  <a:schemeClr val="bg1">
                    <a:lumMod val="85000"/>
                  </a:schemeClr>
                </a:solidFill>
              </a:rPr>
              <a:t>for</a:t>
            </a:r>
            <a:r>
              <a:rPr lang="es-ES" sz="3200" dirty="0">
                <a:solidFill>
                  <a:schemeClr val="bg1">
                    <a:lumMod val="85000"/>
                  </a:schemeClr>
                </a:solidFill>
              </a:rPr>
              <a:t> vs </a:t>
            </a:r>
            <a:r>
              <a:rPr lang="es-ES" sz="3200" b="1" dirty="0" err="1">
                <a:solidFill>
                  <a:schemeClr val="bg1">
                    <a:lumMod val="85000"/>
                  </a:schemeClr>
                </a:solidFill>
              </a:rPr>
              <a:t>while</a:t>
            </a:r>
            <a:r>
              <a:rPr lang="es-ES" sz="3200" dirty="0">
                <a:solidFill>
                  <a:schemeClr val="bg1">
                    <a:lumMod val="85000"/>
                  </a:schemeClr>
                </a:solidFill>
              </a:rPr>
              <a:t> vs </a:t>
            </a:r>
            <a:r>
              <a:rPr lang="es-ES" sz="3200" b="1" dirty="0">
                <a:solidFill>
                  <a:schemeClr val="bg1">
                    <a:lumMod val="85000"/>
                  </a:schemeClr>
                </a:solidFill>
              </a:rPr>
              <a:t>do-</a:t>
            </a:r>
            <a:r>
              <a:rPr lang="es-ES" sz="3200" b="1" dirty="0" err="1">
                <a:solidFill>
                  <a:schemeClr val="bg1">
                    <a:lumMod val="85000"/>
                  </a:schemeClr>
                </a:solidFill>
              </a:rPr>
              <a:t>while</a:t>
            </a:r>
            <a:endParaRPr lang="en-US" sz="3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8A46E9-2D34-B959-7435-6B03B0AD92A4}"/>
              </a:ext>
            </a:extLst>
          </p:cNvPr>
          <p:cNvSpPr txBox="1"/>
          <p:nvPr/>
        </p:nvSpPr>
        <p:spPr>
          <a:xfrm>
            <a:off x="1536953" y="5044568"/>
            <a:ext cx="32598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>
                    <a:lumMod val="85000"/>
                  </a:schemeClr>
                </a:solidFill>
              </a:rPr>
              <a:t>¿Cuándo usar cada una?</a:t>
            </a:r>
            <a:endParaRPr lang="en-US" sz="32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F671486-334B-EBF7-20C4-4B6FF53B65A9}"/>
              </a:ext>
            </a:extLst>
          </p:cNvPr>
          <p:cNvCxnSpPr/>
          <p:nvPr/>
        </p:nvCxnSpPr>
        <p:spPr>
          <a:xfrm>
            <a:off x="1385081" y="3036189"/>
            <a:ext cx="3809749" cy="0"/>
          </a:xfrm>
          <a:prstGeom prst="line">
            <a:avLst/>
          </a:prstGeom>
          <a:ln w="28575">
            <a:solidFill>
              <a:srgbClr val="1B5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1D2723-E361-51D0-A246-FDD5516C37CC}"/>
              </a:ext>
            </a:extLst>
          </p:cNvPr>
          <p:cNvCxnSpPr/>
          <p:nvPr/>
        </p:nvCxnSpPr>
        <p:spPr>
          <a:xfrm>
            <a:off x="7117925" y="3579528"/>
            <a:ext cx="3809749" cy="0"/>
          </a:xfrm>
          <a:prstGeom prst="line">
            <a:avLst/>
          </a:prstGeom>
          <a:ln w="28575">
            <a:solidFill>
              <a:srgbClr val="0096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04044D0-7852-A117-956E-D60AD70335F3}"/>
              </a:ext>
            </a:extLst>
          </p:cNvPr>
          <p:cNvCxnSpPr/>
          <p:nvPr/>
        </p:nvCxnSpPr>
        <p:spPr>
          <a:xfrm>
            <a:off x="1896794" y="4901982"/>
            <a:ext cx="3809749" cy="0"/>
          </a:xfrm>
          <a:prstGeom prst="line">
            <a:avLst/>
          </a:prstGeom>
          <a:ln w="28575">
            <a:solidFill>
              <a:srgbClr val="007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80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C8AA-73DB-2B5C-CE5B-00DFF3B5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1DB303-BDE1-F424-94B5-2ED3E87665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946E68-0E8C-B2D0-D9BE-2EFA47F7A6E7}"/>
              </a:ext>
            </a:extLst>
          </p:cNvPr>
          <p:cNvGrpSpPr/>
          <p:nvPr/>
        </p:nvGrpSpPr>
        <p:grpSpPr>
          <a:xfrm>
            <a:off x="4799814" y="2043735"/>
            <a:ext cx="2592371" cy="3964520"/>
            <a:chOff x="7967908" y="2046145"/>
            <a:chExt cx="2592371" cy="396452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1FE17B-9115-A922-DFBA-6FD23C1712A0}"/>
                </a:ext>
              </a:extLst>
            </p:cNvPr>
            <p:cNvSpPr/>
            <p:nvPr/>
          </p:nvSpPr>
          <p:spPr>
            <a:xfrm>
              <a:off x="8006710" y="2055422"/>
              <a:ext cx="2552474" cy="3955243"/>
            </a:xfrm>
            <a:custGeom>
              <a:avLst/>
              <a:gdLst>
                <a:gd name="connsiteX0" fmla="*/ 1050487 w 2552474"/>
                <a:gd name="connsiteY0" fmla="*/ 3463255 h 3955243"/>
                <a:gd name="connsiteX1" fmla="*/ 1296481 w 2552474"/>
                <a:gd name="connsiteY1" fmla="*/ 3709249 h 3955243"/>
                <a:gd name="connsiteX2" fmla="*/ 1050487 w 2552474"/>
                <a:gd name="connsiteY2" fmla="*/ 3955243 h 3955243"/>
                <a:gd name="connsiteX3" fmla="*/ 804493 w 2552474"/>
                <a:gd name="connsiteY3" fmla="*/ 3709249 h 3955243"/>
                <a:gd name="connsiteX4" fmla="*/ 1050487 w 2552474"/>
                <a:gd name="connsiteY4" fmla="*/ 3463255 h 3955243"/>
                <a:gd name="connsiteX5" fmla="*/ 1191640 w 2552474"/>
                <a:gd name="connsiteY5" fmla="*/ 1566 h 3955243"/>
                <a:gd name="connsiteX6" fmla="*/ 1576649 w 2552474"/>
                <a:gd name="connsiteY6" fmla="*/ 40586 h 3955243"/>
                <a:gd name="connsiteX7" fmla="*/ 2540080 w 2552474"/>
                <a:gd name="connsiteY7" fmla="*/ 1473916 h 3955243"/>
                <a:gd name="connsiteX8" fmla="*/ 2518984 w 2552474"/>
                <a:gd name="connsiteY8" fmla="*/ 1584291 h 3955243"/>
                <a:gd name="connsiteX9" fmla="*/ 2518922 w 2552474"/>
                <a:gd name="connsiteY9" fmla="*/ 1584912 h 3955243"/>
                <a:gd name="connsiteX10" fmla="*/ 2518776 w 2552474"/>
                <a:gd name="connsiteY10" fmla="*/ 1585382 h 3955243"/>
                <a:gd name="connsiteX11" fmla="*/ 2515358 w 2552474"/>
                <a:gd name="connsiteY11" fmla="*/ 1603261 h 3955243"/>
                <a:gd name="connsiteX12" fmla="*/ 1348912 w 2552474"/>
                <a:gd name="connsiteY12" fmla="*/ 2589670 h 3955243"/>
                <a:gd name="connsiteX13" fmla="*/ 1296481 w 2552474"/>
                <a:gd name="connsiteY13" fmla="*/ 2590819 h 3955243"/>
                <a:gd name="connsiteX14" fmla="*/ 1296480 w 2552474"/>
                <a:gd name="connsiteY14" fmla="*/ 3119396 h 3955243"/>
                <a:gd name="connsiteX15" fmla="*/ 1050486 w 2552474"/>
                <a:gd name="connsiteY15" fmla="*/ 3365390 h 3955243"/>
                <a:gd name="connsiteX16" fmla="*/ 1050487 w 2552474"/>
                <a:gd name="connsiteY16" fmla="*/ 3365389 h 3955243"/>
                <a:gd name="connsiteX17" fmla="*/ 804493 w 2552474"/>
                <a:gd name="connsiteY17" fmla="*/ 3119395 h 3955243"/>
                <a:gd name="connsiteX18" fmla="*/ 804493 w 2552474"/>
                <a:gd name="connsiteY18" fmla="*/ 2324709 h 3955243"/>
                <a:gd name="connsiteX19" fmla="*/ 1050487 w 2552474"/>
                <a:gd name="connsiteY19" fmla="*/ 2078715 h 3955243"/>
                <a:gd name="connsiteX20" fmla="*/ 1073491 w 2552474"/>
                <a:gd name="connsiteY20" fmla="*/ 2083359 h 3955243"/>
                <a:gd name="connsiteX21" fmla="*/ 1074523 w 2552474"/>
                <a:gd name="connsiteY21" fmla="*/ 2078909 h 3955243"/>
                <a:gd name="connsiteX22" fmla="*/ 2036373 w 2552474"/>
                <a:gd name="connsiteY22" fmla="*/ 1486582 h 3955243"/>
                <a:gd name="connsiteX23" fmla="*/ 1454693 w 2552474"/>
                <a:gd name="connsiteY23" fmla="*/ 518256 h 3955243"/>
                <a:gd name="connsiteX24" fmla="*/ 480009 w 2552474"/>
                <a:gd name="connsiteY24" fmla="*/ 1089218 h 3955243"/>
                <a:gd name="connsiteX25" fmla="*/ 478420 w 2552474"/>
                <a:gd name="connsiteY25" fmla="*/ 1088794 h 3955243"/>
                <a:gd name="connsiteX26" fmla="*/ 472657 w 2552474"/>
                <a:gd name="connsiteY26" fmla="*/ 1107360 h 3955243"/>
                <a:gd name="connsiteX27" fmla="*/ 245994 w 2552474"/>
                <a:gd name="connsiteY27" fmla="*/ 1257602 h 3955243"/>
                <a:gd name="connsiteX28" fmla="*/ 0 w 2552474"/>
                <a:gd name="connsiteY28" fmla="*/ 1011608 h 3955243"/>
                <a:gd name="connsiteX29" fmla="*/ 4968 w 2552474"/>
                <a:gd name="connsiteY29" fmla="*/ 962333 h 3955243"/>
                <a:gd name="connsiteX30" fmla="*/ 3714 w 2552474"/>
                <a:gd name="connsiteY30" fmla="*/ 961998 h 3955243"/>
                <a:gd name="connsiteX31" fmla="*/ 1191640 w 2552474"/>
                <a:gd name="connsiteY31" fmla="*/ 1566 h 3955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52474" h="3955243">
                  <a:moveTo>
                    <a:pt x="1050487" y="3463255"/>
                  </a:moveTo>
                  <a:cubicBezTo>
                    <a:pt x="1186346" y="3463255"/>
                    <a:pt x="1296481" y="3573390"/>
                    <a:pt x="1296481" y="3709249"/>
                  </a:cubicBezTo>
                  <a:cubicBezTo>
                    <a:pt x="1296481" y="3845108"/>
                    <a:pt x="1186346" y="3955243"/>
                    <a:pt x="1050487" y="3955243"/>
                  </a:cubicBezTo>
                  <a:cubicBezTo>
                    <a:pt x="914628" y="3955243"/>
                    <a:pt x="804493" y="3845108"/>
                    <a:pt x="804493" y="3709249"/>
                  </a:cubicBezTo>
                  <a:cubicBezTo>
                    <a:pt x="804493" y="3573390"/>
                    <a:pt x="914628" y="3463255"/>
                    <a:pt x="1050487" y="3463255"/>
                  </a:cubicBezTo>
                  <a:close/>
                  <a:moveTo>
                    <a:pt x="1191640" y="1566"/>
                  </a:moveTo>
                  <a:cubicBezTo>
                    <a:pt x="1318106" y="-4682"/>
                    <a:pt x="1447610" y="7641"/>
                    <a:pt x="1576649" y="40586"/>
                  </a:cubicBezTo>
                  <a:cubicBezTo>
                    <a:pt x="2221845" y="205315"/>
                    <a:pt x="2630087" y="828084"/>
                    <a:pt x="2540080" y="1473916"/>
                  </a:cubicBezTo>
                  <a:lnTo>
                    <a:pt x="2518984" y="1584291"/>
                  </a:lnTo>
                  <a:lnTo>
                    <a:pt x="2518922" y="1584912"/>
                  </a:lnTo>
                  <a:lnTo>
                    <a:pt x="2518776" y="1585382"/>
                  </a:lnTo>
                  <a:lnTo>
                    <a:pt x="2515358" y="1603261"/>
                  </a:lnTo>
                  <a:cubicBezTo>
                    <a:pt x="2378771" y="2163972"/>
                    <a:pt x="1896202" y="2550511"/>
                    <a:pt x="1348912" y="2589670"/>
                  </a:cubicBezTo>
                  <a:lnTo>
                    <a:pt x="1296481" y="2590819"/>
                  </a:lnTo>
                  <a:lnTo>
                    <a:pt x="1296480" y="3119396"/>
                  </a:lnTo>
                  <a:cubicBezTo>
                    <a:pt x="1296480" y="3255255"/>
                    <a:pt x="1186345" y="3365390"/>
                    <a:pt x="1050486" y="3365390"/>
                  </a:cubicBezTo>
                  <a:lnTo>
                    <a:pt x="1050487" y="3365389"/>
                  </a:lnTo>
                  <a:cubicBezTo>
                    <a:pt x="914628" y="3365389"/>
                    <a:pt x="804493" y="3255254"/>
                    <a:pt x="804493" y="3119395"/>
                  </a:cubicBezTo>
                  <a:lnTo>
                    <a:pt x="804493" y="2324709"/>
                  </a:lnTo>
                  <a:cubicBezTo>
                    <a:pt x="804493" y="2188850"/>
                    <a:pt x="914628" y="2078715"/>
                    <a:pt x="1050487" y="2078715"/>
                  </a:cubicBezTo>
                  <a:lnTo>
                    <a:pt x="1073491" y="2083359"/>
                  </a:lnTo>
                  <a:lnTo>
                    <a:pt x="1074523" y="2078909"/>
                  </a:lnTo>
                  <a:cubicBezTo>
                    <a:pt x="1503277" y="2178354"/>
                    <a:pt x="1932204" y="1914212"/>
                    <a:pt x="2036373" y="1486582"/>
                  </a:cubicBezTo>
                  <a:cubicBezTo>
                    <a:pt x="2140542" y="1058952"/>
                    <a:pt x="1881148" y="627137"/>
                    <a:pt x="1454693" y="518256"/>
                  </a:cubicBezTo>
                  <a:cubicBezTo>
                    <a:pt x="1028238" y="409375"/>
                    <a:pt x="593587" y="663990"/>
                    <a:pt x="480009" y="1089218"/>
                  </a:cubicBezTo>
                  <a:lnTo>
                    <a:pt x="478420" y="1088794"/>
                  </a:lnTo>
                  <a:lnTo>
                    <a:pt x="472657" y="1107360"/>
                  </a:lnTo>
                  <a:cubicBezTo>
                    <a:pt x="435313" y="1195651"/>
                    <a:pt x="347889" y="1257602"/>
                    <a:pt x="245994" y="1257602"/>
                  </a:cubicBezTo>
                  <a:cubicBezTo>
                    <a:pt x="110135" y="1257602"/>
                    <a:pt x="0" y="1147467"/>
                    <a:pt x="0" y="1011608"/>
                  </a:cubicBezTo>
                  <a:lnTo>
                    <a:pt x="4968" y="962333"/>
                  </a:lnTo>
                  <a:lnTo>
                    <a:pt x="3714" y="961998"/>
                  </a:lnTo>
                  <a:cubicBezTo>
                    <a:pt x="152639" y="404437"/>
                    <a:pt x="643618" y="28640"/>
                    <a:pt x="1191640" y="1566"/>
                  </a:cubicBezTo>
                  <a:close/>
                </a:path>
              </a:pathLst>
            </a:custGeom>
            <a:solidFill>
              <a:srgbClr val="00C7CA"/>
            </a:solidFill>
            <a:ln w="228600">
              <a:solidFill>
                <a:srgbClr val="00ECF2"/>
              </a:solidFill>
            </a:ln>
            <a:effectLst>
              <a:outerShdw blurRad="1524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89DC39-1B53-6D26-2491-A0B2691AE50C}"/>
                </a:ext>
              </a:extLst>
            </p:cNvPr>
            <p:cNvGrpSpPr/>
            <p:nvPr/>
          </p:nvGrpSpPr>
          <p:grpSpPr>
            <a:xfrm>
              <a:off x="7967908" y="2046145"/>
              <a:ext cx="2592371" cy="3954943"/>
              <a:chOff x="7654564" y="2132814"/>
              <a:chExt cx="2592371" cy="3954943"/>
            </a:xfrm>
          </p:grpSpPr>
          <p:sp>
            <p:nvSpPr>
              <p:cNvPr id="5" name="Block Arc 4">
                <a:extLst>
                  <a:ext uri="{FF2B5EF4-FFF2-40B4-BE49-F238E27FC236}">
                    <a16:creationId xmlns:a16="http://schemas.microsoft.com/office/drawing/2014/main" id="{FEAED553-AFA7-A1D4-8E99-6ADC4EA8E7E6}"/>
                  </a:ext>
                </a:extLst>
              </p:cNvPr>
              <p:cNvSpPr/>
              <p:nvPr/>
            </p:nvSpPr>
            <p:spPr>
              <a:xfrm>
                <a:off x="7654564" y="2132814"/>
                <a:ext cx="2592371" cy="2592371"/>
              </a:xfrm>
              <a:prstGeom prst="blockArc">
                <a:avLst>
                  <a:gd name="adj1" fmla="val 11697278"/>
                  <a:gd name="adj2" fmla="val 6183499"/>
                  <a:gd name="adj3" fmla="val 19017"/>
                </a:avLst>
              </a:prstGeom>
              <a:solidFill>
                <a:srgbClr val="00C7CA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8505FD-0383-B5AA-86DA-4B985156D803}"/>
                  </a:ext>
                </a:extLst>
              </p:cNvPr>
              <p:cNvSpPr/>
              <p:nvPr/>
            </p:nvSpPr>
            <p:spPr>
              <a:xfrm>
                <a:off x="7694751" y="2898129"/>
                <a:ext cx="491987" cy="491987"/>
              </a:xfrm>
              <a:prstGeom prst="ellipse">
                <a:avLst/>
              </a:prstGeom>
              <a:solidFill>
                <a:srgbClr val="1B5E8B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BB46384-3ECA-B1A7-EB92-93D99E583C6A}"/>
                  </a:ext>
                </a:extLst>
              </p:cNvPr>
              <p:cNvSpPr/>
              <p:nvPr/>
            </p:nvSpPr>
            <p:spPr>
              <a:xfrm>
                <a:off x="8499244" y="5595770"/>
                <a:ext cx="491987" cy="491987"/>
              </a:xfrm>
              <a:prstGeom prst="ellipse">
                <a:avLst/>
              </a:prstGeom>
              <a:solidFill>
                <a:srgbClr val="00C7CA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BE3F0157-DD41-E879-C08A-83D0BABC6B7D}"/>
                  </a:ext>
                </a:extLst>
              </p:cNvPr>
              <p:cNvSpPr/>
              <p:nvPr/>
            </p:nvSpPr>
            <p:spPr>
              <a:xfrm>
                <a:off x="8499244" y="4211230"/>
                <a:ext cx="491987" cy="1286674"/>
              </a:xfrm>
              <a:prstGeom prst="roundRect">
                <a:avLst>
                  <a:gd name="adj" fmla="val 50000"/>
                </a:avLst>
              </a:prstGeom>
              <a:solidFill>
                <a:srgbClr val="007376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562C395-2E36-652A-4B21-23CDDB1E65B2}"/>
                  </a:ext>
                </a:extLst>
              </p:cNvPr>
              <p:cNvSpPr/>
              <p:nvPr/>
            </p:nvSpPr>
            <p:spPr>
              <a:xfrm>
                <a:off x="9726682" y="3421856"/>
                <a:ext cx="491987" cy="491987"/>
              </a:xfrm>
              <a:prstGeom prst="ellipse">
                <a:avLst/>
              </a:prstGeom>
              <a:solidFill>
                <a:srgbClr val="00969A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5802A29-F617-E238-DA9F-262CE86CB6FC}"/>
              </a:ext>
            </a:extLst>
          </p:cNvPr>
          <p:cNvSpPr txBox="1"/>
          <p:nvPr/>
        </p:nvSpPr>
        <p:spPr>
          <a:xfrm>
            <a:off x="1312157" y="2224275"/>
            <a:ext cx="18547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>
                    <a:lumMod val="85000"/>
                  </a:schemeClr>
                </a:solidFill>
              </a:rPr>
              <a:t>Bucle </a:t>
            </a:r>
            <a:r>
              <a:rPr lang="es-ES" sz="3200" b="1" dirty="0" err="1">
                <a:solidFill>
                  <a:schemeClr val="bg1">
                    <a:lumMod val="85000"/>
                  </a:schemeClr>
                </a:solidFill>
              </a:rPr>
              <a:t>for</a:t>
            </a:r>
            <a:endParaRPr lang="en-US" sz="3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63C39-1CD0-89B5-B395-059DBD2D4958}"/>
              </a:ext>
            </a:extLst>
          </p:cNvPr>
          <p:cNvSpPr txBox="1"/>
          <p:nvPr/>
        </p:nvSpPr>
        <p:spPr>
          <a:xfrm>
            <a:off x="7906644" y="3824764"/>
            <a:ext cx="35968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rgbClr val="00969A"/>
                </a:solidFill>
              </a:rPr>
              <a:t>Bucle </a:t>
            </a:r>
            <a:r>
              <a:rPr lang="es-ES" sz="3200" b="1" dirty="0" err="1">
                <a:solidFill>
                  <a:srgbClr val="00969A"/>
                </a:solidFill>
              </a:rPr>
              <a:t>for</a:t>
            </a:r>
            <a:r>
              <a:rPr lang="es-ES" sz="3200" dirty="0">
                <a:solidFill>
                  <a:srgbClr val="00969A"/>
                </a:solidFill>
              </a:rPr>
              <a:t> vs </a:t>
            </a:r>
            <a:r>
              <a:rPr lang="es-ES" sz="3200" b="1" dirty="0" err="1">
                <a:solidFill>
                  <a:srgbClr val="00969A"/>
                </a:solidFill>
              </a:rPr>
              <a:t>while</a:t>
            </a:r>
            <a:r>
              <a:rPr lang="es-ES" sz="3200" dirty="0">
                <a:solidFill>
                  <a:srgbClr val="00969A"/>
                </a:solidFill>
              </a:rPr>
              <a:t> vs </a:t>
            </a:r>
            <a:r>
              <a:rPr lang="es-ES" sz="3200" b="1" dirty="0">
                <a:solidFill>
                  <a:srgbClr val="00969A"/>
                </a:solidFill>
              </a:rPr>
              <a:t>do-</a:t>
            </a:r>
            <a:r>
              <a:rPr lang="es-ES" sz="3200" b="1" dirty="0" err="1">
                <a:solidFill>
                  <a:srgbClr val="00969A"/>
                </a:solidFill>
              </a:rPr>
              <a:t>while</a:t>
            </a:r>
            <a:endParaRPr lang="en-US" sz="3200" dirty="0">
              <a:solidFill>
                <a:srgbClr val="00969A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8A46E9-2D34-B959-7435-6B03B0AD92A4}"/>
              </a:ext>
            </a:extLst>
          </p:cNvPr>
          <p:cNvSpPr txBox="1"/>
          <p:nvPr/>
        </p:nvSpPr>
        <p:spPr>
          <a:xfrm>
            <a:off x="1536953" y="5044568"/>
            <a:ext cx="32598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>
                    <a:lumMod val="85000"/>
                  </a:schemeClr>
                </a:solidFill>
              </a:rPr>
              <a:t>¿Cuándo usar cada una?</a:t>
            </a:r>
            <a:endParaRPr lang="en-US" sz="32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F671486-334B-EBF7-20C4-4B6FF53B65A9}"/>
              </a:ext>
            </a:extLst>
          </p:cNvPr>
          <p:cNvCxnSpPr/>
          <p:nvPr/>
        </p:nvCxnSpPr>
        <p:spPr>
          <a:xfrm>
            <a:off x="1385081" y="3036189"/>
            <a:ext cx="3809749" cy="0"/>
          </a:xfrm>
          <a:prstGeom prst="line">
            <a:avLst/>
          </a:prstGeom>
          <a:ln w="28575">
            <a:solidFill>
              <a:srgbClr val="1B5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1D2723-E361-51D0-A246-FDD5516C37CC}"/>
              </a:ext>
            </a:extLst>
          </p:cNvPr>
          <p:cNvCxnSpPr/>
          <p:nvPr/>
        </p:nvCxnSpPr>
        <p:spPr>
          <a:xfrm>
            <a:off x="7117925" y="3579528"/>
            <a:ext cx="3809749" cy="0"/>
          </a:xfrm>
          <a:prstGeom prst="line">
            <a:avLst/>
          </a:prstGeom>
          <a:ln w="28575">
            <a:solidFill>
              <a:srgbClr val="0096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04044D0-7852-A117-956E-D60AD70335F3}"/>
              </a:ext>
            </a:extLst>
          </p:cNvPr>
          <p:cNvCxnSpPr/>
          <p:nvPr/>
        </p:nvCxnSpPr>
        <p:spPr>
          <a:xfrm>
            <a:off x="1896794" y="4901982"/>
            <a:ext cx="3809749" cy="0"/>
          </a:xfrm>
          <a:prstGeom prst="line">
            <a:avLst/>
          </a:prstGeom>
          <a:ln w="28575">
            <a:solidFill>
              <a:srgbClr val="007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21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C8AA-73DB-2B5C-CE5B-00DFF3B5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1DB303-BDE1-F424-94B5-2ED3E87665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946E68-0E8C-B2D0-D9BE-2EFA47F7A6E7}"/>
              </a:ext>
            </a:extLst>
          </p:cNvPr>
          <p:cNvGrpSpPr/>
          <p:nvPr/>
        </p:nvGrpSpPr>
        <p:grpSpPr>
          <a:xfrm>
            <a:off x="4799814" y="2043735"/>
            <a:ext cx="2592371" cy="3964520"/>
            <a:chOff x="7967908" y="2046145"/>
            <a:chExt cx="2592371" cy="396452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1FE17B-9115-A922-DFBA-6FD23C1712A0}"/>
                </a:ext>
              </a:extLst>
            </p:cNvPr>
            <p:cNvSpPr/>
            <p:nvPr/>
          </p:nvSpPr>
          <p:spPr>
            <a:xfrm>
              <a:off x="8006710" y="2055422"/>
              <a:ext cx="2552474" cy="3955243"/>
            </a:xfrm>
            <a:custGeom>
              <a:avLst/>
              <a:gdLst>
                <a:gd name="connsiteX0" fmla="*/ 1050487 w 2552474"/>
                <a:gd name="connsiteY0" fmla="*/ 3463255 h 3955243"/>
                <a:gd name="connsiteX1" fmla="*/ 1296481 w 2552474"/>
                <a:gd name="connsiteY1" fmla="*/ 3709249 h 3955243"/>
                <a:gd name="connsiteX2" fmla="*/ 1050487 w 2552474"/>
                <a:gd name="connsiteY2" fmla="*/ 3955243 h 3955243"/>
                <a:gd name="connsiteX3" fmla="*/ 804493 w 2552474"/>
                <a:gd name="connsiteY3" fmla="*/ 3709249 h 3955243"/>
                <a:gd name="connsiteX4" fmla="*/ 1050487 w 2552474"/>
                <a:gd name="connsiteY4" fmla="*/ 3463255 h 3955243"/>
                <a:gd name="connsiteX5" fmla="*/ 1191640 w 2552474"/>
                <a:gd name="connsiteY5" fmla="*/ 1566 h 3955243"/>
                <a:gd name="connsiteX6" fmla="*/ 1576649 w 2552474"/>
                <a:gd name="connsiteY6" fmla="*/ 40586 h 3955243"/>
                <a:gd name="connsiteX7" fmla="*/ 2540080 w 2552474"/>
                <a:gd name="connsiteY7" fmla="*/ 1473916 h 3955243"/>
                <a:gd name="connsiteX8" fmla="*/ 2518984 w 2552474"/>
                <a:gd name="connsiteY8" fmla="*/ 1584291 h 3955243"/>
                <a:gd name="connsiteX9" fmla="*/ 2518922 w 2552474"/>
                <a:gd name="connsiteY9" fmla="*/ 1584912 h 3955243"/>
                <a:gd name="connsiteX10" fmla="*/ 2518776 w 2552474"/>
                <a:gd name="connsiteY10" fmla="*/ 1585382 h 3955243"/>
                <a:gd name="connsiteX11" fmla="*/ 2515358 w 2552474"/>
                <a:gd name="connsiteY11" fmla="*/ 1603261 h 3955243"/>
                <a:gd name="connsiteX12" fmla="*/ 1348912 w 2552474"/>
                <a:gd name="connsiteY12" fmla="*/ 2589670 h 3955243"/>
                <a:gd name="connsiteX13" fmla="*/ 1296481 w 2552474"/>
                <a:gd name="connsiteY13" fmla="*/ 2590819 h 3955243"/>
                <a:gd name="connsiteX14" fmla="*/ 1296480 w 2552474"/>
                <a:gd name="connsiteY14" fmla="*/ 3119396 h 3955243"/>
                <a:gd name="connsiteX15" fmla="*/ 1050486 w 2552474"/>
                <a:gd name="connsiteY15" fmla="*/ 3365390 h 3955243"/>
                <a:gd name="connsiteX16" fmla="*/ 1050487 w 2552474"/>
                <a:gd name="connsiteY16" fmla="*/ 3365389 h 3955243"/>
                <a:gd name="connsiteX17" fmla="*/ 804493 w 2552474"/>
                <a:gd name="connsiteY17" fmla="*/ 3119395 h 3955243"/>
                <a:gd name="connsiteX18" fmla="*/ 804493 w 2552474"/>
                <a:gd name="connsiteY18" fmla="*/ 2324709 h 3955243"/>
                <a:gd name="connsiteX19" fmla="*/ 1050487 w 2552474"/>
                <a:gd name="connsiteY19" fmla="*/ 2078715 h 3955243"/>
                <a:gd name="connsiteX20" fmla="*/ 1073491 w 2552474"/>
                <a:gd name="connsiteY20" fmla="*/ 2083359 h 3955243"/>
                <a:gd name="connsiteX21" fmla="*/ 1074523 w 2552474"/>
                <a:gd name="connsiteY21" fmla="*/ 2078909 h 3955243"/>
                <a:gd name="connsiteX22" fmla="*/ 2036373 w 2552474"/>
                <a:gd name="connsiteY22" fmla="*/ 1486582 h 3955243"/>
                <a:gd name="connsiteX23" fmla="*/ 1454693 w 2552474"/>
                <a:gd name="connsiteY23" fmla="*/ 518256 h 3955243"/>
                <a:gd name="connsiteX24" fmla="*/ 480009 w 2552474"/>
                <a:gd name="connsiteY24" fmla="*/ 1089218 h 3955243"/>
                <a:gd name="connsiteX25" fmla="*/ 478420 w 2552474"/>
                <a:gd name="connsiteY25" fmla="*/ 1088794 h 3955243"/>
                <a:gd name="connsiteX26" fmla="*/ 472657 w 2552474"/>
                <a:gd name="connsiteY26" fmla="*/ 1107360 h 3955243"/>
                <a:gd name="connsiteX27" fmla="*/ 245994 w 2552474"/>
                <a:gd name="connsiteY27" fmla="*/ 1257602 h 3955243"/>
                <a:gd name="connsiteX28" fmla="*/ 0 w 2552474"/>
                <a:gd name="connsiteY28" fmla="*/ 1011608 h 3955243"/>
                <a:gd name="connsiteX29" fmla="*/ 4968 w 2552474"/>
                <a:gd name="connsiteY29" fmla="*/ 962333 h 3955243"/>
                <a:gd name="connsiteX30" fmla="*/ 3714 w 2552474"/>
                <a:gd name="connsiteY30" fmla="*/ 961998 h 3955243"/>
                <a:gd name="connsiteX31" fmla="*/ 1191640 w 2552474"/>
                <a:gd name="connsiteY31" fmla="*/ 1566 h 3955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52474" h="3955243">
                  <a:moveTo>
                    <a:pt x="1050487" y="3463255"/>
                  </a:moveTo>
                  <a:cubicBezTo>
                    <a:pt x="1186346" y="3463255"/>
                    <a:pt x="1296481" y="3573390"/>
                    <a:pt x="1296481" y="3709249"/>
                  </a:cubicBezTo>
                  <a:cubicBezTo>
                    <a:pt x="1296481" y="3845108"/>
                    <a:pt x="1186346" y="3955243"/>
                    <a:pt x="1050487" y="3955243"/>
                  </a:cubicBezTo>
                  <a:cubicBezTo>
                    <a:pt x="914628" y="3955243"/>
                    <a:pt x="804493" y="3845108"/>
                    <a:pt x="804493" y="3709249"/>
                  </a:cubicBezTo>
                  <a:cubicBezTo>
                    <a:pt x="804493" y="3573390"/>
                    <a:pt x="914628" y="3463255"/>
                    <a:pt x="1050487" y="3463255"/>
                  </a:cubicBezTo>
                  <a:close/>
                  <a:moveTo>
                    <a:pt x="1191640" y="1566"/>
                  </a:moveTo>
                  <a:cubicBezTo>
                    <a:pt x="1318106" y="-4682"/>
                    <a:pt x="1447610" y="7641"/>
                    <a:pt x="1576649" y="40586"/>
                  </a:cubicBezTo>
                  <a:cubicBezTo>
                    <a:pt x="2221845" y="205315"/>
                    <a:pt x="2630087" y="828084"/>
                    <a:pt x="2540080" y="1473916"/>
                  </a:cubicBezTo>
                  <a:lnTo>
                    <a:pt x="2518984" y="1584291"/>
                  </a:lnTo>
                  <a:lnTo>
                    <a:pt x="2518922" y="1584912"/>
                  </a:lnTo>
                  <a:lnTo>
                    <a:pt x="2518776" y="1585382"/>
                  </a:lnTo>
                  <a:lnTo>
                    <a:pt x="2515358" y="1603261"/>
                  </a:lnTo>
                  <a:cubicBezTo>
                    <a:pt x="2378771" y="2163972"/>
                    <a:pt x="1896202" y="2550511"/>
                    <a:pt x="1348912" y="2589670"/>
                  </a:cubicBezTo>
                  <a:lnTo>
                    <a:pt x="1296481" y="2590819"/>
                  </a:lnTo>
                  <a:lnTo>
                    <a:pt x="1296480" y="3119396"/>
                  </a:lnTo>
                  <a:cubicBezTo>
                    <a:pt x="1296480" y="3255255"/>
                    <a:pt x="1186345" y="3365390"/>
                    <a:pt x="1050486" y="3365390"/>
                  </a:cubicBezTo>
                  <a:lnTo>
                    <a:pt x="1050487" y="3365389"/>
                  </a:lnTo>
                  <a:cubicBezTo>
                    <a:pt x="914628" y="3365389"/>
                    <a:pt x="804493" y="3255254"/>
                    <a:pt x="804493" y="3119395"/>
                  </a:cubicBezTo>
                  <a:lnTo>
                    <a:pt x="804493" y="2324709"/>
                  </a:lnTo>
                  <a:cubicBezTo>
                    <a:pt x="804493" y="2188850"/>
                    <a:pt x="914628" y="2078715"/>
                    <a:pt x="1050487" y="2078715"/>
                  </a:cubicBezTo>
                  <a:lnTo>
                    <a:pt x="1073491" y="2083359"/>
                  </a:lnTo>
                  <a:lnTo>
                    <a:pt x="1074523" y="2078909"/>
                  </a:lnTo>
                  <a:cubicBezTo>
                    <a:pt x="1503277" y="2178354"/>
                    <a:pt x="1932204" y="1914212"/>
                    <a:pt x="2036373" y="1486582"/>
                  </a:cubicBezTo>
                  <a:cubicBezTo>
                    <a:pt x="2140542" y="1058952"/>
                    <a:pt x="1881148" y="627137"/>
                    <a:pt x="1454693" y="518256"/>
                  </a:cubicBezTo>
                  <a:cubicBezTo>
                    <a:pt x="1028238" y="409375"/>
                    <a:pt x="593587" y="663990"/>
                    <a:pt x="480009" y="1089218"/>
                  </a:cubicBezTo>
                  <a:lnTo>
                    <a:pt x="478420" y="1088794"/>
                  </a:lnTo>
                  <a:lnTo>
                    <a:pt x="472657" y="1107360"/>
                  </a:lnTo>
                  <a:cubicBezTo>
                    <a:pt x="435313" y="1195651"/>
                    <a:pt x="347889" y="1257602"/>
                    <a:pt x="245994" y="1257602"/>
                  </a:cubicBezTo>
                  <a:cubicBezTo>
                    <a:pt x="110135" y="1257602"/>
                    <a:pt x="0" y="1147467"/>
                    <a:pt x="0" y="1011608"/>
                  </a:cubicBezTo>
                  <a:lnTo>
                    <a:pt x="4968" y="962333"/>
                  </a:lnTo>
                  <a:lnTo>
                    <a:pt x="3714" y="961998"/>
                  </a:lnTo>
                  <a:cubicBezTo>
                    <a:pt x="152639" y="404437"/>
                    <a:pt x="643618" y="28640"/>
                    <a:pt x="1191640" y="1566"/>
                  </a:cubicBezTo>
                  <a:close/>
                </a:path>
              </a:pathLst>
            </a:custGeom>
            <a:solidFill>
              <a:srgbClr val="00C7CA"/>
            </a:solidFill>
            <a:ln w="228600">
              <a:solidFill>
                <a:srgbClr val="00ECF2"/>
              </a:solidFill>
            </a:ln>
            <a:effectLst>
              <a:outerShdw blurRad="1524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89DC39-1B53-6D26-2491-A0B2691AE50C}"/>
                </a:ext>
              </a:extLst>
            </p:cNvPr>
            <p:cNvGrpSpPr/>
            <p:nvPr/>
          </p:nvGrpSpPr>
          <p:grpSpPr>
            <a:xfrm>
              <a:off x="7967908" y="2046145"/>
              <a:ext cx="2592371" cy="3954943"/>
              <a:chOff x="7654564" y="2132814"/>
              <a:chExt cx="2592371" cy="3954943"/>
            </a:xfrm>
          </p:grpSpPr>
          <p:sp>
            <p:nvSpPr>
              <p:cNvPr id="5" name="Block Arc 4">
                <a:extLst>
                  <a:ext uri="{FF2B5EF4-FFF2-40B4-BE49-F238E27FC236}">
                    <a16:creationId xmlns:a16="http://schemas.microsoft.com/office/drawing/2014/main" id="{FEAED553-AFA7-A1D4-8E99-6ADC4EA8E7E6}"/>
                  </a:ext>
                </a:extLst>
              </p:cNvPr>
              <p:cNvSpPr/>
              <p:nvPr/>
            </p:nvSpPr>
            <p:spPr>
              <a:xfrm>
                <a:off x="7654564" y="2132814"/>
                <a:ext cx="2592371" cy="2592371"/>
              </a:xfrm>
              <a:prstGeom prst="blockArc">
                <a:avLst>
                  <a:gd name="adj1" fmla="val 11697278"/>
                  <a:gd name="adj2" fmla="val 6183499"/>
                  <a:gd name="adj3" fmla="val 19017"/>
                </a:avLst>
              </a:prstGeom>
              <a:solidFill>
                <a:srgbClr val="00C7CA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8505FD-0383-B5AA-86DA-4B985156D803}"/>
                  </a:ext>
                </a:extLst>
              </p:cNvPr>
              <p:cNvSpPr/>
              <p:nvPr/>
            </p:nvSpPr>
            <p:spPr>
              <a:xfrm>
                <a:off x="7694751" y="2898129"/>
                <a:ext cx="491987" cy="491987"/>
              </a:xfrm>
              <a:prstGeom prst="ellipse">
                <a:avLst/>
              </a:prstGeom>
              <a:solidFill>
                <a:srgbClr val="1B5E8B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BB46384-3ECA-B1A7-EB92-93D99E583C6A}"/>
                  </a:ext>
                </a:extLst>
              </p:cNvPr>
              <p:cNvSpPr/>
              <p:nvPr/>
            </p:nvSpPr>
            <p:spPr>
              <a:xfrm>
                <a:off x="8499244" y="5595770"/>
                <a:ext cx="491987" cy="491987"/>
              </a:xfrm>
              <a:prstGeom prst="ellipse">
                <a:avLst/>
              </a:prstGeom>
              <a:solidFill>
                <a:srgbClr val="00C7CA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BE3F0157-DD41-E879-C08A-83D0BABC6B7D}"/>
                  </a:ext>
                </a:extLst>
              </p:cNvPr>
              <p:cNvSpPr/>
              <p:nvPr/>
            </p:nvSpPr>
            <p:spPr>
              <a:xfrm>
                <a:off x="8499244" y="4211230"/>
                <a:ext cx="491987" cy="1286674"/>
              </a:xfrm>
              <a:prstGeom prst="roundRect">
                <a:avLst>
                  <a:gd name="adj" fmla="val 50000"/>
                </a:avLst>
              </a:prstGeom>
              <a:solidFill>
                <a:srgbClr val="007376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562C395-2E36-652A-4B21-23CDDB1E65B2}"/>
                  </a:ext>
                </a:extLst>
              </p:cNvPr>
              <p:cNvSpPr/>
              <p:nvPr/>
            </p:nvSpPr>
            <p:spPr>
              <a:xfrm>
                <a:off x="9726682" y="3421856"/>
                <a:ext cx="491987" cy="491987"/>
              </a:xfrm>
              <a:prstGeom prst="ellipse">
                <a:avLst/>
              </a:prstGeom>
              <a:solidFill>
                <a:srgbClr val="00969A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5802A29-F617-E238-DA9F-262CE86CB6FC}"/>
              </a:ext>
            </a:extLst>
          </p:cNvPr>
          <p:cNvSpPr txBox="1"/>
          <p:nvPr/>
        </p:nvSpPr>
        <p:spPr>
          <a:xfrm>
            <a:off x="1312157" y="2224275"/>
            <a:ext cx="18547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>
                    <a:lumMod val="85000"/>
                  </a:schemeClr>
                </a:solidFill>
              </a:rPr>
              <a:t>Bucle </a:t>
            </a:r>
            <a:r>
              <a:rPr lang="es-ES" sz="3200" b="1" dirty="0" err="1">
                <a:solidFill>
                  <a:schemeClr val="bg1">
                    <a:lumMod val="85000"/>
                  </a:schemeClr>
                </a:solidFill>
              </a:rPr>
              <a:t>for</a:t>
            </a:r>
            <a:endParaRPr lang="en-US" sz="3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63C39-1CD0-89B5-B395-059DBD2D4958}"/>
              </a:ext>
            </a:extLst>
          </p:cNvPr>
          <p:cNvSpPr txBox="1"/>
          <p:nvPr/>
        </p:nvSpPr>
        <p:spPr>
          <a:xfrm>
            <a:off x="7906644" y="3824764"/>
            <a:ext cx="35968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>
                    <a:lumMod val="85000"/>
                  </a:schemeClr>
                </a:solidFill>
              </a:rPr>
              <a:t>Bucle </a:t>
            </a:r>
            <a:r>
              <a:rPr lang="es-ES" sz="3200" b="1" dirty="0" err="1">
                <a:solidFill>
                  <a:schemeClr val="bg1">
                    <a:lumMod val="85000"/>
                  </a:schemeClr>
                </a:solidFill>
              </a:rPr>
              <a:t>for</a:t>
            </a:r>
            <a:r>
              <a:rPr lang="es-ES" sz="3200" dirty="0">
                <a:solidFill>
                  <a:schemeClr val="bg1">
                    <a:lumMod val="85000"/>
                  </a:schemeClr>
                </a:solidFill>
              </a:rPr>
              <a:t> vs </a:t>
            </a:r>
            <a:r>
              <a:rPr lang="es-ES" sz="3200" b="1" dirty="0" err="1">
                <a:solidFill>
                  <a:schemeClr val="bg1">
                    <a:lumMod val="85000"/>
                  </a:schemeClr>
                </a:solidFill>
              </a:rPr>
              <a:t>while</a:t>
            </a:r>
            <a:r>
              <a:rPr lang="es-ES" sz="3200" dirty="0">
                <a:solidFill>
                  <a:schemeClr val="bg1">
                    <a:lumMod val="85000"/>
                  </a:schemeClr>
                </a:solidFill>
              </a:rPr>
              <a:t> vs </a:t>
            </a:r>
            <a:r>
              <a:rPr lang="es-ES" sz="3200" b="1" dirty="0">
                <a:solidFill>
                  <a:schemeClr val="bg1">
                    <a:lumMod val="85000"/>
                  </a:schemeClr>
                </a:solidFill>
              </a:rPr>
              <a:t>do-</a:t>
            </a:r>
            <a:r>
              <a:rPr lang="es-ES" sz="3200" b="1" dirty="0" err="1">
                <a:solidFill>
                  <a:schemeClr val="bg1">
                    <a:lumMod val="85000"/>
                  </a:schemeClr>
                </a:solidFill>
              </a:rPr>
              <a:t>while</a:t>
            </a:r>
            <a:endParaRPr lang="en-US" sz="3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8A46E9-2D34-B959-7435-6B03B0AD92A4}"/>
              </a:ext>
            </a:extLst>
          </p:cNvPr>
          <p:cNvSpPr txBox="1"/>
          <p:nvPr/>
        </p:nvSpPr>
        <p:spPr>
          <a:xfrm>
            <a:off x="1536953" y="5044568"/>
            <a:ext cx="32598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rgbClr val="007376"/>
                </a:solidFill>
              </a:rPr>
              <a:t>¿Cuándo usar cada una?</a:t>
            </a:r>
            <a:endParaRPr lang="en-US" sz="3200" b="1" dirty="0">
              <a:solidFill>
                <a:srgbClr val="007376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F671486-334B-EBF7-20C4-4B6FF53B65A9}"/>
              </a:ext>
            </a:extLst>
          </p:cNvPr>
          <p:cNvCxnSpPr/>
          <p:nvPr/>
        </p:nvCxnSpPr>
        <p:spPr>
          <a:xfrm>
            <a:off x="1385081" y="3036189"/>
            <a:ext cx="3809749" cy="0"/>
          </a:xfrm>
          <a:prstGeom prst="line">
            <a:avLst/>
          </a:prstGeom>
          <a:ln w="28575">
            <a:solidFill>
              <a:srgbClr val="1B5E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1D2723-E361-51D0-A246-FDD5516C37CC}"/>
              </a:ext>
            </a:extLst>
          </p:cNvPr>
          <p:cNvCxnSpPr/>
          <p:nvPr/>
        </p:nvCxnSpPr>
        <p:spPr>
          <a:xfrm>
            <a:off x="7117925" y="3579528"/>
            <a:ext cx="3809749" cy="0"/>
          </a:xfrm>
          <a:prstGeom prst="line">
            <a:avLst/>
          </a:prstGeom>
          <a:ln w="28575">
            <a:solidFill>
              <a:srgbClr val="0096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04044D0-7852-A117-956E-D60AD70335F3}"/>
              </a:ext>
            </a:extLst>
          </p:cNvPr>
          <p:cNvCxnSpPr/>
          <p:nvPr/>
        </p:nvCxnSpPr>
        <p:spPr>
          <a:xfrm>
            <a:off x="1896794" y="4901982"/>
            <a:ext cx="3809749" cy="0"/>
          </a:xfrm>
          <a:prstGeom prst="line">
            <a:avLst/>
          </a:prstGeom>
          <a:ln w="28575">
            <a:solidFill>
              <a:srgbClr val="007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37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Estructura Repetitiva </a:t>
            </a:r>
            <a:br>
              <a:rPr lang="es-ES" dirty="0">
                <a:latin typeface="Helvetica"/>
              </a:rPr>
            </a:br>
            <a:r>
              <a:rPr lang="es-E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lang="es-ES" dirty="0">
                <a:latin typeface="Helvetica"/>
              </a:rPr>
              <a:t> (II)</a:t>
            </a:r>
            <a:endParaRPr lang="en-US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AEEA7C24-96EF-4C24-B3F1-7E16DF8255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Conocimientos previos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2340C-8AA3-8B1A-7CDE-78414DAAED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2"/>
            <a:ext cx="4987564" cy="4397222"/>
          </a:xfrm>
        </p:spPr>
        <p:txBody>
          <a:bodyPr>
            <a:noAutofit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Observa e indica cuál de las siguientes es la salida del programa mostrado.</a:t>
            </a:r>
          </a:p>
          <a:p>
            <a:pPr marL="50800" indent="0">
              <a:lnSpc>
                <a:spcPct val="11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Justificar respuesta.</a:t>
            </a:r>
            <a:endParaRPr lang="es-E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88C5079-0211-B0F2-5E63-6247F996F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920" y="1992462"/>
            <a:ext cx="5818852" cy="2081602"/>
          </a:xfrm>
          <a:prstGeom prst="roundRect">
            <a:avLst>
              <a:gd name="adj" fmla="val 7430"/>
            </a:avLst>
          </a:prstGeom>
          <a:solidFill>
            <a:srgbClr val="10334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 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_NUMERO_LINEAS_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&lt;= _NUMERO_LINEAS_;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_NUMERO_LINEAS_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valor);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valor = valor *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EE54C-B12D-429D-6946-4BF0D16DE03F}"/>
              </a:ext>
            </a:extLst>
          </p:cNvPr>
          <p:cNvSpPr txBox="1"/>
          <p:nvPr/>
        </p:nvSpPr>
        <p:spPr>
          <a:xfrm>
            <a:off x="6400798" y="4550594"/>
            <a:ext cx="123491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111111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1111111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11111111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CCE6B-D912-8887-967B-050232BE5240}"/>
              </a:ext>
            </a:extLst>
          </p:cNvPr>
          <p:cNvSpPr txBox="1"/>
          <p:nvPr/>
        </p:nvSpPr>
        <p:spPr>
          <a:xfrm>
            <a:off x="8107050" y="4550594"/>
            <a:ext cx="123491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11111111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5D8A24-B879-1CFC-2498-B4E3EEEEE849}"/>
              </a:ext>
            </a:extLst>
          </p:cNvPr>
          <p:cNvSpPr txBox="1"/>
          <p:nvPr/>
        </p:nvSpPr>
        <p:spPr>
          <a:xfrm>
            <a:off x="9813301" y="4550594"/>
            <a:ext cx="194192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1111111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111111111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11111111111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1111111111111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111111111111111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1EA763-F4F3-C432-3963-7D270D531077}"/>
              </a:ext>
            </a:extLst>
          </p:cNvPr>
          <p:cNvSpPr txBox="1"/>
          <p:nvPr/>
        </p:nvSpPr>
        <p:spPr>
          <a:xfrm>
            <a:off x="6693028" y="6042671"/>
            <a:ext cx="650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C3C9BC-8E87-AF8C-C201-DA49C7A65388}"/>
              </a:ext>
            </a:extLst>
          </p:cNvPr>
          <p:cNvSpPr txBox="1"/>
          <p:nvPr/>
        </p:nvSpPr>
        <p:spPr>
          <a:xfrm>
            <a:off x="8252383" y="6042671"/>
            <a:ext cx="650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B.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311AD2-344A-D9C1-EAA8-E81DE289C536}"/>
              </a:ext>
            </a:extLst>
          </p:cNvPr>
          <p:cNvSpPr txBox="1"/>
          <p:nvPr/>
        </p:nvSpPr>
        <p:spPr>
          <a:xfrm>
            <a:off x="10316853" y="6042671"/>
            <a:ext cx="650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rPr>
              <a:t>C.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Logro de aprendizaje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/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</a:t>
            </a:r>
            <a:r>
              <a:rPr lang="es-ES">
                <a:solidFill>
                  <a:schemeClr val="accent2"/>
                </a:solidFill>
              </a:rPr>
              <a:t>estudiante</a:t>
            </a:r>
            <a:r>
              <a:rPr lang="es-ES"/>
              <a:t> </a:t>
            </a:r>
            <a:r>
              <a:rPr lang="es-ES">
                <a:solidFill>
                  <a:schemeClr val="accent5"/>
                </a:solidFill>
              </a:rPr>
              <a:t>desarrolla</a:t>
            </a:r>
            <a:r>
              <a:rPr lang="es-ES"/>
              <a:t> </a:t>
            </a:r>
            <a:r>
              <a:rPr lang="es-ES" dirty="0">
                <a:solidFill>
                  <a:schemeClr val="accent4"/>
                </a:solidFill>
              </a:rPr>
              <a:t>programas con la estructura repetitiva do-</a:t>
            </a:r>
            <a:r>
              <a:rPr lang="es-ES" dirty="0" err="1">
                <a:solidFill>
                  <a:schemeClr val="accent4"/>
                </a:solidFill>
              </a:rPr>
              <a:t>while</a:t>
            </a:r>
            <a:r>
              <a:rPr lang="es-ES" dirty="0"/>
              <a:t> </a:t>
            </a:r>
            <a:r>
              <a:rPr lang="es-ES" dirty="0">
                <a:solidFill>
                  <a:srgbClr val="D3052C"/>
                </a:solidFill>
              </a:rPr>
              <a:t>utilizando un IDE Java </a:t>
            </a:r>
            <a:r>
              <a:rPr lang="es-ES" dirty="0">
                <a:solidFill>
                  <a:srgbClr val="7030A0"/>
                </a:solidFill>
              </a:rPr>
              <a:t>para resolver problemas sencillos que requieren acciones que se ejecuten repetidamente.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</a:rPr>
              <a:t>Imagen </a:t>
            </a:r>
            <a:r>
              <a:rPr lang="en-US" sz="900" err="1">
                <a:solidFill>
                  <a:schemeClr val="accent3"/>
                </a:solidFill>
              </a:rPr>
              <a:t>obtenida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545"/>
            <a:ext cx="10515600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B555DED-C1EC-199E-BD3B-E945F183DA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362075"/>
            <a:ext cx="6024937" cy="3971905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/>
              <a:t>Observa y responde:</a:t>
            </a:r>
          </a:p>
          <a:p>
            <a:r>
              <a:rPr lang="es-ES" sz="2400" dirty="0"/>
              <a:t>¿Qué se muestra en la imagen?​</a:t>
            </a:r>
          </a:p>
          <a:p>
            <a:r>
              <a:rPr lang="es-ES" sz="2400" dirty="0"/>
              <a:t>¿Algo se repite? ​</a:t>
            </a:r>
          </a:p>
          <a:p>
            <a:r>
              <a:rPr lang="es-ES" sz="2400" dirty="0"/>
              <a:t>¿Hay algún contador o acumulador?​</a:t>
            </a:r>
          </a:p>
          <a:p>
            <a:r>
              <a:rPr lang="es-ES" sz="2400" dirty="0"/>
              <a:t>¿Se conoce el número de cuotas?</a:t>
            </a:r>
          </a:p>
          <a:p>
            <a:r>
              <a:rPr lang="es-ES" sz="2400" dirty="0"/>
              <a:t>¿Cómo te puede ayudar el uso de la estructura </a:t>
            </a:r>
            <a:r>
              <a:rPr lang="es-ES" sz="2400" b="1" dirty="0" err="1"/>
              <a:t>for</a:t>
            </a:r>
            <a:r>
              <a:rPr lang="es-ES" sz="2400" dirty="0"/>
              <a:t> en la elaboración de programa Java?</a:t>
            </a:r>
          </a:p>
          <a:p>
            <a:endParaRPr lang="es-E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585754" y="5333980"/>
            <a:ext cx="72308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Desarrollar</a:t>
            </a:r>
            <a:r>
              <a:rPr lang="en-US" sz="2800" dirty="0">
                <a:solidFill>
                  <a:srgbClr val="0E7D73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programas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utilizando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la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estructura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repetitiva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for </a:t>
            </a:r>
            <a:r>
              <a:rPr lang="en-US" sz="2800" dirty="0" err="1">
                <a:latin typeface="Helvetica" pitchFamily="2" charset="0"/>
              </a:rPr>
              <a:t>en</a:t>
            </a:r>
            <a:r>
              <a:rPr lang="en-US" sz="2800" dirty="0">
                <a:latin typeface="Helvetica" pitchFamily="2" charset="0"/>
              </a:rPr>
              <a:t> Java.</a:t>
            </a:r>
            <a:endParaRPr lang="es-ES" sz="2800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E3CA2-FB22-6FCF-62A8-8785D655A726}"/>
              </a:ext>
            </a:extLst>
          </p:cNvPr>
          <p:cNvSpPr txBox="1"/>
          <p:nvPr/>
        </p:nvSpPr>
        <p:spPr>
          <a:xfrm>
            <a:off x="248266" y="6490643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https://www.philscomputerlab.com/uploads/3/7/2/3/37231621/6532844_orig.png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F793434-F80B-2B28-674B-4B505C3B8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021" y="1314598"/>
            <a:ext cx="4668650" cy="38168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93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Bucles anidados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7AD440-BD80-39F9-7C1F-074C6307A17B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06F6E1-4365-F108-33D4-AFB4C443E6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477A81-9C44-35B9-60DF-1E672DCCC8E7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AAD10E-07F7-CE13-1F2B-E2B3AA68752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FB69095-0EF6-80F0-41E6-1EBD453E20AF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Bucles anidados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7AD440-BD80-39F9-7C1F-074C6307A17B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06F6E1-4365-F108-33D4-AFB4C443E6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477A81-9C44-35B9-60DF-1E672DCCC8E7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AAD10E-07F7-CE13-1F2B-E2B3AA68752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FB69095-0EF6-80F0-41E6-1EBD453E20AF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CF56784-D17E-75E2-E3AA-59559B201E16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250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</a:t>
            </a:r>
            <a:r>
              <a:rPr lang="es-ES" dirty="0" err="1"/>
              <a:t>for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E59E8-E3E0-0380-549E-626FA57B54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846263"/>
            <a:ext cx="6188256" cy="43735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Generalmente, permite ejecutar acciones un número conocido de veces.</a:t>
            </a:r>
          </a:p>
          <a:p>
            <a:pPr>
              <a:lnSpc>
                <a:spcPct val="110000"/>
              </a:lnSpc>
            </a:pPr>
            <a:r>
              <a:rPr lang="es-ES" dirty="0"/>
              <a:t>Consta de 3 partes: </a:t>
            </a:r>
          </a:p>
          <a:p>
            <a:pPr>
              <a:lnSpc>
                <a:spcPct val="110000"/>
              </a:lnSpc>
            </a:pPr>
            <a:endParaRPr lang="es-ES" dirty="0"/>
          </a:p>
          <a:p>
            <a:pPr>
              <a:lnSpc>
                <a:spcPct val="110000"/>
              </a:lnSpc>
            </a:pPr>
            <a:endParaRPr lang="es-ES" dirty="0"/>
          </a:p>
          <a:p>
            <a:pPr>
              <a:lnSpc>
                <a:spcPct val="110000"/>
              </a:lnSpc>
            </a:pPr>
            <a:r>
              <a:rPr lang="es-ES" dirty="0"/>
              <a:t>Su variable de control (contador interno) puede ser progresivo o regresivo.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FF289D-D390-5132-8CFA-CE170B922965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1817A4-E157-5C8B-6D93-8A4CB9C76B6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E08BE3-3DD1-06F3-4B27-62FFC46881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991D40-FF73-5A55-1E1E-390096E505E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5C104B-2912-E1B7-711F-581D0BFDE1A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BB95694-7DED-A715-5F4E-0F76C2F09357}"/>
              </a:ext>
            </a:extLst>
          </p:cNvPr>
          <p:cNvGrpSpPr/>
          <p:nvPr/>
        </p:nvGrpSpPr>
        <p:grpSpPr>
          <a:xfrm>
            <a:off x="7360884" y="333662"/>
            <a:ext cx="3726215" cy="6291066"/>
            <a:chOff x="7360884" y="333662"/>
            <a:chExt cx="3726215" cy="6291066"/>
          </a:xfrm>
        </p:grpSpPr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E2D1DE26-9392-6A5A-971B-2369548EC0D2}"/>
                </a:ext>
              </a:extLst>
            </p:cNvPr>
            <p:cNvSpPr/>
            <p:nvPr/>
          </p:nvSpPr>
          <p:spPr>
            <a:xfrm>
              <a:off x="9216553" y="333662"/>
              <a:ext cx="236589" cy="454448"/>
            </a:xfrm>
            <a:prstGeom prst="downArrow">
              <a:avLst>
                <a:gd name="adj1" fmla="val 28012"/>
                <a:gd name="adj2" fmla="val 649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D8B7EC26-3909-45DB-45F7-BCC68A52652B}"/>
                </a:ext>
              </a:extLst>
            </p:cNvPr>
            <p:cNvSpPr/>
            <p:nvPr/>
          </p:nvSpPr>
          <p:spPr>
            <a:xfrm>
              <a:off x="9216553" y="1309724"/>
              <a:ext cx="236589" cy="454448"/>
            </a:xfrm>
            <a:prstGeom prst="downArrow">
              <a:avLst>
                <a:gd name="adj1" fmla="val 28012"/>
                <a:gd name="adj2" fmla="val 649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Arrow: Down 23">
              <a:extLst>
                <a:ext uri="{FF2B5EF4-FFF2-40B4-BE49-F238E27FC236}">
                  <a16:creationId xmlns:a16="http://schemas.microsoft.com/office/drawing/2014/main" id="{DAC13B1F-B5B5-C502-7EF6-15C4D229542D}"/>
                </a:ext>
              </a:extLst>
            </p:cNvPr>
            <p:cNvSpPr/>
            <p:nvPr/>
          </p:nvSpPr>
          <p:spPr>
            <a:xfrm>
              <a:off x="9216553" y="3522484"/>
              <a:ext cx="236589" cy="360855"/>
            </a:xfrm>
            <a:prstGeom prst="downArrow">
              <a:avLst>
                <a:gd name="adj1" fmla="val 28012"/>
                <a:gd name="adj2" fmla="val 649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02E19096-4EF2-A5FE-17EA-7A989F0AF2CC}"/>
                </a:ext>
              </a:extLst>
            </p:cNvPr>
            <p:cNvSpPr/>
            <p:nvPr/>
          </p:nvSpPr>
          <p:spPr>
            <a:xfrm>
              <a:off x="9216553" y="4406612"/>
              <a:ext cx="236589" cy="454448"/>
            </a:xfrm>
            <a:prstGeom prst="downArrow">
              <a:avLst>
                <a:gd name="adj1" fmla="val 28012"/>
                <a:gd name="adj2" fmla="val 64992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Arrow: U-Turn 25">
              <a:extLst>
                <a:ext uri="{FF2B5EF4-FFF2-40B4-BE49-F238E27FC236}">
                  <a16:creationId xmlns:a16="http://schemas.microsoft.com/office/drawing/2014/main" id="{DA22C8E6-1A5C-9639-353C-6D5363225EAF}"/>
                </a:ext>
              </a:extLst>
            </p:cNvPr>
            <p:cNvSpPr/>
            <p:nvPr/>
          </p:nvSpPr>
          <p:spPr>
            <a:xfrm rot="16200000">
              <a:off x="6528567" y="3357970"/>
              <a:ext cx="2703572" cy="1038937"/>
            </a:xfrm>
            <a:prstGeom prst="uturnArrow">
              <a:avLst>
                <a:gd name="adj1" fmla="val 7714"/>
                <a:gd name="adj2" fmla="val 13554"/>
                <a:gd name="adj3" fmla="val 15809"/>
                <a:gd name="adj4" fmla="val 25454"/>
                <a:gd name="adj5" fmla="val 10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Arrow: Bent 26">
              <a:extLst>
                <a:ext uri="{FF2B5EF4-FFF2-40B4-BE49-F238E27FC236}">
                  <a16:creationId xmlns:a16="http://schemas.microsoft.com/office/drawing/2014/main" id="{AEEF57D0-5B1D-BAA8-CF18-45E5EFFD43AD}"/>
                </a:ext>
              </a:extLst>
            </p:cNvPr>
            <p:cNvSpPr/>
            <p:nvPr/>
          </p:nvSpPr>
          <p:spPr>
            <a:xfrm rot="16200000" flipH="1">
              <a:off x="9390689" y="5680790"/>
              <a:ext cx="759005" cy="1128872"/>
            </a:xfrm>
            <a:prstGeom prst="bentArrow">
              <a:avLst>
                <a:gd name="adj1" fmla="val 10359"/>
                <a:gd name="adj2" fmla="val 17470"/>
                <a:gd name="adj3" fmla="val 25000"/>
                <a:gd name="adj4" fmla="val 4375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Arrow: U-Turn 27">
              <a:extLst>
                <a:ext uri="{FF2B5EF4-FFF2-40B4-BE49-F238E27FC236}">
                  <a16:creationId xmlns:a16="http://schemas.microsoft.com/office/drawing/2014/main" id="{E6C46124-D10C-FA34-5AE8-5E8D6669928B}"/>
                </a:ext>
              </a:extLst>
            </p:cNvPr>
            <p:cNvSpPr/>
            <p:nvPr/>
          </p:nvSpPr>
          <p:spPr>
            <a:xfrm rot="5400000">
              <a:off x="8951987" y="3894213"/>
              <a:ext cx="3379846" cy="890379"/>
            </a:xfrm>
            <a:prstGeom prst="uturnArrow">
              <a:avLst>
                <a:gd name="adj1" fmla="val 8784"/>
                <a:gd name="adj2" fmla="val 13554"/>
                <a:gd name="adj3" fmla="val 20226"/>
                <a:gd name="adj4" fmla="val 25454"/>
                <a:gd name="adj5" fmla="val 10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FA34117-EC94-C83B-3A36-6A1E2CFEA8E8}"/>
                </a:ext>
              </a:extLst>
            </p:cNvPr>
            <p:cNvSpPr/>
            <p:nvPr/>
          </p:nvSpPr>
          <p:spPr>
            <a:xfrm>
              <a:off x="8021012" y="777715"/>
              <a:ext cx="2627671" cy="629265"/>
            </a:xfrm>
            <a:prstGeom prst="roundRect">
              <a:avLst/>
            </a:prstGeom>
            <a:solidFill>
              <a:srgbClr val="758F3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Expresión de inicialización</a:t>
              </a:r>
              <a:endParaRPr lang="en-US" dirty="0"/>
            </a:p>
          </p:txBody>
        </p:sp>
        <p:sp>
          <p:nvSpPr>
            <p:cNvPr id="30" name="Diamond 29">
              <a:extLst>
                <a:ext uri="{FF2B5EF4-FFF2-40B4-BE49-F238E27FC236}">
                  <a16:creationId xmlns:a16="http://schemas.microsoft.com/office/drawing/2014/main" id="{D76A5EB2-89A7-5260-96C3-50AE8A40A8F7}"/>
                </a:ext>
              </a:extLst>
            </p:cNvPr>
            <p:cNvSpPr/>
            <p:nvPr/>
          </p:nvSpPr>
          <p:spPr>
            <a:xfrm>
              <a:off x="8410615" y="1748547"/>
              <a:ext cx="1848465" cy="1848465"/>
            </a:xfrm>
            <a:prstGeom prst="diamond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dirty="0"/>
                <a:t>condición</a:t>
              </a:r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16A77B1-3F2A-530A-1AD4-7682C35EFB18}"/>
                </a:ext>
              </a:extLst>
            </p:cNvPr>
            <p:cNvSpPr/>
            <p:nvPr/>
          </p:nvSpPr>
          <p:spPr>
            <a:xfrm>
              <a:off x="8021012" y="3889117"/>
              <a:ext cx="2627671" cy="629265"/>
            </a:xfrm>
            <a:prstGeom prst="roundRect">
              <a:avLst/>
            </a:prstGeom>
            <a:solidFill>
              <a:srgbClr val="CC783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Cuerpo del bucle</a:t>
              </a:r>
              <a:endParaRPr lang="en-US" dirty="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74663FC-91FB-2B40-61A8-A29F100DDC3A}"/>
                </a:ext>
              </a:extLst>
            </p:cNvPr>
            <p:cNvSpPr/>
            <p:nvPr/>
          </p:nvSpPr>
          <p:spPr>
            <a:xfrm>
              <a:off x="8021012" y="4847610"/>
              <a:ext cx="2627671" cy="629265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Expresión de iteración</a:t>
              </a:r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AF796DD-9F14-DDD1-3783-FC09CC379166}"/>
                </a:ext>
              </a:extLst>
            </p:cNvPr>
            <p:cNvSpPr txBox="1"/>
            <p:nvPr/>
          </p:nvSpPr>
          <p:spPr>
            <a:xfrm>
              <a:off x="10310395" y="2322921"/>
              <a:ext cx="5629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false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86BE50-36BB-7813-DCB6-00B7474B8567}"/>
                </a:ext>
              </a:extLst>
            </p:cNvPr>
            <p:cNvSpPr txBox="1"/>
            <p:nvPr/>
          </p:nvSpPr>
          <p:spPr>
            <a:xfrm>
              <a:off x="9523969" y="3479934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00B050"/>
                  </a:solidFill>
                </a:rPr>
                <a:t>true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11B2504-6ADB-8AFE-F7F1-31EC048361B1}"/>
                </a:ext>
              </a:extLst>
            </p:cNvPr>
            <p:cNvSpPr txBox="1"/>
            <p:nvPr/>
          </p:nvSpPr>
          <p:spPr>
            <a:xfrm>
              <a:off x="8068394" y="5992308"/>
              <a:ext cx="10999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fin de bucle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8F6BC63-927A-32F2-202C-B9235D3983FB}"/>
              </a:ext>
            </a:extLst>
          </p:cNvPr>
          <p:cNvSpPr txBox="1"/>
          <p:nvPr/>
        </p:nvSpPr>
        <p:spPr>
          <a:xfrm>
            <a:off x="1401097" y="3875113"/>
            <a:ext cx="4957807" cy="81724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b="1" dirty="0" err="1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lang="es-ES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b="1" dirty="0">
                <a:solidFill>
                  <a:srgbClr val="1B5E8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inicialización</a:t>
            </a:r>
            <a:r>
              <a:rPr lang="es-ES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condición</a:t>
            </a:r>
            <a:r>
              <a:rPr lang="es-ES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iteración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</a:p>
          <a:p>
            <a:r>
              <a:rPr lang="es-ES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instrucciones;</a:t>
            </a:r>
          </a:p>
          <a:p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lang="en-US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44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7AD440-BD80-39F9-7C1F-074C6307A17B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06F6E1-4365-F108-33D4-AFB4C443E6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477A81-9C44-35B9-60DF-1E672DCCC8E7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AAD10E-07F7-CE13-1F2B-E2B3AA68752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FB69095-0EF6-80F0-41E6-1EBD453E20AF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CF56784-D17E-75E2-E3AA-59559B201E16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Bucles anidados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729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2FCDC60-CD7A-0593-9531-7938B0B52B0B}"/>
              </a:ext>
            </a:extLst>
          </p:cNvPr>
          <p:cNvGrpSpPr/>
          <p:nvPr/>
        </p:nvGrpSpPr>
        <p:grpSpPr>
          <a:xfrm>
            <a:off x="838200" y="-31940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971D22-04EF-41A9-F228-357E20E00B2F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C265B8-671F-E4B5-F6F1-E84E7F9D272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Bucles anidados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EE9303-4353-2A8A-753C-4F376AFCF90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46E351-50C8-7B5C-2376-F245971C471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anidado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3B2E38-3212-14B2-F085-36ADD24987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938913" cy="4373562"/>
          </a:xfrm>
        </p:spPr>
        <p:txBody>
          <a:bodyPr/>
          <a:lstStyle/>
          <a:p>
            <a:r>
              <a:rPr lang="es-ES" dirty="0"/>
              <a:t>Se denomina </a:t>
            </a:r>
            <a:r>
              <a:rPr lang="es-ES" b="1" dirty="0">
                <a:solidFill>
                  <a:schemeClr val="accent2"/>
                </a:solidFill>
              </a:rPr>
              <a:t>bucle anidado </a:t>
            </a:r>
            <a:r>
              <a:rPr lang="es-ES" dirty="0"/>
              <a:t>al </a:t>
            </a:r>
            <a:r>
              <a:rPr lang="es-ES" b="1" dirty="0"/>
              <a:t>bucle</a:t>
            </a:r>
            <a:r>
              <a:rPr lang="es-ES" dirty="0"/>
              <a:t> que se encuentra </a:t>
            </a:r>
            <a:r>
              <a:rPr lang="es-ES" b="1" dirty="0"/>
              <a:t>dentro</a:t>
            </a:r>
            <a:r>
              <a:rPr lang="es-ES" dirty="0"/>
              <a:t> de </a:t>
            </a:r>
            <a:r>
              <a:rPr lang="es-ES" b="1" dirty="0"/>
              <a:t>otro bucle</a:t>
            </a:r>
            <a:r>
              <a:rPr lang="es-ES" dirty="0"/>
              <a:t>.</a:t>
            </a:r>
          </a:p>
          <a:p>
            <a:r>
              <a:rPr lang="es-ES" dirty="0"/>
              <a:t>Cualquiera de las estructuras repetitivas conocidas (</a:t>
            </a:r>
            <a:r>
              <a:rPr lang="es-ES" b="1" dirty="0" err="1">
                <a:solidFill>
                  <a:schemeClr val="accent2"/>
                </a:solidFill>
              </a:rPr>
              <a:t>while</a:t>
            </a:r>
            <a:r>
              <a:rPr lang="es-ES" dirty="0"/>
              <a:t>, </a:t>
            </a:r>
            <a:r>
              <a:rPr lang="es-ES" b="1" dirty="0">
                <a:solidFill>
                  <a:schemeClr val="accent2"/>
                </a:solidFill>
              </a:rPr>
              <a:t>do-</a:t>
            </a:r>
            <a:r>
              <a:rPr lang="es-ES" b="1" dirty="0" err="1">
                <a:solidFill>
                  <a:schemeClr val="accent2"/>
                </a:solidFill>
              </a:rPr>
              <a:t>while</a:t>
            </a:r>
            <a:r>
              <a:rPr lang="es-ES" dirty="0"/>
              <a:t>, </a:t>
            </a:r>
            <a:r>
              <a:rPr lang="es-ES" b="1" dirty="0" err="1">
                <a:solidFill>
                  <a:schemeClr val="accent2"/>
                </a:solidFill>
              </a:rPr>
              <a:t>for</a:t>
            </a:r>
            <a:r>
              <a:rPr lang="es-ES" dirty="0"/>
              <a:t>) puede anidarse dentro de otra.</a:t>
            </a:r>
          </a:p>
          <a:p>
            <a:r>
              <a:rPr lang="es-ES" u="sng" dirty="0"/>
              <a:t>No existe límite en el nivel de anidamiento</a:t>
            </a:r>
            <a:r>
              <a:rPr lang="es-ES" dirty="0"/>
              <a:t>, pero se recomienda no tener demasiados.</a:t>
            </a:r>
          </a:p>
        </p:txBody>
      </p:sp>
      <p:sp>
        <p:nvSpPr>
          <p:cNvPr id="11" name="Arrow: Circular 10">
            <a:extLst>
              <a:ext uri="{FF2B5EF4-FFF2-40B4-BE49-F238E27FC236}">
                <a16:creationId xmlns:a16="http://schemas.microsoft.com/office/drawing/2014/main" id="{DEDDAE74-6FA9-C465-FA37-B8ED7B9A8A0E}"/>
              </a:ext>
            </a:extLst>
          </p:cNvPr>
          <p:cNvSpPr/>
          <p:nvPr/>
        </p:nvSpPr>
        <p:spPr>
          <a:xfrm>
            <a:off x="7639639" y="2062605"/>
            <a:ext cx="4157220" cy="4157220"/>
          </a:xfrm>
          <a:prstGeom prst="circularArrow">
            <a:avLst>
              <a:gd name="adj1" fmla="val 3836"/>
              <a:gd name="adj2" fmla="val 498983"/>
              <a:gd name="adj3" fmla="val 20395081"/>
              <a:gd name="adj4" fmla="val 21463471"/>
              <a:gd name="adj5" fmla="val 5603"/>
            </a:avLst>
          </a:prstGeom>
          <a:solidFill>
            <a:srgbClr val="758F3A"/>
          </a:solidFill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ircular 11">
            <a:extLst>
              <a:ext uri="{FF2B5EF4-FFF2-40B4-BE49-F238E27FC236}">
                <a16:creationId xmlns:a16="http://schemas.microsoft.com/office/drawing/2014/main" id="{4575878F-1005-D712-78BA-E22AAA6C7359}"/>
              </a:ext>
            </a:extLst>
          </p:cNvPr>
          <p:cNvSpPr/>
          <p:nvPr/>
        </p:nvSpPr>
        <p:spPr>
          <a:xfrm rot="10800000">
            <a:off x="8194249" y="2617216"/>
            <a:ext cx="3048000" cy="3048000"/>
          </a:xfrm>
          <a:prstGeom prst="circularArrow">
            <a:avLst>
              <a:gd name="adj1" fmla="val 5398"/>
              <a:gd name="adj2" fmla="val 498983"/>
              <a:gd name="adj3" fmla="val 20015894"/>
              <a:gd name="adj4" fmla="val 21463471"/>
              <a:gd name="adj5" fmla="val 5603"/>
            </a:avLst>
          </a:prstGeom>
          <a:solidFill>
            <a:srgbClr val="CC7832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51528-591D-F93C-7345-AB0830473A35}"/>
              </a:ext>
            </a:extLst>
          </p:cNvPr>
          <p:cNvSpPr txBox="1"/>
          <p:nvPr/>
        </p:nvSpPr>
        <p:spPr>
          <a:xfrm>
            <a:off x="9078491" y="1762786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Bucle externo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C6833-BCBC-2216-FE1B-57271F299411}"/>
              </a:ext>
            </a:extLst>
          </p:cNvPr>
          <p:cNvSpPr txBox="1"/>
          <p:nvPr/>
        </p:nvSpPr>
        <p:spPr>
          <a:xfrm>
            <a:off x="9103337" y="3148526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Bucle interno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53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85E1-1911-03EF-CF4B-1D1ECBA0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Anidamiento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A8C92F-2C18-1FE6-8FF1-D17568ED95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2A0F9C-25CA-0C11-9830-7C046B768CD8}"/>
              </a:ext>
            </a:extLst>
          </p:cNvPr>
          <p:cNvSpPr txBox="1"/>
          <p:nvPr/>
        </p:nvSpPr>
        <p:spPr>
          <a:xfrm>
            <a:off x="1089439" y="1875593"/>
            <a:ext cx="24482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>
                    <a:lumMod val="65000"/>
                  </a:schemeClr>
                </a:solidFill>
                <a:latin typeface="+mj-lt"/>
                <a:cs typeface="Arial" panose="020B0604020202020204" pitchFamily="34" charset="0"/>
              </a:rPr>
              <a:t>¿Cómo se pueden anidar las estructuras repetitivas?</a:t>
            </a:r>
            <a:endParaRPr lang="en-US" sz="2000" dirty="0">
              <a:solidFill>
                <a:schemeClr val="bg1">
                  <a:lumMod val="6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FE5A325-EAAE-1AAD-81A3-4C33087EFA06}"/>
              </a:ext>
            </a:extLst>
          </p:cNvPr>
          <p:cNvGrpSpPr/>
          <p:nvPr/>
        </p:nvGrpSpPr>
        <p:grpSpPr>
          <a:xfrm>
            <a:off x="2599623" y="1206733"/>
            <a:ext cx="7382577" cy="4831882"/>
            <a:chOff x="2599623" y="1206733"/>
            <a:chExt cx="7382577" cy="4831882"/>
          </a:xfrm>
        </p:grpSpPr>
        <p:sp>
          <p:nvSpPr>
            <p:cNvPr id="5" name="Diamond 4">
              <a:extLst>
                <a:ext uri="{FF2B5EF4-FFF2-40B4-BE49-F238E27FC236}">
                  <a16:creationId xmlns:a16="http://schemas.microsoft.com/office/drawing/2014/main" id="{A525BDCD-29D2-45A6-A865-28C1BEA79629}"/>
                </a:ext>
              </a:extLst>
            </p:cNvPr>
            <p:cNvSpPr/>
            <p:nvPr/>
          </p:nvSpPr>
          <p:spPr>
            <a:xfrm>
              <a:off x="5206466" y="1562868"/>
              <a:ext cx="2194560" cy="219456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800" dirty="0" err="1">
                  <a:latin typeface="+mj-lt"/>
                </a:rPr>
                <a:t>while</a:t>
              </a:r>
              <a:endParaRPr lang="en-US" sz="2800" dirty="0">
                <a:latin typeface="+mj-lt"/>
              </a:endParaRPr>
            </a:p>
          </p:txBody>
        </p: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D540FB49-5871-94A7-37B1-B520BFA1E983}"/>
                </a:ext>
              </a:extLst>
            </p:cNvPr>
            <p:cNvSpPr/>
            <p:nvPr/>
          </p:nvSpPr>
          <p:spPr>
            <a:xfrm>
              <a:off x="3011906" y="3844055"/>
              <a:ext cx="2194560" cy="2194560"/>
            </a:xfrm>
            <a:prstGeom prst="diamond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800" dirty="0">
                  <a:latin typeface="+mj-lt"/>
                </a:rPr>
                <a:t>do-</a:t>
              </a:r>
              <a:r>
                <a:rPr lang="es-ES" sz="2800" dirty="0" err="1">
                  <a:latin typeface="+mj-lt"/>
                </a:rPr>
                <a:t>while</a:t>
              </a:r>
              <a:endParaRPr lang="en-US" sz="2800" dirty="0">
                <a:latin typeface="+mj-lt"/>
              </a:endParaRPr>
            </a:p>
          </p:txBody>
        </p:sp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85FDAFF7-495E-B290-1D6A-910A57F699B2}"/>
                </a:ext>
              </a:extLst>
            </p:cNvPr>
            <p:cNvSpPr/>
            <p:nvPr/>
          </p:nvSpPr>
          <p:spPr>
            <a:xfrm>
              <a:off x="7401026" y="3844055"/>
              <a:ext cx="2194560" cy="2194560"/>
            </a:xfrm>
            <a:prstGeom prst="diamond">
              <a:avLst/>
            </a:prstGeom>
            <a:solidFill>
              <a:srgbClr val="82AF9B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800" dirty="0" err="1">
                  <a:latin typeface="+mj-lt"/>
                </a:rPr>
                <a:t>for</a:t>
              </a:r>
              <a:endParaRPr lang="en-US" sz="2800" dirty="0">
                <a:latin typeface="+mj-lt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D1EE6FA-CB0C-AD9A-F234-DECFCEEA10A6}"/>
                </a:ext>
              </a:extLst>
            </p:cNvPr>
            <p:cNvCxnSpPr>
              <a:cxnSpLocks/>
            </p:cNvCxnSpPr>
            <p:nvPr/>
          </p:nvCxnSpPr>
          <p:spPr>
            <a:xfrm>
              <a:off x="6975914" y="3191099"/>
              <a:ext cx="1068405" cy="1023636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870C0B-C30D-EE46-BE07-EE6BFA0E04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8842" y="3147786"/>
              <a:ext cx="1029907" cy="1066949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702B26-071D-9E9C-64B5-E823CB04AA6E}"/>
                </a:ext>
              </a:extLst>
            </p:cNvPr>
            <p:cNvCxnSpPr>
              <a:cxnSpLocks/>
            </p:cNvCxnSpPr>
            <p:nvPr/>
          </p:nvCxnSpPr>
          <p:spPr>
            <a:xfrm>
              <a:off x="5131066" y="5340782"/>
              <a:ext cx="2415140" cy="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47A0ABFA-9565-0F65-D33A-8C0563B2D549}"/>
                </a:ext>
              </a:extLst>
            </p:cNvPr>
            <p:cNvSpPr/>
            <p:nvPr/>
          </p:nvSpPr>
          <p:spPr>
            <a:xfrm rot="16200000">
              <a:off x="5904297" y="1206733"/>
              <a:ext cx="798897" cy="798897"/>
            </a:xfrm>
            <a:prstGeom prst="arc">
              <a:avLst>
                <a:gd name="adj1" fmla="val 14606096"/>
                <a:gd name="adj2" fmla="val 7108453"/>
              </a:avLst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4B16453B-B441-24E4-3D7C-CDAEDB0EC73E}"/>
                </a:ext>
              </a:extLst>
            </p:cNvPr>
            <p:cNvSpPr/>
            <p:nvPr/>
          </p:nvSpPr>
          <p:spPr>
            <a:xfrm>
              <a:off x="9183303" y="4541886"/>
              <a:ext cx="798897" cy="798897"/>
            </a:xfrm>
            <a:prstGeom prst="arc">
              <a:avLst>
                <a:gd name="adj1" fmla="val 14606096"/>
                <a:gd name="adj2" fmla="val 7108453"/>
              </a:avLst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38A5ECEF-3264-2127-D325-89CCA9C5322B}"/>
                </a:ext>
              </a:extLst>
            </p:cNvPr>
            <p:cNvSpPr/>
            <p:nvPr/>
          </p:nvSpPr>
          <p:spPr>
            <a:xfrm flipH="1">
              <a:off x="2599623" y="4541885"/>
              <a:ext cx="798897" cy="798897"/>
            </a:xfrm>
            <a:prstGeom prst="arc">
              <a:avLst>
                <a:gd name="adj1" fmla="val 14606096"/>
                <a:gd name="adj2" fmla="val 7108453"/>
              </a:avLst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50AB4C-F801-9AF8-06BF-C637B2EC48C3}"/>
                </a:ext>
              </a:extLst>
            </p:cNvPr>
            <p:cNvCxnSpPr>
              <a:cxnSpLocks/>
            </p:cNvCxnSpPr>
            <p:nvPr/>
          </p:nvCxnSpPr>
          <p:spPr>
            <a:xfrm>
              <a:off x="6702398" y="3439352"/>
              <a:ext cx="1068405" cy="1023636"/>
            </a:xfrm>
            <a:prstGeom prst="line">
              <a:avLst/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E8BD242-82A0-018C-B177-3D38BF4C9E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9852" y="3417696"/>
              <a:ext cx="1029907" cy="1066949"/>
            </a:xfrm>
            <a:prstGeom prst="line">
              <a:avLst/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569E27D-5FF7-764C-1D16-57C1EE956CE4}"/>
                </a:ext>
              </a:extLst>
            </p:cNvPr>
            <p:cNvCxnSpPr>
              <a:cxnSpLocks/>
            </p:cNvCxnSpPr>
            <p:nvPr/>
          </p:nvCxnSpPr>
          <p:spPr>
            <a:xfrm>
              <a:off x="5111816" y="5745043"/>
              <a:ext cx="2415140" cy="0"/>
            </a:xfrm>
            <a:prstGeom prst="line">
              <a:avLst/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994AC44-B44E-1C97-14D4-E86510033C39}"/>
              </a:ext>
            </a:extLst>
          </p:cNvPr>
          <p:cNvGrpSpPr/>
          <p:nvPr/>
        </p:nvGrpSpPr>
        <p:grpSpPr>
          <a:xfrm>
            <a:off x="838200" y="-31940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4333D2-40B6-085D-4713-8D492CFA914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2290F16-33ED-48DF-5190-181FB1BB99AE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Bucles anidados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17224B-BCEC-2D73-4209-00B44AC1022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4B7AF5-10C2-F741-4CB8-9A7C754D6BD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619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2FCDC60-CD7A-0593-9531-7938B0B52B0B}"/>
              </a:ext>
            </a:extLst>
          </p:cNvPr>
          <p:cNvGrpSpPr/>
          <p:nvPr/>
        </p:nvGrpSpPr>
        <p:grpSpPr>
          <a:xfrm>
            <a:off x="838200" y="-31940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971D22-04EF-41A9-F228-357E20E00B2F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C265B8-671F-E4B5-F6F1-E84E7F9D272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Bucles anidados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EE9303-4353-2A8A-753C-4F376AFCF90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46E351-50C8-7B5C-2376-F245971C471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anidado.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3B2E38-3212-14B2-F085-36ADD24987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3092918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El ejemplo muestra un bucle que itera 3 veces (semanas) y dentro de éste, otro bucle que itera 7 veces (días)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1D50D2E-87D5-2BC3-393F-19AE8AEC4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074" y="2062811"/>
            <a:ext cx="4898723" cy="3284871"/>
          </a:xfrm>
          <a:prstGeom prst="roundRect">
            <a:avLst>
              <a:gd name="adj" fmla="val 4901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semanas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dias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i &lt;= semanas; i++) 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"Semana "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i);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j &lt;= dias; j++) 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Día "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j);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5564B-A8E9-5BA0-9177-569FC452E3B2}"/>
              </a:ext>
            </a:extLst>
          </p:cNvPr>
          <p:cNvSpPr txBox="1"/>
          <p:nvPr/>
        </p:nvSpPr>
        <p:spPr>
          <a:xfrm>
            <a:off x="9319753" y="2062811"/>
            <a:ext cx="1841297" cy="4315718"/>
          </a:xfrm>
          <a:prstGeom prst="roundRect">
            <a:avLst>
              <a:gd name="adj" fmla="val 6940"/>
            </a:avLst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</a:t>
            </a: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1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1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2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3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4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5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6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7</a:t>
            </a:r>
          </a:p>
          <a:p>
            <a:r>
              <a:rPr 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</a:t>
            </a: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2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1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2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3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4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5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6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7</a:t>
            </a:r>
          </a:p>
          <a:p>
            <a:r>
              <a:rPr 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</a:t>
            </a: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3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1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2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3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4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5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6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Día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6AFCB1-5690-AE16-1E08-E6BCFDAA1079}"/>
              </a:ext>
            </a:extLst>
          </p:cNvPr>
          <p:cNvSpPr txBox="1"/>
          <p:nvPr/>
        </p:nvSpPr>
        <p:spPr>
          <a:xfrm>
            <a:off x="9318967" y="1688527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29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2FCDC60-CD7A-0593-9531-7938B0B52B0B}"/>
              </a:ext>
            </a:extLst>
          </p:cNvPr>
          <p:cNvGrpSpPr/>
          <p:nvPr/>
        </p:nvGrpSpPr>
        <p:grpSpPr>
          <a:xfrm>
            <a:off x="838200" y="-31940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971D22-04EF-41A9-F228-357E20E00B2F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C265B8-671F-E4B5-F6F1-E84E7F9D272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Bucles anidados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EE9303-4353-2A8A-753C-4F376AFCF90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46E351-50C8-7B5C-2376-F245971C471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anidado.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3B2E38-3212-14B2-F085-36ADD24987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18568" y="1894787"/>
            <a:ext cx="2743200" cy="4231879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El ejemplo anterior, expresado con otras estructuras repetitivas anidadas.</a:t>
            </a:r>
          </a:p>
          <a:p>
            <a:pPr marL="50800" indent="0">
              <a:buNone/>
            </a:pPr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La salida es la misma en todos los casos.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86EB05A8-EC1D-ADED-B268-5AD738099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818" y="1753105"/>
            <a:ext cx="3695968" cy="2375474"/>
          </a:xfrm>
          <a:prstGeom prst="roundRect">
            <a:avLst>
              <a:gd name="adj" fmla="val 4762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j;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j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(j &lt;=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Día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j++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1A4B650-3288-800E-4ADF-71ABCBD59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901" y="1753105"/>
            <a:ext cx="3695968" cy="2375474"/>
          </a:xfrm>
          <a:prstGeom prst="roundRect">
            <a:avLst>
              <a:gd name="adj" fmla="val 5952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j;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j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Día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j++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(j &lt;=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FC21CA26-D717-CD45-B0C1-04F4E8677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818" y="4316423"/>
            <a:ext cx="3695967" cy="1971827"/>
          </a:xfrm>
          <a:prstGeom prst="roundRect">
            <a:avLst>
              <a:gd name="adj" fmla="val 5106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j &lt;=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j++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Día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j);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CBD55CB7-2B11-AA15-0E55-74940D0CB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899" y="4316423"/>
            <a:ext cx="3695968" cy="2375474"/>
          </a:xfrm>
          <a:prstGeom prst="roundRect">
            <a:avLst>
              <a:gd name="adj" fmla="val 4365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j;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Semana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j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Día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j++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(j &lt;=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12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2FCDC60-CD7A-0593-9531-7938B0B52B0B}"/>
              </a:ext>
            </a:extLst>
          </p:cNvPr>
          <p:cNvGrpSpPr/>
          <p:nvPr/>
        </p:nvGrpSpPr>
        <p:grpSpPr>
          <a:xfrm>
            <a:off x="838200" y="-31940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971D22-04EF-41A9-F228-357E20E00B2F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C265B8-671F-E4B5-F6F1-E84E7F9D272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Bucles anidados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EE9303-4353-2A8A-753C-4F376AFCF90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46E351-50C8-7B5C-2376-F245971C471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Anidamiento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3B2E38-3212-14B2-F085-36ADD249878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50800" indent="0">
              <a:buNone/>
            </a:pPr>
            <a:r>
              <a:rPr lang="es-ES" b="1" dirty="0"/>
              <a:t>Recuerda</a:t>
            </a:r>
            <a:r>
              <a:rPr lang="es-ES" dirty="0"/>
              <a:t>:</a:t>
            </a:r>
          </a:p>
          <a:p>
            <a:pPr marL="50800" indent="0">
              <a:buNone/>
            </a:pPr>
            <a:r>
              <a:rPr lang="es-ES" dirty="0"/>
              <a:t>Todas las estructuras, ya sean condicionales o repetitivas pueden anidarse entre sí, de forma combinada, según se requiera y sin límite de anidamiento.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95807F6-7CBD-801E-1D97-FA9608F301A3}"/>
              </a:ext>
            </a:extLst>
          </p:cNvPr>
          <p:cNvGrpSpPr/>
          <p:nvPr/>
        </p:nvGrpSpPr>
        <p:grpSpPr>
          <a:xfrm>
            <a:off x="1925855" y="4161790"/>
            <a:ext cx="7382577" cy="2194560"/>
            <a:chOff x="2599623" y="4161790"/>
            <a:chExt cx="7382577" cy="2194560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E8A29EAF-7F8C-16E0-268C-BEE1F782FD38}"/>
                </a:ext>
              </a:extLst>
            </p:cNvPr>
            <p:cNvSpPr/>
            <p:nvPr/>
          </p:nvSpPr>
          <p:spPr>
            <a:xfrm>
              <a:off x="3011906" y="4161790"/>
              <a:ext cx="2194560" cy="2194560"/>
            </a:xfrm>
            <a:prstGeom prst="diamond">
              <a:avLst/>
            </a:prstGeom>
            <a:solidFill>
              <a:srgbClr val="0E7D73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600" dirty="0">
                  <a:latin typeface="+mj-lt"/>
                </a:rPr>
                <a:t>Estructura condicional</a:t>
              </a:r>
              <a:endParaRPr lang="en-US" sz="1600" dirty="0">
                <a:latin typeface="+mj-lt"/>
              </a:endParaRPr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AE139D90-F686-8FA5-01EA-9ADBC9A55A30}"/>
                </a:ext>
              </a:extLst>
            </p:cNvPr>
            <p:cNvSpPr/>
            <p:nvPr/>
          </p:nvSpPr>
          <p:spPr>
            <a:xfrm>
              <a:off x="7401026" y="4161790"/>
              <a:ext cx="2194560" cy="2194560"/>
            </a:xfrm>
            <a:prstGeom prst="diamond">
              <a:avLst/>
            </a:prstGeom>
            <a:solidFill>
              <a:srgbClr val="EF477C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1600" dirty="0">
                  <a:latin typeface="+mj-lt"/>
                </a:rPr>
                <a:t>Estructura repetitiva</a:t>
              </a:r>
              <a:endParaRPr lang="en-US" sz="1600" dirty="0">
                <a:latin typeface="+mj-lt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D357632-325F-2D3F-E282-2A4FB02F9917}"/>
                </a:ext>
              </a:extLst>
            </p:cNvPr>
            <p:cNvCxnSpPr>
              <a:cxnSpLocks/>
            </p:cNvCxnSpPr>
            <p:nvPr/>
          </p:nvCxnSpPr>
          <p:spPr>
            <a:xfrm>
              <a:off x="5240845" y="5055203"/>
              <a:ext cx="2195582" cy="0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B1E7CBD-C51A-5FBE-C2D0-C102E0A74B40}"/>
                </a:ext>
              </a:extLst>
            </p:cNvPr>
            <p:cNvSpPr/>
            <p:nvPr/>
          </p:nvSpPr>
          <p:spPr>
            <a:xfrm>
              <a:off x="9183303" y="4859621"/>
              <a:ext cx="798897" cy="798897"/>
            </a:xfrm>
            <a:prstGeom prst="arc">
              <a:avLst>
                <a:gd name="adj1" fmla="val 14606096"/>
                <a:gd name="adj2" fmla="val 7108453"/>
              </a:avLst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8F5DE126-0FF4-0DD4-0ED9-EB41E5413F70}"/>
                </a:ext>
              </a:extLst>
            </p:cNvPr>
            <p:cNvSpPr/>
            <p:nvPr/>
          </p:nvSpPr>
          <p:spPr>
            <a:xfrm flipH="1">
              <a:off x="2599623" y="4859620"/>
              <a:ext cx="798897" cy="798897"/>
            </a:xfrm>
            <a:prstGeom prst="arc">
              <a:avLst>
                <a:gd name="adj1" fmla="val 14606096"/>
                <a:gd name="adj2" fmla="val 7108453"/>
              </a:avLst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190355B-6721-8D44-3075-8F1DE82061A3}"/>
                </a:ext>
              </a:extLst>
            </p:cNvPr>
            <p:cNvCxnSpPr>
              <a:cxnSpLocks/>
            </p:cNvCxnSpPr>
            <p:nvPr/>
          </p:nvCxnSpPr>
          <p:spPr>
            <a:xfrm>
              <a:off x="5221595" y="5459464"/>
              <a:ext cx="2195582" cy="0"/>
            </a:xfrm>
            <a:prstGeom prst="line">
              <a:avLst/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E7896AE-AD6A-E0CD-BC7C-DCCE22EC3359}"/>
              </a:ext>
            </a:extLst>
          </p:cNvPr>
          <p:cNvSpPr txBox="1"/>
          <p:nvPr/>
        </p:nvSpPr>
        <p:spPr>
          <a:xfrm>
            <a:off x="233454" y="6492378"/>
            <a:ext cx="686742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https://creazilla-store.fra1.digitaloceanspaces.com/cliparts/32933/business-man-advise-clipart-xl.png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633D64A-FC65-1C66-3887-42F3169651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053"/>
          <a:stretch/>
        </p:blipFill>
        <p:spPr>
          <a:xfrm>
            <a:off x="9305296" y="1839012"/>
            <a:ext cx="2886704" cy="464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7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for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Bucles anidados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CF56784-D17E-75E2-E3AA-59559B201E16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7AD440-BD80-39F9-7C1F-074C6307A17B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06F6E1-4365-F108-33D4-AFB4C443E6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477A81-9C44-35B9-60DF-1E672DCCC8E7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AAD10E-07F7-CE13-1F2B-E2B3AA68752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FB69095-0EF6-80F0-41E6-1EBD453E20AF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792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FAD7508-FA28-E000-16F5-651EFF2C8229}"/>
              </a:ext>
            </a:extLst>
          </p:cNvPr>
          <p:cNvGrpSpPr/>
          <p:nvPr/>
        </p:nvGrpSpPr>
        <p:grpSpPr>
          <a:xfrm>
            <a:off x="838200" y="-31941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730648D-7314-DA3C-25D7-BA5CE08E372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08A5AB5-CE32-D057-98BC-2C0AD1CF1C6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5AAE4B-2D80-EC45-39B1-A7973DDD8B6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5E344E3-2715-C5F1-6112-597B1ACBD73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BC5F8-CFC9-6085-A961-2612E0EEF8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5105399" cy="4373562"/>
          </a:xfrm>
        </p:spPr>
        <p:txBody>
          <a:bodyPr>
            <a:normAutofit fontScale="85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Elaborar un programa que permita ingresar mediante un menú la información de un empleado, su salario y sus boletas emitidas​.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Opcion1: Se debe pedir el nombre y el tipo de empleado (contratado o nombrado)​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Opción2: Se debe ingresar el salario mensual, número de boletas emitidas y número de mes en curso​.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Opción 3: Elaborar el reporte ASCII (validar que los datos hayan sido ingresados)​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3441A4-2B8A-EF82-1498-C8A1E3307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274" y="2181962"/>
            <a:ext cx="4962525" cy="32670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16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BC5F8-CFC9-6085-A961-2612E0EEF8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5105399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Escribir un programa para generar los N primeros números de la serie de Fibonacci, donde N es un valor entero positivo ingresado por el usuario (validar)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Mostrar además al final, la suma de los números mostrados.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470935-5A17-D872-9041-3DA59D14B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847" y="2775226"/>
            <a:ext cx="4314825" cy="2676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3BF85A-6490-7BE9-1C93-157A9F14B297}"/>
              </a:ext>
            </a:extLst>
          </p:cNvPr>
          <p:cNvSpPr txBox="1"/>
          <p:nvPr/>
        </p:nvSpPr>
        <p:spPr>
          <a:xfrm>
            <a:off x="275734" y="633142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https://www.mathsisfun.com/numbers/images/fibonacci-spiral.svg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E9DA76-0116-F381-E6FD-6570558251BF}"/>
              </a:ext>
            </a:extLst>
          </p:cNvPr>
          <p:cNvSpPr txBox="1"/>
          <p:nvPr/>
        </p:nvSpPr>
        <p:spPr>
          <a:xfrm>
            <a:off x="7086993" y="1846263"/>
            <a:ext cx="4503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1, 1, 2, 3, 5, 8, 13, 21, 34, …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32A8944-BBE3-D851-A879-FD8A05AE2213}"/>
              </a:ext>
            </a:extLst>
          </p:cNvPr>
          <p:cNvGrpSpPr/>
          <p:nvPr/>
        </p:nvGrpSpPr>
        <p:grpSpPr>
          <a:xfrm>
            <a:off x="838200" y="-31941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8A971C-4EFA-8731-214B-E9AF422E2D2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A4565D9-2925-7E6A-C2AF-26F387B581D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581C49-9D7A-5E1B-FE05-E4C1AA28145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54C1613-396E-B58D-7EC7-8CCC93F29BF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887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36349E5-DE60-BA91-E856-65AD0E41A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153" y="1741893"/>
            <a:ext cx="5838534" cy="39831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BC5F8-CFC9-6085-A961-2612E0EEF8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5105399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Escribir un programa para recoger los votos de 10 personas que elegirán un color para una campaña publicitaria. Los colores son: celeste, morado y turquesa.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Mostrar al final, cuántos votos obtuvo cada color, su porcentaje y qué color resultó elegido.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C53EE2-7DA0-9970-302D-F3F24C0256E5}"/>
              </a:ext>
            </a:extLst>
          </p:cNvPr>
          <p:cNvGrpSpPr/>
          <p:nvPr/>
        </p:nvGrpSpPr>
        <p:grpSpPr>
          <a:xfrm>
            <a:off x="7077961" y="2818483"/>
            <a:ext cx="3894839" cy="1221034"/>
            <a:chOff x="6248402" y="2846893"/>
            <a:chExt cx="5202025" cy="163083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D5B725A-EA51-BF7C-3B20-52B84CCC2235}"/>
                </a:ext>
              </a:extLst>
            </p:cNvPr>
            <p:cNvSpPr/>
            <p:nvPr/>
          </p:nvSpPr>
          <p:spPr>
            <a:xfrm>
              <a:off x="6248402" y="2846894"/>
              <a:ext cx="1630837" cy="1630837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0D5BACB-E1FA-0E2E-EB3D-9BC394753B8F}"/>
                </a:ext>
              </a:extLst>
            </p:cNvPr>
            <p:cNvSpPr/>
            <p:nvPr/>
          </p:nvSpPr>
          <p:spPr>
            <a:xfrm>
              <a:off x="8033996" y="2846893"/>
              <a:ext cx="1630837" cy="1630837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666D59-4E3A-B714-E9BB-8C9A7C571757}"/>
                </a:ext>
              </a:extLst>
            </p:cNvPr>
            <p:cNvSpPr/>
            <p:nvPr/>
          </p:nvSpPr>
          <p:spPr>
            <a:xfrm>
              <a:off x="9819590" y="2846893"/>
              <a:ext cx="1630837" cy="1630837"/>
            </a:xfrm>
            <a:prstGeom prst="ellipse">
              <a:avLst/>
            </a:prstGeom>
            <a:solidFill>
              <a:srgbClr val="00C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C8092-F6CF-55BD-7C27-D334158B0FC9}"/>
              </a:ext>
            </a:extLst>
          </p:cNvPr>
          <p:cNvGrpSpPr/>
          <p:nvPr/>
        </p:nvGrpSpPr>
        <p:grpSpPr>
          <a:xfrm>
            <a:off x="838200" y="-31941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0A9551-903A-26D5-3B49-DB60228CA93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98ABB8D-22B8-3474-A352-8D4A2D8DB5AD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07C939-8A92-30FB-750A-407A9B52A31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19D8B02-2E09-8A55-DF91-1065658248F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785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63A0-764F-792D-3F43-7474BD7A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5221"/>
            <a:ext cx="10515600" cy="785528"/>
          </a:xfrm>
        </p:spPr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18E3C7-3BFF-8F75-8E58-2C4F28BEF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71356-1799-139A-6FB0-2987604527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607737"/>
            <a:ext cx="6499662" cy="4662434"/>
          </a:xfrm>
        </p:spPr>
        <p:txBody>
          <a:bodyPr>
            <a:normAutofit fontScale="62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Implementar 5 programas en Java para:</a:t>
            </a:r>
          </a:p>
          <a:p>
            <a:pPr marL="5651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s-ES" sz="2900" dirty="0"/>
              <a:t>Resolver un problema que utilice una estructura </a:t>
            </a:r>
            <a:r>
              <a:rPr lang="es-ES" sz="2900" b="1" dirty="0" err="1"/>
              <a:t>for</a:t>
            </a:r>
            <a:r>
              <a:rPr lang="es-ES" sz="2900" dirty="0"/>
              <a:t> con un contador interno progresivo​.</a:t>
            </a:r>
          </a:p>
          <a:p>
            <a:pPr marL="5651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s-ES" sz="2900" dirty="0"/>
              <a:t>Resolver un problema que utilice una estructura  </a:t>
            </a:r>
            <a:r>
              <a:rPr lang="es-ES" sz="2900" b="1" dirty="0" err="1"/>
              <a:t>for</a:t>
            </a:r>
            <a:r>
              <a:rPr lang="es-ES" sz="2900" dirty="0"/>
              <a:t> con un contador adicional y un acumulador​.</a:t>
            </a:r>
          </a:p>
          <a:p>
            <a:pPr marL="5651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s-ES" sz="2900" dirty="0"/>
              <a:t>Elaborar un programa que genere un reporte ASCII utilizando la estructura repetitiva </a:t>
            </a:r>
            <a:r>
              <a:rPr lang="es-ES" sz="2900" b="1" dirty="0" err="1"/>
              <a:t>for</a:t>
            </a:r>
            <a:r>
              <a:rPr lang="es-ES" sz="2900" dirty="0"/>
              <a:t>​.</a:t>
            </a:r>
          </a:p>
          <a:p>
            <a:pPr marL="5651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s-ES" sz="2900" dirty="0"/>
              <a:t>Resolver un problema que utilice anidamiento entre estructuras repetitivas.</a:t>
            </a:r>
          </a:p>
          <a:p>
            <a:pPr marL="5651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s-ES" sz="2900" dirty="0"/>
              <a:t>Resolver un problema que utilice anidamiento entre estructuras condicionales y repetitivas.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Nota: Los programas 1,2,3 deben incluir alguna estructura de control revisada en clases previas.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2361B-123A-158C-5022-4E64314B5E2C}"/>
              </a:ext>
            </a:extLst>
          </p:cNvPr>
          <p:cNvSpPr txBox="1"/>
          <p:nvPr/>
        </p:nvSpPr>
        <p:spPr>
          <a:xfrm>
            <a:off x="8550113" y="2086536"/>
            <a:ext cx="2960015" cy="3171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Indicaciones</a:t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</a:br>
            <a:endParaRPr lang="en-US" b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Grupos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3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Entregables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a). Video de 3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minutos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las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propuestas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; b).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Archivo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ZIP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conteniendo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Proyecto java con las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aparecerán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video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ejercicios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59FA58-A78A-A9E9-3F96-6C468073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113" y="750255"/>
            <a:ext cx="1906405" cy="12609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049758-CFFE-88AE-565F-1A089BCD266B}"/>
              </a:ext>
            </a:extLst>
          </p:cNvPr>
          <p:cNvSpPr/>
          <p:nvPr/>
        </p:nvSpPr>
        <p:spPr>
          <a:xfrm>
            <a:off x="8010411" y="795186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9102E3-ABBC-9016-0438-69142AC00C95}"/>
              </a:ext>
            </a:extLst>
          </p:cNvPr>
          <p:cNvGrpSpPr/>
          <p:nvPr/>
        </p:nvGrpSpPr>
        <p:grpSpPr>
          <a:xfrm>
            <a:off x="8672114" y="5435206"/>
            <a:ext cx="2590250" cy="815188"/>
            <a:chOff x="8672114" y="5435206"/>
            <a:chExt cx="2590250" cy="81518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E33878-2B67-BD6D-B16F-414123BA2ECF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11" name="Graphic 10" descr="Clipboard Checked with solid fill">
              <a:extLst>
                <a:ext uri="{FF2B5EF4-FFF2-40B4-BE49-F238E27FC236}">
                  <a16:creationId xmlns:a16="http://schemas.microsoft.com/office/drawing/2014/main" id="{312BACDA-3B23-3641-E987-F1180B516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700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Resumen de la sesión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089741" cy="4373562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Mencione 3 características del bucle </a:t>
            </a:r>
            <a:r>
              <a:rPr lang="es-ES" b="1" dirty="0" err="1">
                <a:latin typeface="Helvetica"/>
              </a:rPr>
              <a:t>for</a:t>
            </a:r>
            <a:r>
              <a:rPr lang="es-ES" dirty="0">
                <a:latin typeface="Helvetica"/>
              </a:rPr>
              <a:t>.</a:t>
            </a:r>
          </a:p>
          <a:p>
            <a:r>
              <a:rPr lang="es-ES" dirty="0">
                <a:latin typeface="Helvetica"/>
              </a:rPr>
              <a:t>¿Qué es </a:t>
            </a:r>
            <a:r>
              <a:rPr lang="es-ES" b="1" dirty="0">
                <a:latin typeface="Helvetica"/>
              </a:rPr>
              <a:t>anidamiento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¿Qué estructuras repetitivas pueden anidarse?</a:t>
            </a:r>
          </a:p>
          <a:p>
            <a:r>
              <a:rPr lang="es-ES" dirty="0">
                <a:latin typeface="Helvetica"/>
              </a:rPr>
              <a:t>¿Qué ventajas tiene el uso de estructuras anidadas?</a:t>
            </a:r>
          </a:p>
          <a:p>
            <a:r>
              <a:rPr lang="es-ES" dirty="0">
                <a:latin typeface="Helvetica"/>
              </a:rPr>
              <a:t>¿Qué es un reporte ASCII?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/>
              <a:t>Tanenbaum &amp; Van </a:t>
            </a:r>
            <a:r>
              <a:rPr lang="es-ES" err="1"/>
              <a:t>Steen</a:t>
            </a:r>
            <a:r>
              <a:rPr lang="es-ES"/>
              <a:t> (2008).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/>
              <a:t>. Pearson </a:t>
            </a:r>
            <a:r>
              <a:rPr lang="es-ES" err="1"/>
              <a:t>Education</a:t>
            </a:r>
            <a:r>
              <a:rPr lang="es-ES"/>
              <a:t>​.</a:t>
            </a:r>
          </a:p>
          <a:p>
            <a:pPr>
              <a:lnSpc>
                <a:spcPct val="120000"/>
              </a:lnSpc>
            </a:pPr>
            <a:r>
              <a:rPr lang="en-US"/>
              <a:t>Khalid A. Mughal &amp; Rolf W. Rasmussen (2017). A </a:t>
            </a:r>
            <a:r>
              <a:rPr lang="en-US" i="1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1732</TotalTime>
  <Words>1680</Words>
  <Application>Microsoft Office PowerPoint</Application>
  <PresentationFormat>Panorámica</PresentationFormat>
  <Paragraphs>244</Paragraphs>
  <Slides>25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Estructura Repetitiva  for (II)</vt:lpstr>
      <vt:lpstr>Conocimientos previos</vt:lpstr>
      <vt:lpstr>Logro de aprendizaje</vt:lpstr>
      <vt:lpstr>Utilidad</vt:lpstr>
      <vt:lpstr>Presentación de PowerPoint</vt:lpstr>
      <vt:lpstr>Presentación de PowerPoint</vt:lpstr>
      <vt:lpstr>Bucle for</vt:lpstr>
      <vt:lpstr>Presentación de PowerPoint</vt:lpstr>
      <vt:lpstr>Bucle anidado</vt:lpstr>
      <vt:lpstr>Anidamiento</vt:lpstr>
      <vt:lpstr>Bucle anidado. Ejemplo.</vt:lpstr>
      <vt:lpstr>Bucle anidado. Ejemplo.</vt:lpstr>
      <vt:lpstr>Anidamiento</vt:lpstr>
      <vt:lpstr>Presentación de PowerPoint</vt:lpstr>
      <vt:lpstr>Ejercicio 1</vt:lpstr>
      <vt:lpstr>Ejercicio 2</vt:lpstr>
      <vt:lpstr>Ejercicio 3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08-Sesión 16</dc:title>
  <dc:creator>jorgerodcas@hotmail.com</dc:creator>
  <cp:lastModifiedBy>Juan Carlos García</cp:lastModifiedBy>
  <cp:revision>138</cp:revision>
  <dcterms:modified xsi:type="dcterms:W3CDTF">2023-10-20T21:41:39Z</dcterms:modified>
</cp:coreProperties>
</file>