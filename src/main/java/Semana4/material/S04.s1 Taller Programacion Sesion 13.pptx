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405" r:id="rId3"/>
    <p:sldId id="416" r:id="rId4"/>
    <p:sldId id="417" r:id="rId5"/>
    <p:sldId id="418" r:id="rId6"/>
    <p:sldId id="419" r:id="rId7"/>
    <p:sldId id="258" r:id="rId8"/>
    <p:sldId id="257" r:id="rId9"/>
    <p:sldId id="263" r:id="rId10"/>
    <p:sldId id="264" r:id="rId11"/>
    <p:sldId id="330" r:id="rId12"/>
    <p:sldId id="410" r:id="rId13"/>
    <p:sldId id="401" r:id="rId14"/>
    <p:sldId id="281" r:id="rId15"/>
    <p:sldId id="404" r:id="rId16"/>
    <p:sldId id="411" r:id="rId17"/>
    <p:sldId id="386" r:id="rId18"/>
    <p:sldId id="412" r:id="rId19"/>
    <p:sldId id="406" r:id="rId20"/>
    <p:sldId id="402" r:id="rId21"/>
    <p:sldId id="407" r:id="rId22"/>
    <p:sldId id="413" r:id="rId23"/>
    <p:sldId id="408" r:id="rId24"/>
    <p:sldId id="409" r:id="rId25"/>
    <p:sldId id="414" r:id="rId26"/>
    <p:sldId id="415" r:id="rId27"/>
    <p:sldId id="420" r:id="rId28"/>
    <p:sldId id="421" r:id="rId29"/>
    <p:sldId id="422" r:id="rId30"/>
    <p:sldId id="423" r:id="rId31"/>
    <p:sldId id="424" r:id="rId32"/>
    <p:sldId id="261" r:id="rId33"/>
    <p:sldId id="329" r:id="rId34"/>
    <p:sldId id="259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77C"/>
    <a:srgbClr val="F9F9F9"/>
    <a:srgbClr val="E5E5E6"/>
    <a:srgbClr val="57D3FF"/>
    <a:srgbClr val="1B5E8B"/>
    <a:srgbClr val="758F3A"/>
    <a:srgbClr val="DAEEEF"/>
    <a:srgbClr val="0E7D73"/>
    <a:srgbClr val="CC7832"/>
    <a:srgbClr val="8F2A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60B73-A423-B812-5CE1-C8DAD5587D31}" v="389" dt="2023-01-25T19:12:52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43" autoAdjust="0"/>
  </p:normalViewPr>
  <p:slideViewPr>
    <p:cSldViewPr snapToGrid="0">
      <p:cViewPr varScale="1">
        <p:scale>
          <a:sx n="118" d="100"/>
          <a:sy n="118" d="100"/>
        </p:scale>
        <p:origin x="610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2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90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214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363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928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249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827A855-94AE-E27B-2CF1-C1CBE73E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87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091124-FA4F-E456-3590-B79B57B6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/>
                </a:solidFill>
              </a:rPr>
              <a:t>Dudas de la clase anterior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7125-C9B7-BE28-33E3-2D1AC888B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C6AC8-3843-8C33-EF1C-91D8BF422F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5302" y="1846263"/>
            <a:ext cx="3458497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200000"/>
              </a:lnSpc>
              <a:buNone/>
            </a:pPr>
            <a:r>
              <a:rPr lang="es-ES" dirty="0" err="1">
                <a:solidFill>
                  <a:schemeClr val="bg1"/>
                </a:solidFill>
              </a:rPr>
              <a:t>while</a:t>
            </a:r>
            <a:endParaRPr lang="es-ES" dirty="0">
              <a:solidFill>
                <a:schemeClr val="bg1"/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Bucle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infinito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Contador</a:t>
            </a: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Acumulador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Usos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2B6274-A6AA-E65B-24D9-8FAA5819B668}"/>
              </a:ext>
            </a:extLst>
          </p:cNvPr>
          <p:cNvSpPr/>
          <p:nvPr/>
        </p:nvSpPr>
        <p:spPr>
          <a:xfrm>
            <a:off x="7049727" y="2045109"/>
            <a:ext cx="688258" cy="6882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01</a:t>
            </a:r>
            <a:endParaRPr lang="en-US" sz="2000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F09654-EC1B-BDE9-5050-3FD4B3185C46}"/>
              </a:ext>
            </a:extLst>
          </p:cNvPr>
          <p:cNvSpPr/>
          <p:nvPr/>
        </p:nvSpPr>
        <p:spPr>
          <a:xfrm>
            <a:off x="7057101" y="2892480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02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D3DBD-145C-CF5D-911F-6D7C3AB0A497}"/>
              </a:ext>
            </a:extLst>
          </p:cNvPr>
          <p:cNvSpPr/>
          <p:nvPr/>
        </p:nvSpPr>
        <p:spPr>
          <a:xfrm>
            <a:off x="7049727" y="3739851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03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E8EA15-F1C8-18F4-65B6-9B4EE4597338}"/>
              </a:ext>
            </a:extLst>
          </p:cNvPr>
          <p:cNvSpPr/>
          <p:nvPr/>
        </p:nvSpPr>
        <p:spPr>
          <a:xfrm>
            <a:off x="7049727" y="4587222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04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A9AD61-96BF-5D18-15E2-48BD777CBD64}"/>
              </a:ext>
            </a:extLst>
          </p:cNvPr>
          <p:cNvSpPr/>
          <p:nvPr/>
        </p:nvSpPr>
        <p:spPr>
          <a:xfrm>
            <a:off x="7042353" y="5434593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05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FFBF85-35DA-3207-AC9F-414EBA5DDE2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 amt="70000"/>
          </a:blip>
          <a:stretch>
            <a:fillRect/>
          </a:stretch>
        </p:blipFill>
        <p:spPr>
          <a:xfrm>
            <a:off x="2145343" y="2148426"/>
            <a:ext cx="2613469" cy="32861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94C6D6-7200-E1CB-59AA-3F7AF84096BE}"/>
              </a:ext>
            </a:extLst>
          </p:cNvPr>
          <p:cNvSpPr txBox="1"/>
          <p:nvPr/>
        </p:nvSpPr>
        <p:spPr>
          <a:xfrm>
            <a:off x="179437" y="6322468"/>
            <a:ext cx="915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https://w0.peakpx.com/wallpaper/456/15/HD-wallpaper-black-texture-ultra-aero-patterns-dark-black-pattern-texture.jpg</a:t>
            </a:r>
          </a:p>
        </p:txBody>
      </p:sp>
    </p:spTree>
    <p:extLst>
      <p:ext uri="{BB962C8B-B14F-4D97-AF65-F5344CB8AC3E}">
        <p14:creationId xmlns:p14="http://schemas.microsoft.com/office/powerpoint/2010/main" val="216320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68E1A10-6CC9-136F-AC6C-328D660BD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87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091124-FA4F-E456-3590-B79B57B6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/>
                </a:solidFill>
              </a:rPr>
              <a:t>Dudas de la clase anterior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7125-C9B7-BE28-33E3-2D1AC888B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C6AC8-3843-8C33-EF1C-91D8BF422F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5302" y="1846263"/>
            <a:ext cx="3458497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200000"/>
              </a:lnSpc>
              <a:buNone/>
            </a:pP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while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bg1"/>
                </a:solidFill>
              </a:rPr>
              <a:t>Bucle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infinito</a:t>
            </a:r>
            <a:endParaRPr lang="en-US" dirty="0">
              <a:solidFill>
                <a:schemeClr val="bg1"/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Contador</a:t>
            </a: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Acumulador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Usos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2B6274-A6AA-E65B-24D9-8FAA5819B668}"/>
              </a:ext>
            </a:extLst>
          </p:cNvPr>
          <p:cNvSpPr/>
          <p:nvPr/>
        </p:nvSpPr>
        <p:spPr>
          <a:xfrm>
            <a:off x="7049727" y="2045109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F09654-EC1B-BDE9-5050-3FD4B3185C46}"/>
              </a:ext>
            </a:extLst>
          </p:cNvPr>
          <p:cNvSpPr/>
          <p:nvPr/>
        </p:nvSpPr>
        <p:spPr>
          <a:xfrm>
            <a:off x="7057101" y="2892480"/>
            <a:ext cx="688258" cy="6882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02</a:t>
            </a:r>
            <a:endParaRPr lang="en-US" sz="20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D3DBD-145C-CF5D-911F-6D7C3AB0A497}"/>
              </a:ext>
            </a:extLst>
          </p:cNvPr>
          <p:cNvSpPr/>
          <p:nvPr/>
        </p:nvSpPr>
        <p:spPr>
          <a:xfrm>
            <a:off x="7049727" y="3739851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03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E8EA15-F1C8-18F4-65B6-9B4EE4597338}"/>
              </a:ext>
            </a:extLst>
          </p:cNvPr>
          <p:cNvSpPr/>
          <p:nvPr/>
        </p:nvSpPr>
        <p:spPr>
          <a:xfrm>
            <a:off x="7049727" y="4587222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04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A9AD61-96BF-5D18-15E2-48BD777CBD64}"/>
              </a:ext>
            </a:extLst>
          </p:cNvPr>
          <p:cNvSpPr/>
          <p:nvPr/>
        </p:nvSpPr>
        <p:spPr>
          <a:xfrm>
            <a:off x="7042353" y="5434593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05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10D11-AEAA-FEEF-5F8B-7686A05602A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 amt="70000"/>
          </a:blip>
          <a:stretch>
            <a:fillRect/>
          </a:stretch>
        </p:blipFill>
        <p:spPr>
          <a:xfrm>
            <a:off x="2195051" y="3446420"/>
            <a:ext cx="2652252" cy="12751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1C7820-3835-4B05-5564-EA26EE96E6A5}"/>
              </a:ext>
            </a:extLst>
          </p:cNvPr>
          <p:cNvSpPr txBox="1"/>
          <p:nvPr/>
        </p:nvSpPr>
        <p:spPr>
          <a:xfrm>
            <a:off x="179437" y="6322468"/>
            <a:ext cx="915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https://w0.peakpx.com/wallpaper/456/15/HD-wallpaper-black-texture-ultra-aero-patterns-dark-black-pattern-texture.jpg</a:t>
            </a:r>
          </a:p>
        </p:txBody>
      </p:sp>
    </p:spTree>
    <p:extLst>
      <p:ext uri="{BB962C8B-B14F-4D97-AF65-F5344CB8AC3E}">
        <p14:creationId xmlns:p14="http://schemas.microsoft.com/office/powerpoint/2010/main" val="332538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A098835-089C-1A55-6A2F-B0401606A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87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091124-FA4F-E456-3590-B79B57B6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/>
                </a:solidFill>
              </a:rPr>
              <a:t>Dudas de la clase anterior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7125-C9B7-BE28-33E3-2D1AC888B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C6AC8-3843-8C33-EF1C-91D8BF422F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5302" y="1846263"/>
            <a:ext cx="3458497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200000"/>
              </a:lnSpc>
              <a:buNone/>
            </a:pP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while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Bucle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infinito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Contador</a:t>
            </a: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Acumulador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Usos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2B6274-A6AA-E65B-24D9-8FAA5819B668}"/>
              </a:ext>
            </a:extLst>
          </p:cNvPr>
          <p:cNvSpPr/>
          <p:nvPr/>
        </p:nvSpPr>
        <p:spPr>
          <a:xfrm>
            <a:off x="7049727" y="2045109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F09654-EC1B-BDE9-5050-3FD4B3185C46}"/>
              </a:ext>
            </a:extLst>
          </p:cNvPr>
          <p:cNvSpPr/>
          <p:nvPr/>
        </p:nvSpPr>
        <p:spPr>
          <a:xfrm>
            <a:off x="7057101" y="2892480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02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D3DBD-145C-CF5D-911F-6D7C3AB0A497}"/>
              </a:ext>
            </a:extLst>
          </p:cNvPr>
          <p:cNvSpPr/>
          <p:nvPr/>
        </p:nvSpPr>
        <p:spPr>
          <a:xfrm>
            <a:off x="7049727" y="3739851"/>
            <a:ext cx="688258" cy="6882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03</a:t>
            </a:r>
            <a:endParaRPr lang="en-US" sz="2000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E8EA15-F1C8-18F4-65B6-9B4EE4597338}"/>
              </a:ext>
            </a:extLst>
          </p:cNvPr>
          <p:cNvSpPr/>
          <p:nvPr/>
        </p:nvSpPr>
        <p:spPr>
          <a:xfrm>
            <a:off x="7049727" y="4587222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04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A9AD61-96BF-5D18-15E2-48BD777CBD64}"/>
              </a:ext>
            </a:extLst>
          </p:cNvPr>
          <p:cNvSpPr/>
          <p:nvPr/>
        </p:nvSpPr>
        <p:spPr>
          <a:xfrm>
            <a:off x="7042353" y="5434593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05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8C8BD-250B-18CC-01D0-4D352DA827F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alphaModFix amt="70000"/>
          </a:blip>
          <a:stretch>
            <a:fillRect/>
          </a:stretch>
        </p:blipFill>
        <p:spPr>
          <a:xfrm>
            <a:off x="1927124" y="2719091"/>
            <a:ext cx="2369575" cy="2369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DD2A48-FD89-435E-90C6-31E7749E625E}"/>
              </a:ext>
            </a:extLst>
          </p:cNvPr>
          <p:cNvSpPr txBox="1"/>
          <p:nvPr/>
        </p:nvSpPr>
        <p:spPr>
          <a:xfrm>
            <a:off x="179437" y="6322468"/>
            <a:ext cx="915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https://w0.peakpx.com/wallpaper/456/15/HD-wallpaper-black-texture-ultra-aero-patterns-dark-black-pattern-texture.jpg</a:t>
            </a:r>
          </a:p>
        </p:txBody>
      </p:sp>
    </p:spTree>
    <p:extLst>
      <p:ext uri="{BB962C8B-B14F-4D97-AF65-F5344CB8AC3E}">
        <p14:creationId xmlns:p14="http://schemas.microsoft.com/office/powerpoint/2010/main" val="403972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E573153-4A58-AE2D-0283-F5310DD1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87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091124-FA4F-E456-3590-B79B57B6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/>
                </a:solidFill>
              </a:rPr>
              <a:t>Dudas de la clase anterior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7125-C9B7-BE28-33E3-2D1AC888B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C6AC8-3843-8C33-EF1C-91D8BF422F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5302" y="1846263"/>
            <a:ext cx="3458497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200000"/>
              </a:lnSpc>
              <a:buNone/>
            </a:pP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while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Bucle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infinito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Contador</a:t>
            </a: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bg1"/>
                </a:solidFill>
              </a:rPr>
              <a:t>Acumulador</a:t>
            </a:r>
            <a:endParaRPr lang="en-US" dirty="0">
              <a:solidFill>
                <a:schemeClr val="bg1"/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Usos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2B6274-A6AA-E65B-24D9-8FAA5819B668}"/>
              </a:ext>
            </a:extLst>
          </p:cNvPr>
          <p:cNvSpPr/>
          <p:nvPr/>
        </p:nvSpPr>
        <p:spPr>
          <a:xfrm>
            <a:off x="7049727" y="2045109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F09654-EC1B-BDE9-5050-3FD4B3185C46}"/>
              </a:ext>
            </a:extLst>
          </p:cNvPr>
          <p:cNvSpPr/>
          <p:nvPr/>
        </p:nvSpPr>
        <p:spPr>
          <a:xfrm>
            <a:off x="7057101" y="2892480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02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D3DBD-145C-CF5D-911F-6D7C3AB0A497}"/>
              </a:ext>
            </a:extLst>
          </p:cNvPr>
          <p:cNvSpPr/>
          <p:nvPr/>
        </p:nvSpPr>
        <p:spPr>
          <a:xfrm>
            <a:off x="7049727" y="3739851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03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E8EA15-F1C8-18F4-65B6-9B4EE4597338}"/>
              </a:ext>
            </a:extLst>
          </p:cNvPr>
          <p:cNvSpPr/>
          <p:nvPr/>
        </p:nvSpPr>
        <p:spPr>
          <a:xfrm>
            <a:off x="7049727" y="4587222"/>
            <a:ext cx="688258" cy="6882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04</a:t>
            </a:r>
            <a:endParaRPr lang="en-US" sz="20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A9AD61-96BF-5D18-15E2-48BD777CBD64}"/>
              </a:ext>
            </a:extLst>
          </p:cNvPr>
          <p:cNvSpPr/>
          <p:nvPr/>
        </p:nvSpPr>
        <p:spPr>
          <a:xfrm>
            <a:off x="7042353" y="5434593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05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688A1-6D05-0616-C594-717E3CF60A7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 amt="70000"/>
          </a:blip>
          <a:stretch>
            <a:fillRect/>
          </a:stretch>
        </p:blipFill>
        <p:spPr>
          <a:xfrm>
            <a:off x="2570237" y="3133040"/>
            <a:ext cx="1901880" cy="19018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955146-59D0-7416-7D5F-5B2BD74587C4}"/>
              </a:ext>
            </a:extLst>
          </p:cNvPr>
          <p:cNvSpPr txBox="1"/>
          <p:nvPr/>
        </p:nvSpPr>
        <p:spPr>
          <a:xfrm>
            <a:off x="179437" y="6322468"/>
            <a:ext cx="915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https://w0.peakpx.com/wallpaper/456/15/HD-wallpaper-black-texture-ultra-aero-patterns-dark-black-pattern-texture.jpg</a:t>
            </a:r>
          </a:p>
        </p:txBody>
      </p:sp>
    </p:spTree>
    <p:extLst>
      <p:ext uri="{BB962C8B-B14F-4D97-AF65-F5344CB8AC3E}">
        <p14:creationId xmlns:p14="http://schemas.microsoft.com/office/powerpoint/2010/main" val="298672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BE9C493-431B-FBF9-AECC-6AB116197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87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091124-FA4F-E456-3590-B79B57B6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accent4"/>
                </a:solidFill>
              </a:rPr>
              <a:t>Dudas de la clase anterior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7125-C9B7-BE28-33E3-2D1AC888B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C6AC8-3843-8C33-EF1C-91D8BF422F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5302" y="1846263"/>
            <a:ext cx="3458497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200000"/>
              </a:lnSpc>
              <a:buNone/>
            </a:pPr>
            <a:r>
              <a:rPr lang="es-E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while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Bucle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infinito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Contador</a:t>
            </a: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Acumulador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0800" indent="0">
              <a:lnSpc>
                <a:spcPct val="200000"/>
              </a:lnSpc>
              <a:buNone/>
            </a:pPr>
            <a:r>
              <a:rPr lang="en-US" dirty="0" err="1">
                <a:solidFill>
                  <a:schemeClr val="bg1"/>
                </a:solidFill>
              </a:rPr>
              <a:t>Usos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2B6274-A6AA-E65B-24D9-8FAA5819B668}"/>
              </a:ext>
            </a:extLst>
          </p:cNvPr>
          <p:cNvSpPr/>
          <p:nvPr/>
        </p:nvSpPr>
        <p:spPr>
          <a:xfrm>
            <a:off x="7049727" y="2045109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01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F09654-EC1B-BDE9-5050-3FD4B3185C46}"/>
              </a:ext>
            </a:extLst>
          </p:cNvPr>
          <p:cNvSpPr/>
          <p:nvPr/>
        </p:nvSpPr>
        <p:spPr>
          <a:xfrm>
            <a:off x="7057101" y="2892480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02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D3DBD-145C-CF5D-911F-6D7C3AB0A497}"/>
              </a:ext>
            </a:extLst>
          </p:cNvPr>
          <p:cNvSpPr/>
          <p:nvPr/>
        </p:nvSpPr>
        <p:spPr>
          <a:xfrm>
            <a:off x="7049727" y="3739851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03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E8EA15-F1C8-18F4-65B6-9B4EE4597338}"/>
              </a:ext>
            </a:extLst>
          </p:cNvPr>
          <p:cNvSpPr/>
          <p:nvPr/>
        </p:nvSpPr>
        <p:spPr>
          <a:xfrm>
            <a:off x="7049727" y="4587222"/>
            <a:ext cx="688258" cy="688258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4">
                    <a:lumMod val="75000"/>
                  </a:schemeClr>
                </a:solidFill>
              </a:rPr>
              <a:t>04</a:t>
            </a:r>
            <a:endParaRPr 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A9AD61-96BF-5D18-15E2-48BD777CBD64}"/>
              </a:ext>
            </a:extLst>
          </p:cNvPr>
          <p:cNvSpPr/>
          <p:nvPr/>
        </p:nvSpPr>
        <p:spPr>
          <a:xfrm>
            <a:off x="7042353" y="5434593"/>
            <a:ext cx="688258" cy="6882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05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44A7A-D3CA-DDA7-C886-A4A791C6E88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>
            <a:off x="2326557" y="2892480"/>
            <a:ext cx="2600634" cy="26006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4151E0-639F-A800-EF53-E1972E079943}"/>
              </a:ext>
            </a:extLst>
          </p:cNvPr>
          <p:cNvSpPr txBox="1"/>
          <p:nvPr/>
        </p:nvSpPr>
        <p:spPr>
          <a:xfrm>
            <a:off x="179437" y="6322468"/>
            <a:ext cx="915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https://w0.peakpx.com/wallpaper/456/15/HD-wallpaper-black-texture-ultra-aero-patterns-dark-black-pattern-texture.jpg</a:t>
            </a:r>
          </a:p>
        </p:txBody>
      </p:sp>
    </p:spTree>
    <p:extLst>
      <p:ext uri="{BB962C8B-B14F-4D97-AF65-F5344CB8AC3E}">
        <p14:creationId xmlns:p14="http://schemas.microsoft.com/office/powerpoint/2010/main" val="4648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Estructura Repetitiva do-</a:t>
            </a:r>
            <a:r>
              <a:rPr lang="es-ES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 (I)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08B9B254-A4BC-4628-81EC-67931E32D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Conocimientos previos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340C-8AA3-8B1A-7CDE-78414DAAE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211529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Observa y responde:</a:t>
            </a:r>
          </a:p>
          <a:p>
            <a:r>
              <a:rPr lang="es-ES" dirty="0"/>
              <a:t>¿Qué acción se está realizando?</a:t>
            </a:r>
          </a:p>
          <a:p>
            <a:r>
              <a:rPr lang="es-ES" dirty="0"/>
              <a:t>La </a:t>
            </a:r>
            <a:r>
              <a:rPr lang="es-ES" u="sng" dirty="0"/>
              <a:t>acción</a:t>
            </a:r>
            <a:r>
              <a:rPr lang="es-ES" dirty="0"/>
              <a:t> se realiza _______ el vaso no _______.</a:t>
            </a:r>
          </a:p>
          <a:p>
            <a:r>
              <a:rPr lang="es-ES" dirty="0"/>
              <a:t>Describe otro caso real donde la </a:t>
            </a:r>
            <a:r>
              <a:rPr lang="es-ES" u="sng" dirty="0"/>
              <a:t>acción preceda</a:t>
            </a:r>
            <a:r>
              <a:rPr lang="es-ES" dirty="0"/>
              <a:t> a la </a:t>
            </a:r>
            <a:r>
              <a:rPr lang="es-ES" u="sng" dirty="0"/>
              <a:t>condición</a:t>
            </a:r>
            <a:r>
              <a:rPr lang="es-ES" dirty="0"/>
              <a:t>.</a:t>
            </a:r>
          </a:p>
          <a:p>
            <a:r>
              <a:rPr lang="es-ES" dirty="0"/>
              <a:t>¿Qué similitud tiene con la programación?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E063E-7B57-BBB8-15B2-516FCEFC5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45" y="2026981"/>
            <a:ext cx="4984955" cy="2804037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Logro de aprendizaje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la estructura repetitiva do-</a:t>
            </a:r>
            <a:r>
              <a:rPr lang="es-ES" dirty="0" err="1">
                <a:solidFill>
                  <a:schemeClr val="accent4"/>
                </a:solidFill>
              </a:rPr>
              <a:t>while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mediante la realización de actividades </a:t>
            </a:r>
            <a:r>
              <a:rPr lang="es-ES" dirty="0">
                <a:solidFill>
                  <a:srgbClr val="7030A0"/>
                </a:solidFill>
              </a:rPr>
              <a:t>para resolver problemas sencillos que requieren que ciertas acciones se repitan.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obtenida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45"/>
            <a:ext cx="10515600" cy="785528"/>
          </a:xfrm>
        </p:spPr>
        <p:txBody>
          <a:bodyPr/>
          <a:lstStyle/>
          <a:p>
            <a:r>
              <a:rPr lang="es-ES"/>
              <a:t>Utilidad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B555DED-C1EC-199E-BD3B-E945F183DA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362075"/>
            <a:ext cx="7772400" cy="4857750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sz="2400" dirty="0"/>
              <a:t>Observa y responde:</a:t>
            </a:r>
          </a:p>
          <a:p>
            <a:r>
              <a:rPr lang="es-ES" sz="2400" dirty="0"/>
              <a:t>¿Qué muestra la imagen?</a:t>
            </a:r>
          </a:p>
          <a:p>
            <a:r>
              <a:rPr lang="es-ES" sz="2400" dirty="0"/>
              <a:t>¿Has visto programas similares actualmente?¿Dónde?</a:t>
            </a:r>
          </a:p>
          <a:p>
            <a:r>
              <a:rPr lang="es-ES" sz="2400" dirty="0"/>
              <a:t>¿Qué ventajas tendría el usar menús </a:t>
            </a:r>
            <a:br>
              <a:rPr lang="es-ES" sz="2400" dirty="0"/>
            </a:br>
            <a:r>
              <a:rPr lang="es-ES" sz="2400" dirty="0"/>
              <a:t>en las aplicaciones?</a:t>
            </a:r>
          </a:p>
          <a:p>
            <a:r>
              <a:rPr lang="es-ES" sz="2400" dirty="0"/>
              <a:t>¿Cómo te puede servir en el ámbito </a:t>
            </a:r>
            <a:br>
              <a:rPr lang="es-ES" sz="2400" dirty="0"/>
            </a:br>
            <a:r>
              <a:rPr lang="es-ES" sz="2400" dirty="0"/>
              <a:t>profesional el uso de menús en los </a:t>
            </a:r>
            <a:br>
              <a:rPr lang="es-ES" sz="2400" dirty="0"/>
            </a:br>
            <a:r>
              <a:rPr lang="es-ES" sz="2400" dirty="0"/>
              <a:t>programas que elabores?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1038037" y="5696605"/>
            <a:ext cx="10406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b="1" dirty="0">
                <a:solidFill>
                  <a:srgbClr val="0E7D73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0E7D73"/>
                </a:solidFill>
                <a:latin typeface="Helvetica" pitchFamily="2" charset="0"/>
              </a:rPr>
              <a:t>programas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con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menús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de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opciones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latin typeface="Helvetica" pitchFamily="2" charset="0"/>
              </a:rPr>
              <a:t>en</a:t>
            </a:r>
            <a:r>
              <a:rPr lang="en-US" sz="2800" b="1" dirty="0">
                <a:latin typeface="Helvetica" pitchFamily="2" charset="0"/>
              </a:rPr>
              <a:t> Java.</a:t>
            </a:r>
            <a:endParaRPr lang="es-ES" sz="2800" b="1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E3CA2-FB22-6FCF-62A8-8785D655A726}"/>
              </a:ext>
            </a:extLst>
          </p:cNvPr>
          <p:cNvSpPr txBox="1"/>
          <p:nvPr/>
        </p:nvSpPr>
        <p:spPr>
          <a:xfrm>
            <a:off x="248266" y="6490643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https://static.packt-cdn.com/products/9781118983843/graphics/images/c18f001.jpg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70B813-18E6-7E3C-8601-752850E1D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256" y="2018412"/>
            <a:ext cx="3811544" cy="287810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 infinito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 infinito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E2CAE-8A41-B1D5-42F7-A30CDBAA8CE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419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do-</a:t>
            </a:r>
            <a:r>
              <a:rPr lang="es-ES" dirty="0" err="1"/>
              <a:t>while</a:t>
            </a:r>
            <a:r>
              <a:rPr lang="es-ES" dirty="0"/>
              <a:t> (</a:t>
            </a:r>
            <a:r>
              <a:rPr lang="es-ES" i="1" dirty="0"/>
              <a:t>“hacer mientras”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59E8-E3E0-0380-549E-626FA57B54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3"/>
            <a:ext cx="6188256" cy="4373562"/>
          </a:xfrm>
        </p:spPr>
        <p:txBody>
          <a:bodyPr/>
          <a:lstStyle/>
          <a:p>
            <a:r>
              <a:rPr lang="es-ES" dirty="0"/>
              <a:t>La estructura repetitiva </a:t>
            </a:r>
            <a:r>
              <a:rPr lang="es-ES" b="1" dirty="0">
                <a:solidFill>
                  <a:schemeClr val="accent2"/>
                </a:solidFill>
              </a:rPr>
              <a:t>do-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 ejecuta su </a:t>
            </a:r>
            <a:r>
              <a:rPr lang="es-ES" b="1" dirty="0"/>
              <a:t>condición</a:t>
            </a:r>
            <a:r>
              <a:rPr lang="es-ES" dirty="0"/>
              <a:t> al </a:t>
            </a:r>
            <a:r>
              <a:rPr lang="es-ES" b="1" dirty="0"/>
              <a:t>final</a:t>
            </a:r>
            <a:r>
              <a:rPr lang="es-ES" dirty="0"/>
              <a:t> del </a:t>
            </a:r>
            <a:r>
              <a:rPr lang="es-ES" b="1" dirty="0"/>
              <a:t>bucle</a:t>
            </a:r>
            <a:r>
              <a:rPr lang="es-ES" dirty="0"/>
              <a:t>.</a:t>
            </a:r>
          </a:p>
          <a:p>
            <a:r>
              <a:rPr lang="es-ES" dirty="0"/>
              <a:t>Por su diseño, esta estructura </a:t>
            </a:r>
            <a:r>
              <a:rPr lang="es-ES" b="1" dirty="0"/>
              <a:t>se ejecuta al menos una vez</a:t>
            </a:r>
            <a:r>
              <a:rPr lang="es-ES" dirty="0"/>
              <a:t>, siempre.</a:t>
            </a:r>
          </a:p>
          <a:p>
            <a:r>
              <a:rPr lang="es-ES" dirty="0"/>
              <a:t>El </a:t>
            </a:r>
            <a:r>
              <a:rPr lang="es-ES" b="1" dirty="0"/>
              <a:t>bucle</a:t>
            </a:r>
            <a:r>
              <a:rPr lang="es-ES" dirty="0"/>
              <a:t> </a:t>
            </a:r>
            <a:r>
              <a:rPr lang="es-ES" b="1" dirty="0"/>
              <a:t>finaliza</a:t>
            </a:r>
            <a:r>
              <a:rPr lang="es-ES" dirty="0"/>
              <a:t> cuando la </a:t>
            </a:r>
            <a:r>
              <a:rPr lang="es-ES" b="1" dirty="0"/>
              <a:t>condición</a:t>
            </a:r>
            <a:r>
              <a:rPr lang="es-ES" dirty="0"/>
              <a:t> es </a:t>
            </a:r>
            <a:r>
              <a:rPr lang="es-ES" b="1" dirty="0">
                <a:solidFill>
                  <a:srgbClr val="FF0000"/>
                </a:solidFill>
              </a:rPr>
              <a:t>false</a:t>
            </a:r>
            <a:r>
              <a:rPr lang="es-ES" dirty="0"/>
              <a:t> (opuesto al bucle 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)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FF289D-D390-5132-8CFA-CE170B922965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1817A4-E157-5C8B-6D93-8A4CB9C76B6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E08BE3-3DD1-06F3-4B27-62FFC46881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991D40-FF73-5A55-1E1E-390096E505E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5C104B-2912-E1B7-711F-581D0BFDE1A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C847B3-59C4-D1FA-453B-65D8F3E3797D}"/>
              </a:ext>
            </a:extLst>
          </p:cNvPr>
          <p:cNvGrpSpPr/>
          <p:nvPr/>
        </p:nvGrpSpPr>
        <p:grpSpPr>
          <a:xfrm>
            <a:off x="7373414" y="1991405"/>
            <a:ext cx="3648547" cy="3764928"/>
            <a:chOff x="7640837" y="2188051"/>
            <a:chExt cx="3648547" cy="3764928"/>
          </a:xfrm>
        </p:grpSpPr>
        <p:sp>
          <p:nvSpPr>
            <p:cNvPr id="13" name="Arrow: U-Turn 12">
              <a:extLst>
                <a:ext uri="{FF2B5EF4-FFF2-40B4-BE49-F238E27FC236}">
                  <a16:creationId xmlns:a16="http://schemas.microsoft.com/office/drawing/2014/main" id="{1BD12BA8-BD84-0F1A-57AE-5C5E1223CCD3}"/>
                </a:ext>
              </a:extLst>
            </p:cNvPr>
            <p:cNvSpPr/>
            <p:nvPr/>
          </p:nvSpPr>
          <p:spPr>
            <a:xfrm rot="16200000">
              <a:off x="7521776" y="3285440"/>
              <a:ext cx="2202034" cy="1963912"/>
            </a:xfrm>
            <a:prstGeom prst="uturnArrow">
              <a:avLst>
                <a:gd name="adj1" fmla="val 4200"/>
                <a:gd name="adj2" fmla="val 5467"/>
                <a:gd name="adj3" fmla="val 5853"/>
                <a:gd name="adj4" fmla="val 15800"/>
                <a:gd name="adj5" fmla="val 31412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EB525278-E6FC-EC17-B1A2-2B7C032BB491}"/>
                </a:ext>
              </a:extLst>
            </p:cNvPr>
            <p:cNvSpPr/>
            <p:nvPr/>
          </p:nvSpPr>
          <p:spPr>
            <a:xfrm>
              <a:off x="9491694" y="2188051"/>
              <a:ext cx="221670" cy="708582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Bent 14">
              <a:extLst>
                <a:ext uri="{FF2B5EF4-FFF2-40B4-BE49-F238E27FC236}">
                  <a16:creationId xmlns:a16="http://schemas.microsoft.com/office/drawing/2014/main" id="{7B52D808-AC33-AD2C-C6C3-7BC41BF30866}"/>
                </a:ext>
              </a:extLst>
            </p:cNvPr>
            <p:cNvSpPr/>
            <p:nvPr/>
          </p:nvSpPr>
          <p:spPr>
            <a:xfrm rot="5400000">
              <a:off x="10408146" y="5173139"/>
              <a:ext cx="671985" cy="887696"/>
            </a:xfrm>
            <a:prstGeom prst="bentArrow">
              <a:avLst>
                <a:gd name="adj1" fmla="val 12459"/>
                <a:gd name="adj2" fmla="val 17540"/>
                <a:gd name="adj3" fmla="val 18338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A80C94C-A3BC-66B1-224A-F0DA1E6437F3}"/>
                </a:ext>
              </a:extLst>
            </p:cNvPr>
            <p:cNvSpPr/>
            <p:nvPr/>
          </p:nvSpPr>
          <p:spPr>
            <a:xfrm rot="18900000">
              <a:off x="9038579" y="4749548"/>
              <a:ext cx="1136562" cy="1136562"/>
            </a:xfrm>
            <a:prstGeom prst="roundRect">
              <a:avLst>
                <a:gd name="adj" fmla="val 6071"/>
              </a:avLst>
            </a:prstGeom>
            <a:solidFill>
              <a:srgbClr val="92D05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B5E9CC-7A44-BD01-4DFD-2D679BC87F22}"/>
                </a:ext>
              </a:extLst>
            </p:cNvPr>
            <p:cNvSpPr txBox="1"/>
            <p:nvPr/>
          </p:nvSpPr>
          <p:spPr>
            <a:xfrm>
              <a:off x="9022446" y="5113499"/>
              <a:ext cx="1159293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condición</a:t>
              </a:r>
              <a:endParaRPr lang="en-US" sz="1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BBC4E1-252E-A9DA-DB07-CA65FFFE0722}"/>
                </a:ext>
              </a:extLst>
            </p:cNvPr>
            <p:cNvSpPr txBox="1"/>
            <p:nvPr/>
          </p:nvSpPr>
          <p:spPr>
            <a:xfrm>
              <a:off x="8217551" y="4838564"/>
              <a:ext cx="594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800" dirty="0">
                  <a:solidFill>
                    <a:srgbClr val="92D050"/>
                  </a:solidFill>
                </a:rPr>
                <a:t>true</a:t>
              </a:r>
              <a:endParaRPr lang="en-US" sz="1800" dirty="0">
                <a:solidFill>
                  <a:srgbClr val="92D05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E15159F-AC6C-AAC8-4F3D-9C22C96B01BF}"/>
                </a:ext>
              </a:extLst>
            </p:cNvPr>
            <p:cNvSpPr txBox="1"/>
            <p:nvPr/>
          </p:nvSpPr>
          <p:spPr>
            <a:xfrm>
              <a:off x="10464210" y="4838564"/>
              <a:ext cx="82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rgbClr val="C00000"/>
                  </a:solidFill>
                </a:rPr>
                <a:t>false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B4543BE0-6037-626E-7899-B5063C9E947F}"/>
                </a:ext>
              </a:extLst>
            </p:cNvPr>
            <p:cNvSpPr/>
            <p:nvPr/>
          </p:nvSpPr>
          <p:spPr>
            <a:xfrm>
              <a:off x="9495978" y="3653830"/>
              <a:ext cx="221670" cy="85738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2D9ADF8-DBEA-C271-EC16-FBDEFF17D48F}"/>
                </a:ext>
              </a:extLst>
            </p:cNvPr>
            <p:cNvSpPr/>
            <p:nvPr/>
          </p:nvSpPr>
          <p:spPr>
            <a:xfrm>
              <a:off x="8292902" y="2906344"/>
              <a:ext cx="2613891" cy="78552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FE33FA-88C3-9504-3D47-5C2B6B171218}"/>
                </a:ext>
              </a:extLst>
            </p:cNvPr>
            <p:cNvSpPr txBox="1"/>
            <p:nvPr/>
          </p:nvSpPr>
          <p:spPr>
            <a:xfrm>
              <a:off x="8563966" y="3108910"/>
              <a:ext cx="2082621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código condicional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144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98FB432-4988-BF0F-A505-E1860F81943B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A68496C-42B2-44E7-5EE0-276EA929039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8F957F7-168C-114F-3E26-4D082ACA560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8FA348-FA08-F37F-A685-358280B6AD1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F2B8130-2AE5-C66F-9FE5-6A461F8A399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do-</a:t>
            </a:r>
            <a:r>
              <a:rPr lang="es-ES" dirty="0" err="1"/>
              <a:t>while</a:t>
            </a:r>
            <a:r>
              <a:rPr lang="es-ES" dirty="0"/>
              <a:t> en Java. Sintaxis.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16" name="CuadroTexto 1">
            <a:extLst>
              <a:ext uri="{FF2B5EF4-FFF2-40B4-BE49-F238E27FC236}">
                <a16:creationId xmlns:a16="http://schemas.microsoft.com/office/drawing/2014/main" id="{4BAB035D-9F15-D3AA-B5B0-624F40013616}"/>
              </a:ext>
            </a:extLst>
          </p:cNvPr>
          <p:cNvSpPr txBox="1"/>
          <p:nvPr/>
        </p:nvSpPr>
        <p:spPr>
          <a:xfrm>
            <a:off x="4083764" y="2070762"/>
            <a:ext cx="4024472" cy="4283130"/>
          </a:xfrm>
          <a:prstGeom prst="roundRect">
            <a:avLst>
              <a:gd name="adj" fmla="val 4547"/>
            </a:avLst>
          </a:prstGeom>
          <a:solidFill>
            <a:schemeClr val="bg2">
              <a:lumMod val="50000"/>
            </a:schemeClr>
          </a:solidFill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s-419" sz="2000" dirty="0">
              <a:solidFill>
                <a:srgbClr val="00B0F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s-419" sz="20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lang="es-419" sz="20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s-419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20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bloque de</a:t>
            </a:r>
          </a:p>
          <a:p>
            <a:pPr>
              <a:lnSpc>
                <a:spcPct val="150000"/>
              </a:lnSpc>
            </a:pPr>
            <a:r>
              <a:rPr lang="es-419" sz="20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// instrucciones</a:t>
            </a:r>
          </a:p>
          <a:p>
            <a:pPr>
              <a:lnSpc>
                <a:spcPct val="150000"/>
              </a:lnSpc>
            </a:pPr>
            <a:endParaRPr lang="es-419" sz="2000" dirty="0">
              <a:solidFill>
                <a:srgbClr val="FFC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lnSpc>
                <a:spcPct val="150000"/>
              </a:lnSpc>
            </a:pPr>
            <a:r>
              <a:rPr lang="es-419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es-419" sz="20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actualización</a:t>
            </a:r>
          </a:p>
          <a:p>
            <a:pPr>
              <a:lnSpc>
                <a:spcPct val="150000"/>
              </a:lnSpc>
            </a:pPr>
            <a:r>
              <a:rPr lang="es-419" sz="20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// de la condición</a:t>
            </a:r>
          </a:p>
          <a:p>
            <a:pPr>
              <a:lnSpc>
                <a:spcPct val="150000"/>
              </a:lnSpc>
            </a:pPr>
            <a:r>
              <a:rPr lang="es-419" sz="20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lang="es-419" sz="20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</a:t>
            </a:r>
            <a:r>
              <a:rPr lang="es-419" sz="20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419" sz="20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419" sz="20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lang="es-419" sz="20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endParaRPr lang="es-419" sz="20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6611F-1D5F-0E03-4CCA-63908D4FD363}"/>
              </a:ext>
            </a:extLst>
          </p:cNvPr>
          <p:cNvSpPr txBox="1"/>
          <p:nvPr/>
        </p:nvSpPr>
        <p:spPr>
          <a:xfrm>
            <a:off x="9103867" y="4194702"/>
            <a:ext cx="16964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Se actualiza la condición a fin de comprobar se realizará una nueva iteración. Necesario cuando se utilizan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checks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573C79-BC7F-6711-327F-970065A3A3C5}"/>
              </a:ext>
            </a:extLst>
          </p:cNvPr>
          <p:cNvSpPr txBox="1"/>
          <p:nvPr/>
        </p:nvSpPr>
        <p:spPr>
          <a:xfrm>
            <a:off x="1555583" y="3041704"/>
            <a:ext cx="16964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Se ejecutan una a varias instrucciones dentro del bucle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0AAC9F-592E-826B-7D1A-FC7D7CE78878}"/>
              </a:ext>
            </a:extLst>
          </p:cNvPr>
          <p:cNvSpPr txBox="1"/>
          <p:nvPr/>
        </p:nvSpPr>
        <p:spPr>
          <a:xfrm>
            <a:off x="984740" y="5399785"/>
            <a:ext cx="22672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Si no se cumple la condición entonces el bucle termina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430B856-7E9F-D747-0C46-64076F45DA82}"/>
              </a:ext>
            </a:extLst>
          </p:cNvPr>
          <p:cNvSpPr/>
          <p:nvPr/>
        </p:nvSpPr>
        <p:spPr>
          <a:xfrm>
            <a:off x="3456633" y="3490690"/>
            <a:ext cx="1497205" cy="146956"/>
          </a:xfrm>
          <a:custGeom>
            <a:avLst/>
            <a:gdLst>
              <a:gd name="connsiteX0" fmla="*/ 0 w 1336431"/>
              <a:gd name="connsiteY0" fmla="*/ 0 h 70339"/>
              <a:gd name="connsiteX1" fmla="*/ 1336431 w 1336431"/>
              <a:gd name="connsiteY1" fmla="*/ 70339 h 70339"/>
              <a:gd name="connsiteX0" fmla="*/ 0 w 1497205"/>
              <a:gd name="connsiteY0" fmla="*/ 0 h 90436"/>
              <a:gd name="connsiteX1" fmla="*/ 1497205 w 1497205"/>
              <a:gd name="connsiteY1" fmla="*/ 90436 h 90436"/>
              <a:gd name="connsiteX0" fmla="*/ 0 w 1497205"/>
              <a:gd name="connsiteY0" fmla="*/ 0 h 135653"/>
              <a:gd name="connsiteX1" fmla="*/ 1497205 w 1497205"/>
              <a:gd name="connsiteY1" fmla="*/ 90436 h 135653"/>
              <a:gd name="connsiteX0" fmla="*/ 0 w 1497205"/>
              <a:gd name="connsiteY0" fmla="*/ 26234 h 146956"/>
              <a:gd name="connsiteX1" fmla="*/ 1497205 w 1497205"/>
              <a:gd name="connsiteY1" fmla="*/ 116670 h 146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97205" h="146956">
                <a:moveTo>
                  <a:pt x="0" y="26234"/>
                </a:moveTo>
                <a:cubicBezTo>
                  <a:pt x="559358" y="-94346"/>
                  <a:pt x="907702" y="247299"/>
                  <a:pt x="1497205" y="116670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BA03788-2679-69E3-7A88-A49E9CD6683F}"/>
              </a:ext>
            </a:extLst>
          </p:cNvPr>
          <p:cNvSpPr/>
          <p:nvPr/>
        </p:nvSpPr>
        <p:spPr>
          <a:xfrm>
            <a:off x="3456633" y="5887533"/>
            <a:ext cx="2592475" cy="206987"/>
          </a:xfrm>
          <a:custGeom>
            <a:avLst/>
            <a:gdLst>
              <a:gd name="connsiteX0" fmla="*/ 0 w 1336431"/>
              <a:gd name="connsiteY0" fmla="*/ 0 h 70339"/>
              <a:gd name="connsiteX1" fmla="*/ 1336431 w 1336431"/>
              <a:gd name="connsiteY1" fmla="*/ 70339 h 70339"/>
              <a:gd name="connsiteX0" fmla="*/ 0 w 1497205"/>
              <a:gd name="connsiteY0" fmla="*/ 0 h 90436"/>
              <a:gd name="connsiteX1" fmla="*/ 1497205 w 1497205"/>
              <a:gd name="connsiteY1" fmla="*/ 90436 h 90436"/>
              <a:gd name="connsiteX0" fmla="*/ 0 w 1497205"/>
              <a:gd name="connsiteY0" fmla="*/ 0 h 135653"/>
              <a:gd name="connsiteX1" fmla="*/ 1497205 w 1497205"/>
              <a:gd name="connsiteY1" fmla="*/ 90436 h 135653"/>
              <a:gd name="connsiteX0" fmla="*/ 0 w 1497205"/>
              <a:gd name="connsiteY0" fmla="*/ 26234 h 146956"/>
              <a:gd name="connsiteX1" fmla="*/ 1497205 w 1497205"/>
              <a:gd name="connsiteY1" fmla="*/ 116670 h 146956"/>
              <a:gd name="connsiteX0" fmla="*/ 0 w 1497205"/>
              <a:gd name="connsiteY0" fmla="*/ 0 h 161618"/>
              <a:gd name="connsiteX1" fmla="*/ 1497205 w 1497205"/>
              <a:gd name="connsiteY1" fmla="*/ 90436 h 161618"/>
              <a:gd name="connsiteX0" fmla="*/ 0 w 2592475"/>
              <a:gd name="connsiteY0" fmla="*/ 0 h 130186"/>
              <a:gd name="connsiteX1" fmla="*/ 2592475 w 2592475"/>
              <a:gd name="connsiteY1" fmla="*/ 40194 h 130186"/>
              <a:gd name="connsiteX0" fmla="*/ 0 w 2592475"/>
              <a:gd name="connsiteY0" fmla="*/ 0 h 206987"/>
              <a:gd name="connsiteX1" fmla="*/ 2592475 w 2592475"/>
              <a:gd name="connsiteY1" fmla="*/ 40194 h 206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92475" h="206987">
                <a:moveTo>
                  <a:pt x="0" y="0"/>
                </a:moveTo>
                <a:cubicBezTo>
                  <a:pt x="448826" y="160774"/>
                  <a:pt x="2203939" y="351694"/>
                  <a:pt x="2592475" y="40194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207C5CE-FE78-7C26-6286-932420CCF1DC}"/>
              </a:ext>
            </a:extLst>
          </p:cNvPr>
          <p:cNvSpPr/>
          <p:nvPr/>
        </p:nvSpPr>
        <p:spPr>
          <a:xfrm>
            <a:off x="7897194" y="4644854"/>
            <a:ext cx="1065125" cy="340964"/>
          </a:xfrm>
          <a:custGeom>
            <a:avLst/>
            <a:gdLst>
              <a:gd name="connsiteX0" fmla="*/ 0 w 1336431"/>
              <a:gd name="connsiteY0" fmla="*/ 0 h 70339"/>
              <a:gd name="connsiteX1" fmla="*/ 1336431 w 1336431"/>
              <a:gd name="connsiteY1" fmla="*/ 70339 h 70339"/>
              <a:gd name="connsiteX0" fmla="*/ 0 w 1497205"/>
              <a:gd name="connsiteY0" fmla="*/ 0 h 90436"/>
              <a:gd name="connsiteX1" fmla="*/ 1497205 w 1497205"/>
              <a:gd name="connsiteY1" fmla="*/ 90436 h 90436"/>
              <a:gd name="connsiteX0" fmla="*/ 0 w 1497205"/>
              <a:gd name="connsiteY0" fmla="*/ 0 h 135653"/>
              <a:gd name="connsiteX1" fmla="*/ 1497205 w 1497205"/>
              <a:gd name="connsiteY1" fmla="*/ 90436 h 135653"/>
              <a:gd name="connsiteX0" fmla="*/ 0 w 1497205"/>
              <a:gd name="connsiteY0" fmla="*/ 26234 h 146956"/>
              <a:gd name="connsiteX1" fmla="*/ 1497205 w 1497205"/>
              <a:gd name="connsiteY1" fmla="*/ 116670 h 146956"/>
              <a:gd name="connsiteX0" fmla="*/ 0 w 1798655"/>
              <a:gd name="connsiteY0" fmla="*/ 1366575 h 1366575"/>
              <a:gd name="connsiteX1" fmla="*/ 1798655 w 1798655"/>
              <a:gd name="connsiteY1" fmla="*/ 0 h 1366575"/>
              <a:gd name="connsiteX0" fmla="*/ 1165875 w 1257310"/>
              <a:gd name="connsiteY0" fmla="*/ 190918 h 190918"/>
              <a:gd name="connsiteX1" fmla="*/ 100750 w 1257310"/>
              <a:gd name="connsiteY1" fmla="*/ 0 h 190918"/>
              <a:gd name="connsiteX0" fmla="*/ 1065125 w 1201711"/>
              <a:gd name="connsiteY0" fmla="*/ 354345 h 354345"/>
              <a:gd name="connsiteX1" fmla="*/ 0 w 1201711"/>
              <a:gd name="connsiteY1" fmla="*/ 163427 h 354345"/>
              <a:gd name="connsiteX0" fmla="*/ 1065125 w 1065125"/>
              <a:gd name="connsiteY0" fmla="*/ 340964 h 340964"/>
              <a:gd name="connsiteX1" fmla="*/ 0 w 1065125"/>
              <a:gd name="connsiteY1" fmla="*/ 150046 h 34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5125" h="340964">
                <a:moveTo>
                  <a:pt x="1065125" y="340964"/>
                </a:moveTo>
                <a:cubicBezTo>
                  <a:pt x="659841" y="300771"/>
                  <a:pt x="304800" y="-261936"/>
                  <a:pt x="0" y="150046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2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AA79-84F4-F99D-D2AD-689EA256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do-</a:t>
            </a:r>
            <a:r>
              <a:rPr lang="es-ES" dirty="0" err="1"/>
              <a:t>while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494FA0-A995-F5F5-F923-A79CFDE441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91D44-C346-7F85-8931-4997E2389EA2}"/>
              </a:ext>
            </a:extLst>
          </p:cNvPr>
          <p:cNvSpPr txBox="1"/>
          <p:nvPr/>
        </p:nvSpPr>
        <p:spPr>
          <a:xfrm>
            <a:off x="905577" y="1919004"/>
            <a:ext cx="72350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do-</a:t>
            </a:r>
            <a:r>
              <a:rPr lang="es-ES" sz="2000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while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utilizado para mostrar la tabla de multiplicar de un número dado. Nótese la forma en que se realiza la condición final.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C68C5-707F-AB76-D77F-A93A4B7C374A}"/>
              </a:ext>
            </a:extLst>
          </p:cNvPr>
          <p:cNvSpPr txBox="1"/>
          <p:nvPr/>
        </p:nvSpPr>
        <p:spPr>
          <a:xfrm>
            <a:off x="8485239" y="2315268"/>
            <a:ext cx="1982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C73869-AEB4-6276-BC17-B85E1145FACF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E045B3-9E6B-C778-AC94-4D13887020F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01DD166-FD73-B25A-3A2E-223A5CCBFE8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51E6C0-FD91-5AAF-F146-EDC460167FF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C152A7-B5E3-98C4-EA46-A41920DF429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B602149C-0EAB-CBA1-385E-B377F6B5C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577" y="3091120"/>
            <a:ext cx="7235045" cy="3055160"/>
          </a:xfrm>
          <a:prstGeom prst="roundRect">
            <a:avLst>
              <a:gd name="adj" fmla="val 6090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entero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entre 1 y 12: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"%d x %2d = %3d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(++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8756B3-9101-B362-2ED6-5D6C986D4407}"/>
              </a:ext>
            </a:extLst>
          </p:cNvPr>
          <p:cNvSpPr txBox="1"/>
          <p:nvPr/>
        </p:nvSpPr>
        <p:spPr>
          <a:xfrm>
            <a:off x="8455742" y="2712901"/>
            <a:ext cx="3126658" cy="3433379"/>
          </a:xfrm>
          <a:prstGeom prst="roundRect">
            <a:avLst>
              <a:gd name="adj" fmla="val 3475"/>
            </a:avLst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entero entre 1 y 12: 8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1 =   8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2 =  16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3 =  24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4 =  32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5 =  40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6 =  48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7 =  56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8 =  64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 9 =  72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10 =  80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11 =  88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x 12 =  96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7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E2CAE-8A41-B1D5-42F7-A30CDBAA8CE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 infinito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48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FF5603-9B71-2D8A-A460-782CD9E7236E}"/>
              </a:ext>
            </a:extLst>
          </p:cNvPr>
          <p:cNvGrpSpPr/>
          <p:nvPr/>
        </p:nvGrpSpPr>
        <p:grpSpPr>
          <a:xfrm>
            <a:off x="838200" y="-31936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657960-72E6-A0E0-D545-46225164D9F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2E7F9A-4E97-7150-9ECE-BDA0C922884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 infinito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9641B7-841D-68C6-7FE6-3A1454F5A0C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9F3554-7B1F-77D8-9E83-4C5003E148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F30606B3-27F0-99F5-455C-B0AF7605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¿Puede un bucle </a:t>
            </a:r>
            <a:r>
              <a:rPr lang="es-ES" u="sng" dirty="0"/>
              <a:t>do-</a:t>
            </a:r>
            <a:r>
              <a:rPr lang="es-ES" u="sng" dirty="0" err="1"/>
              <a:t>while</a:t>
            </a:r>
            <a:r>
              <a:rPr lang="es-ES" dirty="0"/>
              <a:t> ser infinito?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80494-69D9-2273-A769-5F7EE7C4E1A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2"/>
                </a:solidFill>
              </a:rPr>
              <a:t>Sí.</a:t>
            </a:r>
          </a:p>
          <a:p>
            <a:r>
              <a:rPr lang="es-ES" dirty="0"/>
              <a:t>Un </a:t>
            </a:r>
            <a:r>
              <a:rPr lang="es-ES" b="1" dirty="0"/>
              <a:t>bucle infinito</a:t>
            </a:r>
            <a:r>
              <a:rPr lang="es-ES" dirty="0"/>
              <a:t> es aquel que se </a:t>
            </a:r>
            <a:r>
              <a:rPr lang="es-ES" b="1" dirty="0"/>
              <a:t>repite</a:t>
            </a:r>
            <a:r>
              <a:rPr lang="es-ES" dirty="0"/>
              <a:t> de </a:t>
            </a:r>
            <a:r>
              <a:rPr lang="es-ES" b="1" dirty="0"/>
              <a:t>forma indefinida</a:t>
            </a:r>
            <a:r>
              <a:rPr lang="es-ES" dirty="0"/>
              <a:t> debido a que la </a:t>
            </a:r>
            <a:r>
              <a:rPr lang="es-ES" b="1" dirty="0"/>
              <a:t>condición</a:t>
            </a:r>
            <a:r>
              <a:rPr lang="es-ES" dirty="0"/>
              <a:t> es </a:t>
            </a:r>
            <a:r>
              <a:rPr lang="es-ES" b="1" dirty="0"/>
              <a:t>siempre verdadera</a:t>
            </a:r>
            <a:r>
              <a:rPr lang="es-ES" dirty="0"/>
              <a:t>.</a:t>
            </a:r>
          </a:p>
          <a:p>
            <a:r>
              <a:rPr lang="es-ES" dirty="0"/>
              <a:t>Tiene un efecto perjudicial pues el </a:t>
            </a:r>
            <a:br>
              <a:rPr lang="es-ES" dirty="0"/>
            </a:br>
            <a:r>
              <a:rPr lang="es-ES" dirty="0"/>
              <a:t>programa no puede completarse.</a:t>
            </a:r>
          </a:p>
          <a:p>
            <a:r>
              <a:rPr lang="es-ES" dirty="0"/>
              <a:t>Deben evitarse los bucles infinitos.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AA913-8756-B362-F477-1B1E3DC44503}"/>
              </a:ext>
            </a:extLst>
          </p:cNvPr>
          <p:cNvSpPr txBox="1"/>
          <p:nvPr/>
        </p:nvSpPr>
        <p:spPr>
          <a:xfrm>
            <a:off x="4221945" y="5833130"/>
            <a:ext cx="2169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rgbClr val="00B0F0"/>
                </a:solidFill>
              </a:rPr>
              <a:t>La condición siempre será verdadera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6E7659B-D325-BF00-A28C-F5C4CBD81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1560" y="3878807"/>
            <a:ext cx="4422612" cy="2105045"/>
          </a:xfrm>
          <a:prstGeom prst="roundRect">
            <a:avLst>
              <a:gd name="adj" fmla="val 779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(numero++);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(numero &gt;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1CB2686-0EB2-93EB-193C-A7A550076C33}"/>
              </a:ext>
            </a:extLst>
          </p:cNvPr>
          <p:cNvSpPr/>
          <p:nvPr/>
        </p:nvSpPr>
        <p:spPr>
          <a:xfrm>
            <a:off x="6496731" y="5933044"/>
            <a:ext cx="2761636" cy="440061"/>
          </a:xfrm>
          <a:custGeom>
            <a:avLst/>
            <a:gdLst>
              <a:gd name="connsiteX0" fmla="*/ 0 w 771525"/>
              <a:gd name="connsiteY0" fmla="*/ 704850 h 704850"/>
              <a:gd name="connsiteX1" fmla="*/ 771525 w 771525"/>
              <a:gd name="connsiteY1" fmla="*/ 0 h 704850"/>
              <a:gd name="connsiteX0" fmla="*/ 0 w 942975"/>
              <a:gd name="connsiteY0" fmla="*/ 876300 h 876300"/>
              <a:gd name="connsiteX1" fmla="*/ 942975 w 942975"/>
              <a:gd name="connsiteY1" fmla="*/ 0 h 876300"/>
              <a:gd name="connsiteX0" fmla="*/ 0 w 942975"/>
              <a:gd name="connsiteY0" fmla="*/ 876300 h 876300"/>
              <a:gd name="connsiteX1" fmla="*/ 942975 w 942975"/>
              <a:gd name="connsiteY1" fmla="*/ 0 h 876300"/>
              <a:gd name="connsiteX0" fmla="*/ 0 w 952500"/>
              <a:gd name="connsiteY0" fmla="*/ 847725 h 847725"/>
              <a:gd name="connsiteX1" fmla="*/ 952500 w 952500"/>
              <a:gd name="connsiteY1" fmla="*/ 0 h 847725"/>
              <a:gd name="connsiteX0" fmla="*/ 0 w 952500"/>
              <a:gd name="connsiteY0" fmla="*/ 847725 h 862589"/>
              <a:gd name="connsiteX1" fmla="*/ 952500 w 952500"/>
              <a:gd name="connsiteY1" fmla="*/ 0 h 862589"/>
              <a:gd name="connsiteX0" fmla="*/ 0 w 952500"/>
              <a:gd name="connsiteY0" fmla="*/ 854010 h 867477"/>
              <a:gd name="connsiteX1" fmla="*/ 952500 w 952500"/>
              <a:gd name="connsiteY1" fmla="*/ 6285 h 867477"/>
              <a:gd name="connsiteX0" fmla="*/ 0 w 952500"/>
              <a:gd name="connsiteY0" fmla="*/ 847725 h 863120"/>
              <a:gd name="connsiteX1" fmla="*/ 952500 w 952500"/>
              <a:gd name="connsiteY1" fmla="*/ 0 h 863120"/>
              <a:gd name="connsiteX0" fmla="*/ 0 w 952500"/>
              <a:gd name="connsiteY0" fmla="*/ 847725 h 863838"/>
              <a:gd name="connsiteX1" fmla="*/ 952500 w 952500"/>
              <a:gd name="connsiteY1" fmla="*/ 0 h 863838"/>
              <a:gd name="connsiteX0" fmla="*/ 0 w 952500"/>
              <a:gd name="connsiteY0" fmla="*/ 847725 h 864789"/>
              <a:gd name="connsiteX1" fmla="*/ 952500 w 952500"/>
              <a:gd name="connsiteY1" fmla="*/ 0 h 864789"/>
              <a:gd name="connsiteX0" fmla="*/ 0 w 952500"/>
              <a:gd name="connsiteY0" fmla="*/ 847725 h 865667"/>
              <a:gd name="connsiteX1" fmla="*/ 952500 w 952500"/>
              <a:gd name="connsiteY1" fmla="*/ 0 h 865667"/>
              <a:gd name="connsiteX0" fmla="*/ 0 w 952500"/>
              <a:gd name="connsiteY0" fmla="*/ 869142 h 881626"/>
              <a:gd name="connsiteX1" fmla="*/ 952500 w 952500"/>
              <a:gd name="connsiteY1" fmla="*/ 21417 h 881626"/>
              <a:gd name="connsiteX0" fmla="*/ 0 w 952500"/>
              <a:gd name="connsiteY0" fmla="*/ 851026 h 864817"/>
              <a:gd name="connsiteX1" fmla="*/ 952500 w 952500"/>
              <a:gd name="connsiteY1" fmla="*/ 3301 h 864817"/>
              <a:gd name="connsiteX0" fmla="*/ 0 w 952500"/>
              <a:gd name="connsiteY0" fmla="*/ 851332 h 853264"/>
              <a:gd name="connsiteX1" fmla="*/ 952500 w 952500"/>
              <a:gd name="connsiteY1" fmla="*/ 3607 h 853264"/>
              <a:gd name="connsiteX0" fmla="*/ 0 w 2977945"/>
              <a:gd name="connsiteY0" fmla="*/ 0 h 253488"/>
              <a:gd name="connsiteX1" fmla="*/ 2977945 w 2977945"/>
              <a:gd name="connsiteY1" fmla="*/ 253488 h 253488"/>
              <a:gd name="connsiteX0" fmla="*/ 0 w 2977945"/>
              <a:gd name="connsiteY0" fmla="*/ 0 h 449197"/>
              <a:gd name="connsiteX1" fmla="*/ 2977945 w 2977945"/>
              <a:gd name="connsiteY1" fmla="*/ 253488 h 449197"/>
              <a:gd name="connsiteX0" fmla="*/ 0 w 2977945"/>
              <a:gd name="connsiteY0" fmla="*/ 21546 h 440516"/>
              <a:gd name="connsiteX1" fmla="*/ 2977945 w 2977945"/>
              <a:gd name="connsiteY1" fmla="*/ 275034 h 440516"/>
              <a:gd name="connsiteX0" fmla="*/ 0 w 2977945"/>
              <a:gd name="connsiteY0" fmla="*/ 19756 h 478862"/>
              <a:gd name="connsiteX1" fmla="*/ 2977945 w 2977945"/>
              <a:gd name="connsiteY1" fmla="*/ 273244 h 478862"/>
              <a:gd name="connsiteX0" fmla="*/ 0 w 2978026"/>
              <a:gd name="connsiteY0" fmla="*/ 17960 h 526190"/>
              <a:gd name="connsiteX1" fmla="*/ 2977945 w 2978026"/>
              <a:gd name="connsiteY1" fmla="*/ 271448 h 526190"/>
              <a:gd name="connsiteX0" fmla="*/ 0 w 2860044"/>
              <a:gd name="connsiteY0" fmla="*/ 20703 h 390081"/>
              <a:gd name="connsiteX1" fmla="*/ 2859958 w 2860044"/>
              <a:gd name="connsiteY1" fmla="*/ 107043 h 390081"/>
              <a:gd name="connsiteX0" fmla="*/ 0 w 2877836"/>
              <a:gd name="connsiteY0" fmla="*/ 18158 h 456145"/>
              <a:gd name="connsiteX1" fmla="*/ 2859958 w 2877836"/>
              <a:gd name="connsiteY1" fmla="*/ 104498 h 456145"/>
              <a:gd name="connsiteX0" fmla="*/ 0 w 2780257"/>
              <a:gd name="connsiteY0" fmla="*/ 257789 h 436787"/>
              <a:gd name="connsiteX1" fmla="*/ 2761636 w 2780257"/>
              <a:gd name="connsiteY1" fmla="*/ 0 h 436787"/>
              <a:gd name="connsiteX0" fmla="*/ 0 w 2787033"/>
              <a:gd name="connsiteY0" fmla="*/ 257789 h 486032"/>
              <a:gd name="connsiteX1" fmla="*/ 2761636 w 2787033"/>
              <a:gd name="connsiteY1" fmla="*/ 0 h 486032"/>
              <a:gd name="connsiteX0" fmla="*/ 0 w 2761636"/>
              <a:gd name="connsiteY0" fmla="*/ 257789 h 440061"/>
              <a:gd name="connsiteX1" fmla="*/ 2761636 w 2761636"/>
              <a:gd name="connsiteY1" fmla="*/ 0 h 44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61636" h="440061">
                <a:moveTo>
                  <a:pt x="0" y="257789"/>
                </a:moveTo>
                <a:cubicBezTo>
                  <a:pt x="1479754" y="259428"/>
                  <a:pt x="2727837" y="805222"/>
                  <a:pt x="2761636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2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 infinito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E2CAE-8A41-B1D5-42F7-A30CDBAA8CE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812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74D6E6F-8040-8366-251F-8C77DBED7B7E}"/>
              </a:ext>
            </a:extLst>
          </p:cNvPr>
          <p:cNvGrpSpPr/>
          <p:nvPr/>
        </p:nvGrpSpPr>
        <p:grpSpPr>
          <a:xfrm>
            <a:off x="838200" y="-31937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C98A94-EFD6-9890-FFBC-3F0DDD51E39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7F354D-9F6B-1449-BC89-3DCD34366EAE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82665B-EB8A-C36A-D28F-7CDE8E51051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9A1196-DCC6-5352-BDAE-F185D452E09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C95FC-32A9-0558-3CC6-8351CBC1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Validadores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4AAD3C-7D9E-7CCB-CC46-8326F96FC7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12DA1-4D96-9A52-8A31-A8F36D0BAB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53102"/>
            <a:ext cx="7322574" cy="4755853"/>
          </a:xfrm>
        </p:spPr>
        <p:txBody>
          <a:bodyPr>
            <a:normAutofit/>
          </a:bodyPr>
          <a:lstStyle/>
          <a:p>
            <a:r>
              <a:rPr lang="es-ES" dirty="0"/>
              <a:t>La </a:t>
            </a:r>
            <a:r>
              <a:rPr lang="es-ES" b="1" dirty="0"/>
              <a:t>técnica</a:t>
            </a:r>
            <a:r>
              <a:rPr lang="es-ES" dirty="0"/>
              <a:t> para </a:t>
            </a:r>
            <a:r>
              <a:rPr lang="es-ES" b="1" dirty="0"/>
              <a:t>comprobar</a:t>
            </a:r>
            <a:r>
              <a:rPr lang="es-ES" dirty="0"/>
              <a:t> si una </a:t>
            </a:r>
            <a:r>
              <a:rPr lang="es-ES" b="1" dirty="0"/>
              <a:t>variable</a:t>
            </a:r>
            <a:r>
              <a:rPr lang="es-ES" dirty="0"/>
              <a:t> </a:t>
            </a:r>
            <a:r>
              <a:rPr lang="es-ES" b="1" dirty="0"/>
              <a:t>contiene</a:t>
            </a:r>
            <a:r>
              <a:rPr lang="es-ES" dirty="0"/>
              <a:t> un determinado </a:t>
            </a:r>
            <a:r>
              <a:rPr lang="es-ES" b="1" dirty="0"/>
              <a:t>valor</a:t>
            </a:r>
            <a:r>
              <a:rPr lang="es-ES" dirty="0"/>
              <a:t> se denomina </a:t>
            </a:r>
            <a:r>
              <a:rPr lang="es-ES" b="1" dirty="0">
                <a:solidFill>
                  <a:schemeClr val="accent2"/>
                </a:solidFill>
              </a:rPr>
              <a:t>validación</a:t>
            </a:r>
            <a:r>
              <a:rPr lang="es-ES" dirty="0"/>
              <a:t>.</a:t>
            </a:r>
          </a:p>
          <a:p>
            <a:r>
              <a:rPr lang="es-ES" dirty="0"/>
              <a:t>Un </a:t>
            </a:r>
            <a:r>
              <a:rPr lang="es-ES" b="1" dirty="0">
                <a:solidFill>
                  <a:schemeClr val="accent2"/>
                </a:solidFill>
              </a:rPr>
              <a:t>validador</a:t>
            </a:r>
            <a:r>
              <a:rPr lang="es-ES" dirty="0"/>
              <a:t> puede componerse de varios criterios.</a:t>
            </a:r>
          </a:p>
          <a:p>
            <a:r>
              <a:rPr lang="es-ES" dirty="0"/>
              <a:t>Un </a:t>
            </a:r>
            <a:r>
              <a:rPr lang="es-ES" b="1" dirty="0">
                <a:solidFill>
                  <a:schemeClr val="accent2"/>
                </a:solidFill>
              </a:rPr>
              <a:t>validador</a:t>
            </a:r>
            <a:r>
              <a:rPr lang="es-ES" dirty="0"/>
              <a:t> suele utilizar un </a:t>
            </a:r>
            <a:r>
              <a:rPr lang="es-ES" b="1" dirty="0" err="1">
                <a:solidFill>
                  <a:schemeClr val="accent2"/>
                </a:solidFill>
              </a:rPr>
              <a:t>check</a:t>
            </a:r>
            <a:r>
              <a:rPr lang="es-ES" dirty="0"/>
              <a:t> para guardar el resultado de su validación.</a:t>
            </a:r>
          </a:p>
          <a:p>
            <a:r>
              <a:rPr lang="es-ES" dirty="0"/>
              <a:t>Muy utilizados cuando se solicitan datos al usuario (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inputs</a:t>
            </a:r>
            <a:r>
              <a:rPr lang="es-ES" dirty="0"/>
              <a:t>)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129827-3252-798F-31CE-5BE928791E4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42128" y="1463929"/>
            <a:ext cx="3111672" cy="4283978"/>
          </a:xfrm>
          <a:prstGeom prst="rect">
            <a:avLst/>
          </a:prstGeom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96AF85-EA36-2B23-AE16-6108C7073C03}"/>
              </a:ext>
            </a:extLst>
          </p:cNvPr>
          <p:cNvSpPr txBox="1"/>
          <p:nvPr/>
        </p:nvSpPr>
        <p:spPr>
          <a:xfrm>
            <a:off x="167147" y="6479920"/>
            <a:ext cx="83082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https://www.kindpng.com/picc/m/562-5621083_transparent-red-circle-outline-png-vector-checklist-png.png</a:t>
            </a:r>
          </a:p>
        </p:txBody>
      </p:sp>
    </p:spTree>
    <p:extLst>
      <p:ext uri="{BB962C8B-B14F-4D97-AF65-F5344CB8AC3E}">
        <p14:creationId xmlns:p14="http://schemas.microsoft.com/office/powerpoint/2010/main" val="117109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E9CA-0BAD-CDA0-8573-8A66F00D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Validadores. Ejemplo (sin </a:t>
            </a:r>
            <a:r>
              <a:rPr lang="es-ES" dirty="0" err="1"/>
              <a:t>check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94956-45BC-5977-AA2D-D0CDF1B644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246A7-89E4-1769-A838-7438D7C07462}"/>
              </a:ext>
            </a:extLst>
          </p:cNvPr>
          <p:cNvSpPr txBox="1"/>
          <p:nvPr/>
        </p:nvSpPr>
        <p:spPr>
          <a:xfrm>
            <a:off x="838200" y="1997839"/>
            <a:ext cx="24320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800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do-</a:t>
            </a:r>
            <a:r>
              <a:rPr lang="es-ES" sz="1800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while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utilizado para validar el ingreso de un número entero entre 0 y 10.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88AD9-5651-71E4-8920-4333D8043511}"/>
              </a:ext>
            </a:extLst>
          </p:cNvPr>
          <p:cNvSpPr txBox="1"/>
          <p:nvPr/>
        </p:nvSpPr>
        <p:spPr>
          <a:xfrm>
            <a:off x="2472154" y="5321049"/>
            <a:ext cx="798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D7A435F-8DB6-961A-4562-0633BF193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439" y="1997839"/>
            <a:ext cx="6849587" cy="2917327"/>
          </a:xfrm>
          <a:prstGeom prst="roundRect">
            <a:avLst>
              <a:gd name="adj" fmla="val 5433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un valor entre 0 y 10: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||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Usted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ingresó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58FF1-D771-C4B9-4A66-49A970B38EE5}"/>
              </a:ext>
            </a:extLst>
          </p:cNvPr>
          <p:cNvSpPr txBox="1"/>
          <p:nvPr/>
        </p:nvSpPr>
        <p:spPr>
          <a:xfrm>
            <a:off x="3581401" y="5092715"/>
            <a:ext cx="3422273" cy="1388622"/>
          </a:xfrm>
          <a:prstGeom prst="roundRect">
            <a:avLst>
              <a:gd name="adj" fmla="val 6837"/>
            </a:avLst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valor entre 0 y 10: 16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valor entre 0 y 10: 87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valor entre 0 y 10: 45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valor entre 0 y 10: 6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Usted ingresó: 6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BF7335-F9B9-1355-BBA1-FE43F940DA90}"/>
              </a:ext>
            </a:extLst>
          </p:cNvPr>
          <p:cNvGrpSpPr/>
          <p:nvPr/>
        </p:nvGrpSpPr>
        <p:grpSpPr>
          <a:xfrm>
            <a:off x="838200" y="-31937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D1F103-97E3-1A8C-3B84-D8E52672FFD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C6EC2B-A848-98AC-6702-01D77612CD9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7F2320-6347-3D80-6C7B-E886930EA9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166DEB-2E20-8BE3-7DA5-260045956E7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233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8F20-8205-40BA-9F0C-4D240F74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Validadores. Ejemplo (con </a:t>
            </a:r>
            <a:r>
              <a:rPr lang="es-ES" dirty="0" err="1"/>
              <a:t>check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B5AB7-EB43-499E-6182-152FD591C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FE9F0-9D56-D48C-B31F-6F52899D80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405284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que solicite un número correspondiente al día de la semana. Los valores permitidos van del 1 al 7.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Si se ingresa otro valor, el programa deberá pedir nuevamente que se ingrese el día de la semana.​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E18851-3A52-6918-083B-F04626C42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5246" y="1843092"/>
            <a:ext cx="4258554" cy="3204671"/>
          </a:xfrm>
          <a:prstGeom prst="roundRect">
            <a:avLst>
              <a:gd name="adj" fmla="val 4159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esDiaInvalido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un día (1-7): 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esDiaInvalido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||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esDiaInvalido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"Día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ingresado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E4C32A-B4BA-2A68-CFEF-C06AD2ABA82C}"/>
              </a:ext>
            </a:extLst>
          </p:cNvPr>
          <p:cNvGrpSpPr/>
          <p:nvPr/>
        </p:nvGrpSpPr>
        <p:grpSpPr>
          <a:xfrm>
            <a:off x="838200" y="-31937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340BDE-0C45-5B9C-5B03-B20D2093AD0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5B2F89-CDDA-230F-D7CC-89A326EECC4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8CE772-0CD6-5C92-6823-5DC7D1F3320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8EC996-AF81-EB48-D7F9-93C5C746DA3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0FCF010-090F-4C12-87A2-024615B6ECD4}"/>
              </a:ext>
            </a:extLst>
          </p:cNvPr>
          <p:cNvSpPr txBox="1"/>
          <p:nvPr/>
        </p:nvSpPr>
        <p:spPr>
          <a:xfrm>
            <a:off x="7095246" y="5262553"/>
            <a:ext cx="3422273" cy="1124884"/>
          </a:xfrm>
          <a:prstGeom prst="roundRect">
            <a:avLst>
              <a:gd name="adj" fmla="val 12955"/>
            </a:avLst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día (1-7): 0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día (1-7): 11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 un día (1-7): 5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Día ingresado: 5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71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 infinito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E2CAE-8A41-B1D5-42F7-A30CDBAA8CE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449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F190662-E8A5-2BBB-566E-129787588641}"/>
              </a:ext>
            </a:extLst>
          </p:cNvPr>
          <p:cNvGrpSpPr/>
          <p:nvPr/>
        </p:nvGrpSpPr>
        <p:grpSpPr>
          <a:xfrm>
            <a:off x="838200" y="-31938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34E125-18E2-CAAD-594B-5900E4EFCF0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DAF3F3-8F33-15B9-E208-50A973F7876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C40FDD-7EA9-5A3D-D6A3-4BA2C94B4BF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143538-D689-7BD5-57ED-6179C4802D52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FFE93A-1E25-9154-153C-576C2D7B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menú?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D49CA-4212-30FE-96F4-4577FB6925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12DE6-2DB5-BFE1-7C7C-E85FC6DD5B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749413" cy="4373562"/>
          </a:xfrm>
        </p:spPr>
        <p:txBody>
          <a:bodyPr/>
          <a:lstStyle/>
          <a:p>
            <a:r>
              <a:rPr lang="es-ES" dirty="0"/>
              <a:t>Es una </a:t>
            </a:r>
            <a:r>
              <a:rPr lang="es-ES" b="1" dirty="0">
                <a:solidFill>
                  <a:schemeClr val="accent2"/>
                </a:solidFill>
              </a:rPr>
              <a:t>técnica</a:t>
            </a:r>
            <a:r>
              <a:rPr lang="es-ES" dirty="0"/>
              <a:t> de </a:t>
            </a:r>
            <a:r>
              <a:rPr lang="es-ES" b="1" dirty="0">
                <a:solidFill>
                  <a:schemeClr val="accent2"/>
                </a:solidFill>
              </a:rPr>
              <a:t>ingreso</a:t>
            </a:r>
            <a:r>
              <a:rPr lang="es-ES" dirty="0"/>
              <a:t> de </a:t>
            </a:r>
            <a:r>
              <a:rPr lang="es-ES" b="1" dirty="0">
                <a:solidFill>
                  <a:schemeClr val="accent2"/>
                </a:solidFill>
              </a:rPr>
              <a:t>datos</a:t>
            </a:r>
            <a:r>
              <a:rPr lang="es-ES" dirty="0"/>
              <a:t>.</a:t>
            </a:r>
          </a:p>
          <a:p>
            <a:r>
              <a:rPr lang="es-ES" dirty="0"/>
              <a:t>Por lo general, las </a:t>
            </a:r>
            <a:r>
              <a:rPr lang="es-ES" b="1" dirty="0"/>
              <a:t>opciones</a:t>
            </a:r>
            <a:r>
              <a:rPr lang="es-ES" dirty="0"/>
              <a:t> del menú se </a:t>
            </a:r>
            <a:r>
              <a:rPr lang="es-ES" b="1" dirty="0"/>
              <a:t>asocian</a:t>
            </a:r>
            <a:r>
              <a:rPr lang="es-ES" dirty="0"/>
              <a:t> a </a:t>
            </a:r>
            <a:r>
              <a:rPr lang="es-ES" b="1" dirty="0"/>
              <a:t>valores</a:t>
            </a:r>
            <a:r>
              <a:rPr lang="es-ES" dirty="0"/>
              <a:t> </a:t>
            </a:r>
            <a:r>
              <a:rPr lang="es-ES" b="1" dirty="0"/>
              <a:t>numéricos</a:t>
            </a:r>
            <a:r>
              <a:rPr lang="es-ES" dirty="0"/>
              <a:t> o </a:t>
            </a:r>
            <a:r>
              <a:rPr lang="es-ES" b="1" dirty="0"/>
              <a:t>caracteres</a:t>
            </a:r>
            <a:r>
              <a:rPr lang="es-ES" dirty="0"/>
              <a:t>.</a:t>
            </a:r>
          </a:p>
          <a:p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b="1" dirty="0" err="1"/>
              <a:t>submenús</a:t>
            </a:r>
            <a:r>
              <a:rPr lang="en-US" dirty="0"/>
              <a:t> para </a:t>
            </a:r>
            <a:r>
              <a:rPr lang="en-US" dirty="0" err="1"/>
              <a:t>ampliar</a:t>
            </a:r>
            <a:r>
              <a:rPr lang="en-US" dirty="0"/>
              <a:t> las </a:t>
            </a:r>
            <a:r>
              <a:rPr lang="en-US" dirty="0" err="1"/>
              <a:t>posibilidades</a:t>
            </a:r>
            <a:r>
              <a:rPr lang="en-US" dirty="0"/>
              <a:t> de </a:t>
            </a:r>
            <a:r>
              <a:rPr lang="en-US" dirty="0" err="1"/>
              <a:t>ingreso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4788-7D93-D378-0682-FEFF4F7091F4}"/>
              </a:ext>
            </a:extLst>
          </p:cNvPr>
          <p:cNvSpPr txBox="1"/>
          <p:nvPr/>
        </p:nvSpPr>
        <p:spPr>
          <a:xfrm>
            <a:off x="248266" y="6490643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https://static.packt-cdn.com/products/9781118983843/graphics/images/c18f001.jpg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26569-8EFA-A9C9-9770-1908A5140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56" y="2018412"/>
            <a:ext cx="3811544" cy="287810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306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85D4-44E4-468F-317E-1C4C4D5C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de menú con do-</a:t>
            </a:r>
            <a:r>
              <a:rPr lang="es-ES" dirty="0" err="1"/>
              <a:t>while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7AACF3-FEEC-A64C-4DBA-06483074D5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AC9AC-C13F-000C-4401-22BA6A69C7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169310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Elaborar un programa que permita mostrar un menú con 3 opciones​: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1. Agregar notas​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2. Ver promedio​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3. Salir​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Al ingresar la opción 3, el programa debe terminar​.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48A88E-8100-ABE0-B685-027FC5249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3206" y="1887663"/>
            <a:ext cx="4994787" cy="4468687"/>
          </a:xfrm>
          <a:prstGeom prst="roundRect">
            <a:avLst>
              <a:gd name="adj" fmla="val 405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 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menu 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"""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|===================================|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|  Acciones disponibles:            |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|  [1] Agregar notas                |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|  [2] Ver promedio                 |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|  [3] Salir                        |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|===================================|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Ingrese una opción: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"""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(menu);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opcion = lector.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lector.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(opcion !=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330A71-2948-5BDC-DF9C-49C61DE57040}"/>
              </a:ext>
            </a:extLst>
          </p:cNvPr>
          <p:cNvGrpSpPr/>
          <p:nvPr/>
        </p:nvGrpSpPr>
        <p:grpSpPr>
          <a:xfrm>
            <a:off x="838200" y="-31938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D9A07B-A4C1-E835-BF06-B2E5BC47C77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64BCEE-36B2-7AC5-DA6C-B53A908ADCAA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11A052-FA42-3897-560A-141B13746A2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2299E5-868B-8C21-EB77-466C97427B5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831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Bucle infinito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Validadores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Menús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E2CAE-8A41-B1D5-42F7-A30CDBAA8CE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707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E506B2-687E-51A0-48FB-0932E09BD688}"/>
              </a:ext>
            </a:extLst>
          </p:cNvPr>
          <p:cNvGrpSpPr/>
          <p:nvPr/>
        </p:nvGrpSpPr>
        <p:grpSpPr>
          <a:xfrm>
            <a:off x="9003837" y="-10831"/>
            <a:ext cx="3188163" cy="6868831"/>
            <a:chOff x="9003837" y="-10831"/>
            <a:chExt cx="3188163" cy="6868831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3D1238-33A1-E4E8-1D26-C85C3515917E}"/>
                </a:ext>
              </a:extLst>
            </p:cNvPr>
            <p:cNvSpPr/>
            <p:nvPr/>
          </p:nvSpPr>
          <p:spPr>
            <a:xfrm>
              <a:off x="9006348" y="631987"/>
              <a:ext cx="3185652" cy="6226013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55E8BC-4ADD-6B1D-4A0F-85DF02DF1023}"/>
                </a:ext>
              </a:extLst>
            </p:cNvPr>
            <p:cNvSpPr/>
            <p:nvPr/>
          </p:nvSpPr>
          <p:spPr>
            <a:xfrm>
              <a:off x="9003837" y="-10831"/>
              <a:ext cx="1310202" cy="4373562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893AA7-ED51-494C-AD6C-F8DE3949E5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815" t="5699" r="26858" b="11376"/>
            <a:stretch/>
          </p:blipFill>
          <p:spPr>
            <a:xfrm>
              <a:off x="9229980" y="2244212"/>
              <a:ext cx="2735878" cy="236957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FB7AA-7AF6-C948-69DE-6A0609F1D7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772400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1. Estructura repetitiva donde la condición va antes que las acciones:</a:t>
            </a:r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for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while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switch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do-while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 err="1"/>
              <a:t>if..else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1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FB7AA-7AF6-C948-69DE-6A0609F1D7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772400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2. Estructura repetitiva donde las acciones van antes que la condición:</a:t>
            </a:r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for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while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switch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/>
              <a:t>do-while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n-US" dirty="0" err="1"/>
              <a:t>if..else</a:t>
            </a:r>
            <a:endParaRPr lang="en-US" dirty="0"/>
          </a:p>
          <a:p>
            <a:pPr marL="50800" indent="0">
              <a:buNone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7D300B-1E5A-56B0-E5ED-06814D8A1F5F}"/>
              </a:ext>
            </a:extLst>
          </p:cNvPr>
          <p:cNvGrpSpPr/>
          <p:nvPr/>
        </p:nvGrpSpPr>
        <p:grpSpPr>
          <a:xfrm>
            <a:off x="9003837" y="-10831"/>
            <a:ext cx="3188163" cy="6868831"/>
            <a:chOff x="9003837" y="-10831"/>
            <a:chExt cx="3188163" cy="6868831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21C66D4-0D9F-5867-FC98-7FE3116F4EA4}"/>
                </a:ext>
              </a:extLst>
            </p:cNvPr>
            <p:cNvSpPr/>
            <p:nvPr/>
          </p:nvSpPr>
          <p:spPr>
            <a:xfrm>
              <a:off x="9006348" y="631987"/>
              <a:ext cx="3185652" cy="6226013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0DFF0B-36CB-CEE8-C27C-7CE1F67E3B6E}"/>
                </a:ext>
              </a:extLst>
            </p:cNvPr>
            <p:cNvSpPr/>
            <p:nvPr/>
          </p:nvSpPr>
          <p:spPr>
            <a:xfrm>
              <a:off x="9003837" y="-10831"/>
              <a:ext cx="1310202" cy="4373562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58B2506-FB16-BF5D-3BF3-12CC2096EF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815" t="5699" r="26858" b="11376"/>
            <a:stretch/>
          </p:blipFill>
          <p:spPr>
            <a:xfrm>
              <a:off x="9229980" y="2244212"/>
              <a:ext cx="2735878" cy="236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719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FB7AA-7AF6-C948-69DE-6A0609F1D7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772400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3. Estructura con la que podemos crear bucles infinitos:</a:t>
            </a:r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buAutoNum type="alphaUcPeriod"/>
            </a:pPr>
            <a:r>
              <a:rPr lang="es-ES" dirty="0"/>
              <a:t>Solo con </a:t>
            </a:r>
            <a:r>
              <a:rPr lang="es-ES" dirty="0" err="1"/>
              <a:t>while</a:t>
            </a:r>
            <a:r>
              <a:rPr lang="es-ES" dirty="0"/>
              <a:t>.</a:t>
            </a:r>
          </a:p>
          <a:p>
            <a:pPr marL="1022350" lvl="1" indent="-514350">
              <a:buAutoNum type="alphaUcPeriod"/>
            </a:pPr>
            <a:r>
              <a:rPr lang="es-ES" dirty="0"/>
              <a:t>Solo con switch.</a:t>
            </a:r>
          </a:p>
          <a:p>
            <a:pPr marL="1022350" lvl="1" indent="-514350">
              <a:buAutoNum type="alphaUcPeriod"/>
            </a:pPr>
            <a:r>
              <a:rPr lang="es-ES" dirty="0"/>
              <a:t>Con do-</a:t>
            </a:r>
            <a:r>
              <a:rPr lang="es-ES" dirty="0" err="1"/>
              <a:t>while</a:t>
            </a:r>
            <a:r>
              <a:rPr lang="es-ES" dirty="0"/>
              <a:t> y switch.</a:t>
            </a:r>
          </a:p>
          <a:p>
            <a:pPr marL="1022350" lvl="1" indent="-514350">
              <a:buAutoNum type="alphaUcPeriod"/>
            </a:pPr>
            <a:r>
              <a:rPr lang="es-ES" dirty="0"/>
              <a:t>Con do-</a:t>
            </a:r>
            <a:r>
              <a:rPr lang="es-ES" dirty="0" err="1"/>
              <a:t>while</a:t>
            </a:r>
            <a:r>
              <a:rPr lang="es-ES" dirty="0"/>
              <a:t> y </a:t>
            </a:r>
            <a:r>
              <a:rPr lang="es-ES" dirty="0" err="1"/>
              <a:t>while</a:t>
            </a:r>
            <a:r>
              <a:rPr lang="es-ES" dirty="0"/>
              <a:t>.</a:t>
            </a:r>
          </a:p>
          <a:p>
            <a:pPr marL="1022350" lvl="1" indent="-514350">
              <a:buAutoNum type="alphaUcPeriod"/>
            </a:pPr>
            <a:r>
              <a:rPr lang="es-ES" dirty="0"/>
              <a:t>Con todas las anteriores.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53A277C-BB97-189C-E504-12BACF34848F}"/>
              </a:ext>
            </a:extLst>
          </p:cNvPr>
          <p:cNvGrpSpPr/>
          <p:nvPr/>
        </p:nvGrpSpPr>
        <p:grpSpPr>
          <a:xfrm>
            <a:off x="9003837" y="-10831"/>
            <a:ext cx="3188163" cy="6868831"/>
            <a:chOff x="9003837" y="-10831"/>
            <a:chExt cx="3188163" cy="6868831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67A859-6511-DB31-9A50-F1D6DFEF38DF}"/>
                </a:ext>
              </a:extLst>
            </p:cNvPr>
            <p:cNvSpPr/>
            <p:nvPr/>
          </p:nvSpPr>
          <p:spPr>
            <a:xfrm>
              <a:off x="9006348" y="631987"/>
              <a:ext cx="3185652" cy="6226013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43DCA1-A280-8A14-1248-AEC554D1CE2A}"/>
                </a:ext>
              </a:extLst>
            </p:cNvPr>
            <p:cNvSpPr/>
            <p:nvPr/>
          </p:nvSpPr>
          <p:spPr>
            <a:xfrm>
              <a:off x="9003837" y="-10831"/>
              <a:ext cx="1310202" cy="4373562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A88FCD4-1DB2-7CF7-F4B6-98A388DDE7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815" t="5699" r="26858" b="11376"/>
            <a:stretch/>
          </p:blipFill>
          <p:spPr>
            <a:xfrm>
              <a:off x="9229980" y="2244212"/>
              <a:ext cx="2735878" cy="236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597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FB7AA-7AF6-C948-69DE-6A0609F1D7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772400" cy="4373562"/>
          </a:xfrm>
        </p:spPr>
        <p:txBody>
          <a:bodyPr/>
          <a:lstStyle/>
          <a:p>
            <a:pPr marL="50800" indent="0">
              <a:buNone/>
            </a:pPr>
            <a:r>
              <a:rPr lang="en-US" dirty="0"/>
              <a:t>4. Son </a:t>
            </a:r>
            <a:r>
              <a:rPr lang="en-US" dirty="0" err="1"/>
              <a:t>técnicas</a:t>
            </a:r>
            <a:r>
              <a:rPr lang="en-US" dirty="0"/>
              <a:t> </a:t>
            </a:r>
            <a:r>
              <a:rPr lang="en-US" dirty="0" err="1"/>
              <a:t>utilizadas</a:t>
            </a:r>
            <a:r>
              <a:rPr lang="en-US" dirty="0"/>
              <a:t> para </a:t>
            </a:r>
            <a:r>
              <a:rPr lang="en-US" dirty="0" err="1"/>
              <a:t>recolectar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forma </a:t>
            </a:r>
            <a:r>
              <a:rPr lang="en-US" dirty="0" err="1"/>
              <a:t>sencilla</a:t>
            </a:r>
            <a:r>
              <a:rPr lang="en-US" dirty="0"/>
              <a:t> e </a:t>
            </a:r>
            <a:r>
              <a:rPr lang="en-US" dirty="0" err="1"/>
              <a:t>intuitiva</a:t>
            </a:r>
            <a:r>
              <a:rPr lang="en-US" dirty="0"/>
              <a:t>:</a:t>
            </a:r>
          </a:p>
          <a:p>
            <a:pPr marL="50800" indent="0">
              <a:buNone/>
            </a:pPr>
            <a:endParaRPr lang="en-US" dirty="0"/>
          </a:p>
          <a:p>
            <a:pPr marL="1022350" lvl="1" indent="-514350">
              <a:buAutoNum type="alphaUcPeriod"/>
            </a:pPr>
            <a:r>
              <a:rPr lang="en-US" dirty="0" err="1"/>
              <a:t>Menús</a:t>
            </a:r>
            <a:r>
              <a:rPr lang="en-US" dirty="0"/>
              <a:t>.</a:t>
            </a:r>
          </a:p>
          <a:p>
            <a:pPr marL="1022350" lvl="1" indent="-514350">
              <a:buAutoNum type="alphaUcPeriod"/>
            </a:pPr>
            <a:r>
              <a:rPr lang="en-US" dirty="0" err="1"/>
              <a:t>Condicional</a:t>
            </a:r>
            <a:r>
              <a:rPr lang="en-US" dirty="0"/>
              <a:t> multiple.</a:t>
            </a:r>
          </a:p>
          <a:p>
            <a:pPr marL="1022350" lvl="1" indent="-514350">
              <a:buAutoNum type="alphaUcPeriod"/>
            </a:pPr>
            <a:r>
              <a:rPr lang="en-US" dirty="0" err="1"/>
              <a:t>Validadores</a:t>
            </a:r>
            <a:r>
              <a:rPr lang="en-US" dirty="0"/>
              <a:t>.</a:t>
            </a:r>
          </a:p>
          <a:p>
            <a:pPr marL="1022350" lvl="1" indent="-514350">
              <a:buAutoNum type="alphaUcPeriod"/>
            </a:pPr>
            <a:r>
              <a:rPr lang="en-US" dirty="0" err="1"/>
              <a:t>Contadores</a:t>
            </a:r>
            <a:r>
              <a:rPr lang="en-US" dirty="0"/>
              <a:t> y </a:t>
            </a:r>
            <a:r>
              <a:rPr lang="en-US" dirty="0" err="1"/>
              <a:t>Acumuladores</a:t>
            </a:r>
            <a:r>
              <a:rPr lang="en-US" dirty="0"/>
              <a:t>.</a:t>
            </a:r>
          </a:p>
          <a:p>
            <a:pPr marL="1022350" lvl="1" indent="-514350">
              <a:buAutoNum type="alphaUcPeriod"/>
            </a:pPr>
            <a:r>
              <a:rPr lang="en-US" dirty="0"/>
              <a:t>Checks.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83D4EC-046F-7349-F206-4DFA7EC351AC}"/>
              </a:ext>
            </a:extLst>
          </p:cNvPr>
          <p:cNvGrpSpPr/>
          <p:nvPr/>
        </p:nvGrpSpPr>
        <p:grpSpPr>
          <a:xfrm>
            <a:off x="9003837" y="-10831"/>
            <a:ext cx="3188163" cy="6868831"/>
            <a:chOff x="9003837" y="-10831"/>
            <a:chExt cx="3188163" cy="6868831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EB3D7B-657D-C0F2-4C04-1E80C17E7AD3}"/>
                </a:ext>
              </a:extLst>
            </p:cNvPr>
            <p:cNvSpPr/>
            <p:nvPr/>
          </p:nvSpPr>
          <p:spPr>
            <a:xfrm>
              <a:off x="9006348" y="631987"/>
              <a:ext cx="3185652" cy="6226013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CEFCAB-E39C-F405-0818-6FABBF1E0E29}"/>
                </a:ext>
              </a:extLst>
            </p:cNvPr>
            <p:cNvSpPr/>
            <p:nvPr/>
          </p:nvSpPr>
          <p:spPr>
            <a:xfrm>
              <a:off x="9003837" y="-10831"/>
              <a:ext cx="1310202" cy="4373562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FF6CFE-3F0B-A475-4711-92F145DB79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815" t="5699" r="26858" b="11376"/>
            <a:stretch/>
          </p:blipFill>
          <p:spPr>
            <a:xfrm>
              <a:off x="9229980" y="2244212"/>
              <a:ext cx="2735878" cy="236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97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FB7AA-7AF6-C948-69DE-6A0609F1D7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637206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5. Son técnicas utilizadas para verificar que un valor cumpla con ciertos requisitos:</a:t>
            </a:r>
          </a:p>
          <a:p>
            <a:pPr marL="50800" indent="0">
              <a:buNone/>
            </a:pPr>
            <a:endParaRPr lang="es-ES" dirty="0"/>
          </a:p>
          <a:p>
            <a:pPr marL="1022350" lvl="1" indent="-514350">
              <a:buFont typeface="+mj-lt"/>
              <a:buAutoNum type="alphaUcPeriod"/>
            </a:pPr>
            <a:r>
              <a:rPr lang="es-ES" dirty="0"/>
              <a:t>Validador.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s-ES" dirty="0"/>
              <a:t>Contador.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s-ES" dirty="0" err="1"/>
              <a:t>Check</a:t>
            </a:r>
            <a:r>
              <a:rPr lang="es-ES" dirty="0"/>
              <a:t>.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s-ES" dirty="0"/>
              <a:t>Operador ternario.</a:t>
            </a:r>
          </a:p>
          <a:p>
            <a:pPr marL="1022350" lvl="1" indent="-514350">
              <a:buFont typeface="+mj-lt"/>
              <a:buAutoNum type="alphaUcPeriod"/>
            </a:pPr>
            <a:r>
              <a:rPr lang="es-ES" dirty="0"/>
              <a:t>Ninguna de las anteriores.</a:t>
            </a:r>
          </a:p>
          <a:p>
            <a:pPr marL="50800" indent="0">
              <a:buNone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DACB8A-ED52-3BCE-70D0-2BACA4836F31}"/>
              </a:ext>
            </a:extLst>
          </p:cNvPr>
          <p:cNvGrpSpPr/>
          <p:nvPr/>
        </p:nvGrpSpPr>
        <p:grpSpPr>
          <a:xfrm>
            <a:off x="9003837" y="-10831"/>
            <a:ext cx="3188163" cy="6868831"/>
            <a:chOff x="9003837" y="-10831"/>
            <a:chExt cx="3188163" cy="6868831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5DB0C2-88CF-567B-5460-C5ED11B3AA91}"/>
                </a:ext>
              </a:extLst>
            </p:cNvPr>
            <p:cNvSpPr/>
            <p:nvPr/>
          </p:nvSpPr>
          <p:spPr>
            <a:xfrm>
              <a:off x="9006348" y="631987"/>
              <a:ext cx="3185652" cy="6226013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0F1031-21B7-4267-A1EE-7E330A4834AD}"/>
                </a:ext>
              </a:extLst>
            </p:cNvPr>
            <p:cNvSpPr/>
            <p:nvPr/>
          </p:nvSpPr>
          <p:spPr>
            <a:xfrm>
              <a:off x="9003837" y="-10831"/>
              <a:ext cx="1310202" cy="4373562"/>
            </a:xfrm>
            <a:prstGeom prst="rect">
              <a:avLst/>
            </a:prstGeom>
            <a:solidFill>
              <a:srgbClr val="EF47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3694874-373C-5900-9C9B-3AF77139E4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815" t="5699" r="26858" b="11376"/>
            <a:stretch/>
          </p:blipFill>
          <p:spPr>
            <a:xfrm>
              <a:off x="9229980" y="2244212"/>
              <a:ext cx="2735878" cy="2369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48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FB7AA-7AF6-C948-69DE-6A0609F1D7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2"/>
            <a:ext cx="7430729" cy="4510087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que permita al usuario ingresar un número y elegir entre dos operaciones: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Determinar si es o no primo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Hallar su factorial.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Luego de mostrar el resultado de la operación elegida, debe preguntarse al usuario si desea continuar o no. El programa termina cuando el usuario ingresa “no”.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C1EDD-B75F-4C1A-6F31-EDE850A83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136" y="1520704"/>
            <a:ext cx="2857500" cy="2600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097CA-1F31-E3A7-16F3-AC58B4103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136" y="4704098"/>
            <a:ext cx="2857500" cy="1265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3CEF82-239B-015E-9A84-02FFB4742AE7}"/>
              </a:ext>
            </a:extLst>
          </p:cNvPr>
          <p:cNvSpPr txBox="1"/>
          <p:nvPr/>
        </p:nvSpPr>
        <p:spPr>
          <a:xfrm>
            <a:off x="8667136" y="1147668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Números primos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20DDF3-54EF-E066-22F9-7027E3287E78}"/>
              </a:ext>
            </a:extLst>
          </p:cNvPr>
          <p:cNvSpPr txBox="1"/>
          <p:nvPr/>
        </p:nvSpPr>
        <p:spPr>
          <a:xfrm>
            <a:off x="8667136" y="4307835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Factorial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9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 de la sesión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555658" cy="4373562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¿Cómo funciona un bucle </a:t>
            </a:r>
            <a:r>
              <a:rPr lang="es-ES" b="1" dirty="0">
                <a:latin typeface="Helvetica"/>
              </a:rPr>
              <a:t>do-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lo diferencia de un bucle 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ventajas nos da el usar un menú de opciones en nuestros programas?</a:t>
            </a:r>
          </a:p>
          <a:p>
            <a:r>
              <a:rPr lang="es-ES" dirty="0">
                <a:latin typeface="Helvetica"/>
              </a:rPr>
              <a:t>¿Qué beneficios nos brinda un </a:t>
            </a:r>
            <a:r>
              <a:rPr lang="es-ES" b="1" dirty="0">
                <a:latin typeface="Helvetica"/>
              </a:rPr>
              <a:t>validador</a:t>
            </a:r>
            <a:r>
              <a:rPr lang="es-ES" dirty="0">
                <a:latin typeface="Helvetica"/>
              </a:rPr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/>
              <a:t>Tanenbaum &amp; Van </a:t>
            </a:r>
            <a:r>
              <a:rPr lang="es-ES" err="1"/>
              <a:t>Steen</a:t>
            </a:r>
            <a:r>
              <a:rPr lang="es-ES"/>
              <a:t> (2008).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/>
              <a:t>. Pearson </a:t>
            </a:r>
            <a:r>
              <a:rPr lang="es-ES" err="1"/>
              <a:t>Education</a:t>
            </a:r>
            <a:r>
              <a:rPr lang="es-ES"/>
              <a:t>​.</a:t>
            </a:r>
          </a:p>
          <a:p>
            <a:pPr>
              <a:lnSpc>
                <a:spcPct val="120000"/>
              </a:lnSpc>
            </a:pPr>
            <a:r>
              <a:rPr lang="en-US"/>
              <a:t>Khalid A. Mughal &amp; Rolf W. Rasmussen (2017). A </a:t>
            </a:r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1892</Words>
  <Application>Microsoft Office PowerPoint</Application>
  <PresentationFormat>Panorámica</PresentationFormat>
  <Paragraphs>358</Paragraphs>
  <Slides>34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Arial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Estructura Repetitiva do-while (I)</vt:lpstr>
      <vt:lpstr>Conocimientos previos</vt:lpstr>
      <vt:lpstr>Logro de aprendizaje</vt:lpstr>
      <vt:lpstr>Utilidad</vt:lpstr>
      <vt:lpstr>Presentación de PowerPoint</vt:lpstr>
      <vt:lpstr>Presentación de PowerPoint</vt:lpstr>
      <vt:lpstr>Bucle do-while (“hacer mientras”)</vt:lpstr>
      <vt:lpstr>do-while en Java. Sintaxis.</vt:lpstr>
      <vt:lpstr>Bucle do-while. Ejemplo.</vt:lpstr>
      <vt:lpstr>Presentación de PowerPoint</vt:lpstr>
      <vt:lpstr>¿Puede un bucle do-while ser infinito?</vt:lpstr>
      <vt:lpstr>Presentación de PowerPoint</vt:lpstr>
      <vt:lpstr>Validadores</vt:lpstr>
      <vt:lpstr>Validadores. Ejemplo (sin check)</vt:lpstr>
      <vt:lpstr>Validadores. Ejemplo (con check)</vt:lpstr>
      <vt:lpstr>Presentación de PowerPoint</vt:lpstr>
      <vt:lpstr>¿Qué es un menú?</vt:lpstr>
      <vt:lpstr>Ejemplo de menú con do-while</vt:lpstr>
      <vt:lpstr>Presentación de PowerPoint</vt:lpstr>
      <vt:lpstr>Cuestionario</vt:lpstr>
      <vt:lpstr>Cuestionario</vt:lpstr>
      <vt:lpstr>Cuestionario</vt:lpstr>
      <vt:lpstr>Cuestionario</vt:lpstr>
      <vt:lpstr>Cuestionario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07-Sesión 13</dc:title>
  <dc:creator>jorgerodcas@hotmail.com</dc:creator>
  <cp:lastModifiedBy>Juan Carlos García</cp:lastModifiedBy>
  <cp:revision>116</cp:revision>
  <dcterms:modified xsi:type="dcterms:W3CDTF">2023-10-20T21:36:33Z</dcterms:modified>
</cp:coreProperties>
</file>