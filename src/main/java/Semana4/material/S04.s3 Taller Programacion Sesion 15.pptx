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7"/>
  </p:notesMasterIdLst>
  <p:sldIdLst>
    <p:sldId id="256" r:id="rId2"/>
    <p:sldId id="425" r:id="rId3"/>
    <p:sldId id="444" r:id="rId4"/>
    <p:sldId id="445" r:id="rId5"/>
    <p:sldId id="446" r:id="rId6"/>
    <p:sldId id="447" r:id="rId7"/>
    <p:sldId id="258" r:id="rId8"/>
    <p:sldId id="257" r:id="rId9"/>
    <p:sldId id="263" r:id="rId10"/>
    <p:sldId id="264" r:id="rId11"/>
    <p:sldId id="330" r:id="rId12"/>
    <p:sldId id="426" r:id="rId13"/>
    <p:sldId id="401" r:id="rId14"/>
    <p:sldId id="428" r:id="rId15"/>
    <p:sldId id="429" r:id="rId16"/>
    <p:sldId id="432" r:id="rId17"/>
    <p:sldId id="427" r:id="rId18"/>
    <p:sldId id="430" r:id="rId19"/>
    <p:sldId id="431" r:id="rId20"/>
    <p:sldId id="433" r:id="rId21"/>
    <p:sldId id="434" r:id="rId22"/>
    <p:sldId id="435" r:id="rId23"/>
    <p:sldId id="436" r:id="rId24"/>
    <p:sldId id="437" r:id="rId25"/>
    <p:sldId id="438" r:id="rId26"/>
    <p:sldId id="439" r:id="rId27"/>
    <p:sldId id="440" r:id="rId28"/>
    <p:sldId id="415" r:id="rId29"/>
    <p:sldId id="441" r:id="rId30"/>
    <p:sldId id="442" r:id="rId31"/>
    <p:sldId id="443" r:id="rId32"/>
    <p:sldId id="424" r:id="rId33"/>
    <p:sldId id="261" r:id="rId34"/>
    <p:sldId id="329" r:id="rId35"/>
    <p:sldId id="259" r:id="rId3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207" userDrawn="1">
          <p15:clr>
            <a:srgbClr val="A4A3A4"/>
          </p15:clr>
        </p15:guide>
      </p15:sldGuideLst>
    </p:ext>
    <p:ext uri="http://customooxmlschemas.google.com/">
      <go:slidesCustomData xmlns="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r:id="rId78" roundtripDataSignature="AMtx7mh2+CB7AwAKHevBYi6hg66TyKQMEg==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186062B-CF97-CD71-5A85-9B4FD42F42A3}" name="FERNANDO IGNACIO DIAZ SANCHEZ" initials="FIDS" userId="S::fidiaz@utp.edu.pe::ba36fe69-f35f-4358-9126-4b1eb463af6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1F22"/>
    <a:srgbClr val="1B5E8B"/>
    <a:srgbClr val="CC7832"/>
    <a:srgbClr val="EF477C"/>
    <a:srgbClr val="CFC0EA"/>
    <a:srgbClr val="C3B1E5"/>
    <a:srgbClr val="BBA8E0"/>
    <a:srgbClr val="C2B1E5"/>
    <a:srgbClr val="758F3A"/>
    <a:srgbClr val="F9F9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3D60B73-A423-B812-5CE1-C8DAD5587D31}" v="389" dt="2023-01-25T19:12:52.82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1783" autoAdjust="0"/>
  </p:normalViewPr>
  <p:slideViewPr>
    <p:cSldViewPr snapToGrid="0">
      <p:cViewPr varScale="1">
        <p:scale>
          <a:sx n="114" d="100"/>
          <a:sy n="114" d="100"/>
        </p:scale>
        <p:origin x="773" y="86"/>
      </p:cViewPr>
      <p:guideLst>
        <p:guide orient="horz" pos="2160"/>
        <p:guide pos="220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84" Type="http://schemas.microsoft.com/office/2018/10/relationships/authors" Target="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83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82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78" Type="http://customschemas.google.com/relationships/presentationmetadata" Target="metadata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80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7819eedc26_1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g7819eedc26_1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0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565683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Respuesta: 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5528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Respuesta: A</a:t>
            </a:r>
          </a:p>
          <a:p>
            <a:endParaRPr lang="es-ES" dirty="0"/>
          </a:p>
          <a:p>
            <a:r>
              <a:rPr lang="es-ES" dirty="0"/>
              <a:t>Es posible que las secciones de inicialización e iteración estén vacías.</a:t>
            </a:r>
            <a:endParaRPr lang="es-ES" dirty="0">
              <a:solidFill>
                <a:schemeClr val="bg1">
                  <a:lumMod val="50000"/>
                </a:schemeClr>
              </a:solidFill>
              <a:latin typeface="Helvetica" pitchFamily="2" charset="0"/>
            </a:endParaRPr>
          </a:p>
          <a:p>
            <a:r>
              <a:rPr lang="es-ES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En este ejemplo, las expresiones de inicialización e iteración han sido movidas fuera de la instrucción </a:t>
            </a:r>
            <a:r>
              <a:rPr lang="es-ES" b="1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for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.</a:t>
            </a:r>
          </a:p>
          <a:p>
            <a:r>
              <a:rPr lang="es-ES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Funcionalmente, es equivalente al ejemplo del </a:t>
            </a:r>
            <a:r>
              <a:rPr lang="es-ES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slide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21 (prueba condicional).</a:t>
            </a:r>
            <a:endParaRPr lang="en-US" dirty="0">
              <a:solidFill>
                <a:schemeClr val="bg1">
                  <a:lumMod val="50000"/>
                </a:schemeClr>
              </a:solidFill>
              <a:latin typeface="Helvetica" pitchFamily="2" charset="0"/>
            </a:endParaRPr>
          </a:p>
          <a:p>
            <a:r>
              <a:rPr lang="en-US" dirty="0" err="1"/>
              <a:t>Construído</a:t>
            </a:r>
            <a:r>
              <a:rPr lang="en-US" dirty="0"/>
              <a:t> </a:t>
            </a:r>
            <a:r>
              <a:rPr lang="en-US" dirty="0" err="1"/>
              <a:t>así</a:t>
            </a:r>
            <a:r>
              <a:rPr lang="en-US" dirty="0"/>
              <a:t>,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bucle</a:t>
            </a:r>
            <a:r>
              <a:rPr lang="en-US" dirty="0"/>
              <a:t> for se </a:t>
            </a:r>
            <a:r>
              <a:rPr lang="en-US" dirty="0" err="1"/>
              <a:t>asemeja</a:t>
            </a:r>
            <a:r>
              <a:rPr lang="en-US" dirty="0"/>
              <a:t> a un </a:t>
            </a:r>
            <a:r>
              <a:rPr lang="en-US" dirty="0" err="1"/>
              <a:t>bucle</a:t>
            </a:r>
            <a:r>
              <a:rPr lang="en-US" dirty="0"/>
              <a:t> while.</a:t>
            </a:r>
          </a:p>
        </p:txBody>
      </p:sp>
    </p:spTree>
    <p:extLst>
      <p:ext uri="{BB962C8B-B14F-4D97-AF65-F5344CB8AC3E}">
        <p14:creationId xmlns:p14="http://schemas.microsoft.com/office/powerpoint/2010/main" val="6848853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Respuesta: 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2771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Respuesta: 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25481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Respuesta: 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02490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13" y="0"/>
            <a:ext cx="1218197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1936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1">
                <a:latin typeface="Helvetica" pitchFamily="2" charset="0"/>
                <a:ea typeface="Helvetica" pitchFamily="2" charset="0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7"/>
          <p:cNvSpPr txBox="1">
            <a:spLocks noGrp="1"/>
          </p:cNvSpPr>
          <p:nvPr>
            <p:ph type="subTitle" idx="1"/>
          </p:nvPr>
        </p:nvSpPr>
        <p:spPr>
          <a:xfrm>
            <a:off x="1524000" y="3178688"/>
            <a:ext cx="9144000" cy="50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Helvetica" pitchFamily="2" charset="0"/>
                <a:ea typeface="Helvetica" pitchFamily="2" charset="0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BF22F04-4BC9-41E2-B353-830397417302}"/>
              </a:ext>
            </a:extLst>
          </p:cNvPr>
          <p:cNvSpPr/>
          <p:nvPr userDrawn="1"/>
        </p:nvSpPr>
        <p:spPr>
          <a:xfrm>
            <a:off x="4058520" y="5231177"/>
            <a:ext cx="4063504" cy="9365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noFill/>
              </a:ln>
            </a:endParaRPr>
          </a:p>
        </p:txBody>
      </p:sp>
      <p:pic>
        <p:nvPicPr>
          <p:cNvPr id="5" name="Picture 2" descr="Inicio – 10 - Universidad Tecnológica del Perú - UTP – Colegio Anglo  Americano Prescott">
            <a:extLst>
              <a:ext uri="{FF2B5EF4-FFF2-40B4-BE49-F238E27FC236}">
                <a16:creationId xmlns:a16="http://schemas.microsoft.com/office/drawing/2014/main" id="{4E2C1613-F647-4454-932D-F9B6B9380A9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1555" y="5135036"/>
            <a:ext cx="4173573" cy="10928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29555-3685-4E25-8B53-D766AA066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49745"/>
            <a:ext cx="10515600" cy="785528"/>
          </a:xfrm>
        </p:spPr>
        <p:txBody>
          <a:bodyPr>
            <a:normAutofit/>
          </a:bodyPr>
          <a:lstStyle>
            <a:lvl1pPr>
              <a:defRPr sz="4400" b="1">
                <a:solidFill>
                  <a:srgbClr val="D3052C"/>
                </a:solidFill>
                <a:latin typeface="Helvetica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88F942-990C-4C84-A1C3-F5F0BCBF93E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‹Nº›</a:t>
            </a:fld>
            <a:endParaRPr lang="es-PE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68538E7-9E81-474C-AD3B-32C2198C15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846263"/>
            <a:ext cx="10515600" cy="4373562"/>
          </a:xfrm>
        </p:spPr>
        <p:txBody>
          <a:bodyPr/>
          <a:lstStyle>
            <a:lvl1pPr>
              <a:lnSpc>
                <a:spcPct val="100000"/>
              </a:lnSpc>
              <a:defRPr>
                <a:latin typeface="Helvetica" pitchFamily="2" charset="0"/>
              </a:defRPr>
            </a:lvl1pPr>
            <a:lvl2pPr>
              <a:lnSpc>
                <a:spcPct val="100000"/>
              </a:lnSpc>
              <a:defRPr>
                <a:latin typeface="Helvetica" pitchFamily="2" charset="0"/>
              </a:defRPr>
            </a:lvl2pPr>
            <a:lvl3pPr>
              <a:lnSpc>
                <a:spcPct val="100000"/>
              </a:lnSpc>
              <a:defRPr>
                <a:latin typeface="Helvetica" pitchFamily="2" charset="0"/>
              </a:defRPr>
            </a:lvl3pPr>
            <a:lvl4pPr>
              <a:lnSpc>
                <a:spcPct val="100000"/>
              </a:lnSpc>
              <a:defRPr>
                <a:latin typeface="Helvetica" pitchFamily="2" charset="0"/>
              </a:defRPr>
            </a:lvl4pPr>
            <a:lvl5pPr>
              <a:lnSpc>
                <a:spcPct val="100000"/>
              </a:lnSpc>
              <a:defRPr>
                <a:latin typeface="Helvetica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26" name="Picture 2" descr="Inicio – 10 - Universidad Tecnológica del Perú - UTP – Colegio Anglo  Americano Prescott">
            <a:extLst>
              <a:ext uri="{FF2B5EF4-FFF2-40B4-BE49-F238E27FC236}">
                <a16:creationId xmlns:a16="http://schemas.microsoft.com/office/drawing/2014/main" id="{322DE48A-2D4F-4873-8D66-AF7F3593CA7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6428" y="136525"/>
            <a:ext cx="1559859" cy="40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831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preserve="1" userDrawn="1">
  <p:cSld name="2_Solo el título"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Inicio – 10 - Universidad Tecnológica del Perú - UTP – Colegio Anglo  Americano Prescott">
            <a:extLst>
              <a:ext uri="{FF2B5EF4-FFF2-40B4-BE49-F238E27FC236}">
                <a16:creationId xmlns:a16="http://schemas.microsoft.com/office/drawing/2014/main" id="{240F2624-FBFA-46AE-9892-D42C673614F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2847" y="141009"/>
            <a:ext cx="1559859" cy="40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835F4D67-4966-C21F-A09E-7658BEBF9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68217"/>
            <a:ext cx="10515600" cy="4959927"/>
          </a:xfrm>
        </p:spPr>
        <p:txBody>
          <a:bodyPr/>
          <a:lstStyle>
            <a:lvl1pPr algn="ctr">
              <a:defRPr b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96670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Encabezado de sección">
  <p:cSld name="1_Encabezado de sección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467" y="0"/>
            <a:ext cx="12187066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D22FCA6-0FCB-4C91-BEC5-A93A5D856507}"/>
              </a:ext>
            </a:extLst>
          </p:cNvPr>
          <p:cNvSpPr/>
          <p:nvPr userDrawn="1"/>
        </p:nvSpPr>
        <p:spPr>
          <a:xfrm>
            <a:off x="8713694" y="0"/>
            <a:ext cx="3478306" cy="14612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Google Shape;20;p9"/>
          <p:cNvSpPr txBox="1">
            <a:spLocks noGrp="1"/>
          </p:cNvSpPr>
          <p:nvPr>
            <p:ph type="body" idx="1"/>
          </p:nvPr>
        </p:nvSpPr>
        <p:spPr>
          <a:xfrm>
            <a:off x="831850" y="469339"/>
            <a:ext cx="10515600" cy="562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9"/>
          <p:cNvSpPr txBox="1"/>
          <p:nvPr/>
        </p:nvSpPr>
        <p:spPr>
          <a:xfrm>
            <a:off x="831850" y="6457444"/>
            <a:ext cx="105156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Datos/Observaciones</a:t>
            </a:r>
            <a:endParaRPr/>
          </a:p>
        </p:txBody>
      </p:sp>
      <p:pic>
        <p:nvPicPr>
          <p:cNvPr id="6" name="Picture 2" descr="Inicio – 10 - Universidad Tecnológica del Perú - UTP – Colegio Anglo  Americano Prescott">
            <a:extLst>
              <a:ext uri="{FF2B5EF4-FFF2-40B4-BE49-F238E27FC236}">
                <a16:creationId xmlns:a16="http://schemas.microsoft.com/office/drawing/2014/main" id="{1B93EADB-A85F-4945-BEEA-1073EED2962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2847" y="122286"/>
            <a:ext cx="1559859" cy="40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>
  <p:cSld name="Encabezado de sección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45ECD6E-A13D-41C4-A8AA-AC936BA167FF}"/>
              </a:ext>
            </a:extLst>
          </p:cNvPr>
          <p:cNvSpPr/>
          <p:nvPr userDrawn="1"/>
        </p:nvSpPr>
        <p:spPr>
          <a:xfrm>
            <a:off x="8713694" y="0"/>
            <a:ext cx="3478306" cy="14612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Google Shape;24;p10"/>
          <p:cNvSpPr txBox="1">
            <a:spLocks noGrp="1"/>
          </p:cNvSpPr>
          <p:nvPr>
            <p:ph type="body" idx="1"/>
          </p:nvPr>
        </p:nvSpPr>
        <p:spPr>
          <a:xfrm>
            <a:off x="831850" y="469339"/>
            <a:ext cx="10515600" cy="562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5" name="Google Shape;25;p10"/>
          <p:cNvSpPr txBox="1">
            <a:spLocks noGrp="1"/>
          </p:cNvSpPr>
          <p:nvPr>
            <p:ph type="body" idx="2"/>
          </p:nvPr>
        </p:nvSpPr>
        <p:spPr>
          <a:xfrm>
            <a:off x="831850" y="6382418"/>
            <a:ext cx="105156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pic>
        <p:nvPicPr>
          <p:cNvPr id="6" name="Picture 2" descr="Inicio – 10 - Universidad Tecnológica del Perú - UTP – Colegio Anglo  Americano Prescott">
            <a:extLst>
              <a:ext uri="{FF2B5EF4-FFF2-40B4-BE49-F238E27FC236}">
                <a16:creationId xmlns:a16="http://schemas.microsoft.com/office/drawing/2014/main" id="{E630A3B5-109D-4437-9425-DCBCCE7F66F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2847" y="122286"/>
            <a:ext cx="1559859" cy="40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olo el título">
  <p:cSld name="1_Solo el título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639" y="0"/>
            <a:ext cx="12180722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>
  <p:cSld name="Contenido con título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13" y="0"/>
            <a:ext cx="1218197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1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ntenido con título">
  <p:cSld name="1_Contenido con título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13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Contenido con título">
  <p:cSld name="2_Contenido con título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Contenido con título">
  <p:cSld name="3_Contenido con título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38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1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Contenido con título">
  <p:cSld name="4_Contenido con título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13" y="0"/>
            <a:ext cx="1218197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16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Contenido con título">
  <p:cSld name="5_Contenido con título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17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Contenido con título">
  <p:cSld name="6_Contenido con título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1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Contenido con título">
  <p:cSld name="7_Contenido con título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50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13" y="0"/>
            <a:ext cx="1218197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1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Contenido con título">
  <p:cSld name="8_Contenido con título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2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_Contenido con título">
  <p:cSld name="9_Contenido con título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2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Contenido con título">
  <p:cSld name="10_Contenido con título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2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66" r:id="rId2"/>
    <p:sldLayoutId id="2147483665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1" i="0" u="none" strike="noStrike" cap="none">
          <a:solidFill>
            <a:srgbClr val="D3052C"/>
          </a:solidFill>
          <a:latin typeface="Helvetica" pitchFamily="2" charset="0"/>
          <a:ea typeface="Helvetica" pitchFamily="2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Helvetica" pitchFamily="2" charset="0"/>
          <a:ea typeface="Helvetica" pitchFamily="2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4996C790-6468-2096-DC96-223AAF4804CF}"/>
              </a:ext>
            </a:extLst>
          </p:cNvPr>
          <p:cNvSpPr/>
          <p:nvPr/>
        </p:nvSpPr>
        <p:spPr>
          <a:xfrm>
            <a:off x="-9236" y="-13581"/>
            <a:ext cx="12210289" cy="6871581"/>
          </a:xfrm>
          <a:custGeom>
            <a:avLst/>
            <a:gdLst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85277"/>
              <a:gd name="connsiteY0" fmla="*/ 3802455 h 6871580"/>
              <a:gd name="connsiteX1" fmla="*/ 9190 w 12385277"/>
              <a:gd name="connsiteY1" fmla="*/ 6871580 h 6871580"/>
              <a:gd name="connsiteX2" fmla="*/ 9587756 w 12385277"/>
              <a:gd name="connsiteY2" fmla="*/ 6871580 h 6871580"/>
              <a:gd name="connsiteX3" fmla="*/ 12385277 w 12385277"/>
              <a:gd name="connsiteY3" fmla="*/ 2236205 h 6871580"/>
              <a:gd name="connsiteX4" fmla="*/ 12385277 w 12385277"/>
              <a:gd name="connsiteY4" fmla="*/ 0 h 6871580"/>
              <a:gd name="connsiteX5" fmla="*/ 8265950 w 12385277"/>
              <a:gd name="connsiteY5" fmla="*/ 0 h 6871580"/>
              <a:gd name="connsiteX6" fmla="*/ 0 w 12385277"/>
              <a:gd name="connsiteY6" fmla="*/ 3802455 h 6871580"/>
              <a:gd name="connsiteX0" fmla="*/ 0 w 12385277"/>
              <a:gd name="connsiteY0" fmla="*/ 3802455 h 6871580"/>
              <a:gd name="connsiteX1" fmla="*/ 9190 w 12385277"/>
              <a:gd name="connsiteY1" fmla="*/ 6871580 h 6871580"/>
              <a:gd name="connsiteX2" fmla="*/ 9587756 w 12385277"/>
              <a:gd name="connsiteY2" fmla="*/ 6871580 h 6871580"/>
              <a:gd name="connsiteX3" fmla="*/ 12385277 w 12385277"/>
              <a:gd name="connsiteY3" fmla="*/ 2236205 h 6871580"/>
              <a:gd name="connsiteX4" fmla="*/ 12385277 w 12385277"/>
              <a:gd name="connsiteY4" fmla="*/ 0 h 6871580"/>
              <a:gd name="connsiteX5" fmla="*/ 8265950 w 12385277"/>
              <a:gd name="connsiteY5" fmla="*/ 0 h 6871580"/>
              <a:gd name="connsiteX6" fmla="*/ 0 w 12385277"/>
              <a:gd name="connsiteY6" fmla="*/ 3802455 h 6871580"/>
              <a:gd name="connsiteX0" fmla="*/ 0 w 12394652"/>
              <a:gd name="connsiteY0" fmla="*/ 3543837 h 6871580"/>
              <a:gd name="connsiteX1" fmla="*/ 18565 w 12394652"/>
              <a:gd name="connsiteY1" fmla="*/ 6871580 h 6871580"/>
              <a:gd name="connsiteX2" fmla="*/ 9597131 w 12394652"/>
              <a:gd name="connsiteY2" fmla="*/ 6871580 h 6871580"/>
              <a:gd name="connsiteX3" fmla="*/ 12394652 w 12394652"/>
              <a:gd name="connsiteY3" fmla="*/ 2236205 h 6871580"/>
              <a:gd name="connsiteX4" fmla="*/ 12394652 w 12394652"/>
              <a:gd name="connsiteY4" fmla="*/ 0 h 6871580"/>
              <a:gd name="connsiteX5" fmla="*/ 8275325 w 12394652"/>
              <a:gd name="connsiteY5" fmla="*/ 0 h 6871580"/>
              <a:gd name="connsiteX6" fmla="*/ 0 w 12394652"/>
              <a:gd name="connsiteY6" fmla="*/ 3543837 h 6871580"/>
              <a:gd name="connsiteX0" fmla="*/ 0 w 12394652"/>
              <a:gd name="connsiteY0" fmla="*/ 3543837 h 6899290"/>
              <a:gd name="connsiteX1" fmla="*/ 18565 w 12394652"/>
              <a:gd name="connsiteY1" fmla="*/ 6871580 h 6899290"/>
              <a:gd name="connsiteX2" fmla="*/ 10412828 w 12394652"/>
              <a:gd name="connsiteY2" fmla="*/ 6899290 h 6899290"/>
              <a:gd name="connsiteX3" fmla="*/ 12394652 w 12394652"/>
              <a:gd name="connsiteY3" fmla="*/ 2236205 h 6899290"/>
              <a:gd name="connsiteX4" fmla="*/ 12394652 w 12394652"/>
              <a:gd name="connsiteY4" fmla="*/ 0 h 6899290"/>
              <a:gd name="connsiteX5" fmla="*/ 8275325 w 12394652"/>
              <a:gd name="connsiteY5" fmla="*/ 0 h 6899290"/>
              <a:gd name="connsiteX6" fmla="*/ 0 w 12394652"/>
              <a:gd name="connsiteY6" fmla="*/ 3543837 h 6899290"/>
              <a:gd name="connsiteX0" fmla="*/ 0 w 12394652"/>
              <a:gd name="connsiteY0" fmla="*/ 3543837 h 6871581"/>
              <a:gd name="connsiteX1" fmla="*/ 18565 w 12394652"/>
              <a:gd name="connsiteY1" fmla="*/ 6871580 h 6871581"/>
              <a:gd name="connsiteX2" fmla="*/ 10028419 w 12394652"/>
              <a:gd name="connsiteY2" fmla="*/ 6871581 h 6871581"/>
              <a:gd name="connsiteX3" fmla="*/ 12394652 w 12394652"/>
              <a:gd name="connsiteY3" fmla="*/ 2236205 h 6871581"/>
              <a:gd name="connsiteX4" fmla="*/ 12394652 w 12394652"/>
              <a:gd name="connsiteY4" fmla="*/ 0 h 6871581"/>
              <a:gd name="connsiteX5" fmla="*/ 8275325 w 12394652"/>
              <a:gd name="connsiteY5" fmla="*/ 0 h 6871581"/>
              <a:gd name="connsiteX6" fmla="*/ 0 w 12394652"/>
              <a:gd name="connsiteY6" fmla="*/ 3543837 h 68715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394652" h="6871581">
                <a:moveTo>
                  <a:pt x="0" y="3543837"/>
                </a:moveTo>
                <a:cubicBezTo>
                  <a:pt x="3063" y="4566879"/>
                  <a:pt x="15502" y="5848538"/>
                  <a:pt x="18565" y="6871580"/>
                </a:cubicBezTo>
                <a:lnTo>
                  <a:pt x="10028419" y="6871581"/>
                </a:lnTo>
                <a:cubicBezTo>
                  <a:pt x="11310153" y="5444150"/>
                  <a:pt x="11985983" y="4197789"/>
                  <a:pt x="12394652" y="2236205"/>
                </a:cubicBezTo>
                <a:lnTo>
                  <a:pt x="12394652" y="0"/>
                </a:lnTo>
                <a:lnTo>
                  <a:pt x="8275325" y="0"/>
                </a:lnTo>
                <a:cubicBezTo>
                  <a:pt x="8666108" y="4324539"/>
                  <a:pt x="2283555" y="4597057"/>
                  <a:pt x="0" y="3543837"/>
                </a:cubicBezTo>
                <a:close/>
              </a:path>
            </a:pathLst>
          </a:custGeom>
          <a:solidFill>
            <a:schemeClr val="tx2">
              <a:lumMod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EFDE1541-A8F6-99CE-A61B-085CFF7C2FE8}"/>
              </a:ext>
            </a:extLst>
          </p:cNvPr>
          <p:cNvSpPr/>
          <p:nvPr/>
        </p:nvSpPr>
        <p:spPr>
          <a:xfrm>
            <a:off x="-9053" y="-13580"/>
            <a:ext cx="12201053" cy="6871580"/>
          </a:xfrm>
          <a:custGeom>
            <a:avLst/>
            <a:gdLst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85277"/>
              <a:gd name="connsiteY0" fmla="*/ 3802455 h 6871580"/>
              <a:gd name="connsiteX1" fmla="*/ 9190 w 12385277"/>
              <a:gd name="connsiteY1" fmla="*/ 6871580 h 6871580"/>
              <a:gd name="connsiteX2" fmla="*/ 9587756 w 12385277"/>
              <a:gd name="connsiteY2" fmla="*/ 6871580 h 6871580"/>
              <a:gd name="connsiteX3" fmla="*/ 12385277 w 12385277"/>
              <a:gd name="connsiteY3" fmla="*/ 2236205 h 6871580"/>
              <a:gd name="connsiteX4" fmla="*/ 12385277 w 12385277"/>
              <a:gd name="connsiteY4" fmla="*/ 0 h 6871580"/>
              <a:gd name="connsiteX5" fmla="*/ 8265950 w 12385277"/>
              <a:gd name="connsiteY5" fmla="*/ 0 h 6871580"/>
              <a:gd name="connsiteX6" fmla="*/ 0 w 12385277"/>
              <a:gd name="connsiteY6" fmla="*/ 3802455 h 6871580"/>
              <a:gd name="connsiteX0" fmla="*/ 0 w 12385277"/>
              <a:gd name="connsiteY0" fmla="*/ 3802455 h 6871580"/>
              <a:gd name="connsiteX1" fmla="*/ 9190 w 12385277"/>
              <a:gd name="connsiteY1" fmla="*/ 6871580 h 6871580"/>
              <a:gd name="connsiteX2" fmla="*/ 9587756 w 12385277"/>
              <a:gd name="connsiteY2" fmla="*/ 6871580 h 6871580"/>
              <a:gd name="connsiteX3" fmla="*/ 12385277 w 12385277"/>
              <a:gd name="connsiteY3" fmla="*/ 2236205 h 6871580"/>
              <a:gd name="connsiteX4" fmla="*/ 12385277 w 12385277"/>
              <a:gd name="connsiteY4" fmla="*/ 0 h 6871580"/>
              <a:gd name="connsiteX5" fmla="*/ 8265950 w 12385277"/>
              <a:gd name="connsiteY5" fmla="*/ 0 h 6871580"/>
              <a:gd name="connsiteX6" fmla="*/ 0 w 12385277"/>
              <a:gd name="connsiteY6" fmla="*/ 3802455 h 6871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385277" h="6871580">
                <a:moveTo>
                  <a:pt x="0" y="3802455"/>
                </a:moveTo>
                <a:cubicBezTo>
                  <a:pt x="3063" y="4825497"/>
                  <a:pt x="6127" y="5848538"/>
                  <a:pt x="9190" y="6871580"/>
                </a:cubicBezTo>
                <a:lnTo>
                  <a:pt x="9587756" y="6871580"/>
                </a:lnTo>
                <a:cubicBezTo>
                  <a:pt x="10869490" y="5444149"/>
                  <a:pt x="11976608" y="4197789"/>
                  <a:pt x="12385277" y="2236205"/>
                </a:cubicBezTo>
                <a:lnTo>
                  <a:pt x="12385277" y="0"/>
                </a:lnTo>
                <a:lnTo>
                  <a:pt x="8265950" y="0"/>
                </a:lnTo>
                <a:cubicBezTo>
                  <a:pt x="8656733" y="4324539"/>
                  <a:pt x="2283555" y="4855675"/>
                  <a:pt x="0" y="3802455"/>
                </a:cubicBez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F66C8B-894E-49C8-97F0-0500C46A7D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3361" y="420110"/>
            <a:ext cx="7361383" cy="1936426"/>
          </a:xfrm>
        </p:spPr>
        <p:txBody>
          <a:bodyPr/>
          <a:lstStyle/>
          <a:p>
            <a:pPr algn="l"/>
            <a:r>
              <a:rPr lang="es-ES" dirty="0"/>
              <a:t>Taller de Programación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4B3F2A-9181-449D-AA57-948B7B8CEB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4068577"/>
            <a:ext cx="9144000" cy="500624"/>
          </a:xfrm>
        </p:spPr>
        <p:txBody>
          <a:bodyPr>
            <a:normAutofit fontScale="92500" lnSpcReduction="10000"/>
          </a:bodyPr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77311F-912E-F29A-7CC2-5367F66BE24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34114"/>
          <a:stretch/>
        </p:blipFill>
        <p:spPr>
          <a:xfrm>
            <a:off x="4177256" y="5291778"/>
            <a:ext cx="2528344" cy="83994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3EBC89A-FF84-877C-D866-0A9D5D51CCD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lum bright="70000" contrast="-70000"/>
          </a:blip>
          <a:srcRect l="66576"/>
          <a:stretch/>
        </p:blipFill>
        <p:spPr>
          <a:xfrm>
            <a:off x="6732099" y="5291777"/>
            <a:ext cx="1282645" cy="83994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3B98E4C-CEFA-1581-AF50-FEF751C6337A}"/>
              </a:ext>
            </a:extLst>
          </p:cNvPr>
          <p:cNvSpPr/>
          <p:nvPr/>
        </p:nvSpPr>
        <p:spPr>
          <a:xfrm>
            <a:off x="803564" y="2576945"/>
            <a:ext cx="720435" cy="14778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110DC5-E042-6864-A9C7-29E21EDB9714}"/>
              </a:ext>
            </a:extLst>
          </p:cNvPr>
          <p:cNvSpPr txBox="1"/>
          <p:nvPr/>
        </p:nvSpPr>
        <p:spPr>
          <a:xfrm>
            <a:off x="-4618" y="6627169"/>
            <a:ext cx="773545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bg1">
                    <a:lumMod val="75000"/>
                  </a:schemeClr>
                </a:solidFill>
              </a:rPr>
              <a:t>Imagen </a:t>
            </a:r>
            <a:r>
              <a:rPr lang="en-US" sz="900" err="1">
                <a:solidFill>
                  <a:schemeClr val="bg1">
                    <a:lumMod val="75000"/>
                  </a:schemeClr>
                </a:solidFill>
              </a:rPr>
              <a:t>obtenida</a:t>
            </a:r>
            <a:r>
              <a:rPr lang="en-US" sz="900">
                <a:solidFill>
                  <a:schemeClr val="bg1">
                    <a:lumMod val="75000"/>
                  </a:schemeClr>
                </a:solidFill>
              </a:rPr>
              <a:t> de: https://www.pixelstalk.net/wp-content/uploads/images6/Abstract-Wallpaper-HD-Free-download.png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2BA55FE4-70B9-E3D1-2BA4-C6609B7C8630}"/>
              </a:ext>
            </a:extLst>
          </p:cNvPr>
          <p:cNvGrpSpPr/>
          <p:nvPr/>
        </p:nvGrpSpPr>
        <p:grpSpPr>
          <a:xfrm>
            <a:off x="0" y="2216647"/>
            <a:ext cx="12191999" cy="3888296"/>
            <a:chOff x="0" y="1764587"/>
            <a:chExt cx="12191999" cy="3888296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F141B1B9-0A87-4100-FA91-B70D5449F9C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1766683"/>
              <a:ext cx="5829300" cy="3886200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1ADE19C-FA63-0AA2-C78A-99D00A7DD070}"/>
                </a:ext>
              </a:extLst>
            </p:cNvPr>
            <p:cNvSpPr/>
            <p:nvPr/>
          </p:nvSpPr>
          <p:spPr>
            <a:xfrm>
              <a:off x="3729518" y="1764587"/>
              <a:ext cx="8462481" cy="3886200"/>
            </a:xfrm>
            <a:prstGeom prst="rect">
              <a:avLst/>
            </a:prstGeom>
            <a:gradFill flip="none" rotWithShape="1">
              <a:gsLst>
                <a:gs pos="11000">
                  <a:srgbClr val="BCA9E1"/>
                </a:gs>
                <a:gs pos="0">
                  <a:srgbClr val="BBA8E0">
                    <a:alpha val="0"/>
                  </a:srgbClr>
                </a:gs>
                <a:gs pos="100000">
                  <a:srgbClr val="C2B1E5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B784D05-1AC9-B646-F2AC-752E8667D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Dudas de la clase anterior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9A348FF-AD66-26F7-F5F6-ED5CE27404F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</a:t>
            </a:fld>
            <a:endParaRPr lang="es-PE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AA6A82-872A-49F1-14A6-7C412EBC9479}"/>
              </a:ext>
            </a:extLst>
          </p:cNvPr>
          <p:cNvSpPr txBox="1"/>
          <p:nvPr/>
        </p:nvSpPr>
        <p:spPr>
          <a:xfrm>
            <a:off x="48374" y="6284996"/>
            <a:ext cx="7493285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</a:t>
            </a:r>
          </a:p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https://media.istockphoto.com/id/1181209880/photo/portrait-of-her-she-nice-attractive-charming-lovely-creative-wavy-haired-girl-creating.jpg?s=612x612&amp;w=0&amp;k=20&amp;c=SVAHqs4Ye81WljXSdiuZD-IL4g-u4NJcPBPERIH4WPg=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E8D586B-C8FF-EBCF-50D0-64FCCD73A12B}"/>
              </a:ext>
            </a:extLst>
          </p:cNvPr>
          <p:cNvSpPr/>
          <p:nvPr/>
        </p:nvSpPr>
        <p:spPr>
          <a:xfrm>
            <a:off x="3511642" y="2300140"/>
            <a:ext cx="2111293" cy="697584"/>
          </a:xfrm>
          <a:prstGeom prst="roundRect">
            <a:avLst>
              <a:gd name="adj" fmla="val 50000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C7CA4F-C1B2-0E33-EF81-3E662584B9B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729518" y="2113907"/>
            <a:ext cx="7624282" cy="4003178"/>
          </a:xfrm>
        </p:spPr>
        <p:txBody>
          <a:bodyPr>
            <a:normAutofit/>
          </a:bodyPr>
          <a:lstStyle/>
          <a:p>
            <a:pPr marL="50800" indent="0">
              <a:lnSpc>
                <a:spcPct val="150000"/>
              </a:lnSpc>
              <a:buNone/>
            </a:pPr>
            <a:r>
              <a:rPr lang="es-ES" dirty="0">
                <a:solidFill>
                  <a:schemeClr val="bg1"/>
                </a:solidFill>
              </a:rPr>
              <a:t>do-</a:t>
            </a:r>
            <a:r>
              <a:rPr lang="es-ES" dirty="0" err="1">
                <a:solidFill>
                  <a:schemeClr val="bg1"/>
                </a:solidFill>
              </a:rPr>
              <a:t>while</a:t>
            </a:r>
            <a:endParaRPr lang="es-ES" dirty="0">
              <a:solidFill>
                <a:schemeClr val="bg1"/>
              </a:solidFill>
            </a:endParaRPr>
          </a:p>
          <a:p>
            <a:pPr marL="50800" indent="0">
              <a:lnSpc>
                <a:spcPct val="150000"/>
              </a:lnSpc>
              <a:buNone/>
            </a:pPr>
            <a:r>
              <a:rPr lang="es-ES" dirty="0">
                <a:solidFill>
                  <a:srgbClr val="CFC0EA"/>
                </a:solidFill>
              </a:rPr>
              <a:t>Bucle infinito</a:t>
            </a:r>
          </a:p>
          <a:p>
            <a:pPr marL="50800" indent="0">
              <a:lnSpc>
                <a:spcPct val="150000"/>
              </a:lnSpc>
              <a:buNone/>
            </a:pPr>
            <a:r>
              <a:rPr lang="es-ES" dirty="0">
                <a:solidFill>
                  <a:srgbClr val="CFC0EA"/>
                </a:solidFill>
              </a:rPr>
              <a:t>Validador</a:t>
            </a:r>
          </a:p>
          <a:p>
            <a:pPr marL="50800" indent="0">
              <a:lnSpc>
                <a:spcPct val="150000"/>
              </a:lnSpc>
              <a:buNone/>
            </a:pPr>
            <a:r>
              <a:rPr lang="es-ES" dirty="0">
                <a:solidFill>
                  <a:srgbClr val="CFC0EA"/>
                </a:solidFill>
              </a:rPr>
              <a:t>Menú de opciones</a:t>
            </a:r>
          </a:p>
          <a:p>
            <a:pPr marL="50800" indent="0">
              <a:lnSpc>
                <a:spcPct val="150000"/>
              </a:lnSpc>
              <a:buNone/>
            </a:pPr>
            <a:r>
              <a:rPr lang="es-ES" dirty="0">
                <a:solidFill>
                  <a:srgbClr val="CFC0EA"/>
                </a:solidFill>
              </a:rPr>
              <a:t>Usos </a:t>
            </a:r>
            <a:endParaRPr lang="en-US" dirty="0">
              <a:solidFill>
                <a:srgbClr val="CFC0EA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12F921F-ED00-F4EB-2542-848B7FF030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63102">
            <a:off x="1633307" y="1432138"/>
            <a:ext cx="1633870" cy="1926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431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2BA55FE4-70B9-E3D1-2BA4-C6609B7C8630}"/>
              </a:ext>
            </a:extLst>
          </p:cNvPr>
          <p:cNvGrpSpPr/>
          <p:nvPr/>
        </p:nvGrpSpPr>
        <p:grpSpPr>
          <a:xfrm>
            <a:off x="0" y="2216647"/>
            <a:ext cx="12191999" cy="3888296"/>
            <a:chOff x="0" y="1764587"/>
            <a:chExt cx="12191999" cy="3888296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F141B1B9-0A87-4100-FA91-B70D5449F9C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1766683"/>
              <a:ext cx="5829300" cy="3886200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1ADE19C-FA63-0AA2-C78A-99D00A7DD070}"/>
                </a:ext>
              </a:extLst>
            </p:cNvPr>
            <p:cNvSpPr/>
            <p:nvPr/>
          </p:nvSpPr>
          <p:spPr>
            <a:xfrm>
              <a:off x="3729518" y="1764587"/>
              <a:ext cx="8462481" cy="3886200"/>
            </a:xfrm>
            <a:prstGeom prst="rect">
              <a:avLst/>
            </a:prstGeom>
            <a:gradFill flip="none" rotWithShape="1">
              <a:gsLst>
                <a:gs pos="11000">
                  <a:srgbClr val="BCA9E1"/>
                </a:gs>
                <a:gs pos="0">
                  <a:srgbClr val="BBA8E0">
                    <a:alpha val="0"/>
                  </a:srgbClr>
                </a:gs>
                <a:gs pos="100000">
                  <a:srgbClr val="C2B1E5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B784D05-1AC9-B646-F2AC-752E8667D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Dudas de la clase anterior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9A348FF-AD66-26F7-F5F6-ED5CE27404F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3</a:t>
            </a:fld>
            <a:endParaRPr lang="es-PE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AA6A82-872A-49F1-14A6-7C412EBC9479}"/>
              </a:ext>
            </a:extLst>
          </p:cNvPr>
          <p:cNvSpPr txBox="1"/>
          <p:nvPr/>
        </p:nvSpPr>
        <p:spPr>
          <a:xfrm>
            <a:off x="48374" y="6284996"/>
            <a:ext cx="7493285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</a:t>
            </a:r>
          </a:p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https://media.istockphoto.com/id/1181209880/photo/portrait-of-her-she-nice-attractive-charming-lovely-creative-wavy-haired-girl-creating.jpg?s=612x612&amp;w=0&amp;k=20&amp;c=SVAHqs4Ye81WljXSdiuZD-IL4g-u4NJcPBPERIH4WPg=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B8BAB12-0CAB-561B-92C9-27ADF1CA6409}"/>
              </a:ext>
            </a:extLst>
          </p:cNvPr>
          <p:cNvSpPr/>
          <p:nvPr/>
        </p:nvSpPr>
        <p:spPr>
          <a:xfrm>
            <a:off x="3503612" y="3054286"/>
            <a:ext cx="2685561" cy="697584"/>
          </a:xfrm>
          <a:prstGeom prst="roundRect">
            <a:avLst>
              <a:gd name="adj" fmla="val 50000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C7CA4F-C1B2-0E33-EF81-3E662584B9B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729518" y="2113907"/>
            <a:ext cx="7624282" cy="4003178"/>
          </a:xfrm>
        </p:spPr>
        <p:txBody>
          <a:bodyPr>
            <a:normAutofit/>
          </a:bodyPr>
          <a:lstStyle/>
          <a:p>
            <a:pPr marL="50800" indent="0">
              <a:lnSpc>
                <a:spcPct val="150000"/>
              </a:lnSpc>
              <a:buNone/>
            </a:pPr>
            <a:r>
              <a:rPr lang="es-ES" dirty="0">
                <a:solidFill>
                  <a:srgbClr val="CFC0EA"/>
                </a:solidFill>
              </a:rPr>
              <a:t>do-</a:t>
            </a:r>
            <a:r>
              <a:rPr lang="es-ES" dirty="0" err="1">
                <a:solidFill>
                  <a:srgbClr val="CFC0EA"/>
                </a:solidFill>
              </a:rPr>
              <a:t>while</a:t>
            </a:r>
            <a:endParaRPr lang="es-ES" dirty="0">
              <a:solidFill>
                <a:srgbClr val="CFC0EA"/>
              </a:solidFill>
            </a:endParaRPr>
          </a:p>
          <a:p>
            <a:pPr marL="50800" indent="0">
              <a:lnSpc>
                <a:spcPct val="150000"/>
              </a:lnSpc>
              <a:buNone/>
            </a:pPr>
            <a:r>
              <a:rPr lang="es-ES" dirty="0">
                <a:solidFill>
                  <a:schemeClr val="bg1"/>
                </a:solidFill>
              </a:rPr>
              <a:t>Bucle infinito</a:t>
            </a:r>
          </a:p>
          <a:p>
            <a:pPr marL="50800" indent="0">
              <a:lnSpc>
                <a:spcPct val="150000"/>
              </a:lnSpc>
              <a:buNone/>
            </a:pPr>
            <a:r>
              <a:rPr lang="es-ES" dirty="0">
                <a:solidFill>
                  <a:srgbClr val="CFC0EA"/>
                </a:solidFill>
              </a:rPr>
              <a:t>Validador</a:t>
            </a:r>
          </a:p>
          <a:p>
            <a:pPr marL="50800" indent="0">
              <a:lnSpc>
                <a:spcPct val="150000"/>
              </a:lnSpc>
              <a:buNone/>
            </a:pPr>
            <a:r>
              <a:rPr lang="es-ES" dirty="0">
                <a:solidFill>
                  <a:srgbClr val="CFC0EA"/>
                </a:solidFill>
              </a:rPr>
              <a:t>Menú de opciones</a:t>
            </a:r>
          </a:p>
          <a:p>
            <a:pPr marL="50800" indent="0">
              <a:lnSpc>
                <a:spcPct val="150000"/>
              </a:lnSpc>
              <a:buNone/>
            </a:pPr>
            <a:r>
              <a:rPr lang="es-ES" dirty="0">
                <a:solidFill>
                  <a:srgbClr val="CFC0EA"/>
                </a:solidFill>
              </a:rPr>
              <a:t>Usos </a:t>
            </a:r>
            <a:endParaRPr lang="en-US" dirty="0">
              <a:solidFill>
                <a:srgbClr val="CFC0EA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318FF11-01AC-9A58-CA4A-1460A4C4C4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872915">
            <a:off x="2074384" y="2038690"/>
            <a:ext cx="1633870" cy="1926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34303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2BA55FE4-70B9-E3D1-2BA4-C6609B7C8630}"/>
              </a:ext>
            </a:extLst>
          </p:cNvPr>
          <p:cNvGrpSpPr/>
          <p:nvPr/>
        </p:nvGrpSpPr>
        <p:grpSpPr>
          <a:xfrm>
            <a:off x="0" y="2216647"/>
            <a:ext cx="12191999" cy="3888296"/>
            <a:chOff x="0" y="1764587"/>
            <a:chExt cx="12191999" cy="3888296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F141B1B9-0A87-4100-FA91-B70D5449F9C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1766683"/>
              <a:ext cx="5829300" cy="3886200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1ADE19C-FA63-0AA2-C78A-99D00A7DD070}"/>
                </a:ext>
              </a:extLst>
            </p:cNvPr>
            <p:cNvSpPr/>
            <p:nvPr/>
          </p:nvSpPr>
          <p:spPr>
            <a:xfrm>
              <a:off x="3729518" y="1764587"/>
              <a:ext cx="8462481" cy="3886200"/>
            </a:xfrm>
            <a:prstGeom prst="rect">
              <a:avLst/>
            </a:prstGeom>
            <a:gradFill flip="none" rotWithShape="1">
              <a:gsLst>
                <a:gs pos="11000">
                  <a:srgbClr val="BCA9E1"/>
                </a:gs>
                <a:gs pos="0">
                  <a:srgbClr val="BBA8E0">
                    <a:alpha val="0"/>
                  </a:srgbClr>
                </a:gs>
                <a:gs pos="100000">
                  <a:srgbClr val="C2B1E5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B784D05-1AC9-B646-F2AC-752E8667D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Dudas de la clase anterior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9A348FF-AD66-26F7-F5F6-ED5CE27404F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4</a:t>
            </a:fld>
            <a:endParaRPr lang="es-PE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AA6A82-872A-49F1-14A6-7C412EBC9479}"/>
              </a:ext>
            </a:extLst>
          </p:cNvPr>
          <p:cNvSpPr txBox="1"/>
          <p:nvPr/>
        </p:nvSpPr>
        <p:spPr>
          <a:xfrm>
            <a:off x="48374" y="6284996"/>
            <a:ext cx="7493285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</a:t>
            </a:r>
          </a:p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https://media.istockphoto.com/id/1181209880/photo/portrait-of-her-she-nice-attractive-charming-lovely-creative-wavy-haired-girl-creating.jpg?s=612x612&amp;w=0&amp;k=20&amp;c=SVAHqs4Ye81WljXSdiuZD-IL4g-u4NJcPBPERIH4WPg=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2B52A2C-396A-8F95-8071-9BA137899FB6}"/>
              </a:ext>
            </a:extLst>
          </p:cNvPr>
          <p:cNvSpPr/>
          <p:nvPr/>
        </p:nvSpPr>
        <p:spPr>
          <a:xfrm>
            <a:off x="3511642" y="3837496"/>
            <a:ext cx="2222408" cy="697584"/>
          </a:xfrm>
          <a:prstGeom prst="roundRect">
            <a:avLst>
              <a:gd name="adj" fmla="val 50000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C7CA4F-C1B2-0E33-EF81-3E662584B9B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729518" y="2113907"/>
            <a:ext cx="7624282" cy="4003178"/>
          </a:xfrm>
        </p:spPr>
        <p:txBody>
          <a:bodyPr>
            <a:normAutofit/>
          </a:bodyPr>
          <a:lstStyle/>
          <a:p>
            <a:pPr marL="50800" indent="0">
              <a:lnSpc>
                <a:spcPct val="150000"/>
              </a:lnSpc>
              <a:buNone/>
            </a:pPr>
            <a:r>
              <a:rPr lang="es-ES" dirty="0">
                <a:solidFill>
                  <a:srgbClr val="CFC0EA"/>
                </a:solidFill>
              </a:rPr>
              <a:t>do-</a:t>
            </a:r>
            <a:r>
              <a:rPr lang="es-ES" dirty="0" err="1">
                <a:solidFill>
                  <a:srgbClr val="CFC0EA"/>
                </a:solidFill>
              </a:rPr>
              <a:t>while</a:t>
            </a:r>
            <a:endParaRPr lang="es-ES" dirty="0">
              <a:solidFill>
                <a:srgbClr val="CFC0EA"/>
              </a:solidFill>
            </a:endParaRPr>
          </a:p>
          <a:p>
            <a:pPr marL="50800" indent="0">
              <a:lnSpc>
                <a:spcPct val="150000"/>
              </a:lnSpc>
              <a:buNone/>
            </a:pPr>
            <a:r>
              <a:rPr lang="es-ES" dirty="0">
                <a:solidFill>
                  <a:srgbClr val="CFC0EA"/>
                </a:solidFill>
              </a:rPr>
              <a:t>Bucle infinito</a:t>
            </a:r>
          </a:p>
          <a:p>
            <a:pPr marL="50800" indent="0">
              <a:lnSpc>
                <a:spcPct val="150000"/>
              </a:lnSpc>
              <a:buNone/>
            </a:pPr>
            <a:r>
              <a:rPr lang="es-ES" dirty="0">
                <a:solidFill>
                  <a:schemeClr val="bg1"/>
                </a:solidFill>
              </a:rPr>
              <a:t>Validador</a:t>
            </a:r>
          </a:p>
          <a:p>
            <a:pPr marL="50800" indent="0">
              <a:lnSpc>
                <a:spcPct val="150000"/>
              </a:lnSpc>
              <a:buNone/>
            </a:pPr>
            <a:r>
              <a:rPr lang="es-ES" dirty="0">
                <a:solidFill>
                  <a:srgbClr val="CFC0EA"/>
                </a:solidFill>
              </a:rPr>
              <a:t>Menú de opciones</a:t>
            </a:r>
          </a:p>
          <a:p>
            <a:pPr marL="50800" indent="0">
              <a:lnSpc>
                <a:spcPct val="150000"/>
              </a:lnSpc>
              <a:buNone/>
            </a:pPr>
            <a:r>
              <a:rPr lang="es-ES" dirty="0">
                <a:solidFill>
                  <a:srgbClr val="CFC0EA"/>
                </a:solidFill>
              </a:rPr>
              <a:t>Usos </a:t>
            </a:r>
            <a:endParaRPr lang="en-US" dirty="0">
              <a:solidFill>
                <a:srgbClr val="CFC0EA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6E32F68-A872-939B-92DD-91E64C7845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550892">
            <a:off x="21264" y="1309723"/>
            <a:ext cx="1633870" cy="1926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671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2BA55FE4-70B9-E3D1-2BA4-C6609B7C8630}"/>
              </a:ext>
            </a:extLst>
          </p:cNvPr>
          <p:cNvGrpSpPr/>
          <p:nvPr/>
        </p:nvGrpSpPr>
        <p:grpSpPr>
          <a:xfrm>
            <a:off x="0" y="2216647"/>
            <a:ext cx="12191999" cy="3888296"/>
            <a:chOff x="0" y="1764587"/>
            <a:chExt cx="12191999" cy="3888296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F141B1B9-0A87-4100-FA91-B70D5449F9C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1766683"/>
              <a:ext cx="5829300" cy="3886200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1ADE19C-FA63-0AA2-C78A-99D00A7DD070}"/>
                </a:ext>
              </a:extLst>
            </p:cNvPr>
            <p:cNvSpPr/>
            <p:nvPr/>
          </p:nvSpPr>
          <p:spPr>
            <a:xfrm>
              <a:off x="3729518" y="1764587"/>
              <a:ext cx="8462481" cy="3886200"/>
            </a:xfrm>
            <a:prstGeom prst="rect">
              <a:avLst/>
            </a:prstGeom>
            <a:gradFill flip="none" rotWithShape="1">
              <a:gsLst>
                <a:gs pos="11000">
                  <a:srgbClr val="BCA9E1"/>
                </a:gs>
                <a:gs pos="0">
                  <a:srgbClr val="BBA8E0">
                    <a:alpha val="0"/>
                  </a:srgbClr>
                </a:gs>
                <a:gs pos="100000">
                  <a:srgbClr val="C2B1E5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B784D05-1AC9-B646-F2AC-752E8667D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Dudas de la clase anterior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9A348FF-AD66-26F7-F5F6-ED5CE27404F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5</a:t>
            </a:fld>
            <a:endParaRPr lang="es-PE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AA6A82-872A-49F1-14A6-7C412EBC9479}"/>
              </a:ext>
            </a:extLst>
          </p:cNvPr>
          <p:cNvSpPr txBox="1"/>
          <p:nvPr/>
        </p:nvSpPr>
        <p:spPr>
          <a:xfrm>
            <a:off x="48374" y="6284996"/>
            <a:ext cx="7493285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</a:t>
            </a:r>
          </a:p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https://media.istockphoto.com/id/1181209880/photo/portrait-of-her-she-nice-attractive-charming-lovely-creative-wavy-haired-girl-creating.jpg?s=612x612&amp;w=0&amp;k=20&amp;c=SVAHqs4Ye81WljXSdiuZD-IL4g-u4NJcPBPERIH4WPg=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0C9F418-8A15-2451-C2A8-ADFD3C6DE9A2}"/>
              </a:ext>
            </a:extLst>
          </p:cNvPr>
          <p:cNvSpPr/>
          <p:nvPr/>
        </p:nvSpPr>
        <p:spPr>
          <a:xfrm>
            <a:off x="3503613" y="4605190"/>
            <a:ext cx="3630612" cy="697584"/>
          </a:xfrm>
          <a:prstGeom prst="roundRect">
            <a:avLst>
              <a:gd name="adj" fmla="val 50000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C7CA4F-C1B2-0E33-EF81-3E662584B9B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729518" y="2113907"/>
            <a:ext cx="7624282" cy="4003178"/>
          </a:xfrm>
        </p:spPr>
        <p:txBody>
          <a:bodyPr>
            <a:normAutofit/>
          </a:bodyPr>
          <a:lstStyle/>
          <a:p>
            <a:pPr marL="50800" indent="0">
              <a:lnSpc>
                <a:spcPct val="150000"/>
              </a:lnSpc>
              <a:buNone/>
            </a:pPr>
            <a:r>
              <a:rPr lang="es-ES" dirty="0">
                <a:solidFill>
                  <a:srgbClr val="CFC0EA"/>
                </a:solidFill>
              </a:rPr>
              <a:t>do-</a:t>
            </a:r>
            <a:r>
              <a:rPr lang="es-ES" dirty="0" err="1">
                <a:solidFill>
                  <a:srgbClr val="CFC0EA"/>
                </a:solidFill>
              </a:rPr>
              <a:t>while</a:t>
            </a:r>
            <a:endParaRPr lang="es-ES" dirty="0">
              <a:solidFill>
                <a:srgbClr val="CFC0EA"/>
              </a:solidFill>
            </a:endParaRPr>
          </a:p>
          <a:p>
            <a:pPr marL="50800" indent="0">
              <a:lnSpc>
                <a:spcPct val="150000"/>
              </a:lnSpc>
              <a:buNone/>
            </a:pPr>
            <a:r>
              <a:rPr lang="es-ES" dirty="0">
                <a:solidFill>
                  <a:srgbClr val="CFC0EA"/>
                </a:solidFill>
              </a:rPr>
              <a:t>Bucle infinito</a:t>
            </a:r>
          </a:p>
          <a:p>
            <a:pPr marL="50800" indent="0">
              <a:lnSpc>
                <a:spcPct val="150000"/>
              </a:lnSpc>
              <a:buNone/>
            </a:pPr>
            <a:r>
              <a:rPr lang="es-ES" dirty="0">
                <a:solidFill>
                  <a:srgbClr val="CFC0EA"/>
                </a:solidFill>
              </a:rPr>
              <a:t>Validador</a:t>
            </a:r>
          </a:p>
          <a:p>
            <a:pPr marL="50800" indent="0">
              <a:lnSpc>
                <a:spcPct val="150000"/>
              </a:lnSpc>
              <a:buNone/>
            </a:pPr>
            <a:r>
              <a:rPr lang="es-ES" dirty="0">
                <a:solidFill>
                  <a:schemeClr val="bg1"/>
                </a:solidFill>
              </a:rPr>
              <a:t>Menú de opciones</a:t>
            </a:r>
          </a:p>
          <a:p>
            <a:pPr marL="50800" indent="0">
              <a:lnSpc>
                <a:spcPct val="150000"/>
              </a:lnSpc>
              <a:buNone/>
            </a:pPr>
            <a:r>
              <a:rPr lang="es-ES" dirty="0">
                <a:solidFill>
                  <a:srgbClr val="CFC0EA"/>
                </a:solidFill>
              </a:rPr>
              <a:t>Usos </a:t>
            </a:r>
            <a:endParaRPr lang="en-US" dirty="0">
              <a:solidFill>
                <a:srgbClr val="CFC0EA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351F975-C197-2A72-70CE-B7B6F6E9A8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682191">
            <a:off x="2161145" y="2811194"/>
            <a:ext cx="1633870" cy="1926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519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2BA55FE4-70B9-E3D1-2BA4-C6609B7C8630}"/>
              </a:ext>
            </a:extLst>
          </p:cNvPr>
          <p:cNvGrpSpPr/>
          <p:nvPr/>
        </p:nvGrpSpPr>
        <p:grpSpPr>
          <a:xfrm>
            <a:off x="0" y="2216647"/>
            <a:ext cx="12191999" cy="3888296"/>
            <a:chOff x="0" y="1764587"/>
            <a:chExt cx="12191999" cy="3888296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F141B1B9-0A87-4100-FA91-B70D5449F9C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1766683"/>
              <a:ext cx="5829300" cy="3886200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1ADE19C-FA63-0AA2-C78A-99D00A7DD070}"/>
                </a:ext>
              </a:extLst>
            </p:cNvPr>
            <p:cNvSpPr/>
            <p:nvPr/>
          </p:nvSpPr>
          <p:spPr>
            <a:xfrm>
              <a:off x="3729518" y="1764587"/>
              <a:ext cx="8462481" cy="3886200"/>
            </a:xfrm>
            <a:prstGeom prst="rect">
              <a:avLst/>
            </a:prstGeom>
            <a:gradFill flip="none" rotWithShape="1">
              <a:gsLst>
                <a:gs pos="11000">
                  <a:srgbClr val="BCA9E1"/>
                </a:gs>
                <a:gs pos="0">
                  <a:srgbClr val="BBA8E0">
                    <a:alpha val="0"/>
                  </a:srgbClr>
                </a:gs>
                <a:gs pos="100000">
                  <a:srgbClr val="C2B1E5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B784D05-1AC9-B646-F2AC-752E8667D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Dudas de la clase anterior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9A348FF-AD66-26F7-F5F6-ED5CE27404F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6</a:t>
            </a:fld>
            <a:endParaRPr lang="es-PE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AA6A82-872A-49F1-14A6-7C412EBC9479}"/>
              </a:ext>
            </a:extLst>
          </p:cNvPr>
          <p:cNvSpPr txBox="1"/>
          <p:nvPr/>
        </p:nvSpPr>
        <p:spPr>
          <a:xfrm>
            <a:off x="48374" y="6284996"/>
            <a:ext cx="7493285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</a:t>
            </a:r>
          </a:p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https://media.istockphoto.com/id/1181209880/photo/portrait-of-her-she-nice-attractive-charming-lovely-creative-wavy-haired-girl-creating.jpg?s=612x612&amp;w=0&amp;k=20&amp;c=SVAHqs4Ye81WljXSdiuZD-IL4g-u4NJcPBPERIH4WPg=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59540DB-372F-E943-24FF-509A47C8BA61}"/>
              </a:ext>
            </a:extLst>
          </p:cNvPr>
          <p:cNvSpPr/>
          <p:nvPr/>
        </p:nvSpPr>
        <p:spPr>
          <a:xfrm>
            <a:off x="3508962" y="5357638"/>
            <a:ext cx="1586245" cy="697584"/>
          </a:xfrm>
          <a:prstGeom prst="roundRect">
            <a:avLst>
              <a:gd name="adj" fmla="val 50000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C7CA4F-C1B2-0E33-EF81-3E662584B9B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729518" y="2113907"/>
            <a:ext cx="7624282" cy="4003178"/>
          </a:xfrm>
        </p:spPr>
        <p:txBody>
          <a:bodyPr>
            <a:normAutofit/>
          </a:bodyPr>
          <a:lstStyle/>
          <a:p>
            <a:pPr marL="50800" indent="0">
              <a:lnSpc>
                <a:spcPct val="150000"/>
              </a:lnSpc>
              <a:buNone/>
            </a:pPr>
            <a:r>
              <a:rPr lang="es-ES" dirty="0">
                <a:solidFill>
                  <a:srgbClr val="CFC0EA"/>
                </a:solidFill>
              </a:rPr>
              <a:t>do-</a:t>
            </a:r>
            <a:r>
              <a:rPr lang="es-ES" dirty="0" err="1">
                <a:solidFill>
                  <a:srgbClr val="CFC0EA"/>
                </a:solidFill>
              </a:rPr>
              <a:t>while</a:t>
            </a:r>
            <a:endParaRPr lang="es-ES" dirty="0">
              <a:solidFill>
                <a:srgbClr val="CFC0EA"/>
              </a:solidFill>
            </a:endParaRPr>
          </a:p>
          <a:p>
            <a:pPr marL="50800" indent="0">
              <a:lnSpc>
                <a:spcPct val="150000"/>
              </a:lnSpc>
              <a:buNone/>
            </a:pPr>
            <a:r>
              <a:rPr lang="es-ES" dirty="0">
                <a:solidFill>
                  <a:srgbClr val="CFC0EA"/>
                </a:solidFill>
              </a:rPr>
              <a:t>Bucle infinito</a:t>
            </a:r>
          </a:p>
          <a:p>
            <a:pPr marL="50800" indent="0">
              <a:lnSpc>
                <a:spcPct val="150000"/>
              </a:lnSpc>
              <a:buNone/>
            </a:pPr>
            <a:r>
              <a:rPr lang="es-ES" dirty="0">
                <a:solidFill>
                  <a:srgbClr val="CFC0EA"/>
                </a:solidFill>
              </a:rPr>
              <a:t>Validador</a:t>
            </a:r>
          </a:p>
          <a:p>
            <a:pPr marL="50800" indent="0">
              <a:lnSpc>
                <a:spcPct val="150000"/>
              </a:lnSpc>
              <a:buNone/>
            </a:pPr>
            <a:r>
              <a:rPr lang="es-ES" dirty="0">
                <a:solidFill>
                  <a:srgbClr val="CFC0EA"/>
                </a:solidFill>
              </a:rPr>
              <a:t>Menú de opciones</a:t>
            </a:r>
          </a:p>
          <a:p>
            <a:pPr marL="50800" indent="0">
              <a:lnSpc>
                <a:spcPct val="150000"/>
              </a:lnSpc>
              <a:buNone/>
            </a:pPr>
            <a:r>
              <a:rPr lang="es-ES" dirty="0">
                <a:solidFill>
                  <a:schemeClr val="bg1"/>
                </a:solidFill>
              </a:rPr>
              <a:t>Usos</a:t>
            </a:r>
            <a:r>
              <a:rPr lang="es-ES" dirty="0">
                <a:solidFill>
                  <a:srgbClr val="CFC0EA"/>
                </a:solidFill>
              </a:rPr>
              <a:t> </a:t>
            </a:r>
            <a:endParaRPr lang="en-US" dirty="0">
              <a:solidFill>
                <a:srgbClr val="CFC0EA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9494FF4-82BE-071B-EDCA-6DB5B1EDB6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818251">
            <a:off x="1704667" y="1584539"/>
            <a:ext cx="1633870" cy="1926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2531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3B54F9E4-73EC-5803-C251-20C8EB58177E}"/>
              </a:ext>
            </a:extLst>
          </p:cNvPr>
          <p:cNvSpPr/>
          <p:nvPr/>
        </p:nvSpPr>
        <p:spPr>
          <a:xfrm>
            <a:off x="-9053" y="-13580"/>
            <a:ext cx="12201053" cy="6871580"/>
          </a:xfrm>
          <a:custGeom>
            <a:avLst/>
            <a:gdLst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85277"/>
              <a:gd name="connsiteY0" fmla="*/ 3802455 h 6871580"/>
              <a:gd name="connsiteX1" fmla="*/ 9190 w 12385277"/>
              <a:gd name="connsiteY1" fmla="*/ 6871580 h 6871580"/>
              <a:gd name="connsiteX2" fmla="*/ 9587756 w 12385277"/>
              <a:gd name="connsiteY2" fmla="*/ 6871580 h 6871580"/>
              <a:gd name="connsiteX3" fmla="*/ 12385277 w 12385277"/>
              <a:gd name="connsiteY3" fmla="*/ 2236205 h 6871580"/>
              <a:gd name="connsiteX4" fmla="*/ 12385277 w 12385277"/>
              <a:gd name="connsiteY4" fmla="*/ 0 h 6871580"/>
              <a:gd name="connsiteX5" fmla="*/ 8265950 w 12385277"/>
              <a:gd name="connsiteY5" fmla="*/ 0 h 6871580"/>
              <a:gd name="connsiteX6" fmla="*/ 0 w 12385277"/>
              <a:gd name="connsiteY6" fmla="*/ 3802455 h 6871580"/>
              <a:gd name="connsiteX0" fmla="*/ 0 w 12385277"/>
              <a:gd name="connsiteY0" fmla="*/ 3802455 h 6871580"/>
              <a:gd name="connsiteX1" fmla="*/ 9190 w 12385277"/>
              <a:gd name="connsiteY1" fmla="*/ 6871580 h 6871580"/>
              <a:gd name="connsiteX2" fmla="*/ 9587756 w 12385277"/>
              <a:gd name="connsiteY2" fmla="*/ 6871580 h 6871580"/>
              <a:gd name="connsiteX3" fmla="*/ 12385277 w 12385277"/>
              <a:gd name="connsiteY3" fmla="*/ 2236205 h 6871580"/>
              <a:gd name="connsiteX4" fmla="*/ 12385277 w 12385277"/>
              <a:gd name="connsiteY4" fmla="*/ 0 h 6871580"/>
              <a:gd name="connsiteX5" fmla="*/ 8265950 w 12385277"/>
              <a:gd name="connsiteY5" fmla="*/ 0 h 6871580"/>
              <a:gd name="connsiteX6" fmla="*/ 0 w 12385277"/>
              <a:gd name="connsiteY6" fmla="*/ 3802455 h 6871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385277" h="6871580">
                <a:moveTo>
                  <a:pt x="0" y="3802455"/>
                </a:moveTo>
                <a:cubicBezTo>
                  <a:pt x="3063" y="4825497"/>
                  <a:pt x="6127" y="5848538"/>
                  <a:pt x="9190" y="6871580"/>
                </a:cubicBezTo>
                <a:lnTo>
                  <a:pt x="9587756" y="6871580"/>
                </a:lnTo>
                <a:cubicBezTo>
                  <a:pt x="10869490" y="5444149"/>
                  <a:pt x="11976608" y="4197789"/>
                  <a:pt x="12385277" y="2236205"/>
                </a:cubicBezTo>
                <a:lnTo>
                  <a:pt x="12385277" y="0"/>
                </a:lnTo>
                <a:lnTo>
                  <a:pt x="8265950" y="0"/>
                </a:lnTo>
                <a:cubicBezTo>
                  <a:pt x="8656733" y="4324539"/>
                  <a:pt x="2283555" y="4855675"/>
                  <a:pt x="0" y="3802455"/>
                </a:cubicBezTo>
                <a:close/>
              </a:path>
            </a:pathLst>
          </a:custGeom>
          <a:blipFill dpi="0" rotWithShape="1">
            <a:blip r:embed="rId3">
              <a:alphaModFix amt="15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4600F7-1DA8-4B6F-94D5-F0D0A43E92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37398"/>
            <a:ext cx="9144000" cy="2858703"/>
          </a:xfrm>
        </p:spPr>
        <p:txBody>
          <a:bodyPr>
            <a:normAutofit/>
          </a:bodyPr>
          <a:lstStyle/>
          <a:p>
            <a:r>
              <a:rPr lang="es-ES" dirty="0">
                <a:latin typeface="Helvetica"/>
              </a:rPr>
              <a:t>Estructura Repetitiva </a:t>
            </a:r>
            <a:br>
              <a:rPr lang="es-ES" dirty="0">
                <a:latin typeface="Helvetica"/>
              </a:rPr>
            </a:br>
            <a:r>
              <a:rPr lang="es-ES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for</a:t>
            </a:r>
            <a:r>
              <a:rPr lang="es-ES" dirty="0">
                <a:latin typeface="Helvetica"/>
              </a:rPr>
              <a:t> (I)</a:t>
            </a:r>
            <a:endParaRPr lang="en-US" dirty="0"/>
          </a:p>
        </p:txBody>
      </p:sp>
      <p:sp>
        <p:nvSpPr>
          <p:cNvPr id="6" name="Subtítulo 5">
            <a:extLst>
              <a:ext uri="{FF2B5EF4-FFF2-40B4-BE49-F238E27FC236}">
                <a16:creationId xmlns:a16="http://schemas.microsoft.com/office/drawing/2014/main" id="{AE3FF010-161F-4C0C-96EF-DBBD1C857EC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endParaRPr lang="es-P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C616BAE-1AD3-82F8-2EF2-47A3A8DD53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4448" y="3303161"/>
            <a:ext cx="2072874" cy="2068736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8BD567C9-1797-3A8F-56BB-65165FEA62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4797" y="910687"/>
            <a:ext cx="2566287" cy="2633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0077C684-06B1-44CA-9235-D863CE038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Conocimientos previos</a:t>
            </a:r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D4DF39-413F-41FB-80F6-1CF57DEA76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8</a:t>
            </a:fld>
            <a:endParaRPr lang="es-P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F2340C-8AA3-8B1A-7CDE-78414DAAEDA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846263"/>
            <a:ext cx="7103805" cy="4373562"/>
          </a:xfrm>
        </p:spPr>
        <p:txBody>
          <a:bodyPr/>
          <a:lstStyle/>
          <a:p>
            <a:pPr marL="50800" indent="0">
              <a:buNone/>
            </a:pPr>
            <a:r>
              <a:rPr lang="es-ES" dirty="0"/>
              <a:t>Observa y responde:</a:t>
            </a:r>
          </a:p>
          <a:p>
            <a:r>
              <a:rPr lang="en-US" dirty="0"/>
              <a:t>¿Qué </a:t>
            </a:r>
            <a:r>
              <a:rPr lang="en-US" dirty="0" err="1"/>
              <a:t>muestran</a:t>
            </a:r>
            <a:r>
              <a:rPr lang="en-US" dirty="0"/>
              <a:t> las </a:t>
            </a:r>
            <a:r>
              <a:rPr lang="en-US" dirty="0" err="1"/>
              <a:t>imágenes</a:t>
            </a:r>
            <a:r>
              <a:rPr lang="en-US" dirty="0"/>
              <a:t>?</a:t>
            </a:r>
          </a:p>
          <a:p>
            <a:r>
              <a:rPr lang="en-US" dirty="0"/>
              <a:t>¿Qué se </a:t>
            </a:r>
            <a:r>
              <a:rPr lang="en-US" dirty="0" err="1"/>
              <a:t>repite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cada</a:t>
            </a:r>
            <a:r>
              <a:rPr lang="en-US" dirty="0"/>
              <a:t> </a:t>
            </a:r>
            <a:r>
              <a:rPr lang="en-US" dirty="0" err="1"/>
              <a:t>caso</a:t>
            </a:r>
            <a:r>
              <a:rPr lang="en-US" dirty="0"/>
              <a:t>?</a:t>
            </a:r>
          </a:p>
          <a:p>
            <a:r>
              <a:rPr lang="en-US" dirty="0"/>
              <a:t>¿Se </a:t>
            </a:r>
            <a:r>
              <a:rPr lang="en-US" dirty="0" err="1"/>
              <a:t>puede</a:t>
            </a:r>
            <a:r>
              <a:rPr lang="en-US" dirty="0"/>
              <a:t> </a:t>
            </a:r>
            <a:r>
              <a:rPr lang="en-US" dirty="0" err="1"/>
              <a:t>determinar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número</a:t>
            </a:r>
            <a:r>
              <a:rPr lang="en-US" dirty="0"/>
              <a:t> de </a:t>
            </a:r>
            <a:r>
              <a:rPr lang="en-US" dirty="0" err="1"/>
              <a:t>repeticiones</a:t>
            </a:r>
            <a:r>
              <a:rPr lang="en-US" dirty="0"/>
              <a:t>?</a:t>
            </a:r>
          </a:p>
          <a:p>
            <a:r>
              <a:rPr lang="en-US" dirty="0"/>
              <a:t>¿Qué </a:t>
            </a:r>
            <a:r>
              <a:rPr lang="en-US" dirty="0" err="1"/>
              <a:t>similitud</a:t>
            </a:r>
            <a:r>
              <a:rPr lang="en-US" dirty="0"/>
              <a:t> </a:t>
            </a:r>
            <a:r>
              <a:rPr lang="en-US" dirty="0" err="1"/>
              <a:t>tiene</a:t>
            </a:r>
            <a:r>
              <a:rPr lang="en-US" dirty="0"/>
              <a:t> con la </a:t>
            </a:r>
            <a:r>
              <a:rPr lang="en-US" dirty="0" err="1"/>
              <a:t>programación</a:t>
            </a:r>
            <a:r>
              <a:rPr lang="en-US" dirty="0"/>
              <a:t>?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FC214C31-51D4-8357-6936-08EBD3FE200D}"/>
              </a:ext>
            </a:extLst>
          </p:cNvPr>
          <p:cNvGrpSpPr/>
          <p:nvPr/>
        </p:nvGrpSpPr>
        <p:grpSpPr>
          <a:xfrm>
            <a:off x="7197876" y="4143350"/>
            <a:ext cx="2320506" cy="2317284"/>
            <a:chOff x="6577411" y="3210055"/>
            <a:chExt cx="2918714" cy="2914661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85D121F-A345-77F3-5C81-EB2A8ADA9F8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577411" y="3517074"/>
              <a:ext cx="2607642" cy="2607642"/>
            </a:xfrm>
            <a:prstGeom prst="rect">
              <a:avLst/>
            </a:prstGeom>
          </p:spPr>
        </p:pic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A34E7697-3F95-F35B-4E10-824EAA5C8DD1}"/>
                </a:ext>
              </a:extLst>
            </p:cNvPr>
            <p:cNvSpPr/>
            <p:nvPr/>
          </p:nvSpPr>
          <p:spPr>
            <a:xfrm>
              <a:off x="8572100" y="3210055"/>
              <a:ext cx="924025" cy="924025"/>
            </a:xfrm>
            <a:prstGeom prst="ellipse">
              <a:avLst/>
            </a:prstGeom>
            <a:solidFill>
              <a:srgbClr val="F01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2000" dirty="0"/>
                <a:t>19</a:t>
              </a:r>
              <a:endParaRPr lang="en-US" dirty="0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A32C63E1-C130-5D44-D90F-B699EECE90FE}"/>
              </a:ext>
            </a:extLst>
          </p:cNvPr>
          <p:cNvSpPr txBox="1"/>
          <p:nvPr/>
        </p:nvSpPr>
        <p:spPr>
          <a:xfrm>
            <a:off x="176979" y="6193611"/>
            <a:ext cx="7708491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900" dirty="0">
                <a:solidFill>
                  <a:schemeClr val="bg1">
                    <a:lumMod val="65000"/>
                  </a:schemeClr>
                </a:solidFill>
              </a:rPr>
              <a:t>Imagen obtenida de:</a:t>
            </a:r>
          </a:p>
          <a:p>
            <a:r>
              <a:rPr lang="es-ES" sz="900" dirty="0">
                <a:solidFill>
                  <a:schemeClr val="bg1">
                    <a:lumMod val="65000"/>
                  </a:schemeClr>
                </a:solidFill>
              </a:rPr>
              <a:t>https://cdn.fedweb.org/fed-16/2/calender.jpg​</a:t>
            </a:r>
          </a:p>
          <a:p>
            <a:r>
              <a:rPr lang="en-US" sz="900" dirty="0">
                <a:solidFill>
                  <a:schemeClr val="bg1">
                    <a:lumMod val="65000"/>
                  </a:schemeClr>
                </a:solidFill>
              </a:rPr>
              <a:t>https://global.discourse-cdn.com/codecademy/optimized/5X/3/e/e/4/3ee42e773ac6a8d937a25bf2c8e527c9a3cd72bc_2_501x500.jpeg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F7B0424-13E9-17D5-303C-3898AE35A5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938644" y="1045027"/>
            <a:ext cx="5253356" cy="525335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161FBA0-0CED-4DB2-9F90-291CADA87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Logro de aprendizaje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D37DCA-ED6E-428D-A48F-1565A2EA97A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846263"/>
            <a:ext cx="6105808" cy="4373562"/>
          </a:xfrm>
        </p:spPr>
        <p:txBody>
          <a:bodyPr/>
          <a:lstStyle/>
          <a:p>
            <a:pPr marL="50800" indent="0">
              <a:lnSpc>
                <a:spcPct val="100000"/>
              </a:lnSpc>
              <a:buNone/>
            </a:pPr>
            <a:r>
              <a:rPr lang="es-ES" dirty="0">
                <a:solidFill>
                  <a:srgbClr val="00B050"/>
                </a:solidFill>
              </a:rPr>
              <a:t>Al finalizar la sesión</a:t>
            </a:r>
            <a:r>
              <a:rPr lang="es-ES" dirty="0"/>
              <a:t>, </a:t>
            </a:r>
            <a:r>
              <a:rPr lang="es-ES" dirty="0">
                <a:solidFill>
                  <a:schemeClr val="accent2"/>
                </a:solidFill>
              </a:rPr>
              <a:t>el estudiante</a:t>
            </a:r>
            <a:r>
              <a:rPr lang="es-ES" dirty="0"/>
              <a:t> </a:t>
            </a:r>
            <a:r>
              <a:rPr lang="es-ES" dirty="0">
                <a:solidFill>
                  <a:schemeClr val="accent5"/>
                </a:solidFill>
              </a:rPr>
              <a:t>reconoce</a:t>
            </a:r>
            <a:r>
              <a:rPr lang="es-ES" dirty="0"/>
              <a:t> </a:t>
            </a:r>
            <a:r>
              <a:rPr lang="es-ES" dirty="0">
                <a:solidFill>
                  <a:schemeClr val="accent4"/>
                </a:solidFill>
              </a:rPr>
              <a:t>la estructura repetitiva </a:t>
            </a:r>
            <a:r>
              <a:rPr lang="es-ES" dirty="0" err="1">
                <a:solidFill>
                  <a:schemeClr val="accent4"/>
                </a:solidFill>
              </a:rPr>
              <a:t>for</a:t>
            </a:r>
            <a:r>
              <a:rPr lang="es-ES" dirty="0"/>
              <a:t> </a:t>
            </a:r>
            <a:r>
              <a:rPr lang="es-ES" dirty="0">
                <a:solidFill>
                  <a:srgbClr val="D3052C"/>
                </a:solidFill>
              </a:rPr>
              <a:t>mediante la realización de actividades </a:t>
            </a:r>
            <a:r>
              <a:rPr lang="es-ES" dirty="0">
                <a:solidFill>
                  <a:srgbClr val="7030A0"/>
                </a:solidFill>
              </a:rPr>
              <a:t>para resolver problemas sencillos que requieren que ciertas acciones se repitan.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BAA4A-C973-4872-991F-677E20FF8B8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9</a:t>
            </a:fld>
            <a:endParaRPr lang="es-P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ADFA50-2D5F-464F-91EF-0F1911F9CA8D}"/>
              </a:ext>
            </a:extLst>
          </p:cNvPr>
          <p:cNvSpPr txBox="1"/>
          <p:nvPr/>
        </p:nvSpPr>
        <p:spPr>
          <a:xfrm>
            <a:off x="126748" y="6376940"/>
            <a:ext cx="105835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solidFill>
                  <a:schemeClr val="accent3"/>
                </a:solidFill>
              </a:rPr>
              <a:t>Imagen </a:t>
            </a:r>
            <a:r>
              <a:rPr lang="en-US" sz="900" err="1">
                <a:solidFill>
                  <a:schemeClr val="accent3"/>
                </a:solidFill>
              </a:rPr>
              <a:t>obtenida</a:t>
            </a:r>
            <a:r>
              <a:rPr lang="en-US" sz="900">
                <a:solidFill>
                  <a:schemeClr val="accent3"/>
                </a:solidFill>
              </a:rPr>
              <a:t> de:</a:t>
            </a:r>
            <a:br>
              <a:rPr lang="en-US" sz="900">
                <a:solidFill>
                  <a:schemeClr val="accent3"/>
                </a:solidFill>
              </a:rPr>
            </a:br>
            <a:r>
              <a:rPr lang="en-US" sz="900">
                <a:solidFill>
                  <a:schemeClr val="accent3"/>
                </a:solidFill>
              </a:rPr>
              <a:t>https://img.freepik.com/free-vector/clever-man-student-standing-books-stack-with-flag-self-learning-personal-improvement-knowledge-obtaining-educational-achievement_335657-3461.jpg</a:t>
            </a:r>
          </a:p>
        </p:txBody>
      </p:sp>
    </p:spTree>
    <p:extLst>
      <p:ext uri="{BB962C8B-B14F-4D97-AF65-F5344CB8AC3E}">
        <p14:creationId xmlns:p14="http://schemas.microsoft.com/office/powerpoint/2010/main" val="2948176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B7613-AEC1-4435-8375-CCB96C0E8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2545"/>
            <a:ext cx="10515600" cy="785528"/>
          </a:xfrm>
        </p:spPr>
        <p:txBody>
          <a:bodyPr/>
          <a:lstStyle/>
          <a:p>
            <a:r>
              <a:rPr lang="es-ES" dirty="0"/>
              <a:t>Utilidad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4C16D3-358F-4224-9D29-22D3C58B568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10</a:t>
            </a:fld>
            <a:endParaRPr lang="es-PE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0B555DED-C1EC-199E-BD3B-E945F183DAD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362075"/>
            <a:ext cx="6024937" cy="3971905"/>
          </a:xfrm>
        </p:spPr>
        <p:txBody>
          <a:bodyPr>
            <a:normAutofit/>
          </a:bodyPr>
          <a:lstStyle/>
          <a:p>
            <a:pPr marL="50800" indent="0">
              <a:buNone/>
            </a:pPr>
            <a:r>
              <a:rPr lang="es-ES" sz="2400" dirty="0"/>
              <a:t>Observa y responde:</a:t>
            </a:r>
          </a:p>
          <a:p>
            <a:r>
              <a:rPr lang="es-ES" sz="2400" dirty="0"/>
              <a:t>¿Qué se muestra en la imagen?​</a:t>
            </a:r>
          </a:p>
          <a:p>
            <a:r>
              <a:rPr lang="es-ES" sz="2400" dirty="0"/>
              <a:t>¿Algo se repite? ​</a:t>
            </a:r>
          </a:p>
          <a:p>
            <a:r>
              <a:rPr lang="es-ES" sz="2400" dirty="0"/>
              <a:t>¿Hay algún contador o acumulador?​</a:t>
            </a:r>
          </a:p>
          <a:p>
            <a:r>
              <a:rPr lang="es-ES" sz="2400" dirty="0"/>
              <a:t>¿Se conoce el número de cuotas?</a:t>
            </a:r>
          </a:p>
          <a:p>
            <a:r>
              <a:rPr lang="es-ES" sz="2400" dirty="0"/>
              <a:t>¿Cómo te puede ayudar el uso de la estructura </a:t>
            </a:r>
            <a:r>
              <a:rPr lang="es-ES" sz="2400" b="1" dirty="0" err="1"/>
              <a:t>for</a:t>
            </a:r>
            <a:r>
              <a:rPr lang="es-ES" sz="2400" dirty="0"/>
              <a:t> en la elaboración de programa Java?</a:t>
            </a:r>
          </a:p>
          <a:p>
            <a:endParaRPr lang="es-ES" sz="24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498B822-51C5-52A1-4285-E6E96F77F7EE}"/>
              </a:ext>
            </a:extLst>
          </p:cNvPr>
          <p:cNvSpPr txBox="1"/>
          <p:nvPr/>
        </p:nvSpPr>
        <p:spPr>
          <a:xfrm>
            <a:off x="585754" y="5333980"/>
            <a:ext cx="723089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0">
              <a:buNone/>
            </a:pPr>
            <a:r>
              <a:rPr lang="en-US" sz="2800" dirty="0" err="1">
                <a:solidFill>
                  <a:srgbClr val="0E7D73"/>
                </a:solidFill>
                <a:latin typeface="Helvetica" pitchFamily="2" charset="0"/>
              </a:rPr>
              <a:t>Desarrollar</a:t>
            </a:r>
            <a:r>
              <a:rPr lang="en-US" sz="2800" dirty="0">
                <a:solidFill>
                  <a:srgbClr val="0E7D73"/>
                </a:solidFill>
                <a:latin typeface="Helvetica" pitchFamily="2" charset="0"/>
              </a:rPr>
              <a:t> </a:t>
            </a:r>
            <a:r>
              <a:rPr lang="en-US" sz="2800" dirty="0" err="1">
                <a:solidFill>
                  <a:srgbClr val="0E7D73"/>
                </a:solidFill>
                <a:latin typeface="Helvetica" pitchFamily="2" charset="0"/>
              </a:rPr>
              <a:t>programas</a:t>
            </a:r>
            <a:r>
              <a:rPr lang="en-US" sz="2800" dirty="0">
                <a:latin typeface="Helvetica" pitchFamily="2" charset="0"/>
              </a:rPr>
              <a:t> </a:t>
            </a:r>
            <a:r>
              <a:rPr lang="en-US" sz="2800" dirty="0" err="1">
                <a:solidFill>
                  <a:srgbClr val="CC7832"/>
                </a:solidFill>
                <a:latin typeface="Helvetica" pitchFamily="2" charset="0"/>
              </a:rPr>
              <a:t>utilizando</a:t>
            </a:r>
            <a:r>
              <a:rPr lang="en-US" sz="2800" dirty="0">
                <a:solidFill>
                  <a:srgbClr val="CC7832"/>
                </a:solidFill>
                <a:latin typeface="Helvetica" pitchFamily="2" charset="0"/>
              </a:rPr>
              <a:t> la </a:t>
            </a:r>
            <a:r>
              <a:rPr lang="en-US" sz="2800" dirty="0" err="1">
                <a:solidFill>
                  <a:srgbClr val="CC7832"/>
                </a:solidFill>
                <a:latin typeface="Helvetica" pitchFamily="2" charset="0"/>
              </a:rPr>
              <a:t>estructura</a:t>
            </a:r>
            <a:r>
              <a:rPr lang="en-US" sz="2800" dirty="0">
                <a:solidFill>
                  <a:srgbClr val="CC7832"/>
                </a:solidFill>
                <a:latin typeface="Helvetica" pitchFamily="2" charset="0"/>
              </a:rPr>
              <a:t> </a:t>
            </a:r>
            <a:r>
              <a:rPr lang="en-US" sz="2800" dirty="0" err="1">
                <a:solidFill>
                  <a:srgbClr val="CC7832"/>
                </a:solidFill>
                <a:latin typeface="Helvetica" pitchFamily="2" charset="0"/>
              </a:rPr>
              <a:t>repetitiva</a:t>
            </a:r>
            <a:r>
              <a:rPr lang="en-US" sz="2800" dirty="0">
                <a:solidFill>
                  <a:srgbClr val="CC7832"/>
                </a:solidFill>
                <a:latin typeface="Helvetica" pitchFamily="2" charset="0"/>
              </a:rPr>
              <a:t> for </a:t>
            </a:r>
            <a:r>
              <a:rPr lang="en-US" sz="2800" dirty="0" err="1">
                <a:latin typeface="Helvetica" pitchFamily="2" charset="0"/>
              </a:rPr>
              <a:t>en</a:t>
            </a:r>
            <a:r>
              <a:rPr lang="en-US" sz="2800" dirty="0">
                <a:latin typeface="Helvetica" pitchFamily="2" charset="0"/>
              </a:rPr>
              <a:t> Java.</a:t>
            </a:r>
            <a:endParaRPr lang="es-ES" sz="2800" dirty="0">
              <a:latin typeface="Helvetica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4E3CA2-FB22-6FCF-62A8-8785D655A726}"/>
              </a:ext>
            </a:extLst>
          </p:cNvPr>
          <p:cNvSpPr txBox="1"/>
          <p:nvPr/>
        </p:nvSpPr>
        <p:spPr>
          <a:xfrm>
            <a:off x="248266" y="6490643"/>
            <a:ext cx="6096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 https://www.philscomputerlab.com/uploads/3/7/2/3/37231621/6532844_orig.png</a:t>
            </a:r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2F793434-F80B-2B28-674B-4B505C3B8A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9021" y="1314598"/>
            <a:ext cx="4668650" cy="3816826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2465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C6B983-D187-5021-011D-340D9A6463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11</a:t>
            </a:fld>
            <a:endParaRPr lang="es-PE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D8EC2C4-D534-A87E-5305-9BD92B9838D9}"/>
              </a:ext>
            </a:extLst>
          </p:cNvPr>
          <p:cNvGrpSpPr/>
          <p:nvPr/>
        </p:nvGrpSpPr>
        <p:grpSpPr>
          <a:xfrm>
            <a:off x="1955128" y="892964"/>
            <a:ext cx="4629752" cy="1015663"/>
            <a:chOff x="924025" y="1526961"/>
            <a:chExt cx="4629752" cy="101566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FE41E11-2903-D4AD-BABB-046EDBE4AABD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1B5E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FB12F7A-F286-0B30-D30E-E9A916CC839B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Estructura repetitiva </a:t>
              </a:r>
              <a:br>
                <a:rPr lang="es-ES" dirty="0">
                  <a:solidFill>
                    <a:schemeClr val="bg1"/>
                  </a:solidFill>
                  <a:latin typeface="Helvetica" pitchFamily="2" charset="0"/>
                </a:rPr>
              </a:br>
              <a:r>
                <a:rPr lang="es-ES" dirty="0" err="1">
                  <a:solidFill>
                    <a:schemeClr val="bg1"/>
                  </a:solidFill>
                  <a:latin typeface="Helvetica" pitchFamily="2" charset="0"/>
                </a:rPr>
                <a:t>for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3EEA1CE-79B2-915B-2C77-2F1212A1BF67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1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30C6426-CF18-244B-D9EC-4576E393467C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4C62550A-9487-0FB4-AEF5-18BF59D1D1BB}"/>
              </a:ext>
            </a:extLst>
          </p:cNvPr>
          <p:cNvGrpSpPr/>
          <p:nvPr/>
        </p:nvGrpSpPr>
        <p:grpSpPr>
          <a:xfrm>
            <a:off x="1955128" y="1782509"/>
            <a:ext cx="4629752" cy="1015663"/>
            <a:chOff x="924025" y="1526961"/>
            <a:chExt cx="4629752" cy="10156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9EE3C4A-25E0-0661-5719-DFD8A408196E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0E7D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F03E694-3539-B74F-A7F9-A90BF4FC7172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Contador interno (progresivo y regresivo)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0BD6589-A9C6-D2FD-D50D-C5AAC8113E8A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2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E0265B7-9BAF-D770-6E56-5AE1A9C41973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598A8C9-355C-B375-F419-53EB7FBA52CF}"/>
              </a:ext>
            </a:extLst>
          </p:cNvPr>
          <p:cNvGrpSpPr/>
          <p:nvPr/>
        </p:nvGrpSpPr>
        <p:grpSpPr>
          <a:xfrm>
            <a:off x="1955128" y="2672054"/>
            <a:ext cx="4629752" cy="1015663"/>
            <a:chOff x="924025" y="1526961"/>
            <a:chExt cx="4629752" cy="101566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68C5937-AEC8-D4AC-1863-47EC6A0DD5D7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758F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B9DA0B8-3305-EA9B-D50C-133423FA16B6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Variaciones del bucle </a:t>
              </a:r>
              <a:r>
                <a:rPr lang="es-ES" dirty="0" err="1">
                  <a:solidFill>
                    <a:schemeClr val="bg1"/>
                  </a:solidFill>
                  <a:latin typeface="Helvetica" pitchFamily="2" charset="0"/>
                </a:rPr>
                <a:t>for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719D950-4EA4-CB17-5AF9-0E716D1D0C97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3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DB44CEB-5449-91C4-4D8C-947E50150B6A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25B4B5B-713C-2D58-C773-D4CFF9997391}"/>
              </a:ext>
            </a:extLst>
          </p:cNvPr>
          <p:cNvGrpSpPr/>
          <p:nvPr/>
        </p:nvGrpSpPr>
        <p:grpSpPr>
          <a:xfrm>
            <a:off x="1955128" y="3561599"/>
            <a:ext cx="4629752" cy="1015663"/>
            <a:chOff x="924025" y="1526961"/>
            <a:chExt cx="4629752" cy="1015663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5F2FB8B-07D6-48FB-E370-38EA16365289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BA750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28AFDEB-1E73-3FEA-2DFF-DBAF08C0A2B6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Práctica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02F77E9-2E11-217F-40EC-8E3C7703B3BB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4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69D5F82-C60A-5B84-5E19-A1B153065B8D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B32F08B-E599-8764-EE5E-B3C48CE274CF}"/>
              </a:ext>
            </a:extLst>
          </p:cNvPr>
          <p:cNvSpPr txBox="1"/>
          <p:nvPr/>
        </p:nvSpPr>
        <p:spPr>
          <a:xfrm rot="16200000">
            <a:off x="-1552306" y="2760043"/>
            <a:ext cx="559961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800" b="1">
                <a:solidFill>
                  <a:schemeClr val="bg1">
                    <a:lumMod val="85000"/>
                  </a:schemeClr>
                </a:solidFill>
                <a:latin typeface="Helvetica" pitchFamily="2" charset="0"/>
              </a:rPr>
              <a:t>contenido</a:t>
            </a:r>
            <a:endParaRPr lang="en-US" sz="8800" b="1">
              <a:solidFill>
                <a:schemeClr val="bg1">
                  <a:lumMod val="85000"/>
                </a:schemeClr>
              </a:soli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4082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C6B983-D187-5021-011D-340D9A6463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12</a:t>
            </a:fld>
            <a:endParaRPr lang="es-PE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C62550A-9487-0FB4-AEF5-18BF59D1D1BB}"/>
              </a:ext>
            </a:extLst>
          </p:cNvPr>
          <p:cNvGrpSpPr/>
          <p:nvPr/>
        </p:nvGrpSpPr>
        <p:grpSpPr>
          <a:xfrm>
            <a:off x="1955128" y="1782509"/>
            <a:ext cx="4629752" cy="1015663"/>
            <a:chOff x="924025" y="1526961"/>
            <a:chExt cx="4629752" cy="10156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9EE3C4A-25E0-0661-5719-DFD8A408196E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0E7D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F03E694-3539-B74F-A7F9-A90BF4FC7172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Contador interno (progresivo y regresivo)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0BD6589-A9C6-D2FD-D50D-C5AAC8113E8A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2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E0265B7-9BAF-D770-6E56-5AE1A9C41973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598A8C9-355C-B375-F419-53EB7FBA52CF}"/>
              </a:ext>
            </a:extLst>
          </p:cNvPr>
          <p:cNvGrpSpPr/>
          <p:nvPr/>
        </p:nvGrpSpPr>
        <p:grpSpPr>
          <a:xfrm>
            <a:off x="1955128" y="2672054"/>
            <a:ext cx="4629752" cy="1015663"/>
            <a:chOff x="924025" y="1526961"/>
            <a:chExt cx="4629752" cy="101566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68C5937-AEC8-D4AC-1863-47EC6A0DD5D7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758F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B9DA0B8-3305-EA9B-D50C-133423FA16B6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Variaciones del bucle </a:t>
              </a:r>
              <a:r>
                <a:rPr lang="es-ES" dirty="0" err="1">
                  <a:solidFill>
                    <a:schemeClr val="bg1"/>
                  </a:solidFill>
                  <a:latin typeface="Helvetica" pitchFamily="2" charset="0"/>
                </a:rPr>
                <a:t>for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719D950-4EA4-CB17-5AF9-0E716D1D0C97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3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DB44CEB-5449-91C4-4D8C-947E50150B6A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25B4B5B-713C-2D58-C773-D4CFF9997391}"/>
              </a:ext>
            </a:extLst>
          </p:cNvPr>
          <p:cNvGrpSpPr/>
          <p:nvPr/>
        </p:nvGrpSpPr>
        <p:grpSpPr>
          <a:xfrm>
            <a:off x="1955128" y="3561599"/>
            <a:ext cx="4629752" cy="1015663"/>
            <a:chOff x="924025" y="1526961"/>
            <a:chExt cx="4629752" cy="1015663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5F2FB8B-07D6-48FB-E370-38EA16365289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BA750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28AFDEB-1E73-3FEA-2DFF-DBAF08C0A2B6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Práctica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02F77E9-2E11-217F-40EC-8E3C7703B3BB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4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69D5F82-C60A-5B84-5E19-A1B153065B8D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B32F08B-E599-8764-EE5E-B3C48CE274CF}"/>
              </a:ext>
            </a:extLst>
          </p:cNvPr>
          <p:cNvSpPr txBox="1"/>
          <p:nvPr/>
        </p:nvSpPr>
        <p:spPr>
          <a:xfrm rot="16200000">
            <a:off x="-1552306" y="2760043"/>
            <a:ext cx="559961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800" b="1">
                <a:solidFill>
                  <a:schemeClr val="bg1">
                    <a:lumMod val="85000"/>
                  </a:schemeClr>
                </a:solidFill>
                <a:latin typeface="Helvetica" pitchFamily="2" charset="0"/>
              </a:rPr>
              <a:t>contenido</a:t>
            </a:r>
            <a:endParaRPr lang="en-US" sz="8800" b="1">
              <a:solidFill>
                <a:schemeClr val="bg1">
                  <a:lumMod val="85000"/>
                </a:schemeClr>
              </a:solidFill>
              <a:latin typeface="Helvetica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F24B97A-6631-C486-8F0D-EA635CE80419}"/>
              </a:ext>
            </a:extLst>
          </p:cNvPr>
          <p:cNvSpPr/>
          <p:nvPr/>
        </p:nvSpPr>
        <p:spPr>
          <a:xfrm>
            <a:off x="1801640" y="683513"/>
            <a:ext cx="9678154" cy="5599610"/>
          </a:xfrm>
          <a:prstGeom prst="rect">
            <a:avLst/>
          </a:prstGeom>
          <a:solidFill>
            <a:schemeClr val="bg1">
              <a:alpha val="8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D8EC2C4-D534-A87E-5305-9BD92B9838D9}"/>
              </a:ext>
            </a:extLst>
          </p:cNvPr>
          <p:cNvGrpSpPr/>
          <p:nvPr/>
        </p:nvGrpSpPr>
        <p:grpSpPr>
          <a:xfrm>
            <a:off x="1955128" y="892964"/>
            <a:ext cx="4629752" cy="1015663"/>
            <a:chOff x="924025" y="1526961"/>
            <a:chExt cx="4629752" cy="101566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FE41E11-2903-D4AD-BABB-046EDBE4AABD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1B5E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FB12F7A-F286-0B30-D30E-E9A916CC839B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Estructura repetitiva </a:t>
              </a:r>
              <a:br>
                <a:rPr lang="es-ES" dirty="0">
                  <a:solidFill>
                    <a:schemeClr val="bg1"/>
                  </a:solidFill>
                  <a:latin typeface="Helvetica" pitchFamily="2" charset="0"/>
                </a:rPr>
              </a:br>
              <a:r>
                <a:rPr lang="es-ES" dirty="0" err="1">
                  <a:solidFill>
                    <a:schemeClr val="bg1"/>
                  </a:solidFill>
                  <a:latin typeface="Helvetica" pitchFamily="2" charset="0"/>
                </a:rPr>
                <a:t>for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3EEA1CE-79B2-915B-2C77-2F1212A1BF67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1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30C6426-CF18-244B-D9EC-4576E393467C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53573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971AF-5065-BBBC-D752-E9B5F95FF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Bucle </a:t>
            </a:r>
            <a:r>
              <a:rPr lang="es-ES" dirty="0" err="1"/>
              <a:t>for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F22161D-97F4-5C0C-FBEC-7D6B442B846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963028" y="6185984"/>
            <a:ext cx="2743200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13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CE59E8-E3E0-0380-549E-626FA57B540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199" y="1846263"/>
            <a:ext cx="6188256" cy="4373562"/>
          </a:xfrm>
        </p:spPr>
        <p:txBody>
          <a:bodyPr>
            <a:normAutofit/>
          </a:bodyPr>
          <a:lstStyle/>
          <a:p>
            <a:r>
              <a:rPr lang="es-ES" dirty="0"/>
              <a:t>En su forma general, la estructura repetitiva </a:t>
            </a:r>
            <a:r>
              <a:rPr lang="es-ES" b="1" dirty="0" err="1">
                <a:solidFill>
                  <a:schemeClr val="accent2"/>
                </a:solidFill>
              </a:rPr>
              <a:t>for</a:t>
            </a:r>
            <a:r>
              <a:rPr lang="es-ES" dirty="0"/>
              <a:t> permite ejecutar las acciones un número de veces previamente conocido.</a:t>
            </a:r>
          </a:p>
          <a:p>
            <a:r>
              <a:rPr lang="es-ES" dirty="0"/>
              <a:t>Alternativamente, el bucle se puede ejecutar un número indeterminado de veces, mientras la condición sea verdadera.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AFF289D-D390-5132-8CFA-CE170B922965}"/>
              </a:ext>
            </a:extLst>
          </p:cNvPr>
          <p:cNvGrpSpPr/>
          <p:nvPr/>
        </p:nvGrpSpPr>
        <p:grpSpPr>
          <a:xfrm>
            <a:off x="838200" y="-45064"/>
            <a:ext cx="4629752" cy="1015663"/>
            <a:chOff x="924025" y="1526961"/>
            <a:chExt cx="4629752" cy="101566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41817A4-E157-5C8B-6D93-8A4CB9C76B69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1B5E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2E08BE3-3DD1-06F3-4B27-62FFC4688193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Estructura repetitiva </a:t>
              </a:r>
              <a:br>
                <a:rPr lang="es-ES" dirty="0">
                  <a:solidFill>
                    <a:schemeClr val="bg1"/>
                  </a:solidFill>
                  <a:latin typeface="Helvetica" pitchFamily="2" charset="0"/>
                </a:rPr>
              </a:br>
              <a:r>
                <a:rPr lang="es-ES" dirty="0" err="1">
                  <a:solidFill>
                    <a:schemeClr val="bg1"/>
                  </a:solidFill>
                  <a:latin typeface="Helvetica" pitchFamily="2" charset="0"/>
                </a:rPr>
                <a:t>for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E991D40-FF73-5A55-1E1E-390096E505E0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1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F5C104B-2912-E1B7-711F-581D0BFDE1A5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69104BEA-B41E-CF7F-7486-7936601F1A55}"/>
              </a:ext>
            </a:extLst>
          </p:cNvPr>
          <p:cNvGrpSpPr/>
          <p:nvPr/>
        </p:nvGrpSpPr>
        <p:grpSpPr>
          <a:xfrm>
            <a:off x="7360884" y="333662"/>
            <a:ext cx="3726215" cy="6291066"/>
            <a:chOff x="7360884" y="333662"/>
            <a:chExt cx="3726215" cy="6291066"/>
          </a:xfrm>
        </p:grpSpPr>
        <p:sp>
          <p:nvSpPr>
            <p:cNvPr id="25" name="Arrow: Down 24">
              <a:extLst>
                <a:ext uri="{FF2B5EF4-FFF2-40B4-BE49-F238E27FC236}">
                  <a16:creationId xmlns:a16="http://schemas.microsoft.com/office/drawing/2014/main" id="{45B477E5-3508-FC51-6344-89E794CFBD1C}"/>
                </a:ext>
              </a:extLst>
            </p:cNvPr>
            <p:cNvSpPr/>
            <p:nvPr/>
          </p:nvSpPr>
          <p:spPr>
            <a:xfrm>
              <a:off x="9216553" y="333662"/>
              <a:ext cx="236589" cy="454448"/>
            </a:xfrm>
            <a:prstGeom prst="downArrow">
              <a:avLst>
                <a:gd name="adj1" fmla="val 28012"/>
                <a:gd name="adj2" fmla="val 64992"/>
              </a:avLst>
            </a:prstGeom>
            <a:solidFill>
              <a:schemeClr val="bg1">
                <a:lumMod val="5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6" name="Arrow: Down 25">
              <a:extLst>
                <a:ext uri="{FF2B5EF4-FFF2-40B4-BE49-F238E27FC236}">
                  <a16:creationId xmlns:a16="http://schemas.microsoft.com/office/drawing/2014/main" id="{87F99FF4-E44E-C6F7-C05E-8B190F9DEBAC}"/>
                </a:ext>
              </a:extLst>
            </p:cNvPr>
            <p:cNvSpPr/>
            <p:nvPr/>
          </p:nvSpPr>
          <p:spPr>
            <a:xfrm>
              <a:off x="9216553" y="1309724"/>
              <a:ext cx="236589" cy="454448"/>
            </a:xfrm>
            <a:prstGeom prst="downArrow">
              <a:avLst>
                <a:gd name="adj1" fmla="val 28012"/>
                <a:gd name="adj2" fmla="val 64992"/>
              </a:avLst>
            </a:prstGeom>
            <a:solidFill>
              <a:schemeClr val="bg1">
                <a:lumMod val="5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7" name="Arrow: Down 26">
              <a:extLst>
                <a:ext uri="{FF2B5EF4-FFF2-40B4-BE49-F238E27FC236}">
                  <a16:creationId xmlns:a16="http://schemas.microsoft.com/office/drawing/2014/main" id="{A551B9E5-3882-790B-8E30-03CA112DD2AB}"/>
                </a:ext>
              </a:extLst>
            </p:cNvPr>
            <p:cNvSpPr/>
            <p:nvPr/>
          </p:nvSpPr>
          <p:spPr>
            <a:xfrm>
              <a:off x="9216553" y="3522484"/>
              <a:ext cx="236589" cy="360855"/>
            </a:xfrm>
            <a:prstGeom prst="downArrow">
              <a:avLst>
                <a:gd name="adj1" fmla="val 28012"/>
                <a:gd name="adj2" fmla="val 64992"/>
              </a:avLst>
            </a:prstGeom>
            <a:solidFill>
              <a:schemeClr val="bg1">
                <a:lumMod val="5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8" name="Arrow: Down 27">
              <a:extLst>
                <a:ext uri="{FF2B5EF4-FFF2-40B4-BE49-F238E27FC236}">
                  <a16:creationId xmlns:a16="http://schemas.microsoft.com/office/drawing/2014/main" id="{2303723B-3051-EB02-4F78-22F3269DB031}"/>
                </a:ext>
              </a:extLst>
            </p:cNvPr>
            <p:cNvSpPr/>
            <p:nvPr/>
          </p:nvSpPr>
          <p:spPr>
            <a:xfrm>
              <a:off x="9216553" y="4406612"/>
              <a:ext cx="236589" cy="454448"/>
            </a:xfrm>
            <a:prstGeom prst="downArrow">
              <a:avLst>
                <a:gd name="adj1" fmla="val 28012"/>
                <a:gd name="adj2" fmla="val 64992"/>
              </a:avLst>
            </a:prstGeom>
            <a:solidFill>
              <a:schemeClr val="bg1">
                <a:lumMod val="5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9" name="Arrow: U-Turn 28">
              <a:extLst>
                <a:ext uri="{FF2B5EF4-FFF2-40B4-BE49-F238E27FC236}">
                  <a16:creationId xmlns:a16="http://schemas.microsoft.com/office/drawing/2014/main" id="{4BBB67A6-D19C-9203-8B33-9FD4D1DAAB96}"/>
                </a:ext>
              </a:extLst>
            </p:cNvPr>
            <p:cNvSpPr/>
            <p:nvPr/>
          </p:nvSpPr>
          <p:spPr>
            <a:xfrm rot="16200000">
              <a:off x="6528567" y="3357970"/>
              <a:ext cx="2703572" cy="1038937"/>
            </a:xfrm>
            <a:prstGeom prst="uturnArrow">
              <a:avLst>
                <a:gd name="adj1" fmla="val 7714"/>
                <a:gd name="adj2" fmla="val 13554"/>
                <a:gd name="adj3" fmla="val 15809"/>
                <a:gd name="adj4" fmla="val 25454"/>
                <a:gd name="adj5" fmla="val 100000"/>
              </a:avLst>
            </a:prstGeom>
            <a:solidFill>
              <a:schemeClr val="bg1">
                <a:lumMod val="5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1" name="Arrow: Bent 30">
              <a:extLst>
                <a:ext uri="{FF2B5EF4-FFF2-40B4-BE49-F238E27FC236}">
                  <a16:creationId xmlns:a16="http://schemas.microsoft.com/office/drawing/2014/main" id="{1BE9FA3F-C011-69DF-DCE1-EEDE5E875C76}"/>
                </a:ext>
              </a:extLst>
            </p:cNvPr>
            <p:cNvSpPr/>
            <p:nvPr/>
          </p:nvSpPr>
          <p:spPr>
            <a:xfrm rot="16200000" flipH="1">
              <a:off x="9390689" y="5680790"/>
              <a:ext cx="759005" cy="1128872"/>
            </a:xfrm>
            <a:prstGeom prst="bentArrow">
              <a:avLst>
                <a:gd name="adj1" fmla="val 10359"/>
                <a:gd name="adj2" fmla="val 17470"/>
                <a:gd name="adj3" fmla="val 25000"/>
                <a:gd name="adj4" fmla="val 43750"/>
              </a:avLst>
            </a:prstGeom>
            <a:solidFill>
              <a:schemeClr val="bg1">
                <a:lumMod val="5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0" name="Arrow: U-Turn 29">
              <a:extLst>
                <a:ext uri="{FF2B5EF4-FFF2-40B4-BE49-F238E27FC236}">
                  <a16:creationId xmlns:a16="http://schemas.microsoft.com/office/drawing/2014/main" id="{3780C802-ACAE-524C-63A5-3C6BB837ABE2}"/>
                </a:ext>
              </a:extLst>
            </p:cNvPr>
            <p:cNvSpPr/>
            <p:nvPr/>
          </p:nvSpPr>
          <p:spPr>
            <a:xfrm rot="5400000">
              <a:off x="8951987" y="3894213"/>
              <a:ext cx="3379846" cy="890379"/>
            </a:xfrm>
            <a:prstGeom prst="uturnArrow">
              <a:avLst>
                <a:gd name="adj1" fmla="val 8784"/>
                <a:gd name="adj2" fmla="val 13554"/>
                <a:gd name="adj3" fmla="val 20226"/>
                <a:gd name="adj4" fmla="val 25454"/>
                <a:gd name="adj5" fmla="val 100000"/>
              </a:avLst>
            </a:prstGeom>
            <a:solidFill>
              <a:schemeClr val="bg1">
                <a:lumMod val="5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E41BAFC1-E561-FFB0-831A-FC2C98C21564}"/>
                </a:ext>
              </a:extLst>
            </p:cNvPr>
            <p:cNvSpPr/>
            <p:nvPr/>
          </p:nvSpPr>
          <p:spPr>
            <a:xfrm>
              <a:off x="8021012" y="777715"/>
              <a:ext cx="2627671" cy="629265"/>
            </a:xfrm>
            <a:prstGeom prst="roundRect">
              <a:avLst/>
            </a:prstGeom>
            <a:solidFill>
              <a:srgbClr val="758F3A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dirty="0"/>
                <a:t>Expresión de inicialización</a:t>
              </a:r>
              <a:endParaRPr lang="en-US" dirty="0"/>
            </a:p>
          </p:txBody>
        </p:sp>
        <p:sp>
          <p:nvSpPr>
            <p:cNvPr id="6" name="Diamond 5">
              <a:extLst>
                <a:ext uri="{FF2B5EF4-FFF2-40B4-BE49-F238E27FC236}">
                  <a16:creationId xmlns:a16="http://schemas.microsoft.com/office/drawing/2014/main" id="{909C7BFC-14C6-FCC2-BF14-ECCA2F29F7AF}"/>
                </a:ext>
              </a:extLst>
            </p:cNvPr>
            <p:cNvSpPr/>
            <p:nvPr/>
          </p:nvSpPr>
          <p:spPr>
            <a:xfrm>
              <a:off x="8410615" y="1748547"/>
              <a:ext cx="1848465" cy="1848465"/>
            </a:xfrm>
            <a:prstGeom prst="diamond">
              <a:avLst/>
            </a:prstGeom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s-ES" dirty="0"/>
                <a:t>condición</a:t>
              </a:r>
              <a:endParaRPr lang="en-US" dirty="0"/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741FB358-3D8E-199D-FA63-380AF2948755}"/>
                </a:ext>
              </a:extLst>
            </p:cNvPr>
            <p:cNvSpPr/>
            <p:nvPr/>
          </p:nvSpPr>
          <p:spPr>
            <a:xfrm>
              <a:off x="8021012" y="3889117"/>
              <a:ext cx="2627671" cy="629265"/>
            </a:xfrm>
            <a:prstGeom prst="roundRect">
              <a:avLst/>
            </a:prstGeom>
            <a:solidFill>
              <a:srgbClr val="CC783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dirty="0"/>
                <a:t>Cuerpo del bucle</a:t>
              </a:r>
              <a:endParaRPr lang="en-US" dirty="0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BE5D6B95-821C-796E-E74B-2EDD6613A14E}"/>
                </a:ext>
              </a:extLst>
            </p:cNvPr>
            <p:cNvSpPr/>
            <p:nvPr/>
          </p:nvSpPr>
          <p:spPr>
            <a:xfrm>
              <a:off x="8021012" y="4847610"/>
              <a:ext cx="2627671" cy="629265"/>
            </a:xfrm>
            <a:prstGeom prst="round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dirty="0"/>
                <a:t>Expresión de iteración</a:t>
              </a:r>
              <a:endParaRPr lang="en-US" dirty="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9F24A538-D49B-A473-ED85-611DFA7C0920}"/>
                </a:ext>
              </a:extLst>
            </p:cNvPr>
            <p:cNvSpPr txBox="1"/>
            <p:nvPr/>
          </p:nvSpPr>
          <p:spPr>
            <a:xfrm>
              <a:off x="10310395" y="2322921"/>
              <a:ext cx="56297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dirty="0">
                  <a:solidFill>
                    <a:srgbClr val="FF0000"/>
                  </a:solidFill>
                </a:rPr>
                <a:t>false</a:t>
              </a:r>
              <a:endParaRPr lang="en-US" dirty="0">
                <a:solidFill>
                  <a:srgbClr val="FF0000"/>
                </a:solidFill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26AD11CF-C970-34AB-733D-1C01146D40E5}"/>
                </a:ext>
              </a:extLst>
            </p:cNvPr>
            <p:cNvSpPr txBox="1"/>
            <p:nvPr/>
          </p:nvSpPr>
          <p:spPr>
            <a:xfrm>
              <a:off x="9523969" y="3479934"/>
              <a:ext cx="49244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dirty="0">
                  <a:solidFill>
                    <a:srgbClr val="00B050"/>
                  </a:solidFill>
                </a:rPr>
                <a:t>true</a:t>
              </a:r>
              <a:endParaRPr lang="en-US" dirty="0">
                <a:solidFill>
                  <a:srgbClr val="00B050"/>
                </a:solidFill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9D86D8DB-62F4-6F06-8E54-8AD85CBBF0A4}"/>
                </a:ext>
              </a:extLst>
            </p:cNvPr>
            <p:cNvSpPr txBox="1"/>
            <p:nvPr/>
          </p:nvSpPr>
          <p:spPr>
            <a:xfrm>
              <a:off x="8068394" y="5992308"/>
              <a:ext cx="109998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dirty="0">
                  <a:solidFill>
                    <a:schemeClr val="bg1">
                      <a:lumMod val="50000"/>
                    </a:schemeClr>
                  </a:solidFill>
                </a:rPr>
                <a:t>fin de bucle</a:t>
              </a:r>
              <a:endParaRPr 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31443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971AF-5065-BBBC-D752-E9B5F95FF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Bucle </a:t>
            </a:r>
            <a:r>
              <a:rPr lang="es-ES" dirty="0" err="1"/>
              <a:t>for</a:t>
            </a:r>
            <a:r>
              <a:rPr lang="es-ES" dirty="0"/>
              <a:t> en Java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F22161D-97F4-5C0C-FBEC-7D6B442B846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14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CE59E8-E3E0-0380-549E-626FA57B540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846263"/>
            <a:ext cx="6572250" cy="4373562"/>
          </a:xfrm>
        </p:spPr>
        <p:txBody>
          <a:bodyPr>
            <a:normAutofit/>
          </a:bodyPr>
          <a:lstStyle/>
          <a:p>
            <a:r>
              <a:rPr lang="es-ES" dirty="0"/>
              <a:t>Hay dos tipos de bucle </a:t>
            </a:r>
            <a:r>
              <a:rPr lang="es-ES" b="1" dirty="0" err="1">
                <a:solidFill>
                  <a:schemeClr val="accent2"/>
                </a:solidFill>
              </a:rPr>
              <a:t>for</a:t>
            </a:r>
            <a:r>
              <a:rPr lang="es-ES" dirty="0"/>
              <a:t>:</a:t>
            </a:r>
          </a:p>
          <a:p>
            <a:pPr lvl="1"/>
            <a:r>
              <a:rPr lang="es-ES" dirty="0"/>
              <a:t>La forma tradicional, existente desde la versión original de Java.</a:t>
            </a:r>
          </a:p>
          <a:p>
            <a:pPr lvl="1"/>
            <a:r>
              <a:rPr lang="es-ES" dirty="0"/>
              <a:t>El nuevo </a:t>
            </a:r>
            <a:r>
              <a:rPr lang="es-ES" b="1" dirty="0" err="1">
                <a:solidFill>
                  <a:schemeClr val="accent2"/>
                </a:solidFill>
              </a:rPr>
              <a:t>for-each</a:t>
            </a:r>
            <a:r>
              <a:rPr lang="es-ES" dirty="0"/>
              <a:t>, existente desde JDK 5.</a:t>
            </a:r>
          </a:p>
          <a:p>
            <a:r>
              <a:rPr lang="es-ES" dirty="0"/>
              <a:t>Recuerda: en estructuras repetitivas, cada repetición o “vuelta” se denomina también </a:t>
            </a:r>
            <a:r>
              <a:rPr lang="es-ES" b="1" dirty="0"/>
              <a:t>iteración</a:t>
            </a:r>
            <a:r>
              <a:rPr lang="es-ES" dirty="0"/>
              <a:t>.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AFF289D-D390-5132-8CFA-CE170B922965}"/>
              </a:ext>
            </a:extLst>
          </p:cNvPr>
          <p:cNvGrpSpPr/>
          <p:nvPr/>
        </p:nvGrpSpPr>
        <p:grpSpPr>
          <a:xfrm>
            <a:off x="838200" y="-45064"/>
            <a:ext cx="4629752" cy="1015663"/>
            <a:chOff x="924025" y="1526961"/>
            <a:chExt cx="4629752" cy="101566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41817A4-E157-5C8B-6D93-8A4CB9C76B69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1B5E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2E08BE3-3DD1-06F3-4B27-62FFC4688193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Estructura repetitiva </a:t>
              </a:r>
              <a:br>
                <a:rPr lang="es-ES" dirty="0">
                  <a:solidFill>
                    <a:schemeClr val="bg1"/>
                  </a:solidFill>
                  <a:latin typeface="Helvetica" pitchFamily="2" charset="0"/>
                </a:rPr>
              </a:br>
              <a:r>
                <a:rPr lang="es-ES" dirty="0" err="1">
                  <a:solidFill>
                    <a:schemeClr val="bg1"/>
                  </a:solidFill>
                  <a:latin typeface="Helvetica" pitchFamily="2" charset="0"/>
                </a:rPr>
                <a:t>for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E991D40-FF73-5A55-1E1E-390096E505E0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1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F5C104B-2912-E1B7-711F-581D0BFDE1A5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663853B5-2675-38F2-599A-0D0C6161390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073" r="36111"/>
          <a:stretch/>
        </p:blipFill>
        <p:spPr>
          <a:xfrm>
            <a:off x="8029574" y="0"/>
            <a:ext cx="4191001" cy="6858000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C669BFD-ED3B-1210-9978-83BB5969FE45}"/>
              </a:ext>
            </a:extLst>
          </p:cNvPr>
          <p:cNvSpPr txBox="1"/>
          <p:nvPr/>
        </p:nvSpPr>
        <p:spPr>
          <a:xfrm>
            <a:off x="226219" y="6430815"/>
            <a:ext cx="611028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 https://media.zicxa.com/2604907</a:t>
            </a:r>
          </a:p>
        </p:txBody>
      </p:sp>
    </p:spTree>
    <p:extLst>
      <p:ext uri="{BB962C8B-B14F-4D97-AF65-F5344CB8AC3E}">
        <p14:creationId xmlns:p14="http://schemas.microsoft.com/office/powerpoint/2010/main" val="855556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88CE55B9-970D-CA77-B0A8-ED7FAB03D0B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-1" y="-8844"/>
            <a:ext cx="12192001" cy="68793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F2971AF-5065-BBBC-D752-E9B5F95FF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117" y="411165"/>
            <a:ext cx="10515600" cy="1569660"/>
          </a:xfrm>
        </p:spPr>
        <p:txBody>
          <a:bodyPr>
            <a:normAutofit/>
          </a:bodyPr>
          <a:lstStyle/>
          <a:p>
            <a:r>
              <a:rPr lang="es-ES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for</a:t>
            </a:r>
            <a:r>
              <a:rPr lang="es-E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</a:t>
            </a:r>
            <a:r>
              <a:rPr lang="es-ES" b="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en Java</a:t>
            </a:r>
            <a:r>
              <a:rPr lang="es-E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.</a:t>
            </a:r>
            <a:br>
              <a:rPr lang="es-ES" dirty="0">
                <a:solidFill>
                  <a:schemeClr val="accent1">
                    <a:lumMod val="40000"/>
                    <a:lumOff val="60000"/>
                  </a:schemeClr>
                </a:solidFill>
              </a:rPr>
            </a:br>
            <a:r>
              <a:rPr lang="es-E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Sintaxis</a:t>
            </a:r>
            <a:endParaRPr lang="en-US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F22161D-97F4-5C0C-FBEC-7D6B442B846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>
                <a:solidFill>
                  <a:schemeClr val="accent4">
                    <a:lumMod val="20000"/>
                    <a:lumOff val="80000"/>
                  </a:schemeClr>
                </a:solidFill>
              </a:rPr>
              <a:t>15</a:t>
            </a:fld>
            <a:endParaRPr lang="es-PE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0FDCEA-7266-E8C0-9ADE-6465A3A6BBF7}"/>
              </a:ext>
            </a:extLst>
          </p:cNvPr>
          <p:cNvSpPr txBox="1"/>
          <p:nvPr/>
        </p:nvSpPr>
        <p:spPr>
          <a:xfrm>
            <a:off x="262667" y="2717675"/>
            <a:ext cx="9001182" cy="1292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600" b="1" dirty="0" err="1">
                <a:solidFill>
                  <a:srgbClr val="C00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for</a:t>
            </a:r>
            <a:r>
              <a:rPr lang="es-ES" sz="26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s-ES" sz="2600" b="1" dirty="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s-ES" sz="2600" b="1" dirty="0">
                <a:solidFill>
                  <a:srgbClr val="1B5E8B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inicialización</a:t>
            </a:r>
            <a:r>
              <a:rPr lang="es-ES" sz="26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 </a:t>
            </a:r>
            <a:r>
              <a:rPr lang="es-ES" sz="2600" b="1" dirty="0">
                <a:solidFill>
                  <a:schemeClr val="accent6">
                    <a:lumMod val="7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condición</a:t>
            </a:r>
            <a:r>
              <a:rPr lang="es-ES" sz="26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 </a:t>
            </a:r>
            <a:r>
              <a:rPr lang="es-ES" sz="2600" b="1" dirty="0">
                <a:solidFill>
                  <a:schemeClr val="accent2">
                    <a:lumMod val="7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iteración</a:t>
            </a:r>
            <a:r>
              <a:rPr lang="es-ES" sz="2600" b="1" dirty="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{</a:t>
            </a:r>
          </a:p>
          <a:p>
            <a:r>
              <a:rPr lang="es-ES" sz="26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s-ES" sz="2600" b="1" dirty="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// instrucciones;</a:t>
            </a:r>
          </a:p>
          <a:p>
            <a:r>
              <a:rPr lang="es-ES" sz="2600" b="1" dirty="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lang="en-US" sz="2600" b="1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DAE820-65A3-85AE-ACAC-91A8ADF2FDF3}"/>
              </a:ext>
            </a:extLst>
          </p:cNvPr>
          <p:cNvSpPr txBox="1"/>
          <p:nvPr/>
        </p:nvSpPr>
        <p:spPr>
          <a:xfrm>
            <a:off x="4168453" y="474810"/>
            <a:ext cx="41631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>
                <a:solidFill>
                  <a:schemeClr val="bg1"/>
                </a:solidFill>
                <a:latin typeface="+mj-lt"/>
              </a:rPr>
              <a:t>Sección de inicialización: sentencia de asignación que establece el valor inicial de la variable de control (contador del bucle)</a:t>
            </a:r>
            <a:endParaRPr lang="en-US" sz="16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0CEF5E-FE7B-3637-B022-B5FF3D7F93B2}"/>
              </a:ext>
            </a:extLst>
          </p:cNvPr>
          <p:cNvSpPr txBox="1"/>
          <p:nvPr/>
        </p:nvSpPr>
        <p:spPr>
          <a:xfrm>
            <a:off x="8408856" y="998693"/>
            <a:ext cx="36570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>
                <a:solidFill>
                  <a:schemeClr val="bg1"/>
                </a:solidFill>
                <a:latin typeface="+mj-lt"/>
              </a:rPr>
              <a:t>Sección de prueba condicional: expresión booleana que determina si el bucle debe o no repetirse.</a:t>
            </a:r>
            <a:endParaRPr lang="en-US" sz="16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23EC053-F87C-4117-3316-BD75EC8F2A17}"/>
              </a:ext>
            </a:extLst>
          </p:cNvPr>
          <p:cNvSpPr txBox="1"/>
          <p:nvPr/>
        </p:nvSpPr>
        <p:spPr>
          <a:xfrm>
            <a:off x="8219954" y="5142723"/>
            <a:ext cx="316671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>
                <a:solidFill>
                  <a:schemeClr val="bg1"/>
                </a:solidFill>
                <a:latin typeface="+mj-lt"/>
              </a:rPr>
              <a:t>Sección de iteración: define la cantidad por la cual la variable de control del bucle cambiará, cada vez que el bucle se repite.</a:t>
            </a:r>
            <a:endParaRPr lang="en-US" sz="16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707E2D-1E3D-0483-F012-E45AC6545F71}"/>
              </a:ext>
            </a:extLst>
          </p:cNvPr>
          <p:cNvSpPr txBox="1"/>
          <p:nvPr/>
        </p:nvSpPr>
        <p:spPr>
          <a:xfrm>
            <a:off x="2929287" y="4994825"/>
            <a:ext cx="31667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>
                <a:solidFill>
                  <a:schemeClr val="bg1"/>
                </a:solidFill>
                <a:latin typeface="+mj-lt"/>
              </a:rPr>
              <a:t>Instrucción(es) a ejecutarse por cada iteración del bucle.</a:t>
            </a:r>
            <a:endParaRPr lang="en-US" sz="16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725F4D5-A748-4CF0-8457-8D03EF823519}"/>
              </a:ext>
            </a:extLst>
          </p:cNvPr>
          <p:cNvSpPr/>
          <p:nvPr/>
        </p:nvSpPr>
        <p:spPr>
          <a:xfrm flipH="1">
            <a:off x="3235878" y="1100009"/>
            <a:ext cx="798897" cy="1569660"/>
          </a:xfrm>
          <a:custGeom>
            <a:avLst/>
            <a:gdLst>
              <a:gd name="connsiteX0" fmla="*/ 0 w 404261"/>
              <a:gd name="connsiteY0" fmla="*/ 0 h 741145"/>
              <a:gd name="connsiteX1" fmla="*/ 404261 w 404261"/>
              <a:gd name="connsiteY1" fmla="*/ 741145 h 741145"/>
              <a:gd name="connsiteX0" fmla="*/ 0 w 404261"/>
              <a:gd name="connsiteY0" fmla="*/ 0 h 741145"/>
              <a:gd name="connsiteX1" fmla="*/ 404261 w 404261"/>
              <a:gd name="connsiteY1" fmla="*/ 741145 h 741145"/>
              <a:gd name="connsiteX0" fmla="*/ 0 w 404261"/>
              <a:gd name="connsiteY0" fmla="*/ 0 h 741145"/>
              <a:gd name="connsiteX1" fmla="*/ 404261 w 404261"/>
              <a:gd name="connsiteY1" fmla="*/ 741145 h 741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04261" h="741145">
                <a:moveTo>
                  <a:pt x="0" y="0"/>
                </a:moveTo>
                <a:cubicBezTo>
                  <a:pt x="259882" y="112294"/>
                  <a:pt x="375385" y="378594"/>
                  <a:pt x="404261" y="741145"/>
                </a:cubicBezTo>
              </a:path>
            </a:pathLst>
          </a:custGeom>
          <a:noFill/>
          <a:ln>
            <a:solidFill>
              <a:schemeClr val="bg2"/>
            </a:solidFill>
            <a:prstDash val="sysDot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7E4BB82-536F-B860-0B01-93A1DF960374}"/>
              </a:ext>
            </a:extLst>
          </p:cNvPr>
          <p:cNvSpPr/>
          <p:nvPr/>
        </p:nvSpPr>
        <p:spPr>
          <a:xfrm flipH="1">
            <a:off x="5996027" y="1413130"/>
            <a:ext cx="2223927" cy="1325563"/>
          </a:xfrm>
          <a:custGeom>
            <a:avLst/>
            <a:gdLst>
              <a:gd name="connsiteX0" fmla="*/ 0 w 404261"/>
              <a:gd name="connsiteY0" fmla="*/ 0 h 741145"/>
              <a:gd name="connsiteX1" fmla="*/ 404261 w 404261"/>
              <a:gd name="connsiteY1" fmla="*/ 741145 h 741145"/>
              <a:gd name="connsiteX0" fmla="*/ 0 w 404261"/>
              <a:gd name="connsiteY0" fmla="*/ 0 h 741145"/>
              <a:gd name="connsiteX1" fmla="*/ 404261 w 404261"/>
              <a:gd name="connsiteY1" fmla="*/ 741145 h 741145"/>
              <a:gd name="connsiteX0" fmla="*/ 0 w 404261"/>
              <a:gd name="connsiteY0" fmla="*/ 0 h 741145"/>
              <a:gd name="connsiteX1" fmla="*/ 404261 w 404261"/>
              <a:gd name="connsiteY1" fmla="*/ 741145 h 741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04261" h="741145">
                <a:moveTo>
                  <a:pt x="0" y="0"/>
                </a:moveTo>
                <a:cubicBezTo>
                  <a:pt x="259882" y="112294"/>
                  <a:pt x="375385" y="378594"/>
                  <a:pt x="404261" y="741145"/>
                </a:cubicBezTo>
              </a:path>
            </a:pathLst>
          </a:custGeom>
          <a:noFill/>
          <a:ln>
            <a:solidFill>
              <a:schemeClr val="bg2"/>
            </a:solidFill>
            <a:prstDash val="sysDot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462FC375-7941-861A-1DE6-1C93E1F2AFAF}"/>
              </a:ext>
            </a:extLst>
          </p:cNvPr>
          <p:cNvSpPr/>
          <p:nvPr/>
        </p:nvSpPr>
        <p:spPr>
          <a:xfrm flipH="1" flipV="1">
            <a:off x="7256871" y="3230534"/>
            <a:ext cx="929395" cy="2296018"/>
          </a:xfrm>
          <a:custGeom>
            <a:avLst/>
            <a:gdLst>
              <a:gd name="connsiteX0" fmla="*/ 0 w 404261"/>
              <a:gd name="connsiteY0" fmla="*/ 0 h 741145"/>
              <a:gd name="connsiteX1" fmla="*/ 404261 w 404261"/>
              <a:gd name="connsiteY1" fmla="*/ 741145 h 741145"/>
              <a:gd name="connsiteX0" fmla="*/ 0 w 404261"/>
              <a:gd name="connsiteY0" fmla="*/ 0 h 741145"/>
              <a:gd name="connsiteX1" fmla="*/ 404261 w 404261"/>
              <a:gd name="connsiteY1" fmla="*/ 741145 h 741145"/>
              <a:gd name="connsiteX0" fmla="*/ 0 w 404261"/>
              <a:gd name="connsiteY0" fmla="*/ 0 h 741145"/>
              <a:gd name="connsiteX1" fmla="*/ 404261 w 404261"/>
              <a:gd name="connsiteY1" fmla="*/ 741145 h 741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04261" h="741145">
                <a:moveTo>
                  <a:pt x="0" y="0"/>
                </a:moveTo>
                <a:cubicBezTo>
                  <a:pt x="259882" y="112294"/>
                  <a:pt x="375385" y="378594"/>
                  <a:pt x="404261" y="741145"/>
                </a:cubicBezTo>
              </a:path>
            </a:pathLst>
          </a:custGeom>
          <a:noFill/>
          <a:ln>
            <a:solidFill>
              <a:schemeClr val="bg2"/>
            </a:solidFill>
            <a:prstDash val="sysDot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10C34D4-1A8C-0D3A-FE01-8A6BB04C8726}"/>
              </a:ext>
            </a:extLst>
          </p:cNvPr>
          <p:cNvSpPr/>
          <p:nvPr/>
        </p:nvSpPr>
        <p:spPr>
          <a:xfrm rot="19039186" flipV="1">
            <a:off x="3568010" y="3660427"/>
            <a:ext cx="359936" cy="1236454"/>
          </a:xfrm>
          <a:custGeom>
            <a:avLst/>
            <a:gdLst>
              <a:gd name="connsiteX0" fmla="*/ 0 w 404261"/>
              <a:gd name="connsiteY0" fmla="*/ 0 h 741145"/>
              <a:gd name="connsiteX1" fmla="*/ 404261 w 404261"/>
              <a:gd name="connsiteY1" fmla="*/ 741145 h 741145"/>
              <a:gd name="connsiteX0" fmla="*/ 0 w 404261"/>
              <a:gd name="connsiteY0" fmla="*/ 0 h 741145"/>
              <a:gd name="connsiteX1" fmla="*/ 404261 w 404261"/>
              <a:gd name="connsiteY1" fmla="*/ 741145 h 741145"/>
              <a:gd name="connsiteX0" fmla="*/ 0 w 404261"/>
              <a:gd name="connsiteY0" fmla="*/ 0 h 741145"/>
              <a:gd name="connsiteX1" fmla="*/ 404261 w 404261"/>
              <a:gd name="connsiteY1" fmla="*/ 741145 h 741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04261" h="741145">
                <a:moveTo>
                  <a:pt x="0" y="0"/>
                </a:moveTo>
                <a:cubicBezTo>
                  <a:pt x="259882" y="112294"/>
                  <a:pt x="375385" y="378594"/>
                  <a:pt x="404261" y="741145"/>
                </a:cubicBezTo>
              </a:path>
            </a:pathLst>
          </a:custGeom>
          <a:noFill/>
          <a:ln>
            <a:solidFill>
              <a:schemeClr val="bg2"/>
            </a:solidFill>
            <a:prstDash val="sysDot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8F63006-186B-972A-8A93-68C78D1CDFEB}"/>
              </a:ext>
            </a:extLst>
          </p:cNvPr>
          <p:cNvSpPr txBox="1"/>
          <p:nvPr/>
        </p:nvSpPr>
        <p:spPr>
          <a:xfrm>
            <a:off x="152400" y="6368036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de: https://media.istockphoto.com/photos/orange-torn-paper-background-picture-id174930587?k=20&amp;m=174930587&amp;s=612x612&amp;w=0&amp;h=6BaIbYeJFgC1RkyfZn2fzh1VUiH-JuzXX5brI1J8HcA=</a:t>
            </a:r>
          </a:p>
        </p:txBody>
      </p:sp>
    </p:spTree>
    <p:extLst>
      <p:ext uri="{BB962C8B-B14F-4D97-AF65-F5344CB8AC3E}">
        <p14:creationId xmlns:p14="http://schemas.microsoft.com/office/powerpoint/2010/main" val="2627647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971AF-5065-BBBC-D752-E9B5F95FF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Bucle </a:t>
            </a:r>
            <a:r>
              <a:rPr lang="es-ES" dirty="0" err="1"/>
              <a:t>for</a:t>
            </a:r>
            <a:r>
              <a:rPr lang="es-ES" dirty="0"/>
              <a:t> en Java. Ejemplo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F22161D-97F4-5C0C-FBEC-7D6B442B846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16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CE59E8-E3E0-0380-549E-626FA57B540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50800" indent="0">
              <a:buNone/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Escribir un programa en Java que muestre los 10 primeros números enteros positivos.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AFF289D-D390-5132-8CFA-CE170B922965}"/>
              </a:ext>
            </a:extLst>
          </p:cNvPr>
          <p:cNvGrpSpPr/>
          <p:nvPr/>
        </p:nvGrpSpPr>
        <p:grpSpPr>
          <a:xfrm>
            <a:off x="838200" y="-45064"/>
            <a:ext cx="4629752" cy="1015663"/>
            <a:chOff x="924025" y="1526961"/>
            <a:chExt cx="4629752" cy="101566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41817A4-E157-5C8B-6D93-8A4CB9C76B69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1B5E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2E08BE3-3DD1-06F3-4B27-62FFC4688193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Estructura repetitiva </a:t>
              </a:r>
              <a:br>
                <a:rPr lang="es-ES" dirty="0">
                  <a:solidFill>
                    <a:schemeClr val="bg1"/>
                  </a:solidFill>
                  <a:latin typeface="Helvetica" pitchFamily="2" charset="0"/>
                </a:rPr>
              </a:br>
              <a:r>
                <a:rPr lang="es-ES" dirty="0" err="1">
                  <a:solidFill>
                    <a:schemeClr val="bg1"/>
                  </a:solidFill>
                  <a:latin typeface="Helvetica" pitchFamily="2" charset="0"/>
                </a:rPr>
                <a:t>for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E991D40-FF73-5A55-1E1E-390096E505E0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1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F5C104B-2912-E1B7-711F-581D0BFDE1A5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Rectangle 1">
            <a:extLst>
              <a:ext uri="{FF2B5EF4-FFF2-40B4-BE49-F238E27FC236}">
                <a16:creationId xmlns:a16="http://schemas.microsoft.com/office/drawing/2014/main" id="{4D0D3C18-1910-67B8-D13A-6F147C3B44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0126" y="3671024"/>
            <a:ext cx="6909725" cy="2043773"/>
          </a:xfrm>
          <a:prstGeom prst="roundRect">
            <a:avLst>
              <a:gd name="adj" fmla="val 6729"/>
            </a:avLst>
          </a:prstGeom>
          <a:solidFill>
            <a:srgbClr val="1E1F22"/>
          </a:solidFill>
          <a:ln>
            <a:noFill/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for </a:t>
            </a: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 </a:t>
            </a: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 = </a:t>
            </a: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</a:t>
            </a: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 i &lt;= </a:t>
            </a: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10</a:t>
            </a: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 i++) {</a:t>
            </a:r>
            <a:b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System.</a:t>
            </a:r>
            <a:r>
              <a:rPr kumimoji="0" lang="en-US" altLang="en-US" sz="2800" b="0" i="1" u="none" strike="noStrike" cap="none" normalizeH="0" baseline="0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println</a:t>
            </a: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(i);</a:t>
            </a:r>
            <a:b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kumimoji="0" lang="en-US" altLang="en-US" sz="5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7C568BF-75E9-3332-E054-64BC8FEBAA7B}"/>
              </a:ext>
            </a:extLst>
          </p:cNvPr>
          <p:cNvSpPr txBox="1"/>
          <p:nvPr/>
        </p:nvSpPr>
        <p:spPr>
          <a:xfrm>
            <a:off x="1012464" y="3241100"/>
            <a:ext cx="228108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A menudo, la variable que </a:t>
            </a:r>
            <a:r>
              <a:rPr lang="en-US" sz="1600" dirty="0" err="1">
                <a:solidFill>
                  <a:schemeClr val="bg1">
                    <a:lumMod val="50000"/>
                  </a:schemeClr>
                </a:solidFill>
              </a:rPr>
              <a:t>controla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bg1">
                    <a:lumMod val="50000"/>
                  </a:schemeClr>
                </a:solidFill>
              </a:rPr>
              <a:t>el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bg1">
                    <a:lumMod val="50000"/>
                  </a:schemeClr>
                </a:solidFill>
              </a:rPr>
              <a:t>bucle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 for es solo </a:t>
            </a:r>
            <a:r>
              <a:rPr lang="en-US" sz="1600" dirty="0" err="1">
                <a:solidFill>
                  <a:schemeClr val="bg1">
                    <a:lumMod val="50000"/>
                  </a:schemeClr>
                </a:solidFill>
              </a:rPr>
              <a:t>necesaria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 para </a:t>
            </a:r>
            <a:r>
              <a:rPr lang="en-US" sz="1600" dirty="0" err="1">
                <a:solidFill>
                  <a:schemeClr val="bg1">
                    <a:lumMod val="50000"/>
                  </a:schemeClr>
                </a:solidFill>
              </a:rPr>
              <a:t>el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bg1">
                    <a:lumMod val="50000"/>
                  </a:schemeClr>
                </a:solidFill>
              </a:rPr>
              <a:t>bucle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 y no </a:t>
            </a:r>
            <a:r>
              <a:rPr lang="en-US" sz="1600" dirty="0" err="1">
                <a:solidFill>
                  <a:schemeClr val="bg1">
                    <a:lumMod val="50000"/>
                  </a:schemeClr>
                </a:solidFill>
              </a:rPr>
              <a:t>tiene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bg1">
                    <a:lumMod val="50000"/>
                  </a:schemeClr>
                </a:solidFill>
              </a:rPr>
              <a:t>otra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bg1">
                    <a:lumMod val="50000"/>
                  </a:schemeClr>
                </a:solidFill>
              </a:rPr>
              <a:t>utilidad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.</a:t>
            </a:r>
          </a:p>
          <a:p>
            <a:endParaRPr lang="en-US" sz="1600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sz="1600" dirty="0" err="1">
                <a:solidFill>
                  <a:schemeClr val="bg1">
                    <a:lumMod val="50000"/>
                  </a:schemeClr>
                </a:solidFill>
              </a:rPr>
              <a:t>En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bg1">
                    <a:lumMod val="50000"/>
                  </a:schemeClr>
                </a:solidFill>
              </a:rPr>
              <a:t>este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bg1">
                    <a:lumMod val="50000"/>
                  </a:schemeClr>
                </a:solidFill>
              </a:rPr>
              <a:t>caso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 es </a:t>
            </a:r>
            <a:r>
              <a:rPr lang="en-US" sz="1600" dirty="0" err="1">
                <a:solidFill>
                  <a:schemeClr val="bg1">
                    <a:lumMod val="50000"/>
                  </a:schemeClr>
                </a:solidFill>
              </a:rPr>
              <a:t>posible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bg1">
                    <a:lumMod val="50000"/>
                  </a:schemeClr>
                </a:solidFill>
              </a:rPr>
              <a:t>declarar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 la variable </a:t>
            </a:r>
            <a:r>
              <a:rPr lang="en-US" sz="1600" dirty="0" err="1">
                <a:solidFill>
                  <a:schemeClr val="bg1">
                    <a:lumMod val="50000"/>
                  </a:schemeClr>
                </a:solidFill>
              </a:rPr>
              <a:t>dentro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 de la </a:t>
            </a:r>
            <a:r>
              <a:rPr lang="en-US" sz="1600" dirty="0" err="1">
                <a:solidFill>
                  <a:schemeClr val="bg1">
                    <a:lumMod val="50000"/>
                  </a:schemeClr>
                </a:solidFill>
              </a:rPr>
              <a:t>sección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 de </a:t>
            </a:r>
            <a:r>
              <a:rPr lang="en-US" sz="1600" dirty="0" err="1">
                <a:solidFill>
                  <a:schemeClr val="bg1">
                    <a:lumMod val="50000"/>
                  </a:schemeClr>
                </a:solidFill>
              </a:rPr>
              <a:t>inicialización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 de la </a:t>
            </a:r>
            <a:r>
              <a:rPr lang="en-US" sz="1600" dirty="0" err="1">
                <a:solidFill>
                  <a:schemeClr val="bg1">
                    <a:lumMod val="50000"/>
                  </a:schemeClr>
                </a:solidFill>
              </a:rPr>
              <a:t>estructura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 for.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0718A570-F4FE-9453-0481-FB366AF6F832}"/>
              </a:ext>
            </a:extLst>
          </p:cNvPr>
          <p:cNvSpPr/>
          <p:nvPr/>
        </p:nvSpPr>
        <p:spPr>
          <a:xfrm rot="19039186" flipV="1">
            <a:off x="3725066" y="2682832"/>
            <a:ext cx="1962366" cy="2096719"/>
          </a:xfrm>
          <a:custGeom>
            <a:avLst/>
            <a:gdLst>
              <a:gd name="connsiteX0" fmla="*/ 0 w 404261"/>
              <a:gd name="connsiteY0" fmla="*/ 0 h 741145"/>
              <a:gd name="connsiteX1" fmla="*/ 404261 w 404261"/>
              <a:gd name="connsiteY1" fmla="*/ 741145 h 741145"/>
              <a:gd name="connsiteX0" fmla="*/ 0 w 404261"/>
              <a:gd name="connsiteY0" fmla="*/ 0 h 741145"/>
              <a:gd name="connsiteX1" fmla="*/ 404261 w 404261"/>
              <a:gd name="connsiteY1" fmla="*/ 741145 h 741145"/>
              <a:gd name="connsiteX0" fmla="*/ 0 w 404261"/>
              <a:gd name="connsiteY0" fmla="*/ 0 h 741145"/>
              <a:gd name="connsiteX1" fmla="*/ 404261 w 404261"/>
              <a:gd name="connsiteY1" fmla="*/ 741145 h 741145"/>
              <a:gd name="connsiteX0" fmla="*/ 0 w 2134551"/>
              <a:gd name="connsiteY0" fmla="*/ 1306801 h 1312046"/>
              <a:gd name="connsiteX1" fmla="*/ 2134551 w 2134551"/>
              <a:gd name="connsiteY1" fmla="*/ 50003 h 1312046"/>
              <a:gd name="connsiteX0" fmla="*/ 0 w 2199010"/>
              <a:gd name="connsiteY0" fmla="*/ 1256798 h 1264604"/>
              <a:gd name="connsiteX1" fmla="*/ 2134551 w 2199010"/>
              <a:gd name="connsiteY1" fmla="*/ 0 h 1264604"/>
              <a:gd name="connsiteX0" fmla="*/ 0 w 2246902"/>
              <a:gd name="connsiteY0" fmla="*/ 1256798 h 1256798"/>
              <a:gd name="connsiteX1" fmla="*/ 2134551 w 2246902"/>
              <a:gd name="connsiteY1" fmla="*/ 0 h 1256798"/>
              <a:gd name="connsiteX0" fmla="*/ 0 w 2204026"/>
              <a:gd name="connsiteY0" fmla="*/ 1256798 h 1256798"/>
              <a:gd name="connsiteX1" fmla="*/ 2134551 w 2204026"/>
              <a:gd name="connsiteY1" fmla="*/ 0 h 12567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204026" h="1256798">
                <a:moveTo>
                  <a:pt x="0" y="1256798"/>
                </a:moveTo>
                <a:cubicBezTo>
                  <a:pt x="1488906" y="724164"/>
                  <a:pt x="2481914" y="446377"/>
                  <a:pt x="2134551" y="0"/>
                </a:cubicBezTo>
              </a:path>
            </a:pathLst>
          </a:custGeom>
          <a:noFill/>
          <a:ln>
            <a:solidFill>
              <a:schemeClr val="accent2"/>
            </a:solidFill>
            <a:prstDash val="sysDot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195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C6B983-D187-5021-011D-340D9A6463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17</a:t>
            </a:fld>
            <a:endParaRPr lang="es-PE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598A8C9-355C-B375-F419-53EB7FBA52CF}"/>
              </a:ext>
            </a:extLst>
          </p:cNvPr>
          <p:cNvGrpSpPr/>
          <p:nvPr/>
        </p:nvGrpSpPr>
        <p:grpSpPr>
          <a:xfrm>
            <a:off x="1955128" y="2672054"/>
            <a:ext cx="4629752" cy="1015663"/>
            <a:chOff x="924025" y="1526961"/>
            <a:chExt cx="4629752" cy="101566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68C5937-AEC8-D4AC-1863-47EC6A0DD5D7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758F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B9DA0B8-3305-EA9B-D50C-133423FA16B6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Variaciones del bucle </a:t>
              </a:r>
              <a:r>
                <a:rPr lang="es-ES" dirty="0" err="1">
                  <a:solidFill>
                    <a:schemeClr val="bg1"/>
                  </a:solidFill>
                  <a:latin typeface="Helvetica" pitchFamily="2" charset="0"/>
                </a:rPr>
                <a:t>for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719D950-4EA4-CB17-5AF9-0E716D1D0C97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3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DB44CEB-5449-91C4-4D8C-947E50150B6A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B32F08B-E599-8764-EE5E-B3C48CE274CF}"/>
              </a:ext>
            </a:extLst>
          </p:cNvPr>
          <p:cNvSpPr txBox="1"/>
          <p:nvPr/>
        </p:nvSpPr>
        <p:spPr>
          <a:xfrm rot="16200000">
            <a:off x="-1552306" y="2760043"/>
            <a:ext cx="559961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800" b="1">
                <a:solidFill>
                  <a:schemeClr val="bg1">
                    <a:lumMod val="85000"/>
                  </a:schemeClr>
                </a:solidFill>
                <a:latin typeface="Helvetica" pitchFamily="2" charset="0"/>
              </a:rPr>
              <a:t>contenido</a:t>
            </a:r>
            <a:endParaRPr lang="en-US" sz="8800" b="1">
              <a:solidFill>
                <a:schemeClr val="bg1">
                  <a:lumMod val="85000"/>
                </a:schemeClr>
              </a:solidFill>
              <a:latin typeface="Helvetica" pitchFamily="2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D8EC2C4-D534-A87E-5305-9BD92B9838D9}"/>
              </a:ext>
            </a:extLst>
          </p:cNvPr>
          <p:cNvGrpSpPr/>
          <p:nvPr/>
        </p:nvGrpSpPr>
        <p:grpSpPr>
          <a:xfrm>
            <a:off x="1955128" y="892964"/>
            <a:ext cx="4629752" cy="1015663"/>
            <a:chOff x="924025" y="1526961"/>
            <a:chExt cx="4629752" cy="101566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FE41E11-2903-D4AD-BABB-046EDBE4AABD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1B5E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FB12F7A-F286-0B30-D30E-E9A916CC839B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Estructura repetitiva </a:t>
              </a:r>
              <a:br>
                <a:rPr lang="es-ES" dirty="0">
                  <a:solidFill>
                    <a:schemeClr val="bg1"/>
                  </a:solidFill>
                  <a:latin typeface="Helvetica" pitchFamily="2" charset="0"/>
                </a:rPr>
              </a:br>
              <a:r>
                <a:rPr lang="es-ES" dirty="0" err="1">
                  <a:solidFill>
                    <a:schemeClr val="bg1"/>
                  </a:solidFill>
                  <a:latin typeface="Helvetica" pitchFamily="2" charset="0"/>
                </a:rPr>
                <a:t>for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3EEA1CE-79B2-915B-2C77-2F1212A1BF67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1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30C6426-CF18-244B-D9EC-4576E393467C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25B4B5B-713C-2D58-C773-D4CFF9997391}"/>
              </a:ext>
            </a:extLst>
          </p:cNvPr>
          <p:cNvGrpSpPr/>
          <p:nvPr/>
        </p:nvGrpSpPr>
        <p:grpSpPr>
          <a:xfrm>
            <a:off x="1955128" y="3561599"/>
            <a:ext cx="4629752" cy="1015663"/>
            <a:chOff x="924025" y="1526961"/>
            <a:chExt cx="4629752" cy="1015663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5F2FB8B-07D6-48FB-E370-38EA16365289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BA750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28AFDEB-1E73-3FEA-2DFF-DBAF08C0A2B6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Práctica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02F77E9-2E11-217F-40EC-8E3C7703B3BB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4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69D5F82-C60A-5B84-5E19-A1B153065B8D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8F24B97A-6631-C486-8F0D-EA635CE80419}"/>
              </a:ext>
            </a:extLst>
          </p:cNvPr>
          <p:cNvSpPr/>
          <p:nvPr/>
        </p:nvSpPr>
        <p:spPr>
          <a:xfrm>
            <a:off x="1801640" y="683513"/>
            <a:ext cx="9678154" cy="5599610"/>
          </a:xfrm>
          <a:prstGeom prst="rect">
            <a:avLst/>
          </a:prstGeom>
          <a:solidFill>
            <a:schemeClr val="bg1">
              <a:alpha val="8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C62550A-9487-0FB4-AEF5-18BF59D1D1BB}"/>
              </a:ext>
            </a:extLst>
          </p:cNvPr>
          <p:cNvGrpSpPr/>
          <p:nvPr/>
        </p:nvGrpSpPr>
        <p:grpSpPr>
          <a:xfrm>
            <a:off x="1955128" y="1782509"/>
            <a:ext cx="4629752" cy="1015663"/>
            <a:chOff x="924025" y="1526961"/>
            <a:chExt cx="4629752" cy="10156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9EE3C4A-25E0-0661-5719-DFD8A408196E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0E7D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F03E694-3539-B74F-A7F9-A90BF4FC7172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Contador interno (progresivo y regresivo)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0BD6589-A9C6-D2FD-D50D-C5AAC8113E8A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2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E0265B7-9BAF-D770-6E56-5AE1A9C41973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84665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C9114A6D-A3E5-25F1-87F4-D2D82B90BAF3}"/>
              </a:ext>
            </a:extLst>
          </p:cNvPr>
          <p:cNvGrpSpPr/>
          <p:nvPr/>
        </p:nvGrpSpPr>
        <p:grpSpPr>
          <a:xfrm>
            <a:off x="838200" y="-45065"/>
            <a:ext cx="4629752" cy="1015663"/>
            <a:chOff x="924025" y="1526961"/>
            <a:chExt cx="4629752" cy="1015663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B516DFA-44B4-29D8-BACF-306C224650A2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0E7D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5FF0532-1492-BE09-AF24-169800691E20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Contador interno (progresivo y regresivo)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60864B1-A3E8-3FA6-21FE-5FE5FA6F9FCB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2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A51B518-F263-3C07-A75C-3FECC566943C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F2971AF-5065-BBBC-D752-E9B5F95FF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Contador interno progresivo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F22161D-97F4-5C0C-FBEC-7D6B442B846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18</a:t>
            </a:fld>
            <a:endParaRPr lang="es-PE"/>
          </a:p>
        </p:txBody>
      </p:sp>
      <p:sp>
        <p:nvSpPr>
          <p:cNvPr id="20" name="Rectangle 1">
            <a:extLst>
              <a:ext uri="{FF2B5EF4-FFF2-40B4-BE49-F238E27FC236}">
                <a16:creationId xmlns:a16="http://schemas.microsoft.com/office/drawing/2014/main" id="{84D3C0A4-F389-0E8A-3396-571DB4A8C6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1835" y="2822986"/>
            <a:ext cx="7560365" cy="2043773"/>
          </a:xfrm>
          <a:prstGeom prst="roundRect">
            <a:avLst>
              <a:gd name="adj" fmla="val 6731"/>
            </a:avLst>
          </a:prstGeom>
          <a:solidFill>
            <a:srgbClr val="1E1F22"/>
          </a:solidFill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for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highlight>
                  <a:srgbClr val="008000"/>
                </a:highlight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highlight>
                  <a:srgbClr val="008000"/>
                </a:highlight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highlight>
                  <a:srgbClr val="008000"/>
                </a:highlight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highlight>
                  <a:srgbClr val="008000"/>
                </a:highlight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highlight>
                  <a:srgbClr val="008000"/>
                </a:highlight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highlight>
                  <a:srgbClr val="EF477C"/>
                </a:highlight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highlight>
                  <a:srgbClr val="EF477C"/>
                </a:highlight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&lt;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highlight>
                  <a:srgbClr val="EF477C"/>
                </a:highlight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limite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highlight>
                  <a:srgbClr val="CC7832"/>
                </a:highlight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highlight>
                  <a:srgbClr val="CC7832"/>
                </a:highlight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++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//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instrucciones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kumimoji="0" lang="en-US" altLang="en-US" sz="5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A73D7E9-E006-39EA-8BAC-D12843FDB92D}"/>
              </a:ext>
            </a:extLst>
          </p:cNvPr>
          <p:cNvSpPr txBox="1"/>
          <p:nvPr/>
        </p:nvSpPr>
        <p:spPr>
          <a:xfrm>
            <a:off x="2802193" y="2022556"/>
            <a:ext cx="16337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800" dirty="0">
                <a:solidFill>
                  <a:schemeClr val="bg1">
                    <a:lumMod val="50000"/>
                  </a:schemeClr>
                </a:solidFill>
              </a:rPr>
              <a:t>Valor de inicio</a:t>
            </a:r>
            <a:endParaRPr lang="en-US" sz="1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0A520D7-4D72-57FE-E00C-D50E31F68671}"/>
              </a:ext>
            </a:extLst>
          </p:cNvPr>
          <p:cNvSpPr txBox="1"/>
          <p:nvPr/>
        </p:nvSpPr>
        <p:spPr>
          <a:xfrm>
            <a:off x="9687190" y="1870134"/>
            <a:ext cx="13388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800" dirty="0">
                <a:solidFill>
                  <a:schemeClr val="bg1">
                    <a:lumMod val="50000"/>
                  </a:schemeClr>
                </a:solidFill>
              </a:rPr>
              <a:t>Incremento</a:t>
            </a:r>
            <a:br>
              <a:rPr lang="es-ES" sz="18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s-ES" sz="1800" dirty="0">
                <a:solidFill>
                  <a:schemeClr val="bg1">
                    <a:lumMod val="50000"/>
                  </a:schemeClr>
                </a:solidFill>
              </a:rPr>
              <a:t>(++ o +=n)</a:t>
            </a:r>
            <a:endParaRPr lang="en-US" sz="1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12D9DEA-59F2-8551-A5B1-6897FBF6385B}"/>
              </a:ext>
            </a:extLst>
          </p:cNvPr>
          <p:cNvSpPr txBox="1"/>
          <p:nvPr/>
        </p:nvSpPr>
        <p:spPr>
          <a:xfrm>
            <a:off x="6575831" y="5437544"/>
            <a:ext cx="30315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800" dirty="0">
                <a:solidFill>
                  <a:schemeClr val="bg1">
                    <a:lumMod val="50000"/>
                  </a:schemeClr>
                </a:solidFill>
              </a:rPr>
              <a:t>Condición para el valor final</a:t>
            </a:r>
            <a:endParaRPr lang="en-US" sz="1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42C4C01-A296-ED70-D9F6-357EA1F8F8F6}"/>
              </a:ext>
            </a:extLst>
          </p:cNvPr>
          <p:cNvSpPr txBox="1"/>
          <p:nvPr/>
        </p:nvSpPr>
        <p:spPr>
          <a:xfrm>
            <a:off x="460330" y="5527633"/>
            <a:ext cx="5385491" cy="10156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s-ES" sz="2000" b="0" i="0" u="none" strike="noStrike" dirty="0">
                <a:solidFill>
                  <a:schemeClr val="bg1">
                    <a:lumMod val="50000"/>
                  </a:schemeClr>
                </a:solidFill>
                <a:effectLst/>
                <a:latin typeface="+mj-lt"/>
              </a:rPr>
              <a:t>El contador interno progresivo, incrementa su valor automáticamente con cada iteración hasta que la condición sea falsa</a:t>
            </a:r>
            <a:r>
              <a:rPr lang="es-ES" sz="2000" b="0" i="0" dirty="0">
                <a:solidFill>
                  <a:schemeClr val="bg1">
                    <a:lumMod val="50000"/>
                  </a:schemeClr>
                </a:solidFill>
                <a:effectLst/>
                <a:latin typeface="+mj-lt"/>
              </a:rPr>
              <a:t>​</a:t>
            </a:r>
            <a:endParaRPr lang="en-US" sz="1600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A91512D4-11C0-E69D-6331-2A52A61AD015}"/>
              </a:ext>
            </a:extLst>
          </p:cNvPr>
          <p:cNvSpPr/>
          <p:nvPr/>
        </p:nvSpPr>
        <p:spPr>
          <a:xfrm flipH="1">
            <a:off x="4435974" y="2245867"/>
            <a:ext cx="725102" cy="714892"/>
          </a:xfrm>
          <a:custGeom>
            <a:avLst/>
            <a:gdLst>
              <a:gd name="connsiteX0" fmla="*/ 0 w 404261"/>
              <a:gd name="connsiteY0" fmla="*/ 0 h 741145"/>
              <a:gd name="connsiteX1" fmla="*/ 404261 w 404261"/>
              <a:gd name="connsiteY1" fmla="*/ 741145 h 741145"/>
              <a:gd name="connsiteX0" fmla="*/ 0 w 404261"/>
              <a:gd name="connsiteY0" fmla="*/ 0 h 741145"/>
              <a:gd name="connsiteX1" fmla="*/ 404261 w 404261"/>
              <a:gd name="connsiteY1" fmla="*/ 741145 h 741145"/>
              <a:gd name="connsiteX0" fmla="*/ 0 w 404261"/>
              <a:gd name="connsiteY0" fmla="*/ 0 h 741145"/>
              <a:gd name="connsiteX1" fmla="*/ 404261 w 404261"/>
              <a:gd name="connsiteY1" fmla="*/ 741145 h 741145"/>
              <a:gd name="connsiteX0" fmla="*/ 367848 w 428901"/>
              <a:gd name="connsiteY0" fmla="*/ 0 h 337249"/>
              <a:gd name="connsiteX1" fmla="*/ 929 w 428901"/>
              <a:gd name="connsiteY1" fmla="*/ 337249 h 337249"/>
              <a:gd name="connsiteX0" fmla="*/ 366919 w 431972"/>
              <a:gd name="connsiteY0" fmla="*/ 0 h 337249"/>
              <a:gd name="connsiteX1" fmla="*/ 0 w 431972"/>
              <a:gd name="connsiteY1" fmla="*/ 337249 h 337249"/>
              <a:gd name="connsiteX0" fmla="*/ 366919 w 366919"/>
              <a:gd name="connsiteY0" fmla="*/ 301 h 337550"/>
              <a:gd name="connsiteX1" fmla="*/ 0 w 366919"/>
              <a:gd name="connsiteY1" fmla="*/ 337550 h 337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66919" h="337550">
                <a:moveTo>
                  <a:pt x="366919" y="301"/>
                </a:moveTo>
                <a:cubicBezTo>
                  <a:pt x="134240" y="-8109"/>
                  <a:pt x="25853" y="160699"/>
                  <a:pt x="0" y="337550"/>
                </a:cubicBezTo>
              </a:path>
            </a:pathLst>
          </a:custGeom>
          <a:noFill/>
          <a:ln w="28575">
            <a:solidFill>
              <a:schemeClr val="accent2"/>
            </a:solidFill>
            <a:prstDash val="sysDot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5B41F052-C599-68DC-355B-CCEF4FB6768F}"/>
              </a:ext>
            </a:extLst>
          </p:cNvPr>
          <p:cNvSpPr/>
          <p:nvPr/>
        </p:nvSpPr>
        <p:spPr>
          <a:xfrm>
            <a:off x="8989954" y="2275936"/>
            <a:ext cx="697236" cy="714892"/>
          </a:xfrm>
          <a:custGeom>
            <a:avLst/>
            <a:gdLst>
              <a:gd name="connsiteX0" fmla="*/ 0 w 404261"/>
              <a:gd name="connsiteY0" fmla="*/ 0 h 741145"/>
              <a:gd name="connsiteX1" fmla="*/ 404261 w 404261"/>
              <a:gd name="connsiteY1" fmla="*/ 741145 h 741145"/>
              <a:gd name="connsiteX0" fmla="*/ 0 w 404261"/>
              <a:gd name="connsiteY0" fmla="*/ 0 h 741145"/>
              <a:gd name="connsiteX1" fmla="*/ 404261 w 404261"/>
              <a:gd name="connsiteY1" fmla="*/ 741145 h 741145"/>
              <a:gd name="connsiteX0" fmla="*/ 0 w 404261"/>
              <a:gd name="connsiteY0" fmla="*/ 0 h 741145"/>
              <a:gd name="connsiteX1" fmla="*/ 404261 w 404261"/>
              <a:gd name="connsiteY1" fmla="*/ 741145 h 741145"/>
              <a:gd name="connsiteX0" fmla="*/ 367848 w 428901"/>
              <a:gd name="connsiteY0" fmla="*/ 0 h 337249"/>
              <a:gd name="connsiteX1" fmla="*/ 929 w 428901"/>
              <a:gd name="connsiteY1" fmla="*/ 337249 h 337249"/>
              <a:gd name="connsiteX0" fmla="*/ 366919 w 431972"/>
              <a:gd name="connsiteY0" fmla="*/ 0 h 337249"/>
              <a:gd name="connsiteX1" fmla="*/ 0 w 431972"/>
              <a:gd name="connsiteY1" fmla="*/ 337249 h 337249"/>
              <a:gd name="connsiteX0" fmla="*/ 366919 w 366919"/>
              <a:gd name="connsiteY0" fmla="*/ 301 h 337550"/>
              <a:gd name="connsiteX1" fmla="*/ 0 w 366919"/>
              <a:gd name="connsiteY1" fmla="*/ 337550 h 337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66919" h="337550">
                <a:moveTo>
                  <a:pt x="366919" y="301"/>
                </a:moveTo>
                <a:cubicBezTo>
                  <a:pt x="134240" y="-8109"/>
                  <a:pt x="25853" y="160699"/>
                  <a:pt x="0" y="337550"/>
                </a:cubicBezTo>
              </a:path>
            </a:pathLst>
          </a:custGeom>
          <a:noFill/>
          <a:ln w="28575">
            <a:solidFill>
              <a:schemeClr val="accent2"/>
            </a:solidFill>
            <a:prstDash val="sysDot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12B99082-5EEE-C062-3318-B62503C8DA4B}"/>
              </a:ext>
            </a:extLst>
          </p:cNvPr>
          <p:cNvSpPr/>
          <p:nvPr/>
        </p:nvSpPr>
        <p:spPr>
          <a:xfrm flipH="1">
            <a:off x="7556739" y="3708404"/>
            <a:ext cx="522542" cy="1635654"/>
          </a:xfrm>
          <a:custGeom>
            <a:avLst/>
            <a:gdLst>
              <a:gd name="connsiteX0" fmla="*/ 0 w 404261"/>
              <a:gd name="connsiteY0" fmla="*/ 0 h 741145"/>
              <a:gd name="connsiteX1" fmla="*/ 404261 w 404261"/>
              <a:gd name="connsiteY1" fmla="*/ 741145 h 741145"/>
              <a:gd name="connsiteX0" fmla="*/ 0 w 404261"/>
              <a:gd name="connsiteY0" fmla="*/ 0 h 741145"/>
              <a:gd name="connsiteX1" fmla="*/ 404261 w 404261"/>
              <a:gd name="connsiteY1" fmla="*/ 741145 h 741145"/>
              <a:gd name="connsiteX0" fmla="*/ 0 w 404261"/>
              <a:gd name="connsiteY0" fmla="*/ 0 h 741145"/>
              <a:gd name="connsiteX1" fmla="*/ 404261 w 404261"/>
              <a:gd name="connsiteY1" fmla="*/ 741145 h 741145"/>
              <a:gd name="connsiteX0" fmla="*/ 367848 w 428901"/>
              <a:gd name="connsiteY0" fmla="*/ 0 h 337249"/>
              <a:gd name="connsiteX1" fmla="*/ 929 w 428901"/>
              <a:gd name="connsiteY1" fmla="*/ 337249 h 337249"/>
              <a:gd name="connsiteX0" fmla="*/ 366919 w 431972"/>
              <a:gd name="connsiteY0" fmla="*/ 0 h 337249"/>
              <a:gd name="connsiteX1" fmla="*/ 0 w 431972"/>
              <a:gd name="connsiteY1" fmla="*/ 337249 h 337249"/>
              <a:gd name="connsiteX0" fmla="*/ 366919 w 366919"/>
              <a:gd name="connsiteY0" fmla="*/ 301 h 337550"/>
              <a:gd name="connsiteX1" fmla="*/ 0 w 366919"/>
              <a:gd name="connsiteY1" fmla="*/ 337550 h 337550"/>
              <a:gd name="connsiteX0" fmla="*/ 75867 w 197805"/>
              <a:gd name="connsiteY0" fmla="*/ 708240 h 708240"/>
              <a:gd name="connsiteX1" fmla="*/ 196533 w 197805"/>
              <a:gd name="connsiteY1" fmla="*/ 24141 h 708240"/>
              <a:gd name="connsiteX0" fmla="*/ 140977 w 261643"/>
              <a:gd name="connsiteY0" fmla="*/ 684099 h 684099"/>
              <a:gd name="connsiteX1" fmla="*/ 261643 w 261643"/>
              <a:gd name="connsiteY1" fmla="*/ 0 h 684099"/>
              <a:gd name="connsiteX0" fmla="*/ 27109 w 147775"/>
              <a:gd name="connsiteY0" fmla="*/ 684099 h 684099"/>
              <a:gd name="connsiteX1" fmla="*/ 147775 w 147775"/>
              <a:gd name="connsiteY1" fmla="*/ 0 h 684099"/>
              <a:gd name="connsiteX0" fmla="*/ 640 w 166084"/>
              <a:gd name="connsiteY0" fmla="*/ 735166 h 735166"/>
              <a:gd name="connsiteX1" fmla="*/ 166084 w 166084"/>
              <a:gd name="connsiteY1" fmla="*/ 0 h 735166"/>
              <a:gd name="connsiteX0" fmla="*/ 0 w 178909"/>
              <a:gd name="connsiteY0" fmla="*/ 735166 h 735166"/>
              <a:gd name="connsiteX1" fmla="*/ 165444 w 178909"/>
              <a:gd name="connsiteY1" fmla="*/ 0 h 735166"/>
              <a:gd name="connsiteX0" fmla="*/ 0 w 264419"/>
              <a:gd name="connsiteY0" fmla="*/ 772306 h 772306"/>
              <a:gd name="connsiteX1" fmla="*/ 255001 w 264419"/>
              <a:gd name="connsiteY1" fmla="*/ 0 h 772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64419" h="772306">
                <a:moveTo>
                  <a:pt x="0" y="772306"/>
                </a:moveTo>
                <a:cubicBezTo>
                  <a:pt x="65842" y="554984"/>
                  <a:pt x="315682" y="380248"/>
                  <a:pt x="255001" y="0"/>
                </a:cubicBezTo>
              </a:path>
            </a:pathLst>
          </a:custGeom>
          <a:noFill/>
          <a:ln w="28575">
            <a:solidFill>
              <a:schemeClr val="accent2"/>
            </a:solidFill>
            <a:prstDash val="sysDot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90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C9114A6D-A3E5-25F1-87F4-D2D82B90BAF3}"/>
              </a:ext>
            </a:extLst>
          </p:cNvPr>
          <p:cNvGrpSpPr/>
          <p:nvPr/>
        </p:nvGrpSpPr>
        <p:grpSpPr>
          <a:xfrm>
            <a:off x="838200" y="-45065"/>
            <a:ext cx="4629752" cy="1015663"/>
            <a:chOff x="924025" y="1526961"/>
            <a:chExt cx="4629752" cy="1015663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B516DFA-44B4-29D8-BACF-306C224650A2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0E7D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5FF0532-1492-BE09-AF24-169800691E20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Contador interno (progresivo y regresivo)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60864B1-A3E8-3FA6-21FE-5FE5FA6F9FCB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2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A51B518-F263-3C07-A75C-3FECC566943C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F2971AF-5065-BBBC-D752-E9B5F95FF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Contador interno progresivo. Ejemplo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F22161D-97F4-5C0C-FBEC-7D6B442B846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19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BF5198-441C-74A0-CAA8-31D8B6CC40C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pPr marL="50800" indent="0">
              <a:buNone/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Mostrar los 5 primeros números pares.</a:t>
            </a:r>
          </a:p>
          <a:p>
            <a:pPr marL="50800" indent="0">
              <a:buNone/>
            </a:pPr>
            <a:endParaRPr lang="es-ES" dirty="0">
              <a:solidFill>
                <a:schemeClr val="bg1">
                  <a:lumMod val="50000"/>
                </a:schemeClr>
              </a:solidFill>
            </a:endParaRPr>
          </a:p>
          <a:p>
            <a:pPr marL="50800" indent="0">
              <a:buNone/>
            </a:pPr>
            <a:endParaRPr lang="es-ES" dirty="0">
              <a:solidFill>
                <a:schemeClr val="bg1">
                  <a:lumMod val="50000"/>
                </a:schemeClr>
              </a:solidFill>
            </a:endParaRPr>
          </a:p>
          <a:p>
            <a:pPr marL="50800" indent="0">
              <a:buNone/>
            </a:pPr>
            <a:endParaRPr lang="es-ES" dirty="0">
              <a:solidFill>
                <a:schemeClr val="bg1">
                  <a:lumMod val="50000"/>
                </a:schemeClr>
              </a:solidFill>
            </a:endParaRPr>
          </a:p>
          <a:p>
            <a:pPr marL="50800" indent="0">
              <a:buNone/>
            </a:pPr>
            <a:endParaRPr lang="es-ES" dirty="0">
              <a:solidFill>
                <a:schemeClr val="bg1">
                  <a:lumMod val="50000"/>
                </a:schemeClr>
              </a:solidFill>
            </a:endParaRPr>
          </a:p>
          <a:p>
            <a:pPr marL="50800" indent="0">
              <a:buNone/>
            </a:pPr>
            <a:endParaRPr lang="es-ES" dirty="0">
              <a:solidFill>
                <a:schemeClr val="bg1">
                  <a:lumMod val="50000"/>
                </a:schemeClr>
              </a:solidFill>
            </a:endParaRPr>
          </a:p>
          <a:p>
            <a:pPr marL="50800" indent="0">
              <a:buNone/>
            </a:pPr>
            <a:endParaRPr lang="es-ES" dirty="0">
              <a:solidFill>
                <a:schemeClr val="bg1">
                  <a:lumMod val="50000"/>
                </a:schemeClr>
              </a:solidFill>
            </a:endParaRPr>
          </a:p>
          <a:p>
            <a:pPr marL="50800" indent="0">
              <a:buNone/>
            </a:pPr>
            <a:endParaRPr lang="es-ES" dirty="0">
              <a:solidFill>
                <a:schemeClr val="bg1">
                  <a:lumMod val="50000"/>
                </a:schemeClr>
              </a:solidFill>
            </a:endParaRPr>
          </a:p>
          <a:p>
            <a:pPr marL="50800" indent="0">
              <a:buNone/>
            </a:pPr>
            <a:r>
              <a:rPr lang="es-ES" sz="2000" i="1" dirty="0">
                <a:solidFill>
                  <a:srgbClr val="00B0F0"/>
                </a:solidFill>
              </a:rPr>
              <a:t>* Analiza y discute ambas soluciones.</a:t>
            </a:r>
            <a:endParaRPr lang="en-US" sz="2000" i="1" dirty="0">
              <a:solidFill>
                <a:srgbClr val="00B0F0"/>
              </a:solidFill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7186E2F2-F77B-1031-8CC0-9E0CDF334D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4612" y="3107292"/>
            <a:ext cx="4214435" cy="1976240"/>
          </a:xfrm>
          <a:prstGeom prst="roundRect">
            <a:avLst>
              <a:gd name="adj" fmla="val 7483"/>
            </a:avLst>
          </a:prstGeom>
          <a:solidFill>
            <a:srgbClr val="1E1F2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for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&lt;=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10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++) {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if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%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==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600" b="0" i="1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println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}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46FBA912-0D21-5C60-BE39-2C0462FD71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3688" y="3107292"/>
            <a:ext cx="4423700" cy="1231515"/>
          </a:xfrm>
          <a:prstGeom prst="roundRect">
            <a:avLst>
              <a:gd name="adj" fmla="val 9820"/>
            </a:avLst>
          </a:prstGeom>
          <a:solidFill>
            <a:srgbClr val="1E1F2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for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&lt;=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10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+=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600" b="0" i="1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println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4699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C9114A6D-A3E5-25F1-87F4-D2D82B90BAF3}"/>
              </a:ext>
            </a:extLst>
          </p:cNvPr>
          <p:cNvGrpSpPr/>
          <p:nvPr/>
        </p:nvGrpSpPr>
        <p:grpSpPr>
          <a:xfrm>
            <a:off x="838200" y="-45065"/>
            <a:ext cx="4629752" cy="1015663"/>
            <a:chOff x="924025" y="1526961"/>
            <a:chExt cx="4629752" cy="1015663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B516DFA-44B4-29D8-BACF-306C224650A2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0E7D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5FF0532-1492-BE09-AF24-169800691E20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Contador interno (progresivo y regresivo)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60864B1-A3E8-3FA6-21FE-5FE5FA6F9FCB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2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A51B518-F263-3C07-A75C-3FECC566943C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F2971AF-5065-BBBC-D752-E9B5F95FF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Contador interno regresivo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F22161D-97F4-5C0C-FBEC-7D6B442B846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20</a:t>
            </a:fld>
            <a:endParaRPr lang="es-PE"/>
          </a:p>
        </p:txBody>
      </p:sp>
      <p:sp>
        <p:nvSpPr>
          <p:cNvPr id="20" name="Rectangle 1">
            <a:extLst>
              <a:ext uri="{FF2B5EF4-FFF2-40B4-BE49-F238E27FC236}">
                <a16:creationId xmlns:a16="http://schemas.microsoft.com/office/drawing/2014/main" id="{84D3C0A4-F389-0E8A-3396-571DB4A8C6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1835" y="2832646"/>
            <a:ext cx="7560365" cy="2043773"/>
          </a:xfrm>
          <a:prstGeom prst="roundRect">
            <a:avLst>
              <a:gd name="adj" fmla="val 6731"/>
            </a:avLst>
          </a:prstGeom>
          <a:solidFill>
            <a:srgbClr val="1E1F22"/>
          </a:solidFill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for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highlight>
                  <a:srgbClr val="800080"/>
                </a:highlight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highlight>
                  <a:srgbClr val="800080"/>
                </a:highlight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highlight>
                  <a:srgbClr val="800080"/>
                </a:highlight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highlight>
                  <a:srgbClr val="800080"/>
                </a:highlight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highlight>
                  <a:srgbClr val="800080"/>
                </a:highlight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x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highlight>
                  <a:srgbClr val="808000"/>
                </a:highlight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highlight>
                  <a:srgbClr val="808000"/>
                </a:highlight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&gt;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highlight>
                  <a:srgbClr val="808000"/>
                </a:highlight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limite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highlight>
                  <a:srgbClr val="1B5E8B"/>
                </a:highlight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highlight>
                  <a:srgbClr val="1B5E8B"/>
                </a:highlight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--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//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instrucciones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kumimoji="0" lang="en-US" altLang="en-US" sz="5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A73D7E9-E006-39EA-8BAC-D12843FDB92D}"/>
              </a:ext>
            </a:extLst>
          </p:cNvPr>
          <p:cNvSpPr txBox="1"/>
          <p:nvPr/>
        </p:nvSpPr>
        <p:spPr>
          <a:xfrm>
            <a:off x="2802193" y="2022556"/>
            <a:ext cx="16337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800" dirty="0">
                <a:solidFill>
                  <a:schemeClr val="bg1">
                    <a:lumMod val="50000"/>
                  </a:schemeClr>
                </a:solidFill>
              </a:rPr>
              <a:t>Valor de inicio</a:t>
            </a:r>
            <a:endParaRPr lang="en-US" sz="1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0A520D7-4D72-57FE-E00C-D50E31F68671}"/>
              </a:ext>
            </a:extLst>
          </p:cNvPr>
          <p:cNvSpPr txBox="1"/>
          <p:nvPr/>
        </p:nvSpPr>
        <p:spPr>
          <a:xfrm>
            <a:off x="9687190" y="1870134"/>
            <a:ext cx="13388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800" dirty="0">
                <a:solidFill>
                  <a:schemeClr val="bg1">
                    <a:lumMod val="50000"/>
                  </a:schemeClr>
                </a:solidFill>
              </a:rPr>
              <a:t>Incremento</a:t>
            </a:r>
            <a:br>
              <a:rPr lang="es-ES" sz="18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s-ES" sz="1800" dirty="0">
                <a:solidFill>
                  <a:schemeClr val="bg1">
                    <a:lumMod val="50000"/>
                  </a:schemeClr>
                </a:solidFill>
              </a:rPr>
              <a:t>(-- o -=n)</a:t>
            </a:r>
            <a:endParaRPr lang="en-US" sz="1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12D9DEA-59F2-8551-A5B1-6897FBF6385B}"/>
              </a:ext>
            </a:extLst>
          </p:cNvPr>
          <p:cNvSpPr txBox="1"/>
          <p:nvPr/>
        </p:nvSpPr>
        <p:spPr>
          <a:xfrm>
            <a:off x="6575831" y="5437544"/>
            <a:ext cx="30315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800" dirty="0">
                <a:solidFill>
                  <a:schemeClr val="bg1">
                    <a:lumMod val="50000"/>
                  </a:schemeClr>
                </a:solidFill>
              </a:rPr>
              <a:t>Condición para el valor final</a:t>
            </a:r>
            <a:endParaRPr lang="en-US" sz="1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42C4C01-A296-ED70-D9F6-357EA1F8F8F6}"/>
              </a:ext>
            </a:extLst>
          </p:cNvPr>
          <p:cNvSpPr txBox="1"/>
          <p:nvPr/>
        </p:nvSpPr>
        <p:spPr>
          <a:xfrm>
            <a:off x="460330" y="5527633"/>
            <a:ext cx="5385491" cy="10156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s-ES" sz="2000" b="0" i="0" u="none" strike="noStrike" dirty="0">
                <a:solidFill>
                  <a:schemeClr val="bg1">
                    <a:lumMod val="50000"/>
                  </a:schemeClr>
                </a:solidFill>
                <a:effectLst/>
                <a:latin typeface="+mj-lt"/>
              </a:rPr>
              <a:t>El contador interno regresivo, decrementa su valor automáticamente con cada iteración hasta que la condición sea falsa​.</a:t>
            </a:r>
            <a:endParaRPr lang="en-US" sz="1600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A91512D4-11C0-E69D-6331-2A52A61AD015}"/>
              </a:ext>
            </a:extLst>
          </p:cNvPr>
          <p:cNvSpPr/>
          <p:nvPr/>
        </p:nvSpPr>
        <p:spPr>
          <a:xfrm flipH="1">
            <a:off x="4435974" y="2276689"/>
            <a:ext cx="725102" cy="714892"/>
          </a:xfrm>
          <a:custGeom>
            <a:avLst/>
            <a:gdLst>
              <a:gd name="connsiteX0" fmla="*/ 0 w 404261"/>
              <a:gd name="connsiteY0" fmla="*/ 0 h 741145"/>
              <a:gd name="connsiteX1" fmla="*/ 404261 w 404261"/>
              <a:gd name="connsiteY1" fmla="*/ 741145 h 741145"/>
              <a:gd name="connsiteX0" fmla="*/ 0 w 404261"/>
              <a:gd name="connsiteY0" fmla="*/ 0 h 741145"/>
              <a:gd name="connsiteX1" fmla="*/ 404261 w 404261"/>
              <a:gd name="connsiteY1" fmla="*/ 741145 h 741145"/>
              <a:gd name="connsiteX0" fmla="*/ 0 w 404261"/>
              <a:gd name="connsiteY0" fmla="*/ 0 h 741145"/>
              <a:gd name="connsiteX1" fmla="*/ 404261 w 404261"/>
              <a:gd name="connsiteY1" fmla="*/ 741145 h 741145"/>
              <a:gd name="connsiteX0" fmla="*/ 367848 w 428901"/>
              <a:gd name="connsiteY0" fmla="*/ 0 h 337249"/>
              <a:gd name="connsiteX1" fmla="*/ 929 w 428901"/>
              <a:gd name="connsiteY1" fmla="*/ 337249 h 337249"/>
              <a:gd name="connsiteX0" fmla="*/ 366919 w 431972"/>
              <a:gd name="connsiteY0" fmla="*/ 0 h 337249"/>
              <a:gd name="connsiteX1" fmla="*/ 0 w 431972"/>
              <a:gd name="connsiteY1" fmla="*/ 337249 h 337249"/>
              <a:gd name="connsiteX0" fmla="*/ 366919 w 366919"/>
              <a:gd name="connsiteY0" fmla="*/ 301 h 337550"/>
              <a:gd name="connsiteX1" fmla="*/ 0 w 366919"/>
              <a:gd name="connsiteY1" fmla="*/ 337550 h 337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66919" h="337550">
                <a:moveTo>
                  <a:pt x="366919" y="301"/>
                </a:moveTo>
                <a:cubicBezTo>
                  <a:pt x="134240" y="-8109"/>
                  <a:pt x="25853" y="160699"/>
                  <a:pt x="0" y="337550"/>
                </a:cubicBezTo>
              </a:path>
            </a:pathLst>
          </a:custGeom>
          <a:noFill/>
          <a:ln w="28575">
            <a:solidFill>
              <a:schemeClr val="accent2"/>
            </a:solidFill>
            <a:prstDash val="sysDot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5B41F052-C599-68DC-355B-CCEF4FB6768F}"/>
              </a:ext>
            </a:extLst>
          </p:cNvPr>
          <p:cNvSpPr/>
          <p:nvPr/>
        </p:nvSpPr>
        <p:spPr>
          <a:xfrm>
            <a:off x="8989954" y="2275936"/>
            <a:ext cx="697236" cy="714892"/>
          </a:xfrm>
          <a:custGeom>
            <a:avLst/>
            <a:gdLst>
              <a:gd name="connsiteX0" fmla="*/ 0 w 404261"/>
              <a:gd name="connsiteY0" fmla="*/ 0 h 741145"/>
              <a:gd name="connsiteX1" fmla="*/ 404261 w 404261"/>
              <a:gd name="connsiteY1" fmla="*/ 741145 h 741145"/>
              <a:gd name="connsiteX0" fmla="*/ 0 w 404261"/>
              <a:gd name="connsiteY0" fmla="*/ 0 h 741145"/>
              <a:gd name="connsiteX1" fmla="*/ 404261 w 404261"/>
              <a:gd name="connsiteY1" fmla="*/ 741145 h 741145"/>
              <a:gd name="connsiteX0" fmla="*/ 0 w 404261"/>
              <a:gd name="connsiteY0" fmla="*/ 0 h 741145"/>
              <a:gd name="connsiteX1" fmla="*/ 404261 w 404261"/>
              <a:gd name="connsiteY1" fmla="*/ 741145 h 741145"/>
              <a:gd name="connsiteX0" fmla="*/ 367848 w 428901"/>
              <a:gd name="connsiteY0" fmla="*/ 0 h 337249"/>
              <a:gd name="connsiteX1" fmla="*/ 929 w 428901"/>
              <a:gd name="connsiteY1" fmla="*/ 337249 h 337249"/>
              <a:gd name="connsiteX0" fmla="*/ 366919 w 431972"/>
              <a:gd name="connsiteY0" fmla="*/ 0 h 337249"/>
              <a:gd name="connsiteX1" fmla="*/ 0 w 431972"/>
              <a:gd name="connsiteY1" fmla="*/ 337249 h 337249"/>
              <a:gd name="connsiteX0" fmla="*/ 366919 w 366919"/>
              <a:gd name="connsiteY0" fmla="*/ 301 h 337550"/>
              <a:gd name="connsiteX1" fmla="*/ 0 w 366919"/>
              <a:gd name="connsiteY1" fmla="*/ 337550 h 337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66919" h="337550">
                <a:moveTo>
                  <a:pt x="366919" y="301"/>
                </a:moveTo>
                <a:cubicBezTo>
                  <a:pt x="134240" y="-8109"/>
                  <a:pt x="25853" y="160699"/>
                  <a:pt x="0" y="337550"/>
                </a:cubicBezTo>
              </a:path>
            </a:pathLst>
          </a:custGeom>
          <a:noFill/>
          <a:ln w="28575">
            <a:solidFill>
              <a:schemeClr val="accent2"/>
            </a:solidFill>
            <a:prstDash val="sysDot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12B99082-5EEE-C062-3318-B62503C8DA4B}"/>
              </a:ext>
            </a:extLst>
          </p:cNvPr>
          <p:cNvSpPr/>
          <p:nvPr/>
        </p:nvSpPr>
        <p:spPr>
          <a:xfrm flipH="1">
            <a:off x="7556739" y="3708404"/>
            <a:ext cx="522542" cy="1635654"/>
          </a:xfrm>
          <a:custGeom>
            <a:avLst/>
            <a:gdLst>
              <a:gd name="connsiteX0" fmla="*/ 0 w 404261"/>
              <a:gd name="connsiteY0" fmla="*/ 0 h 741145"/>
              <a:gd name="connsiteX1" fmla="*/ 404261 w 404261"/>
              <a:gd name="connsiteY1" fmla="*/ 741145 h 741145"/>
              <a:gd name="connsiteX0" fmla="*/ 0 w 404261"/>
              <a:gd name="connsiteY0" fmla="*/ 0 h 741145"/>
              <a:gd name="connsiteX1" fmla="*/ 404261 w 404261"/>
              <a:gd name="connsiteY1" fmla="*/ 741145 h 741145"/>
              <a:gd name="connsiteX0" fmla="*/ 0 w 404261"/>
              <a:gd name="connsiteY0" fmla="*/ 0 h 741145"/>
              <a:gd name="connsiteX1" fmla="*/ 404261 w 404261"/>
              <a:gd name="connsiteY1" fmla="*/ 741145 h 741145"/>
              <a:gd name="connsiteX0" fmla="*/ 367848 w 428901"/>
              <a:gd name="connsiteY0" fmla="*/ 0 h 337249"/>
              <a:gd name="connsiteX1" fmla="*/ 929 w 428901"/>
              <a:gd name="connsiteY1" fmla="*/ 337249 h 337249"/>
              <a:gd name="connsiteX0" fmla="*/ 366919 w 431972"/>
              <a:gd name="connsiteY0" fmla="*/ 0 h 337249"/>
              <a:gd name="connsiteX1" fmla="*/ 0 w 431972"/>
              <a:gd name="connsiteY1" fmla="*/ 337249 h 337249"/>
              <a:gd name="connsiteX0" fmla="*/ 366919 w 366919"/>
              <a:gd name="connsiteY0" fmla="*/ 301 h 337550"/>
              <a:gd name="connsiteX1" fmla="*/ 0 w 366919"/>
              <a:gd name="connsiteY1" fmla="*/ 337550 h 337550"/>
              <a:gd name="connsiteX0" fmla="*/ 75867 w 197805"/>
              <a:gd name="connsiteY0" fmla="*/ 708240 h 708240"/>
              <a:gd name="connsiteX1" fmla="*/ 196533 w 197805"/>
              <a:gd name="connsiteY1" fmla="*/ 24141 h 708240"/>
              <a:gd name="connsiteX0" fmla="*/ 140977 w 261643"/>
              <a:gd name="connsiteY0" fmla="*/ 684099 h 684099"/>
              <a:gd name="connsiteX1" fmla="*/ 261643 w 261643"/>
              <a:gd name="connsiteY1" fmla="*/ 0 h 684099"/>
              <a:gd name="connsiteX0" fmla="*/ 27109 w 147775"/>
              <a:gd name="connsiteY0" fmla="*/ 684099 h 684099"/>
              <a:gd name="connsiteX1" fmla="*/ 147775 w 147775"/>
              <a:gd name="connsiteY1" fmla="*/ 0 h 684099"/>
              <a:gd name="connsiteX0" fmla="*/ 640 w 166084"/>
              <a:gd name="connsiteY0" fmla="*/ 735166 h 735166"/>
              <a:gd name="connsiteX1" fmla="*/ 166084 w 166084"/>
              <a:gd name="connsiteY1" fmla="*/ 0 h 735166"/>
              <a:gd name="connsiteX0" fmla="*/ 0 w 178909"/>
              <a:gd name="connsiteY0" fmla="*/ 735166 h 735166"/>
              <a:gd name="connsiteX1" fmla="*/ 165444 w 178909"/>
              <a:gd name="connsiteY1" fmla="*/ 0 h 735166"/>
              <a:gd name="connsiteX0" fmla="*/ 0 w 264419"/>
              <a:gd name="connsiteY0" fmla="*/ 772306 h 772306"/>
              <a:gd name="connsiteX1" fmla="*/ 255001 w 264419"/>
              <a:gd name="connsiteY1" fmla="*/ 0 h 772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64419" h="772306">
                <a:moveTo>
                  <a:pt x="0" y="772306"/>
                </a:moveTo>
                <a:cubicBezTo>
                  <a:pt x="65842" y="554984"/>
                  <a:pt x="315682" y="380248"/>
                  <a:pt x="255001" y="0"/>
                </a:cubicBezTo>
              </a:path>
            </a:pathLst>
          </a:custGeom>
          <a:noFill/>
          <a:ln w="28575">
            <a:solidFill>
              <a:schemeClr val="accent2"/>
            </a:solidFill>
            <a:prstDash val="sysDot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362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C9114A6D-A3E5-25F1-87F4-D2D82B90BAF3}"/>
              </a:ext>
            </a:extLst>
          </p:cNvPr>
          <p:cNvGrpSpPr/>
          <p:nvPr/>
        </p:nvGrpSpPr>
        <p:grpSpPr>
          <a:xfrm>
            <a:off x="838200" y="-45065"/>
            <a:ext cx="4629752" cy="1015663"/>
            <a:chOff x="924025" y="1526961"/>
            <a:chExt cx="4629752" cy="1015663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B516DFA-44B4-29D8-BACF-306C224650A2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0E7D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5FF0532-1492-BE09-AF24-169800691E20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Contador interno (progresivo y regresivo)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60864B1-A3E8-3FA6-21FE-5FE5FA6F9FCB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2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A51B518-F263-3C07-A75C-3FECC566943C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F2971AF-5065-BBBC-D752-E9B5F95FF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Contador interno regresivo. Ejemplo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F22161D-97F4-5C0C-FBEC-7D6B442B846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21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BF5198-441C-74A0-CAA8-31D8B6CC40C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pPr marL="50800" indent="0">
              <a:buNone/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Mostrar los 5 primeros números pares en orden descendente.</a:t>
            </a:r>
          </a:p>
          <a:p>
            <a:pPr marL="50800" indent="0">
              <a:buNone/>
            </a:pPr>
            <a:endParaRPr lang="es-ES" dirty="0">
              <a:solidFill>
                <a:schemeClr val="bg1">
                  <a:lumMod val="50000"/>
                </a:schemeClr>
              </a:solidFill>
            </a:endParaRPr>
          </a:p>
          <a:p>
            <a:pPr marL="50800" indent="0">
              <a:buNone/>
            </a:pPr>
            <a:endParaRPr lang="es-ES" dirty="0">
              <a:solidFill>
                <a:schemeClr val="bg1">
                  <a:lumMod val="50000"/>
                </a:schemeClr>
              </a:solidFill>
            </a:endParaRPr>
          </a:p>
          <a:p>
            <a:pPr marL="50800" indent="0">
              <a:buNone/>
            </a:pPr>
            <a:endParaRPr lang="es-ES" dirty="0">
              <a:solidFill>
                <a:schemeClr val="bg1">
                  <a:lumMod val="50000"/>
                </a:schemeClr>
              </a:solidFill>
            </a:endParaRPr>
          </a:p>
          <a:p>
            <a:pPr marL="50800" indent="0">
              <a:buNone/>
            </a:pPr>
            <a:endParaRPr lang="es-ES" dirty="0">
              <a:solidFill>
                <a:schemeClr val="bg1">
                  <a:lumMod val="50000"/>
                </a:schemeClr>
              </a:solidFill>
            </a:endParaRPr>
          </a:p>
          <a:p>
            <a:pPr marL="50800" indent="0">
              <a:buNone/>
            </a:pPr>
            <a:endParaRPr lang="es-ES" dirty="0">
              <a:solidFill>
                <a:schemeClr val="bg1">
                  <a:lumMod val="50000"/>
                </a:schemeClr>
              </a:solidFill>
            </a:endParaRPr>
          </a:p>
          <a:p>
            <a:pPr marL="50800" indent="0">
              <a:buNone/>
            </a:pPr>
            <a:endParaRPr lang="es-ES" dirty="0">
              <a:solidFill>
                <a:schemeClr val="bg1">
                  <a:lumMod val="50000"/>
                </a:schemeClr>
              </a:solidFill>
            </a:endParaRPr>
          </a:p>
          <a:p>
            <a:pPr marL="50800" indent="0">
              <a:buNone/>
            </a:pPr>
            <a:endParaRPr lang="es-ES" dirty="0">
              <a:solidFill>
                <a:schemeClr val="bg1">
                  <a:lumMod val="50000"/>
                </a:schemeClr>
              </a:solidFill>
            </a:endParaRPr>
          </a:p>
          <a:p>
            <a:pPr marL="50800" indent="0">
              <a:buNone/>
            </a:pPr>
            <a:r>
              <a:rPr lang="es-ES" sz="2000" i="1" dirty="0">
                <a:solidFill>
                  <a:srgbClr val="00B0F0"/>
                </a:solidFill>
              </a:rPr>
              <a:t>* Analiza y discute ambas soluciones.</a:t>
            </a:r>
            <a:endParaRPr lang="en-US" sz="2000" i="1" dirty="0">
              <a:solidFill>
                <a:srgbClr val="00B0F0"/>
              </a:solidFill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7186E2F2-F77B-1031-8CC0-9E0CDF334D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4612" y="3107292"/>
            <a:ext cx="4088617" cy="1976240"/>
          </a:xfrm>
          <a:prstGeom prst="roundRect">
            <a:avLst>
              <a:gd name="adj" fmla="val 7483"/>
            </a:avLst>
          </a:prstGeom>
          <a:solidFill>
            <a:srgbClr val="1E1F2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for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10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&gt;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--) {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if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%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==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600" b="0" i="1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println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}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46FBA912-0D21-5C60-BE39-2C0462FD71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3688" y="3107292"/>
            <a:ext cx="4548326" cy="1231515"/>
          </a:xfrm>
          <a:prstGeom prst="roundRect">
            <a:avLst>
              <a:gd name="adj" fmla="val 9820"/>
            </a:avLst>
          </a:prstGeom>
          <a:solidFill>
            <a:srgbClr val="1E1F2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for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10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&gt;=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-=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600" b="0" i="1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println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7677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C6B983-D187-5021-011D-340D9A6463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22</a:t>
            </a:fld>
            <a:endParaRPr lang="es-PE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32F08B-E599-8764-EE5E-B3C48CE274CF}"/>
              </a:ext>
            </a:extLst>
          </p:cNvPr>
          <p:cNvSpPr txBox="1"/>
          <p:nvPr/>
        </p:nvSpPr>
        <p:spPr>
          <a:xfrm rot="16200000">
            <a:off x="-1552306" y="2760043"/>
            <a:ext cx="559961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800" b="1">
                <a:solidFill>
                  <a:schemeClr val="bg1">
                    <a:lumMod val="85000"/>
                  </a:schemeClr>
                </a:solidFill>
                <a:latin typeface="Helvetica" pitchFamily="2" charset="0"/>
              </a:rPr>
              <a:t>contenido</a:t>
            </a:r>
            <a:endParaRPr lang="en-US" sz="8800" b="1">
              <a:solidFill>
                <a:schemeClr val="bg1">
                  <a:lumMod val="85000"/>
                </a:schemeClr>
              </a:solidFill>
              <a:latin typeface="Helvetica" pitchFamily="2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D8EC2C4-D534-A87E-5305-9BD92B9838D9}"/>
              </a:ext>
            </a:extLst>
          </p:cNvPr>
          <p:cNvGrpSpPr/>
          <p:nvPr/>
        </p:nvGrpSpPr>
        <p:grpSpPr>
          <a:xfrm>
            <a:off x="1955128" y="892964"/>
            <a:ext cx="4629752" cy="1015663"/>
            <a:chOff x="924025" y="1526961"/>
            <a:chExt cx="4629752" cy="101566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FE41E11-2903-D4AD-BABB-046EDBE4AABD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1B5E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FB12F7A-F286-0B30-D30E-E9A916CC839B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Estructura repetitiva </a:t>
              </a:r>
              <a:br>
                <a:rPr lang="es-ES" dirty="0">
                  <a:solidFill>
                    <a:schemeClr val="bg1"/>
                  </a:solidFill>
                  <a:latin typeface="Helvetica" pitchFamily="2" charset="0"/>
                </a:rPr>
              </a:br>
              <a:r>
                <a:rPr lang="es-ES" dirty="0" err="1">
                  <a:solidFill>
                    <a:schemeClr val="bg1"/>
                  </a:solidFill>
                  <a:latin typeface="Helvetica" pitchFamily="2" charset="0"/>
                </a:rPr>
                <a:t>for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3EEA1CE-79B2-915B-2C77-2F1212A1BF67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1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30C6426-CF18-244B-D9EC-4576E393467C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25B4B5B-713C-2D58-C773-D4CFF9997391}"/>
              </a:ext>
            </a:extLst>
          </p:cNvPr>
          <p:cNvGrpSpPr/>
          <p:nvPr/>
        </p:nvGrpSpPr>
        <p:grpSpPr>
          <a:xfrm>
            <a:off x="1955128" y="3561599"/>
            <a:ext cx="4629752" cy="1015663"/>
            <a:chOff x="924025" y="1526961"/>
            <a:chExt cx="4629752" cy="1015663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5F2FB8B-07D6-48FB-E370-38EA16365289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BA750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28AFDEB-1E73-3FEA-2DFF-DBAF08C0A2B6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Práctica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02F77E9-2E11-217F-40EC-8E3C7703B3BB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4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69D5F82-C60A-5B84-5E19-A1B153065B8D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4C62550A-9487-0FB4-AEF5-18BF59D1D1BB}"/>
              </a:ext>
            </a:extLst>
          </p:cNvPr>
          <p:cNvGrpSpPr/>
          <p:nvPr/>
        </p:nvGrpSpPr>
        <p:grpSpPr>
          <a:xfrm>
            <a:off x="1955128" y="1782509"/>
            <a:ext cx="4629752" cy="1015663"/>
            <a:chOff x="924025" y="1526961"/>
            <a:chExt cx="4629752" cy="10156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9EE3C4A-25E0-0661-5719-DFD8A408196E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0E7D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F03E694-3539-B74F-A7F9-A90BF4FC7172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Contador interno (progresivo y regresivo)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0BD6589-A9C6-D2FD-D50D-C5AAC8113E8A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2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E0265B7-9BAF-D770-6E56-5AE1A9C41973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8F24B97A-6631-C486-8F0D-EA635CE80419}"/>
              </a:ext>
            </a:extLst>
          </p:cNvPr>
          <p:cNvSpPr/>
          <p:nvPr/>
        </p:nvSpPr>
        <p:spPr>
          <a:xfrm>
            <a:off x="1801640" y="683513"/>
            <a:ext cx="9678154" cy="5599610"/>
          </a:xfrm>
          <a:prstGeom prst="rect">
            <a:avLst/>
          </a:prstGeom>
          <a:solidFill>
            <a:schemeClr val="bg1">
              <a:alpha val="8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598A8C9-355C-B375-F419-53EB7FBA52CF}"/>
              </a:ext>
            </a:extLst>
          </p:cNvPr>
          <p:cNvGrpSpPr/>
          <p:nvPr/>
        </p:nvGrpSpPr>
        <p:grpSpPr>
          <a:xfrm>
            <a:off x="1955128" y="2672054"/>
            <a:ext cx="4629752" cy="1015663"/>
            <a:chOff x="924025" y="1526961"/>
            <a:chExt cx="4629752" cy="101566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68C5937-AEC8-D4AC-1863-47EC6A0DD5D7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758F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B9DA0B8-3305-EA9B-D50C-133423FA16B6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Variaciones del bucle </a:t>
              </a:r>
              <a:r>
                <a:rPr lang="es-ES" dirty="0" err="1">
                  <a:solidFill>
                    <a:schemeClr val="bg1"/>
                  </a:solidFill>
                  <a:latin typeface="Helvetica" pitchFamily="2" charset="0"/>
                </a:rPr>
                <a:t>for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719D950-4EA4-CB17-5AF9-0E716D1D0C97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3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DB44CEB-5449-91C4-4D8C-947E50150B6A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23246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078FF105-CEB7-7E87-A1FC-0BDB24E5B15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5402"/>
          <a:stretch/>
        </p:blipFill>
        <p:spPr>
          <a:xfrm>
            <a:off x="4141117" y="1766231"/>
            <a:ext cx="6446363" cy="507682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C3418F64-2283-F75F-826E-953BBB7BD066}"/>
              </a:ext>
            </a:extLst>
          </p:cNvPr>
          <p:cNvGrpSpPr/>
          <p:nvPr/>
        </p:nvGrpSpPr>
        <p:grpSpPr>
          <a:xfrm>
            <a:off x="838200" y="-45066"/>
            <a:ext cx="4629752" cy="1015663"/>
            <a:chOff x="924025" y="1526961"/>
            <a:chExt cx="4629752" cy="101566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341F1E5-471F-3965-E66F-1F77A0C1DD00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758F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ECB0B2A-AB3C-D783-94BE-4CA6CBE19ABF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Variaciones del bucle </a:t>
              </a:r>
              <a:r>
                <a:rPr lang="es-ES" dirty="0" err="1">
                  <a:solidFill>
                    <a:schemeClr val="bg1"/>
                  </a:solidFill>
                  <a:latin typeface="Helvetica" pitchFamily="2" charset="0"/>
                </a:rPr>
                <a:t>for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432CD0B-155B-1353-A5FF-3AEB3F29F6CF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3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7A4B57D-E0B5-377A-2E0B-AE3579035FB9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F2971AF-5065-BBBC-D752-E9B5F95FF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Uso de la coma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F22161D-97F4-5C0C-FBEC-7D6B442B846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23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BF5198-441C-74A0-CAA8-31D8B6CC40C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846263"/>
            <a:ext cx="5873685" cy="4373562"/>
          </a:xfrm>
        </p:spPr>
        <p:txBody>
          <a:bodyPr>
            <a:normAutofit/>
          </a:bodyPr>
          <a:lstStyle/>
          <a:p>
            <a:r>
              <a:rPr lang="es-ES" dirty="0"/>
              <a:t>En la estructura </a:t>
            </a:r>
            <a:r>
              <a:rPr lang="es-ES" b="1" dirty="0" err="1">
                <a:solidFill>
                  <a:schemeClr val="accent2"/>
                </a:solidFill>
              </a:rPr>
              <a:t>for</a:t>
            </a:r>
            <a:r>
              <a:rPr lang="es-ES" dirty="0"/>
              <a:t> es posible inicializar más de una variable. Cada inicialización se separa con una coma.</a:t>
            </a:r>
          </a:p>
          <a:p>
            <a:r>
              <a:rPr lang="es-ES" dirty="0"/>
              <a:t>Asimismo, puede modificarse el valor de otra variable en la sección de iteración de la estructura.</a:t>
            </a:r>
            <a:endParaRPr lang="en-US" dirty="0"/>
          </a:p>
        </p:txBody>
      </p:sp>
      <p:sp>
        <p:nvSpPr>
          <p:cNvPr id="22" name="Speech Bubble: Oval 21">
            <a:extLst>
              <a:ext uri="{FF2B5EF4-FFF2-40B4-BE49-F238E27FC236}">
                <a16:creationId xmlns:a16="http://schemas.microsoft.com/office/drawing/2014/main" id="{867F8119-0E86-9551-B2A4-D0D2E1F6711C}"/>
              </a:ext>
            </a:extLst>
          </p:cNvPr>
          <p:cNvSpPr/>
          <p:nvPr/>
        </p:nvSpPr>
        <p:spPr>
          <a:xfrm>
            <a:off x="9552842" y="1017887"/>
            <a:ext cx="1724758" cy="1234771"/>
          </a:xfrm>
          <a:prstGeom prst="wedgeEllipseCallout">
            <a:avLst>
              <a:gd name="adj1" fmla="val -37847"/>
              <a:gd name="adj2" fmla="val 65141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>
                <a:solidFill>
                  <a:schemeClr val="accent4">
                    <a:lumMod val="75000"/>
                  </a:schemeClr>
                </a:solidFill>
              </a:rPr>
              <a:t>¡genial!</a:t>
            </a:r>
            <a:endParaRPr lang="en-US" sz="24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139F2E7-7691-762B-BFFF-FD8F3A40A129}"/>
              </a:ext>
            </a:extLst>
          </p:cNvPr>
          <p:cNvSpPr txBox="1"/>
          <p:nvPr/>
        </p:nvSpPr>
        <p:spPr>
          <a:xfrm>
            <a:off x="105076" y="634677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</a:t>
            </a:r>
          </a:p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https://www.pngplay.com/wp-content/uploads/1/Men-Pointing-Left-PNG-Background-Stock-Photo.png</a:t>
            </a:r>
          </a:p>
        </p:txBody>
      </p:sp>
    </p:spTree>
    <p:extLst>
      <p:ext uri="{BB962C8B-B14F-4D97-AF65-F5344CB8AC3E}">
        <p14:creationId xmlns:p14="http://schemas.microsoft.com/office/powerpoint/2010/main" val="469101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C3418F64-2283-F75F-826E-953BBB7BD066}"/>
              </a:ext>
            </a:extLst>
          </p:cNvPr>
          <p:cNvGrpSpPr/>
          <p:nvPr/>
        </p:nvGrpSpPr>
        <p:grpSpPr>
          <a:xfrm>
            <a:off x="838200" y="-45066"/>
            <a:ext cx="4629752" cy="1015663"/>
            <a:chOff x="924025" y="1526961"/>
            <a:chExt cx="4629752" cy="101566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341F1E5-471F-3965-E66F-1F77A0C1DD00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758F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ECB0B2A-AB3C-D783-94BE-4CA6CBE19ABF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Variaciones del bucle </a:t>
              </a:r>
              <a:r>
                <a:rPr lang="es-ES" dirty="0" err="1">
                  <a:solidFill>
                    <a:schemeClr val="bg1"/>
                  </a:solidFill>
                  <a:latin typeface="Helvetica" pitchFamily="2" charset="0"/>
                </a:rPr>
                <a:t>for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432CD0B-155B-1353-A5FF-3AEB3F29F6CF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3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7A4B57D-E0B5-377A-2E0B-AE3579035FB9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F2971AF-5065-BBBC-D752-E9B5F95FF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Uso de la coma. Ejemplo.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F22161D-97F4-5C0C-FBEC-7D6B442B846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24</a:t>
            </a:fld>
            <a:endParaRPr lang="es-PE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84EB1596-1782-C918-7FD5-71063AA467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4071" y="2069661"/>
            <a:ext cx="6475966" cy="2390077"/>
          </a:xfrm>
          <a:prstGeom prst="roundRect">
            <a:avLst>
              <a:gd name="adj" fmla="val 5360"/>
            </a:avLst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public static void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C66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main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(String[]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args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z =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10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for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x =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x &lt;=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10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x++) {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b="0" i="1" u="none" strike="noStrike" cap="none" normalizeH="0" baseline="0" dirty="0" err="1">
                <a:ln>
                  <a:noFill/>
                </a:ln>
                <a:solidFill>
                  <a:srgbClr val="9876A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.printf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"%d - %d = %d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\n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x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z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x - z)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z--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52A898-FBD5-0AE1-9274-02774A6CF648}"/>
              </a:ext>
            </a:extLst>
          </p:cNvPr>
          <p:cNvSpPr txBox="1"/>
          <p:nvPr/>
        </p:nvSpPr>
        <p:spPr>
          <a:xfrm>
            <a:off x="9377585" y="2990249"/>
            <a:ext cx="1463242" cy="2853879"/>
          </a:xfrm>
          <a:prstGeom prst="roundRect">
            <a:avLst>
              <a:gd name="adj" fmla="val 3207"/>
            </a:avLst>
          </a:prstGeom>
          <a:solidFill>
            <a:srgbClr val="002060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1 - 10 = -9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2 - 9 = -7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3 - 8 = -5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4 - 7 = -3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5 - 6 = -1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6 - 5 = 1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7 - 4 = 3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8 - 3 = 5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9 - 2 = 7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10 - 1 = 9</a:t>
            </a: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C7B75B40-17D4-C120-A197-AEBCEC3B71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4071" y="4631357"/>
            <a:ext cx="6475966" cy="1724993"/>
          </a:xfrm>
          <a:prstGeom prst="roundRect">
            <a:avLst>
              <a:gd name="adj" fmla="val 6253"/>
            </a:avLst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public static void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C66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main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(String[]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args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for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x =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z =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10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x &lt;=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10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x++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z--) {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b="0" i="1" u="none" strike="noStrike" cap="none" normalizeH="0" baseline="0" dirty="0" err="1">
                <a:ln>
                  <a:noFill/>
                </a:ln>
                <a:solidFill>
                  <a:srgbClr val="9876A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.printf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"%d - %d = %d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\n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x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z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x - z)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C95B07B-D88E-746D-4A47-1055D0B2F25B}"/>
              </a:ext>
            </a:extLst>
          </p:cNvPr>
          <p:cNvSpPr/>
          <p:nvPr/>
        </p:nvSpPr>
        <p:spPr>
          <a:xfrm>
            <a:off x="3530554" y="5034962"/>
            <a:ext cx="2059541" cy="304102"/>
          </a:xfrm>
          <a:prstGeom prst="roundRect">
            <a:avLst/>
          </a:prstGeom>
          <a:noFill/>
          <a:ln w="12700">
            <a:solidFill>
              <a:schemeClr val="accent4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F9CCD30-187E-57F0-EBA4-6EA1C3DE9C73}"/>
              </a:ext>
            </a:extLst>
          </p:cNvPr>
          <p:cNvSpPr/>
          <p:nvPr/>
        </p:nvSpPr>
        <p:spPr>
          <a:xfrm>
            <a:off x="6527292" y="5055868"/>
            <a:ext cx="990710" cy="283196"/>
          </a:xfrm>
          <a:prstGeom prst="roundRect">
            <a:avLst/>
          </a:prstGeom>
          <a:noFill/>
          <a:ln w="12700">
            <a:solidFill>
              <a:schemeClr val="accent4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8069519-4379-0D75-FAFB-6E64A06955F8}"/>
              </a:ext>
            </a:extLst>
          </p:cNvPr>
          <p:cNvSpPr txBox="1"/>
          <p:nvPr/>
        </p:nvSpPr>
        <p:spPr>
          <a:xfrm>
            <a:off x="9377584" y="2575820"/>
            <a:ext cx="7980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Salida:</a:t>
            </a:r>
            <a:endParaRPr lang="en-US" dirty="0">
              <a:solidFill>
                <a:schemeClr val="bg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8EF365F-94B1-4402-1371-63C9410AF23F}"/>
              </a:ext>
            </a:extLst>
          </p:cNvPr>
          <p:cNvSpPr/>
          <p:nvPr/>
        </p:nvSpPr>
        <p:spPr>
          <a:xfrm>
            <a:off x="4259459" y="2488215"/>
            <a:ext cx="216613" cy="254961"/>
          </a:xfrm>
          <a:custGeom>
            <a:avLst/>
            <a:gdLst>
              <a:gd name="connsiteX0" fmla="*/ 0 w 404261"/>
              <a:gd name="connsiteY0" fmla="*/ 0 h 741145"/>
              <a:gd name="connsiteX1" fmla="*/ 404261 w 404261"/>
              <a:gd name="connsiteY1" fmla="*/ 741145 h 741145"/>
              <a:gd name="connsiteX0" fmla="*/ 0 w 404261"/>
              <a:gd name="connsiteY0" fmla="*/ 0 h 741145"/>
              <a:gd name="connsiteX1" fmla="*/ 404261 w 404261"/>
              <a:gd name="connsiteY1" fmla="*/ 741145 h 741145"/>
              <a:gd name="connsiteX0" fmla="*/ 0 w 404261"/>
              <a:gd name="connsiteY0" fmla="*/ 0 h 741145"/>
              <a:gd name="connsiteX1" fmla="*/ 404261 w 404261"/>
              <a:gd name="connsiteY1" fmla="*/ 741145 h 741145"/>
              <a:gd name="connsiteX0" fmla="*/ 0 w 604127"/>
              <a:gd name="connsiteY0" fmla="*/ 0 h 741145"/>
              <a:gd name="connsiteX1" fmla="*/ 404261 w 604127"/>
              <a:gd name="connsiteY1" fmla="*/ 741145 h 741145"/>
              <a:gd name="connsiteX0" fmla="*/ 0 w 604127"/>
              <a:gd name="connsiteY0" fmla="*/ 142438 h 883583"/>
              <a:gd name="connsiteX1" fmla="*/ 404261 w 604127"/>
              <a:gd name="connsiteY1" fmla="*/ 883583 h 8835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04127" h="883583">
                <a:moveTo>
                  <a:pt x="0" y="142438"/>
                </a:moveTo>
                <a:cubicBezTo>
                  <a:pt x="259882" y="-112194"/>
                  <a:pt x="939121" y="-112749"/>
                  <a:pt x="404261" y="883583"/>
                </a:cubicBezTo>
              </a:path>
            </a:pathLst>
          </a:custGeom>
          <a:noFill/>
          <a:ln w="19050">
            <a:solidFill>
              <a:schemeClr val="accent4"/>
            </a:solidFill>
            <a:prstDash val="sysDot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542FF453-AF7C-FF53-81F5-B15A1CCA34B3}"/>
              </a:ext>
            </a:extLst>
          </p:cNvPr>
          <p:cNvSpPr/>
          <p:nvPr/>
        </p:nvSpPr>
        <p:spPr>
          <a:xfrm flipV="1">
            <a:off x="3990449" y="3103346"/>
            <a:ext cx="1741048" cy="631031"/>
          </a:xfrm>
          <a:custGeom>
            <a:avLst/>
            <a:gdLst>
              <a:gd name="connsiteX0" fmla="*/ 0 w 404261"/>
              <a:gd name="connsiteY0" fmla="*/ 0 h 741145"/>
              <a:gd name="connsiteX1" fmla="*/ 404261 w 404261"/>
              <a:gd name="connsiteY1" fmla="*/ 741145 h 741145"/>
              <a:gd name="connsiteX0" fmla="*/ 0 w 404261"/>
              <a:gd name="connsiteY0" fmla="*/ 0 h 741145"/>
              <a:gd name="connsiteX1" fmla="*/ 404261 w 404261"/>
              <a:gd name="connsiteY1" fmla="*/ 741145 h 741145"/>
              <a:gd name="connsiteX0" fmla="*/ 0 w 404261"/>
              <a:gd name="connsiteY0" fmla="*/ 0 h 741145"/>
              <a:gd name="connsiteX1" fmla="*/ 404261 w 404261"/>
              <a:gd name="connsiteY1" fmla="*/ 741145 h 741145"/>
              <a:gd name="connsiteX0" fmla="*/ 0 w 404642"/>
              <a:gd name="connsiteY0" fmla="*/ 0 h 741145"/>
              <a:gd name="connsiteX1" fmla="*/ 404261 w 404642"/>
              <a:gd name="connsiteY1" fmla="*/ 741145 h 741145"/>
              <a:gd name="connsiteX0" fmla="*/ 0 w 404633"/>
              <a:gd name="connsiteY0" fmla="*/ 129885 h 871030"/>
              <a:gd name="connsiteX1" fmla="*/ 404261 w 404633"/>
              <a:gd name="connsiteY1" fmla="*/ 871030 h 871030"/>
              <a:gd name="connsiteX0" fmla="*/ 0 w 405800"/>
              <a:gd name="connsiteY0" fmla="*/ 240938 h 982083"/>
              <a:gd name="connsiteX1" fmla="*/ 404261 w 405800"/>
              <a:gd name="connsiteY1" fmla="*/ 982083 h 982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05800" h="982083">
                <a:moveTo>
                  <a:pt x="0" y="240938"/>
                </a:moveTo>
                <a:cubicBezTo>
                  <a:pt x="394598" y="-369731"/>
                  <a:pt x="413333" y="292477"/>
                  <a:pt x="404261" y="982083"/>
                </a:cubicBezTo>
              </a:path>
            </a:pathLst>
          </a:custGeom>
          <a:noFill/>
          <a:ln w="19050">
            <a:solidFill>
              <a:schemeClr val="accent4"/>
            </a:solidFill>
            <a:prstDash val="sysDot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FD74334-EA5B-4761-08D6-B14413C97EC4}"/>
              </a:ext>
            </a:extLst>
          </p:cNvPr>
          <p:cNvSpPr txBox="1"/>
          <p:nvPr/>
        </p:nvSpPr>
        <p:spPr>
          <a:xfrm>
            <a:off x="1171532" y="2145473"/>
            <a:ext cx="11395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800" dirty="0">
                <a:solidFill>
                  <a:schemeClr val="bg1">
                    <a:lumMod val="50000"/>
                  </a:schemeClr>
                </a:solidFill>
              </a:rPr>
              <a:t>Solución original</a:t>
            </a:r>
            <a:endParaRPr lang="en-US" sz="1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764D4A9-D3A9-D715-A2D4-FCDE63901625}"/>
              </a:ext>
            </a:extLst>
          </p:cNvPr>
          <p:cNvSpPr txBox="1"/>
          <p:nvPr/>
        </p:nvSpPr>
        <p:spPr>
          <a:xfrm>
            <a:off x="659830" y="4631357"/>
            <a:ext cx="15886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800" dirty="0">
                <a:solidFill>
                  <a:schemeClr val="bg1">
                    <a:lumMod val="50000"/>
                  </a:schemeClr>
                </a:solidFill>
              </a:rPr>
              <a:t>Incorporando </a:t>
            </a:r>
            <a:r>
              <a:rPr lang="es-ES" sz="1800" b="1" dirty="0">
                <a:solidFill>
                  <a:schemeClr val="bg1">
                    <a:lumMod val="50000"/>
                  </a:schemeClr>
                </a:solidFill>
              </a:rPr>
              <a:t>z</a:t>
            </a:r>
            <a:r>
              <a:rPr lang="es-ES" sz="1800" dirty="0">
                <a:solidFill>
                  <a:schemeClr val="bg1">
                    <a:lumMod val="50000"/>
                  </a:schemeClr>
                </a:solidFill>
              </a:rPr>
              <a:t> en la estructura </a:t>
            </a:r>
            <a:r>
              <a:rPr lang="es-ES" sz="1800" b="1" dirty="0" err="1">
                <a:solidFill>
                  <a:schemeClr val="bg1">
                    <a:lumMod val="50000"/>
                  </a:schemeClr>
                </a:solidFill>
              </a:rPr>
              <a:t>for</a:t>
            </a:r>
            <a:endParaRPr lang="en-US" sz="1800" b="1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9340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C3418F64-2283-F75F-826E-953BBB7BD066}"/>
              </a:ext>
            </a:extLst>
          </p:cNvPr>
          <p:cNvGrpSpPr/>
          <p:nvPr/>
        </p:nvGrpSpPr>
        <p:grpSpPr>
          <a:xfrm>
            <a:off x="838200" y="-45066"/>
            <a:ext cx="4629752" cy="1015663"/>
            <a:chOff x="924025" y="1526961"/>
            <a:chExt cx="4629752" cy="101566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341F1E5-471F-3965-E66F-1F77A0C1DD00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758F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ECB0B2A-AB3C-D783-94BE-4CA6CBE19ABF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Variaciones del bucle </a:t>
              </a:r>
              <a:r>
                <a:rPr lang="es-ES" dirty="0" err="1">
                  <a:solidFill>
                    <a:schemeClr val="bg1"/>
                  </a:solidFill>
                  <a:latin typeface="Helvetica" pitchFamily="2" charset="0"/>
                </a:rPr>
                <a:t>for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432CD0B-155B-1353-A5FF-3AEB3F29F6CF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3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7A4B57D-E0B5-377A-2E0B-AE3579035FB9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F2971AF-5065-BBBC-D752-E9B5F95FF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Prueba condicional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F22161D-97F4-5C0C-FBEC-7D6B442B846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25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BF5198-441C-74A0-CAA8-31D8B6CC40C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s-ES" dirty="0"/>
              <a:t>Las secciones de inicialización, prueba condicional e iteración </a:t>
            </a:r>
            <a:r>
              <a:rPr lang="es-ES" u="sng" dirty="0"/>
              <a:t>no se utilizan solo para su propósito original</a:t>
            </a:r>
            <a:r>
              <a:rPr lang="es-ES" dirty="0"/>
              <a:t>.</a:t>
            </a:r>
          </a:p>
          <a:p>
            <a:r>
              <a:rPr lang="es-ES" dirty="0"/>
              <a:t>La </a:t>
            </a:r>
            <a:r>
              <a:rPr lang="es-ES" b="1" dirty="0"/>
              <a:t>prueba condicional </a:t>
            </a:r>
            <a:r>
              <a:rPr lang="es-ES" dirty="0"/>
              <a:t>no necesariamente debe evaluar el valor de la variable de control del bucle.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73ADEF91-39E3-F37C-D151-6861A99A9E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684" y="4029050"/>
            <a:ext cx="9524601" cy="2671441"/>
          </a:xfrm>
          <a:prstGeom prst="roundRect">
            <a:avLst>
              <a:gd name="adj" fmla="val 3167"/>
            </a:avLst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public static void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C66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main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(String[]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args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boolean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seEncontroMultiploDeCinco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false;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for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!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seEncontroMultiploDeCinco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++) {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if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%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5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==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seEncontroMultiploDeCinco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true;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}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90B53A-7932-9645-3C29-B6F98111B1BB}"/>
              </a:ext>
            </a:extLst>
          </p:cNvPr>
          <p:cNvSpPr txBox="1"/>
          <p:nvPr/>
        </p:nvSpPr>
        <p:spPr>
          <a:xfrm>
            <a:off x="7981787" y="4345868"/>
            <a:ext cx="2791574" cy="19913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ES" dirty="0">
                <a:solidFill>
                  <a:srgbClr val="92D050"/>
                </a:solidFill>
                <a:latin typeface="+mj-lt"/>
              </a:rPr>
              <a:t>En este ejemplo, el bucle </a:t>
            </a:r>
            <a:r>
              <a:rPr lang="es-ES" b="1" dirty="0" err="1">
                <a:solidFill>
                  <a:srgbClr val="92D050"/>
                </a:solidFill>
                <a:latin typeface="+mj-lt"/>
              </a:rPr>
              <a:t>for</a:t>
            </a:r>
            <a:r>
              <a:rPr lang="es-ES" dirty="0">
                <a:solidFill>
                  <a:srgbClr val="92D050"/>
                </a:solidFill>
                <a:latin typeface="+mj-lt"/>
              </a:rPr>
              <a:t> continúa su ejecución hasta que la variable booleana </a:t>
            </a:r>
            <a:r>
              <a:rPr lang="es-ES" b="1" dirty="0" err="1">
                <a:solidFill>
                  <a:srgbClr val="92D050"/>
                </a:solidFill>
                <a:latin typeface="+mj-lt"/>
              </a:rPr>
              <a:t>seEncontroMultiploDeCinco</a:t>
            </a:r>
            <a:r>
              <a:rPr lang="es-ES" dirty="0">
                <a:solidFill>
                  <a:srgbClr val="92D050"/>
                </a:solidFill>
                <a:latin typeface="+mj-lt"/>
              </a:rPr>
              <a:t> sea verdadera. No se evalúa el valor de la variable </a:t>
            </a:r>
            <a:r>
              <a:rPr lang="es-ES" b="1" dirty="0">
                <a:solidFill>
                  <a:srgbClr val="92D050"/>
                </a:solidFill>
                <a:latin typeface="+mj-lt"/>
              </a:rPr>
              <a:t>i</a:t>
            </a:r>
            <a:r>
              <a:rPr lang="es-ES" dirty="0">
                <a:solidFill>
                  <a:srgbClr val="92D050"/>
                </a:solidFill>
                <a:latin typeface="+mj-lt"/>
              </a:rPr>
              <a:t>.</a:t>
            </a:r>
            <a:endParaRPr lang="en-US" dirty="0">
              <a:solidFill>
                <a:srgbClr val="92D05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812890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C3418F64-2283-F75F-826E-953BBB7BD066}"/>
              </a:ext>
            </a:extLst>
          </p:cNvPr>
          <p:cNvGrpSpPr/>
          <p:nvPr/>
        </p:nvGrpSpPr>
        <p:grpSpPr>
          <a:xfrm>
            <a:off x="838200" y="-45066"/>
            <a:ext cx="4629752" cy="1015663"/>
            <a:chOff x="924025" y="1526961"/>
            <a:chExt cx="4629752" cy="101566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341F1E5-471F-3965-E66F-1F77A0C1DD00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758F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ECB0B2A-AB3C-D783-94BE-4CA6CBE19ABF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Variaciones del bucle </a:t>
              </a:r>
              <a:r>
                <a:rPr lang="es-ES" dirty="0" err="1">
                  <a:solidFill>
                    <a:schemeClr val="bg1"/>
                  </a:solidFill>
                  <a:latin typeface="Helvetica" pitchFamily="2" charset="0"/>
                </a:rPr>
                <a:t>for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432CD0B-155B-1353-A5FF-3AEB3F29F6CF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3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7A4B57D-E0B5-377A-2E0B-AE3579035FB9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F2971AF-5065-BBBC-D752-E9B5F95FF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for</a:t>
            </a:r>
            <a:r>
              <a:rPr lang="es-ES" dirty="0"/>
              <a:t> sin cuerpo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F22161D-97F4-5C0C-FBEC-7D6B442B846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26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BF5198-441C-74A0-CAA8-31D8B6CC40C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s-ES" dirty="0"/>
              <a:t>En Java, el cuerpo de una estructura </a:t>
            </a:r>
            <a:r>
              <a:rPr lang="es-ES" b="1" dirty="0" err="1">
                <a:solidFill>
                  <a:schemeClr val="accent2"/>
                </a:solidFill>
              </a:rPr>
              <a:t>for</a:t>
            </a:r>
            <a:r>
              <a:rPr lang="es-ES" dirty="0"/>
              <a:t> </a:t>
            </a:r>
            <a:r>
              <a:rPr lang="es-ES" u="sng" dirty="0"/>
              <a:t>puede estar vacío</a:t>
            </a:r>
            <a:r>
              <a:rPr lang="es-ES" dirty="0"/>
              <a:t>.</a:t>
            </a:r>
          </a:p>
          <a:p>
            <a:r>
              <a:rPr lang="es-ES" dirty="0"/>
              <a:t>Esto es posible porque una instrucción </a:t>
            </a:r>
            <a:r>
              <a:rPr lang="es-ES" b="1" dirty="0" err="1">
                <a:solidFill>
                  <a:schemeClr val="accent2"/>
                </a:solidFill>
              </a:rPr>
              <a:t>null</a:t>
            </a:r>
            <a:r>
              <a:rPr lang="es-ES" dirty="0"/>
              <a:t> es sintácticamente válida.</a:t>
            </a: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EBF651FB-F241-3DC8-1148-61B748DFF3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6402" y="3768402"/>
            <a:ext cx="3800576" cy="1957839"/>
          </a:xfrm>
          <a:prstGeom prst="roundRect">
            <a:avLst>
              <a:gd name="adj" fmla="val 6149"/>
            </a:avLst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suma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for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&lt;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10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++) {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suma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+=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600" b="0" i="1" u="none" strike="noStrike" cap="none" normalizeH="0" baseline="0" dirty="0" err="1">
                <a:ln>
                  <a:noFill/>
                </a:ln>
                <a:solidFill>
                  <a:srgbClr val="9876A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.println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suma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28570924-1B43-1105-FE14-9B55B982CB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2504" y="3768402"/>
            <a:ext cx="4672950" cy="1976240"/>
          </a:xfrm>
          <a:prstGeom prst="roundRect">
            <a:avLst>
              <a:gd name="adj" fmla="val 7245"/>
            </a:avLst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suma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CC7832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for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&lt;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10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suma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+=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++)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CC7832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600" b="0" i="1" u="none" strike="noStrike" cap="none" normalizeH="0" baseline="0" dirty="0" err="1">
                <a:ln>
                  <a:noFill/>
                </a:ln>
                <a:solidFill>
                  <a:srgbClr val="9876A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.println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suma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A1C9BB6-AC5F-EBDE-DEBC-D1049500A0F6}"/>
              </a:ext>
            </a:extLst>
          </p:cNvPr>
          <p:cNvSpPr txBox="1"/>
          <p:nvPr/>
        </p:nvSpPr>
        <p:spPr>
          <a:xfrm>
            <a:off x="2330246" y="5958215"/>
            <a:ext cx="73398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dirty="0">
                <a:solidFill>
                  <a:srgbClr val="00B0F0"/>
                </a:solidFill>
                <a:latin typeface="+mj-lt"/>
              </a:rPr>
              <a:t>Ambos bloques de código realizan el mismo cálculo. </a:t>
            </a:r>
            <a:br>
              <a:rPr lang="es-ES" sz="1600" dirty="0">
                <a:solidFill>
                  <a:srgbClr val="00B0F0"/>
                </a:solidFill>
                <a:latin typeface="+mj-lt"/>
              </a:rPr>
            </a:br>
            <a:r>
              <a:rPr lang="es-ES" sz="1600" dirty="0">
                <a:solidFill>
                  <a:srgbClr val="00B0F0"/>
                </a:solidFill>
                <a:latin typeface="+mj-lt"/>
              </a:rPr>
              <a:t>Se halla la suma de los números menores a 10.</a:t>
            </a:r>
            <a:endParaRPr lang="en-US" sz="1600" dirty="0">
              <a:solidFill>
                <a:srgbClr val="00B0F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228251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C6B983-D187-5021-011D-340D9A6463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27</a:t>
            </a:fld>
            <a:endParaRPr lang="es-PE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32F08B-E599-8764-EE5E-B3C48CE274CF}"/>
              </a:ext>
            </a:extLst>
          </p:cNvPr>
          <p:cNvSpPr txBox="1"/>
          <p:nvPr/>
        </p:nvSpPr>
        <p:spPr>
          <a:xfrm rot="16200000">
            <a:off x="-1552306" y="2760043"/>
            <a:ext cx="559961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800" b="1">
                <a:solidFill>
                  <a:schemeClr val="bg1">
                    <a:lumMod val="85000"/>
                  </a:schemeClr>
                </a:solidFill>
                <a:latin typeface="Helvetica" pitchFamily="2" charset="0"/>
              </a:rPr>
              <a:t>contenido</a:t>
            </a:r>
            <a:endParaRPr lang="en-US" sz="8800" b="1">
              <a:solidFill>
                <a:schemeClr val="bg1">
                  <a:lumMod val="85000"/>
                </a:schemeClr>
              </a:solidFill>
              <a:latin typeface="Helvetica" pitchFamily="2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D8EC2C4-D534-A87E-5305-9BD92B9838D9}"/>
              </a:ext>
            </a:extLst>
          </p:cNvPr>
          <p:cNvGrpSpPr/>
          <p:nvPr/>
        </p:nvGrpSpPr>
        <p:grpSpPr>
          <a:xfrm>
            <a:off x="1955128" y="892964"/>
            <a:ext cx="4629752" cy="1015663"/>
            <a:chOff x="924025" y="1526961"/>
            <a:chExt cx="4629752" cy="101566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FE41E11-2903-D4AD-BABB-046EDBE4AABD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1B5E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FB12F7A-F286-0B30-D30E-E9A916CC839B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Estructura repetitiva </a:t>
              </a:r>
              <a:br>
                <a:rPr lang="es-ES" dirty="0">
                  <a:solidFill>
                    <a:schemeClr val="bg1"/>
                  </a:solidFill>
                  <a:latin typeface="Helvetica" pitchFamily="2" charset="0"/>
                </a:rPr>
              </a:br>
              <a:r>
                <a:rPr lang="es-ES" dirty="0" err="1">
                  <a:solidFill>
                    <a:schemeClr val="bg1"/>
                  </a:solidFill>
                  <a:latin typeface="Helvetica" pitchFamily="2" charset="0"/>
                </a:rPr>
                <a:t>for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3EEA1CE-79B2-915B-2C77-2F1212A1BF67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1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30C6426-CF18-244B-D9EC-4576E393467C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4C62550A-9487-0FB4-AEF5-18BF59D1D1BB}"/>
              </a:ext>
            </a:extLst>
          </p:cNvPr>
          <p:cNvGrpSpPr/>
          <p:nvPr/>
        </p:nvGrpSpPr>
        <p:grpSpPr>
          <a:xfrm>
            <a:off x="1955128" y="1782509"/>
            <a:ext cx="4629752" cy="1015663"/>
            <a:chOff x="924025" y="1526961"/>
            <a:chExt cx="4629752" cy="10156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9EE3C4A-25E0-0661-5719-DFD8A408196E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0E7D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F03E694-3539-B74F-A7F9-A90BF4FC7172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Contador interno (progresivo y regresivo)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0BD6589-A9C6-D2FD-D50D-C5AAC8113E8A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2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E0265B7-9BAF-D770-6E56-5AE1A9C41973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598A8C9-355C-B375-F419-53EB7FBA52CF}"/>
              </a:ext>
            </a:extLst>
          </p:cNvPr>
          <p:cNvGrpSpPr/>
          <p:nvPr/>
        </p:nvGrpSpPr>
        <p:grpSpPr>
          <a:xfrm>
            <a:off x="1955128" y="2672054"/>
            <a:ext cx="4629752" cy="1015663"/>
            <a:chOff x="924025" y="1526961"/>
            <a:chExt cx="4629752" cy="101566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68C5937-AEC8-D4AC-1863-47EC6A0DD5D7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758F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B9DA0B8-3305-EA9B-D50C-133423FA16B6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Variaciones del bucle </a:t>
              </a:r>
              <a:r>
                <a:rPr lang="es-ES" dirty="0" err="1">
                  <a:solidFill>
                    <a:schemeClr val="bg1"/>
                  </a:solidFill>
                  <a:latin typeface="Helvetica" pitchFamily="2" charset="0"/>
                </a:rPr>
                <a:t>for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719D950-4EA4-CB17-5AF9-0E716D1D0C97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3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DB44CEB-5449-91C4-4D8C-947E50150B6A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8F24B97A-6631-C486-8F0D-EA635CE80419}"/>
              </a:ext>
            </a:extLst>
          </p:cNvPr>
          <p:cNvSpPr/>
          <p:nvPr/>
        </p:nvSpPr>
        <p:spPr>
          <a:xfrm>
            <a:off x="1801640" y="683513"/>
            <a:ext cx="9678154" cy="5599610"/>
          </a:xfrm>
          <a:prstGeom prst="rect">
            <a:avLst/>
          </a:prstGeom>
          <a:solidFill>
            <a:schemeClr val="bg1">
              <a:alpha val="8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25B4B5B-713C-2D58-C773-D4CFF9997391}"/>
              </a:ext>
            </a:extLst>
          </p:cNvPr>
          <p:cNvGrpSpPr/>
          <p:nvPr/>
        </p:nvGrpSpPr>
        <p:grpSpPr>
          <a:xfrm>
            <a:off x="1955128" y="3561599"/>
            <a:ext cx="4629752" cy="1015663"/>
            <a:chOff x="924025" y="1526961"/>
            <a:chExt cx="4629752" cy="1015663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5F2FB8B-07D6-48FB-E370-38EA16365289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BA750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28AFDEB-1E73-3FEA-2DFF-DBAF08C0A2B6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Práctica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02F77E9-2E11-217F-40EC-8E3C7703B3BB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4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69D5F82-C60A-5B84-5E19-A1B153065B8D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94730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A54B47DD-C635-A8C5-8563-7BF7C1DC10D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2025" r="19260"/>
          <a:stretch/>
        </p:blipFill>
        <p:spPr>
          <a:xfrm>
            <a:off x="1" y="0"/>
            <a:ext cx="4723700" cy="6858000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011C1892-9AAD-1F24-8719-3A185025DD4B}"/>
              </a:ext>
            </a:extLst>
          </p:cNvPr>
          <p:cNvGrpSpPr/>
          <p:nvPr/>
        </p:nvGrpSpPr>
        <p:grpSpPr>
          <a:xfrm>
            <a:off x="835094" y="-42004"/>
            <a:ext cx="4629752" cy="1015663"/>
            <a:chOff x="924025" y="1526961"/>
            <a:chExt cx="4629752" cy="1015663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8A2B471-A308-3AD9-98B2-AE5BC114FE1A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BA750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A22BD14-0EC8-96EE-710D-14064DBBB361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Práctica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EF534FA-6B7C-0F27-B195-F2B6D54D8574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4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C5F9896-BA2D-08E2-4FD9-EE2666BF432B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4254EFB-38B0-4700-46B3-B53BDC3A5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9587" y="849745"/>
            <a:ext cx="6054213" cy="785528"/>
          </a:xfrm>
        </p:spPr>
        <p:txBody>
          <a:bodyPr/>
          <a:lstStyle/>
          <a:p>
            <a:r>
              <a:rPr lang="es-ES" dirty="0"/>
              <a:t>Cuestionario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4194C3-3BD0-2FA3-7C14-99D2A23D257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28</a:t>
            </a:fld>
            <a:endParaRPr lang="es-PE"/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D60A599C-E39F-BAF0-7848-1189FEF361D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299587" y="1846263"/>
            <a:ext cx="6054213" cy="4373562"/>
          </a:xfrm>
        </p:spPr>
        <p:txBody>
          <a:bodyPr/>
          <a:lstStyle/>
          <a:p>
            <a:pPr marL="50800" indent="0">
              <a:buNone/>
            </a:pPr>
            <a:r>
              <a:rPr lang="es-ES" dirty="0">
                <a:latin typeface="+mj-lt"/>
              </a:rPr>
              <a:t>1. ¿Cuántas variables podemos declarar e inicializar en una estructura </a:t>
            </a:r>
            <a:r>
              <a:rPr lang="es-ES" b="1" dirty="0" err="1">
                <a:latin typeface="+mj-lt"/>
              </a:rPr>
              <a:t>for</a:t>
            </a:r>
            <a:r>
              <a:rPr lang="es-ES" dirty="0">
                <a:latin typeface="+mj-lt"/>
              </a:rPr>
              <a:t>?</a:t>
            </a:r>
          </a:p>
          <a:p>
            <a:pPr marL="50800" indent="0">
              <a:buNone/>
            </a:pPr>
            <a:endParaRPr lang="es-ES" dirty="0">
              <a:latin typeface="+mj-lt"/>
            </a:endParaRPr>
          </a:p>
          <a:p>
            <a:pPr marL="1022350" lvl="1" indent="-514350">
              <a:buAutoNum type="alphaUcPeriod"/>
            </a:pPr>
            <a:r>
              <a:rPr lang="en-US" dirty="0" err="1">
                <a:latin typeface="+mj-lt"/>
              </a:rPr>
              <a:t>Ninguna</a:t>
            </a:r>
            <a:r>
              <a:rPr lang="en-US" dirty="0">
                <a:latin typeface="+mj-lt"/>
              </a:rPr>
              <a:t>.</a:t>
            </a:r>
          </a:p>
          <a:p>
            <a:pPr marL="1022350" lvl="1" indent="-514350">
              <a:buAutoNum type="alphaUcPeriod"/>
            </a:pPr>
            <a:r>
              <a:rPr lang="en-US" dirty="0">
                <a:latin typeface="+mj-lt"/>
              </a:rPr>
              <a:t>1.</a:t>
            </a:r>
          </a:p>
          <a:p>
            <a:pPr marL="1022350" lvl="1" indent="-514350">
              <a:buAutoNum type="alphaUcPeriod"/>
            </a:pPr>
            <a:r>
              <a:rPr lang="en-US" dirty="0">
                <a:latin typeface="+mj-lt"/>
              </a:rPr>
              <a:t>2.</a:t>
            </a:r>
          </a:p>
          <a:p>
            <a:pPr marL="1022350" lvl="1" indent="-514350">
              <a:buAutoNum type="alphaUcPeriod"/>
            </a:pPr>
            <a:r>
              <a:rPr lang="en-US" dirty="0">
                <a:latin typeface="+mj-lt"/>
              </a:rPr>
              <a:t>Las que se </a:t>
            </a:r>
            <a:r>
              <a:rPr lang="en-US" dirty="0" err="1">
                <a:latin typeface="+mj-lt"/>
              </a:rPr>
              <a:t>necesiten</a:t>
            </a:r>
            <a:r>
              <a:rPr lang="en-US" dirty="0">
                <a:latin typeface="+mj-lt"/>
              </a:rPr>
              <a:t>.</a:t>
            </a:r>
          </a:p>
          <a:p>
            <a:pPr marL="50800" indent="0">
              <a:buNone/>
            </a:pPr>
            <a:endParaRPr lang="en-US" dirty="0">
              <a:latin typeface="+mj-lt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F79BEDE-E404-929A-E936-9F9A5D4DEDF6}"/>
              </a:ext>
            </a:extLst>
          </p:cNvPr>
          <p:cNvSpPr txBox="1"/>
          <p:nvPr/>
        </p:nvSpPr>
        <p:spPr>
          <a:xfrm>
            <a:off x="97054" y="6284996"/>
            <a:ext cx="4626646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</a:t>
            </a:r>
          </a:p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https://imageio.forbes.com/specials-images/imageserve/1047311352/Employer-reviewing-job-application/0x0.jpg?format=jpg&amp;crop=7952,4472,x0,y0,safe&amp;width=960</a:t>
            </a:r>
          </a:p>
        </p:txBody>
      </p:sp>
    </p:spTree>
    <p:extLst>
      <p:ext uri="{BB962C8B-B14F-4D97-AF65-F5344CB8AC3E}">
        <p14:creationId xmlns:p14="http://schemas.microsoft.com/office/powerpoint/2010/main" val="2724818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A54B47DD-C635-A8C5-8563-7BF7C1DC10D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2025" r="19260"/>
          <a:stretch/>
        </p:blipFill>
        <p:spPr>
          <a:xfrm>
            <a:off x="1" y="0"/>
            <a:ext cx="4723700" cy="6858000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011C1892-9AAD-1F24-8719-3A185025DD4B}"/>
              </a:ext>
            </a:extLst>
          </p:cNvPr>
          <p:cNvGrpSpPr/>
          <p:nvPr/>
        </p:nvGrpSpPr>
        <p:grpSpPr>
          <a:xfrm>
            <a:off x="835094" y="-42004"/>
            <a:ext cx="4629752" cy="1015663"/>
            <a:chOff x="924025" y="1526961"/>
            <a:chExt cx="4629752" cy="1015663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8A2B471-A308-3AD9-98B2-AE5BC114FE1A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BA750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A22BD14-0EC8-96EE-710D-14064DBBB361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Práctica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EF534FA-6B7C-0F27-B195-F2B6D54D8574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4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C5F9896-BA2D-08E2-4FD9-EE2666BF432B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4254EFB-38B0-4700-46B3-B53BDC3A5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9587" y="849745"/>
            <a:ext cx="6054213" cy="785528"/>
          </a:xfrm>
        </p:spPr>
        <p:txBody>
          <a:bodyPr/>
          <a:lstStyle/>
          <a:p>
            <a:r>
              <a:rPr lang="es-ES" dirty="0"/>
              <a:t>Cuestionario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4194C3-3BD0-2FA3-7C14-99D2A23D257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29</a:t>
            </a:fld>
            <a:endParaRPr lang="es-PE"/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D60A599C-E39F-BAF0-7848-1189FEF361D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299587" y="1846263"/>
            <a:ext cx="6382130" cy="4741350"/>
          </a:xfrm>
        </p:spPr>
        <p:txBody>
          <a:bodyPr>
            <a:normAutofit lnSpcReduction="10000"/>
          </a:bodyPr>
          <a:lstStyle/>
          <a:p>
            <a:pPr marL="50800" indent="0">
              <a:buNone/>
            </a:pPr>
            <a:r>
              <a:rPr lang="es-ES" dirty="0">
                <a:latin typeface="+mj-lt"/>
              </a:rPr>
              <a:t>2. ¿Crees que es válido el código mostrado?</a:t>
            </a:r>
          </a:p>
          <a:p>
            <a:pPr marL="50800" indent="0">
              <a:buNone/>
            </a:pPr>
            <a:endParaRPr lang="es-ES" dirty="0">
              <a:latin typeface="+mj-lt"/>
            </a:endParaRPr>
          </a:p>
          <a:p>
            <a:pPr marL="50800" indent="0">
              <a:buNone/>
            </a:pPr>
            <a:endParaRPr lang="es-ES" dirty="0">
              <a:latin typeface="+mj-lt"/>
            </a:endParaRPr>
          </a:p>
          <a:p>
            <a:pPr marL="50800" indent="0">
              <a:buNone/>
            </a:pPr>
            <a:endParaRPr lang="es-ES" dirty="0">
              <a:latin typeface="+mj-lt"/>
            </a:endParaRPr>
          </a:p>
          <a:p>
            <a:pPr marL="50800" indent="0">
              <a:buNone/>
            </a:pPr>
            <a:endParaRPr lang="es-ES" dirty="0">
              <a:latin typeface="+mj-lt"/>
            </a:endParaRPr>
          </a:p>
          <a:p>
            <a:pPr marL="50800" indent="0">
              <a:buNone/>
            </a:pPr>
            <a:endParaRPr lang="es-ES" dirty="0">
              <a:latin typeface="+mj-lt"/>
            </a:endParaRPr>
          </a:p>
          <a:p>
            <a:pPr marL="1022350" lvl="1" indent="-514350">
              <a:buAutoNum type="alphaUcPeriod"/>
            </a:pPr>
            <a:endParaRPr lang="en-US" dirty="0">
              <a:latin typeface="+mj-lt"/>
            </a:endParaRPr>
          </a:p>
          <a:p>
            <a:pPr marL="1022350" lvl="1" indent="-514350">
              <a:buAutoNum type="alphaUcPeriod"/>
            </a:pPr>
            <a:r>
              <a:rPr lang="en-US" dirty="0" err="1">
                <a:latin typeface="+mj-lt"/>
              </a:rPr>
              <a:t>Sí</a:t>
            </a:r>
            <a:r>
              <a:rPr lang="en-US" dirty="0">
                <a:latin typeface="+mj-lt"/>
              </a:rPr>
              <a:t>.</a:t>
            </a:r>
          </a:p>
          <a:p>
            <a:pPr marL="1022350" lvl="1" indent="-514350">
              <a:buAutoNum type="alphaUcPeriod"/>
            </a:pPr>
            <a:r>
              <a:rPr lang="en-US" dirty="0">
                <a:latin typeface="+mj-lt"/>
              </a:rPr>
              <a:t>No</a:t>
            </a:r>
          </a:p>
          <a:p>
            <a:pPr marL="50800" indent="0">
              <a:buNone/>
            </a:pPr>
            <a:endParaRPr lang="en-US" dirty="0">
              <a:latin typeface="+mj-lt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F79BEDE-E404-929A-E936-9F9A5D4DEDF6}"/>
              </a:ext>
            </a:extLst>
          </p:cNvPr>
          <p:cNvSpPr txBox="1"/>
          <p:nvPr/>
        </p:nvSpPr>
        <p:spPr>
          <a:xfrm>
            <a:off x="97054" y="6284996"/>
            <a:ext cx="4626646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</a:t>
            </a:r>
          </a:p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https://imageio.forbes.com/specials-images/imageserve/1047311352/Employer-reviewing-job-application/0x0.jpg?format=jpg&amp;crop=7952,4472,x0,y0,safe&amp;width=960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C92BAE7-2A12-A56F-7936-6E97F0F480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5282" y="2961003"/>
            <a:ext cx="4964228" cy="2631691"/>
          </a:xfrm>
          <a:prstGeom prst="roundRect">
            <a:avLst>
              <a:gd name="adj" fmla="val 2363"/>
            </a:avLst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public static void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FFC66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main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(String[]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args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boolean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seEncontroMultiploDeCinco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false;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int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for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!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seEncontroMultiploDeCinco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if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%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5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==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seEncontroMultiploDeCinco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true;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++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9969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A54B47DD-C635-A8C5-8563-7BF7C1DC10D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2025" r="19260"/>
          <a:stretch/>
        </p:blipFill>
        <p:spPr>
          <a:xfrm>
            <a:off x="1" y="0"/>
            <a:ext cx="4723700" cy="6858000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011C1892-9AAD-1F24-8719-3A185025DD4B}"/>
              </a:ext>
            </a:extLst>
          </p:cNvPr>
          <p:cNvGrpSpPr/>
          <p:nvPr/>
        </p:nvGrpSpPr>
        <p:grpSpPr>
          <a:xfrm>
            <a:off x="835094" y="-42004"/>
            <a:ext cx="4629752" cy="1015663"/>
            <a:chOff x="924025" y="1526961"/>
            <a:chExt cx="4629752" cy="1015663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8A2B471-A308-3AD9-98B2-AE5BC114FE1A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BA750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A22BD14-0EC8-96EE-710D-14064DBBB361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Práctica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EF534FA-6B7C-0F27-B195-F2B6D54D8574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4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C5F9896-BA2D-08E2-4FD9-EE2666BF432B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4254EFB-38B0-4700-46B3-B53BDC3A5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9587" y="849745"/>
            <a:ext cx="6054213" cy="785528"/>
          </a:xfrm>
        </p:spPr>
        <p:txBody>
          <a:bodyPr/>
          <a:lstStyle/>
          <a:p>
            <a:r>
              <a:rPr lang="es-ES" dirty="0"/>
              <a:t>Cuestionario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4194C3-3BD0-2FA3-7C14-99D2A23D257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30</a:t>
            </a:fld>
            <a:endParaRPr lang="es-PE"/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D60A599C-E39F-BAF0-7848-1189FEF361D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299587" y="1846263"/>
            <a:ext cx="6054213" cy="4373562"/>
          </a:xfrm>
        </p:spPr>
        <p:txBody>
          <a:bodyPr/>
          <a:lstStyle/>
          <a:p>
            <a:pPr marL="50800" indent="0">
              <a:buNone/>
            </a:pPr>
            <a:r>
              <a:rPr lang="es-ES" dirty="0">
                <a:latin typeface="+mj-lt"/>
              </a:rPr>
              <a:t>3. En un bucle </a:t>
            </a:r>
            <a:r>
              <a:rPr lang="es-ES" dirty="0" err="1">
                <a:latin typeface="+mj-lt"/>
              </a:rPr>
              <a:t>for</a:t>
            </a:r>
            <a:r>
              <a:rPr lang="es-ES" dirty="0">
                <a:latin typeface="+mj-lt"/>
              </a:rPr>
              <a:t>, las instrucciones del cuerpo se ejecutan mientras la condición sea:</a:t>
            </a:r>
          </a:p>
          <a:p>
            <a:pPr marL="50800" indent="0">
              <a:buNone/>
            </a:pPr>
            <a:endParaRPr lang="es-ES" dirty="0">
              <a:latin typeface="+mj-lt"/>
            </a:endParaRPr>
          </a:p>
          <a:p>
            <a:pPr marL="1022350" lvl="1" indent="-514350">
              <a:buAutoNum type="alphaUcPeriod"/>
            </a:pPr>
            <a:r>
              <a:rPr lang="en-US" dirty="0">
                <a:latin typeface="+mj-lt"/>
              </a:rPr>
              <a:t>Falsa.</a:t>
            </a:r>
          </a:p>
          <a:p>
            <a:pPr marL="1022350" lvl="1" indent="-514350">
              <a:buAutoNum type="alphaUcPeriod"/>
            </a:pPr>
            <a:r>
              <a:rPr lang="en-US" dirty="0" err="1">
                <a:latin typeface="+mj-lt"/>
              </a:rPr>
              <a:t>Verdadera</a:t>
            </a:r>
            <a:r>
              <a:rPr lang="en-US" dirty="0">
                <a:latin typeface="+mj-lt"/>
              </a:rPr>
              <a:t>.</a:t>
            </a:r>
          </a:p>
          <a:p>
            <a:pPr marL="1022350" lvl="1" indent="-514350">
              <a:buAutoNum type="alphaUcPeriod"/>
            </a:pPr>
            <a:r>
              <a:rPr lang="en-US" dirty="0" err="1">
                <a:latin typeface="+mj-lt"/>
              </a:rPr>
              <a:t>Depende</a:t>
            </a:r>
            <a:r>
              <a:rPr lang="en-US" dirty="0">
                <a:latin typeface="+mj-lt"/>
              </a:rPr>
              <a:t> de la variable.</a:t>
            </a:r>
          </a:p>
          <a:p>
            <a:pPr marL="1022350" lvl="1" indent="-514350">
              <a:buAutoNum type="alphaUcPeriod"/>
            </a:pPr>
            <a:r>
              <a:rPr lang="en-US" dirty="0">
                <a:latin typeface="+mj-lt"/>
              </a:rPr>
              <a:t>No se </a:t>
            </a:r>
            <a:r>
              <a:rPr lang="en-US" dirty="0" err="1">
                <a:latin typeface="+mj-lt"/>
              </a:rPr>
              <a:t>puede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determinar</a:t>
            </a:r>
            <a:r>
              <a:rPr lang="en-US" dirty="0">
                <a:latin typeface="+mj-lt"/>
              </a:rPr>
              <a:t>.</a:t>
            </a:r>
          </a:p>
          <a:p>
            <a:pPr marL="50800" indent="0">
              <a:buNone/>
            </a:pPr>
            <a:endParaRPr lang="en-US" dirty="0">
              <a:latin typeface="+mj-lt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F79BEDE-E404-929A-E936-9F9A5D4DEDF6}"/>
              </a:ext>
            </a:extLst>
          </p:cNvPr>
          <p:cNvSpPr txBox="1"/>
          <p:nvPr/>
        </p:nvSpPr>
        <p:spPr>
          <a:xfrm>
            <a:off x="97054" y="6284996"/>
            <a:ext cx="4626646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</a:t>
            </a:r>
          </a:p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https://imageio.forbes.com/specials-images/imageserve/1047311352/Employer-reviewing-job-application/0x0.jpg?format=jpg&amp;crop=7952,4472,x0,y0,safe&amp;width=960</a:t>
            </a:r>
          </a:p>
        </p:txBody>
      </p:sp>
    </p:spTree>
    <p:extLst>
      <p:ext uri="{BB962C8B-B14F-4D97-AF65-F5344CB8AC3E}">
        <p14:creationId xmlns:p14="http://schemas.microsoft.com/office/powerpoint/2010/main" val="1923865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A54B47DD-C635-A8C5-8563-7BF7C1DC10D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2025" r="19260"/>
          <a:stretch/>
        </p:blipFill>
        <p:spPr>
          <a:xfrm>
            <a:off x="1" y="0"/>
            <a:ext cx="4723700" cy="6858000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011C1892-9AAD-1F24-8719-3A185025DD4B}"/>
              </a:ext>
            </a:extLst>
          </p:cNvPr>
          <p:cNvGrpSpPr/>
          <p:nvPr/>
        </p:nvGrpSpPr>
        <p:grpSpPr>
          <a:xfrm>
            <a:off x="835094" y="-42004"/>
            <a:ext cx="4629752" cy="1015663"/>
            <a:chOff x="924025" y="1526961"/>
            <a:chExt cx="4629752" cy="1015663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8A2B471-A308-3AD9-98B2-AE5BC114FE1A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BA750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A22BD14-0EC8-96EE-710D-14064DBBB361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Práctica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EF534FA-6B7C-0F27-B195-F2B6D54D8574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4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C5F9896-BA2D-08E2-4FD9-EE2666BF432B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4254EFB-38B0-4700-46B3-B53BDC3A5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9587" y="849745"/>
            <a:ext cx="6054213" cy="785528"/>
          </a:xfrm>
        </p:spPr>
        <p:txBody>
          <a:bodyPr/>
          <a:lstStyle/>
          <a:p>
            <a:r>
              <a:rPr lang="es-ES" dirty="0"/>
              <a:t>Cuestionario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4194C3-3BD0-2FA3-7C14-99D2A23D257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31</a:t>
            </a:fld>
            <a:endParaRPr lang="es-PE"/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D60A599C-E39F-BAF0-7848-1189FEF361D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299587" y="1846263"/>
            <a:ext cx="6054213" cy="4875212"/>
          </a:xfrm>
        </p:spPr>
        <p:txBody>
          <a:bodyPr>
            <a:normAutofit/>
          </a:bodyPr>
          <a:lstStyle/>
          <a:p>
            <a:pPr marL="50800" indent="0">
              <a:buNone/>
            </a:pPr>
            <a:r>
              <a:rPr lang="es-ES" dirty="0">
                <a:latin typeface="+mj-lt"/>
              </a:rPr>
              <a:t>1. ¿Cuántas veces se ejecuta el bucle </a:t>
            </a:r>
            <a:r>
              <a:rPr lang="es-ES" b="1" dirty="0" err="1">
                <a:latin typeface="+mj-lt"/>
              </a:rPr>
              <a:t>for</a:t>
            </a:r>
            <a:r>
              <a:rPr lang="es-ES" dirty="0">
                <a:latin typeface="+mj-lt"/>
              </a:rPr>
              <a:t>?</a:t>
            </a:r>
          </a:p>
          <a:p>
            <a:pPr marL="50800" indent="0">
              <a:buNone/>
            </a:pPr>
            <a:endParaRPr lang="es-ES" dirty="0">
              <a:latin typeface="+mj-lt"/>
            </a:endParaRPr>
          </a:p>
          <a:p>
            <a:pPr marL="50800" indent="0">
              <a:buNone/>
            </a:pPr>
            <a:endParaRPr lang="es-ES" dirty="0">
              <a:latin typeface="+mj-lt"/>
            </a:endParaRPr>
          </a:p>
          <a:p>
            <a:pPr marL="50800" indent="0">
              <a:buNone/>
            </a:pPr>
            <a:endParaRPr lang="es-ES" dirty="0">
              <a:latin typeface="+mj-lt"/>
            </a:endParaRPr>
          </a:p>
          <a:p>
            <a:pPr marL="1022350" lvl="1" indent="-514350">
              <a:buAutoNum type="alphaUcPeriod"/>
            </a:pPr>
            <a:r>
              <a:rPr lang="en-US" dirty="0">
                <a:latin typeface="+mj-lt"/>
              </a:rPr>
              <a:t>10.</a:t>
            </a:r>
          </a:p>
          <a:p>
            <a:pPr marL="1022350" lvl="1" indent="-514350">
              <a:buAutoNum type="alphaUcPeriod"/>
            </a:pPr>
            <a:r>
              <a:rPr lang="en-US" dirty="0" err="1">
                <a:latin typeface="+mj-lt"/>
              </a:rPr>
              <a:t>Ninguna</a:t>
            </a:r>
            <a:r>
              <a:rPr lang="en-US" dirty="0">
                <a:latin typeface="+mj-lt"/>
              </a:rPr>
              <a:t>.</a:t>
            </a:r>
          </a:p>
          <a:p>
            <a:pPr marL="1022350" lvl="1" indent="-514350">
              <a:buAutoNum type="alphaUcPeriod"/>
            </a:pPr>
            <a:r>
              <a:rPr lang="en-US" dirty="0">
                <a:latin typeface="+mj-lt"/>
              </a:rPr>
              <a:t>Es </a:t>
            </a:r>
            <a:r>
              <a:rPr lang="en-US" dirty="0" err="1">
                <a:latin typeface="+mj-lt"/>
              </a:rPr>
              <a:t>infinito</a:t>
            </a:r>
            <a:r>
              <a:rPr lang="en-US" dirty="0">
                <a:latin typeface="+mj-lt"/>
              </a:rPr>
              <a:t>.</a:t>
            </a:r>
          </a:p>
          <a:p>
            <a:pPr marL="1022350" lvl="1" indent="-514350">
              <a:buAutoNum type="alphaUcPeriod"/>
            </a:pPr>
            <a:r>
              <a:rPr lang="en-US" dirty="0">
                <a:latin typeface="+mj-lt"/>
              </a:rPr>
              <a:t>1.</a:t>
            </a:r>
          </a:p>
          <a:p>
            <a:pPr marL="50800" indent="0">
              <a:buNone/>
            </a:pPr>
            <a:endParaRPr lang="en-US" dirty="0">
              <a:latin typeface="+mj-lt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F79BEDE-E404-929A-E936-9F9A5D4DEDF6}"/>
              </a:ext>
            </a:extLst>
          </p:cNvPr>
          <p:cNvSpPr txBox="1"/>
          <p:nvPr/>
        </p:nvSpPr>
        <p:spPr>
          <a:xfrm>
            <a:off x="97054" y="6284996"/>
            <a:ext cx="4626646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</a:t>
            </a:r>
          </a:p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https://imageio.forbes.com/specials-images/imageserve/1047311352/Employer-reviewing-job-application/0x0.jpg?format=jpg&amp;crop=7952,4472,x0,y0,safe&amp;width=960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CB8A172-E7B4-AE45-DF61-B4327C7617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5996" y="3100990"/>
            <a:ext cx="4000396" cy="1287800"/>
          </a:xfrm>
          <a:prstGeom prst="roundRect">
            <a:avLst>
              <a:gd name="adj" fmla="val 12678"/>
            </a:avLst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for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&gt;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++) {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600" b="0" i="1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println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3080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CFB273AB-794E-47E2-3011-C9C500E2C5B3}"/>
              </a:ext>
            </a:extLst>
          </p:cNvPr>
          <p:cNvGrpSpPr/>
          <p:nvPr/>
        </p:nvGrpSpPr>
        <p:grpSpPr>
          <a:xfrm>
            <a:off x="838200" y="-31939"/>
            <a:ext cx="4629752" cy="1015663"/>
            <a:chOff x="924025" y="1526961"/>
            <a:chExt cx="4629752" cy="10156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5EDFD94-EA5B-4DC4-3FBF-AA7E6E4AB888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8F2A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2546B63-3AB6-1BAB-8FBE-059D31122AC6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Práctica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A3E87AE-B8B9-335A-4E25-654DD2C602BD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5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8A5CF88-5A75-E1C0-E320-5AB17228898D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4254EFB-38B0-4700-46B3-B53BDC3A5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Ejercicio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4194C3-3BD0-2FA3-7C14-99D2A23D257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32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5FB7AA-7AF6-C948-69DE-6A0609F1D76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1" y="1846262"/>
            <a:ext cx="6175342" cy="4510087"/>
          </a:xfrm>
        </p:spPr>
        <p:txBody>
          <a:bodyPr>
            <a:normAutofit/>
          </a:bodyPr>
          <a:lstStyle/>
          <a:p>
            <a:pPr marL="50800" indent="0">
              <a:buNone/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Generar los N primeros números de una progresión aritmética o geométrica. </a:t>
            </a:r>
          </a:p>
          <a:p>
            <a:pPr marL="50800" indent="0">
              <a:buNone/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El usuario determina el tipo de progresión, y proporciona el valor de la razón y el número de términos a generar.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45226CD-C4F0-0031-5AA2-F8A82641FE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2874" y="2112676"/>
            <a:ext cx="3590925" cy="116205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D232A99-F930-2502-7B95-E01E9C480C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9074" y="4290667"/>
            <a:ext cx="3514725" cy="1266825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BFC05606-34C3-F932-BB7E-2458CFDB8D54}"/>
              </a:ext>
            </a:extLst>
          </p:cNvPr>
          <p:cNvSpPr txBox="1"/>
          <p:nvPr/>
        </p:nvSpPr>
        <p:spPr>
          <a:xfrm>
            <a:off x="7762874" y="1611598"/>
            <a:ext cx="39350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800" dirty="0">
                <a:solidFill>
                  <a:schemeClr val="bg1">
                    <a:lumMod val="50000"/>
                  </a:schemeClr>
                </a:solidFill>
              </a:rPr>
              <a:t>Ejemplo de progresión aritmética</a:t>
            </a:r>
            <a:endParaRPr lang="en-US" sz="1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33A9477-1CEB-33A3-D0CD-9372F6B4AE44}"/>
              </a:ext>
            </a:extLst>
          </p:cNvPr>
          <p:cNvSpPr txBox="1"/>
          <p:nvPr/>
        </p:nvSpPr>
        <p:spPr>
          <a:xfrm>
            <a:off x="7839074" y="3799308"/>
            <a:ext cx="39350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800" dirty="0">
                <a:solidFill>
                  <a:schemeClr val="bg1">
                    <a:lumMod val="50000"/>
                  </a:schemeClr>
                </a:solidFill>
              </a:rPr>
              <a:t>Ejemplo de progresión geométrica</a:t>
            </a:r>
            <a:endParaRPr lang="en-US" sz="1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678AD61-FBB1-F3AE-11AC-3A866BA6B133}"/>
              </a:ext>
            </a:extLst>
          </p:cNvPr>
          <p:cNvSpPr txBox="1"/>
          <p:nvPr/>
        </p:nvSpPr>
        <p:spPr>
          <a:xfrm>
            <a:off x="181467" y="6213644"/>
            <a:ext cx="6094428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</a:t>
            </a:r>
          </a:p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https://i.ytimg.com/vi/cBZkzo3RGzY/maxresdefault.jpg</a:t>
            </a:r>
          </a:p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https://i.ytimg.com/vi/U-hhp4x4JcE/maxresdefault.jpg</a:t>
            </a:r>
          </a:p>
        </p:txBody>
      </p:sp>
    </p:spTree>
    <p:extLst>
      <p:ext uri="{BB962C8B-B14F-4D97-AF65-F5344CB8AC3E}">
        <p14:creationId xmlns:p14="http://schemas.microsoft.com/office/powerpoint/2010/main" val="583299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6BB5845-9A47-FEDC-A85E-2D014CA2F3DA}"/>
              </a:ext>
            </a:extLst>
          </p:cNvPr>
          <p:cNvSpPr/>
          <p:nvPr/>
        </p:nvSpPr>
        <p:spPr>
          <a:xfrm>
            <a:off x="0" y="6356350"/>
            <a:ext cx="7320380" cy="501650"/>
          </a:xfrm>
          <a:prstGeom prst="rect">
            <a:avLst/>
          </a:prstGeom>
          <a:solidFill>
            <a:srgbClr val="E5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B03D496-97CF-4B26-B9D0-D39676049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Resumen de la sesión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A7D7EB-E94C-4379-ADE6-A12EB7C4CBC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1" y="1846263"/>
            <a:ext cx="6555658" cy="4373562"/>
          </a:xfrm>
        </p:spPr>
        <p:txBody>
          <a:bodyPr>
            <a:normAutofit/>
          </a:bodyPr>
          <a:lstStyle/>
          <a:p>
            <a:r>
              <a:rPr lang="es-ES" dirty="0">
                <a:latin typeface="Helvetica"/>
              </a:rPr>
              <a:t>¿Cómo funciona un bucle </a:t>
            </a:r>
            <a:r>
              <a:rPr lang="es-ES" b="1" dirty="0" err="1">
                <a:latin typeface="Helvetica"/>
              </a:rPr>
              <a:t>for</a:t>
            </a:r>
            <a:r>
              <a:rPr lang="es-ES" dirty="0">
                <a:latin typeface="Helvetica"/>
              </a:rPr>
              <a:t>?</a:t>
            </a:r>
          </a:p>
          <a:p>
            <a:r>
              <a:rPr lang="es-ES" dirty="0">
                <a:latin typeface="Helvetica"/>
              </a:rPr>
              <a:t>¿Qué lo diferencia de las estructuras </a:t>
            </a:r>
            <a:r>
              <a:rPr lang="es-ES" b="1" dirty="0" err="1">
                <a:latin typeface="Helvetica"/>
              </a:rPr>
              <a:t>while</a:t>
            </a:r>
            <a:r>
              <a:rPr lang="es-ES" dirty="0">
                <a:latin typeface="Helvetica"/>
              </a:rPr>
              <a:t> y </a:t>
            </a:r>
            <a:r>
              <a:rPr lang="es-ES" b="1" dirty="0">
                <a:latin typeface="Helvetica"/>
              </a:rPr>
              <a:t>do-</a:t>
            </a:r>
            <a:r>
              <a:rPr lang="es-ES" b="1" dirty="0" err="1">
                <a:latin typeface="Helvetica"/>
              </a:rPr>
              <a:t>while</a:t>
            </a:r>
            <a:r>
              <a:rPr lang="es-ES" dirty="0">
                <a:latin typeface="Helvetica"/>
              </a:rPr>
              <a:t>?</a:t>
            </a:r>
          </a:p>
          <a:p>
            <a:r>
              <a:rPr lang="es-ES" dirty="0">
                <a:latin typeface="Helvetica"/>
              </a:rPr>
              <a:t>¿Qué beneficios/ventajas nos brinda el bucle </a:t>
            </a:r>
            <a:r>
              <a:rPr lang="es-ES" b="1" dirty="0" err="1">
                <a:latin typeface="Helvetica"/>
              </a:rPr>
              <a:t>for</a:t>
            </a:r>
            <a:r>
              <a:rPr lang="es-ES" dirty="0">
                <a:latin typeface="Helvetica"/>
              </a:rPr>
              <a:t>?</a:t>
            </a:r>
          </a:p>
          <a:p>
            <a:r>
              <a:rPr lang="es-ES" dirty="0">
                <a:latin typeface="Helvetica"/>
              </a:rPr>
              <a:t>¿Cuándo es ideal usar </a:t>
            </a:r>
            <a:r>
              <a:rPr lang="es-ES" b="1" dirty="0" err="1">
                <a:latin typeface="Helvetica"/>
              </a:rPr>
              <a:t>for</a:t>
            </a:r>
            <a:r>
              <a:rPr lang="es-ES" dirty="0">
                <a:latin typeface="Helvetica"/>
              </a:rPr>
              <a:t> sobre </a:t>
            </a:r>
            <a:r>
              <a:rPr lang="es-ES" b="1" dirty="0" err="1">
                <a:latin typeface="Helvetica"/>
              </a:rPr>
              <a:t>while</a:t>
            </a:r>
            <a:r>
              <a:rPr lang="es-ES" dirty="0">
                <a:latin typeface="Helvetica"/>
              </a:rPr>
              <a:t> o </a:t>
            </a:r>
            <a:r>
              <a:rPr lang="es-ES" b="1" dirty="0">
                <a:latin typeface="Helvetica"/>
              </a:rPr>
              <a:t>do-</a:t>
            </a:r>
            <a:r>
              <a:rPr lang="es-ES" b="1" dirty="0" err="1">
                <a:latin typeface="Helvetica"/>
              </a:rPr>
              <a:t>while</a:t>
            </a:r>
            <a:r>
              <a:rPr lang="es-ES" dirty="0">
                <a:latin typeface="Helvetica"/>
              </a:rPr>
              <a:t>?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C714D7F-9F45-47C5-88DE-53E493F191F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906163" y="6356350"/>
            <a:ext cx="2743200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33</a:t>
            </a:fld>
            <a:endParaRPr lang="es-PE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EC220F-3C2B-B243-4B55-66FDD2674876}"/>
              </a:ext>
            </a:extLst>
          </p:cNvPr>
          <p:cNvSpPr txBox="1"/>
          <p:nvPr/>
        </p:nvSpPr>
        <p:spPr>
          <a:xfrm>
            <a:off x="101605" y="6421002"/>
            <a:ext cx="97351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>
                <a:solidFill>
                  <a:schemeClr val="bg1">
                    <a:lumMod val="50000"/>
                  </a:schemeClr>
                </a:solidFill>
              </a:rPr>
              <a:t> de:</a:t>
            </a:r>
          </a:p>
          <a:p>
            <a:r>
              <a:rPr lang="en-US" sz="900">
                <a:solidFill>
                  <a:schemeClr val="bg1">
                    <a:lumMod val="50000"/>
                  </a:schemeClr>
                </a:solidFill>
              </a:rPr>
              <a:t>https://dpemfoco.com.br/wp-content/uploads/2019/08/Departamento-de-Pessoal-em-Foco-Checklist-Check-list-Checklists.png</a:t>
            </a:r>
          </a:p>
        </p:txBody>
      </p:sp>
      <p:pic>
        <p:nvPicPr>
          <p:cNvPr id="4098" name="Picture 2" descr="Departamento de Pessoal em Foco - Checklist, Check list, Checklists |  Departamento de Pessoal em Foco">
            <a:extLst>
              <a:ext uri="{FF2B5EF4-FFF2-40B4-BE49-F238E27FC236}">
                <a16:creationId xmlns:a16="http://schemas.microsoft.com/office/drawing/2014/main" id="{F8CB8AA5-99DD-1396-1A63-3757190305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0380" y="2484438"/>
            <a:ext cx="4871619" cy="4373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5705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2AAE1-A89A-796E-F861-8B102D4BD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Bibliografía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7596FB-30E1-8EAC-F179-F56EE7A8D81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34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93BD92-8F52-2949-7992-63F50DB2AB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846263"/>
            <a:ext cx="8370455" cy="4373562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20000"/>
              </a:lnSpc>
            </a:pPr>
            <a:r>
              <a:rPr lang="es-ES"/>
              <a:t>Tanenbaum &amp; Van </a:t>
            </a:r>
            <a:r>
              <a:rPr lang="es-ES" err="1"/>
              <a:t>Steen</a:t>
            </a:r>
            <a:r>
              <a:rPr lang="es-ES"/>
              <a:t> (2008). </a:t>
            </a:r>
            <a:r>
              <a:rPr lang="es-ES" i="1">
                <a:solidFill>
                  <a:schemeClr val="bg1">
                    <a:lumMod val="50000"/>
                  </a:schemeClr>
                </a:solidFill>
              </a:rPr>
              <a:t>Algoritmos y Estructuras de Datos - Principios y Paradigmas, 2da Edición</a:t>
            </a:r>
            <a:r>
              <a:rPr lang="es-ES"/>
              <a:t>. Pearson </a:t>
            </a:r>
            <a:r>
              <a:rPr lang="es-ES" err="1"/>
              <a:t>Education</a:t>
            </a:r>
            <a:r>
              <a:rPr lang="es-ES"/>
              <a:t>​.</a:t>
            </a:r>
          </a:p>
          <a:p>
            <a:pPr>
              <a:lnSpc>
                <a:spcPct val="120000"/>
              </a:lnSpc>
            </a:pPr>
            <a:r>
              <a:rPr lang="en-US"/>
              <a:t>Khalid A. Mughal &amp; Rolf W. Rasmussen (2017). A </a:t>
            </a:r>
            <a:r>
              <a:rPr lang="en-US" i="1">
                <a:solidFill>
                  <a:schemeClr val="bg1">
                    <a:lumMod val="50000"/>
                  </a:schemeClr>
                </a:solidFill>
              </a:rPr>
              <a:t>Programmer’s guide to Java SE 8 Oracle Certified Associate</a:t>
            </a:r>
            <a:r>
              <a:rPr lang="es-ES"/>
              <a:t>.</a:t>
            </a:r>
          </a:p>
          <a:p>
            <a:pPr>
              <a:lnSpc>
                <a:spcPct val="120000"/>
              </a:lnSpc>
            </a:pPr>
            <a:r>
              <a:rPr lang="es-ES" err="1"/>
              <a:t>Schildt</a:t>
            </a:r>
            <a:r>
              <a:rPr lang="es-ES"/>
              <a:t>, Herbert (2019). </a:t>
            </a:r>
            <a:r>
              <a:rPr lang="es-ES" i="1">
                <a:solidFill>
                  <a:schemeClr val="bg1">
                    <a:lumMod val="50000"/>
                  </a:schemeClr>
                </a:solidFill>
              </a:rPr>
              <a:t>A Java </a:t>
            </a:r>
            <a:r>
              <a:rPr lang="es-ES" i="1" err="1">
                <a:solidFill>
                  <a:schemeClr val="bg1">
                    <a:lumMod val="50000"/>
                  </a:schemeClr>
                </a:solidFill>
              </a:rPr>
              <a:t>Beginner’s</a:t>
            </a:r>
            <a:r>
              <a:rPr lang="es-ES" i="1">
                <a:solidFill>
                  <a:schemeClr val="bg1">
                    <a:lumMod val="50000"/>
                  </a:schemeClr>
                </a:solidFill>
              </a:rPr>
              <a:t> Guide </a:t>
            </a:r>
            <a:r>
              <a:rPr lang="es-ES" i="1" err="1">
                <a:solidFill>
                  <a:schemeClr val="bg1">
                    <a:lumMod val="50000"/>
                  </a:schemeClr>
                </a:solidFill>
              </a:rPr>
              <a:t>Eighth</a:t>
            </a:r>
            <a:r>
              <a:rPr lang="es-ES" i="1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i="1" err="1">
                <a:solidFill>
                  <a:schemeClr val="bg1">
                    <a:lumMod val="50000"/>
                  </a:schemeClr>
                </a:solidFill>
              </a:rPr>
              <a:t>Edition</a:t>
            </a:r>
            <a:r>
              <a:rPr lang="es-ES"/>
              <a:t>. Oracle </a:t>
            </a:r>
            <a:r>
              <a:rPr lang="es-ES" err="1"/>
              <a:t>Press</a:t>
            </a:r>
            <a:r>
              <a:rPr lang="es-ES"/>
              <a:t>.</a:t>
            </a:r>
          </a:p>
          <a:p>
            <a:pPr>
              <a:lnSpc>
                <a:spcPct val="120000"/>
              </a:lnSpc>
            </a:pPr>
            <a:r>
              <a:rPr lang="es-ES" err="1"/>
              <a:t>Schildt</a:t>
            </a:r>
            <a:r>
              <a:rPr lang="es-ES"/>
              <a:t>, Herbert (2019). </a:t>
            </a:r>
            <a:r>
              <a:rPr lang="es-ES" i="1">
                <a:solidFill>
                  <a:schemeClr val="bg1">
                    <a:lumMod val="50000"/>
                  </a:schemeClr>
                </a:solidFill>
              </a:rPr>
              <a:t>Java </a:t>
            </a:r>
            <a:r>
              <a:rPr lang="es-ES" i="1" err="1">
                <a:solidFill>
                  <a:schemeClr val="bg1">
                    <a:lumMod val="50000"/>
                  </a:schemeClr>
                </a:solidFill>
              </a:rPr>
              <a:t>The</a:t>
            </a:r>
            <a:r>
              <a:rPr lang="es-ES" i="1">
                <a:solidFill>
                  <a:schemeClr val="bg1">
                    <a:lumMod val="50000"/>
                  </a:schemeClr>
                </a:solidFill>
              </a:rPr>
              <a:t> Complete Reference </a:t>
            </a:r>
            <a:r>
              <a:rPr lang="es-ES" i="1" err="1">
                <a:solidFill>
                  <a:schemeClr val="bg1">
                    <a:lumMod val="50000"/>
                  </a:schemeClr>
                </a:solidFill>
              </a:rPr>
              <a:t>Eleventh</a:t>
            </a:r>
            <a:r>
              <a:rPr lang="es-ES" i="1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i="1" err="1">
                <a:solidFill>
                  <a:schemeClr val="bg1">
                    <a:lumMod val="50000"/>
                  </a:schemeClr>
                </a:solidFill>
              </a:rPr>
              <a:t>Edition</a:t>
            </a:r>
            <a:r>
              <a:rPr lang="es-ES"/>
              <a:t>. Oracle </a:t>
            </a:r>
            <a:r>
              <a:rPr lang="es-ES" err="1"/>
              <a:t>Press</a:t>
            </a:r>
            <a:r>
              <a:rPr lang="es-ES"/>
              <a:t>.</a:t>
            </a: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021AEC-CD51-7E5F-26CB-5CDC143BC84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9118"/>
          <a:stretch/>
        </p:blipFill>
        <p:spPr>
          <a:xfrm>
            <a:off x="9208655" y="1057997"/>
            <a:ext cx="2983345" cy="5168601"/>
          </a:xfrm>
          <a:prstGeom prst="rect">
            <a:avLst/>
          </a:prstGeom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4B7CE11-3AE4-2A5E-0825-C0E9DFAB006E}"/>
              </a:ext>
            </a:extLst>
          </p:cNvPr>
          <p:cNvSpPr txBox="1"/>
          <p:nvPr/>
        </p:nvSpPr>
        <p:spPr>
          <a:xfrm>
            <a:off x="101605" y="6421002"/>
            <a:ext cx="97351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>
                <a:solidFill>
                  <a:schemeClr val="bg1">
                    <a:lumMod val="50000"/>
                  </a:schemeClr>
                </a:solidFill>
              </a:rPr>
              <a:t> de:</a:t>
            </a:r>
          </a:p>
          <a:p>
            <a:r>
              <a:rPr lang="en-US" sz="900">
                <a:solidFill>
                  <a:schemeClr val="bg1">
                    <a:lumMod val="50000"/>
                  </a:schemeClr>
                </a:solidFill>
              </a:rPr>
              <a:t>https://pngimg.com/d/book_PNG51088.png</a:t>
            </a:r>
          </a:p>
        </p:txBody>
      </p:sp>
    </p:spTree>
    <p:extLst>
      <p:ext uri="{BB962C8B-B14F-4D97-AF65-F5344CB8AC3E}">
        <p14:creationId xmlns:p14="http://schemas.microsoft.com/office/powerpoint/2010/main" val="3598108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maUTP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1531</TotalTime>
  <Words>2511</Words>
  <Application>Microsoft Office PowerPoint</Application>
  <PresentationFormat>Panorámica</PresentationFormat>
  <Paragraphs>351</Paragraphs>
  <Slides>35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35</vt:i4>
      </vt:variant>
    </vt:vector>
  </HeadingPairs>
  <TitlesOfParts>
    <vt:vector size="39" baseType="lpstr">
      <vt:lpstr>Arial</vt:lpstr>
      <vt:lpstr>Helvetica</vt:lpstr>
      <vt:lpstr>JetBrains Mono</vt:lpstr>
      <vt:lpstr>TemaUTP</vt:lpstr>
      <vt:lpstr>Taller de Programación</vt:lpstr>
      <vt:lpstr>Dudas de la clase anterior</vt:lpstr>
      <vt:lpstr>Dudas de la clase anterior</vt:lpstr>
      <vt:lpstr>Dudas de la clase anterior</vt:lpstr>
      <vt:lpstr>Dudas de la clase anterior</vt:lpstr>
      <vt:lpstr>Dudas de la clase anterior</vt:lpstr>
      <vt:lpstr>Estructura Repetitiva  for (I)</vt:lpstr>
      <vt:lpstr>Conocimientos previos</vt:lpstr>
      <vt:lpstr>Logro de aprendizaje</vt:lpstr>
      <vt:lpstr>Utilidad</vt:lpstr>
      <vt:lpstr>Presentación de PowerPoint</vt:lpstr>
      <vt:lpstr>Presentación de PowerPoint</vt:lpstr>
      <vt:lpstr>Bucle for</vt:lpstr>
      <vt:lpstr>Bucle for en Java</vt:lpstr>
      <vt:lpstr>for en Java. Sintaxis</vt:lpstr>
      <vt:lpstr>Bucle for en Java. Ejemplo</vt:lpstr>
      <vt:lpstr>Presentación de PowerPoint</vt:lpstr>
      <vt:lpstr>Contador interno progresivo</vt:lpstr>
      <vt:lpstr>Contador interno progresivo. Ejemplo</vt:lpstr>
      <vt:lpstr>Contador interno regresivo</vt:lpstr>
      <vt:lpstr>Contador interno regresivo. Ejemplo</vt:lpstr>
      <vt:lpstr>Presentación de PowerPoint</vt:lpstr>
      <vt:lpstr>Uso de la coma</vt:lpstr>
      <vt:lpstr>Uso de la coma. Ejemplo.</vt:lpstr>
      <vt:lpstr>Prueba condicional</vt:lpstr>
      <vt:lpstr>for sin cuerpo</vt:lpstr>
      <vt:lpstr>Presentación de PowerPoint</vt:lpstr>
      <vt:lpstr>Cuestionario</vt:lpstr>
      <vt:lpstr>Cuestionario</vt:lpstr>
      <vt:lpstr>Cuestionario</vt:lpstr>
      <vt:lpstr>Cuestionario</vt:lpstr>
      <vt:lpstr>Ejercicio</vt:lpstr>
      <vt:lpstr>Resumen de la sesión</vt:lpstr>
      <vt:lpstr>Bibliografía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UTP - Taller Programación - Semana 08-Sesión 15</dc:title>
  <dc:creator>jorgerodcas@hotmail.com</dc:creator>
  <cp:lastModifiedBy>Juan Carlos García</cp:lastModifiedBy>
  <cp:revision>137</cp:revision>
  <dcterms:modified xsi:type="dcterms:W3CDTF">2023-10-20T21:40:58Z</dcterms:modified>
</cp:coreProperties>
</file>