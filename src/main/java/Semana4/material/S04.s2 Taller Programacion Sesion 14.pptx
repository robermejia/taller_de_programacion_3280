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425" r:id="rId3"/>
    <p:sldId id="430" r:id="rId4"/>
    <p:sldId id="431" r:id="rId5"/>
    <p:sldId id="432" r:id="rId6"/>
    <p:sldId id="258" r:id="rId7"/>
    <p:sldId id="257" r:id="rId8"/>
    <p:sldId id="263" r:id="rId9"/>
    <p:sldId id="264" r:id="rId10"/>
    <p:sldId id="330" r:id="rId11"/>
    <p:sldId id="426" r:id="rId12"/>
    <p:sldId id="401" r:id="rId13"/>
    <p:sldId id="427" r:id="rId14"/>
    <p:sldId id="429" r:id="rId15"/>
    <p:sldId id="424" r:id="rId16"/>
    <p:sldId id="428" r:id="rId17"/>
    <p:sldId id="327" r:id="rId18"/>
    <p:sldId id="261" r:id="rId19"/>
    <p:sldId id="329" r:id="rId20"/>
    <p:sldId id="25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77C"/>
    <a:srgbClr val="F9F9F9"/>
    <a:srgbClr val="E5E5E6"/>
    <a:srgbClr val="57D3FF"/>
    <a:srgbClr val="1B5E8B"/>
    <a:srgbClr val="758F3A"/>
    <a:srgbClr val="DAEEEF"/>
    <a:srgbClr val="0E7D73"/>
    <a:srgbClr val="CC7832"/>
    <a:srgbClr val="8F2A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60B73-A423-B812-5CE1-C8DAD5587D31}" v="389" dt="2023-01-25T19:12:52.8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6346" autoAdjust="0"/>
  </p:normalViewPr>
  <p:slideViewPr>
    <p:cSldViewPr snapToGrid="0">
      <p:cViewPr varScale="1">
        <p:scale>
          <a:sx n="124" d="100"/>
          <a:sy n="124" d="100"/>
        </p:scale>
        <p:origin x="389" y="12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Respuestas: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Indeterminado.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Sí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ES" dirty="0"/>
              <a:t>Sí</a:t>
            </a: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s-ES" dirty="0"/>
              <a:t>Nota:</a:t>
            </a:r>
          </a:p>
          <a:p>
            <a:pPr marL="228600" indent="0">
              <a:buNone/>
            </a:pPr>
            <a:r>
              <a:rPr lang="es-ES" dirty="0"/>
              <a:t>En el ejemplo mostrado la creación de un menú con un do-</a:t>
            </a:r>
            <a:r>
              <a:rPr lang="es-ES" dirty="0" err="1"/>
              <a:t>while</a:t>
            </a:r>
            <a:r>
              <a:rPr lang="es-ES" dirty="0"/>
              <a:t> es más limpio y natural que con </a:t>
            </a:r>
            <a:r>
              <a:rPr lang="es-ES" dirty="0" err="1"/>
              <a:t>while</a:t>
            </a:r>
            <a:r>
              <a:rPr lang="es-ES" dirty="0"/>
              <a:t>.</a:t>
            </a:r>
          </a:p>
          <a:p>
            <a:pPr marL="228600" indent="0">
              <a:buNone/>
            </a:pPr>
            <a:r>
              <a:rPr lang="es-ES" dirty="0"/>
              <a:t>Nótese que con </a:t>
            </a:r>
            <a:r>
              <a:rPr lang="es-ES" dirty="0" err="1"/>
              <a:t>while</a:t>
            </a:r>
            <a:r>
              <a:rPr lang="es-ES" dirty="0"/>
              <a:t> tenemos que inicializar la variable a fin de forzar la entrada al bucle.</a:t>
            </a:r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45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249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5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4.png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8B73-0232-F32D-029A-006767DF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819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F1B6BC-7E61-4175-003C-F33AA99A95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3704A-32A5-7375-0426-3532D07886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sz="6000" b="1" dirty="0">
                <a:solidFill>
                  <a:schemeClr val="accent1">
                    <a:lumMod val="75000"/>
                  </a:schemeClr>
                </a:solidFill>
              </a:rPr>
              <a:t>do-</a:t>
            </a:r>
            <a:r>
              <a:rPr lang="es-ES" sz="6000" b="1" dirty="0" err="1">
                <a:solidFill>
                  <a:schemeClr val="accent1">
                    <a:lumMod val="75000"/>
                  </a:schemeClr>
                </a:solidFill>
              </a:rPr>
              <a:t>while</a:t>
            </a:r>
            <a:endParaRPr lang="es-ES" sz="6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do-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 vs 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endParaRPr lang="es-ES" dirty="0">
              <a:solidFill>
                <a:schemeClr val="bg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Validador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Menú de opciones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9B1FB0-3885-B1A2-554A-561031F1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297337" cy="6858000"/>
          </a:xfrm>
          <a:prstGeom prst="rect">
            <a:avLst/>
          </a:prstGeom>
          <a:effectLst>
            <a:outerShdw blurRad="152400" dist="1016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B033EE-C0D3-E5AB-DEBA-21901C36B3A3}"/>
              </a:ext>
            </a:extLst>
          </p:cNvPr>
          <p:cNvSpPr txBox="1"/>
          <p:nvPr/>
        </p:nvSpPr>
        <p:spPr>
          <a:xfrm>
            <a:off x="115479" y="63482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https://snipstock.com/assets/cdn/png/096f8d824600156730185c92437f43db.png</a:t>
            </a:r>
          </a:p>
        </p:txBody>
      </p:sp>
    </p:spTree>
    <p:extLst>
      <p:ext uri="{BB962C8B-B14F-4D97-AF65-F5344CB8AC3E}">
        <p14:creationId xmlns:p14="http://schemas.microsoft.com/office/powerpoint/2010/main" val="357985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9B1FB0-3885-B1A2-554A-561031F1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297337" cy="6858000"/>
          </a:xfrm>
          <a:prstGeom prst="rect">
            <a:avLst/>
          </a:prstGeom>
          <a:effectLst>
            <a:outerShdw blurRad="152400" dist="1016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46381A-F769-72E8-3501-D1B61825B5DB}"/>
              </a:ext>
            </a:extLst>
          </p:cNvPr>
          <p:cNvSpPr/>
          <p:nvPr/>
        </p:nvSpPr>
        <p:spPr>
          <a:xfrm>
            <a:off x="659877" y="2545238"/>
            <a:ext cx="6777871" cy="1008668"/>
          </a:xfrm>
          <a:prstGeom prst="roundRect">
            <a:avLst>
              <a:gd name="adj" fmla="val 50000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E8B73-0232-F32D-029A-006767DF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819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F1B6BC-7E61-4175-003C-F33AA99A95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3704A-32A5-7375-0426-3532D07886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do-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endParaRPr lang="es-ES" dirty="0">
              <a:solidFill>
                <a:schemeClr val="bg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es-ES" sz="6000" b="1" dirty="0">
                <a:solidFill>
                  <a:schemeClr val="accent1">
                    <a:lumMod val="75000"/>
                  </a:schemeClr>
                </a:solidFill>
              </a:rPr>
              <a:t>do-</a:t>
            </a:r>
            <a:r>
              <a:rPr lang="es-ES" sz="6000" b="1" dirty="0" err="1">
                <a:solidFill>
                  <a:schemeClr val="accent1">
                    <a:lumMod val="75000"/>
                  </a:schemeClr>
                </a:solidFill>
              </a:rPr>
              <a:t>while</a:t>
            </a:r>
            <a:r>
              <a:rPr lang="es-ES" sz="6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sz="4800" b="1" dirty="0">
                <a:solidFill>
                  <a:schemeClr val="accent1">
                    <a:lumMod val="75000"/>
                  </a:schemeClr>
                </a:solidFill>
              </a:rPr>
              <a:t>vs</a:t>
            </a:r>
            <a:r>
              <a:rPr lang="es-ES" sz="6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sz="6000" b="1" dirty="0" err="1">
                <a:solidFill>
                  <a:schemeClr val="accent1">
                    <a:lumMod val="75000"/>
                  </a:schemeClr>
                </a:solidFill>
              </a:rPr>
              <a:t>while</a:t>
            </a:r>
            <a:endParaRPr lang="es-ES" sz="6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Validador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Menú de opciones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033EE-C0D3-E5AB-DEBA-21901C36B3A3}"/>
              </a:ext>
            </a:extLst>
          </p:cNvPr>
          <p:cNvSpPr txBox="1"/>
          <p:nvPr/>
        </p:nvSpPr>
        <p:spPr>
          <a:xfrm>
            <a:off x="115479" y="63482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https://snipstock.com/assets/cdn/png/096f8d824600156730185c92437f43db.png</a:t>
            </a:r>
          </a:p>
        </p:txBody>
      </p:sp>
    </p:spTree>
    <p:extLst>
      <p:ext uri="{BB962C8B-B14F-4D97-AF65-F5344CB8AC3E}">
        <p14:creationId xmlns:p14="http://schemas.microsoft.com/office/powerpoint/2010/main" val="188350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E8B73-0232-F32D-029A-006767DF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819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F1B6BC-7E61-4175-003C-F33AA99A95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3704A-32A5-7375-0426-3532D07886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do-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endParaRPr lang="es-ES" dirty="0">
              <a:solidFill>
                <a:schemeClr val="bg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do-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 vs 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endParaRPr lang="es-ES" dirty="0">
              <a:solidFill>
                <a:schemeClr val="bg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es-ES" sz="6000" b="1" dirty="0">
                <a:solidFill>
                  <a:schemeClr val="accent1">
                    <a:lumMod val="75000"/>
                  </a:schemeClr>
                </a:solidFill>
              </a:rPr>
              <a:t>Validador</a:t>
            </a: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Menú de opciones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9B1FB0-3885-B1A2-554A-561031F1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297337" cy="6858000"/>
          </a:xfrm>
          <a:prstGeom prst="rect">
            <a:avLst/>
          </a:prstGeom>
          <a:effectLst>
            <a:outerShdw blurRad="152400" dist="1016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B033EE-C0D3-E5AB-DEBA-21901C36B3A3}"/>
              </a:ext>
            </a:extLst>
          </p:cNvPr>
          <p:cNvSpPr txBox="1"/>
          <p:nvPr/>
        </p:nvSpPr>
        <p:spPr>
          <a:xfrm>
            <a:off x="115479" y="63482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https://snipstock.com/assets/cdn/png/096f8d824600156730185c92437f43db.png</a:t>
            </a:r>
          </a:p>
        </p:txBody>
      </p:sp>
    </p:spTree>
    <p:extLst>
      <p:ext uri="{BB962C8B-B14F-4D97-AF65-F5344CB8AC3E}">
        <p14:creationId xmlns:p14="http://schemas.microsoft.com/office/powerpoint/2010/main" val="345533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9B1FB0-3885-B1A2-554A-561031F1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5297337" cy="6858000"/>
          </a:xfrm>
          <a:prstGeom prst="rect">
            <a:avLst/>
          </a:prstGeom>
          <a:effectLst>
            <a:outerShdw blurRad="152400" dist="101600" dir="2700000" algn="tl" rotWithShape="0">
              <a:prstClr val="black">
                <a:alpha val="25000"/>
              </a:prstClr>
            </a:outerShdw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0BB911-5828-3CC7-9710-F32D0E66BEAB}"/>
              </a:ext>
            </a:extLst>
          </p:cNvPr>
          <p:cNvSpPr/>
          <p:nvPr/>
        </p:nvSpPr>
        <p:spPr>
          <a:xfrm>
            <a:off x="527901" y="3667027"/>
            <a:ext cx="7390614" cy="1008668"/>
          </a:xfrm>
          <a:prstGeom prst="roundRect">
            <a:avLst>
              <a:gd name="adj" fmla="val 50000"/>
            </a:avLst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0E8B73-0232-F32D-029A-006767DF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819"/>
            <a:ext cx="10515600" cy="785528"/>
          </a:xfrm>
        </p:spPr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F1B6BC-7E61-4175-003C-F33AA99A95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3704A-32A5-7375-0426-3532D07886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do-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endParaRPr lang="es-ES" dirty="0">
              <a:solidFill>
                <a:schemeClr val="bg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do-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 vs </a:t>
            </a:r>
            <a:r>
              <a:rPr lang="es-ES" dirty="0" err="1">
                <a:solidFill>
                  <a:schemeClr val="bg1">
                    <a:lumMod val="75000"/>
                  </a:schemeClr>
                </a:solidFill>
              </a:rPr>
              <a:t>while</a:t>
            </a:r>
            <a:endParaRPr lang="es-ES" dirty="0">
              <a:solidFill>
                <a:schemeClr val="bg1">
                  <a:lumMod val="75000"/>
                </a:schemeClr>
              </a:solidFill>
            </a:endParaRPr>
          </a:p>
          <a:p>
            <a:pPr marL="50800" indent="0">
              <a:buNone/>
            </a:pPr>
            <a:r>
              <a:rPr lang="es-ES" dirty="0">
                <a:solidFill>
                  <a:schemeClr val="bg1">
                    <a:lumMod val="75000"/>
                  </a:schemeClr>
                </a:solidFill>
              </a:rPr>
              <a:t>Validador</a:t>
            </a:r>
          </a:p>
          <a:p>
            <a:pPr marL="50800" indent="0">
              <a:buNone/>
            </a:pPr>
            <a:r>
              <a:rPr lang="es-ES" sz="6000" b="1" dirty="0">
                <a:solidFill>
                  <a:schemeClr val="accent1">
                    <a:lumMod val="75000"/>
                  </a:schemeClr>
                </a:solidFill>
              </a:rPr>
              <a:t>Menú de opciones</a:t>
            </a:r>
            <a:endParaRPr lang="en-US" sz="6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033EE-C0D3-E5AB-DEBA-21901C36B3A3}"/>
              </a:ext>
            </a:extLst>
          </p:cNvPr>
          <p:cNvSpPr txBox="1"/>
          <p:nvPr/>
        </p:nvSpPr>
        <p:spPr>
          <a:xfrm>
            <a:off x="115479" y="634826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https://snipstock.com/assets/cdn/png/096f8d824600156730185c92437f43db.png</a:t>
            </a:r>
          </a:p>
        </p:txBody>
      </p:sp>
    </p:spTree>
    <p:extLst>
      <p:ext uri="{BB962C8B-B14F-4D97-AF65-F5344CB8AC3E}">
        <p14:creationId xmlns:p14="http://schemas.microsoft.com/office/powerpoint/2010/main" val="322835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Estructura Repetitiva do-</a:t>
            </a:r>
            <a:r>
              <a:rPr lang="es-ES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 (II)</a:t>
            </a:r>
            <a:endParaRPr lang="en-US" dirty="0"/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F9C61852-2F48-4A10-AC1F-86E7C67BA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Conocimientos previos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2340C-8AA3-8B1A-7CDE-78414DAAEDA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2"/>
            <a:ext cx="5719916" cy="4397222"/>
          </a:xfrm>
        </p:spPr>
        <p:txBody>
          <a:bodyPr>
            <a:noAutofit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b="1" dirty="0">
                <a:solidFill>
                  <a:schemeClr val="tx1"/>
                </a:solidFill>
              </a:rPr>
              <a:t>Observa y responde: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¿Cuántas veces se ejecuta el bucle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do-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while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¿Se utiliza un validador?</a:t>
            </a:r>
          </a:p>
          <a:p>
            <a:pPr>
              <a:lnSpc>
                <a:spcPct val="110000"/>
              </a:lnSpc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¿Se utiliza un menú de opciones?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C9CA61-7769-EFE3-52E1-33BC5D0E1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700078"/>
            <a:ext cx="4837473" cy="4516923"/>
          </a:xfrm>
          <a:prstGeom prst="roundRect">
            <a:avLst>
              <a:gd name="adj" fmla="val 3454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boolean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opcionEsValida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5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Archivo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"[n] Nuevo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"[a]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Abrir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"[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Imprimir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"[g]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Guardar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"[s]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Salir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opción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toLowerCase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opcionEsValida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naigs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indexOf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&gt;=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opcionEsValida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&amp;&amp;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!=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's'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realizar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la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operación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elegida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opcion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!=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's'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Logro de aprendizaje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/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</a:t>
            </a:r>
            <a:r>
              <a:rPr lang="es-ES">
                <a:solidFill>
                  <a:schemeClr val="accent2"/>
                </a:solidFill>
              </a:rPr>
              <a:t>estudiante</a:t>
            </a:r>
            <a:r>
              <a:rPr lang="es-ES"/>
              <a:t> </a:t>
            </a:r>
            <a:r>
              <a:rPr lang="es-ES">
                <a:solidFill>
                  <a:schemeClr val="accent5"/>
                </a:solidFill>
              </a:rPr>
              <a:t>desarrolla</a:t>
            </a:r>
            <a:r>
              <a:rPr lang="es-ES"/>
              <a:t> </a:t>
            </a:r>
            <a:r>
              <a:rPr lang="es-ES" dirty="0">
                <a:solidFill>
                  <a:schemeClr val="accent4"/>
                </a:solidFill>
              </a:rPr>
              <a:t>programas con la estructura repetitiva do-</a:t>
            </a:r>
            <a:r>
              <a:rPr lang="es-ES" dirty="0" err="1">
                <a:solidFill>
                  <a:schemeClr val="accent4"/>
                </a:solidFill>
              </a:rPr>
              <a:t>while</a:t>
            </a:r>
            <a:r>
              <a:rPr lang="es-ES" dirty="0"/>
              <a:t> </a:t>
            </a:r>
            <a:r>
              <a:rPr lang="es-ES" dirty="0">
                <a:solidFill>
                  <a:srgbClr val="D3052C"/>
                </a:solidFill>
              </a:rPr>
              <a:t>utilizando un IDE Java </a:t>
            </a:r>
            <a:r>
              <a:rPr lang="es-ES" dirty="0">
                <a:solidFill>
                  <a:srgbClr val="7030A0"/>
                </a:solidFill>
              </a:rPr>
              <a:t>para resolver problemas sencillos que requieren acciones que se ejecuten repetidamente.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accent3"/>
                </a:solidFill>
              </a:rPr>
              <a:t>Imagen </a:t>
            </a:r>
            <a:r>
              <a:rPr lang="en-US" sz="900" err="1">
                <a:solidFill>
                  <a:schemeClr val="accent3"/>
                </a:solidFill>
              </a:rPr>
              <a:t>obtenida</a:t>
            </a:r>
            <a:r>
              <a:rPr lang="en-US" sz="900">
                <a:solidFill>
                  <a:schemeClr val="accent3"/>
                </a:solidFill>
              </a:rPr>
              <a:t> de:</a:t>
            </a:r>
            <a:br>
              <a:rPr lang="en-US" sz="900">
                <a:solidFill>
                  <a:schemeClr val="accent3"/>
                </a:solidFill>
              </a:rPr>
            </a:br>
            <a:r>
              <a:rPr lang="en-US" sz="90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2545"/>
            <a:ext cx="10515600" cy="785528"/>
          </a:xfrm>
        </p:spPr>
        <p:txBody>
          <a:bodyPr/>
          <a:lstStyle/>
          <a:p>
            <a:r>
              <a:rPr lang="es-ES"/>
              <a:t>Utilidad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B555DED-C1EC-199E-BD3B-E945F183DA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362075"/>
            <a:ext cx="5713428" cy="4063712"/>
          </a:xfrm>
        </p:spPr>
        <p:txBody>
          <a:bodyPr>
            <a:normAutofit/>
          </a:bodyPr>
          <a:lstStyle/>
          <a:p>
            <a:r>
              <a:rPr lang="es-ES" sz="2400" dirty="0"/>
              <a:t>¿Es posible reemplazar una estructura </a:t>
            </a:r>
            <a:r>
              <a:rPr lang="es-ES" sz="2400" b="1" dirty="0" err="1"/>
              <a:t>while</a:t>
            </a:r>
            <a:r>
              <a:rPr lang="es-ES" sz="2400" dirty="0"/>
              <a:t> con una </a:t>
            </a:r>
            <a:r>
              <a:rPr lang="es-ES" sz="2400" b="1" dirty="0"/>
              <a:t>do-</a:t>
            </a:r>
            <a:r>
              <a:rPr lang="es-ES" sz="2400" b="1" dirty="0" err="1"/>
              <a:t>while</a:t>
            </a:r>
            <a:r>
              <a:rPr lang="es-ES" sz="2400" dirty="0"/>
              <a:t> y obtener el mismo resultado?</a:t>
            </a:r>
          </a:p>
          <a:p>
            <a:r>
              <a:rPr lang="es-ES" sz="2400" dirty="0"/>
              <a:t>¿En qué casos </a:t>
            </a:r>
            <a:r>
              <a:rPr lang="es-ES" sz="2400" b="1" dirty="0" err="1"/>
              <a:t>while</a:t>
            </a:r>
            <a:r>
              <a:rPr lang="es-ES" sz="2400" dirty="0"/>
              <a:t> y </a:t>
            </a:r>
            <a:r>
              <a:rPr lang="es-ES" sz="2400" b="1" dirty="0"/>
              <a:t>do-</a:t>
            </a:r>
            <a:r>
              <a:rPr lang="es-ES" sz="2400" b="1" dirty="0" err="1"/>
              <a:t>while</a:t>
            </a:r>
            <a:r>
              <a:rPr lang="es-ES" sz="2400" dirty="0"/>
              <a:t> son intercambiables?</a:t>
            </a:r>
          </a:p>
          <a:p>
            <a:r>
              <a:rPr lang="es-ES" sz="2400" dirty="0"/>
              <a:t>¿Porqué es útil identificar en qué casos </a:t>
            </a:r>
            <a:r>
              <a:rPr lang="es-ES" sz="2400" b="1" dirty="0"/>
              <a:t>do-</a:t>
            </a:r>
            <a:r>
              <a:rPr lang="es-ES" sz="2400" b="1" dirty="0" err="1"/>
              <a:t>while</a:t>
            </a:r>
            <a:r>
              <a:rPr lang="es-ES" sz="2400" dirty="0"/>
              <a:t> es la estructura ideal para resolver un problema?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1016778" y="5348179"/>
            <a:ext cx="56017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b="1" dirty="0" err="1">
                <a:solidFill>
                  <a:srgbClr val="0E7D73"/>
                </a:solidFill>
                <a:latin typeface="Helvetica" pitchFamily="2" charset="0"/>
              </a:rPr>
              <a:t>Programar</a:t>
            </a:r>
            <a:r>
              <a:rPr lang="en-US" sz="2800" b="1" dirty="0"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procesos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solidFill>
                  <a:srgbClr val="CC7832"/>
                </a:solidFill>
                <a:latin typeface="Helvetica" pitchFamily="2" charset="0"/>
              </a:rPr>
              <a:t>repetitivos</a:t>
            </a:r>
            <a:r>
              <a:rPr lang="en-US" sz="2800" b="1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b="1" dirty="0" err="1">
                <a:latin typeface="Helvetica" pitchFamily="2" charset="0"/>
              </a:rPr>
              <a:t>en</a:t>
            </a:r>
            <a:r>
              <a:rPr lang="en-US" sz="2800" b="1" dirty="0">
                <a:latin typeface="Helvetica" pitchFamily="2" charset="0"/>
              </a:rPr>
              <a:t> Java.</a:t>
            </a:r>
            <a:endParaRPr lang="es-ES" sz="2800" b="1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E3CA2-FB22-6FCF-62A8-8785D655A726}"/>
              </a:ext>
            </a:extLst>
          </p:cNvPr>
          <p:cNvSpPr txBox="1"/>
          <p:nvPr/>
        </p:nvSpPr>
        <p:spPr>
          <a:xfrm>
            <a:off x="248266" y="6490643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https://www.philscomputerlab.com/uploads/3/7/2/3/37231621/6532844_orig.png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8A9C3B-269C-9EF7-67DC-E369CE53F140}"/>
              </a:ext>
            </a:extLst>
          </p:cNvPr>
          <p:cNvGrpSpPr/>
          <p:nvPr/>
        </p:nvGrpSpPr>
        <p:grpSpPr>
          <a:xfrm>
            <a:off x="7248975" y="698849"/>
            <a:ext cx="4028243" cy="2826306"/>
            <a:chOff x="7019972" y="3664337"/>
            <a:chExt cx="4028243" cy="2826306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2D0CA0AC-BD33-F4FE-3C17-FCF8FD521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9972" y="3664337"/>
              <a:ext cx="3729752" cy="2826306"/>
            </a:xfrm>
            <a:prstGeom prst="roundRect">
              <a:avLst>
                <a:gd name="adj" fmla="val 5112"/>
              </a:avLst>
            </a:prstGeom>
            <a:solidFill>
              <a:srgbClr val="1E1F22"/>
            </a:solidFill>
            <a:ln>
              <a:noFill/>
            </a:ln>
            <a:effectLst>
              <a:glow rad="101600">
                <a:schemeClr val="accent3">
                  <a:satMod val="175000"/>
                  <a:alpha val="40000"/>
                </a:schemeClr>
              </a:glo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Scanner lector =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new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Scanner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(System.</a:t>
              </a:r>
              <a:r>
                <a:rPr kumimoji="0" lang="en-US" altLang="en-US" sz="1000" b="0" i="1" u="none" strike="noStrike" cap="none" normalizeH="0" baseline="0" dirty="0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int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opcion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D981D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0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while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opcion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!=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D981D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 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System.</a:t>
              </a:r>
              <a:r>
                <a:rPr kumimoji="0" lang="en-US" altLang="en-US" sz="1000" b="0" i="1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out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.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println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"""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Opciones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_______________________________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[1]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Generar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reporte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[2]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Crear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copia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de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seguridad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[3]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Salir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_______________________________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Ingrese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una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opción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: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"""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opcion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lector.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nextInt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();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lector.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nextLine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();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5106D51-9F6D-E93B-691A-325D2CAEE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7353" y="4078561"/>
              <a:ext cx="570862" cy="570862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0A20C3-FF13-9262-51AE-6C21A64F36E3}"/>
              </a:ext>
            </a:extLst>
          </p:cNvPr>
          <p:cNvGrpSpPr/>
          <p:nvPr/>
        </p:nvGrpSpPr>
        <p:grpSpPr>
          <a:xfrm>
            <a:off x="7248055" y="3740887"/>
            <a:ext cx="4105744" cy="2826306"/>
            <a:chOff x="7019972" y="687051"/>
            <a:chExt cx="4105744" cy="2826306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1FE06C4F-2457-9258-697C-92E7F3A05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9972" y="687051"/>
              <a:ext cx="3729752" cy="2826306"/>
            </a:xfrm>
            <a:prstGeom prst="roundRect">
              <a:avLst>
                <a:gd name="adj" fmla="val 4727"/>
              </a:avLst>
            </a:prstGeom>
            <a:solidFill>
              <a:srgbClr val="1E1F22"/>
            </a:solidFill>
            <a:ln>
              <a:noFill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Scanner lector =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new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Scanner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(System.</a:t>
              </a:r>
              <a:r>
                <a:rPr kumimoji="0" lang="en-US" altLang="en-US" sz="1000" b="0" i="1" u="none" strike="noStrike" cap="none" normalizeH="0" baseline="0" dirty="0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int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opcion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do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{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System.</a:t>
              </a:r>
              <a:r>
                <a:rPr kumimoji="0" lang="en-US" altLang="en-US" sz="1000" b="0" i="1" u="none" strike="noStrike" cap="none" normalizeH="0" baseline="0" dirty="0" err="1">
                  <a:ln>
                    <a:noFill/>
                  </a:ln>
                  <a:solidFill>
                    <a:srgbClr val="72CF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out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.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println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"""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Opciones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_______________________________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[1]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Generar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reporte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[2]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Crear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copia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de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seguridad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[3]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Salir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_______________________________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Ingrese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una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opción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: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EC482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        """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opcion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=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lector.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nextInt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();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   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lector.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DEBC7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nextLine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();</a:t>
              </a:r>
              <a:b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</a:b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}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749DED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while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(</a:t>
              </a:r>
              <a:r>
                <a:rPr kumimoji="0" lang="en-US" altLang="en-US" sz="1000" b="0" i="0" u="none" strike="noStrike" cap="none" normalizeH="0" baseline="0" dirty="0" err="1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opcion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 != 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D981DE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rgbClr val="CED0D6"/>
                  </a:solidFill>
                  <a:effectLst/>
                  <a:latin typeface="JetBrains Mono" panose="02000009000000000000" pitchFamily="49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);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EE1844C-2702-4203-3F20-517AE48DFA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399852" y="1075105"/>
              <a:ext cx="725864" cy="573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6EA308-56C9-837B-F138-117794F3AF8A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669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71AF-5065-BBBC-D752-E9B5F95F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 do-</a:t>
            </a:r>
            <a:r>
              <a:rPr lang="es-ES" dirty="0" err="1"/>
              <a:t>while</a:t>
            </a:r>
            <a:r>
              <a:rPr lang="es-ES" dirty="0"/>
              <a:t> (</a:t>
            </a:r>
            <a:r>
              <a:rPr lang="es-ES" i="1" dirty="0"/>
              <a:t>“hacer mientras”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2161D-97F4-5C0C-FBEC-7D6B442B8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CE59E8-E3E0-0380-549E-626FA57B54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846263"/>
            <a:ext cx="6188256" cy="4373562"/>
          </a:xfrm>
        </p:spPr>
        <p:txBody>
          <a:bodyPr/>
          <a:lstStyle/>
          <a:p>
            <a:r>
              <a:rPr lang="es-ES" dirty="0"/>
              <a:t>La estructura repetitiva </a:t>
            </a:r>
            <a:r>
              <a:rPr lang="es-ES" b="1" dirty="0">
                <a:solidFill>
                  <a:schemeClr val="accent2"/>
                </a:solidFill>
              </a:rPr>
              <a:t>do-</a:t>
            </a:r>
            <a:r>
              <a:rPr lang="es-ES" b="1" dirty="0" err="1">
                <a:solidFill>
                  <a:schemeClr val="accent2"/>
                </a:solidFill>
              </a:rPr>
              <a:t>while</a:t>
            </a:r>
            <a:r>
              <a:rPr lang="es-ES" dirty="0"/>
              <a:t> ejecuta su </a:t>
            </a:r>
            <a:r>
              <a:rPr lang="es-ES" b="1" dirty="0"/>
              <a:t>condición</a:t>
            </a:r>
            <a:r>
              <a:rPr lang="es-ES" dirty="0"/>
              <a:t> al </a:t>
            </a:r>
            <a:r>
              <a:rPr lang="es-ES" b="1" dirty="0"/>
              <a:t>final</a:t>
            </a:r>
            <a:r>
              <a:rPr lang="es-ES" dirty="0"/>
              <a:t> del </a:t>
            </a:r>
            <a:r>
              <a:rPr lang="es-ES" b="1" dirty="0"/>
              <a:t>bucle</a:t>
            </a:r>
            <a:r>
              <a:rPr lang="es-ES" dirty="0"/>
              <a:t>.</a:t>
            </a:r>
          </a:p>
          <a:p>
            <a:r>
              <a:rPr lang="es-ES" dirty="0"/>
              <a:t>Por su diseño, esta estructura </a:t>
            </a:r>
            <a:r>
              <a:rPr lang="es-ES" b="1" dirty="0"/>
              <a:t>se ejecuta al menos una vez</a:t>
            </a:r>
            <a:r>
              <a:rPr lang="es-ES" dirty="0"/>
              <a:t>, siempre.</a:t>
            </a:r>
          </a:p>
          <a:p>
            <a:r>
              <a:rPr lang="es-ES" dirty="0"/>
              <a:t>El </a:t>
            </a:r>
            <a:r>
              <a:rPr lang="es-ES" b="1" dirty="0"/>
              <a:t>bucle</a:t>
            </a:r>
            <a:r>
              <a:rPr lang="es-ES" dirty="0"/>
              <a:t> </a:t>
            </a:r>
            <a:r>
              <a:rPr lang="es-ES" b="1" dirty="0"/>
              <a:t>finaliza</a:t>
            </a:r>
            <a:r>
              <a:rPr lang="es-ES" dirty="0"/>
              <a:t> cuando la </a:t>
            </a:r>
            <a:r>
              <a:rPr lang="es-ES" b="1" dirty="0"/>
              <a:t>condición</a:t>
            </a:r>
            <a:r>
              <a:rPr lang="es-ES" dirty="0"/>
              <a:t> es </a:t>
            </a:r>
            <a:r>
              <a:rPr lang="es-ES" b="1" dirty="0">
                <a:solidFill>
                  <a:srgbClr val="FF0000"/>
                </a:solidFill>
              </a:rPr>
              <a:t>false</a:t>
            </a:r>
            <a:r>
              <a:rPr lang="es-ES" dirty="0"/>
              <a:t> (opuesto al bucle </a:t>
            </a:r>
            <a:r>
              <a:rPr lang="es-ES" b="1" dirty="0" err="1">
                <a:solidFill>
                  <a:schemeClr val="accent2"/>
                </a:solidFill>
              </a:rPr>
              <a:t>while</a:t>
            </a:r>
            <a:r>
              <a:rPr lang="es-ES" dirty="0"/>
              <a:t>)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FF289D-D390-5132-8CFA-CE170B922965}"/>
              </a:ext>
            </a:extLst>
          </p:cNvPr>
          <p:cNvGrpSpPr/>
          <p:nvPr/>
        </p:nvGrpSpPr>
        <p:grpSpPr>
          <a:xfrm>
            <a:off x="838200" y="-45064"/>
            <a:ext cx="4629752" cy="1015663"/>
            <a:chOff x="924025" y="1526961"/>
            <a:chExt cx="4629752" cy="10156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1817A4-E157-5C8B-6D93-8A4CB9C76B69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E08BE3-3DD1-06F3-4B27-62FFC4688193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991D40-FF73-5A55-1E1E-390096E505E0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5C104B-2912-E1B7-711F-581D0BFDE1A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C847B3-59C4-D1FA-453B-65D8F3E3797D}"/>
              </a:ext>
            </a:extLst>
          </p:cNvPr>
          <p:cNvGrpSpPr/>
          <p:nvPr/>
        </p:nvGrpSpPr>
        <p:grpSpPr>
          <a:xfrm>
            <a:off x="7373414" y="1991405"/>
            <a:ext cx="3648547" cy="3764928"/>
            <a:chOff x="7640837" y="2188051"/>
            <a:chExt cx="3648547" cy="3764928"/>
          </a:xfrm>
        </p:grpSpPr>
        <p:sp>
          <p:nvSpPr>
            <p:cNvPr id="13" name="Arrow: U-Turn 12">
              <a:extLst>
                <a:ext uri="{FF2B5EF4-FFF2-40B4-BE49-F238E27FC236}">
                  <a16:creationId xmlns:a16="http://schemas.microsoft.com/office/drawing/2014/main" id="{1BD12BA8-BD84-0F1A-57AE-5C5E1223CCD3}"/>
                </a:ext>
              </a:extLst>
            </p:cNvPr>
            <p:cNvSpPr/>
            <p:nvPr/>
          </p:nvSpPr>
          <p:spPr>
            <a:xfrm rot="16200000">
              <a:off x="7521776" y="3285440"/>
              <a:ext cx="2202034" cy="1963912"/>
            </a:xfrm>
            <a:prstGeom prst="uturnArrow">
              <a:avLst>
                <a:gd name="adj1" fmla="val 4200"/>
                <a:gd name="adj2" fmla="val 5467"/>
                <a:gd name="adj3" fmla="val 5853"/>
                <a:gd name="adj4" fmla="val 15800"/>
                <a:gd name="adj5" fmla="val 31412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EB525278-E6FC-EC17-B1A2-2B7C032BB491}"/>
                </a:ext>
              </a:extLst>
            </p:cNvPr>
            <p:cNvSpPr/>
            <p:nvPr/>
          </p:nvSpPr>
          <p:spPr>
            <a:xfrm>
              <a:off x="9491694" y="2188051"/>
              <a:ext cx="221670" cy="708582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Bent 14">
              <a:extLst>
                <a:ext uri="{FF2B5EF4-FFF2-40B4-BE49-F238E27FC236}">
                  <a16:creationId xmlns:a16="http://schemas.microsoft.com/office/drawing/2014/main" id="{7B52D808-AC33-AD2C-C6C3-7BC41BF30866}"/>
                </a:ext>
              </a:extLst>
            </p:cNvPr>
            <p:cNvSpPr/>
            <p:nvPr/>
          </p:nvSpPr>
          <p:spPr>
            <a:xfrm rot="5400000">
              <a:off x="10408146" y="5173139"/>
              <a:ext cx="671985" cy="887696"/>
            </a:xfrm>
            <a:prstGeom prst="bentArrow">
              <a:avLst>
                <a:gd name="adj1" fmla="val 12459"/>
                <a:gd name="adj2" fmla="val 17540"/>
                <a:gd name="adj3" fmla="val 18338"/>
                <a:gd name="adj4" fmla="val 30816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A80C94C-A3BC-66B1-224A-F0DA1E6437F3}"/>
                </a:ext>
              </a:extLst>
            </p:cNvPr>
            <p:cNvSpPr/>
            <p:nvPr/>
          </p:nvSpPr>
          <p:spPr>
            <a:xfrm rot="18900000">
              <a:off x="9038579" y="4749548"/>
              <a:ext cx="1136562" cy="1136562"/>
            </a:xfrm>
            <a:prstGeom prst="roundRect">
              <a:avLst>
                <a:gd name="adj" fmla="val 6071"/>
              </a:avLst>
            </a:prstGeom>
            <a:solidFill>
              <a:srgbClr val="92D05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B5E9CC-7A44-BD01-4DFD-2D679BC87F22}"/>
                </a:ext>
              </a:extLst>
            </p:cNvPr>
            <p:cNvSpPr txBox="1"/>
            <p:nvPr/>
          </p:nvSpPr>
          <p:spPr>
            <a:xfrm>
              <a:off x="9022446" y="5113499"/>
              <a:ext cx="1159293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condición</a:t>
              </a:r>
              <a:endParaRPr lang="en-US" sz="18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BBC4E1-252E-A9DA-DB07-CA65FFFE0722}"/>
                </a:ext>
              </a:extLst>
            </p:cNvPr>
            <p:cNvSpPr txBox="1"/>
            <p:nvPr/>
          </p:nvSpPr>
          <p:spPr>
            <a:xfrm>
              <a:off x="8217551" y="4838564"/>
              <a:ext cx="594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800" dirty="0">
                  <a:solidFill>
                    <a:srgbClr val="92D050"/>
                  </a:solidFill>
                </a:rPr>
                <a:t>true</a:t>
              </a:r>
              <a:endParaRPr lang="en-US" sz="1800" dirty="0">
                <a:solidFill>
                  <a:srgbClr val="92D05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E15159F-AC6C-AAC8-4F3D-9C22C96B01BF}"/>
                </a:ext>
              </a:extLst>
            </p:cNvPr>
            <p:cNvSpPr txBox="1"/>
            <p:nvPr/>
          </p:nvSpPr>
          <p:spPr>
            <a:xfrm>
              <a:off x="10464210" y="4838564"/>
              <a:ext cx="8251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800" dirty="0">
                  <a:solidFill>
                    <a:srgbClr val="C00000"/>
                  </a:solidFill>
                </a:rPr>
                <a:t>false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B4543BE0-6037-626E-7899-B5063C9E947F}"/>
                </a:ext>
              </a:extLst>
            </p:cNvPr>
            <p:cNvSpPr/>
            <p:nvPr/>
          </p:nvSpPr>
          <p:spPr>
            <a:xfrm>
              <a:off x="9495978" y="3653830"/>
              <a:ext cx="221670" cy="857384"/>
            </a:xfrm>
            <a:prstGeom prst="downArrow">
              <a:avLst>
                <a:gd name="adj1" fmla="val 33333"/>
                <a:gd name="adj2" fmla="val 58365"/>
              </a:avLst>
            </a:prstGeom>
            <a:solidFill>
              <a:schemeClr val="tx1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C2D9ADF8-DBEA-C271-EC16-FBDEFF17D48F}"/>
                </a:ext>
              </a:extLst>
            </p:cNvPr>
            <p:cNvSpPr/>
            <p:nvPr/>
          </p:nvSpPr>
          <p:spPr>
            <a:xfrm>
              <a:off x="8292902" y="2906344"/>
              <a:ext cx="2613891" cy="785528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FE33FA-88C3-9504-3D47-5C2B6B171218}"/>
                </a:ext>
              </a:extLst>
            </p:cNvPr>
            <p:cNvSpPr txBox="1"/>
            <p:nvPr/>
          </p:nvSpPr>
          <p:spPr>
            <a:xfrm>
              <a:off x="8563966" y="3108910"/>
              <a:ext cx="2082621" cy="369332"/>
            </a:xfrm>
            <a:prstGeom prst="rect">
              <a:avLst/>
            </a:prstGeom>
            <a:noFill/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800" dirty="0"/>
                <a:t>código condicional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3144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Estructura repetitiva </a:t>
              </a:r>
              <a:br>
                <a:rPr lang="es-ES" dirty="0">
                  <a:solidFill>
                    <a:schemeClr val="bg1"/>
                  </a:solidFill>
                  <a:latin typeface="Helvetica" pitchFamily="2" charset="0"/>
                </a:rPr>
              </a:b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do-</a:t>
              </a:r>
              <a:r>
                <a:rPr lang="es-ES" dirty="0" err="1">
                  <a:solidFill>
                    <a:schemeClr val="bg1"/>
                  </a:solidFill>
                  <a:latin typeface="Helvetica" pitchFamily="2" charset="0"/>
                </a:rPr>
                <a:t>while</a:t>
              </a:r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 (repaso)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46EA308-56C9-837B-F138-117794F3AF8A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753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BC5F8-CFC9-6085-A961-2612E0EEF8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5105399" cy="4373562"/>
          </a:xfrm>
        </p:spPr>
        <p:txBody>
          <a:bodyPr>
            <a:normAutofit fontScale="85000" lnSpcReduction="1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Elaborar un programa que permita ingresar mediante un menú la información de un empleado y sus salarios​.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Opcion1: Se debe pedir el nombre y apellidos del empleado (por separado)​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Opción2: Se debe ingresar el sueldo mensual y validar que sea un salario válido​.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Opción 3: Elaborar el reporte ASCII (validar que los datos del empleado y el salario hayan sido ingresados​)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D0AC3C9-117F-7157-5F56-006C3ADDC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167" y="968507"/>
            <a:ext cx="3312242" cy="167762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AD70810-F485-D90A-8368-83199CB17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245" y="2906486"/>
            <a:ext cx="4870011" cy="318951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16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BC5F8-CFC9-6085-A961-2612E0EEF8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Crear un programa en Java para convertir un número de base decimal a binario.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D289D19-70F3-4067-CF60-8C8D55FF0EFE}"/>
              </a:ext>
            </a:extLst>
          </p:cNvPr>
          <p:cNvGrpSpPr/>
          <p:nvPr/>
        </p:nvGrpSpPr>
        <p:grpSpPr>
          <a:xfrm>
            <a:off x="1768215" y="3038470"/>
            <a:ext cx="6842385" cy="3579746"/>
            <a:chOff x="378911" y="3024047"/>
            <a:chExt cx="6842385" cy="357974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0F9CF52-95AD-B470-4EC0-B01C945F3DF0}"/>
                </a:ext>
              </a:extLst>
            </p:cNvPr>
            <p:cNvSpPr txBox="1"/>
            <p:nvPr/>
          </p:nvSpPr>
          <p:spPr>
            <a:xfrm>
              <a:off x="1576240" y="3198167"/>
              <a:ext cx="6992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100</a:t>
              </a:r>
              <a:endParaRPr lang="en-US" sz="24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49723C-42D6-A713-8C6B-4343EB75AA35}"/>
                </a:ext>
              </a:extLst>
            </p:cNvPr>
            <p:cNvSpPr txBox="1"/>
            <p:nvPr/>
          </p:nvSpPr>
          <p:spPr>
            <a:xfrm>
              <a:off x="2589026" y="319816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2</a:t>
              </a:r>
              <a:endParaRPr lang="en-US" sz="2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D7C2B8-47E9-9F97-E679-45CCCE84D06B}"/>
                </a:ext>
              </a:extLst>
            </p:cNvPr>
            <p:cNvSpPr txBox="1"/>
            <p:nvPr/>
          </p:nvSpPr>
          <p:spPr>
            <a:xfrm>
              <a:off x="1925855" y="365983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0</a:t>
              </a:r>
              <a:endParaRPr lang="en-US" sz="24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4BF817-4C46-C4E3-6F87-EED8A7D4E129}"/>
                </a:ext>
              </a:extLst>
            </p:cNvPr>
            <p:cNvSpPr txBox="1"/>
            <p:nvPr/>
          </p:nvSpPr>
          <p:spPr>
            <a:xfrm>
              <a:off x="2606828" y="3659832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50</a:t>
              </a:r>
              <a:endParaRPr lang="en-US" sz="24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4C104E-7194-E61E-DD6A-2E070BEB99F7}"/>
                </a:ext>
              </a:extLst>
            </p:cNvPr>
            <p:cNvSpPr txBox="1"/>
            <p:nvPr/>
          </p:nvSpPr>
          <p:spPr>
            <a:xfrm>
              <a:off x="3448093" y="365983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2</a:t>
              </a:r>
              <a:endParaRPr lang="en-US" sz="2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CDAEED-7C6E-20FC-6F1F-A209F3B3E633}"/>
                </a:ext>
              </a:extLst>
            </p:cNvPr>
            <p:cNvSpPr txBox="1"/>
            <p:nvPr/>
          </p:nvSpPr>
          <p:spPr>
            <a:xfrm>
              <a:off x="2784922" y="412149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0</a:t>
              </a:r>
              <a:endParaRPr lang="en-US" sz="2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4C05C32-4D6D-986E-0355-5D07D3FF88EF}"/>
                </a:ext>
              </a:extLst>
            </p:cNvPr>
            <p:cNvSpPr txBox="1"/>
            <p:nvPr/>
          </p:nvSpPr>
          <p:spPr>
            <a:xfrm>
              <a:off x="3490132" y="4121497"/>
              <a:ext cx="527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25</a:t>
              </a:r>
              <a:endParaRPr lang="en-US" sz="24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F29D524-37C2-7AB6-8838-4024D96C27FE}"/>
                </a:ext>
              </a:extLst>
            </p:cNvPr>
            <p:cNvSpPr txBox="1"/>
            <p:nvPr/>
          </p:nvSpPr>
          <p:spPr>
            <a:xfrm>
              <a:off x="4226294" y="412149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2</a:t>
              </a:r>
              <a:endParaRPr lang="en-US" sz="24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1E152C6-359E-E100-31D4-42FD0A5B8F6A}"/>
                </a:ext>
              </a:extLst>
            </p:cNvPr>
            <p:cNvSpPr txBox="1"/>
            <p:nvPr/>
          </p:nvSpPr>
          <p:spPr>
            <a:xfrm>
              <a:off x="3668227" y="458316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1</a:t>
              </a:r>
              <a:endParaRPr lang="en-US" sz="24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440C64-F7C8-FA25-5B55-D6D1C4017B6D}"/>
                </a:ext>
              </a:extLst>
            </p:cNvPr>
            <p:cNvSpPr txBox="1"/>
            <p:nvPr/>
          </p:nvSpPr>
          <p:spPr>
            <a:xfrm>
              <a:off x="4351682" y="4583162"/>
              <a:ext cx="527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12</a:t>
              </a:r>
              <a:endParaRPr lang="en-US" sz="24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CB8D20-67C0-8929-AACF-83A8FEEC7A0C}"/>
                </a:ext>
              </a:extLst>
            </p:cNvPr>
            <p:cNvSpPr txBox="1"/>
            <p:nvPr/>
          </p:nvSpPr>
          <p:spPr>
            <a:xfrm>
              <a:off x="5045804" y="458316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2</a:t>
              </a:r>
              <a:endParaRPr lang="en-US" sz="2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479BEA3-2A29-DDB9-A8AB-E0C42D090768}"/>
                </a:ext>
              </a:extLst>
            </p:cNvPr>
            <p:cNvSpPr txBox="1"/>
            <p:nvPr/>
          </p:nvSpPr>
          <p:spPr>
            <a:xfrm>
              <a:off x="4529777" y="504482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0</a:t>
              </a:r>
              <a:endParaRPr lang="en-US" sz="24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AAF0F4D-563D-14C2-C6FE-E7C42E1C709B}"/>
                </a:ext>
              </a:extLst>
            </p:cNvPr>
            <p:cNvSpPr txBox="1"/>
            <p:nvPr/>
          </p:nvSpPr>
          <p:spPr>
            <a:xfrm>
              <a:off x="5229861" y="504482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6</a:t>
              </a:r>
              <a:endParaRPr lang="en-US" sz="2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7F06294-6567-5BA4-DFF1-4061137B84AC}"/>
                </a:ext>
              </a:extLst>
            </p:cNvPr>
            <p:cNvSpPr txBox="1"/>
            <p:nvPr/>
          </p:nvSpPr>
          <p:spPr>
            <a:xfrm>
              <a:off x="5889095" y="504482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2</a:t>
              </a:r>
              <a:endParaRPr lang="en-US" sz="2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F01DCA5-13FC-5ED1-5417-F0D0C59F3D20}"/>
                </a:ext>
              </a:extLst>
            </p:cNvPr>
            <p:cNvSpPr txBox="1"/>
            <p:nvPr/>
          </p:nvSpPr>
          <p:spPr>
            <a:xfrm>
              <a:off x="5236434" y="550649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0</a:t>
              </a:r>
              <a:endParaRPr lang="en-US" sz="2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82477AE-89B9-C641-A2C7-CB47D81F890D}"/>
                </a:ext>
              </a:extLst>
            </p:cNvPr>
            <p:cNvSpPr txBox="1"/>
            <p:nvPr/>
          </p:nvSpPr>
          <p:spPr>
            <a:xfrm>
              <a:off x="5904685" y="550649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3</a:t>
              </a:r>
              <a:endParaRPr lang="en-US" sz="24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7FF018E-0DDE-F7E9-38E3-F62B997C2634}"/>
                </a:ext>
              </a:extLst>
            </p:cNvPr>
            <p:cNvSpPr txBox="1"/>
            <p:nvPr/>
          </p:nvSpPr>
          <p:spPr>
            <a:xfrm>
              <a:off x="6616469" y="5506492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2</a:t>
              </a:r>
              <a:endParaRPr lang="en-US" sz="24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EABCEEE-1E3A-FD80-5ECC-D0E40C568E5F}"/>
                </a:ext>
              </a:extLst>
            </p:cNvPr>
            <p:cNvSpPr txBox="1"/>
            <p:nvPr/>
          </p:nvSpPr>
          <p:spPr>
            <a:xfrm>
              <a:off x="5911258" y="596815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1</a:t>
              </a:r>
              <a:endParaRPr lang="en-US" sz="24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C3ABB01-4140-3AF8-3593-CA91CFD73B67}"/>
                </a:ext>
              </a:extLst>
            </p:cNvPr>
            <p:cNvSpPr txBox="1"/>
            <p:nvPr/>
          </p:nvSpPr>
          <p:spPr>
            <a:xfrm>
              <a:off x="6586082" y="596815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ES" sz="2400" dirty="0"/>
                <a:t>1</a:t>
              </a:r>
              <a:endParaRPr lang="en-US" sz="2400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26EEDD5-7C3A-C495-E976-A7807F77602F}"/>
                </a:ext>
              </a:extLst>
            </p:cNvPr>
            <p:cNvSpPr/>
            <p:nvPr/>
          </p:nvSpPr>
          <p:spPr>
            <a:xfrm>
              <a:off x="2483783" y="3279243"/>
              <a:ext cx="699231" cy="380589"/>
            </a:xfrm>
            <a:custGeom>
              <a:avLst/>
              <a:gdLst>
                <a:gd name="connsiteX0" fmla="*/ 0 w 1555531"/>
                <a:gd name="connsiteY0" fmla="*/ 0 h 798786"/>
                <a:gd name="connsiteX1" fmla="*/ 0 w 1555531"/>
                <a:gd name="connsiteY1" fmla="*/ 798786 h 798786"/>
                <a:gd name="connsiteX2" fmla="*/ 1524000 w 1555531"/>
                <a:gd name="connsiteY2" fmla="*/ 798786 h 798786"/>
                <a:gd name="connsiteX3" fmla="*/ 1555531 w 1555531"/>
                <a:gd name="connsiteY3" fmla="*/ 798786 h 79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531" h="798786">
                  <a:moveTo>
                    <a:pt x="0" y="0"/>
                  </a:moveTo>
                  <a:lnTo>
                    <a:pt x="0" y="798786"/>
                  </a:lnTo>
                  <a:lnTo>
                    <a:pt x="1524000" y="798786"/>
                  </a:lnTo>
                  <a:lnTo>
                    <a:pt x="1555531" y="798786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7451607-C04B-AF1F-906A-7B4093755FDD}"/>
                </a:ext>
              </a:extLst>
            </p:cNvPr>
            <p:cNvSpPr/>
            <p:nvPr/>
          </p:nvSpPr>
          <p:spPr>
            <a:xfrm>
              <a:off x="3291439" y="3781446"/>
              <a:ext cx="699231" cy="380589"/>
            </a:xfrm>
            <a:custGeom>
              <a:avLst/>
              <a:gdLst>
                <a:gd name="connsiteX0" fmla="*/ 0 w 1555531"/>
                <a:gd name="connsiteY0" fmla="*/ 0 h 798786"/>
                <a:gd name="connsiteX1" fmla="*/ 0 w 1555531"/>
                <a:gd name="connsiteY1" fmla="*/ 798786 h 798786"/>
                <a:gd name="connsiteX2" fmla="*/ 1524000 w 1555531"/>
                <a:gd name="connsiteY2" fmla="*/ 798786 h 798786"/>
                <a:gd name="connsiteX3" fmla="*/ 1555531 w 1555531"/>
                <a:gd name="connsiteY3" fmla="*/ 798786 h 79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531" h="798786">
                  <a:moveTo>
                    <a:pt x="0" y="0"/>
                  </a:moveTo>
                  <a:lnTo>
                    <a:pt x="0" y="798786"/>
                  </a:lnTo>
                  <a:lnTo>
                    <a:pt x="1524000" y="798786"/>
                  </a:lnTo>
                  <a:lnTo>
                    <a:pt x="1555531" y="798786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E310183-A9BF-99F0-4419-A7ADB157478C}"/>
                </a:ext>
              </a:extLst>
            </p:cNvPr>
            <p:cNvSpPr/>
            <p:nvPr/>
          </p:nvSpPr>
          <p:spPr>
            <a:xfrm>
              <a:off x="4099095" y="4202573"/>
              <a:ext cx="699231" cy="380589"/>
            </a:xfrm>
            <a:custGeom>
              <a:avLst/>
              <a:gdLst>
                <a:gd name="connsiteX0" fmla="*/ 0 w 1555531"/>
                <a:gd name="connsiteY0" fmla="*/ 0 h 798786"/>
                <a:gd name="connsiteX1" fmla="*/ 0 w 1555531"/>
                <a:gd name="connsiteY1" fmla="*/ 798786 h 798786"/>
                <a:gd name="connsiteX2" fmla="*/ 1524000 w 1555531"/>
                <a:gd name="connsiteY2" fmla="*/ 798786 h 798786"/>
                <a:gd name="connsiteX3" fmla="*/ 1555531 w 1555531"/>
                <a:gd name="connsiteY3" fmla="*/ 798786 h 79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531" h="798786">
                  <a:moveTo>
                    <a:pt x="0" y="0"/>
                  </a:moveTo>
                  <a:lnTo>
                    <a:pt x="0" y="798786"/>
                  </a:lnTo>
                  <a:lnTo>
                    <a:pt x="1524000" y="798786"/>
                  </a:lnTo>
                  <a:lnTo>
                    <a:pt x="1555531" y="798786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D208EA-74E9-976F-2C3B-0025154121AA}"/>
                </a:ext>
              </a:extLst>
            </p:cNvPr>
            <p:cNvSpPr/>
            <p:nvPr/>
          </p:nvSpPr>
          <p:spPr>
            <a:xfrm>
              <a:off x="4906751" y="4664238"/>
              <a:ext cx="699231" cy="380589"/>
            </a:xfrm>
            <a:custGeom>
              <a:avLst/>
              <a:gdLst>
                <a:gd name="connsiteX0" fmla="*/ 0 w 1555531"/>
                <a:gd name="connsiteY0" fmla="*/ 0 h 798786"/>
                <a:gd name="connsiteX1" fmla="*/ 0 w 1555531"/>
                <a:gd name="connsiteY1" fmla="*/ 798786 h 798786"/>
                <a:gd name="connsiteX2" fmla="*/ 1524000 w 1555531"/>
                <a:gd name="connsiteY2" fmla="*/ 798786 h 798786"/>
                <a:gd name="connsiteX3" fmla="*/ 1555531 w 1555531"/>
                <a:gd name="connsiteY3" fmla="*/ 798786 h 79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531" h="798786">
                  <a:moveTo>
                    <a:pt x="0" y="0"/>
                  </a:moveTo>
                  <a:lnTo>
                    <a:pt x="0" y="798786"/>
                  </a:lnTo>
                  <a:lnTo>
                    <a:pt x="1524000" y="798786"/>
                  </a:lnTo>
                  <a:lnTo>
                    <a:pt x="1555531" y="798786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DF4F29-C61F-11EA-F92E-701C3C9DD4CE}"/>
                </a:ext>
              </a:extLst>
            </p:cNvPr>
            <p:cNvSpPr/>
            <p:nvPr/>
          </p:nvSpPr>
          <p:spPr>
            <a:xfrm>
              <a:off x="5714407" y="5125903"/>
              <a:ext cx="699231" cy="380589"/>
            </a:xfrm>
            <a:custGeom>
              <a:avLst/>
              <a:gdLst>
                <a:gd name="connsiteX0" fmla="*/ 0 w 1555531"/>
                <a:gd name="connsiteY0" fmla="*/ 0 h 798786"/>
                <a:gd name="connsiteX1" fmla="*/ 0 w 1555531"/>
                <a:gd name="connsiteY1" fmla="*/ 798786 h 798786"/>
                <a:gd name="connsiteX2" fmla="*/ 1524000 w 1555531"/>
                <a:gd name="connsiteY2" fmla="*/ 798786 h 798786"/>
                <a:gd name="connsiteX3" fmla="*/ 1555531 w 1555531"/>
                <a:gd name="connsiteY3" fmla="*/ 798786 h 79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531" h="798786">
                  <a:moveTo>
                    <a:pt x="0" y="0"/>
                  </a:moveTo>
                  <a:lnTo>
                    <a:pt x="0" y="798786"/>
                  </a:lnTo>
                  <a:lnTo>
                    <a:pt x="1524000" y="798786"/>
                  </a:lnTo>
                  <a:lnTo>
                    <a:pt x="1555531" y="798786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0A8ABED-B5A9-00AB-65A8-F624B500C435}"/>
                </a:ext>
              </a:extLst>
            </p:cNvPr>
            <p:cNvSpPr/>
            <p:nvPr/>
          </p:nvSpPr>
          <p:spPr>
            <a:xfrm>
              <a:off x="6522065" y="5561237"/>
              <a:ext cx="699231" cy="380589"/>
            </a:xfrm>
            <a:custGeom>
              <a:avLst/>
              <a:gdLst>
                <a:gd name="connsiteX0" fmla="*/ 0 w 1555531"/>
                <a:gd name="connsiteY0" fmla="*/ 0 h 798786"/>
                <a:gd name="connsiteX1" fmla="*/ 0 w 1555531"/>
                <a:gd name="connsiteY1" fmla="*/ 798786 h 798786"/>
                <a:gd name="connsiteX2" fmla="*/ 1524000 w 1555531"/>
                <a:gd name="connsiteY2" fmla="*/ 798786 h 798786"/>
                <a:gd name="connsiteX3" fmla="*/ 1555531 w 1555531"/>
                <a:gd name="connsiteY3" fmla="*/ 798786 h 79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531" h="798786">
                  <a:moveTo>
                    <a:pt x="0" y="0"/>
                  </a:moveTo>
                  <a:lnTo>
                    <a:pt x="0" y="798786"/>
                  </a:lnTo>
                  <a:lnTo>
                    <a:pt x="1524000" y="798786"/>
                  </a:lnTo>
                  <a:lnTo>
                    <a:pt x="1555531" y="798786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2652CCA-CA8C-BB5E-72DF-ED9B7CBDD0F8}"/>
                </a:ext>
              </a:extLst>
            </p:cNvPr>
            <p:cNvSpPr txBox="1"/>
            <p:nvPr/>
          </p:nvSpPr>
          <p:spPr>
            <a:xfrm>
              <a:off x="5084187" y="3652561"/>
              <a:ext cx="851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cociente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252B84A-963C-D802-0A18-5DAB49F6BDC6}"/>
                </a:ext>
              </a:extLst>
            </p:cNvPr>
            <p:cNvSpPr txBox="1"/>
            <p:nvPr/>
          </p:nvSpPr>
          <p:spPr>
            <a:xfrm>
              <a:off x="1263321" y="4938405"/>
              <a:ext cx="77136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residuo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CF815CA-6F7E-F4F8-3973-37A338CB0FB1}"/>
                </a:ext>
              </a:extLst>
            </p:cNvPr>
            <p:cNvSpPr txBox="1"/>
            <p:nvPr/>
          </p:nvSpPr>
          <p:spPr>
            <a:xfrm>
              <a:off x="4421390" y="3024047"/>
              <a:ext cx="13773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base requerida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6BEDC22-1644-915B-8661-F68401CB52A7}"/>
                </a:ext>
              </a:extLst>
            </p:cNvPr>
            <p:cNvSpPr txBox="1"/>
            <p:nvPr/>
          </p:nvSpPr>
          <p:spPr>
            <a:xfrm>
              <a:off x="378911" y="3813720"/>
              <a:ext cx="8402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número </a:t>
              </a:r>
              <a:br>
                <a:rPr lang="es-ES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decimal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A76C471-F496-41D4-272B-12959E1F4CED}"/>
                </a:ext>
              </a:extLst>
            </p:cNvPr>
            <p:cNvSpPr/>
            <p:nvPr/>
          </p:nvSpPr>
          <p:spPr>
            <a:xfrm>
              <a:off x="777944" y="3443657"/>
              <a:ext cx="767255" cy="304800"/>
            </a:xfrm>
            <a:custGeom>
              <a:avLst/>
              <a:gdLst>
                <a:gd name="connsiteX0" fmla="*/ 0 w 767255"/>
                <a:gd name="connsiteY0" fmla="*/ 304800 h 304800"/>
                <a:gd name="connsiteX1" fmla="*/ 767255 w 767255"/>
                <a:gd name="connsiteY1" fmla="*/ 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7255" h="304800">
                  <a:moveTo>
                    <a:pt x="0" y="304800"/>
                  </a:moveTo>
                  <a:lnTo>
                    <a:pt x="767255" y="0"/>
                  </a:lnTo>
                </a:path>
              </a:pathLst>
            </a:custGeom>
            <a:noFill/>
            <a:ln>
              <a:solidFill>
                <a:schemeClr val="accent2"/>
              </a:solidFill>
              <a:prstDash val="sys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A97FF9DB-4223-F862-E893-6EB8BB75E372}"/>
                </a:ext>
              </a:extLst>
            </p:cNvPr>
            <p:cNvSpPr/>
            <p:nvPr/>
          </p:nvSpPr>
          <p:spPr>
            <a:xfrm>
              <a:off x="1649004" y="4121497"/>
              <a:ext cx="356188" cy="766465"/>
            </a:xfrm>
            <a:custGeom>
              <a:avLst/>
              <a:gdLst>
                <a:gd name="connsiteX0" fmla="*/ 0 w 767255"/>
                <a:gd name="connsiteY0" fmla="*/ 304800 h 304800"/>
                <a:gd name="connsiteX1" fmla="*/ 767255 w 767255"/>
                <a:gd name="connsiteY1" fmla="*/ 0 h 30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67255" h="304800">
                  <a:moveTo>
                    <a:pt x="0" y="304800"/>
                  </a:moveTo>
                  <a:lnTo>
                    <a:pt x="767255" y="0"/>
                  </a:lnTo>
                </a:path>
              </a:pathLst>
            </a:custGeom>
            <a:noFill/>
            <a:ln>
              <a:solidFill>
                <a:schemeClr val="accent2"/>
              </a:solidFill>
              <a:prstDash val="sys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BA0D373-8DA4-4DA2-E303-B3B8796498AB}"/>
                </a:ext>
              </a:extLst>
            </p:cNvPr>
            <p:cNvSpPr/>
            <p:nvPr/>
          </p:nvSpPr>
          <p:spPr>
            <a:xfrm>
              <a:off x="3075255" y="3122813"/>
              <a:ext cx="1188833" cy="170341"/>
            </a:xfrm>
            <a:custGeom>
              <a:avLst/>
              <a:gdLst>
                <a:gd name="connsiteX0" fmla="*/ 0 w 767255"/>
                <a:gd name="connsiteY0" fmla="*/ 304800 h 304800"/>
                <a:gd name="connsiteX1" fmla="*/ 767255 w 767255"/>
                <a:gd name="connsiteY1" fmla="*/ 0 h 304800"/>
                <a:gd name="connsiteX0" fmla="*/ 1608970 w 1630627"/>
                <a:gd name="connsiteY0" fmla="*/ 54021 h 54021"/>
                <a:gd name="connsiteX1" fmla="*/ 21659 w 1630627"/>
                <a:gd name="connsiteY1" fmla="*/ 0 h 54021"/>
                <a:gd name="connsiteX0" fmla="*/ 1474515 w 1497559"/>
                <a:gd name="connsiteY0" fmla="*/ 29781 h 55697"/>
                <a:gd name="connsiteX1" fmla="*/ 23044 w 1497559"/>
                <a:gd name="connsiteY1" fmla="*/ 25916 h 55697"/>
                <a:gd name="connsiteX0" fmla="*/ 1486410 w 1486410"/>
                <a:gd name="connsiteY0" fmla="*/ 57396 h 77400"/>
                <a:gd name="connsiteX1" fmla="*/ 34939 w 1486410"/>
                <a:gd name="connsiteY1" fmla="*/ 53531 h 77400"/>
                <a:gd name="connsiteX0" fmla="*/ 1451471 w 1451471"/>
                <a:gd name="connsiteY0" fmla="*/ 91834 h 91834"/>
                <a:gd name="connsiteX1" fmla="*/ 0 w 1451471"/>
                <a:gd name="connsiteY1" fmla="*/ 87969 h 91834"/>
                <a:gd name="connsiteX0" fmla="*/ 1451471 w 1451471"/>
                <a:gd name="connsiteY0" fmla="*/ 60273 h 60273"/>
                <a:gd name="connsiteX1" fmla="*/ 0 w 1451471"/>
                <a:gd name="connsiteY1" fmla="*/ 56408 h 60273"/>
                <a:gd name="connsiteX0" fmla="*/ 2560834 w 2560834"/>
                <a:gd name="connsiteY0" fmla="*/ 44190 h 86301"/>
                <a:gd name="connsiteX1" fmla="*/ 0 w 2560834"/>
                <a:gd name="connsiteY1" fmla="*/ 86301 h 86301"/>
                <a:gd name="connsiteX0" fmla="*/ 2560834 w 2560834"/>
                <a:gd name="connsiteY0" fmla="*/ 25628 h 67739"/>
                <a:gd name="connsiteX1" fmla="*/ 0 w 2560834"/>
                <a:gd name="connsiteY1" fmla="*/ 67739 h 6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0834" h="67739">
                  <a:moveTo>
                    <a:pt x="2560834" y="25628"/>
                  </a:moveTo>
                  <a:cubicBezTo>
                    <a:pt x="1661941" y="-25817"/>
                    <a:pt x="310251" y="6333"/>
                    <a:pt x="0" y="67739"/>
                  </a:cubicBezTo>
                </a:path>
              </a:pathLst>
            </a:custGeom>
            <a:noFill/>
            <a:ln>
              <a:solidFill>
                <a:schemeClr val="accent2"/>
              </a:solidFill>
              <a:prstDash val="sys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3E9546-DF8B-7455-B410-596964343269}"/>
                </a:ext>
              </a:extLst>
            </p:cNvPr>
            <p:cNvSpPr/>
            <p:nvPr/>
          </p:nvSpPr>
          <p:spPr>
            <a:xfrm>
              <a:off x="3996627" y="3536373"/>
              <a:ext cx="1041688" cy="726067"/>
            </a:xfrm>
            <a:custGeom>
              <a:avLst/>
              <a:gdLst>
                <a:gd name="connsiteX0" fmla="*/ 0 w 767255"/>
                <a:gd name="connsiteY0" fmla="*/ 304800 h 304800"/>
                <a:gd name="connsiteX1" fmla="*/ 767255 w 767255"/>
                <a:gd name="connsiteY1" fmla="*/ 0 h 304800"/>
                <a:gd name="connsiteX0" fmla="*/ 1608970 w 1630627"/>
                <a:gd name="connsiteY0" fmla="*/ 54021 h 54021"/>
                <a:gd name="connsiteX1" fmla="*/ 21659 w 1630627"/>
                <a:gd name="connsiteY1" fmla="*/ 0 h 54021"/>
                <a:gd name="connsiteX0" fmla="*/ 1474515 w 1497559"/>
                <a:gd name="connsiteY0" fmla="*/ 29781 h 55697"/>
                <a:gd name="connsiteX1" fmla="*/ 23044 w 1497559"/>
                <a:gd name="connsiteY1" fmla="*/ 25916 h 55697"/>
                <a:gd name="connsiteX0" fmla="*/ 1486410 w 1486410"/>
                <a:gd name="connsiteY0" fmla="*/ 57396 h 77400"/>
                <a:gd name="connsiteX1" fmla="*/ 34939 w 1486410"/>
                <a:gd name="connsiteY1" fmla="*/ 53531 h 77400"/>
                <a:gd name="connsiteX0" fmla="*/ 1451471 w 1451471"/>
                <a:gd name="connsiteY0" fmla="*/ 91834 h 91834"/>
                <a:gd name="connsiteX1" fmla="*/ 0 w 1451471"/>
                <a:gd name="connsiteY1" fmla="*/ 87969 h 91834"/>
                <a:gd name="connsiteX0" fmla="*/ 1451471 w 1451471"/>
                <a:gd name="connsiteY0" fmla="*/ 60273 h 60273"/>
                <a:gd name="connsiteX1" fmla="*/ 0 w 1451471"/>
                <a:gd name="connsiteY1" fmla="*/ 56408 h 60273"/>
                <a:gd name="connsiteX0" fmla="*/ 2085393 w 2085393"/>
                <a:gd name="connsiteY0" fmla="*/ 19856 h 250050"/>
                <a:gd name="connsiteX1" fmla="*/ 0 w 2085393"/>
                <a:gd name="connsiteY1" fmla="*/ 250050 h 250050"/>
                <a:gd name="connsiteX0" fmla="*/ 2085393 w 2085393"/>
                <a:gd name="connsiteY0" fmla="*/ 16827 h 247024"/>
                <a:gd name="connsiteX1" fmla="*/ 0 w 2085393"/>
                <a:gd name="connsiteY1" fmla="*/ 247021 h 247024"/>
                <a:gd name="connsiteX0" fmla="*/ 2085393 w 2085393"/>
                <a:gd name="connsiteY0" fmla="*/ 34116 h 264313"/>
                <a:gd name="connsiteX1" fmla="*/ 0 w 2085393"/>
                <a:gd name="connsiteY1" fmla="*/ 264310 h 264313"/>
                <a:gd name="connsiteX0" fmla="*/ 2243872 w 2243872"/>
                <a:gd name="connsiteY0" fmla="*/ 33533 h 272089"/>
                <a:gd name="connsiteX1" fmla="*/ 0 w 2243872"/>
                <a:gd name="connsiteY1" fmla="*/ 272086 h 272089"/>
                <a:gd name="connsiteX0" fmla="*/ 2243872 w 2243872"/>
                <a:gd name="connsiteY0" fmla="*/ 50181 h 288734"/>
                <a:gd name="connsiteX1" fmla="*/ 0 w 2243872"/>
                <a:gd name="connsiteY1" fmla="*/ 288734 h 288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43872" h="288734">
                  <a:moveTo>
                    <a:pt x="2243872" y="50181"/>
                  </a:moveTo>
                  <a:cubicBezTo>
                    <a:pt x="892178" y="-97395"/>
                    <a:pt x="1102655" y="110298"/>
                    <a:pt x="0" y="288734"/>
                  </a:cubicBezTo>
                </a:path>
              </a:pathLst>
            </a:custGeom>
            <a:noFill/>
            <a:ln>
              <a:solidFill>
                <a:schemeClr val="accent2"/>
              </a:solidFill>
              <a:prstDash val="sysDash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2ABFA92-D18F-192B-A89F-0200EB33DDE3}"/>
                </a:ext>
              </a:extLst>
            </p:cNvPr>
            <p:cNvSpPr/>
            <p:nvPr/>
          </p:nvSpPr>
          <p:spPr>
            <a:xfrm>
              <a:off x="2304462" y="4184772"/>
              <a:ext cx="4426018" cy="2419021"/>
            </a:xfrm>
            <a:custGeom>
              <a:avLst/>
              <a:gdLst>
                <a:gd name="connsiteX0" fmla="*/ 0 w 767255"/>
                <a:gd name="connsiteY0" fmla="*/ 304800 h 304800"/>
                <a:gd name="connsiteX1" fmla="*/ 767255 w 767255"/>
                <a:gd name="connsiteY1" fmla="*/ 0 h 304800"/>
                <a:gd name="connsiteX0" fmla="*/ 7276133 w 7282303"/>
                <a:gd name="connsiteY0" fmla="*/ 505423 h 505423"/>
                <a:gd name="connsiteX1" fmla="*/ 6171 w 7282303"/>
                <a:gd name="connsiteY1" fmla="*/ 0 h 505423"/>
                <a:gd name="connsiteX0" fmla="*/ 7282619 w 7282620"/>
                <a:gd name="connsiteY0" fmla="*/ 505423 h 505423"/>
                <a:gd name="connsiteX1" fmla="*/ 12657 w 7282620"/>
                <a:gd name="connsiteY1" fmla="*/ 0 h 505423"/>
                <a:gd name="connsiteX0" fmla="*/ 9474147 w 9474148"/>
                <a:gd name="connsiteY0" fmla="*/ 873232 h 873232"/>
                <a:gd name="connsiteX1" fmla="*/ 8101 w 9474148"/>
                <a:gd name="connsiteY1" fmla="*/ 0 h 873232"/>
                <a:gd name="connsiteX0" fmla="*/ 9466046 w 9466047"/>
                <a:gd name="connsiteY0" fmla="*/ 873232 h 873232"/>
                <a:gd name="connsiteX1" fmla="*/ 0 w 9466047"/>
                <a:gd name="connsiteY1" fmla="*/ 0 h 873232"/>
                <a:gd name="connsiteX0" fmla="*/ 9466046 w 9466047"/>
                <a:gd name="connsiteY0" fmla="*/ 873232 h 873232"/>
                <a:gd name="connsiteX1" fmla="*/ 0 w 9466047"/>
                <a:gd name="connsiteY1" fmla="*/ 0 h 873232"/>
                <a:gd name="connsiteX0" fmla="*/ 9466046 w 9466047"/>
                <a:gd name="connsiteY0" fmla="*/ 873232 h 875491"/>
                <a:gd name="connsiteX1" fmla="*/ 0 w 9466047"/>
                <a:gd name="connsiteY1" fmla="*/ 0 h 875491"/>
                <a:gd name="connsiteX0" fmla="*/ 9533966 w 9533967"/>
                <a:gd name="connsiteY0" fmla="*/ 961005 h 962397"/>
                <a:gd name="connsiteX1" fmla="*/ 0 w 9533967"/>
                <a:gd name="connsiteY1" fmla="*/ 0 h 962397"/>
                <a:gd name="connsiteX0" fmla="*/ 9533966 w 9533967"/>
                <a:gd name="connsiteY0" fmla="*/ 961005 h 961972"/>
                <a:gd name="connsiteX1" fmla="*/ 0 w 9533967"/>
                <a:gd name="connsiteY1" fmla="*/ 0 h 961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33967" h="961972">
                  <a:moveTo>
                    <a:pt x="9533966" y="961005"/>
                  </a:moveTo>
                  <a:cubicBezTo>
                    <a:pt x="6438992" y="980615"/>
                    <a:pt x="5291061" y="703469"/>
                    <a:pt x="0" y="0"/>
                  </a:cubicBezTo>
                </a:path>
              </a:pathLst>
            </a:custGeom>
            <a:noFill/>
            <a:ln>
              <a:solidFill>
                <a:srgbClr val="00B0F0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10F5B96-75D7-E23B-7233-6290AF4CEC36}"/>
                </a:ext>
              </a:extLst>
            </p:cNvPr>
            <p:cNvSpPr txBox="1"/>
            <p:nvPr/>
          </p:nvSpPr>
          <p:spPr>
            <a:xfrm>
              <a:off x="2299618" y="5684129"/>
              <a:ext cx="14583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Se toman los residuos en orden inverso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50DE3E0-5506-6C92-01CF-47AB02D25227}"/>
              </a:ext>
            </a:extLst>
          </p:cNvPr>
          <p:cNvSpPr txBox="1"/>
          <p:nvPr/>
        </p:nvSpPr>
        <p:spPr>
          <a:xfrm>
            <a:off x="8168171" y="3510075"/>
            <a:ext cx="2995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Por lo tanto:</a:t>
            </a:r>
          </a:p>
          <a:p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El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núimero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decimal 100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en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base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</a:rPr>
              <a:t>binaria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 es 1100100</a:t>
            </a:r>
          </a:p>
        </p:txBody>
      </p:sp>
    </p:spTree>
    <p:extLst>
      <p:ext uri="{BB962C8B-B14F-4D97-AF65-F5344CB8AC3E}">
        <p14:creationId xmlns:p14="http://schemas.microsoft.com/office/powerpoint/2010/main" val="58329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FB273AB-794E-47E2-3011-C9C500E2C5B3}"/>
              </a:ext>
            </a:extLst>
          </p:cNvPr>
          <p:cNvGrpSpPr/>
          <p:nvPr/>
        </p:nvGrpSpPr>
        <p:grpSpPr>
          <a:xfrm>
            <a:off x="838200" y="-3193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EDFD94-EA5B-4DC4-3FBF-AA7E6E4AB888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8F2A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546B63-3AB6-1BAB-8FBE-059D31122AC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3E87AE-B8B9-335A-4E25-654DD2C602B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5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A5CF88-5A75-E1C0-E320-5AB17228898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4254EFB-38B0-4700-46B3-B53BDC3A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4194C3-3BD0-2FA3-7C14-99D2A23D25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BC5F8-CFC9-6085-A961-2612E0EEF8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5068613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Escribir un programa que solicite un número “n” y muestre en pantalla los valores 1 y 0 dispuestos como se muestra en el ejemplo.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DEA7A-C435-D0AF-0901-E403379A55D1}"/>
              </a:ext>
            </a:extLst>
          </p:cNvPr>
          <p:cNvSpPr txBox="1"/>
          <p:nvPr/>
        </p:nvSpPr>
        <p:spPr>
          <a:xfrm>
            <a:off x="6775992" y="2227517"/>
            <a:ext cx="4312422" cy="3611053"/>
          </a:xfrm>
          <a:prstGeom prst="roundRect">
            <a:avLst>
              <a:gd name="adj" fmla="val 3446"/>
            </a:avLst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Ejemplo:</a:t>
            </a:r>
          </a:p>
          <a:p>
            <a:pPr marL="50800" indent="0">
              <a:lnSpc>
                <a:spcPct val="120000"/>
              </a:lnSpc>
              <a:buNone/>
            </a:pPr>
            <a:endParaRPr lang="es-ES" sz="2400" dirty="0">
              <a:solidFill>
                <a:schemeClr val="bg1">
                  <a:lumMod val="50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 n = 5, entonces: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01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101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0101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10101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942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63A0-764F-792D-3F43-7474BD7A8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5221"/>
            <a:ext cx="10515600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18E3C7-3BFF-8F75-8E58-2C4F28BEF7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71356-1799-139A-6FB0-2987604527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07737"/>
            <a:ext cx="7372927" cy="4662434"/>
          </a:xfrm>
        </p:spPr>
        <p:txBody>
          <a:bodyPr>
            <a:normAutofit fontScale="70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Implementar 5 programas en Java para: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do-</a:t>
            </a:r>
            <a:r>
              <a:rPr lang="es-ES" dirty="0" err="1"/>
              <a:t>while</a:t>
            </a:r>
            <a:r>
              <a:rPr lang="es-ES" dirty="0"/>
              <a:t> usando un contador progresivo.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do-</a:t>
            </a:r>
            <a:r>
              <a:rPr lang="es-ES" dirty="0" err="1"/>
              <a:t>while</a:t>
            </a:r>
            <a:r>
              <a:rPr lang="es-ES" dirty="0"/>
              <a:t> usando un contador regresivo.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do-</a:t>
            </a:r>
            <a:r>
              <a:rPr lang="es-ES" dirty="0" err="1"/>
              <a:t>while</a:t>
            </a:r>
            <a:r>
              <a:rPr lang="es-ES" dirty="0"/>
              <a:t> usando un acumulador progresivo.</a:t>
            </a:r>
          </a:p>
          <a:p>
            <a:pPr>
              <a:lnSpc>
                <a:spcPct val="120000"/>
              </a:lnSpc>
            </a:pPr>
            <a:r>
              <a:rPr lang="es-ES" dirty="0"/>
              <a:t>Resolver un problema que utilice una estructura do-</a:t>
            </a:r>
            <a:r>
              <a:rPr lang="es-ES" dirty="0" err="1"/>
              <a:t>while</a:t>
            </a:r>
            <a:r>
              <a:rPr lang="es-ES" dirty="0"/>
              <a:t> usando un acumulador y un contador.</a:t>
            </a:r>
          </a:p>
          <a:p>
            <a:pPr>
              <a:lnSpc>
                <a:spcPct val="120000"/>
              </a:lnSpc>
            </a:pPr>
            <a:r>
              <a:rPr lang="es-ES" dirty="0"/>
              <a:t>Elaborar un programa que muestre un menú de 5 opciones y cada opción permita resolver algún ejercicio desarrollado en alguna tarea previa.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2361B-123A-158C-5022-4E64314B5E2C}"/>
              </a:ext>
            </a:extLst>
          </p:cNvPr>
          <p:cNvSpPr txBox="1"/>
          <p:nvPr/>
        </p:nvSpPr>
        <p:spPr>
          <a:xfrm>
            <a:off x="8842344" y="2578790"/>
            <a:ext cx="3111819" cy="2654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Indicaciones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</a:br>
            <a:endParaRPr lang="en-US" b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Grupos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3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Entregables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a). Video de 3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minutos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propuestas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; b).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Archivo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ZIP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conteniendo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Proyecto java con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aparecerán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video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ejercicios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59FA58-A78A-A9E9-3F96-6C468073F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444" y="1242509"/>
            <a:ext cx="1906405" cy="126098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AEC025-8EB4-8C65-800C-DBA82A5CA60B}"/>
              </a:ext>
            </a:extLst>
          </p:cNvPr>
          <p:cNvCxnSpPr/>
          <p:nvPr/>
        </p:nvCxnSpPr>
        <p:spPr>
          <a:xfrm>
            <a:off x="8532128" y="1108364"/>
            <a:ext cx="0" cy="54217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00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Resumen de la sesión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555658" cy="4373562"/>
          </a:xfrm>
        </p:spPr>
        <p:txBody>
          <a:bodyPr>
            <a:normAutofit/>
          </a:bodyPr>
          <a:lstStyle/>
          <a:p>
            <a:r>
              <a:rPr lang="es-ES" dirty="0">
                <a:latin typeface="Helvetica"/>
              </a:rPr>
              <a:t>¿Qué elementos son necesarios para construir un </a:t>
            </a:r>
            <a:r>
              <a:rPr lang="es-ES" b="1" dirty="0">
                <a:latin typeface="Helvetica"/>
              </a:rPr>
              <a:t>menú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¿Cómo implementas un </a:t>
            </a:r>
            <a:r>
              <a:rPr lang="es-ES" b="1" dirty="0">
                <a:latin typeface="Helvetica"/>
              </a:rPr>
              <a:t>validador</a:t>
            </a:r>
            <a:r>
              <a:rPr lang="es-ES" dirty="0">
                <a:latin typeface="Helvetica"/>
              </a:rPr>
              <a:t>?</a:t>
            </a:r>
          </a:p>
          <a:p>
            <a:r>
              <a:rPr lang="es-ES" dirty="0">
                <a:latin typeface="Helvetica"/>
              </a:rPr>
              <a:t>¿Puede </a:t>
            </a:r>
            <a:r>
              <a:rPr lang="es-ES" b="1" dirty="0">
                <a:latin typeface="Helvetica"/>
              </a:rPr>
              <a:t>do-</a:t>
            </a:r>
            <a:r>
              <a:rPr lang="es-ES" b="1" dirty="0" err="1">
                <a:latin typeface="Helvetica"/>
              </a:rPr>
              <a:t>while</a:t>
            </a:r>
            <a:r>
              <a:rPr lang="es-ES" dirty="0">
                <a:latin typeface="Helvetica"/>
              </a:rPr>
              <a:t> utilizar un centinela para controlar su condición de salida?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/>
              <a:t>Tanenbaum &amp; Van </a:t>
            </a:r>
            <a:r>
              <a:rPr lang="es-ES" err="1"/>
              <a:t>Steen</a:t>
            </a:r>
            <a:r>
              <a:rPr lang="es-ES"/>
              <a:t> (2008).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/>
              <a:t>. Pearson </a:t>
            </a:r>
            <a:r>
              <a:rPr lang="es-ES" err="1"/>
              <a:t>Education</a:t>
            </a:r>
            <a:r>
              <a:rPr lang="es-ES"/>
              <a:t>​.</a:t>
            </a:r>
          </a:p>
          <a:p>
            <a:pPr>
              <a:lnSpc>
                <a:spcPct val="120000"/>
              </a:lnSpc>
            </a:pPr>
            <a:r>
              <a:rPr lang="en-US"/>
              <a:t>Khalid A. Mughal &amp; Rolf W. Rasmussen (2017). A </a:t>
            </a:r>
            <a:r>
              <a:rPr lang="en-US" i="1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</a:p>
          <a:p>
            <a:pPr>
              <a:lnSpc>
                <a:spcPct val="120000"/>
              </a:lnSpc>
            </a:pPr>
            <a:r>
              <a:rPr lang="es-ES" err="1"/>
              <a:t>Schildt</a:t>
            </a:r>
            <a:r>
              <a:rPr lang="es-ES"/>
              <a:t>, Herbert (2019). 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/>
              <a:t>. Oracle </a:t>
            </a:r>
            <a:r>
              <a:rPr lang="es-ES" err="1"/>
              <a:t>Press</a:t>
            </a:r>
            <a:r>
              <a:rPr lang="es-ES"/>
              <a:t>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1274</Words>
  <Application>Microsoft Office PowerPoint</Application>
  <PresentationFormat>Panorámica</PresentationFormat>
  <Paragraphs>173</Paragraphs>
  <Slides>20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Helvetica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Estructura Repetitiva do-while (II)</vt:lpstr>
      <vt:lpstr>Conocimientos previos</vt:lpstr>
      <vt:lpstr>Logro de aprendizaje</vt:lpstr>
      <vt:lpstr>Utilidad</vt:lpstr>
      <vt:lpstr>Presentación de PowerPoint</vt:lpstr>
      <vt:lpstr>Presentación de PowerPoint</vt:lpstr>
      <vt:lpstr>Bucle do-while (“hacer mientras”)</vt:lpstr>
      <vt:lpstr>Presentación de PowerPoint</vt:lpstr>
      <vt:lpstr>Ejercicio 1</vt:lpstr>
      <vt:lpstr>Ejercicio 2</vt:lpstr>
      <vt:lpstr>Ejercicio 3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07-Sesión 14</dc:title>
  <dc:creator>jorgerodcas@hotmail.com</dc:creator>
  <cp:lastModifiedBy>Juan Carlos García</cp:lastModifiedBy>
  <cp:revision>127</cp:revision>
  <dcterms:modified xsi:type="dcterms:W3CDTF">2023-10-20T21:38:40Z</dcterms:modified>
</cp:coreProperties>
</file>