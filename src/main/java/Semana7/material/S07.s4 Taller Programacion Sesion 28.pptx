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494" r:id="rId3"/>
    <p:sldId id="515" r:id="rId4"/>
    <p:sldId id="516" r:id="rId5"/>
    <p:sldId id="517" r:id="rId6"/>
    <p:sldId id="518" r:id="rId7"/>
    <p:sldId id="258" r:id="rId8"/>
    <p:sldId id="257" r:id="rId9"/>
    <p:sldId id="263" r:id="rId10"/>
    <p:sldId id="264" r:id="rId11"/>
    <p:sldId id="380" r:id="rId12"/>
    <p:sldId id="495" r:id="rId13"/>
    <p:sldId id="510" r:id="rId14"/>
    <p:sldId id="504" r:id="rId15"/>
    <p:sldId id="506" r:id="rId16"/>
    <p:sldId id="507" r:id="rId17"/>
    <p:sldId id="464" r:id="rId18"/>
    <p:sldId id="512" r:id="rId19"/>
    <p:sldId id="508" r:id="rId20"/>
    <p:sldId id="477" r:id="rId21"/>
    <p:sldId id="454" r:id="rId22"/>
    <p:sldId id="513" r:id="rId23"/>
    <p:sldId id="509" r:id="rId24"/>
    <p:sldId id="481" r:id="rId25"/>
    <p:sldId id="514" r:id="rId26"/>
    <p:sldId id="432" r:id="rId27"/>
    <p:sldId id="261" r:id="rId28"/>
    <p:sldId id="329" r:id="rId29"/>
    <p:sldId id="259" r:id="rId3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78" roundtripDataSignature="AMtx7mh2+CB7AwAKHevBYi6hg66TyKQME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86062B-CF97-CD71-5A85-9B4FD42F42A3}" name="FERNANDO IGNACIO DIAZ SANCHEZ" initials="FIDS" userId="S::fidiaz@utp.edu.pe::ba36fe69-f35f-4358-9126-4b1eb463af6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AFB6"/>
    <a:srgbClr val="FF4266"/>
    <a:srgbClr val="84AF9B"/>
    <a:srgbClr val="C8C7A8"/>
    <a:srgbClr val="FACDB0"/>
    <a:srgbClr val="FC9D99"/>
    <a:srgbClr val="FF66FF"/>
    <a:srgbClr val="F3F3F3"/>
    <a:srgbClr val="CB1B4A"/>
    <a:srgbClr val="FCB6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5" autoAdjust="0"/>
    <p:restoredTop sz="96081" autoAdjust="0"/>
  </p:normalViewPr>
  <p:slideViewPr>
    <p:cSldViewPr snapToGrid="0">
      <p:cViewPr varScale="1">
        <p:scale>
          <a:sx n="119" d="100"/>
          <a:sy n="119" d="100"/>
        </p:scale>
        <p:origin x="614" y="10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83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Relationship Id="rId80" Type="http://schemas.openxmlformats.org/officeDocument/2006/relationships/viewProps" Target="viewProps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819eedc2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7819eedc2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Respuestas: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- Propagado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- Depurar</a:t>
            </a:r>
            <a:endParaRPr dirty="0"/>
          </a:p>
        </p:txBody>
      </p:sp>
      <p:sp>
        <p:nvSpPr>
          <p:cNvPr id="67" name="Google Shape;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56568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4829776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40431416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31894213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21879475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Tomar cualquier ejercicio desarrollado en el curso y realizar un seguimiento de código línea por línea.</a:t>
            </a:r>
          </a:p>
          <a:p>
            <a:r>
              <a:rPr lang="es-ES" dirty="0"/>
              <a:t>Utilizar todas las herramientas posibles durante el proceso.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2117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Tomar cualquier ejercicio desarrollado en el curso y realizar un seguimiento de código línea por línea.</a:t>
            </a:r>
          </a:p>
          <a:p>
            <a:r>
              <a:rPr lang="es-ES" dirty="0"/>
              <a:t>Utilizar todas las herramientas posibles durante el proceso.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726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40106817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9493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1936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ubTitle" idx="1"/>
          </p:nvPr>
        </p:nvSpPr>
        <p:spPr>
          <a:xfrm>
            <a:off x="1524000" y="3178688"/>
            <a:ext cx="9144000" cy="50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22F04-4BC9-41E2-B353-830397417302}"/>
              </a:ext>
            </a:extLst>
          </p:cNvPr>
          <p:cNvSpPr/>
          <p:nvPr userDrawn="1"/>
        </p:nvSpPr>
        <p:spPr>
          <a:xfrm>
            <a:off x="4058520" y="5231177"/>
            <a:ext cx="4063504" cy="936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4E2C1613-F647-4454-932D-F9B6B9380A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555" y="5135036"/>
            <a:ext cx="4173573" cy="1092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9555-3685-4E25-8B53-D766AA066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649" y="429863"/>
            <a:ext cx="10150151" cy="785528"/>
          </a:xfrm>
        </p:spPr>
        <p:txBody>
          <a:bodyPr>
            <a:normAutofit/>
          </a:bodyPr>
          <a:lstStyle>
            <a:lvl1pPr>
              <a:defRPr sz="4400" b="1">
                <a:solidFill>
                  <a:srgbClr val="D3052C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8F942-990C-4C84-A1C3-F5F0BCBF93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8538E7-9E81-474C-AD3B-32C2198C15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10150151" cy="4782911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+mj-lt"/>
              </a:defRPr>
            </a:lvl1pPr>
            <a:lvl2pPr>
              <a:lnSpc>
                <a:spcPct val="100000"/>
              </a:lnSpc>
              <a:defRPr>
                <a:latin typeface="+mj-lt"/>
              </a:defRPr>
            </a:lvl2pPr>
            <a:lvl3pPr>
              <a:lnSpc>
                <a:spcPct val="100000"/>
              </a:lnSpc>
              <a:defRPr>
                <a:latin typeface="+mj-lt"/>
              </a:defRPr>
            </a:lvl3pPr>
            <a:lvl4pPr>
              <a:lnSpc>
                <a:spcPct val="100000"/>
              </a:lnSpc>
              <a:defRPr>
                <a:latin typeface="+mj-lt"/>
              </a:defRPr>
            </a:lvl4pPr>
            <a:lvl5pPr>
              <a:lnSpc>
                <a:spcPct val="100000"/>
              </a:lnSpc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322DE48A-2D4F-4873-8D66-AF7F3593CA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428" y="136525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3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preserve="1" userDrawn="1">
  <p:cSld name="2_Solo el título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240F2624-FBFA-46AE-9892-D42C673614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41009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35F4D67-4966-C21F-A09E-7658BEBF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8217"/>
            <a:ext cx="10515600" cy="4959927"/>
          </a:xfrm>
        </p:spPr>
        <p:txBody>
          <a:bodyPr/>
          <a:lstStyle>
            <a:lvl1pPr algn="ctr">
              <a:defRPr b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6670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cabezado de sección">
  <p:cSld name="1_Encabezado de sección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7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22FCA6-0FCB-4C91-BEC5-A93A5D856507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oogle Shape;20;p9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9"/>
          <p:cNvSpPr txBox="1"/>
          <p:nvPr/>
        </p:nvSpPr>
        <p:spPr>
          <a:xfrm>
            <a:off x="831850" y="6457444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Datos/Observaciones</a:t>
            </a:r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1B93EADB-A85F-4945-BEEA-1073EED296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5ECD6E-A13D-41C4-A8AA-AC936BA167FF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oogle Shape;24;p10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2"/>
          </p:nvPr>
        </p:nvSpPr>
        <p:spPr>
          <a:xfrm>
            <a:off x="831850" y="6382418"/>
            <a:ext cx="10515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E630A3B5-109D-4437-9425-DCBCCE7F66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>
  <p:cSld name="1_Solo el títul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39" y="0"/>
            <a:ext cx="121807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>
  <p:cSld name="Contenido con título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ido con título">
  <p:cSld name="1_Contenido con títu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ido con título">
  <p:cSld name="2_Contenido con títul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ido con título">
  <p:cSld name="3_Contenido con títul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ido con título">
  <p:cSld name="4_Contenido con títul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ido con título">
  <p:cSld name="5_Contenido con títul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ido con título">
  <p:cSld name="6_Contenido con títul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ido con título">
  <p:cSld name="7_Contenido con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ontenido con título">
  <p:cSld name="8_Contenido con títul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ontenido con título">
  <p:cSld name="9_Contenido con títul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ontenido con título">
  <p:cSld name="10_Contenido con títul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5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D3052C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53.sv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876E9D0-D0F1-5B0E-7886-75A77C280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F66C8B-894E-49C8-97F0-0500C46A7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361" y="1029710"/>
            <a:ext cx="7361383" cy="1936426"/>
          </a:xfrm>
        </p:spPr>
        <p:txBody>
          <a:bodyPr/>
          <a:lstStyle/>
          <a:p>
            <a:pPr algn="l"/>
            <a:r>
              <a:rPr lang="es-ES" dirty="0">
                <a:solidFill>
                  <a:schemeClr val="bg1"/>
                </a:solidFill>
              </a:rPr>
              <a:t>Taller de Programación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7311F-912E-F29A-7CC2-5367F66BE2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4114"/>
          <a:stretch/>
        </p:blipFill>
        <p:spPr>
          <a:xfrm>
            <a:off x="653361" y="5419035"/>
            <a:ext cx="2528344" cy="839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EBC89A-FF84-877C-D866-0A9D5D51CCD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lum bright="70000" contrast="-70000"/>
          </a:blip>
          <a:srcRect l="66576"/>
          <a:stretch/>
        </p:blipFill>
        <p:spPr>
          <a:xfrm>
            <a:off x="3208204" y="5419034"/>
            <a:ext cx="1282645" cy="8399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B98E4C-CEFA-1581-AF50-FEF751C6337A}"/>
              </a:ext>
            </a:extLst>
          </p:cNvPr>
          <p:cNvSpPr/>
          <p:nvPr/>
        </p:nvSpPr>
        <p:spPr>
          <a:xfrm>
            <a:off x="803564" y="3186545"/>
            <a:ext cx="720435" cy="1477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10DC5-E042-6864-A9C7-29E21EDB9714}"/>
              </a:ext>
            </a:extLst>
          </p:cNvPr>
          <p:cNvSpPr txBox="1"/>
          <p:nvPr/>
        </p:nvSpPr>
        <p:spPr>
          <a:xfrm>
            <a:off x="-4618" y="6627169"/>
            <a:ext cx="77354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de: https://images.wallpapersden.com/image/download/cool-4k-pattern_bGduZWyUmZqaraWkpJRobWllrWdma2U.jpg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E6DAC2E-3415-B32A-2BA0-736AA7E3A707}"/>
              </a:ext>
            </a:extLst>
          </p:cNvPr>
          <p:cNvSpPr/>
          <p:nvPr/>
        </p:nvSpPr>
        <p:spPr>
          <a:xfrm>
            <a:off x="9749095" y="0"/>
            <a:ext cx="2442905" cy="6858000"/>
          </a:xfrm>
          <a:prstGeom prst="rect">
            <a:avLst/>
          </a:prstGeom>
          <a:solidFill>
            <a:srgbClr val="84AF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Mencione y describa un error común en Java.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BCF1D2-D901-84C8-C78C-0E06EE260B93}"/>
              </a:ext>
            </a:extLst>
          </p:cNvPr>
          <p:cNvSpPr/>
          <p:nvPr/>
        </p:nvSpPr>
        <p:spPr>
          <a:xfrm>
            <a:off x="7313698" y="0"/>
            <a:ext cx="2442905" cy="6858000"/>
          </a:xfrm>
          <a:prstGeom prst="rect">
            <a:avLst/>
          </a:prstGeom>
          <a:solidFill>
            <a:srgbClr val="C8C7A8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¿Para qué sirve </a:t>
            </a:r>
            <a:r>
              <a:rPr lang="es-ES" b="1" dirty="0"/>
              <a:t>try..catch..</a:t>
            </a:r>
            <a:r>
              <a:rPr lang="es-ES" b="1" dirty="0" err="1"/>
              <a:t>finally</a:t>
            </a:r>
            <a:r>
              <a:rPr lang="es-ES" dirty="0"/>
              <a:t>?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91532-6931-5B28-8828-98061F6A9E16}"/>
              </a:ext>
            </a:extLst>
          </p:cNvPr>
          <p:cNvSpPr/>
          <p:nvPr/>
        </p:nvSpPr>
        <p:spPr>
          <a:xfrm>
            <a:off x="4878302" y="0"/>
            <a:ext cx="2442905" cy="6858000"/>
          </a:xfrm>
          <a:prstGeom prst="rect">
            <a:avLst/>
          </a:prstGeom>
          <a:solidFill>
            <a:srgbClr val="FACDB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¿Qué tipo de excepciones soporta Java?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BF1525-A09D-509D-DDF7-3C561E47CF11}"/>
              </a:ext>
            </a:extLst>
          </p:cNvPr>
          <p:cNvSpPr/>
          <p:nvPr/>
        </p:nvSpPr>
        <p:spPr>
          <a:xfrm>
            <a:off x="2435397" y="0"/>
            <a:ext cx="2442905" cy="6858000"/>
          </a:xfrm>
          <a:prstGeom prst="rect">
            <a:avLst/>
          </a:prstGeom>
          <a:solidFill>
            <a:srgbClr val="FC9D99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¿Porqué es conveniente manejar excepciones?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A1F92A-6A69-1941-4EF5-AAA09F785FFA}"/>
              </a:ext>
            </a:extLst>
          </p:cNvPr>
          <p:cNvSpPr/>
          <p:nvPr/>
        </p:nvSpPr>
        <p:spPr>
          <a:xfrm>
            <a:off x="0" y="0"/>
            <a:ext cx="2442905" cy="6858000"/>
          </a:xfrm>
          <a:prstGeom prst="rect">
            <a:avLst/>
          </a:prstGeom>
          <a:gradFill flip="none" rotWithShape="1">
            <a:gsLst>
              <a:gs pos="0">
                <a:srgbClr val="FF4266">
                  <a:shade val="30000"/>
                  <a:satMod val="115000"/>
                </a:srgbClr>
              </a:gs>
              <a:gs pos="50000">
                <a:srgbClr val="FF4266">
                  <a:shade val="67500"/>
                  <a:satMod val="115000"/>
                </a:srgbClr>
              </a:gs>
              <a:gs pos="100000">
                <a:srgbClr val="FF4266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dirty="0"/>
              <a:t>¿Qué es una excepción?</a:t>
            </a:r>
            <a:endParaRPr lang="en-US" sz="32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7FB5B5-F240-CD26-E83A-AA06CF7EB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119" y="429863"/>
            <a:ext cx="10643681" cy="78552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Dudas de la clase anterior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4DFFF8-A8C9-D065-97BF-EB53BD5574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</a:t>
            </a:fld>
            <a:endParaRPr lang="es-PE"/>
          </a:p>
        </p:txBody>
      </p:sp>
      <p:pic>
        <p:nvPicPr>
          <p:cNvPr id="15" name="Graphic 14" descr="Warning with solid fill">
            <a:extLst>
              <a:ext uri="{FF2B5EF4-FFF2-40B4-BE49-F238E27FC236}">
                <a16:creationId xmlns:a16="http://schemas.microsoft.com/office/drawing/2014/main" id="{6EE7B0A5-9222-39EC-CE09-1F2986B4C5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0499" y="483951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364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E6DAC2E-3415-B32A-2BA0-736AA7E3A707}"/>
              </a:ext>
            </a:extLst>
          </p:cNvPr>
          <p:cNvSpPr/>
          <p:nvPr/>
        </p:nvSpPr>
        <p:spPr>
          <a:xfrm>
            <a:off x="9749095" y="0"/>
            <a:ext cx="2442905" cy="6858000"/>
          </a:xfrm>
          <a:prstGeom prst="rect">
            <a:avLst/>
          </a:prstGeom>
          <a:solidFill>
            <a:srgbClr val="84AF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Mencione y describa un error común en Java.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BCF1D2-D901-84C8-C78C-0E06EE260B93}"/>
              </a:ext>
            </a:extLst>
          </p:cNvPr>
          <p:cNvSpPr/>
          <p:nvPr/>
        </p:nvSpPr>
        <p:spPr>
          <a:xfrm>
            <a:off x="7313698" y="0"/>
            <a:ext cx="2442905" cy="6858000"/>
          </a:xfrm>
          <a:prstGeom prst="rect">
            <a:avLst/>
          </a:prstGeom>
          <a:solidFill>
            <a:srgbClr val="C8C7A8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¿Para qué sirve </a:t>
            </a:r>
            <a:r>
              <a:rPr lang="es-ES" b="1" dirty="0"/>
              <a:t>try..catch..</a:t>
            </a:r>
            <a:r>
              <a:rPr lang="es-ES" b="1" dirty="0" err="1"/>
              <a:t>finally</a:t>
            </a:r>
            <a:r>
              <a:rPr lang="es-ES" dirty="0"/>
              <a:t>?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91532-6931-5B28-8828-98061F6A9E16}"/>
              </a:ext>
            </a:extLst>
          </p:cNvPr>
          <p:cNvSpPr/>
          <p:nvPr/>
        </p:nvSpPr>
        <p:spPr>
          <a:xfrm>
            <a:off x="4878302" y="0"/>
            <a:ext cx="2442905" cy="6858000"/>
          </a:xfrm>
          <a:prstGeom prst="rect">
            <a:avLst/>
          </a:prstGeom>
          <a:solidFill>
            <a:srgbClr val="FACDB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¿Qué tipo de excepciones soporta Java?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BF1525-A09D-509D-DDF7-3C561E47CF11}"/>
              </a:ext>
            </a:extLst>
          </p:cNvPr>
          <p:cNvSpPr/>
          <p:nvPr/>
        </p:nvSpPr>
        <p:spPr>
          <a:xfrm>
            <a:off x="2435397" y="0"/>
            <a:ext cx="2442905" cy="6858000"/>
          </a:xfrm>
          <a:prstGeom prst="rect">
            <a:avLst/>
          </a:prstGeom>
          <a:gradFill flip="none" rotWithShape="1">
            <a:gsLst>
              <a:gs pos="0">
                <a:srgbClr val="FC9D99">
                  <a:shade val="30000"/>
                  <a:satMod val="115000"/>
                </a:srgbClr>
              </a:gs>
              <a:gs pos="50000">
                <a:srgbClr val="FC9D99">
                  <a:shade val="67500"/>
                  <a:satMod val="115000"/>
                </a:srgbClr>
              </a:gs>
              <a:gs pos="100000">
                <a:srgbClr val="FC9D9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/>
              <a:t>¿Porqué es conveniente manejar excepciones?</a:t>
            </a:r>
            <a:endParaRPr lang="en-US" sz="2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A1F92A-6A69-1941-4EF5-AAA09F785FFA}"/>
              </a:ext>
            </a:extLst>
          </p:cNvPr>
          <p:cNvSpPr/>
          <p:nvPr/>
        </p:nvSpPr>
        <p:spPr>
          <a:xfrm>
            <a:off x="0" y="0"/>
            <a:ext cx="2442905" cy="6858000"/>
          </a:xfrm>
          <a:prstGeom prst="rect">
            <a:avLst/>
          </a:prstGeom>
          <a:solidFill>
            <a:srgbClr val="FF426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¿Qué es una excepción?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7FB5B5-F240-CD26-E83A-AA06CF7EB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119" y="429863"/>
            <a:ext cx="10643681" cy="78552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Dudas de la clase anterior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4DFFF8-A8C9-D065-97BF-EB53BD5574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</a:t>
            </a:fld>
            <a:endParaRPr lang="es-PE"/>
          </a:p>
        </p:txBody>
      </p:sp>
      <p:pic>
        <p:nvPicPr>
          <p:cNvPr id="5" name="Graphic 4" descr="Steering Wheel with solid fill">
            <a:extLst>
              <a:ext uri="{FF2B5EF4-FFF2-40B4-BE49-F238E27FC236}">
                <a16:creationId xmlns:a16="http://schemas.microsoft.com/office/drawing/2014/main" id="{9DADE4BE-C81D-8995-0D8B-80D2FCBCF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07158" y="483951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374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E6DAC2E-3415-B32A-2BA0-736AA7E3A707}"/>
              </a:ext>
            </a:extLst>
          </p:cNvPr>
          <p:cNvSpPr/>
          <p:nvPr/>
        </p:nvSpPr>
        <p:spPr>
          <a:xfrm>
            <a:off x="9749095" y="0"/>
            <a:ext cx="2442905" cy="6858000"/>
          </a:xfrm>
          <a:prstGeom prst="rect">
            <a:avLst/>
          </a:prstGeom>
          <a:solidFill>
            <a:srgbClr val="84AF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Mencione y describa un error común en Java.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BCF1D2-D901-84C8-C78C-0E06EE260B93}"/>
              </a:ext>
            </a:extLst>
          </p:cNvPr>
          <p:cNvSpPr/>
          <p:nvPr/>
        </p:nvSpPr>
        <p:spPr>
          <a:xfrm>
            <a:off x="7313698" y="0"/>
            <a:ext cx="2442905" cy="6858000"/>
          </a:xfrm>
          <a:prstGeom prst="rect">
            <a:avLst/>
          </a:prstGeom>
          <a:solidFill>
            <a:srgbClr val="C8C7A8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¿Para qué sirve </a:t>
            </a:r>
            <a:r>
              <a:rPr lang="es-ES" b="1" dirty="0"/>
              <a:t>try..catch..</a:t>
            </a:r>
            <a:r>
              <a:rPr lang="es-ES" b="1" dirty="0" err="1"/>
              <a:t>finally</a:t>
            </a:r>
            <a:r>
              <a:rPr lang="es-ES" dirty="0"/>
              <a:t>?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91532-6931-5B28-8828-98061F6A9E16}"/>
              </a:ext>
            </a:extLst>
          </p:cNvPr>
          <p:cNvSpPr/>
          <p:nvPr/>
        </p:nvSpPr>
        <p:spPr>
          <a:xfrm>
            <a:off x="4878302" y="0"/>
            <a:ext cx="2442905" cy="6858000"/>
          </a:xfrm>
          <a:prstGeom prst="rect">
            <a:avLst/>
          </a:prstGeom>
          <a:gradFill flip="none" rotWithShape="1">
            <a:gsLst>
              <a:gs pos="0">
                <a:srgbClr val="FACDB0">
                  <a:shade val="30000"/>
                  <a:satMod val="115000"/>
                </a:srgbClr>
              </a:gs>
              <a:gs pos="50000">
                <a:srgbClr val="FACDB0">
                  <a:shade val="67500"/>
                  <a:satMod val="115000"/>
                </a:srgbClr>
              </a:gs>
              <a:gs pos="100000">
                <a:srgbClr val="FACDB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dirty="0"/>
              <a:t>¿Qué tipo de excepciones soporta Java?</a:t>
            </a:r>
            <a:endParaRPr lang="en-US" sz="3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BF1525-A09D-509D-DDF7-3C561E47CF11}"/>
              </a:ext>
            </a:extLst>
          </p:cNvPr>
          <p:cNvSpPr/>
          <p:nvPr/>
        </p:nvSpPr>
        <p:spPr>
          <a:xfrm>
            <a:off x="2435397" y="0"/>
            <a:ext cx="2442905" cy="6858000"/>
          </a:xfrm>
          <a:prstGeom prst="rect">
            <a:avLst/>
          </a:prstGeom>
          <a:solidFill>
            <a:srgbClr val="FC9D99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¿Porqué es conveniente manejar excepciones?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A1F92A-6A69-1941-4EF5-AAA09F785FFA}"/>
              </a:ext>
            </a:extLst>
          </p:cNvPr>
          <p:cNvSpPr/>
          <p:nvPr/>
        </p:nvSpPr>
        <p:spPr>
          <a:xfrm>
            <a:off x="0" y="0"/>
            <a:ext cx="2442905" cy="6858000"/>
          </a:xfrm>
          <a:prstGeom prst="rect">
            <a:avLst/>
          </a:prstGeom>
          <a:solidFill>
            <a:srgbClr val="FF426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¿Qué es una excepción?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7FB5B5-F240-CD26-E83A-AA06CF7EB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119" y="429863"/>
            <a:ext cx="10643681" cy="78552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Dudas de la clase anterior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4DFFF8-A8C9-D065-97BF-EB53BD5574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4</a:t>
            </a:fld>
            <a:endParaRPr lang="es-PE"/>
          </a:p>
        </p:txBody>
      </p:sp>
      <p:pic>
        <p:nvPicPr>
          <p:cNvPr id="11" name="Graphic 10" descr="Morse Code with solid fill">
            <a:extLst>
              <a:ext uri="{FF2B5EF4-FFF2-40B4-BE49-F238E27FC236}">
                <a16:creationId xmlns:a16="http://schemas.microsoft.com/office/drawing/2014/main" id="{7C6BA8A8-0888-1039-0795-D52043D251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5046" y="483951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465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E6DAC2E-3415-B32A-2BA0-736AA7E3A707}"/>
              </a:ext>
            </a:extLst>
          </p:cNvPr>
          <p:cNvSpPr/>
          <p:nvPr/>
        </p:nvSpPr>
        <p:spPr>
          <a:xfrm>
            <a:off x="9749095" y="0"/>
            <a:ext cx="2442905" cy="6858000"/>
          </a:xfrm>
          <a:prstGeom prst="rect">
            <a:avLst/>
          </a:prstGeom>
          <a:solidFill>
            <a:srgbClr val="84AF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Mencione y describa un error común en Java.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BCF1D2-D901-84C8-C78C-0E06EE260B93}"/>
              </a:ext>
            </a:extLst>
          </p:cNvPr>
          <p:cNvSpPr/>
          <p:nvPr/>
        </p:nvSpPr>
        <p:spPr>
          <a:xfrm>
            <a:off x="7313698" y="0"/>
            <a:ext cx="2442905" cy="6858000"/>
          </a:xfrm>
          <a:prstGeom prst="rect">
            <a:avLst/>
          </a:prstGeom>
          <a:gradFill flip="none" rotWithShape="1">
            <a:gsLst>
              <a:gs pos="0">
                <a:srgbClr val="C8C7A8">
                  <a:shade val="30000"/>
                  <a:satMod val="115000"/>
                </a:srgbClr>
              </a:gs>
              <a:gs pos="50000">
                <a:srgbClr val="C8C7A8">
                  <a:shade val="67500"/>
                  <a:satMod val="115000"/>
                </a:srgbClr>
              </a:gs>
              <a:gs pos="100000">
                <a:srgbClr val="C8C7A8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dirty="0"/>
              <a:t>¿Para qué sirve </a:t>
            </a:r>
            <a:r>
              <a:rPr lang="es-ES" sz="3200" b="1" dirty="0" err="1"/>
              <a:t>try..catch</a:t>
            </a:r>
            <a:r>
              <a:rPr lang="es-ES" sz="3200" b="1" dirty="0"/>
              <a:t> ..</a:t>
            </a:r>
            <a:r>
              <a:rPr lang="es-ES" sz="3200" b="1" dirty="0" err="1"/>
              <a:t>finally</a:t>
            </a:r>
            <a:r>
              <a:rPr lang="es-ES" sz="3200" dirty="0"/>
              <a:t>?</a:t>
            </a:r>
            <a:endParaRPr lang="en-US" sz="3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91532-6931-5B28-8828-98061F6A9E16}"/>
              </a:ext>
            </a:extLst>
          </p:cNvPr>
          <p:cNvSpPr/>
          <p:nvPr/>
        </p:nvSpPr>
        <p:spPr>
          <a:xfrm>
            <a:off x="4878302" y="0"/>
            <a:ext cx="2442905" cy="6858000"/>
          </a:xfrm>
          <a:prstGeom prst="rect">
            <a:avLst/>
          </a:prstGeom>
          <a:solidFill>
            <a:srgbClr val="FACDB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¿Qué tipo de excepciones soporta Java?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BF1525-A09D-509D-DDF7-3C561E47CF11}"/>
              </a:ext>
            </a:extLst>
          </p:cNvPr>
          <p:cNvSpPr/>
          <p:nvPr/>
        </p:nvSpPr>
        <p:spPr>
          <a:xfrm>
            <a:off x="2435397" y="0"/>
            <a:ext cx="2442905" cy="6858000"/>
          </a:xfrm>
          <a:prstGeom prst="rect">
            <a:avLst/>
          </a:prstGeom>
          <a:solidFill>
            <a:srgbClr val="FC9D99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¿Porqué es conveniente manejar excepciones?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A1F92A-6A69-1941-4EF5-AAA09F785FFA}"/>
              </a:ext>
            </a:extLst>
          </p:cNvPr>
          <p:cNvSpPr/>
          <p:nvPr/>
        </p:nvSpPr>
        <p:spPr>
          <a:xfrm>
            <a:off x="0" y="0"/>
            <a:ext cx="2442905" cy="6858000"/>
          </a:xfrm>
          <a:prstGeom prst="rect">
            <a:avLst/>
          </a:prstGeom>
          <a:solidFill>
            <a:srgbClr val="FF426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¿Qué es una excepción?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7FB5B5-F240-CD26-E83A-AA06CF7EB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119" y="429863"/>
            <a:ext cx="10643681" cy="78552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Dudas de la clase anterior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4DFFF8-A8C9-D065-97BF-EB53BD5574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5</a:t>
            </a:fld>
            <a:endParaRPr lang="es-PE"/>
          </a:p>
        </p:txBody>
      </p:sp>
      <p:pic>
        <p:nvPicPr>
          <p:cNvPr id="11" name="Graphic 10" descr="Programmer female with solid fill">
            <a:extLst>
              <a:ext uri="{FF2B5EF4-FFF2-40B4-BE49-F238E27FC236}">
                <a16:creationId xmlns:a16="http://schemas.microsoft.com/office/drawing/2014/main" id="{56DC6536-BABF-3FCA-B221-900298313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51898" y="483951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426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E6DAC2E-3415-B32A-2BA0-736AA7E3A707}"/>
              </a:ext>
            </a:extLst>
          </p:cNvPr>
          <p:cNvSpPr/>
          <p:nvPr/>
        </p:nvSpPr>
        <p:spPr>
          <a:xfrm>
            <a:off x="9749095" y="0"/>
            <a:ext cx="2442905" cy="6858000"/>
          </a:xfrm>
          <a:prstGeom prst="rect">
            <a:avLst/>
          </a:prstGeom>
          <a:gradFill flip="none" rotWithShape="1">
            <a:gsLst>
              <a:gs pos="0">
                <a:srgbClr val="84AF9B">
                  <a:shade val="30000"/>
                  <a:satMod val="115000"/>
                </a:srgbClr>
              </a:gs>
              <a:gs pos="50000">
                <a:srgbClr val="84AF9B">
                  <a:shade val="67500"/>
                  <a:satMod val="115000"/>
                </a:srgbClr>
              </a:gs>
              <a:gs pos="100000">
                <a:srgbClr val="84AF9B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dirty="0"/>
              <a:t>Mencione y describa un error común en Java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BCF1D2-D901-84C8-C78C-0E06EE260B93}"/>
              </a:ext>
            </a:extLst>
          </p:cNvPr>
          <p:cNvSpPr/>
          <p:nvPr/>
        </p:nvSpPr>
        <p:spPr>
          <a:xfrm>
            <a:off x="7313698" y="0"/>
            <a:ext cx="2442905" cy="6858000"/>
          </a:xfrm>
          <a:prstGeom prst="rect">
            <a:avLst/>
          </a:prstGeom>
          <a:solidFill>
            <a:srgbClr val="C8C7A8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¿Para qué sirve </a:t>
            </a:r>
            <a:r>
              <a:rPr lang="es-ES" b="1" dirty="0"/>
              <a:t>try..catch..</a:t>
            </a:r>
            <a:r>
              <a:rPr lang="es-ES" b="1" dirty="0" err="1"/>
              <a:t>finally</a:t>
            </a:r>
            <a:r>
              <a:rPr lang="es-ES" dirty="0"/>
              <a:t>?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91532-6931-5B28-8828-98061F6A9E16}"/>
              </a:ext>
            </a:extLst>
          </p:cNvPr>
          <p:cNvSpPr/>
          <p:nvPr/>
        </p:nvSpPr>
        <p:spPr>
          <a:xfrm>
            <a:off x="4878302" y="0"/>
            <a:ext cx="2442905" cy="6858000"/>
          </a:xfrm>
          <a:prstGeom prst="rect">
            <a:avLst/>
          </a:prstGeom>
          <a:solidFill>
            <a:srgbClr val="FACDB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¿Qué tipo de excepciones soporta Java?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BF1525-A09D-509D-DDF7-3C561E47CF11}"/>
              </a:ext>
            </a:extLst>
          </p:cNvPr>
          <p:cNvSpPr/>
          <p:nvPr/>
        </p:nvSpPr>
        <p:spPr>
          <a:xfrm>
            <a:off x="2435397" y="0"/>
            <a:ext cx="2442905" cy="6858000"/>
          </a:xfrm>
          <a:prstGeom prst="rect">
            <a:avLst/>
          </a:prstGeom>
          <a:solidFill>
            <a:srgbClr val="FC9D99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¿Porqué es conveniente manejar excepciones?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A1F92A-6A69-1941-4EF5-AAA09F785FFA}"/>
              </a:ext>
            </a:extLst>
          </p:cNvPr>
          <p:cNvSpPr/>
          <p:nvPr/>
        </p:nvSpPr>
        <p:spPr>
          <a:xfrm>
            <a:off x="0" y="0"/>
            <a:ext cx="2442905" cy="6858000"/>
          </a:xfrm>
          <a:prstGeom prst="rect">
            <a:avLst/>
          </a:prstGeom>
          <a:solidFill>
            <a:srgbClr val="FF426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¿Qué es una excepción?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7FB5B5-F240-CD26-E83A-AA06CF7EB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119" y="429863"/>
            <a:ext cx="10643681" cy="78552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Dudas de la clase anterior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4DFFF8-A8C9-D065-97BF-EB53BD5574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6</a:t>
            </a:fld>
            <a:endParaRPr lang="es-PE"/>
          </a:p>
        </p:txBody>
      </p:sp>
      <p:pic>
        <p:nvPicPr>
          <p:cNvPr id="5" name="Graphic 4" descr="Close with solid fill">
            <a:extLst>
              <a:ext uri="{FF2B5EF4-FFF2-40B4-BE49-F238E27FC236}">
                <a16:creationId xmlns:a16="http://schemas.microsoft.com/office/drawing/2014/main" id="{4E751F27-4302-1C56-6E94-EC9F736E99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3347" y="483951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245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0EF3B4-21BF-4F13-19D8-12C79D4741F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0" y="3623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4600F7-1DA8-4B6F-94D5-F0D0A43E9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9883" y="883580"/>
            <a:ext cx="7364361" cy="2227062"/>
          </a:xfrm>
        </p:spPr>
        <p:txBody>
          <a:bodyPr anchor="ctr" anchorCtr="0">
            <a:noAutofit/>
          </a:bodyPr>
          <a:lstStyle/>
          <a:p>
            <a:pPr algn="l"/>
            <a:r>
              <a:rPr lang="es-ES" dirty="0">
                <a:latin typeface="Helvetica"/>
              </a:rPr>
              <a:t>Manejo de Excepciones (II)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B251AC-3951-3B47-1B07-C76D85252ACA}"/>
              </a:ext>
            </a:extLst>
          </p:cNvPr>
          <p:cNvSpPr/>
          <p:nvPr/>
        </p:nvSpPr>
        <p:spPr>
          <a:xfrm>
            <a:off x="4109883" y="3425816"/>
            <a:ext cx="8082117" cy="7865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Java logo and symbol, meaning, history, PNG">
            <a:extLst>
              <a:ext uri="{FF2B5EF4-FFF2-40B4-BE49-F238E27FC236}">
                <a16:creationId xmlns:a16="http://schemas.microsoft.com/office/drawing/2014/main" id="{AAB33131-EF3E-5FB0-0827-F338AF1CAE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80" r="54839"/>
          <a:stretch/>
        </p:blipFill>
        <p:spPr bwMode="auto">
          <a:xfrm>
            <a:off x="0" y="15913"/>
            <a:ext cx="2949677" cy="6667564"/>
          </a:xfrm>
          <a:prstGeom prst="rect">
            <a:avLst/>
          </a:prstGeom>
          <a:noFill/>
          <a:effectLst>
            <a:outerShdw blurRad="152400" dist="1143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781919-DECA-3D78-81A0-35CD43938DF7}"/>
              </a:ext>
            </a:extLst>
          </p:cNvPr>
          <p:cNvSpPr txBox="1"/>
          <p:nvPr/>
        </p:nvSpPr>
        <p:spPr>
          <a:xfrm>
            <a:off x="68827" y="6605045"/>
            <a:ext cx="61353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6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 de: https://1000logos.net/wp-content/uploads/2020/09/Java-Logo.png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3B0AF311-5E92-403D-BE74-B8FBEF02CE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s-P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77C684-06B1-44CA-9235-D863CE038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279" y="429863"/>
            <a:ext cx="10552522" cy="785528"/>
          </a:xfrm>
        </p:spPr>
        <p:txBody>
          <a:bodyPr/>
          <a:lstStyle/>
          <a:p>
            <a:r>
              <a:rPr lang="es-ES" dirty="0"/>
              <a:t>Conocimientos previos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D4DF39-413F-41FB-80F6-1CF57DEA76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8</a:t>
            </a:fld>
            <a:endParaRPr lang="es-PE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55BF71D-AE98-ECA9-3C25-309A4EE9D3A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1279" y="1436915"/>
            <a:ext cx="10722364" cy="4615094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Completa la frase con la palabra adecuada, en cada caso:</a:t>
            </a:r>
          </a:p>
          <a:p>
            <a:pPr marL="50800" indent="0"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marL="50800" indent="0"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marL="50800" indent="0"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marL="50800" indent="0"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Ahora, define cada una de las palabras encontradas.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¿Serían aplicables los términos al tratamiento de errores en Java? ¿De qué forma?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364794-35AA-4DD4-0A8C-D83B6B13B3F3}"/>
              </a:ext>
            </a:extLst>
          </p:cNvPr>
          <p:cNvSpPr txBox="1"/>
          <p:nvPr/>
        </p:nvSpPr>
        <p:spPr>
          <a:xfrm>
            <a:off x="1157691" y="2299624"/>
            <a:ext cx="4503907" cy="1913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216000" tIns="216000" rIns="216000" bIns="216000" rtlCol="0">
            <a:spAutoFit/>
          </a:bodyPr>
          <a:lstStyle/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Ese virus es tan peligroso que se ha p</a:t>
            </a:r>
            <a:r>
              <a:rPr lang="es-ES" sz="24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</a:t>
            </a:r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 a miles de computadoras en todo el mundo.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9C1582-C86B-8E61-4B42-807EDBA2541B}"/>
              </a:ext>
            </a:extLst>
          </p:cNvPr>
          <p:cNvSpPr txBox="1"/>
          <p:nvPr/>
        </p:nvSpPr>
        <p:spPr>
          <a:xfrm>
            <a:off x="6209857" y="2299624"/>
            <a:ext cx="4503907" cy="191354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216000" tIns="216000" rIns="216000" bIns="216000" rtlCol="0">
            <a:spAutoFit/>
          </a:bodyPr>
          <a:lstStyle/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La lista actual contiene errores e inconsistencias; por tanto, la lista se debe d</a:t>
            </a:r>
            <a:r>
              <a:rPr lang="es-ES" sz="24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.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2AF3303-4E64-5C14-FEC7-C5CF31C9889E}"/>
              </a:ext>
            </a:extLst>
          </p:cNvPr>
          <p:cNvSpPr/>
          <p:nvPr/>
        </p:nvSpPr>
        <p:spPr>
          <a:xfrm>
            <a:off x="0" y="5850194"/>
            <a:ext cx="12192000" cy="10078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61FBA0-0CED-4DB2-9F90-291CADA87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864" y="429863"/>
            <a:ext cx="10627937" cy="785528"/>
          </a:xfrm>
        </p:spPr>
        <p:txBody>
          <a:bodyPr/>
          <a:lstStyle/>
          <a:p>
            <a:r>
              <a:rPr lang="es-ES" dirty="0"/>
              <a:t>Logro de aprendizaje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BAA4A-C973-4872-991F-677E20FF8B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9</a:t>
            </a:fld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7DCA-ED6E-428D-A48F-1565A2EA97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5865" y="1894788"/>
            <a:ext cx="5524106" cy="3629319"/>
          </a:xfrm>
        </p:spPr>
        <p:txBody>
          <a:bodyPr>
            <a:normAutofit/>
          </a:bodyPr>
          <a:lstStyle/>
          <a:p>
            <a:pPr marL="50800" indent="0">
              <a:lnSpc>
                <a:spcPct val="100000"/>
              </a:lnSpc>
              <a:buNone/>
            </a:pPr>
            <a:r>
              <a:rPr lang="es-ES" dirty="0">
                <a:solidFill>
                  <a:srgbClr val="00B050"/>
                </a:solidFill>
              </a:rPr>
              <a:t>Al finalizar la sesión</a:t>
            </a:r>
            <a:r>
              <a:rPr lang="es-ES" dirty="0"/>
              <a:t>, </a:t>
            </a:r>
            <a:r>
              <a:rPr lang="es-ES" dirty="0">
                <a:solidFill>
                  <a:schemeClr val="accent2"/>
                </a:solidFill>
              </a:rPr>
              <a:t>el estudiante</a:t>
            </a:r>
            <a:r>
              <a:rPr lang="es-ES" dirty="0"/>
              <a:t> </a:t>
            </a:r>
            <a:r>
              <a:rPr lang="es-ES" dirty="0">
                <a:solidFill>
                  <a:schemeClr val="accent5"/>
                </a:solidFill>
              </a:rPr>
              <a:t>desarrolla</a:t>
            </a:r>
            <a:r>
              <a:rPr lang="es-ES" dirty="0"/>
              <a:t> </a:t>
            </a:r>
            <a:r>
              <a:rPr lang="es-ES" dirty="0">
                <a:solidFill>
                  <a:schemeClr val="accent4"/>
                </a:solidFill>
              </a:rPr>
              <a:t>programas con instrucciones try..catch..</a:t>
            </a:r>
            <a:r>
              <a:rPr lang="es-ES" dirty="0" err="1">
                <a:solidFill>
                  <a:schemeClr val="accent4"/>
                </a:solidFill>
              </a:rPr>
              <a:t>finally</a:t>
            </a:r>
            <a:r>
              <a:rPr lang="es-ES" dirty="0">
                <a:solidFill>
                  <a:schemeClr val="accent4"/>
                </a:solidFill>
              </a:rPr>
              <a:t> </a:t>
            </a:r>
            <a:r>
              <a:rPr lang="es-ES" dirty="0">
                <a:solidFill>
                  <a:srgbClr val="D3052C"/>
                </a:solidFill>
              </a:rPr>
              <a:t>utilizando un IDE Java </a:t>
            </a:r>
            <a:r>
              <a:rPr lang="es-ES" dirty="0">
                <a:solidFill>
                  <a:srgbClr val="7030A0"/>
                </a:solidFill>
              </a:rPr>
              <a:t>manejar errores en sus programas.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DFA50-2D5F-464F-91EF-0F1911F9CA8D}"/>
              </a:ext>
            </a:extLst>
          </p:cNvPr>
          <p:cNvSpPr txBox="1"/>
          <p:nvPr/>
        </p:nvSpPr>
        <p:spPr>
          <a:xfrm>
            <a:off x="126748" y="6376940"/>
            <a:ext cx="1058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3"/>
                </a:solidFill>
              </a:rPr>
              <a:t>Imagen </a:t>
            </a:r>
            <a:r>
              <a:rPr lang="en-US" sz="900" dirty="0" err="1">
                <a:solidFill>
                  <a:schemeClr val="accent3"/>
                </a:solidFill>
              </a:rPr>
              <a:t>obtenida</a:t>
            </a:r>
            <a:r>
              <a:rPr lang="en-US" sz="900" dirty="0">
                <a:solidFill>
                  <a:schemeClr val="accent3"/>
                </a:solidFill>
              </a:rPr>
              <a:t> de:</a:t>
            </a:r>
            <a:br>
              <a:rPr lang="en-US" sz="900" dirty="0">
                <a:solidFill>
                  <a:schemeClr val="accent3"/>
                </a:solidFill>
              </a:rPr>
            </a:br>
            <a:r>
              <a:rPr lang="en-US" sz="900" dirty="0">
                <a:solidFill>
                  <a:schemeClr val="accent3"/>
                </a:solidFill>
              </a:rPr>
              <a:t>https://www.pngmart.com/files/21/Book-PNG-Photos.png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604D54-ECF5-DDCE-515E-887F2AFEE5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659"/>
          <a:stretch/>
        </p:blipFill>
        <p:spPr>
          <a:xfrm>
            <a:off x="6750817" y="-136525"/>
            <a:ext cx="5441183" cy="6858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817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7613-AEC1-4435-8375-CCB96C0E8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29863"/>
            <a:ext cx="10515600" cy="785528"/>
          </a:xfrm>
        </p:spPr>
        <p:txBody>
          <a:bodyPr/>
          <a:lstStyle/>
          <a:p>
            <a:r>
              <a:rPr lang="es-ES" dirty="0"/>
              <a:t>Utilidad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C16D3-358F-4224-9D29-22D3C58B56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10</a:t>
            </a:fld>
            <a:endParaRPr lang="es-PE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F518289-1ED2-0979-3107-1E013D9A9C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1" y="1436914"/>
            <a:ext cx="6316743" cy="4782911"/>
          </a:xfrm>
        </p:spPr>
        <p:txBody>
          <a:bodyPr/>
          <a:lstStyle/>
          <a:p>
            <a:r>
              <a:rPr lang="es-ES" dirty="0"/>
              <a:t>¿Qué muestra la imagen?</a:t>
            </a:r>
          </a:p>
          <a:p>
            <a:r>
              <a:rPr lang="es-ES" dirty="0"/>
              <a:t>¿Maneja la clase origen su propia excepción?</a:t>
            </a:r>
          </a:p>
          <a:p>
            <a:r>
              <a:rPr lang="es-ES" dirty="0"/>
              <a:t>¿Qué hace en su lugar?</a:t>
            </a:r>
          </a:p>
          <a:p>
            <a:r>
              <a:rPr lang="es-ES" dirty="0"/>
              <a:t>¿Qué hace la clase con el error generado?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98B822-51C5-52A1-4285-E6E96F77F7EE}"/>
              </a:ext>
            </a:extLst>
          </p:cNvPr>
          <p:cNvSpPr txBox="1"/>
          <p:nvPr/>
        </p:nvSpPr>
        <p:spPr>
          <a:xfrm>
            <a:off x="838200" y="5363618"/>
            <a:ext cx="61177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0">
              <a:buNone/>
            </a:pPr>
            <a:r>
              <a:rPr lang="en-US" sz="2800" dirty="0" err="1">
                <a:solidFill>
                  <a:srgbClr val="0E7D73"/>
                </a:solidFill>
                <a:latin typeface="Helvetica" pitchFamily="2" charset="0"/>
              </a:rPr>
              <a:t>Implementar</a:t>
            </a:r>
            <a:r>
              <a:rPr lang="en-US" sz="2800" dirty="0"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rgbClr val="CC7832"/>
                </a:solidFill>
                <a:latin typeface="Helvetica" pitchFamily="2" charset="0"/>
              </a:rPr>
              <a:t>propagación</a:t>
            </a:r>
            <a:r>
              <a:rPr lang="en-US" sz="2800" dirty="0">
                <a:solidFill>
                  <a:srgbClr val="CC7832"/>
                </a:solidFill>
                <a:latin typeface="Helvetica" pitchFamily="2" charset="0"/>
              </a:rPr>
              <a:t> de </a:t>
            </a:r>
            <a:r>
              <a:rPr lang="en-US" sz="2800" dirty="0" err="1">
                <a:solidFill>
                  <a:srgbClr val="CC7832"/>
                </a:solidFill>
                <a:latin typeface="Helvetica" pitchFamily="2" charset="0"/>
              </a:rPr>
              <a:t>errores</a:t>
            </a:r>
            <a:r>
              <a:rPr lang="en-US" sz="2800" dirty="0">
                <a:solidFill>
                  <a:srgbClr val="CC7832"/>
                </a:solidFill>
                <a:latin typeface="Helvetica" pitchFamily="2" charset="0"/>
              </a:rPr>
              <a:t> </a:t>
            </a:r>
            <a:r>
              <a:rPr lang="en-US" sz="2800" dirty="0" err="1">
                <a:latin typeface="Helvetica" pitchFamily="2" charset="0"/>
              </a:rPr>
              <a:t>en</a:t>
            </a:r>
            <a:r>
              <a:rPr lang="en-US" sz="2800" dirty="0">
                <a:latin typeface="Helvetica" pitchFamily="2" charset="0"/>
              </a:rPr>
              <a:t> Java.</a:t>
            </a:r>
            <a:endParaRPr lang="es-ES" sz="2800" dirty="0">
              <a:latin typeface="Helvetica" pitchFamily="2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C2E3234-2A1D-869B-A00F-C27C20B6E5B7}"/>
              </a:ext>
            </a:extLst>
          </p:cNvPr>
          <p:cNvGrpSpPr/>
          <p:nvPr/>
        </p:nvGrpSpPr>
        <p:grpSpPr>
          <a:xfrm>
            <a:off x="7493523" y="1686105"/>
            <a:ext cx="3860276" cy="3886385"/>
            <a:chOff x="7493523" y="1686105"/>
            <a:chExt cx="3860276" cy="3886385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5EC6C89-532C-A89F-BE7D-8B0EA6F928D9}"/>
                </a:ext>
              </a:extLst>
            </p:cNvPr>
            <p:cNvSpPr/>
            <p:nvPr/>
          </p:nvSpPr>
          <p:spPr>
            <a:xfrm>
              <a:off x="7493523" y="2932838"/>
              <a:ext cx="1224561" cy="1561747"/>
            </a:xfrm>
            <a:prstGeom prst="roundRect">
              <a:avLst>
                <a:gd name="adj" fmla="val 699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bg2"/>
                  </a:solidFill>
                </a:rPr>
                <a:t>¡Error!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FECFD5E-9A63-9CDC-57F1-9972FD2F35C6}"/>
                </a:ext>
              </a:extLst>
            </p:cNvPr>
            <p:cNvSpPr/>
            <p:nvPr/>
          </p:nvSpPr>
          <p:spPr>
            <a:xfrm>
              <a:off x="9665616" y="2031417"/>
              <a:ext cx="1688183" cy="1561747"/>
            </a:xfrm>
            <a:prstGeom prst="roundRect">
              <a:avLst>
                <a:gd name="adj" fmla="val 6990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Manejo del error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29816954-CB5C-E8D4-B5DE-944E9FE9CB75}"/>
                </a:ext>
              </a:extLst>
            </p:cNvPr>
            <p:cNvSpPr/>
            <p:nvPr/>
          </p:nvSpPr>
          <p:spPr>
            <a:xfrm>
              <a:off x="9665615" y="4010743"/>
              <a:ext cx="1688183" cy="1561747"/>
            </a:xfrm>
            <a:prstGeom prst="roundRect">
              <a:avLst>
                <a:gd name="adj" fmla="val 6990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Manejo del error</a:t>
              </a:r>
            </a:p>
          </p:txBody>
        </p:sp>
        <p:pic>
          <p:nvPicPr>
            <p:cNvPr id="12" name="Content Placeholder 8" descr="Megaphone1 with solid fill">
              <a:extLst>
                <a:ext uri="{FF2B5EF4-FFF2-40B4-BE49-F238E27FC236}">
                  <a16:creationId xmlns:a16="http://schemas.microsoft.com/office/drawing/2014/main" id="{B8888F9A-2217-39B4-2D54-E372E69BE8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707615" y="2699433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9518414-2EE3-09F8-1491-78525B87454D}"/>
                </a:ext>
              </a:extLst>
            </p:cNvPr>
            <p:cNvSpPr txBox="1"/>
            <p:nvPr/>
          </p:nvSpPr>
          <p:spPr>
            <a:xfrm>
              <a:off x="7493523" y="2573825"/>
              <a:ext cx="6431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Clase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38BC9A3-DE30-8F86-3B29-68BBB610C1DF}"/>
                </a:ext>
              </a:extLst>
            </p:cNvPr>
            <p:cNvSpPr txBox="1"/>
            <p:nvPr/>
          </p:nvSpPr>
          <p:spPr>
            <a:xfrm>
              <a:off x="9660636" y="1686105"/>
              <a:ext cx="6431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Clase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14DD382-74DC-EF1D-A5E2-F419C26C7095}"/>
                </a:ext>
              </a:extLst>
            </p:cNvPr>
            <p:cNvSpPr txBox="1"/>
            <p:nvPr/>
          </p:nvSpPr>
          <p:spPr>
            <a:xfrm>
              <a:off x="9660636" y="3674685"/>
              <a:ext cx="6431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Clase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18" name="Content Placeholder 8" descr="Megaphone1 with solid fill">
              <a:extLst>
                <a:ext uri="{FF2B5EF4-FFF2-40B4-BE49-F238E27FC236}">
                  <a16:creationId xmlns:a16="http://schemas.microsoft.com/office/drawing/2014/main" id="{37EC3D74-0849-4403-5618-15CAB3776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3343967">
              <a:off x="8707615" y="3885491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3EB68B2-B95B-3E1A-5C5C-92786D0B568E}"/>
                </a:ext>
              </a:extLst>
            </p:cNvPr>
            <p:cNvSpPr txBox="1"/>
            <p:nvPr/>
          </p:nvSpPr>
          <p:spPr>
            <a:xfrm rot="19315762">
              <a:off x="8733718" y="2696375"/>
              <a:ext cx="5822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rgbClr val="FF0000"/>
                  </a:solidFill>
                </a:rPr>
                <a:t>Error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25613A8-87DC-153B-54D5-28343EA9C263}"/>
                </a:ext>
              </a:extLst>
            </p:cNvPr>
            <p:cNvSpPr txBox="1"/>
            <p:nvPr/>
          </p:nvSpPr>
          <p:spPr>
            <a:xfrm rot="762331">
              <a:off x="8895766" y="3895620"/>
              <a:ext cx="5822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rgbClr val="FF0000"/>
                  </a:solidFill>
                </a:rPr>
                <a:t>Error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246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11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Propagación de excepciones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Detección de errores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Debugging</a:t>
              </a: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.</a:t>
              </a:r>
              <a:endParaRPr lang="en-US" sz="18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3075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12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Detección de errores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Debugging</a:t>
              </a: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.</a:t>
              </a:r>
              <a:endParaRPr lang="en-US" sz="18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4597C62F-9F57-8DB5-8509-0B645646714A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Propagación de excepciones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620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9234D76-2B10-0A7A-8968-BB6BA8928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1310" y="2969443"/>
            <a:ext cx="5470689" cy="3888557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47964C3-0D67-131F-D9D0-B5D0077FC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¿Qué es propagación de excepciones?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FACD36-8A1C-F854-5184-26590608F3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13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470993-73A2-6412-903A-0C75430A240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/>
              <a:t>Técnica para </a:t>
            </a:r>
            <a:r>
              <a:rPr lang="es-ES" b="1" dirty="0">
                <a:solidFill>
                  <a:schemeClr val="accent2"/>
                </a:solidFill>
              </a:rPr>
              <a:t>transmitir</a:t>
            </a:r>
            <a:r>
              <a:rPr lang="es-ES" dirty="0"/>
              <a:t> excepciones entre métodos de la misma clase o de clases distintas.</a:t>
            </a:r>
          </a:p>
          <a:p>
            <a:r>
              <a:rPr lang="es-ES" dirty="0"/>
              <a:t>El objetivo es </a:t>
            </a:r>
            <a:r>
              <a:rPr lang="es-ES" b="1" dirty="0"/>
              <a:t>alertar</a:t>
            </a:r>
            <a:r>
              <a:rPr lang="es-ES" dirty="0"/>
              <a:t> sobre </a:t>
            </a:r>
            <a:br>
              <a:rPr lang="es-ES" dirty="0"/>
            </a:br>
            <a:r>
              <a:rPr lang="es-ES" dirty="0"/>
              <a:t>una posible falla que puede </a:t>
            </a:r>
            <a:br>
              <a:rPr lang="es-ES" dirty="0"/>
            </a:br>
            <a:r>
              <a:rPr lang="es-ES" dirty="0"/>
              <a:t>ocurrir al utilizar un método.</a:t>
            </a:r>
          </a:p>
          <a:p>
            <a:r>
              <a:rPr lang="es-ES" dirty="0"/>
              <a:t>Esto permite que se </a:t>
            </a:r>
            <a:r>
              <a:rPr lang="es-ES" b="1" dirty="0"/>
              <a:t>controle</a:t>
            </a:r>
            <a:r>
              <a:rPr lang="es-ES" dirty="0"/>
              <a:t> </a:t>
            </a:r>
            <a:br>
              <a:rPr lang="es-ES" dirty="0"/>
            </a:br>
            <a:r>
              <a:rPr lang="es-ES" dirty="0"/>
              <a:t>una eventual excepción.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EDE658-BFB6-43AC-EE7B-56DC25259023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Propagación de excepciones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5EFA1B-216E-8A04-D3C6-5B865CFA31DE}"/>
              </a:ext>
            </a:extLst>
          </p:cNvPr>
          <p:cNvSpPr txBox="1"/>
          <p:nvPr/>
        </p:nvSpPr>
        <p:spPr>
          <a:xfrm>
            <a:off x="735291" y="6443490"/>
            <a:ext cx="90308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https://res.cloudinary.com/people-matters/image/upload/w_624,h_351,c_scale,q_auto,f_auto/v1480063064/1480063062.jpg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75AB100-4A4A-8AFF-5A14-76343BD99992}"/>
              </a:ext>
            </a:extLst>
          </p:cNvPr>
          <p:cNvSpPr/>
          <p:nvPr/>
        </p:nvSpPr>
        <p:spPr>
          <a:xfrm>
            <a:off x="7025731" y="3160643"/>
            <a:ext cx="1584870" cy="536713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Método origen</a:t>
            </a: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94A3CAC-8C3D-585E-CA7B-AA5168D2B147}"/>
              </a:ext>
            </a:extLst>
          </p:cNvPr>
          <p:cNvSpPr/>
          <p:nvPr/>
        </p:nvSpPr>
        <p:spPr>
          <a:xfrm>
            <a:off x="10334421" y="3160643"/>
            <a:ext cx="1584870" cy="536713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Método cliente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973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85E1D-E3DF-CD1A-BF83-FB5B4845E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Instrucciones </a:t>
            </a:r>
            <a:r>
              <a:rPr lang="es-ES" dirty="0" err="1"/>
              <a:t>throw</a:t>
            </a:r>
            <a:r>
              <a:rPr lang="es-ES" dirty="0"/>
              <a:t> y </a:t>
            </a:r>
            <a:r>
              <a:rPr lang="es-ES" dirty="0" err="1"/>
              <a:t>throws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C1B4CB-F431-CF99-27F6-E9416E6B47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14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89209A-74C1-690C-0540-93DDED3F4C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7149419" cy="4782911"/>
          </a:xfrm>
        </p:spPr>
        <p:txBody>
          <a:bodyPr/>
          <a:lstStyle/>
          <a:p>
            <a:r>
              <a:rPr lang="en-US" dirty="0"/>
              <a:t>Para </a:t>
            </a:r>
            <a:r>
              <a:rPr lang="en-US" b="1" dirty="0" err="1">
                <a:solidFill>
                  <a:schemeClr val="accent2"/>
                </a:solidFill>
              </a:rPr>
              <a:t>transmitir</a:t>
            </a:r>
            <a:r>
              <a:rPr lang="en-US" dirty="0"/>
              <a:t> </a:t>
            </a:r>
            <a:r>
              <a:rPr lang="en-US" dirty="0" err="1"/>
              <a:t>automáticamente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excepción</a:t>
            </a:r>
            <a:r>
              <a:rPr lang="en-US" dirty="0"/>
              <a:t>, usa la palabra </a:t>
            </a:r>
            <a:r>
              <a:rPr lang="en-US" dirty="0" err="1"/>
              <a:t>reservada</a:t>
            </a:r>
            <a:r>
              <a:rPr lang="en-US" dirty="0"/>
              <a:t> </a:t>
            </a:r>
            <a:r>
              <a:rPr lang="en-US" b="1" dirty="0">
                <a:solidFill>
                  <a:schemeClr val="accent2"/>
                </a:solidFill>
              </a:rPr>
              <a:t>throw</a:t>
            </a:r>
            <a:r>
              <a:rPr lang="en-US" dirty="0"/>
              <a:t> </a:t>
            </a:r>
            <a:r>
              <a:rPr lang="en-US" dirty="0" err="1"/>
              <a:t>dentro</a:t>
            </a:r>
            <a:r>
              <a:rPr lang="en-US" dirty="0"/>
              <a:t> del </a:t>
            </a:r>
            <a:r>
              <a:rPr lang="en-US" dirty="0" err="1"/>
              <a:t>bloque</a:t>
            </a:r>
            <a:r>
              <a:rPr lang="en-US" dirty="0"/>
              <a:t> </a:t>
            </a:r>
            <a:r>
              <a:rPr lang="en-US" b="1" dirty="0">
                <a:solidFill>
                  <a:schemeClr val="accent2"/>
                </a:solidFill>
              </a:rPr>
              <a:t>catch</a:t>
            </a:r>
            <a:r>
              <a:rPr lang="en-US" dirty="0"/>
              <a:t>.</a:t>
            </a:r>
          </a:p>
          <a:p>
            <a:r>
              <a:rPr lang="en-US" dirty="0"/>
              <a:t>Una </a:t>
            </a:r>
            <a:r>
              <a:rPr lang="en-US" dirty="0" err="1"/>
              <a:t>excepción</a:t>
            </a:r>
            <a:r>
              <a:rPr lang="en-US" dirty="0"/>
              <a:t> que es </a:t>
            </a:r>
            <a:r>
              <a:rPr lang="en-US" dirty="0" err="1"/>
              <a:t>lanzada</a:t>
            </a:r>
            <a:r>
              <a:rPr lang="en-US" dirty="0"/>
              <a:t> </a:t>
            </a:r>
            <a:r>
              <a:rPr lang="en-US" dirty="0" err="1"/>
              <a:t>fuera</a:t>
            </a:r>
            <a:r>
              <a:rPr lang="en-US" dirty="0"/>
              <a:t> de un </a:t>
            </a:r>
            <a:r>
              <a:rPr lang="en-US" dirty="0" err="1"/>
              <a:t>método</a:t>
            </a:r>
            <a:r>
              <a:rPr lang="en-US" dirty="0"/>
              <a:t> </a:t>
            </a:r>
            <a:r>
              <a:rPr lang="en-US" dirty="0" err="1"/>
              <a:t>debe</a:t>
            </a:r>
            <a:r>
              <a:rPr lang="en-US" dirty="0"/>
              <a:t> ser </a:t>
            </a:r>
            <a:r>
              <a:rPr lang="en-US" dirty="0" err="1"/>
              <a:t>especificada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tal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clausula </a:t>
            </a:r>
            <a:r>
              <a:rPr lang="en-US" b="1" dirty="0">
                <a:solidFill>
                  <a:schemeClr val="accent2"/>
                </a:solidFill>
              </a:rPr>
              <a:t>throws</a:t>
            </a:r>
            <a:r>
              <a:rPr lang="en-US" dirty="0"/>
              <a:t>.</a:t>
            </a:r>
          </a:p>
          <a:p>
            <a:r>
              <a:rPr lang="en-US" dirty="0"/>
              <a:t>Con </a:t>
            </a:r>
            <a:r>
              <a:rPr lang="en-US" dirty="0" err="1"/>
              <a:t>estos</a:t>
            </a:r>
            <a:r>
              <a:rPr lang="en-US" dirty="0"/>
              <a:t> dos pasos </a:t>
            </a:r>
            <a:r>
              <a:rPr lang="en-US" dirty="0" err="1"/>
              <a:t>anteriores</a:t>
            </a:r>
            <a:r>
              <a:rPr lang="en-US" dirty="0"/>
              <a:t> se </a:t>
            </a:r>
            <a:r>
              <a:rPr lang="en-US" dirty="0" err="1"/>
              <a:t>consigue</a:t>
            </a:r>
            <a:r>
              <a:rPr lang="en-US" dirty="0"/>
              <a:t> </a:t>
            </a:r>
            <a:r>
              <a:rPr lang="en-US" b="1" u="sng" dirty="0" err="1"/>
              <a:t>propagar</a:t>
            </a:r>
            <a:r>
              <a:rPr lang="en-US" u="sng" dirty="0"/>
              <a:t> </a:t>
            </a:r>
            <a:r>
              <a:rPr lang="en-US" u="sng" dirty="0" err="1"/>
              <a:t>una</a:t>
            </a:r>
            <a:r>
              <a:rPr lang="en-US" u="sng" dirty="0"/>
              <a:t> </a:t>
            </a:r>
            <a:r>
              <a:rPr lang="en-US" u="sng" dirty="0" err="1"/>
              <a:t>excepción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DE2133-558B-66DB-1DBF-DB487BDFD9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629" b="9305"/>
          <a:stretch/>
        </p:blipFill>
        <p:spPr>
          <a:xfrm>
            <a:off x="8549657" y="638175"/>
            <a:ext cx="3642343" cy="6219825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07EDEB1-D1EA-6118-F246-331E8E0BDE9E}"/>
              </a:ext>
            </a:extLst>
          </p:cNvPr>
          <p:cNvSpPr/>
          <p:nvPr/>
        </p:nvSpPr>
        <p:spPr>
          <a:xfrm rot="697817">
            <a:off x="9406981" y="3942945"/>
            <a:ext cx="1987826" cy="53671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EXCEPCIÓN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F23B7D7-1F65-E3D7-C381-BF739E98C212}"/>
              </a:ext>
            </a:extLst>
          </p:cNvPr>
          <p:cNvSpPr/>
          <p:nvPr/>
        </p:nvSpPr>
        <p:spPr>
          <a:xfrm>
            <a:off x="9538250" y="649522"/>
            <a:ext cx="1292087" cy="536713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MÉTODO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0678A5-32C0-BC37-4D5A-EDE1A185E3EB}"/>
              </a:ext>
            </a:extLst>
          </p:cNvPr>
          <p:cNvSpPr txBox="1"/>
          <p:nvPr/>
        </p:nvSpPr>
        <p:spPr>
          <a:xfrm>
            <a:off x="816021" y="6466071"/>
            <a:ext cx="613741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https://assets.stickpng.com/images/580b57fbd9996e24bc43c029.png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C9EF39-06C4-42F5-F128-EE2AED13627C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Propagación de excepciones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07D40D-E5D9-4FFA-FCCE-B38248518732}"/>
              </a:ext>
            </a:extLst>
          </p:cNvPr>
          <p:cNvSpPr/>
          <p:nvPr/>
        </p:nvSpPr>
        <p:spPr>
          <a:xfrm>
            <a:off x="10370828" y="2706103"/>
            <a:ext cx="768624" cy="403811"/>
          </a:xfrm>
          <a:prstGeom prst="rect">
            <a:avLst/>
          </a:prstGeom>
          <a:solidFill>
            <a:srgbClr val="FF42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i="1" dirty="0" err="1"/>
              <a:t>throw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716395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7A581-EA89-34DD-98FD-E757249CE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throw</a:t>
            </a:r>
            <a:r>
              <a:rPr lang="es-ES" dirty="0"/>
              <a:t> y </a:t>
            </a:r>
            <a:r>
              <a:rPr lang="es-ES" dirty="0" err="1"/>
              <a:t>throws</a:t>
            </a:r>
            <a:r>
              <a:rPr lang="es-ES" dirty="0"/>
              <a:t>. Ejemplo.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B0E3C5-0BB9-16F3-5D84-FBB35E54CA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15</a:t>
            </a:fld>
            <a:endParaRPr lang="es-PE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12ECD40-C271-FCEE-577D-FAA6C5A2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7660" y="1457933"/>
            <a:ext cx="6111552" cy="3981201"/>
          </a:xfrm>
          <a:prstGeom prst="roundRect">
            <a:avLst>
              <a:gd name="adj" fmla="val 3199"/>
            </a:avLst>
          </a:prstGeom>
          <a:solidFill>
            <a:srgbClr val="1E1F2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Calculadora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void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dividir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b)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throws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Exception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try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resultado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a / b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resultado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catch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(Exception ex)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throw new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CC783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Exception(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"Error! División entre cero"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finally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"Fin del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método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endParaRPr lang="en-US" altLang="en-US" sz="2800" dirty="0">
              <a:solidFill>
                <a:schemeClr val="tx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34E5E28-CC59-F442-F452-88E669636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0155" y="1837037"/>
            <a:ext cx="5031631" cy="3142168"/>
          </a:xfrm>
          <a:prstGeom prst="roundRect">
            <a:avLst>
              <a:gd name="adj" fmla="val 2978"/>
            </a:avLst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Test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Calculadora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calculadora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Calculadora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try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calculadora.dividir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16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catch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(Exception e)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e.getMessage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lang="en-US" altLang="en-US" sz="2800" dirty="0">
              <a:solidFill>
                <a:schemeClr val="tx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  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2A20584-E7BA-2670-6B72-A2FAAA08A255}"/>
              </a:ext>
            </a:extLst>
          </p:cNvPr>
          <p:cNvSpPr/>
          <p:nvPr/>
        </p:nvSpPr>
        <p:spPr>
          <a:xfrm>
            <a:off x="2224726" y="3487492"/>
            <a:ext cx="4298623" cy="557038"/>
          </a:xfrm>
          <a:prstGeom prst="roundRect">
            <a:avLst/>
          </a:prstGeom>
          <a:noFill/>
          <a:ln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258470B-D09B-FCDE-2BF2-8E347E820FED}"/>
              </a:ext>
            </a:extLst>
          </p:cNvPr>
          <p:cNvSpPr/>
          <p:nvPr/>
        </p:nvSpPr>
        <p:spPr>
          <a:xfrm>
            <a:off x="4708429" y="2079889"/>
            <a:ext cx="1562925" cy="345877"/>
          </a:xfrm>
          <a:prstGeom prst="roundRect">
            <a:avLst/>
          </a:prstGeom>
          <a:noFill/>
          <a:ln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AD396C-ACD9-BDF0-0FDB-EFD9A54E0331}"/>
              </a:ext>
            </a:extLst>
          </p:cNvPr>
          <p:cNvSpPr txBox="1"/>
          <p:nvPr/>
        </p:nvSpPr>
        <p:spPr>
          <a:xfrm>
            <a:off x="1137660" y="5703673"/>
            <a:ext cx="611155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00B0F0"/>
                </a:solidFill>
              </a:rPr>
              <a:t>En este caso, la clase Calculadora “atrapa” la excepción y “lanza” una nueva. La clase cliente Test “atrapa” y “maneja” la excepción mostrando el mensaje en pantalla. La aplicación no interrumpe su ejecución.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7121EE-DE61-F54C-1F5A-79A4135CB9E1}"/>
              </a:ext>
            </a:extLst>
          </p:cNvPr>
          <p:cNvSpPr txBox="1"/>
          <p:nvPr/>
        </p:nvSpPr>
        <p:spPr>
          <a:xfrm>
            <a:off x="7767440" y="5493409"/>
            <a:ext cx="3165049" cy="63634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Fin del </a:t>
            </a:r>
            <a:r>
              <a:rPr lang="en-US" sz="11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método</a:t>
            </a:r>
            <a:endParaRPr lang="en-US" sz="1100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Error! División entre cero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56DF6-6DE9-599A-450B-A461F96941FF}"/>
              </a:ext>
            </a:extLst>
          </p:cNvPr>
          <p:cNvSpPr txBox="1"/>
          <p:nvPr/>
        </p:nvSpPr>
        <p:spPr>
          <a:xfrm>
            <a:off x="7766240" y="5185632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Salida: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E1B707-3E76-8A29-C26F-9863DF828AAF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Propagación de excepciones</a:t>
            </a:r>
          </a:p>
        </p:txBody>
      </p:sp>
    </p:spTree>
    <p:extLst>
      <p:ext uri="{BB962C8B-B14F-4D97-AF65-F5344CB8AC3E}">
        <p14:creationId xmlns:p14="http://schemas.microsoft.com/office/powerpoint/2010/main" val="1013526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16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Debugging</a:t>
              </a: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.</a:t>
              </a:r>
              <a:endParaRPr lang="en-US" sz="18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Propagación de excepciones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4597C62F-9F57-8DB5-8509-0B645646714A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Detección de errores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3402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D6C5A-EAE7-BF1A-4500-97DC19B2B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Detección de errores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5D4ACE-173F-F6A3-F4B0-FA826F9DE0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17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59A53-155B-5F14-233D-7D6BE00B06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7723535" cy="4782911"/>
          </a:xfrm>
        </p:spPr>
        <p:txBody>
          <a:bodyPr>
            <a:normAutofit lnSpcReduction="10000"/>
          </a:bodyPr>
          <a:lstStyle/>
          <a:p>
            <a:r>
              <a:rPr lang="es-ES" u="sng" dirty="0"/>
              <a:t>Técnica</a:t>
            </a:r>
            <a:r>
              <a:rPr lang="es-ES" dirty="0"/>
              <a:t> que busca anticiparse a la ocurrencia de una excepción.</a:t>
            </a:r>
          </a:p>
          <a:p>
            <a:r>
              <a:rPr lang="es-ES" dirty="0"/>
              <a:t>Utiliza </a:t>
            </a:r>
            <a:r>
              <a:rPr lang="es-ES" u="sng" dirty="0"/>
              <a:t>validaciones de datos</a:t>
            </a:r>
            <a:r>
              <a:rPr lang="es-ES" dirty="0"/>
              <a:t> y </a:t>
            </a:r>
            <a:r>
              <a:rPr lang="es-ES" u="sng" dirty="0"/>
              <a:t>manejo de excepciones</a:t>
            </a:r>
            <a:r>
              <a:rPr lang="es-ES" dirty="0"/>
              <a:t>, antes de realizar operaciones.</a:t>
            </a:r>
          </a:p>
          <a:p>
            <a:r>
              <a:rPr lang="es-ES" dirty="0"/>
              <a:t>Permiten que el programa no se detenga ante un evento excepcional.</a:t>
            </a:r>
          </a:p>
          <a:p>
            <a:r>
              <a:rPr lang="es-ES" dirty="0"/>
              <a:t>Permite construir funcionalidad </a:t>
            </a:r>
            <a:br>
              <a:rPr lang="es-ES" dirty="0"/>
            </a:br>
            <a:r>
              <a:rPr lang="es-ES" dirty="0"/>
              <a:t>robusta y confiable.</a:t>
            </a:r>
          </a:p>
          <a:p>
            <a:r>
              <a:rPr lang="es-ES" dirty="0"/>
              <a:t>El programa logra su propósito a </a:t>
            </a:r>
            <a:br>
              <a:rPr lang="es-ES" dirty="0"/>
            </a:br>
            <a:r>
              <a:rPr lang="es-ES" dirty="0"/>
              <a:t>pesar de las excepciones.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D48887-98E5-4BAA-BC9B-3EACE8853E8D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Detección de errores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EB412C-1412-08DC-B233-28DFC1EB9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9724" y="1979338"/>
            <a:ext cx="4622276" cy="48786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F46B1C-801D-5A61-0C78-9D21E112D287}"/>
              </a:ext>
            </a:extLst>
          </p:cNvPr>
          <p:cNvSpPr txBox="1"/>
          <p:nvPr/>
        </p:nvSpPr>
        <p:spPr>
          <a:xfrm>
            <a:off x="838200" y="6465047"/>
            <a:ext cx="75632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https://www.pngall.com/wp-content/uploads/4/Detective-Sherlock-Holmes-Transparent-Background.png</a:t>
            </a:r>
          </a:p>
        </p:txBody>
      </p:sp>
    </p:spTree>
    <p:extLst>
      <p:ext uri="{BB962C8B-B14F-4D97-AF65-F5344CB8AC3E}">
        <p14:creationId xmlns:p14="http://schemas.microsoft.com/office/powerpoint/2010/main" val="2540465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79A84-60DA-C2DE-30D7-397836E0C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Detección de error con excepciones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05701F-A8C5-AAC6-4352-AEF15A238F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18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5622F9-31A9-4016-6369-80DE7D601E0D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Detección de errores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9416ACC-3689-78DD-D76B-35161CC8B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1592" y="1472225"/>
            <a:ext cx="4797132" cy="3913547"/>
          </a:xfrm>
          <a:prstGeom prst="roundRect">
            <a:avLst>
              <a:gd name="adj" fmla="val 3140"/>
            </a:avLst>
          </a:prstGeom>
          <a:solidFill>
            <a:srgbClr val="1E1F2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Cliente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DNI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public void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setDNI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 DNI)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throws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Exception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esDNIValido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(DNI))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DNI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DNI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else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throw new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Exception(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"DNI no es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válido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boolean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esDNIValido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 DNI)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DNI.matches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\\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d{8}"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C29AA1E-07AA-73F2-667D-E8780AA6C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051" y="1472225"/>
            <a:ext cx="4543300" cy="3478152"/>
          </a:xfrm>
          <a:prstGeom prst="roundRect">
            <a:avLst>
              <a:gd name="adj" fmla="val 3652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Test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Cliente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cliente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Cliente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try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cliente.setDNI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"1673450x"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catch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(Exception ex)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ex.getMessage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"El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programa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terminó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lang="en-US" altLang="en-US" sz="2400" dirty="0">
              <a:solidFill>
                <a:schemeClr val="tx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CC7832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12DA90-BF65-0564-E6E9-B4FF8998D88F}"/>
              </a:ext>
            </a:extLst>
          </p:cNvPr>
          <p:cNvSpPr txBox="1"/>
          <p:nvPr/>
        </p:nvSpPr>
        <p:spPr>
          <a:xfrm>
            <a:off x="7142081" y="5529482"/>
            <a:ext cx="3165049" cy="63634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DNI no es válido</a:t>
            </a:r>
          </a:p>
          <a:p>
            <a:pPr>
              <a:lnSpc>
                <a:spcPct val="150000"/>
              </a:lnSpc>
            </a:pPr>
            <a:r>
              <a:rPr lang="es-E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 programa terminó</a:t>
            </a:r>
            <a:endParaRPr lang="en-US" sz="1100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2266CD-4C47-2935-0ABD-99FDF50BBA6C}"/>
              </a:ext>
            </a:extLst>
          </p:cNvPr>
          <p:cNvSpPr txBox="1"/>
          <p:nvPr/>
        </p:nvSpPr>
        <p:spPr>
          <a:xfrm>
            <a:off x="7140881" y="5221705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Salida: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6906D7-783D-8C32-557E-251AD3E1E419}"/>
              </a:ext>
            </a:extLst>
          </p:cNvPr>
          <p:cNvSpPr txBox="1"/>
          <p:nvPr/>
        </p:nvSpPr>
        <p:spPr>
          <a:xfrm>
            <a:off x="1481591" y="5642606"/>
            <a:ext cx="4797131" cy="86710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 wrap="square" lIns="216000" tIns="216000" rIns="216000" bIns="216000">
            <a:spAutoFit/>
          </a:bodyPr>
          <a:lstStyle/>
          <a:p>
            <a:r>
              <a:rPr lang="es-ES" dirty="0">
                <a:solidFill>
                  <a:schemeClr val="accent4">
                    <a:lumMod val="50000"/>
                  </a:schemeClr>
                </a:solidFill>
              </a:rPr>
              <a:t>Lanzar una excepción es la mejor forma de implementar la detección y manejo de errores en Java.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113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19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Propagación de excepciones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Detección de errores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4597C62F-9F57-8DB5-8509-0B645646714A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Debugging</a:t>
              </a: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.</a:t>
              </a:r>
              <a:endParaRPr lang="en-US" sz="18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589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3594F07-3457-DBA6-64D3-474477B9D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</a:t>
            </a:r>
            <a:r>
              <a:rPr lang="es-ES" dirty="0" err="1"/>
              <a:t>Debugging</a:t>
            </a:r>
            <a:r>
              <a:rPr lang="es-ES" dirty="0"/>
              <a:t>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B710EC-BC36-B283-B8DA-5A1F5E22E5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20</a:t>
            </a:fld>
            <a:endParaRPr lang="es-PE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9D364A62-401F-966A-106F-118C5972949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>
                <a:latin typeface="+mj-lt"/>
              </a:rPr>
              <a:t>Es el </a:t>
            </a:r>
            <a:r>
              <a:rPr lang="es-ES" b="1" dirty="0">
                <a:solidFill>
                  <a:schemeClr val="accent2"/>
                </a:solidFill>
                <a:latin typeface="+mj-lt"/>
              </a:rPr>
              <a:t>proceso</a:t>
            </a:r>
            <a:r>
              <a:rPr lang="es-ES" dirty="0">
                <a:latin typeface="+mj-lt"/>
              </a:rPr>
              <a:t> de </a:t>
            </a:r>
            <a:r>
              <a:rPr lang="es-ES" b="1" dirty="0">
                <a:solidFill>
                  <a:schemeClr val="accent2"/>
                </a:solidFill>
                <a:latin typeface="+mj-lt"/>
              </a:rPr>
              <a:t>detectar errores</a:t>
            </a:r>
            <a:r>
              <a:rPr lang="es-ES" dirty="0">
                <a:latin typeface="+mj-lt"/>
              </a:rPr>
              <a:t> de sintaxis o lógica en los programas.</a:t>
            </a:r>
          </a:p>
          <a:p>
            <a:r>
              <a:rPr lang="es-ES" dirty="0"/>
              <a:t>Los </a:t>
            </a:r>
            <a:r>
              <a:rPr lang="es-ES" b="1" dirty="0">
                <a:solidFill>
                  <a:schemeClr val="accent2"/>
                </a:solidFill>
              </a:rPr>
              <a:t>errores de sintaxis</a:t>
            </a:r>
            <a:r>
              <a:rPr lang="es-ES" b="1" dirty="0"/>
              <a:t> </a:t>
            </a:r>
            <a:r>
              <a:rPr lang="es-ES" dirty="0"/>
              <a:t>son </a:t>
            </a:r>
            <a:r>
              <a:rPr lang="es-ES" b="1" dirty="0"/>
              <a:t>sencillos</a:t>
            </a:r>
            <a:r>
              <a:rPr lang="es-ES" dirty="0"/>
              <a:t> </a:t>
            </a:r>
            <a:br>
              <a:rPr lang="es-ES" dirty="0"/>
            </a:br>
            <a:r>
              <a:rPr lang="es-ES" dirty="0"/>
              <a:t>de </a:t>
            </a:r>
            <a:r>
              <a:rPr lang="es-ES" b="1" dirty="0"/>
              <a:t>corregir</a:t>
            </a:r>
            <a:r>
              <a:rPr lang="es-ES" dirty="0"/>
              <a:t> pues son notificados por </a:t>
            </a:r>
            <a:br>
              <a:rPr lang="es-ES" dirty="0"/>
            </a:br>
            <a:r>
              <a:rPr lang="es-ES" dirty="0"/>
              <a:t>el compilador.</a:t>
            </a:r>
          </a:p>
          <a:p>
            <a:r>
              <a:rPr lang="es-ES" dirty="0">
                <a:latin typeface="+mj-lt"/>
              </a:rPr>
              <a:t>Los </a:t>
            </a:r>
            <a:r>
              <a:rPr lang="es-ES" b="1" dirty="0">
                <a:solidFill>
                  <a:schemeClr val="accent2"/>
                </a:solidFill>
                <a:latin typeface="+mj-lt"/>
              </a:rPr>
              <a:t>errores de lógica</a:t>
            </a:r>
            <a:r>
              <a:rPr lang="es-ES" b="1" dirty="0">
                <a:latin typeface="+mj-lt"/>
              </a:rPr>
              <a:t> </a:t>
            </a:r>
            <a:r>
              <a:rPr lang="es-ES" dirty="0">
                <a:latin typeface="+mj-lt"/>
              </a:rPr>
              <a:t>son más </a:t>
            </a:r>
            <a:br>
              <a:rPr lang="es-ES" dirty="0">
                <a:latin typeface="+mj-lt"/>
              </a:rPr>
            </a:br>
            <a:r>
              <a:rPr lang="es-ES" b="1" dirty="0">
                <a:latin typeface="+mj-lt"/>
              </a:rPr>
              <a:t>complicados</a:t>
            </a:r>
            <a:r>
              <a:rPr lang="es-ES" dirty="0">
                <a:latin typeface="+mj-lt"/>
              </a:rPr>
              <a:t> de </a:t>
            </a:r>
            <a:r>
              <a:rPr lang="es-ES" b="1" dirty="0">
                <a:latin typeface="+mj-lt"/>
              </a:rPr>
              <a:t>corregir</a:t>
            </a:r>
            <a:r>
              <a:rPr lang="es-ES" dirty="0">
                <a:latin typeface="+mj-lt"/>
              </a:rPr>
              <a:t>. Debe </a:t>
            </a:r>
            <a:br>
              <a:rPr lang="es-ES" dirty="0">
                <a:latin typeface="+mj-lt"/>
              </a:rPr>
            </a:br>
            <a:r>
              <a:rPr lang="es-ES" dirty="0">
                <a:latin typeface="+mj-lt"/>
              </a:rPr>
              <a:t>utilizarse un depu</a:t>
            </a:r>
            <a:r>
              <a:rPr lang="es-ES" dirty="0"/>
              <a:t>rador y realizar </a:t>
            </a:r>
            <a:br>
              <a:rPr lang="es-ES" dirty="0"/>
            </a:br>
            <a:r>
              <a:rPr lang="es-ES" dirty="0"/>
              <a:t>un seguimiento al programa.</a:t>
            </a:r>
            <a:endParaRPr lang="en-US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DC3B69-EB82-9C46-615A-FAA2B7756635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Debugging</a:t>
            </a:r>
            <a:endParaRPr lang="es-ES" sz="2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8F1A9A-7653-D9DD-A05F-50FCF4367AE5}"/>
              </a:ext>
            </a:extLst>
          </p:cNvPr>
          <p:cNvSpPr txBox="1"/>
          <p:nvPr/>
        </p:nvSpPr>
        <p:spPr>
          <a:xfrm>
            <a:off x="838199" y="6441348"/>
            <a:ext cx="840949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https://pspdfkit.com/assets/images/blog/2020/the-state-of-debugging-in-webassembly/article-header-0e1ba396.png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6AFD824-B34D-8983-CA25-FB04E574CABE}"/>
              </a:ext>
            </a:extLst>
          </p:cNvPr>
          <p:cNvSpPr/>
          <p:nvPr/>
        </p:nvSpPr>
        <p:spPr>
          <a:xfrm>
            <a:off x="8092126" y="2776201"/>
            <a:ext cx="3261674" cy="3261674"/>
          </a:xfrm>
          <a:prstGeom prst="ellipse">
            <a:avLst/>
          </a:prstGeom>
          <a:blipFill dpi="0" rotWithShape="1">
            <a:blip r:embed="rId2"/>
            <a:srcRect/>
            <a:tile tx="-2508250" ty="-107950" sx="80000" sy="80000" flip="none" algn="tl"/>
          </a:blipFill>
          <a:ln>
            <a:noFill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34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DAC7D-09EF-E869-B44D-638FB5655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Demo: Depuración en IntelliJ IDEA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CFEFDD-4311-C30B-BE11-7BA067FBD8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21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607DC6-16D7-2690-6DBC-FA1B873343A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65150" indent="-514350">
              <a:buFont typeface="+mj-lt"/>
              <a:buAutoNum type="arabicPeriod"/>
            </a:pPr>
            <a:r>
              <a:rPr lang="es-ES" dirty="0"/>
              <a:t>Examinar el código.</a:t>
            </a:r>
          </a:p>
          <a:p>
            <a:pPr marL="565150" indent="-514350">
              <a:buFont typeface="+mj-lt"/>
              <a:buAutoNum type="arabicPeriod"/>
            </a:pPr>
            <a:r>
              <a:rPr lang="es-ES" dirty="0"/>
              <a:t>Establecer puntos de ruptura (</a:t>
            </a:r>
            <a:r>
              <a:rPr lang="es-ES" b="1" dirty="0" err="1"/>
              <a:t>breakpoints</a:t>
            </a:r>
            <a:r>
              <a:rPr lang="es-ES" dirty="0"/>
              <a:t>).</a:t>
            </a:r>
          </a:p>
          <a:p>
            <a:pPr marL="565150" indent="-514350">
              <a:buFont typeface="+mj-lt"/>
              <a:buAutoNum type="arabicPeriod"/>
            </a:pPr>
            <a:r>
              <a:rPr lang="en-US" dirty="0" err="1"/>
              <a:t>Configurar</a:t>
            </a:r>
            <a:r>
              <a:rPr lang="en-US" dirty="0"/>
              <a:t> la </a:t>
            </a:r>
            <a:r>
              <a:rPr lang="en-US" dirty="0" err="1"/>
              <a:t>ejecución</a:t>
            </a:r>
            <a:r>
              <a:rPr lang="en-US" dirty="0"/>
              <a:t> (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fuera</a:t>
            </a:r>
            <a:r>
              <a:rPr lang="en-US" dirty="0"/>
              <a:t> </a:t>
            </a:r>
            <a:r>
              <a:rPr lang="en-US" dirty="0" err="1"/>
              <a:t>necesario</a:t>
            </a:r>
            <a:r>
              <a:rPr lang="en-US" dirty="0"/>
              <a:t>)</a:t>
            </a:r>
          </a:p>
          <a:p>
            <a:pPr marL="565150" indent="-514350">
              <a:buFont typeface="+mj-lt"/>
              <a:buAutoNum type="arabicPeriod"/>
            </a:pPr>
            <a:r>
              <a:rPr lang="en-US" dirty="0" err="1"/>
              <a:t>Ejecutar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programa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modo </a:t>
            </a:r>
            <a:r>
              <a:rPr lang="en-US" b="1" dirty="0"/>
              <a:t>Debug</a:t>
            </a:r>
            <a:r>
              <a:rPr lang="en-US" dirty="0"/>
              <a:t>.</a:t>
            </a:r>
          </a:p>
          <a:p>
            <a:pPr marL="565150" indent="-514350">
              <a:buFont typeface="+mj-lt"/>
              <a:buAutoNum type="arabicPeriod"/>
            </a:pPr>
            <a:r>
              <a:rPr lang="en-US" dirty="0" err="1"/>
              <a:t>Analizar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estado</a:t>
            </a:r>
            <a:r>
              <a:rPr lang="en-US" dirty="0"/>
              <a:t> del </a:t>
            </a:r>
            <a:r>
              <a:rPr lang="en-US" dirty="0" err="1"/>
              <a:t>programa</a:t>
            </a:r>
            <a:r>
              <a:rPr lang="en-US" dirty="0"/>
              <a:t>.</a:t>
            </a:r>
          </a:p>
          <a:p>
            <a:pPr marL="565150" indent="-514350">
              <a:buFont typeface="+mj-lt"/>
              <a:buAutoNum type="arabicPeriod"/>
            </a:pPr>
            <a:r>
              <a:rPr lang="en-US" dirty="0" err="1"/>
              <a:t>Recorrer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programa</a:t>
            </a:r>
            <a:r>
              <a:rPr lang="en-US" dirty="0"/>
              <a:t>.</a:t>
            </a:r>
          </a:p>
          <a:p>
            <a:pPr marL="565150" indent="-514350">
              <a:buFont typeface="+mj-lt"/>
              <a:buAutoNum type="arabicPeriod"/>
            </a:pPr>
            <a:r>
              <a:rPr lang="en-US" dirty="0" err="1"/>
              <a:t>Detener</a:t>
            </a:r>
            <a:r>
              <a:rPr lang="en-US" dirty="0"/>
              <a:t> la </a:t>
            </a:r>
            <a:r>
              <a:rPr lang="en-US" dirty="0" err="1"/>
              <a:t>ejecución</a:t>
            </a:r>
            <a:r>
              <a:rPr lang="en-US" dirty="0"/>
              <a:t>, </a:t>
            </a:r>
            <a:r>
              <a:rPr lang="en-US" dirty="0" err="1"/>
              <a:t>corregir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código</a:t>
            </a:r>
            <a:r>
              <a:rPr lang="en-US" dirty="0"/>
              <a:t> y </a:t>
            </a:r>
            <a:r>
              <a:rPr lang="en-US" dirty="0" err="1"/>
              <a:t>reiniciar</a:t>
            </a:r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C6D813-EF9B-75B5-DF36-E0B9B5281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9962" y="1436914"/>
            <a:ext cx="2920332" cy="14245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3F2994-F6D2-3DE7-49EC-F81F1616315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0498"/>
          <a:stretch/>
        </p:blipFill>
        <p:spPr>
          <a:xfrm>
            <a:off x="8939962" y="3256342"/>
            <a:ext cx="2960112" cy="14946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6E8E02-E50E-24E9-4C1B-0174DCFEFC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460" y="4452055"/>
            <a:ext cx="1974809" cy="4253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DB803CB-B285-7640-A5A7-0A806ABB77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3032" y="4877398"/>
            <a:ext cx="370504" cy="17758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8EEC120-7027-1B9C-12C2-2589394AE4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7305" y="3257657"/>
            <a:ext cx="536995" cy="56034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DEC3EAA-ACA5-3B57-0565-2E6DE89D429F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Debugging</a:t>
            </a:r>
            <a:endParaRPr lang="es-ES" sz="2400" b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3704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98C7C-DDC6-080B-52D4-94923ECFB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Demo: Depuración en NetBeans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34B7C9-7CF2-376F-66F8-65D30B6D5B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22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079D6C-047D-5647-63EF-7C2C5A66EA0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65150" indent="-514350">
              <a:buFont typeface="+mj-lt"/>
              <a:buAutoNum type="arabicPeriod"/>
            </a:pPr>
            <a:r>
              <a:rPr lang="es-ES" dirty="0"/>
              <a:t>Examinar el código.</a:t>
            </a:r>
          </a:p>
          <a:p>
            <a:pPr marL="565150" indent="-514350">
              <a:buFont typeface="+mj-lt"/>
              <a:buAutoNum type="arabicPeriod"/>
            </a:pPr>
            <a:r>
              <a:rPr lang="es-ES" dirty="0"/>
              <a:t>Establecer puntos de ruptura (</a:t>
            </a:r>
            <a:r>
              <a:rPr lang="es-ES" b="1" dirty="0" err="1"/>
              <a:t>breakpoints</a:t>
            </a:r>
            <a:r>
              <a:rPr lang="es-ES" dirty="0"/>
              <a:t>).</a:t>
            </a:r>
          </a:p>
          <a:p>
            <a:pPr marL="565150" indent="-514350">
              <a:buFont typeface="+mj-lt"/>
              <a:buAutoNum type="arabicPeriod"/>
            </a:pPr>
            <a:r>
              <a:rPr lang="en-US" dirty="0" err="1"/>
              <a:t>Configurar</a:t>
            </a:r>
            <a:r>
              <a:rPr lang="en-US" dirty="0"/>
              <a:t> la </a:t>
            </a:r>
            <a:r>
              <a:rPr lang="en-US" dirty="0" err="1"/>
              <a:t>ejecución</a:t>
            </a:r>
            <a:r>
              <a:rPr lang="en-US" dirty="0"/>
              <a:t> (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fuera</a:t>
            </a:r>
            <a:r>
              <a:rPr lang="en-US" dirty="0"/>
              <a:t> </a:t>
            </a:r>
            <a:r>
              <a:rPr lang="en-US" dirty="0" err="1"/>
              <a:t>necesario</a:t>
            </a:r>
            <a:r>
              <a:rPr lang="en-US" dirty="0"/>
              <a:t>)</a:t>
            </a:r>
          </a:p>
          <a:p>
            <a:pPr marL="565150" indent="-514350">
              <a:buFont typeface="+mj-lt"/>
              <a:buAutoNum type="arabicPeriod"/>
            </a:pPr>
            <a:r>
              <a:rPr lang="en-US" dirty="0" err="1"/>
              <a:t>Ejecutar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programa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modo </a:t>
            </a:r>
            <a:r>
              <a:rPr lang="en-US" b="1" dirty="0"/>
              <a:t>Debug</a:t>
            </a:r>
            <a:r>
              <a:rPr lang="en-US" dirty="0"/>
              <a:t>.</a:t>
            </a:r>
          </a:p>
          <a:p>
            <a:pPr marL="565150" indent="-514350">
              <a:buFont typeface="+mj-lt"/>
              <a:buAutoNum type="arabicPeriod"/>
            </a:pPr>
            <a:r>
              <a:rPr lang="en-US" dirty="0" err="1"/>
              <a:t>Analizar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estado</a:t>
            </a:r>
            <a:r>
              <a:rPr lang="en-US" dirty="0"/>
              <a:t> del </a:t>
            </a:r>
            <a:r>
              <a:rPr lang="en-US" dirty="0" err="1"/>
              <a:t>programa</a:t>
            </a:r>
            <a:r>
              <a:rPr lang="en-US" dirty="0"/>
              <a:t>.</a:t>
            </a:r>
          </a:p>
          <a:p>
            <a:pPr marL="565150" indent="-514350">
              <a:buFont typeface="+mj-lt"/>
              <a:buAutoNum type="arabicPeriod"/>
            </a:pPr>
            <a:r>
              <a:rPr lang="en-US" dirty="0" err="1"/>
              <a:t>Recorrer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programa</a:t>
            </a:r>
            <a:r>
              <a:rPr lang="en-US" dirty="0"/>
              <a:t>.</a:t>
            </a:r>
          </a:p>
          <a:p>
            <a:pPr marL="565150" indent="-514350">
              <a:buFont typeface="+mj-lt"/>
              <a:buAutoNum type="arabicPeriod"/>
            </a:pPr>
            <a:r>
              <a:rPr lang="en-US" dirty="0" err="1"/>
              <a:t>Detener</a:t>
            </a:r>
            <a:r>
              <a:rPr lang="en-US" dirty="0"/>
              <a:t> la </a:t>
            </a:r>
            <a:r>
              <a:rPr lang="en-US" dirty="0" err="1"/>
              <a:t>ejecución</a:t>
            </a:r>
            <a:r>
              <a:rPr lang="en-US" dirty="0"/>
              <a:t>, </a:t>
            </a:r>
            <a:r>
              <a:rPr lang="en-US" dirty="0" err="1"/>
              <a:t>corregir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código</a:t>
            </a:r>
            <a:r>
              <a:rPr lang="en-US" dirty="0"/>
              <a:t> y </a:t>
            </a:r>
            <a:r>
              <a:rPr lang="en-US" dirty="0" err="1"/>
              <a:t>reiniciar</a:t>
            </a:r>
            <a:r>
              <a:rPr lang="en-US" dirty="0"/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03065E-3326-224F-54F2-72C7B3F83C6C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Debugging</a:t>
            </a:r>
            <a:endParaRPr lang="es-ES" sz="2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967A56-3558-55DA-6F5D-FE12ECCC01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3342"/>
          <a:stretch/>
        </p:blipFill>
        <p:spPr>
          <a:xfrm>
            <a:off x="8996812" y="1649694"/>
            <a:ext cx="2743200" cy="13527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84A712-07F1-128D-0924-25D610AFF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7411" y="4445328"/>
            <a:ext cx="2450999" cy="42833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ABDF009-A1A8-A8DF-0A62-79B0E10440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2501" y="5575738"/>
            <a:ext cx="1247628" cy="44108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C75E4F14-229C-4B64-C8F1-8F16B0BC91BC}"/>
              </a:ext>
            </a:extLst>
          </p:cNvPr>
          <p:cNvGrpSpPr/>
          <p:nvPr/>
        </p:nvGrpSpPr>
        <p:grpSpPr>
          <a:xfrm>
            <a:off x="8134547" y="3319223"/>
            <a:ext cx="2329206" cy="398610"/>
            <a:chOff x="3581401" y="5957740"/>
            <a:chExt cx="2329206" cy="39861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89712B0-497A-7AB9-A3A9-8C8AB6FC0A1C}"/>
                </a:ext>
              </a:extLst>
            </p:cNvPr>
            <p:cNvSpPr txBox="1"/>
            <p:nvPr/>
          </p:nvSpPr>
          <p:spPr>
            <a:xfrm>
              <a:off x="4076188" y="5972379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800" b="1" dirty="0"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+</a:t>
              </a:r>
              <a:endParaRPr 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4F793B8A-B521-68D6-A36F-644F98B8F64D}"/>
                </a:ext>
              </a:extLst>
            </p:cNvPr>
            <p:cNvSpPr/>
            <p:nvPr/>
          </p:nvSpPr>
          <p:spPr>
            <a:xfrm>
              <a:off x="3581401" y="5957740"/>
              <a:ext cx="556966" cy="398610"/>
            </a:xfrm>
            <a:prstGeom prst="roundRect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50000"/>
                    <a:shade val="67500"/>
                    <a:satMod val="115000"/>
                  </a:schemeClr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 err="1"/>
                <a:t>Ctrl</a:t>
              </a:r>
              <a:endParaRPr lang="en-US" dirty="0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3128F8D8-82FF-7E5D-74F8-ACA04A5459A0}"/>
                </a:ext>
              </a:extLst>
            </p:cNvPr>
            <p:cNvSpPr/>
            <p:nvPr/>
          </p:nvSpPr>
          <p:spPr>
            <a:xfrm>
              <a:off x="4336533" y="5957740"/>
              <a:ext cx="687954" cy="398610"/>
            </a:xfrm>
            <a:prstGeom prst="roundRect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50000"/>
                    <a:shade val="67500"/>
                    <a:satMod val="115000"/>
                  </a:schemeClr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Shift</a:t>
              </a:r>
              <a:endParaRPr lang="en-US" dirty="0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17663BAC-A018-DE22-12A3-8D9C66F3F7F5}"/>
                </a:ext>
              </a:extLst>
            </p:cNvPr>
            <p:cNvSpPr/>
            <p:nvPr/>
          </p:nvSpPr>
          <p:spPr>
            <a:xfrm>
              <a:off x="5222653" y="5957740"/>
              <a:ext cx="687954" cy="398610"/>
            </a:xfrm>
            <a:prstGeom prst="roundRect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50000"/>
                    <a:shade val="67500"/>
                    <a:satMod val="115000"/>
                  </a:schemeClr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F5</a:t>
              </a:r>
              <a:endParaRPr 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1C5E507-D187-E7E4-F2F8-F6E531C376CE}"/>
                </a:ext>
              </a:extLst>
            </p:cNvPr>
            <p:cNvSpPr txBox="1"/>
            <p:nvPr/>
          </p:nvSpPr>
          <p:spPr>
            <a:xfrm>
              <a:off x="4962308" y="5972379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800" b="1" dirty="0"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+</a:t>
              </a:r>
              <a:endParaRPr lang="en-US" sz="18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2868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23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Propagación de excepciones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Detección de errores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Debugging</a:t>
              </a: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.</a:t>
              </a:r>
              <a:endParaRPr lang="en-US" sz="18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4597C62F-9F57-8DB5-8509-0B645646714A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185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0879A-9F19-004B-D3C8-3CE74B284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1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04778C-8CFB-EC49-DD1D-F0769E62F6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24</a:t>
            </a:fld>
            <a:endParaRPr lang="es-PE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32D2FD5-00E1-9B18-4B63-31A7E7243B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5256481" cy="4782911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dirty="0"/>
              <a:t>Utilice la clase </a:t>
            </a:r>
            <a:r>
              <a:rPr lang="es-ES" b="1" dirty="0" err="1"/>
              <a:t>LectorDatos</a:t>
            </a:r>
            <a:r>
              <a:rPr lang="es-ES" dirty="0"/>
              <a:t> de la sesión anterior y realice las modificaciones pertinentes para separar las validaciones de datos y se propaguen las excepciones en los correspondientes métodos implementados (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uso de 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</a:rPr>
              <a:t>throw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y 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</a:rPr>
              <a:t>throws</a:t>
            </a:r>
            <a:r>
              <a:rPr lang="es-ES" dirty="0"/>
              <a:t>).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76A48B-7B94-1EEC-C645-0C4DBFDC54AC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2"/>
                </a:solidFill>
              </a:rPr>
              <a:t>4. Práctica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787F5D-8358-6BE8-3817-EE3D07689A83}"/>
              </a:ext>
            </a:extLst>
          </p:cNvPr>
          <p:cNvSpPr txBox="1"/>
          <p:nvPr/>
        </p:nvSpPr>
        <p:spPr>
          <a:xfrm>
            <a:off x="715971" y="6509295"/>
            <a:ext cx="941501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https://upload.wikimedia.org/wikipedia/commons/thumb/6/61/HTML5_logo_and_wordmark.svg/2048px-HTML5_logo_and_wordmark.svg.png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B202CB2-46D4-68A1-29D0-EF8027F8BCA6}"/>
              </a:ext>
            </a:extLst>
          </p:cNvPr>
          <p:cNvGrpSpPr/>
          <p:nvPr/>
        </p:nvGrpSpPr>
        <p:grpSpPr>
          <a:xfrm>
            <a:off x="7044347" y="778286"/>
            <a:ext cx="3648173" cy="5433329"/>
            <a:chOff x="7899661" y="627501"/>
            <a:chExt cx="3648173" cy="5433329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C64EE8BD-D1E6-72C4-A28B-6179A464E2A2}"/>
                </a:ext>
              </a:extLst>
            </p:cNvPr>
            <p:cNvSpPr/>
            <p:nvPr/>
          </p:nvSpPr>
          <p:spPr>
            <a:xfrm>
              <a:off x="7899661" y="3547068"/>
              <a:ext cx="3648173" cy="2513762"/>
            </a:xfrm>
            <a:prstGeom prst="roundRect">
              <a:avLst>
                <a:gd name="adj" fmla="val 5591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63092AF-EA26-6AD8-E6A2-881861098640}"/>
                </a:ext>
              </a:extLst>
            </p:cNvPr>
            <p:cNvSpPr txBox="1"/>
            <p:nvPr/>
          </p:nvSpPr>
          <p:spPr>
            <a:xfrm>
              <a:off x="8003280" y="3209792"/>
              <a:ext cx="11496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 err="1">
                  <a:solidFill>
                    <a:schemeClr val="bg1">
                      <a:lumMod val="50000"/>
                    </a:schemeClr>
                  </a:solidFill>
                </a:rPr>
                <a:t>LectorDatos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14FA98F7-053C-6A1D-E0E8-B3AF34C5AB13}"/>
                </a:ext>
              </a:extLst>
            </p:cNvPr>
            <p:cNvSpPr/>
            <p:nvPr/>
          </p:nvSpPr>
          <p:spPr>
            <a:xfrm>
              <a:off x="7899661" y="964777"/>
              <a:ext cx="3648173" cy="1957532"/>
            </a:xfrm>
            <a:prstGeom prst="roundRect">
              <a:avLst>
                <a:gd name="adj" fmla="val 5591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CA086340-A5DE-D5E1-59D0-000095AEDD36}"/>
                </a:ext>
              </a:extLst>
            </p:cNvPr>
            <p:cNvSpPr/>
            <p:nvPr/>
          </p:nvSpPr>
          <p:spPr>
            <a:xfrm>
              <a:off x="8003281" y="1460757"/>
              <a:ext cx="2502031" cy="1310723"/>
            </a:xfrm>
            <a:prstGeom prst="roundRect">
              <a:avLst>
                <a:gd name="adj" fmla="val 5065"/>
              </a:avLst>
            </a:prstGeom>
            <a:solidFill>
              <a:srgbClr val="FF42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" dirty="0"/>
                <a:t>Lectura de datos.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" dirty="0"/>
                <a:t>Validaciones.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" dirty="0"/>
                <a:t>Manejo de excepciones.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" dirty="0"/>
                <a:t>Mensajes.</a:t>
              </a:r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9017405-80EC-5A04-5C9F-7408ECACBC58}"/>
                </a:ext>
              </a:extLst>
            </p:cNvPr>
            <p:cNvSpPr txBox="1"/>
            <p:nvPr/>
          </p:nvSpPr>
          <p:spPr>
            <a:xfrm>
              <a:off x="8003281" y="1137186"/>
              <a:ext cx="11288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 err="1">
                  <a:solidFill>
                    <a:schemeClr val="accent4">
                      <a:lumMod val="50000"/>
                    </a:schemeClr>
                  </a:solidFill>
                </a:rPr>
                <a:t>leerEntero</a:t>
              </a:r>
              <a:r>
                <a:rPr lang="es-ES" dirty="0">
                  <a:solidFill>
                    <a:schemeClr val="accent4">
                      <a:lumMod val="50000"/>
                    </a:schemeClr>
                  </a:solidFill>
                </a:rPr>
                <a:t>()</a:t>
              </a:r>
              <a:endParaRPr lang="en-US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9A1036B-5720-3A5C-B314-5DA9B712EB94}"/>
                </a:ext>
              </a:extLst>
            </p:cNvPr>
            <p:cNvSpPr/>
            <p:nvPr/>
          </p:nvSpPr>
          <p:spPr>
            <a:xfrm>
              <a:off x="8003281" y="3962974"/>
              <a:ext cx="2502031" cy="1090901"/>
            </a:xfrm>
            <a:prstGeom prst="roundRect">
              <a:avLst>
                <a:gd name="adj" fmla="val 5065"/>
              </a:avLst>
            </a:prstGeom>
            <a:solidFill>
              <a:srgbClr val="FF42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" dirty="0"/>
                <a:t>Lectura de datos.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" dirty="0"/>
                <a:t>Manejo de excepciones.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" dirty="0"/>
                <a:t>Mensajes.</a:t>
              </a:r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5E0DFBA-08AF-2937-4736-CF2AF749FFAD}"/>
                </a:ext>
              </a:extLst>
            </p:cNvPr>
            <p:cNvSpPr txBox="1"/>
            <p:nvPr/>
          </p:nvSpPr>
          <p:spPr>
            <a:xfrm>
              <a:off x="8003281" y="3639403"/>
              <a:ext cx="11288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 err="1">
                  <a:solidFill>
                    <a:schemeClr val="accent4">
                      <a:lumMod val="50000"/>
                    </a:schemeClr>
                  </a:solidFill>
                </a:rPr>
                <a:t>leerEntero</a:t>
              </a:r>
              <a:r>
                <a:rPr lang="es-ES" dirty="0">
                  <a:solidFill>
                    <a:schemeClr val="accent4">
                      <a:lumMod val="50000"/>
                    </a:schemeClr>
                  </a:solidFill>
                </a:rPr>
                <a:t>()</a:t>
              </a:r>
              <a:endParaRPr lang="en-US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6D054675-DFBE-3C89-2E8B-61ADDD0E7D98}"/>
                </a:ext>
              </a:extLst>
            </p:cNvPr>
            <p:cNvSpPr/>
            <p:nvPr/>
          </p:nvSpPr>
          <p:spPr>
            <a:xfrm>
              <a:off x="8003281" y="5528097"/>
              <a:ext cx="2502031" cy="365126"/>
            </a:xfrm>
            <a:prstGeom prst="roundRect">
              <a:avLst>
                <a:gd name="adj" fmla="val 5065"/>
              </a:avLst>
            </a:prstGeom>
            <a:solidFill>
              <a:srgbClr val="42AF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" dirty="0"/>
                <a:t>Validaciones.</a:t>
              </a:r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24E54A7-3FAC-2FA7-0CD8-3D6425E6CF02}"/>
                </a:ext>
              </a:extLst>
            </p:cNvPr>
            <p:cNvSpPr txBox="1"/>
            <p:nvPr/>
          </p:nvSpPr>
          <p:spPr>
            <a:xfrm>
              <a:off x="8003281" y="5218817"/>
              <a:ext cx="15183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 err="1">
                  <a:solidFill>
                    <a:schemeClr val="accent4">
                      <a:lumMod val="50000"/>
                    </a:schemeClr>
                  </a:solidFill>
                </a:rPr>
                <a:t>esEnteroValido</a:t>
              </a:r>
              <a:r>
                <a:rPr lang="es-ES" dirty="0">
                  <a:solidFill>
                    <a:schemeClr val="accent4">
                      <a:lumMod val="50000"/>
                    </a:schemeClr>
                  </a:solidFill>
                </a:rPr>
                <a:t>()</a:t>
              </a:r>
              <a:endParaRPr lang="en-US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68F0651-D224-CE27-5F59-5D6DCC7E885B}"/>
                </a:ext>
              </a:extLst>
            </p:cNvPr>
            <p:cNvSpPr/>
            <p:nvPr/>
          </p:nvSpPr>
          <p:spPr>
            <a:xfrm flipV="1">
              <a:off x="10566983" y="4422279"/>
              <a:ext cx="264912" cy="1263192"/>
            </a:xfrm>
            <a:custGeom>
              <a:avLst/>
              <a:gdLst>
                <a:gd name="connsiteX0" fmla="*/ 0 w 678730"/>
                <a:gd name="connsiteY0" fmla="*/ 0 h 707011"/>
                <a:gd name="connsiteX1" fmla="*/ 678730 w 678730"/>
                <a:gd name="connsiteY1" fmla="*/ 707011 h 707011"/>
                <a:gd name="connsiteX0" fmla="*/ 0 w 669304"/>
                <a:gd name="connsiteY0" fmla="*/ 0 h 678730"/>
                <a:gd name="connsiteX1" fmla="*/ 669304 w 669304"/>
                <a:gd name="connsiteY1" fmla="*/ 678730 h 678730"/>
                <a:gd name="connsiteX0" fmla="*/ 0 w 684311"/>
                <a:gd name="connsiteY0" fmla="*/ 0 h 678730"/>
                <a:gd name="connsiteX1" fmla="*/ 669304 w 684311"/>
                <a:gd name="connsiteY1" fmla="*/ 678730 h 678730"/>
                <a:gd name="connsiteX0" fmla="*/ 0 w 181611"/>
                <a:gd name="connsiteY0" fmla="*/ 0 h 876693"/>
                <a:gd name="connsiteX1" fmla="*/ 103696 w 181611"/>
                <a:gd name="connsiteY1" fmla="*/ 876693 h 876693"/>
                <a:gd name="connsiteX0" fmla="*/ 0 w 4234923"/>
                <a:gd name="connsiteY0" fmla="*/ 0 h 904973"/>
                <a:gd name="connsiteX1" fmla="*/ 4232636 w 4234923"/>
                <a:gd name="connsiteY1" fmla="*/ 904973 h 904973"/>
                <a:gd name="connsiteX0" fmla="*/ 0 w 4264858"/>
                <a:gd name="connsiteY0" fmla="*/ 0 h 904973"/>
                <a:gd name="connsiteX1" fmla="*/ 4232636 w 4264858"/>
                <a:gd name="connsiteY1" fmla="*/ 904973 h 904973"/>
                <a:gd name="connsiteX0" fmla="*/ 9426 w 264912"/>
                <a:gd name="connsiteY0" fmla="*/ 0 h 1263192"/>
                <a:gd name="connsiteX1" fmla="*/ 0 w 264912"/>
                <a:gd name="connsiteY1" fmla="*/ 1263192 h 126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4912" h="1263192">
                  <a:moveTo>
                    <a:pt x="9426" y="0"/>
                  </a:moveTo>
                  <a:cubicBezTo>
                    <a:pt x="235669" y="235670"/>
                    <a:pt x="452487" y="735292"/>
                    <a:pt x="0" y="1263192"/>
                  </a:cubicBezTo>
                </a:path>
              </a:pathLst>
            </a:custGeom>
            <a:noFill/>
            <a:ln>
              <a:solidFill>
                <a:schemeClr val="bg1">
                  <a:lumMod val="50000"/>
                </a:schemeClr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3EB936B-C20B-8772-A094-641CE1C6C763}"/>
                </a:ext>
              </a:extLst>
            </p:cNvPr>
            <p:cNvSpPr txBox="1"/>
            <p:nvPr/>
          </p:nvSpPr>
          <p:spPr>
            <a:xfrm>
              <a:off x="10841322" y="4911991"/>
              <a:ext cx="6222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i="1" dirty="0" err="1">
                  <a:solidFill>
                    <a:schemeClr val="accent4">
                      <a:lumMod val="50000"/>
                    </a:schemeClr>
                  </a:solidFill>
                </a:rPr>
                <a:t>throw</a:t>
              </a:r>
              <a:endParaRPr lang="en-US" i="1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3413031-3531-B4AD-9260-A8B7C96F81FE}"/>
                </a:ext>
              </a:extLst>
            </p:cNvPr>
            <p:cNvSpPr txBox="1"/>
            <p:nvPr/>
          </p:nvSpPr>
          <p:spPr>
            <a:xfrm>
              <a:off x="8003280" y="627501"/>
              <a:ext cx="11496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 err="1">
                  <a:solidFill>
                    <a:schemeClr val="bg1">
                      <a:lumMod val="50000"/>
                    </a:schemeClr>
                  </a:solidFill>
                </a:rPr>
                <a:t>LectorDatos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" name="Arrow: Down 19">
              <a:extLst>
                <a:ext uri="{FF2B5EF4-FFF2-40B4-BE49-F238E27FC236}">
                  <a16:creationId xmlns:a16="http://schemas.microsoft.com/office/drawing/2014/main" id="{5E2D3177-4C60-5CCA-9871-D8C6794C8BAE}"/>
                </a:ext>
              </a:extLst>
            </p:cNvPr>
            <p:cNvSpPr/>
            <p:nvPr/>
          </p:nvSpPr>
          <p:spPr>
            <a:xfrm>
              <a:off x="10505312" y="3035431"/>
              <a:ext cx="483039" cy="421792"/>
            </a:xfrm>
            <a:prstGeom prst="downArrow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17135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0B08066-17A7-0492-329A-F949046B3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0885" y="3369361"/>
            <a:ext cx="3141123" cy="23244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77A1E7-D1D3-122D-BB4A-C51A4A6F7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2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2872E9-9182-F4F1-4343-2B5451CDA0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25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9B204B-605D-9BDF-C107-8330C3F72E7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s-ES" dirty="0"/>
              <a:t>Cargue en el IDE Java los archivos </a:t>
            </a:r>
            <a:r>
              <a:rPr lang="es-ES" b="1" dirty="0"/>
              <a:t>ComprobantePago.java</a:t>
            </a:r>
            <a:r>
              <a:rPr lang="es-ES" dirty="0"/>
              <a:t> y </a:t>
            </a:r>
            <a:r>
              <a:rPr lang="es-ES" b="1" dirty="0"/>
              <a:t>PruebaComprobantePago.java</a:t>
            </a:r>
            <a:r>
              <a:rPr lang="es-ES" dirty="0"/>
              <a:t> y utilice el depurador para encontrar el error que origina que el monto total no sea calculado de forma correcta.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F5A591-025D-A9F2-135F-C673E3712ADF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2"/>
                </a:solidFill>
              </a:rPr>
              <a:t>4. Práctica</a:t>
            </a:r>
            <a:endParaRPr lang="en-US" sz="2400" dirty="0">
              <a:solidFill>
                <a:schemeClr val="accent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B57579-E7BB-A2BD-747A-0BC0398D4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382" y="3676343"/>
            <a:ext cx="1829586" cy="18295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D78BA9-9865-5C97-FCA1-DF7F60DBEC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9486" y="3513844"/>
            <a:ext cx="2179948" cy="2179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FE597C-5732-315C-0101-008E3D4E4E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6973" y="3678107"/>
            <a:ext cx="1851421" cy="18514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DA3113F-49D2-5718-A67E-5A34E616A2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2037" y="3678106"/>
            <a:ext cx="1851422" cy="1851422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D8DEA16-0F60-8421-39AF-33E61E90964F}"/>
              </a:ext>
            </a:extLst>
          </p:cNvPr>
          <p:cNvSpPr/>
          <p:nvPr/>
        </p:nvSpPr>
        <p:spPr>
          <a:xfrm>
            <a:off x="2187802" y="4156370"/>
            <a:ext cx="876693" cy="375206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8.65</a:t>
            </a:r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82C12DA-12C9-8609-BCAC-D1A9764C8383}"/>
              </a:ext>
            </a:extLst>
          </p:cNvPr>
          <p:cNvSpPr/>
          <p:nvPr/>
        </p:nvSpPr>
        <p:spPr>
          <a:xfrm>
            <a:off x="4493616" y="4156370"/>
            <a:ext cx="876693" cy="375206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25.5</a:t>
            </a:r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544BC21-06D2-5E2F-6420-EEE976E80CA9}"/>
              </a:ext>
            </a:extLst>
          </p:cNvPr>
          <p:cNvSpPr/>
          <p:nvPr/>
        </p:nvSpPr>
        <p:spPr>
          <a:xfrm>
            <a:off x="6476871" y="4156370"/>
            <a:ext cx="876693" cy="375206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29.4</a:t>
            </a:r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A905830-9F16-E36C-B223-E25FE8062A22}"/>
              </a:ext>
            </a:extLst>
          </p:cNvPr>
          <p:cNvSpPr/>
          <p:nvPr/>
        </p:nvSpPr>
        <p:spPr>
          <a:xfrm>
            <a:off x="8597963" y="4156370"/>
            <a:ext cx="876693" cy="375206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122.6</a:t>
            </a:r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F76F4CD-3F71-F7D8-EC0C-E24987359AD0}"/>
              </a:ext>
            </a:extLst>
          </p:cNvPr>
          <p:cNvSpPr/>
          <p:nvPr/>
        </p:nvSpPr>
        <p:spPr>
          <a:xfrm>
            <a:off x="10517987" y="4156370"/>
            <a:ext cx="876693" cy="375206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16.0</a:t>
            </a:r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79E7641-A1A2-FBBE-1EF2-A5519D694E6C}"/>
              </a:ext>
            </a:extLst>
          </p:cNvPr>
          <p:cNvSpPr/>
          <p:nvPr/>
        </p:nvSpPr>
        <p:spPr>
          <a:xfrm>
            <a:off x="1590740" y="5138522"/>
            <a:ext cx="420279" cy="375206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12</a:t>
            </a:r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0BD9421-BEE0-5269-6864-719DBA0338D9}"/>
              </a:ext>
            </a:extLst>
          </p:cNvPr>
          <p:cNvSpPr/>
          <p:nvPr/>
        </p:nvSpPr>
        <p:spPr>
          <a:xfrm>
            <a:off x="3896554" y="5138522"/>
            <a:ext cx="420279" cy="375206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8850FC0-1E25-E1F3-A1D0-BFD49FFC6FE9}"/>
              </a:ext>
            </a:extLst>
          </p:cNvPr>
          <p:cNvSpPr/>
          <p:nvPr/>
        </p:nvSpPr>
        <p:spPr>
          <a:xfrm>
            <a:off x="5879809" y="5138522"/>
            <a:ext cx="420279" cy="375206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  <a:endParaRPr lang="en-US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F7C8EC7-4F7B-6B22-D660-E5643D00BB66}"/>
              </a:ext>
            </a:extLst>
          </p:cNvPr>
          <p:cNvSpPr/>
          <p:nvPr/>
        </p:nvSpPr>
        <p:spPr>
          <a:xfrm>
            <a:off x="8000901" y="5138522"/>
            <a:ext cx="420279" cy="375206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  <a:endParaRPr 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103AD8D-BC9D-8C5F-8E2D-7A57EE8105FB}"/>
              </a:ext>
            </a:extLst>
          </p:cNvPr>
          <p:cNvSpPr/>
          <p:nvPr/>
        </p:nvSpPr>
        <p:spPr>
          <a:xfrm>
            <a:off x="9920925" y="5138522"/>
            <a:ext cx="420279" cy="375206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4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440C33-9418-FBCD-EBBC-D0FAED72AA4F}"/>
              </a:ext>
            </a:extLst>
          </p:cNvPr>
          <p:cNvSpPr txBox="1"/>
          <p:nvPr/>
        </p:nvSpPr>
        <p:spPr>
          <a:xfrm>
            <a:off x="3189368" y="5888943"/>
            <a:ext cx="23158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>
                <a:solidFill>
                  <a:srgbClr val="FF0000"/>
                </a:solidFill>
              </a:rPr>
              <a:t>Total   :    555.56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B0B6E9-4A39-D227-BDA3-814936A33677}"/>
              </a:ext>
            </a:extLst>
          </p:cNvPr>
          <p:cNvSpPr txBox="1"/>
          <p:nvPr/>
        </p:nvSpPr>
        <p:spPr>
          <a:xfrm>
            <a:off x="6194395" y="5885941"/>
            <a:ext cx="25291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00B050"/>
                </a:solidFill>
              </a:rPr>
              <a:t>Total   :    616.90</a:t>
            </a:r>
          </a:p>
        </p:txBody>
      </p:sp>
      <p:pic>
        <p:nvPicPr>
          <p:cNvPr id="27" name="Graphic 26" descr="Checkmark with solid fill">
            <a:extLst>
              <a:ext uri="{FF2B5EF4-FFF2-40B4-BE49-F238E27FC236}">
                <a16:creationId xmlns:a16="http://schemas.microsoft.com/office/drawing/2014/main" id="{C16F9D50-E9D0-3432-CC4C-BB433550D7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49625" y="5830370"/>
            <a:ext cx="544994" cy="544994"/>
          </a:xfrm>
          <a:prstGeom prst="rect">
            <a:avLst/>
          </a:prstGeom>
        </p:spPr>
      </p:pic>
      <p:pic>
        <p:nvPicPr>
          <p:cNvPr id="29" name="Graphic 28" descr="Close with solid fill">
            <a:extLst>
              <a:ext uri="{FF2B5EF4-FFF2-40B4-BE49-F238E27FC236}">
                <a16:creationId xmlns:a16="http://schemas.microsoft.com/office/drawing/2014/main" id="{DAF93E50-E50E-F074-489D-604DE1A2640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88703" y="5825795"/>
            <a:ext cx="544994" cy="544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452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AD71-8E5E-5C2C-29AC-8C902C166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707" y="429863"/>
            <a:ext cx="10543094" cy="785528"/>
          </a:xfrm>
        </p:spPr>
        <p:txBody>
          <a:bodyPr/>
          <a:lstStyle/>
          <a:p>
            <a:r>
              <a:rPr lang="es-ES" dirty="0"/>
              <a:t>Tarea grupal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B071F5-2A32-65F7-067E-10C53496AF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26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A7A3DC-024F-B251-3BF8-9E4CDFA1FE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0707" y="1436914"/>
            <a:ext cx="7381187" cy="4782911"/>
          </a:xfrm>
        </p:spPr>
        <p:txBody>
          <a:bodyPr>
            <a:normAutofit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dirty="0">
                <a:latin typeface="+mj-lt"/>
              </a:rPr>
              <a:t>Desarrollar 3 aplicaciones en Java que hagan uso de algunas de las clases implementadas en la tarea anterior.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dirty="0"/>
              <a:t>Los datos solicitados deben validarse.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dirty="0">
                <a:latin typeface="+mj-lt"/>
              </a:rPr>
              <a:t>Cada validador debe propagar las excepciones pertinentes, las cuales deben ser tratadas por la clase cliente (clase de prueba)</a:t>
            </a:r>
            <a:endParaRPr lang="en-US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E2A737-B6D7-F93F-3DB0-01891C897A21}"/>
              </a:ext>
            </a:extLst>
          </p:cNvPr>
          <p:cNvSpPr txBox="1"/>
          <p:nvPr/>
        </p:nvSpPr>
        <p:spPr>
          <a:xfrm>
            <a:off x="8610600" y="2028889"/>
            <a:ext cx="2770693" cy="310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 err="1">
                <a:solidFill>
                  <a:srgbClr val="5485A5"/>
                </a:solidFill>
                <a:latin typeface="+mj-lt"/>
              </a:rPr>
              <a:t>Indicaciones</a:t>
            </a:r>
            <a:br>
              <a:rPr lang="en-US" sz="1200" b="1" dirty="0">
                <a:solidFill>
                  <a:srgbClr val="5485A5"/>
                </a:solidFill>
                <a:latin typeface="+mj-lt"/>
              </a:rPr>
            </a:br>
            <a:endParaRPr lang="en-US" sz="1200" b="1" dirty="0">
              <a:solidFill>
                <a:srgbClr val="5485A5"/>
              </a:solidFill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5485A5"/>
                </a:solidFill>
                <a:latin typeface="+mj-lt"/>
              </a:rPr>
              <a:t>Grupos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: 3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integrantes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(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máximo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5485A5"/>
                </a:solidFill>
                <a:latin typeface="+mj-lt"/>
              </a:rPr>
              <a:t>Entregables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: a). Video de 3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minutos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(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máximo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)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explicando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las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soluciones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propuestas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; b).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Archivo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ZIP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conteniendo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el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Proyecto java con las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soluciones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5485A5"/>
                </a:solidFill>
                <a:latin typeface="+mj-lt"/>
              </a:rPr>
              <a:t>Todos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los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integrantes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deben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aparecer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en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el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video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explicando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los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ejercicios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AA53CF-B8F1-AC07-92CB-D7BAEF75967B}"/>
              </a:ext>
            </a:extLst>
          </p:cNvPr>
          <p:cNvSpPr/>
          <p:nvPr/>
        </p:nvSpPr>
        <p:spPr>
          <a:xfrm>
            <a:off x="8323872" y="829559"/>
            <a:ext cx="45719" cy="559857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62AC4A-37B6-8C2E-A679-FA146449B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9607" y="727152"/>
            <a:ext cx="1189112" cy="11891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6D7791A-315B-43C9-CDA2-EB8F8AF70E4B}"/>
              </a:ext>
            </a:extLst>
          </p:cNvPr>
          <p:cNvSpPr txBox="1"/>
          <p:nvPr/>
        </p:nvSpPr>
        <p:spPr>
          <a:xfrm>
            <a:off x="238026" y="6455777"/>
            <a:ext cx="60944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https://upload.wikimedia.org/wikipedia/commons/0/0a/AnantP%40java.png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DFBE75A-E6B2-8472-CA16-ECF23EC50B2D}"/>
              </a:ext>
            </a:extLst>
          </p:cNvPr>
          <p:cNvGrpSpPr/>
          <p:nvPr/>
        </p:nvGrpSpPr>
        <p:grpSpPr>
          <a:xfrm>
            <a:off x="8672114" y="5435206"/>
            <a:ext cx="2590250" cy="815188"/>
            <a:chOff x="8672114" y="5435206"/>
            <a:chExt cx="2590250" cy="81518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3FF30B7-717B-C6A2-D46B-0467356FF044}"/>
                </a:ext>
              </a:extLst>
            </p:cNvPr>
            <p:cNvSpPr txBox="1"/>
            <p:nvPr/>
          </p:nvSpPr>
          <p:spPr>
            <a:xfrm>
              <a:off x="8672114" y="5435206"/>
              <a:ext cx="2590250" cy="815188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54000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Recuerda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revisar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</a:t>
              </a:r>
              <a:r>
                <a:rPr lang="en-US" sz="1200" dirty="0" err="1">
                  <a:solidFill>
                    <a:srgbClr val="C00000"/>
                  </a:solidFill>
                  <a:latin typeface="+mj-lt"/>
                </a:rPr>
                <a:t>en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la </a:t>
              </a:r>
              <a:r>
                <a:rPr lang="en-US" sz="1200" dirty="0" err="1">
                  <a:solidFill>
                    <a:srgbClr val="C00000"/>
                  </a:solidFill>
                  <a:latin typeface="+mj-lt"/>
                </a:rPr>
                <a:t>plataforma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la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rúbrica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de la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tarea</a:t>
              </a:r>
              <a:r>
                <a:rPr lang="en-US" sz="1200" b="1" dirty="0">
                  <a:solidFill>
                    <a:srgbClr val="C00000"/>
                  </a:solidFill>
                  <a:latin typeface="+mj-lt"/>
                </a:rPr>
                <a:t>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grupal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.</a:t>
              </a:r>
            </a:p>
          </p:txBody>
        </p:sp>
        <p:pic>
          <p:nvPicPr>
            <p:cNvPr id="7" name="Graphic 6" descr="Clipboard Checked with solid fill">
              <a:extLst>
                <a:ext uri="{FF2B5EF4-FFF2-40B4-BE49-F238E27FC236}">
                  <a16:creationId xmlns:a16="http://schemas.microsoft.com/office/drawing/2014/main" id="{56A6BEB9-E94A-9672-69A0-BA27FDFAE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761702" y="5508797"/>
              <a:ext cx="418135" cy="4181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03262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1">
            <a:extLst>
              <a:ext uri="{FF2B5EF4-FFF2-40B4-BE49-F238E27FC236}">
                <a16:creationId xmlns:a16="http://schemas.microsoft.com/office/drawing/2014/main" id="{73CC1341-D226-6934-FD26-94AD29B043A7}"/>
              </a:ext>
            </a:extLst>
          </p:cNvPr>
          <p:cNvSpPr/>
          <p:nvPr/>
        </p:nvSpPr>
        <p:spPr>
          <a:xfrm>
            <a:off x="7982678" y="-9833"/>
            <a:ext cx="4193457" cy="6877665"/>
          </a:xfrm>
          <a:custGeom>
            <a:avLst/>
            <a:gdLst>
              <a:gd name="connsiteX0" fmla="*/ 0 w 4935794"/>
              <a:gd name="connsiteY0" fmla="*/ 0 h 6858000"/>
              <a:gd name="connsiteX1" fmla="*/ 4935794 w 4935794"/>
              <a:gd name="connsiteY1" fmla="*/ 0 h 6858000"/>
              <a:gd name="connsiteX2" fmla="*/ 4935794 w 4935794"/>
              <a:gd name="connsiteY2" fmla="*/ 6858000 h 6858000"/>
              <a:gd name="connsiteX3" fmla="*/ 0 w 4935794"/>
              <a:gd name="connsiteY3" fmla="*/ 6858000 h 6858000"/>
              <a:gd name="connsiteX4" fmla="*/ 0 w 4935794"/>
              <a:gd name="connsiteY4" fmla="*/ 0 h 6858000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0 w 4935794"/>
              <a:gd name="connsiteY4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1081549 w 4935794"/>
              <a:gd name="connsiteY4" fmla="*/ 2054942 h 6867833"/>
              <a:gd name="connsiteX5" fmla="*/ 0 w 4935794"/>
              <a:gd name="connsiteY5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658762 w 4935794"/>
              <a:gd name="connsiteY4" fmla="*/ 2605549 h 6867833"/>
              <a:gd name="connsiteX5" fmla="*/ 0 w 4935794"/>
              <a:gd name="connsiteY5" fmla="*/ 0 h 6867833"/>
              <a:gd name="connsiteX0" fmla="*/ 1828799 w 4277032"/>
              <a:gd name="connsiteY0" fmla="*/ 19665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828799 w 4277032"/>
              <a:gd name="connsiteY5" fmla="*/ 19665 h 6867833"/>
              <a:gd name="connsiteX0" fmla="*/ 1769805 w 4277032"/>
              <a:gd name="connsiteY0" fmla="*/ 9833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769805 w 4277032"/>
              <a:gd name="connsiteY5" fmla="*/ 9833 h 6867833"/>
              <a:gd name="connsiteX0" fmla="*/ 1769805 w 4277032"/>
              <a:gd name="connsiteY0" fmla="*/ 0 h 6897330"/>
              <a:gd name="connsiteX1" fmla="*/ 4277032 w 4277032"/>
              <a:gd name="connsiteY1" fmla="*/ 29497 h 6897330"/>
              <a:gd name="connsiteX2" fmla="*/ 4277032 w 4277032"/>
              <a:gd name="connsiteY2" fmla="*/ 6887497 h 6897330"/>
              <a:gd name="connsiteX3" fmla="*/ 2979174 w 4277032"/>
              <a:gd name="connsiteY3" fmla="*/ 6897330 h 6897330"/>
              <a:gd name="connsiteX4" fmla="*/ 0 w 4277032"/>
              <a:gd name="connsiteY4" fmla="*/ 2635046 h 6897330"/>
              <a:gd name="connsiteX5" fmla="*/ 1769805 w 4277032"/>
              <a:gd name="connsiteY5" fmla="*/ 0 h 6897330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2979174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3352800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557384 w 3966288"/>
              <a:gd name="connsiteY0" fmla="*/ 0 h 6877665"/>
              <a:gd name="connsiteX1" fmla="*/ 3966288 w 3966288"/>
              <a:gd name="connsiteY1" fmla="*/ 9832 h 6877665"/>
              <a:gd name="connsiteX2" fmla="*/ 3966288 w 3966288"/>
              <a:gd name="connsiteY2" fmla="*/ 6867832 h 6877665"/>
              <a:gd name="connsiteX3" fmla="*/ 3042056 w 3966288"/>
              <a:gd name="connsiteY3" fmla="*/ 6877665 h 6877665"/>
              <a:gd name="connsiteX4" fmla="*/ 0 w 3966288"/>
              <a:gd name="connsiteY4" fmla="*/ 2664542 h 6877665"/>
              <a:gd name="connsiteX5" fmla="*/ 1557384 w 3966288"/>
              <a:gd name="connsiteY5" fmla="*/ 0 h 6877665"/>
              <a:gd name="connsiteX0" fmla="*/ 1272536 w 3681440"/>
              <a:gd name="connsiteY0" fmla="*/ 0 h 6877665"/>
              <a:gd name="connsiteX1" fmla="*/ 3681440 w 3681440"/>
              <a:gd name="connsiteY1" fmla="*/ 9832 h 6877665"/>
              <a:gd name="connsiteX2" fmla="*/ 3681440 w 3681440"/>
              <a:gd name="connsiteY2" fmla="*/ 6867832 h 6877665"/>
              <a:gd name="connsiteX3" fmla="*/ 2757208 w 3681440"/>
              <a:gd name="connsiteY3" fmla="*/ 6877665 h 6877665"/>
              <a:gd name="connsiteX4" fmla="*/ 0 w 3681440"/>
              <a:gd name="connsiteY4" fmla="*/ 2979174 h 6877665"/>
              <a:gd name="connsiteX5" fmla="*/ 1272536 w 3681440"/>
              <a:gd name="connsiteY5" fmla="*/ 0 h 687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81440" h="6877665">
                <a:moveTo>
                  <a:pt x="1272536" y="0"/>
                </a:moveTo>
                <a:lnTo>
                  <a:pt x="3681440" y="9832"/>
                </a:lnTo>
                <a:lnTo>
                  <a:pt x="3681440" y="6867832"/>
                </a:lnTo>
                <a:lnTo>
                  <a:pt x="2757208" y="6877665"/>
                </a:lnTo>
                <a:lnTo>
                  <a:pt x="0" y="2979174"/>
                </a:lnTo>
                <a:lnTo>
                  <a:pt x="1272536" y="0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  <a:effectLst>
            <a:outerShdw blurRad="152400" dist="762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550029-C1D9-4608-C29D-C2E80A101086}"/>
              </a:ext>
            </a:extLst>
          </p:cNvPr>
          <p:cNvSpPr/>
          <p:nvPr/>
        </p:nvSpPr>
        <p:spPr>
          <a:xfrm>
            <a:off x="7914968" y="-9832"/>
            <a:ext cx="4277032" cy="6877665"/>
          </a:xfrm>
          <a:custGeom>
            <a:avLst/>
            <a:gdLst>
              <a:gd name="connsiteX0" fmla="*/ 0 w 4935794"/>
              <a:gd name="connsiteY0" fmla="*/ 0 h 6858000"/>
              <a:gd name="connsiteX1" fmla="*/ 4935794 w 4935794"/>
              <a:gd name="connsiteY1" fmla="*/ 0 h 6858000"/>
              <a:gd name="connsiteX2" fmla="*/ 4935794 w 4935794"/>
              <a:gd name="connsiteY2" fmla="*/ 6858000 h 6858000"/>
              <a:gd name="connsiteX3" fmla="*/ 0 w 4935794"/>
              <a:gd name="connsiteY3" fmla="*/ 6858000 h 6858000"/>
              <a:gd name="connsiteX4" fmla="*/ 0 w 4935794"/>
              <a:gd name="connsiteY4" fmla="*/ 0 h 6858000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0 w 4935794"/>
              <a:gd name="connsiteY4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1081549 w 4935794"/>
              <a:gd name="connsiteY4" fmla="*/ 2054942 h 6867833"/>
              <a:gd name="connsiteX5" fmla="*/ 0 w 4935794"/>
              <a:gd name="connsiteY5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658762 w 4935794"/>
              <a:gd name="connsiteY4" fmla="*/ 2605549 h 6867833"/>
              <a:gd name="connsiteX5" fmla="*/ 0 w 4935794"/>
              <a:gd name="connsiteY5" fmla="*/ 0 h 6867833"/>
              <a:gd name="connsiteX0" fmla="*/ 1828799 w 4277032"/>
              <a:gd name="connsiteY0" fmla="*/ 19665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828799 w 4277032"/>
              <a:gd name="connsiteY5" fmla="*/ 19665 h 6867833"/>
              <a:gd name="connsiteX0" fmla="*/ 1769805 w 4277032"/>
              <a:gd name="connsiteY0" fmla="*/ 9833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769805 w 4277032"/>
              <a:gd name="connsiteY5" fmla="*/ 9833 h 6867833"/>
              <a:gd name="connsiteX0" fmla="*/ 1769805 w 4277032"/>
              <a:gd name="connsiteY0" fmla="*/ 0 h 6897330"/>
              <a:gd name="connsiteX1" fmla="*/ 4277032 w 4277032"/>
              <a:gd name="connsiteY1" fmla="*/ 29497 h 6897330"/>
              <a:gd name="connsiteX2" fmla="*/ 4277032 w 4277032"/>
              <a:gd name="connsiteY2" fmla="*/ 6887497 h 6897330"/>
              <a:gd name="connsiteX3" fmla="*/ 2979174 w 4277032"/>
              <a:gd name="connsiteY3" fmla="*/ 6897330 h 6897330"/>
              <a:gd name="connsiteX4" fmla="*/ 0 w 4277032"/>
              <a:gd name="connsiteY4" fmla="*/ 2635046 h 6897330"/>
              <a:gd name="connsiteX5" fmla="*/ 1769805 w 4277032"/>
              <a:gd name="connsiteY5" fmla="*/ 0 h 6897330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2979174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3352800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77032" h="6877665">
                <a:moveTo>
                  <a:pt x="1868128" y="0"/>
                </a:moveTo>
                <a:lnTo>
                  <a:pt x="4277032" y="9832"/>
                </a:lnTo>
                <a:lnTo>
                  <a:pt x="4277032" y="6867832"/>
                </a:lnTo>
                <a:lnTo>
                  <a:pt x="3352800" y="6877665"/>
                </a:lnTo>
                <a:lnTo>
                  <a:pt x="0" y="2615381"/>
                </a:lnTo>
                <a:lnTo>
                  <a:pt x="1868128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EE9576-177F-AC2B-3010-6C3B058129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3065"/>
          <a:stretch/>
        </p:blipFill>
        <p:spPr>
          <a:xfrm>
            <a:off x="8721213" y="343004"/>
            <a:ext cx="3470787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B03D496-97CF-4B26-B9D0-D39676049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725" y="429863"/>
            <a:ext cx="10727076" cy="785528"/>
          </a:xfrm>
        </p:spPr>
        <p:txBody>
          <a:bodyPr/>
          <a:lstStyle/>
          <a:p>
            <a:r>
              <a:rPr lang="es-ES" dirty="0"/>
              <a:t>Resumen de la sesión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714D7F-9F45-47C5-88DE-53E493F191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>
                <a:solidFill>
                  <a:schemeClr val="bg1">
                    <a:lumMod val="85000"/>
                  </a:schemeClr>
                </a:solidFill>
              </a:rPr>
              <a:t>27</a:t>
            </a:fld>
            <a:endParaRPr lang="es-PE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C4AF93-4E4C-5B4B-6F8D-742F13670E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6725" y="1436915"/>
            <a:ext cx="7288244" cy="4337622"/>
          </a:xfrm>
        </p:spPr>
        <p:txBody>
          <a:bodyPr/>
          <a:lstStyle/>
          <a:p>
            <a:r>
              <a:rPr lang="es-ES" dirty="0"/>
              <a:t>¿Qué significa “propagar” una excepción?</a:t>
            </a:r>
          </a:p>
          <a:p>
            <a:r>
              <a:rPr lang="es-ES" dirty="0"/>
              <a:t>¿Cómo propagamos una excepción en Java?</a:t>
            </a:r>
          </a:p>
          <a:p>
            <a:r>
              <a:rPr lang="es-ES" dirty="0"/>
              <a:t>¿Qué significa “depurar” un programa?</a:t>
            </a:r>
          </a:p>
          <a:p>
            <a:r>
              <a:rPr lang="es-ES" dirty="0"/>
              <a:t>¿Cómo realizamos la depuración utilizando el IDE Java?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C220F-3C2B-B243-4B55-66FDD2674876}"/>
              </a:ext>
            </a:extLst>
          </p:cNvPr>
          <p:cNvSpPr txBox="1"/>
          <p:nvPr/>
        </p:nvSpPr>
        <p:spPr>
          <a:xfrm>
            <a:off x="101603" y="6107707"/>
            <a:ext cx="108867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https://www.pngmart.com/files/16/Portable-Laptop-Top-View-PNG-Transparent-Image.png  /  https://static.vecteezy.com/system/resources/previews/010/851/398/original/realistic-black-glasses-top-view-png.png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https://creazilla-store.fra1.digitaloceanspaces.com/cliparts/61158/paperclips-clipart-xl.png   /   https://images.frandroid.com/wp-content/uploads/2019/04/google-nexus-6.png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https://www.freeiconspng.com/thumbs/pencil-png/pencil-4.png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949E4C-2370-2348-5C0A-672EAE02A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631082">
            <a:off x="10177213" y="390474"/>
            <a:ext cx="1134497" cy="5991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1E9B67-10EC-1AA4-A5E8-47C1707172A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429" t="3247" r="24723" b="2817"/>
          <a:stretch/>
        </p:blipFill>
        <p:spPr>
          <a:xfrm rot="3835086">
            <a:off x="10569068" y="3721301"/>
            <a:ext cx="1005900" cy="19343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79C2A6-1CC9-2ADF-272F-ADD1B64D978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4409" b="34623"/>
          <a:stretch/>
        </p:blipFill>
        <p:spPr>
          <a:xfrm rot="8263172">
            <a:off x="8191037" y="1515870"/>
            <a:ext cx="2656202" cy="8225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AAEC929-D47B-2FDD-AFA2-52AE3390DF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403698" flipH="1">
            <a:off x="9141723" y="1586561"/>
            <a:ext cx="2531472" cy="20172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0570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725B1C-2916-4D63-980D-34A5C1D90E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19554" r="10344"/>
          <a:stretch/>
        </p:blipFill>
        <p:spPr>
          <a:xfrm>
            <a:off x="8992709" y="0"/>
            <a:ext cx="3205114" cy="685800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2AAE1-A89A-796E-F861-8B102D4BD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57" y="429863"/>
            <a:ext cx="10665643" cy="785528"/>
          </a:xfrm>
        </p:spPr>
        <p:txBody>
          <a:bodyPr/>
          <a:lstStyle/>
          <a:p>
            <a:r>
              <a:rPr lang="es-ES" dirty="0"/>
              <a:t>Bibliografía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7596FB-30E1-8EAC-F179-F56EE7A8D8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28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3BD92-8F52-2949-7992-63F50DB2A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2169" y="1436914"/>
            <a:ext cx="7988431" cy="4782911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s-ES" dirty="0"/>
              <a:t>Tanenbaum &amp; Van </a:t>
            </a:r>
            <a:r>
              <a:rPr lang="es-ES" dirty="0" err="1"/>
              <a:t>Steen</a:t>
            </a:r>
            <a:r>
              <a:rPr lang="es-ES" dirty="0"/>
              <a:t>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Algoritmos y Estructuras de Datos - Principios y Paradigmas, 2da Edición</a:t>
            </a:r>
            <a:r>
              <a:rPr lang="es-ES" dirty="0"/>
              <a:t>. Pearson </a:t>
            </a:r>
            <a:r>
              <a:rPr lang="es-ES" dirty="0" err="1"/>
              <a:t>Education</a:t>
            </a:r>
            <a:r>
              <a:rPr lang="es-ES" dirty="0"/>
              <a:t>​.</a:t>
            </a:r>
          </a:p>
          <a:p>
            <a:pPr>
              <a:lnSpc>
                <a:spcPct val="120000"/>
              </a:lnSpc>
            </a:pPr>
            <a:r>
              <a:rPr lang="en-US" dirty="0"/>
              <a:t>Khalid A. Mughal &amp; Rolf W. Rasmussen (2017).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A Programmer’s guide to Java SE 8 Oracle Certified Associate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 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Beginner’s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Guide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Eighth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Complete Reference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Eleventh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/>
              <a:t>Joyanes, Luis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Fundamentos de Programación</a:t>
            </a:r>
            <a:r>
              <a:rPr lang="es-ES" dirty="0"/>
              <a:t>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Cuarta edición</a:t>
            </a:r>
            <a:r>
              <a:rPr lang="es-ES" dirty="0"/>
              <a:t>. McGraw-Hill.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B7CE11-3AE4-2A5E-0825-C0E9DFAB006E}"/>
              </a:ext>
            </a:extLst>
          </p:cNvPr>
          <p:cNvSpPr txBox="1"/>
          <p:nvPr/>
        </p:nvSpPr>
        <p:spPr>
          <a:xfrm>
            <a:off x="101604" y="6421002"/>
            <a:ext cx="10852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https://images.unsplash.com/photo-1567168544646-208fa5d408fb?ixlib=rb-4.0.3&amp;ixid=MnwxMjA3fDB8MHxzZWFyY2h8Mnx8c3R1ZGVudCUyMGxpYnJhcnl8ZW58MHx8MHx8&amp;w=1000&amp;q=80</a:t>
            </a:r>
          </a:p>
        </p:txBody>
      </p:sp>
    </p:spTree>
    <p:extLst>
      <p:ext uri="{BB962C8B-B14F-4D97-AF65-F5344CB8AC3E}">
        <p14:creationId xmlns:p14="http://schemas.microsoft.com/office/powerpoint/2010/main" val="359810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UT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7521</TotalTime>
  <Words>2156</Words>
  <Application>Microsoft Office PowerPoint</Application>
  <PresentationFormat>Panorámica</PresentationFormat>
  <Paragraphs>279</Paragraphs>
  <Slides>29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4" baseType="lpstr">
      <vt:lpstr>Arial</vt:lpstr>
      <vt:lpstr>Arial Black</vt:lpstr>
      <vt:lpstr>Helvetica</vt:lpstr>
      <vt:lpstr>JetBrains Mono</vt:lpstr>
      <vt:lpstr>TemaUTP</vt:lpstr>
      <vt:lpstr>Taller de Programación</vt:lpstr>
      <vt:lpstr>Dudas de la clase anterior</vt:lpstr>
      <vt:lpstr>Dudas de la clase anterior</vt:lpstr>
      <vt:lpstr>Dudas de la clase anterior</vt:lpstr>
      <vt:lpstr>Dudas de la clase anterior</vt:lpstr>
      <vt:lpstr>Dudas de la clase anterior</vt:lpstr>
      <vt:lpstr>Manejo de Excepciones (II)</vt:lpstr>
      <vt:lpstr>Conocimientos previos</vt:lpstr>
      <vt:lpstr>Logro de aprendizaje</vt:lpstr>
      <vt:lpstr>Utilidad</vt:lpstr>
      <vt:lpstr>Presentación de PowerPoint</vt:lpstr>
      <vt:lpstr>Presentación de PowerPoint</vt:lpstr>
      <vt:lpstr>¿Qué es propagación de excepciones?</vt:lpstr>
      <vt:lpstr>Instrucciones throw y throws</vt:lpstr>
      <vt:lpstr>throw y throws. Ejemplo.</vt:lpstr>
      <vt:lpstr>Presentación de PowerPoint</vt:lpstr>
      <vt:lpstr>Detección de errores</vt:lpstr>
      <vt:lpstr>Detección de error con excepciones</vt:lpstr>
      <vt:lpstr>Presentación de PowerPoint</vt:lpstr>
      <vt:lpstr>¿Debugging?</vt:lpstr>
      <vt:lpstr>Demo: Depuración en IntelliJ IDEA</vt:lpstr>
      <vt:lpstr>Demo: Depuración en NetBeans</vt:lpstr>
      <vt:lpstr>Presentación de PowerPoint</vt:lpstr>
      <vt:lpstr>Ejercicio 1</vt:lpstr>
      <vt:lpstr>Ejercicio 2</vt:lpstr>
      <vt:lpstr>Tarea grupal</vt:lpstr>
      <vt:lpstr>Resumen de la sesión</vt:lpstr>
      <vt:lpstr>Bibliografía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UTP - Taller Programación - Semana 14-Sesión 28</dc:title>
  <dc:creator>jorgerodcas@hotmail.com</dc:creator>
  <cp:lastModifiedBy>Juan Carlos García</cp:lastModifiedBy>
  <cp:revision>347</cp:revision>
  <dcterms:modified xsi:type="dcterms:W3CDTF">2023-10-23T16:06:28Z</dcterms:modified>
</cp:coreProperties>
</file>