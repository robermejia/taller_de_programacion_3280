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472" r:id="rId3"/>
    <p:sldId id="473" r:id="rId4"/>
    <p:sldId id="474" r:id="rId5"/>
    <p:sldId id="475" r:id="rId6"/>
    <p:sldId id="476" r:id="rId7"/>
    <p:sldId id="258" r:id="rId8"/>
    <p:sldId id="257" r:id="rId9"/>
    <p:sldId id="263" r:id="rId10"/>
    <p:sldId id="264" r:id="rId11"/>
    <p:sldId id="380" r:id="rId12"/>
    <p:sldId id="460" r:id="rId13"/>
    <p:sldId id="455" r:id="rId14"/>
    <p:sldId id="465" r:id="rId15"/>
    <p:sldId id="456" r:id="rId16"/>
    <p:sldId id="461" r:id="rId17"/>
    <p:sldId id="464" r:id="rId18"/>
    <p:sldId id="466" r:id="rId19"/>
    <p:sldId id="467" r:id="rId20"/>
    <p:sldId id="468" r:id="rId21"/>
    <p:sldId id="469" r:id="rId22"/>
    <p:sldId id="462" r:id="rId23"/>
    <p:sldId id="477" r:id="rId24"/>
    <p:sldId id="478" r:id="rId25"/>
    <p:sldId id="395" r:id="rId26"/>
    <p:sldId id="406" r:id="rId27"/>
    <p:sldId id="470" r:id="rId28"/>
    <p:sldId id="457" r:id="rId29"/>
    <p:sldId id="458" r:id="rId30"/>
    <p:sldId id="459" r:id="rId31"/>
    <p:sldId id="410" r:id="rId32"/>
    <p:sldId id="482" r:id="rId33"/>
    <p:sldId id="463" r:id="rId34"/>
    <p:sldId id="415" r:id="rId35"/>
    <p:sldId id="479" r:id="rId36"/>
    <p:sldId id="480" r:id="rId37"/>
    <p:sldId id="481" r:id="rId38"/>
    <p:sldId id="261" r:id="rId39"/>
    <p:sldId id="329" r:id="rId40"/>
    <p:sldId id="259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CB1B4A"/>
    <a:srgbClr val="FCB6B8"/>
    <a:srgbClr val="697F9F"/>
    <a:srgbClr val="007A7D"/>
    <a:srgbClr val="42AFB6"/>
    <a:srgbClr val="F7F7F7"/>
    <a:srgbClr val="042F3E"/>
    <a:srgbClr val="074D67"/>
    <a:srgbClr val="404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5" autoAdjust="0"/>
    <p:restoredTop sz="86599" autoAdjust="0"/>
  </p:normalViewPr>
  <p:slideViewPr>
    <p:cSldViewPr snapToGrid="0">
      <p:cViewPr varScale="1">
        <p:scale>
          <a:sx n="124" d="100"/>
          <a:sy n="124" d="100"/>
        </p:scale>
        <p:origin x="42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Izquierda: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- Modificador de acceso o visibilidad privado.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protegido.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Modificador de acceso o visibilidad público.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  <a:tabLst/>
              <a:defRPr/>
            </a:pPr>
            <a:r>
              <a:rPr lang="es-ES" dirty="0"/>
              <a:t>Derecha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Nombre de la clase.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Atributos.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r>
              <a:rPr lang="es-ES" dirty="0"/>
              <a:t>Métodos.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Char char="-"/>
              <a:tabLst/>
              <a:defRPr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9401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35452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25916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800904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</a:p>
        </p:txBody>
      </p:sp>
    </p:spTree>
    <p:extLst>
      <p:ext uri="{BB962C8B-B14F-4D97-AF65-F5344CB8AC3E}">
        <p14:creationId xmlns:p14="http://schemas.microsoft.com/office/powerpoint/2010/main" val="1100180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25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4926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Nota: si hay falta de tiempo, puede partirse del ejercicio desarrollado en la Sesión 09 (Semana 05) y convertirlo a OO.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49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Helvetica" pitchFamily="2" charset="0"/>
              </a:defRPr>
            </a:lvl1pPr>
            <a:lvl2pPr>
              <a:lnSpc>
                <a:spcPct val="100000"/>
              </a:lnSpc>
              <a:defRPr>
                <a:latin typeface="Helvetica" pitchFamily="2" charset="0"/>
              </a:defRPr>
            </a:lvl2pPr>
            <a:lvl3pPr>
              <a:lnSpc>
                <a:spcPct val="100000"/>
              </a:lnSpc>
              <a:defRPr>
                <a:latin typeface="Helvetica" pitchFamily="2" charset="0"/>
              </a:defRPr>
            </a:lvl3pPr>
            <a:lvl4pPr>
              <a:lnSpc>
                <a:spcPct val="100000"/>
              </a:lnSpc>
              <a:defRPr>
                <a:latin typeface="Helvetica" pitchFamily="2" charset="0"/>
              </a:defRPr>
            </a:lvl4pPr>
            <a:lvl5pPr>
              <a:lnSpc>
                <a:spcPct val="100000"/>
              </a:lnSpc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FA7-44E3-D627-8B08-077BCB18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31" y="429863"/>
            <a:ext cx="10556069" cy="785528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</a:rPr>
              <a:t>Dudas de la clase anterior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CBDE-F2C9-5060-22B1-1CF0F3332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CA4E-E5A2-D478-34E6-E1754C988094}"/>
              </a:ext>
            </a:extLst>
          </p:cNvPr>
          <p:cNvSpPr/>
          <p:nvPr/>
        </p:nvSpPr>
        <p:spPr>
          <a:xfrm rot="21264760">
            <a:off x="905537" y="2446664"/>
            <a:ext cx="3778700" cy="20267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7C66-9C8B-3350-18E9-3E5F9EE46A7B}"/>
              </a:ext>
            </a:extLst>
          </p:cNvPr>
          <p:cNvSpPr/>
          <p:nvPr/>
        </p:nvSpPr>
        <p:spPr>
          <a:xfrm rot="21264760">
            <a:off x="4881452" y="205659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D390F-E418-15D2-62D6-F433029079C4}"/>
              </a:ext>
            </a:extLst>
          </p:cNvPr>
          <p:cNvSpPr/>
          <p:nvPr/>
        </p:nvSpPr>
        <p:spPr>
          <a:xfrm rot="21264760">
            <a:off x="3913916" y="443422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5E1A2-AC02-BA55-B88E-5288CB3C7462}"/>
              </a:ext>
            </a:extLst>
          </p:cNvPr>
          <p:cNvSpPr/>
          <p:nvPr/>
        </p:nvSpPr>
        <p:spPr>
          <a:xfrm rot="21264760">
            <a:off x="7899185" y="4043228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655626-9108-1523-99C5-510F7B5C8DF0}"/>
              </a:ext>
            </a:extLst>
          </p:cNvPr>
          <p:cNvSpPr/>
          <p:nvPr/>
        </p:nvSpPr>
        <p:spPr>
          <a:xfrm>
            <a:off x="8767960" y="1522864"/>
            <a:ext cx="3408678" cy="2350084"/>
          </a:xfrm>
          <a:custGeom>
            <a:avLst/>
            <a:gdLst>
              <a:gd name="connsiteX0" fmla="*/ 3403435 w 3418488"/>
              <a:gd name="connsiteY0" fmla="*/ 0 h 2350084"/>
              <a:gd name="connsiteX1" fmla="*/ 3418488 w 3418488"/>
              <a:gd name="connsiteY1" fmla="*/ 153872 h 2350084"/>
              <a:gd name="connsiteX2" fmla="*/ 3418488 w 3418488"/>
              <a:gd name="connsiteY2" fmla="*/ 2034965 h 2350084"/>
              <a:gd name="connsiteX3" fmla="*/ 197331 w 3418488"/>
              <a:gd name="connsiteY3" fmla="*/ 2350084 h 2350084"/>
              <a:gd name="connsiteX4" fmla="*/ 0 w 3418488"/>
              <a:gd name="connsiteY4" fmla="*/ 332950 h 23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488" h="2350084">
                <a:moveTo>
                  <a:pt x="3403435" y="0"/>
                </a:moveTo>
                <a:lnTo>
                  <a:pt x="3418488" y="153872"/>
                </a:lnTo>
                <a:lnTo>
                  <a:pt x="3418488" y="2034965"/>
                </a:lnTo>
                <a:lnTo>
                  <a:pt x="197331" y="2350084"/>
                </a:lnTo>
                <a:lnTo>
                  <a:pt x="0" y="3329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B6EA9-CDB1-2D21-14B5-CE592622DB71}"/>
              </a:ext>
            </a:extLst>
          </p:cNvPr>
          <p:cNvSpPr/>
          <p:nvPr/>
        </p:nvSpPr>
        <p:spPr>
          <a:xfrm>
            <a:off x="4274" y="4645544"/>
            <a:ext cx="3792479" cy="2211858"/>
          </a:xfrm>
          <a:custGeom>
            <a:avLst/>
            <a:gdLst>
              <a:gd name="connsiteX0" fmla="*/ 3606061 w 3803393"/>
              <a:gd name="connsiteY0" fmla="*/ 0 h 2211858"/>
              <a:gd name="connsiteX1" fmla="*/ 3803393 w 3803393"/>
              <a:gd name="connsiteY1" fmla="*/ 2017134 h 2211858"/>
              <a:gd name="connsiteX2" fmla="*/ 1812907 w 3803393"/>
              <a:gd name="connsiteY2" fmla="*/ 2211858 h 2211858"/>
              <a:gd name="connsiteX3" fmla="*/ 0 w 3803393"/>
              <a:gd name="connsiteY3" fmla="*/ 2211858 h 2211858"/>
              <a:gd name="connsiteX4" fmla="*/ 0 w 3803393"/>
              <a:gd name="connsiteY4" fmla="*/ 352772 h 22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3393" h="2211858">
                <a:moveTo>
                  <a:pt x="3606061" y="0"/>
                </a:moveTo>
                <a:lnTo>
                  <a:pt x="3803393" y="2017134"/>
                </a:lnTo>
                <a:lnTo>
                  <a:pt x="1812907" y="2211858"/>
                </a:lnTo>
                <a:lnTo>
                  <a:pt x="0" y="2211858"/>
                </a:lnTo>
                <a:lnTo>
                  <a:pt x="0" y="35277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A53F82-BF1A-5EAE-9A6F-EBA7AEBD4F81}"/>
              </a:ext>
            </a:extLst>
          </p:cNvPr>
          <p:cNvSpPr/>
          <p:nvPr/>
        </p:nvSpPr>
        <p:spPr>
          <a:xfrm>
            <a:off x="11795049" y="3802589"/>
            <a:ext cx="396951" cy="2056079"/>
          </a:xfrm>
          <a:custGeom>
            <a:avLst/>
            <a:gdLst>
              <a:gd name="connsiteX0" fmla="*/ 398093 w 398093"/>
              <a:gd name="connsiteY0" fmla="*/ 0 h 2056079"/>
              <a:gd name="connsiteX1" fmla="*/ 398093 w 398093"/>
              <a:gd name="connsiteY1" fmla="*/ 2036439 h 2056079"/>
              <a:gd name="connsiteX2" fmla="*/ 197332 w 398093"/>
              <a:gd name="connsiteY2" fmla="*/ 2056079 h 2056079"/>
              <a:gd name="connsiteX3" fmla="*/ 0 w 398093"/>
              <a:gd name="connsiteY3" fmla="*/ 38945 h 205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093" h="2056079">
                <a:moveTo>
                  <a:pt x="398093" y="0"/>
                </a:moveTo>
                <a:lnTo>
                  <a:pt x="398093" y="2036439"/>
                </a:lnTo>
                <a:lnTo>
                  <a:pt x="197332" y="2056079"/>
                </a:lnTo>
                <a:lnTo>
                  <a:pt x="0" y="3894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A85F11D-0788-542F-298C-A1805A69DCB0}"/>
              </a:ext>
            </a:extLst>
          </p:cNvPr>
          <p:cNvSpPr/>
          <p:nvPr/>
        </p:nvSpPr>
        <p:spPr>
          <a:xfrm>
            <a:off x="0" y="2657070"/>
            <a:ext cx="797731" cy="2095398"/>
          </a:xfrm>
          <a:custGeom>
            <a:avLst/>
            <a:gdLst>
              <a:gd name="connsiteX0" fmla="*/ 602695 w 800027"/>
              <a:gd name="connsiteY0" fmla="*/ 0 h 2095398"/>
              <a:gd name="connsiteX1" fmla="*/ 800027 w 800027"/>
              <a:gd name="connsiteY1" fmla="*/ 2017134 h 2095398"/>
              <a:gd name="connsiteX2" fmla="*/ 0 w 800027"/>
              <a:gd name="connsiteY2" fmla="*/ 2095398 h 2095398"/>
              <a:gd name="connsiteX3" fmla="*/ 0 w 800027"/>
              <a:gd name="connsiteY3" fmla="*/ 58960 h 20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027" h="2095398">
                <a:moveTo>
                  <a:pt x="602695" y="0"/>
                </a:moveTo>
                <a:lnTo>
                  <a:pt x="800027" y="2017134"/>
                </a:lnTo>
                <a:lnTo>
                  <a:pt x="0" y="2095398"/>
                </a:lnTo>
                <a:lnTo>
                  <a:pt x="0" y="589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86192-E1E1-D3CE-3069-BF4AE990F86B}"/>
              </a:ext>
            </a:extLst>
          </p:cNvPr>
          <p:cNvSpPr txBox="1"/>
          <p:nvPr/>
        </p:nvSpPr>
        <p:spPr>
          <a:xfrm rot="21310238">
            <a:off x="2104324" y="3198434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POO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97456-3513-45D5-5646-52A69457868F}"/>
              </a:ext>
            </a:extLst>
          </p:cNvPr>
          <p:cNvSpPr txBox="1"/>
          <p:nvPr/>
        </p:nvSpPr>
        <p:spPr>
          <a:xfrm rot="21310238">
            <a:off x="6062404" y="2804658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Clase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FD7B-037E-4690-5189-1B52E183AF32}"/>
              </a:ext>
            </a:extLst>
          </p:cNvPr>
          <p:cNvSpPr txBox="1"/>
          <p:nvPr/>
        </p:nvSpPr>
        <p:spPr>
          <a:xfrm rot="21310238">
            <a:off x="10073486" y="2413481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Objeto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CEA61-8B84-610F-36B8-AB319A816408}"/>
              </a:ext>
            </a:extLst>
          </p:cNvPr>
          <p:cNvSpPr txBox="1"/>
          <p:nvPr/>
        </p:nvSpPr>
        <p:spPr>
          <a:xfrm rot="21310238">
            <a:off x="4700488" y="4955601"/>
            <a:ext cx="22055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Constructor. Tipos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718263-E5D8-8E47-C70F-239D051B23E0}"/>
              </a:ext>
            </a:extLst>
          </p:cNvPr>
          <p:cNvSpPr txBox="1"/>
          <p:nvPr/>
        </p:nvSpPr>
        <p:spPr>
          <a:xfrm rot="21310238">
            <a:off x="8767910" y="4594234"/>
            <a:ext cx="204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Puntero </a:t>
            </a:r>
            <a:r>
              <a:rPr lang="es-ES" sz="2800" dirty="0" err="1">
                <a:solidFill>
                  <a:schemeClr val="accent2"/>
                </a:solidFill>
              </a:rPr>
              <a:t>this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04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FA7-44E3-D627-8B08-077BCB18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31" y="429863"/>
            <a:ext cx="10556069" cy="785528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</a:rPr>
              <a:t>Dudas de la clase anterior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CBDE-F2C9-5060-22B1-1CF0F3332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CA4E-E5A2-D478-34E6-E1754C988094}"/>
              </a:ext>
            </a:extLst>
          </p:cNvPr>
          <p:cNvSpPr/>
          <p:nvPr/>
        </p:nvSpPr>
        <p:spPr>
          <a:xfrm rot="21264760">
            <a:off x="905537" y="2446664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7C66-9C8B-3350-18E9-3E5F9EE46A7B}"/>
              </a:ext>
            </a:extLst>
          </p:cNvPr>
          <p:cNvSpPr/>
          <p:nvPr/>
        </p:nvSpPr>
        <p:spPr>
          <a:xfrm rot="21264760">
            <a:off x="4881452" y="2056590"/>
            <a:ext cx="3778700" cy="20267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D390F-E418-15D2-62D6-F433029079C4}"/>
              </a:ext>
            </a:extLst>
          </p:cNvPr>
          <p:cNvSpPr/>
          <p:nvPr/>
        </p:nvSpPr>
        <p:spPr>
          <a:xfrm rot="21264760">
            <a:off x="3913916" y="443422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5E1A2-AC02-BA55-B88E-5288CB3C7462}"/>
              </a:ext>
            </a:extLst>
          </p:cNvPr>
          <p:cNvSpPr/>
          <p:nvPr/>
        </p:nvSpPr>
        <p:spPr>
          <a:xfrm rot="21264760">
            <a:off x="7899185" y="4043228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655626-9108-1523-99C5-510F7B5C8DF0}"/>
              </a:ext>
            </a:extLst>
          </p:cNvPr>
          <p:cNvSpPr/>
          <p:nvPr/>
        </p:nvSpPr>
        <p:spPr>
          <a:xfrm>
            <a:off x="8767960" y="1522864"/>
            <a:ext cx="3408678" cy="2350084"/>
          </a:xfrm>
          <a:custGeom>
            <a:avLst/>
            <a:gdLst>
              <a:gd name="connsiteX0" fmla="*/ 3403435 w 3418488"/>
              <a:gd name="connsiteY0" fmla="*/ 0 h 2350084"/>
              <a:gd name="connsiteX1" fmla="*/ 3418488 w 3418488"/>
              <a:gd name="connsiteY1" fmla="*/ 153872 h 2350084"/>
              <a:gd name="connsiteX2" fmla="*/ 3418488 w 3418488"/>
              <a:gd name="connsiteY2" fmla="*/ 2034965 h 2350084"/>
              <a:gd name="connsiteX3" fmla="*/ 197331 w 3418488"/>
              <a:gd name="connsiteY3" fmla="*/ 2350084 h 2350084"/>
              <a:gd name="connsiteX4" fmla="*/ 0 w 3418488"/>
              <a:gd name="connsiteY4" fmla="*/ 332950 h 23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488" h="2350084">
                <a:moveTo>
                  <a:pt x="3403435" y="0"/>
                </a:moveTo>
                <a:lnTo>
                  <a:pt x="3418488" y="153872"/>
                </a:lnTo>
                <a:lnTo>
                  <a:pt x="3418488" y="2034965"/>
                </a:lnTo>
                <a:lnTo>
                  <a:pt x="197331" y="2350084"/>
                </a:lnTo>
                <a:lnTo>
                  <a:pt x="0" y="3329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B6EA9-CDB1-2D21-14B5-CE592622DB71}"/>
              </a:ext>
            </a:extLst>
          </p:cNvPr>
          <p:cNvSpPr/>
          <p:nvPr/>
        </p:nvSpPr>
        <p:spPr>
          <a:xfrm>
            <a:off x="4274" y="4645544"/>
            <a:ext cx="3792479" cy="2211858"/>
          </a:xfrm>
          <a:custGeom>
            <a:avLst/>
            <a:gdLst>
              <a:gd name="connsiteX0" fmla="*/ 3606061 w 3803393"/>
              <a:gd name="connsiteY0" fmla="*/ 0 h 2211858"/>
              <a:gd name="connsiteX1" fmla="*/ 3803393 w 3803393"/>
              <a:gd name="connsiteY1" fmla="*/ 2017134 h 2211858"/>
              <a:gd name="connsiteX2" fmla="*/ 1812907 w 3803393"/>
              <a:gd name="connsiteY2" fmla="*/ 2211858 h 2211858"/>
              <a:gd name="connsiteX3" fmla="*/ 0 w 3803393"/>
              <a:gd name="connsiteY3" fmla="*/ 2211858 h 2211858"/>
              <a:gd name="connsiteX4" fmla="*/ 0 w 3803393"/>
              <a:gd name="connsiteY4" fmla="*/ 352772 h 22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3393" h="2211858">
                <a:moveTo>
                  <a:pt x="3606061" y="0"/>
                </a:moveTo>
                <a:lnTo>
                  <a:pt x="3803393" y="2017134"/>
                </a:lnTo>
                <a:lnTo>
                  <a:pt x="1812907" y="2211858"/>
                </a:lnTo>
                <a:lnTo>
                  <a:pt x="0" y="2211858"/>
                </a:lnTo>
                <a:lnTo>
                  <a:pt x="0" y="35277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A53F82-BF1A-5EAE-9A6F-EBA7AEBD4F81}"/>
              </a:ext>
            </a:extLst>
          </p:cNvPr>
          <p:cNvSpPr/>
          <p:nvPr/>
        </p:nvSpPr>
        <p:spPr>
          <a:xfrm>
            <a:off x="11795049" y="3802589"/>
            <a:ext cx="396951" cy="2056079"/>
          </a:xfrm>
          <a:custGeom>
            <a:avLst/>
            <a:gdLst>
              <a:gd name="connsiteX0" fmla="*/ 398093 w 398093"/>
              <a:gd name="connsiteY0" fmla="*/ 0 h 2056079"/>
              <a:gd name="connsiteX1" fmla="*/ 398093 w 398093"/>
              <a:gd name="connsiteY1" fmla="*/ 2036439 h 2056079"/>
              <a:gd name="connsiteX2" fmla="*/ 197332 w 398093"/>
              <a:gd name="connsiteY2" fmla="*/ 2056079 h 2056079"/>
              <a:gd name="connsiteX3" fmla="*/ 0 w 398093"/>
              <a:gd name="connsiteY3" fmla="*/ 38945 h 205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093" h="2056079">
                <a:moveTo>
                  <a:pt x="398093" y="0"/>
                </a:moveTo>
                <a:lnTo>
                  <a:pt x="398093" y="2036439"/>
                </a:lnTo>
                <a:lnTo>
                  <a:pt x="197332" y="2056079"/>
                </a:lnTo>
                <a:lnTo>
                  <a:pt x="0" y="3894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A85F11D-0788-542F-298C-A1805A69DCB0}"/>
              </a:ext>
            </a:extLst>
          </p:cNvPr>
          <p:cNvSpPr/>
          <p:nvPr/>
        </p:nvSpPr>
        <p:spPr>
          <a:xfrm>
            <a:off x="0" y="2657070"/>
            <a:ext cx="797731" cy="2095398"/>
          </a:xfrm>
          <a:custGeom>
            <a:avLst/>
            <a:gdLst>
              <a:gd name="connsiteX0" fmla="*/ 602695 w 800027"/>
              <a:gd name="connsiteY0" fmla="*/ 0 h 2095398"/>
              <a:gd name="connsiteX1" fmla="*/ 800027 w 800027"/>
              <a:gd name="connsiteY1" fmla="*/ 2017134 h 2095398"/>
              <a:gd name="connsiteX2" fmla="*/ 0 w 800027"/>
              <a:gd name="connsiteY2" fmla="*/ 2095398 h 2095398"/>
              <a:gd name="connsiteX3" fmla="*/ 0 w 800027"/>
              <a:gd name="connsiteY3" fmla="*/ 58960 h 20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027" h="2095398">
                <a:moveTo>
                  <a:pt x="602695" y="0"/>
                </a:moveTo>
                <a:lnTo>
                  <a:pt x="800027" y="2017134"/>
                </a:lnTo>
                <a:lnTo>
                  <a:pt x="0" y="2095398"/>
                </a:lnTo>
                <a:lnTo>
                  <a:pt x="0" y="589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86192-E1E1-D3CE-3069-BF4AE990F86B}"/>
              </a:ext>
            </a:extLst>
          </p:cNvPr>
          <p:cNvSpPr txBox="1"/>
          <p:nvPr/>
        </p:nvSpPr>
        <p:spPr>
          <a:xfrm rot="21310238">
            <a:off x="2104324" y="3198434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POO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97456-3513-45D5-5646-52A69457868F}"/>
              </a:ext>
            </a:extLst>
          </p:cNvPr>
          <p:cNvSpPr txBox="1"/>
          <p:nvPr/>
        </p:nvSpPr>
        <p:spPr>
          <a:xfrm rot="21310238">
            <a:off x="6062404" y="2804658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Clase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FD7B-037E-4690-5189-1B52E183AF32}"/>
              </a:ext>
            </a:extLst>
          </p:cNvPr>
          <p:cNvSpPr txBox="1"/>
          <p:nvPr/>
        </p:nvSpPr>
        <p:spPr>
          <a:xfrm rot="21310238">
            <a:off x="10073486" y="2413481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Objeto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CEA61-8B84-610F-36B8-AB319A816408}"/>
              </a:ext>
            </a:extLst>
          </p:cNvPr>
          <p:cNvSpPr txBox="1"/>
          <p:nvPr/>
        </p:nvSpPr>
        <p:spPr>
          <a:xfrm rot="21310238">
            <a:off x="4700488" y="4955601"/>
            <a:ext cx="22055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Constructor. Tipos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718263-E5D8-8E47-C70F-239D051B23E0}"/>
              </a:ext>
            </a:extLst>
          </p:cNvPr>
          <p:cNvSpPr txBox="1"/>
          <p:nvPr/>
        </p:nvSpPr>
        <p:spPr>
          <a:xfrm rot="21310238">
            <a:off x="8767910" y="4594234"/>
            <a:ext cx="204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Puntero </a:t>
            </a:r>
            <a:r>
              <a:rPr lang="es-ES" sz="2800" dirty="0" err="1">
                <a:solidFill>
                  <a:schemeClr val="accent2"/>
                </a:solidFill>
              </a:rPr>
              <a:t>this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04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FA7-44E3-D627-8B08-077BCB18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31" y="429863"/>
            <a:ext cx="10556069" cy="785528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</a:rPr>
              <a:t>Dudas de la clase anterior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CBDE-F2C9-5060-22B1-1CF0F3332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CA4E-E5A2-D478-34E6-E1754C988094}"/>
              </a:ext>
            </a:extLst>
          </p:cNvPr>
          <p:cNvSpPr/>
          <p:nvPr/>
        </p:nvSpPr>
        <p:spPr>
          <a:xfrm rot="21264760">
            <a:off x="905537" y="2446664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7C66-9C8B-3350-18E9-3E5F9EE46A7B}"/>
              </a:ext>
            </a:extLst>
          </p:cNvPr>
          <p:cNvSpPr/>
          <p:nvPr/>
        </p:nvSpPr>
        <p:spPr>
          <a:xfrm rot="21264760">
            <a:off x="4881452" y="205659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D390F-E418-15D2-62D6-F433029079C4}"/>
              </a:ext>
            </a:extLst>
          </p:cNvPr>
          <p:cNvSpPr/>
          <p:nvPr/>
        </p:nvSpPr>
        <p:spPr>
          <a:xfrm rot="21264760">
            <a:off x="3913916" y="443422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5E1A2-AC02-BA55-B88E-5288CB3C7462}"/>
              </a:ext>
            </a:extLst>
          </p:cNvPr>
          <p:cNvSpPr/>
          <p:nvPr/>
        </p:nvSpPr>
        <p:spPr>
          <a:xfrm rot="21264760">
            <a:off x="7899185" y="4043228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655626-9108-1523-99C5-510F7B5C8DF0}"/>
              </a:ext>
            </a:extLst>
          </p:cNvPr>
          <p:cNvSpPr/>
          <p:nvPr/>
        </p:nvSpPr>
        <p:spPr>
          <a:xfrm>
            <a:off x="8767960" y="1522864"/>
            <a:ext cx="3408678" cy="2350084"/>
          </a:xfrm>
          <a:custGeom>
            <a:avLst/>
            <a:gdLst>
              <a:gd name="connsiteX0" fmla="*/ 3403435 w 3418488"/>
              <a:gd name="connsiteY0" fmla="*/ 0 h 2350084"/>
              <a:gd name="connsiteX1" fmla="*/ 3418488 w 3418488"/>
              <a:gd name="connsiteY1" fmla="*/ 153872 h 2350084"/>
              <a:gd name="connsiteX2" fmla="*/ 3418488 w 3418488"/>
              <a:gd name="connsiteY2" fmla="*/ 2034965 h 2350084"/>
              <a:gd name="connsiteX3" fmla="*/ 197331 w 3418488"/>
              <a:gd name="connsiteY3" fmla="*/ 2350084 h 2350084"/>
              <a:gd name="connsiteX4" fmla="*/ 0 w 3418488"/>
              <a:gd name="connsiteY4" fmla="*/ 332950 h 23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488" h="2350084">
                <a:moveTo>
                  <a:pt x="3403435" y="0"/>
                </a:moveTo>
                <a:lnTo>
                  <a:pt x="3418488" y="153872"/>
                </a:lnTo>
                <a:lnTo>
                  <a:pt x="3418488" y="2034965"/>
                </a:lnTo>
                <a:lnTo>
                  <a:pt x="197331" y="2350084"/>
                </a:lnTo>
                <a:lnTo>
                  <a:pt x="0" y="3329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B6EA9-CDB1-2D21-14B5-CE592622DB71}"/>
              </a:ext>
            </a:extLst>
          </p:cNvPr>
          <p:cNvSpPr/>
          <p:nvPr/>
        </p:nvSpPr>
        <p:spPr>
          <a:xfrm>
            <a:off x="4274" y="4645544"/>
            <a:ext cx="3792479" cy="2211858"/>
          </a:xfrm>
          <a:custGeom>
            <a:avLst/>
            <a:gdLst>
              <a:gd name="connsiteX0" fmla="*/ 3606061 w 3803393"/>
              <a:gd name="connsiteY0" fmla="*/ 0 h 2211858"/>
              <a:gd name="connsiteX1" fmla="*/ 3803393 w 3803393"/>
              <a:gd name="connsiteY1" fmla="*/ 2017134 h 2211858"/>
              <a:gd name="connsiteX2" fmla="*/ 1812907 w 3803393"/>
              <a:gd name="connsiteY2" fmla="*/ 2211858 h 2211858"/>
              <a:gd name="connsiteX3" fmla="*/ 0 w 3803393"/>
              <a:gd name="connsiteY3" fmla="*/ 2211858 h 2211858"/>
              <a:gd name="connsiteX4" fmla="*/ 0 w 3803393"/>
              <a:gd name="connsiteY4" fmla="*/ 352772 h 22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3393" h="2211858">
                <a:moveTo>
                  <a:pt x="3606061" y="0"/>
                </a:moveTo>
                <a:lnTo>
                  <a:pt x="3803393" y="2017134"/>
                </a:lnTo>
                <a:lnTo>
                  <a:pt x="1812907" y="2211858"/>
                </a:lnTo>
                <a:lnTo>
                  <a:pt x="0" y="2211858"/>
                </a:lnTo>
                <a:lnTo>
                  <a:pt x="0" y="35277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A53F82-BF1A-5EAE-9A6F-EBA7AEBD4F81}"/>
              </a:ext>
            </a:extLst>
          </p:cNvPr>
          <p:cNvSpPr/>
          <p:nvPr/>
        </p:nvSpPr>
        <p:spPr>
          <a:xfrm>
            <a:off x="11795049" y="3802589"/>
            <a:ext cx="396951" cy="2056079"/>
          </a:xfrm>
          <a:custGeom>
            <a:avLst/>
            <a:gdLst>
              <a:gd name="connsiteX0" fmla="*/ 398093 w 398093"/>
              <a:gd name="connsiteY0" fmla="*/ 0 h 2056079"/>
              <a:gd name="connsiteX1" fmla="*/ 398093 w 398093"/>
              <a:gd name="connsiteY1" fmla="*/ 2036439 h 2056079"/>
              <a:gd name="connsiteX2" fmla="*/ 197332 w 398093"/>
              <a:gd name="connsiteY2" fmla="*/ 2056079 h 2056079"/>
              <a:gd name="connsiteX3" fmla="*/ 0 w 398093"/>
              <a:gd name="connsiteY3" fmla="*/ 38945 h 205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093" h="2056079">
                <a:moveTo>
                  <a:pt x="398093" y="0"/>
                </a:moveTo>
                <a:lnTo>
                  <a:pt x="398093" y="2036439"/>
                </a:lnTo>
                <a:lnTo>
                  <a:pt x="197332" y="2056079"/>
                </a:lnTo>
                <a:lnTo>
                  <a:pt x="0" y="3894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A85F11D-0788-542F-298C-A1805A69DCB0}"/>
              </a:ext>
            </a:extLst>
          </p:cNvPr>
          <p:cNvSpPr/>
          <p:nvPr/>
        </p:nvSpPr>
        <p:spPr>
          <a:xfrm>
            <a:off x="0" y="2657070"/>
            <a:ext cx="797731" cy="2095398"/>
          </a:xfrm>
          <a:custGeom>
            <a:avLst/>
            <a:gdLst>
              <a:gd name="connsiteX0" fmla="*/ 602695 w 800027"/>
              <a:gd name="connsiteY0" fmla="*/ 0 h 2095398"/>
              <a:gd name="connsiteX1" fmla="*/ 800027 w 800027"/>
              <a:gd name="connsiteY1" fmla="*/ 2017134 h 2095398"/>
              <a:gd name="connsiteX2" fmla="*/ 0 w 800027"/>
              <a:gd name="connsiteY2" fmla="*/ 2095398 h 2095398"/>
              <a:gd name="connsiteX3" fmla="*/ 0 w 800027"/>
              <a:gd name="connsiteY3" fmla="*/ 58960 h 20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027" h="2095398">
                <a:moveTo>
                  <a:pt x="602695" y="0"/>
                </a:moveTo>
                <a:lnTo>
                  <a:pt x="800027" y="2017134"/>
                </a:lnTo>
                <a:lnTo>
                  <a:pt x="0" y="2095398"/>
                </a:lnTo>
                <a:lnTo>
                  <a:pt x="0" y="589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86192-E1E1-D3CE-3069-BF4AE990F86B}"/>
              </a:ext>
            </a:extLst>
          </p:cNvPr>
          <p:cNvSpPr txBox="1"/>
          <p:nvPr/>
        </p:nvSpPr>
        <p:spPr>
          <a:xfrm rot="21310238">
            <a:off x="2104324" y="3198434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POO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97456-3513-45D5-5646-52A69457868F}"/>
              </a:ext>
            </a:extLst>
          </p:cNvPr>
          <p:cNvSpPr txBox="1"/>
          <p:nvPr/>
        </p:nvSpPr>
        <p:spPr>
          <a:xfrm rot="21310238">
            <a:off x="6062404" y="2804658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Clase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FD7B-037E-4690-5189-1B52E183AF32}"/>
              </a:ext>
            </a:extLst>
          </p:cNvPr>
          <p:cNvSpPr txBox="1"/>
          <p:nvPr/>
        </p:nvSpPr>
        <p:spPr>
          <a:xfrm rot="21310238">
            <a:off x="10073486" y="2413481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Objeto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CEA61-8B84-610F-36B8-AB319A816408}"/>
              </a:ext>
            </a:extLst>
          </p:cNvPr>
          <p:cNvSpPr txBox="1"/>
          <p:nvPr/>
        </p:nvSpPr>
        <p:spPr>
          <a:xfrm rot="21310238">
            <a:off x="4700488" y="4955601"/>
            <a:ext cx="22055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Constructor. Tipos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718263-E5D8-8E47-C70F-239D051B23E0}"/>
              </a:ext>
            </a:extLst>
          </p:cNvPr>
          <p:cNvSpPr txBox="1"/>
          <p:nvPr/>
        </p:nvSpPr>
        <p:spPr>
          <a:xfrm rot="21310238">
            <a:off x="8767910" y="4594234"/>
            <a:ext cx="204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Puntero </a:t>
            </a:r>
            <a:r>
              <a:rPr lang="es-ES" sz="2800" dirty="0" err="1">
                <a:solidFill>
                  <a:schemeClr val="accent2"/>
                </a:solidFill>
              </a:rPr>
              <a:t>this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83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FA7-44E3-D627-8B08-077BCB18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31" y="429863"/>
            <a:ext cx="10556069" cy="785528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</a:rPr>
              <a:t>Dudas de la clase anterior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CBDE-F2C9-5060-22B1-1CF0F3332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CA4E-E5A2-D478-34E6-E1754C988094}"/>
              </a:ext>
            </a:extLst>
          </p:cNvPr>
          <p:cNvSpPr/>
          <p:nvPr/>
        </p:nvSpPr>
        <p:spPr>
          <a:xfrm rot="21264760">
            <a:off x="905537" y="2446664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7C66-9C8B-3350-18E9-3E5F9EE46A7B}"/>
              </a:ext>
            </a:extLst>
          </p:cNvPr>
          <p:cNvSpPr/>
          <p:nvPr/>
        </p:nvSpPr>
        <p:spPr>
          <a:xfrm rot="21264760">
            <a:off x="4881452" y="205659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D390F-E418-15D2-62D6-F433029079C4}"/>
              </a:ext>
            </a:extLst>
          </p:cNvPr>
          <p:cNvSpPr/>
          <p:nvPr/>
        </p:nvSpPr>
        <p:spPr>
          <a:xfrm rot="21264760">
            <a:off x="3913916" y="4434220"/>
            <a:ext cx="3778700" cy="20267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5E1A2-AC02-BA55-B88E-5288CB3C7462}"/>
              </a:ext>
            </a:extLst>
          </p:cNvPr>
          <p:cNvSpPr/>
          <p:nvPr/>
        </p:nvSpPr>
        <p:spPr>
          <a:xfrm rot="21264760">
            <a:off x="7899185" y="4043228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655626-9108-1523-99C5-510F7B5C8DF0}"/>
              </a:ext>
            </a:extLst>
          </p:cNvPr>
          <p:cNvSpPr/>
          <p:nvPr/>
        </p:nvSpPr>
        <p:spPr>
          <a:xfrm>
            <a:off x="8767960" y="1522864"/>
            <a:ext cx="3408678" cy="2350084"/>
          </a:xfrm>
          <a:custGeom>
            <a:avLst/>
            <a:gdLst>
              <a:gd name="connsiteX0" fmla="*/ 3403435 w 3418488"/>
              <a:gd name="connsiteY0" fmla="*/ 0 h 2350084"/>
              <a:gd name="connsiteX1" fmla="*/ 3418488 w 3418488"/>
              <a:gd name="connsiteY1" fmla="*/ 153872 h 2350084"/>
              <a:gd name="connsiteX2" fmla="*/ 3418488 w 3418488"/>
              <a:gd name="connsiteY2" fmla="*/ 2034965 h 2350084"/>
              <a:gd name="connsiteX3" fmla="*/ 197331 w 3418488"/>
              <a:gd name="connsiteY3" fmla="*/ 2350084 h 2350084"/>
              <a:gd name="connsiteX4" fmla="*/ 0 w 3418488"/>
              <a:gd name="connsiteY4" fmla="*/ 332950 h 23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488" h="2350084">
                <a:moveTo>
                  <a:pt x="3403435" y="0"/>
                </a:moveTo>
                <a:lnTo>
                  <a:pt x="3418488" y="153872"/>
                </a:lnTo>
                <a:lnTo>
                  <a:pt x="3418488" y="2034965"/>
                </a:lnTo>
                <a:lnTo>
                  <a:pt x="197331" y="2350084"/>
                </a:lnTo>
                <a:lnTo>
                  <a:pt x="0" y="3329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B6EA9-CDB1-2D21-14B5-CE592622DB71}"/>
              </a:ext>
            </a:extLst>
          </p:cNvPr>
          <p:cNvSpPr/>
          <p:nvPr/>
        </p:nvSpPr>
        <p:spPr>
          <a:xfrm>
            <a:off x="4274" y="4645544"/>
            <a:ext cx="3792479" cy="2211858"/>
          </a:xfrm>
          <a:custGeom>
            <a:avLst/>
            <a:gdLst>
              <a:gd name="connsiteX0" fmla="*/ 3606061 w 3803393"/>
              <a:gd name="connsiteY0" fmla="*/ 0 h 2211858"/>
              <a:gd name="connsiteX1" fmla="*/ 3803393 w 3803393"/>
              <a:gd name="connsiteY1" fmla="*/ 2017134 h 2211858"/>
              <a:gd name="connsiteX2" fmla="*/ 1812907 w 3803393"/>
              <a:gd name="connsiteY2" fmla="*/ 2211858 h 2211858"/>
              <a:gd name="connsiteX3" fmla="*/ 0 w 3803393"/>
              <a:gd name="connsiteY3" fmla="*/ 2211858 h 2211858"/>
              <a:gd name="connsiteX4" fmla="*/ 0 w 3803393"/>
              <a:gd name="connsiteY4" fmla="*/ 352772 h 22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3393" h="2211858">
                <a:moveTo>
                  <a:pt x="3606061" y="0"/>
                </a:moveTo>
                <a:lnTo>
                  <a:pt x="3803393" y="2017134"/>
                </a:lnTo>
                <a:lnTo>
                  <a:pt x="1812907" y="2211858"/>
                </a:lnTo>
                <a:lnTo>
                  <a:pt x="0" y="2211858"/>
                </a:lnTo>
                <a:lnTo>
                  <a:pt x="0" y="35277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A53F82-BF1A-5EAE-9A6F-EBA7AEBD4F81}"/>
              </a:ext>
            </a:extLst>
          </p:cNvPr>
          <p:cNvSpPr/>
          <p:nvPr/>
        </p:nvSpPr>
        <p:spPr>
          <a:xfrm>
            <a:off x="11795049" y="3802589"/>
            <a:ext cx="396951" cy="2056079"/>
          </a:xfrm>
          <a:custGeom>
            <a:avLst/>
            <a:gdLst>
              <a:gd name="connsiteX0" fmla="*/ 398093 w 398093"/>
              <a:gd name="connsiteY0" fmla="*/ 0 h 2056079"/>
              <a:gd name="connsiteX1" fmla="*/ 398093 w 398093"/>
              <a:gd name="connsiteY1" fmla="*/ 2036439 h 2056079"/>
              <a:gd name="connsiteX2" fmla="*/ 197332 w 398093"/>
              <a:gd name="connsiteY2" fmla="*/ 2056079 h 2056079"/>
              <a:gd name="connsiteX3" fmla="*/ 0 w 398093"/>
              <a:gd name="connsiteY3" fmla="*/ 38945 h 205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093" h="2056079">
                <a:moveTo>
                  <a:pt x="398093" y="0"/>
                </a:moveTo>
                <a:lnTo>
                  <a:pt x="398093" y="2036439"/>
                </a:lnTo>
                <a:lnTo>
                  <a:pt x="197332" y="2056079"/>
                </a:lnTo>
                <a:lnTo>
                  <a:pt x="0" y="3894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A85F11D-0788-542F-298C-A1805A69DCB0}"/>
              </a:ext>
            </a:extLst>
          </p:cNvPr>
          <p:cNvSpPr/>
          <p:nvPr/>
        </p:nvSpPr>
        <p:spPr>
          <a:xfrm>
            <a:off x="0" y="2657070"/>
            <a:ext cx="797731" cy="2095398"/>
          </a:xfrm>
          <a:custGeom>
            <a:avLst/>
            <a:gdLst>
              <a:gd name="connsiteX0" fmla="*/ 602695 w 800027"/>
              <a:gd name="connsiteY0" fmla="*/ 0 h 2095398"/>
              <a:gd name="connsiteX1" fmla="*/ 800027 w 800027"/>
              <a:gd name="connsiteY1" fmla="*/ 2017134 h 2095398"/>
              <a:gd name="connsiteX2" fmla="*/ 0 w 800027"/>
              <a:gd name="connsiteY2" fmla="*/ 2095398 h 2095398"/>
              <a:gd name="connsiteX3" fmla="*/ 0 w 800027"/>
              <a:gd name="connsiteY3" fmla="*/ 58960 h 20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027" h="2095398">
                <a:moveTo>
                  <a:pt x="602695" y="0"/>
                </a:moveTo>
                <a:lnTo>
                  <a:pt x="800027" y="2017134"/>
                </a:lnTo>
                <a:lnTo>
                  <a:pt x="0" y="2095398"/>
                </a:lnTo>
                <a:lnTo>
                  <a:pt x="0" y="589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86192-E1E1-D3CE-3069-BF4AE990F86B}"/>
              </a:ext>
            </a:extLst>
          </p:cNvPr>
          <p:cNvSpPr txBox="1"/>
          <p:nvPr/>
        </p:nvSpPr>
        <p:spPr>
          <a:xfrm rot="21310238">
            <a:off x="2104324" y="3198434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POO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97456-3513-45D5-5646-52A69457868F}"/>
              </a:ext>
            </a:extLst>
          </p:cNvPr>
          <p:cNvSpPr txBox="1"/>
          <p:nvPr/>
        </p:nvSpPr>
        <p:spPr>
          <a:xfrm rot="21310238">
            <a:off x="6062404" y="2804658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Clase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FD7B-037E-4690-5189-1B52E183AF32}"/>
              </a:ext>
            </a:extLst>
          </p:cNvPr>
          <p:cNvSpPr txBox="1"/>
          <p:nvPr/>
        </p:nvSpPr>
        <p:spPr>
          <a:xfrm rot="21310238">
            <a:off x="10073486" y="2413481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Objeto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CEA61-8B84-610F-36B8-AB319A816408}"/>
              </a:ext>
            </a:extLst>
          </p:cNvPr>
          <p:cNvSpPr txBox="1"/>
          <p:nvPr/>
        </p:nvSpPr>
        <p:spPr>
          <a:xfrm rot="21310238">
            <a:off x="4456745" y="4955601"/>
            <a:ext cx="26930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Constructor. Tipos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718263-E5D8-8E47-C70F-239D051B23E0}"/>
              </a:ext>
            </a:extLst>
          </p:cNvPr>
          <p:cNvSpPr txBox="1"/>
          <p:nvPr/>
        </p:nvSpPr>
        <p:spPr>
          <a:xfrm rot="21310238">
            <a:off x="8767910" y="4594234"/>
            <a:ext cx="204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Puntero </a:t>
            </a:r>
            <a:r>
              <a:rPr lang="es-ES" sz="2800" dirty="0" err="1">
                <a:solidFill>
                  <a:schemeClr val="accent2"/>
                </a:solidFill>
              </a:rPr>
              <a:t>this</a:t>
            </a:r>
            <a:endParaRPr lang="en-US" sz="28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8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DFA7-44E3-D627-8B08-077BCB18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31" y="429863"/>
            <a:ext cx="10556069" cy="785528"/>
          </a:xfrm>
        </p:spPr>
        <p:txBody>
          <a:bodyPr/>
          <a:lstStyle/>
          <a:p>
            <a:r>
              <a:rPr lang="es-ES" dirty="0">
                <a:solidFill>
                  <a:srgbClr val="C00000"/>
                </a:solidFill>
              </a:rPr>
              <a:t>Dudas de la clase anterior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5FCBDE-F2C9-5060-22B1-1CF0F3332B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DBCA4E-E5A2-D478-34E6-E1754C988094}"/>
              </a:ext>
            </a:extLst>
          </p:cNvPr>
          <p:cNvSpPr/>
          <p:nvPr/>
        </p:nvSpPr>
        <p:spPr>
          <a:xfrm rot="21264760">
            <a:off x="905537" y="2446664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27C66-9C8B-3350-18E9-3E5F9EE46A7B}"/>
              </a:ext>
            </a:extLst>
          </p:cNvPr>
          <p:cNvSpPr/>
          <p:nvPr/>
        </p:nvSpPr>
        <p:spPr>
          <a:xfrm rot="21264760">
            <a:off x="4881452" y="205659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ED390F-E418-15D2-62D6-F433029079C4}"/>
              </a:ext>
            </a:extLst>
          </p:cNvPr>
          <p:cNvSpPr/>
          <p:nvPr/>
        </p:nvSpPr>
        <p:spPr>
          <a:xfrm rot="21264760">
            <a:off x="3913916" y="4434220"/>
            <a:ext cx="3778700" cy="202676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C5E1A2-AC02-BA55-B88E-5288CB3C7462}"/>
              </a:ext>
            </a:extLst>
          </p:cNvPr>
          <p:cNvSpPr/>
          <p:nvPr/>
        </p:nvSpPr>
        <p:spPr>
          <a:xfrm rot="21264760">
            <a:off x="7899185" y="4043228"/>
            <a:ext cx="3778700" cy="2026763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655626-9108-1523-99C5-510F7B5C8DF0}"/>
              </a:ext>
            </a:extLst>
          </p:cNvPr>
          <p:cNvSpPr/>
          <p:nvPr/>
        </p:nvSpPr>
        <p:spPr>
          <a:xfrm>
            <a:off x="8767960" y="1522864"/>
            <a:ext cx="3408678" cy="2350084"/>
          </a:xfrm>
          <a:custGeom>
            <a:avLst/>
            <a:gdLst>
              <a:gd name="connsiteX0" fmla="*/ 3403435 w 3418488"/>
              <a:gd name="connsiteY0" fmla="*/ 0 h 2350084"/>
              <a:gd name="connsiteX1" fmla="*/ 3418488 w 3418488"/>
              <a:gd name="connsiteY1" fmla="*/ 153872 h 2350084"/>
              <a:gd name="connsiteX2" fmla="*/ 3418488 w 3418488"/>
              <a:gd name="connsiteY2" fmla="*/ 2034965 h 2350084"/>
              <a:gd name="connsiteX3" fmla="*/ 197331 w 3418488"/>
              <a:gd name="connsiteY3" fmla="*/ 2350084 h 2350084"/>
              <a:gd name="connsiteX4" fmla="*/ 0 w 3418488"/>
              <a:gd name="connsiteY4" fmla="*/ 332950 h 235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18488" h="2350084">
                <a:moveTo>
                  <a:pt x="3403435" y="0"/>
                </a:moveTo>
                <a:lnTo>
                  <a:pt x="3418488" y="153872"/>
                </a:lnTo>
                <a:lnTo>
                  <a:pt x="3418488" y="2034965"/>
                </a:lnTo>
                <a:lnTo>
                  <a:pt x="197331" y="2350084"/>
                </a:lnTo>
                <a:lnTo>
                  <a:pt x="0" y="3329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ABB6EA9-CDB1-2D21-14B5-CE592622DB71}"/>
              </a:ext>
            </a:extLst>
          </p:cNvPr>
          <p:cNvSpPr/>
          <p:nvPr/>
        </p:nvSpPr>
        <p:spPr>
          <a:xfrm>
            <a:off x="4274" y="4645544"/>
            <a:ext cx="3792479" cy="2211858"/>
          </a:xfrm>
          <a:custGeom>
            <a:avLst/>
            <a:gdLst>
              <a:gd name="connsiteX0" fmla="*/ 3606061 w 3803393"/>
              <a:gd name="connsiteY0" fmla="*/ 0 h 2211858"/>
              <a:gd name="connsiteX1" fmla="*/ 3803393 w 3803393"/>
              <a:gd name="connsiteY1" fmla="*/ 2017134 h 2211858"/>
              <a:gd name="connsiteX2" fmla="*/ 1812907 w 3803393"/>
              <a:gd name="connsiteY2" fmla="*/ 2211858 h 2211858"/>
              <a:gd name="connsiteX3" fmla="*/ 0 w 3803393"/>
              <a:gd name="connsiteY3" fmla="*/ 2211858 h 2211858"/>
              <a:gd name="connsiteX4" fmla="*/ 0 w 3803393"/>
              <a:gd name="connsiteY4" fmla="*/ 352772 h 221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3393" h="2211858">
                <a:moveTo>
                  <a:pt x="3606061" y="0"/>
                </a:moveTo>
                <a:lnTo>
                  <a:pt x="3803393" y="2017134"/>
                </a:lnTo>
                <a:lnTo>
                  <a:pt x="1812907" y="2211858"/>
                </a:lnTo>
                <a:lnTo>
                  <a:pt x="0" y="2211858"/>
                </a:lnTo>
                <a:lnTo>
                  <a:pt x="0" y="35277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A53F82-BF1A-5EAE-9A6F-EBA7AEBD4F81}"/>
              </a:ext>
            </a:extLst>
          </p:cNvPr>
          <p:cNvSpPr/>
          <p:nvPr/>
        </p:nvSpPr>
        <p:spPr>
          <a:xfrm>
            <a:off x="11795049" y="3802589"/>
            <a:ext cx="396951" cy="2056079"/>
          </a:xfrm>
          <a:custGeom>
            <a:avLst/>
            <a:gdLst>
              <a:gd name="connsiteX0" fmla="*/ 398093 w 398093"/>
              <a:gd name="connsiteY0" fmla="*/ 0 h 2056079"/>
              <a:gd name="connsiteX1" fmla="*/ 398093 w 398093"/>
              <a:gd name="connsiteY1" fmla="*/ 2036439 h 2056079"/>
              <a:gd name="connsiteX2" fmla="*/ 197332 w 398093"/>
              <a:gd name="connsiteY2" fmla="*/ 2056079 h 2056079"/>
              <a:gd name="connsiteX3" fmla="*/ 0 w 398093"/>
              <a:gd name="connsiteY3" fmla="*/ 38945 h 2056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8093" h="2056079">
                <a:moveTo>
                  <a:pt x="398093" y="0"/>
                </a:moveTo>
                <a:lnTo>
                  <a:pt x="398093" y="2036439"/>
                </a:lnTo>
                <a:lnTo>
                  <a:pt x="197332" y="2056079"/>
                </a:lnTo>
                <a:lnTo>
                  <a:pt x="0" y="3894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A85F11D-0788-542F-298C-A1805A69DCB0}"/>
              </a:ext>
            </a:extLst>
          </p:cNvPr>
          <p:cNvSpPr/>
          <p:nvPr/>
        </p:nvSpPr>
        <p:spPr>
          <a:xfrm>
            <a:off x="0" y="2657070"/>
            <a:ext cx="797731" cy="2095398"/>
          </a:xfrm>
          <a:custGeom>
            <a:avLst/>
            <a:gdLst>
              <a:gd name="connsiteX0" fmla="*/ 602695 w 800027"/>
              <a:gd name="connsiteY0" fmla="*/ 0 h 2095398"/>
              <a:gd name="connsiteX1" fmla="*/ 800027 w 800027"/>
              <a:gd name="connsiteY1" fmla="*/ 2017134 h 2095398"/>
              <a:gd name="connsiteX2" fmla="*/ 0 w 800027"/>
              <a:gd name="connsiteY2" fmla="*/ 2095398 h 2095398"/>
              <a:gd name="connsiteX3" fmla="*/ 0 w 800027"/>
              <a:gd name="connsiteY3" fmla="*/ 58960 h 209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027" h="2095398">
                <a:moveTo>
                  <a:pt x="602695" y="0"/>
                </a:moveTo>
                <a:lnTo>
                  <a:pt x="800027" y="2017134"/>
                </a:lnTo>
                <a:lnTo>
                  <a:pt x="0" y="2095398"/>
                </a:lnTo>
                <a:lnTo>
                  <a:pt x="0" y="5896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86192-E1E1-D3CE-3069-BF4AE990F86B}"/>
              </a:ext>
            </a:extLst>
          </p:cNvPr>
          <p:cNvSpPr txBox="1"/>
          <p:nvPr/>
        </p:nvSpPr>
        <p:spPr>
          <a:xfrm rot="21310238">
            <a:off x="2104324" y="3198434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POO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297456-3513-45D5-5646-52A69457868F}"/>
              </a:ext>
            </a:extLst>
          </p:cNvPr>
          <p:cNvSpPr txBox="1"/>
          <p:nvPr/>
        </p:nvSpPr>
        <p:spPr>
          <a:xfrm rot="21310238">
            <a:off x="6062404" y="2804658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Clase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9DFD7B-037E-4690-5189-1B52E183AF32}"/>
              </a:ext>
            </a:extLst>
          </p:cNvPr>
          <p:cNvSpPr txBox="1"/>
          <p:nvPr/>
        </p:nvSpPr>
        <p:spPr>
          <a:xfrm rot="21310238">
            <a:off x="10073486" y="2413481"/>
            <a:ext cx="13811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Objeto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ECEA61-8B84-610F-36B8-AB319A816408}"/>
              </a:ext>
            </a:extLst>
          </p:cNvPr>
          <p:cNvSpPr txBox="1"/>
          <p:nvPr/>
        </p:nvSpPr>
        <p:spPr>
          <a:xfrm rot="21310238">
            <a:off x="4700488" y="4955601"/>
            <a:ext cx="22055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dirty="0">
                <a:solidFill>
                  <a:schemeClr val="accent2"/>
                </a:solidFill>
              </a:rPr>
              <a:t>Constructor. Tipos</a:t>
            </a:r>
            <a:endParaRPr lang="en-US" sz="2800" dirty="0"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718263-E5D8-8E47-C70F-239D051B23E0}"/>
              </a:ext>
            </a:extLst>
          </p:cNvPr>
          <p:cNvSpPr txBox="1"/>
          <p:nvPr/>
        </p:nvSpPr>
        <p:spPr>
          <a:xfrm rot="21310238">
            <a:off x="8767910" y="4594234"/>
            <a:ext cx="2041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bg1"/>
                </a:solidFill>
              </a:rPr>
              <a:t>Puntero </a:t>
            </a:r>
            <a:r>
              <a:rPr lang="es-ES" sz="2800" b="1" dirty="0" err="1">
                <a:solidFill>
                  <a:schemeClr val="bg1"/>
                </a:solidFill>
              </a:rPr>
              <a:t>this</a:t>
            </a:r>
            <a:endParaRPr lang="en-U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623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sz="4800" dirty="0">
                <a:latin typeface="Helvetica"/>
              </a:rPr>
              <a:t>POO: </a:t>
            </a:r>
            <a:br>
              <a:rPr lang="es-ES" sz="4800">
                <a:latin typeface="Helvetica"/>
              </a:rPr>
            </a:br>
            <a:r>
              <a:rPr lang="es-ES" sz="4800">
                <a:latin typeface="Helvetica"/>
              </a:rPr>
              <a:t>Métodos (I)</a:t>
            </a:r>
            <a:endParaRPr lang="en-US" sz="4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-174523"/>
            <a:ext cx="2949677" cy="6858000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BA96D83B-969B-486A-A902-80D0BE13DE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1" y="429863"/>
            <a:ext cx="10590229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3572" y="1436914"/>
            <a:ext cx="4260916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 marL="50800" indent="0">
              <a:buNone/>
            </a:pPr>
            <a:endParaRPr lang="es-E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se hace en las líneas 7, 8, 10 y 11?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son </a:t>
            </a:r>
            <a:r>
              <a:rPr lang="es-ES" sz="2400" b="1" dirty="0">
                <a:solidFill>
                  <a:schemeClr val="bg1">
                    <a:lumMod val="50000"/>
                  </a:schemeClr>
                </a:solidFill>
              </a:rPr>
              <a:t>aleatorio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sz="2400" b="1" dirty="0" err="1">
                <a:solidFill>
                  <a:schemeClr val="bg1">
                    <a:lumMod val="50000"/>
                  </a:schemeClr>
                </a:solidFill>
              </a:rPr>
              <a:t>raiz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¿Tienes una idea de cómo hacer lo mismo en </a:t>
            </a:r>
            <a:r>
              <a:rPr lang="es-ES" sz="2400" b="1" dirty="0">
                <a:solidFill>
                  <a:schemeClr val="bg1">
                    <a:lumMod val="50000"/>
                  </a:schemeClr>
                </a:solidFill>
              </a:rPr>
              <a:t>Java</a:t>
            </a: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0D906D0-43E8-EA54-F4E1-DDE13690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629" y="1531596"/>
            <a:ext cx="6501942" cy="4508548"/>
          </a:xfrm>
          <a:prstGeom prst="rect">
            <a:avLst/>
          </a:prstGeom>
          <a:effectLst>
            <a:outerShdw blurRad="1016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son los métodos </a:t>
            </a:r>
            <a:r>
              <a:rPr lang="es-ES" dirty="0">
                <a:solidFill>
                  <a:srgbClr val="D3052C"/>
                </a:solidFill>
              </a:rPr>
              <a:t>mediante el desarrollo de actividades </a:t>
            </a:r>
            <a:r>
              <a:rPr lang="es-ES" dirty="0">
                <a:solidFill>
                  <a:srgbClr val="7030A0"/>
                </a:solidFill>
              </a:rPr>
              <a:t>para aplicar el paradigma de la Programación Orientada a Objetos.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36525"/>
            <a:ext cx="5441183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B77D-CEBE-2C98-CAEE-95363F339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8160" y="1436915"/>
            <a:ext cx="5241300" cy="3841860"/>
          </a:xfrm>
        </p:spPr>
        <p:txBody>
          <a:bodyPr>
            <a:normAutofit/>
          </a:bodyPr>
          <a:lstStyle/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muestra la imagen?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¿Qué pasó con el código original?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¿Cuál te parece más eficiente? ¿Porqué?</a:t>
            </a:r>
          </a:p>
          <a:p>
            <a:r>
              <a:rPr lang="es-E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¿Cómo te puede servir para tu vida profesional saber cómo crear métodos en POO con Java?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278775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crear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métodos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>
                <a:latin typeface="Helvetica" pitchFamily="2" charset="0"/>
              </a:rPr>
              <a:t>para la </a:t>
            </a:r>
            <a:r>
              <a:rPr lang="en-US" sz="2800" dirty="0" err="1">
                <a:latin typeface="Helvetica" pitchFamily="2" charset="0"/>
              </a:rPr>
              <a:t>realización</a:t>
            </a:r>
            <a:r>
              <a:rPr lang="en-US" sz="2800" dirty="0">
                <a:latin typeface="Helvetica" pitchFamily="2" charset="0"/>
              </a:rPr>
              <a:t> de </a:t>
            </a:r>
            <a:r>
              <a:rPr lang="en-US" sz="2800" dirty="0" err="1">
                <a:latin typeface="Helvetica" pitchFamily="2" charset="0"/>
              </a:rPr>
              <a:t>tareas</a:t>
            </a:r>
            <a:r>
              <a:rPr lang="en-US" sz="2800" dirty="0">
                <a:latin typeface="Helvetica" pitchFamily="2" charset="0"/>
              </a:rPr>
              <a:t>.</a:t>
            </a:r>
            <a:endParaRPr lang="es-ES" sz="2800" dirty="0">
              <a:latin typeface="Helvetica" pitchFamily="2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D6C6A85-2901-3EAA-C749-4B35FAED41E9}"/>
              </a:ext>
            </a:extLst>
          </p:cNvPr>
          <p:cNvGrpSpPr/>
          <p:nvPr/>
        </p:nvGrpSpPr>
        <p:grpSpPr>
          <a:xfrm>
            <a:off x="6570117" y="1051669"/>
            <a:ext cx="2021264" cy="4341354"/>
            <a:chOff x="6570482" y="944353"/>
            <a:chExt cx="2021264" cy="434135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DD9B6A5-6D7E-C028-9400-E6BA73127A55}"/>
                </a:ext>
              </a:extLst>
            </p:cNvPr>
            <p:cNvSpPr/>
            <p:nvPr/>
          </p:nvSpPr>
          <p:spPr>
            <a:xfrm>
              <a:off x="6570482" y="1300899"/>
              <a:ext cx="2021264" cy="3984808"/>
            </a:xfrm>
            <a:prstGeom prst="roundRect">
              <a:avLst>
                <a:gd name="adj" fmla="val 407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96BB4F-ABB1-32BE-F58D-194A2B1EFCF3}"/>
                </a:ext>
              </a:extLst>
            </p:cNvPr>
            <p:cNvSpPr txBox="1"/>
            <p:nvPr/>
          </p:nvSpPr>
          <p:spPr>
            <a:xfrm>
              <a:off x="6589336" y="944353"/>
              <a:ext cx="9378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</a:rPr>
                <a:t>Programa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AB55E9-B888-8DC7-C057-4DD32C278C98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1521756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A61FFBD-ABE2-90B5-68AE-6AC8CEB09E98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1690092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6B5EBDC-D82F-C69D-5C78-0C60006FEB4D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1858428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141256E-8F57-0BF8-1717-3248EC057A2E}"/>
                </a:ext>
              </a:extLst>
            </p:cNvPr>
            <p:cNvCxnSpPr>
              <a:cxnSpLocks/>
            </p:cNvCxnSpPr>
            <p:nvPr/>
          </p:nvCxnSpPr>
          <p:spPr>
            <a:xfrm>
              <a:off x="6867353" y="2026764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943EED2-1826-0D28-EC94-99B6F1759F30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2195100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6989E9-8DEB-421C-CCDD-FE71903AC03F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2363436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2C6FC70-4EF3-E5B1-1ECC-525D1464509D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2531772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4DE861-0ED8-0EF3-E03A-66D406E1CA2D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2700108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87A241-816D-F16C-4BD6-8789FD42B112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2868444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884FAF5-DAF7-0DF7-17AD-143F35624375}"/>
                </a:ext>
              </a:extLst>
            </p:cNvPr>
            <p:cNvCxnSpPr>
              <a:cxnSpLocks/>
            </p:cNvCxnSpPr>
            <p:nvPr/>
          </p:nvCxnSpPr>
          <p:spPr>
            <a:xfrm>
              <a:off x="6867353" y="3036780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6EC545-C3CB-398F-8BD6-FC9174FFA73E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3205116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3F57DC8-5B47-1207-12AF-3B3EBE99973B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3373452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F017CAD-77E4-A630-2DEA-87432DE4464E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3541788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795EC77-1E84-B59E-BA89-48E3BCA555D0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3710124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843CCFA-DD6F-757E-1369-EA116E5C7201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3878460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AF54D3E-7651-AF6C-2869-662CFBD5F708}"/>
                </a:ext>
              </a:extLst>
            </p:cNvPr>
            <p:cNvCxnSpPr>
              <a:cxnSpLocks/>
            </p:cNvCxnSpPr>
            <p:nvPr/>
          </p:nvCxnSpPr>
          <p:spPr>
            <a:xfrm>
              <a:off x="6867353" y="4046796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1B3AC4-204C-8E88-9ACC-19AFC132803E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4215132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94960FD-220A-B834-187A-B811BB57CED5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4383468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C05AF1-2AA6-34EA-B4CA-0C83E19EBC70}"/>
                </a:ext>
              </a:extLst>
            </p:cNvPr>
            <p:cNvCxnSpPr>
              <a:cxnSpLocks/>
            </p:cNvCxnSpPr>
            <p:nvPr/>
          </p:nvCxnSpPr>
          <p:spPr>
            <a:xfrm>
              <a:off x="6867353" y="4551804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6D81473-8D11-B90C-0F25-316CDCD3CEF2}"/>
                </a:ext>
              </a:extLst>
            </p:cNvPr>
            <p:cNvCxnSpPr>
              <a:cxnSpLocks/>
            </p:cNvCxnSpPr>
            <p:nvPr/>
          </p:nvCxnSpPr>
          <p:spPr>
            <a:xfrm>
              <a:off x="6829645" y="4720140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AB8A96-B94B-C2A1-A987-2449916AE841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4888476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C363213-12E2-D8E6-07FC-E57914670396}"/>
                </a:ext>
              </a:extLst>
            </p:cNvPr>
            <p:cNvCxnSpPr>
              <a:cxnSpLocks/>
            </p:cNvCxnSpPr>
            <p:nvPr/>
          </p:nvCxnSpPr>
          <p:spPr>
            <a:xfrm>
              <a:off x="6791937" y="5056808"/>
              <a:ext cx="735290" cy="0"/>
            </a:xfrm>
            <a:prstGeom prst="line">
              <a:avLst/>
            </a:prstGeom>
            <a:ln w="76200" cap="rnd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3FB0362-AAF7-2C2C-9471-F9140CF63EA8}"/>
              </a:ext>
            </a:extLst>
          </p:cNvPr>
          <p:cNvGrpSpPr/>
          <p:nvPr/>
        </p:nvGrpSpPr>
        <p:grpSpPr>
          <a:xfrm>
            <a:off x="9351390" y="590687"/>
            <a:ext cx="2102467" cy="1597922"/>
            <a:chOff x="9134573" y="538348"/>
            <a:chExt cx="2102467" cy="1597922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99E8884-E302-1303-F27D-85C4BE6BB111}"/>
                </a:ext>
              </a:extLst>
            </p:cNvPr>
            <p:cNvSpPr/>
            <p:nvPr/>
          </p:nvSpPr>
          <p:spPr>
            <a:xfrm>
              <a:off x="9134573" y="876040"/>
              <a:ext cx="2102467" cy="1260230"/>
            </a:xfrm>
            <a:prstGeom prst="roundRect">
              <a:avLst>
                <a:gd name="adj" fmla="val 407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847FC32-644B-DD04-D949-9B67DB1FC2C2}"/>
                </a:ext>
              </a:extLst>
            </p:cNvPr>
            <p:cNvSpPr txBox="1"/>
            <p:nvPr/>
          </p:nvSpPr>
          <p:spPr>
            <a:xfrm>
              <a:off x="9134573" y="538348"/>
              <a:ext cx="93789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 err="1">
                  <a:solidFill>
                    <a:schemeClr val="bg1">
                      <a:lumMod val="50000"/>
                    </a:schemeClr>
                  </a:solidFill>
                </a:rPr>
                <a:t>Programa</a:t>
              </a: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2E3554D-0025-67AC-597D-9D4CF916FFAF}"/>
                </a:ext>
              </a:extLst>
            </p:cNvPr>
            <p:cNvSpPr txBox="1"/>
            <p:nvPr/>
          </p:nvSpPr>
          <p:spPr>
            <a:xfrm>
              <a:off x="9251334" y="1043951"/>
              <a:ext cx="188565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rgbClr val="FCB6B8"/>
                  </a:solidFill>
                </a:rPr>
                <a:t>MiClase</a:t>
              </a:r>
              <a:r>
                <a:rPr lang="en-US" sz="1100" dirty="0">
                  <a:solidFill>
                    <a:schemeClr val="accent4"/>
                  </a:solidFill>
                </a:rPr>
                <a:t> </a:t>
              </a:r>
              <a:r>
                <a:rPr lang="en-US" sz="1100" dirty="0">
                  <a:solidFill>
                    <a:schemeClr val="bg1"/>
                  </a:solidFill>
                </a:rPr>
                <a:t>c</a:t>
              </a:r>
              <a:r>
                <a:rPr lang="en-US" sz="1100" dirty="0">
                  <a:solidFill>
                    <a:schemeClr val="accent4"/>
                  </a:solidFill>
                </a:rPr>
                <a:t> = new </a:t>
              </a:r>
              <a:r>
                <a:rPr lang="en-US" sz="1100" dirty="0" err="1">
                  <a:solidFill>
                    <a:srgbClr val="FCB6B8"/>
                  </a:solidFill>
                </a:rPr>
                <a:t>MiClase</a:t>
              </a:r>
              <a:r>
                <a:rPr lang="en-US" sz="1100" dirty="0">
                  <a:solidFill>
                    <a:schemeClr val="accent4"/>
                  </a:solidFill>
                </a:rPr>
                <a:t>()</a:t>
              </a:r>
            </a:p>
            <a:p>
              <a:endParaRPr lang="en-US" sz="1100" dirty="0">
                <a:solidFill>
                  <a:schemeClr val="accent4"/>
                </a:solidFill>
              </a:endParaRPr>
            </a:p>
            <a:p>
              <a:r>
                <a:rPr lang="en-US" sz="1100" dirty="0" err="1">
                  <a:solidFill>
                    <a:schemeClr val="bg1"/>
                  </a:solidFill>
                </a:rPr>
                <a:t>c</a:t>
              </a:r>
              <a:r>
                <a:rPr lang="en-US" sz="1100" dirty="0" err="1">
                  <a:solidFill>
                    <a:schemeClr val="accent4"/>
                  </a:solidFill>
                </a:rPr>
                <a:t>.</a:t>
              </a:r>
              <a:r>
                <a:rPr lang="en-US" sz="1100" dirty="0" err="1">
                  <a:solidFill>
                    <a:schemeClr val="accent2"/>
                  </a:solidFill>
                </a:rPr>
                <a:t>medotoA</a:t>
              </a:r>
              <a:r>
                <a:rPr lang="en-US" sz="1100" dirty="0">
                  <a:solidFill>
                    <a:schemeClr val="accent4"/>
                  </a:solidFill>
                </a:rPr>
                <a:t>( )</a:t>
              </a:r>
            </a:p>
            <a:p>
              <a:r>
                <a:rPr lang="en-US" sz="1100" dirty="0" err="1">
                  <a:solidFill>
                    <a:schemeClr val="bg1"/>
                  </a:solidFill>
                </a:rPr>
                <a:t>c</a:t>
              </a:r>
              <a:r>
                <a:rPr lang="en-US" sz="1100" dirty="0" err="1">
                  <a:solidFill>
                    <a:schemeClr val="accent4"/>
                  </a:solidFill>
                </a:rPr>
                <a:t>.metodoB</a:t>
              </a:r>
              <a:r>
                <a:rPr lang="en-US" sz="1100" dirty="0">
                  <a:solidFill>
                    <a:schemeClr val="accent4"/>
                  </a:solidFill>
                </a:rPr>
                <a:t>( )</a:t>
              </a:r>
            </a:p>
            <a:p>
              <a:r>
                <a:rPr lang="en-US" sz="1100" dirty="0" err="1">
                  <a:solidFill>
                    <a:schemeClr val="bg1"/>
                  </a:solidFill>
                </a:rPr>
                <a:t>c</a:t>
              </a:r>
              <a:r>
                <a:rPr lang="en-US" sz="1100" dirty="0" err="1">
                  <a:solidFill>
                    <a:schemeClr val="accent4"/>
                  </a:solidFill>
                </a:rPr>
                <a:t>.</a:t>
              </a:r>
              <a:r>
                <a:rPr lang="en-US" sz="1100" dirty="0" err="1">
                  <a:solidFill>
                    <a:srgbClr val="92D050"/>
                  </a:solidFill>
                </a:rPr>
                <a:t>metodoC</a:t>
              </a:r>
              <a:r>
                <a:rPr lang="en-US" sz="1100" dirty="0">
                  <a:solidFill>
                    <a:schemeClr val="accent4"/>
                  </a:solidFill>
                </a:rPr>
                <a:t>( )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4482104-CE44-925D-2445-32C856356393}"/>
              </a:ext>
            </a:extLst>
          </p:cNvPr>
          <p:cNvGrpSpPr/>
          <p:nvPr/>
        </p:nvGrpSpPr>
        <p:grpSpPr>
          <a:xfrm>
            <a:off x="9351390" y="2364758"/>
            <a:ext cx="2102467" cy="3944458"/>
            <a:chOff x="9881186" y="2504999"/>
            <a:chExt cx="2102467" cy="3944458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ACE5036-1FE5-8358-F3B4-DA4796B3AA6B}"/>
                </a:ext>
              </a:extLst>
            </p:cNvPr>
            <p:cNvSpPr/>
            <p:nvPr/>
          </p:nvSpPr>
          <p:spPr>
            <a:xfrm>
              <a:off x="9881186" y="2809613"/>
              <a:ext cx="2102467" cy="3639844"/>
            </a:xfrm>
            <a:prstGeom prst="roundRect">
              <a:avLst>
                <a:gd name="adj" fmla="val 4075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3D3F890-87EC-F16E-FF99-7E21334F49D2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3254223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21E5E9C-FCF8-7CBB-A56E-77BABF25136E}"/>
                </a:ext>
              </a:extLst>
            </p:cNvPr>
            <p:cNvCxnSpPr>
              <a:cxnSpLocks/>
            </p:cNvCxnSpPr>
            <p:nvPr/>
          </p:nvCxnSpPr>
          <p:spPr>
            <a:xfrm>
              <a:off x="10222584" y="3422559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5AEF4AF-A803-D8CB-C76C-1F7BD7658336}"/>
                </a:ext>
              </a:extLst>
            </p:cNvPr>
            <p:cNvCxnSpPr>
              <a:cxnSpLocks/>
            </p:cNvCxnSpPr>
            <p:nvPr/>
          </p:nvCxnSpPr>
          <p:spPr>
            <a:xfrm>
              <a:off x="10298000" y="3590895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08045A4-9DF9-388B-1086-A9EB03086C28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292" y="3759231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490E996-44C4-F69E-1847-6D9005943680}"/>
                </a:ext>
              </a:extLst>
            </p:cNvPr>
            <p:cNvCxnSpPr>
              <a:cxnSpLocks/>
            </p:cNvCxnSpPr>
            <p:nvPr/>
          </p:nvCxnSpPr>
          <p:spPr>
            <a:xfrm>
              <a:off x="10222584" y="3927567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6E8688-B220-9035-1117-111956010C7C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4095903"/>
              <a:ext cx="735290" cy="0"/>
            </a:xfrm>
            <a:prstGeom prst="line">
              <a:avLst/>
            </a:prstGeom>
            <a:ln w="762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180D97A-4B02-85F3-B003-F33100A795DE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4565897"/>
              <a:ext cx="735290" cy="0"/>
            </a:xfrm>
            <a:prstGeom prst="line">
              <a:avLst/>
            </a:prstGeom>
            <a:ln w="762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25CA21-A8CE-386D-2756-684F62B783D5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292" y="4734233"/>
              <a:ext cx="735290" cy="0"/>
            </a:xfrm>
            <a:prstGeom prst="line">
              <a:avLst/>
            </a:prstGeom>
            <a:ln w="762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3089D36-88CC-83BB-7816-E234F0DE550F}"/>
                </a:ext>
              </a:extLst>
            </p:cNvPr>
            <p:cNvCxnSpPr>
              <a:cxnSpLocks/>
            </p:cNvCxnSpPr>
            <p:nvPr/>
          </p:nvCxnSpPr>
          <p:spPr>
            <a:xfrm>
              <a:off x="10222584" y="4902569"/>
              <a:ext cx="735290" cy="0"/>
            </a:xfrm>
            <a:prstGeom prst="line">
              <a:avLst/>
            </a:prstGeom>
            <a:ln w="762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78D6C42-13CB-8821-F0FC-A7D9CCB230E5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5070905"/>
              <a:ext cx="735290" cy="0"/>
            </a:xfrm>
            <a:prstGeom prst="line">
              <a:avLst/>
            </a:prstGeom>
            <a:ln w="76200" cap="rnd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DB4001-27A8-28D1-A0FA-40330444936D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5550327"/>
              <a:ext cx="735290" cy="0"/>
            </a:xfrm>
            <a:prstGeom prst="line">
              <a:avLst/>
            </a:prstGeom>
            <a:ln w="76200" cap="rnd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F4D44C3-AC37-6A8E-76F2-93F672DBD92C}"/>
                </a:ext>
              </a:extLst>
            </p:cNvPr>
            <p:cNvCxnSpPr>
              <a:cxnSpLocks/>
            </p:cNvCxnSpPr>
            <p:nvPr/>
          </p:nvCxnSpPr>
          <p:spPr>
            <a:xfrm>
              <a:off x="10222584" y="5718663"/>
              <a:ext cx="735290" cy="0"/>
            </a:xfrm>
            <a:prstGeom prst="line">
              <a:avLst/>
            </a:prstGeom>
            <a:ln w="76200" cap="rnd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96D0094-C787-1DEF-9213-30B9AA26D7F0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292" y="5886999"/>
              <a:ext cx="735290" cy="0"/>
            </a:xfrm>
            <a:prstGeom prst="line">
              <a:avLst/>
            </a:prstGeom>
            <a:ln w="76200" cap="rnd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A46E9D8-96A6-3C2C-B62D-11E749E54846}"/>
                </a:ext>
              </a:extLst>
            </p:cNvPr>
            <p:cNvCxnSpPr>
              <a:cxnSpLocks/>
            </p:cNvCxnSpPr>
            <p:nvPr/>
          </p:nvCxnSpPr>
          <p:spPr>
            <a:xfrm>
              <a:off x="10260292" y="6055335"/>
              <a:ext cx="735290" cy="0"/>
            </a:xfrm>
            <a:prstGeom prst="line">
              <a:avLst/>
            </a:prstGeom>
            <a:ln w="76200" cap="rnd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AF926B3-83C0-FE62-16A9-B7DDE003E44C}"/>
                </a:ext>
              </a:extLst>
            </p:cNvPr>
            <p:cNvCxnSpPr>
              <a:cxnSpLocks/>
            </p:cNvCxnSpPr>
            <p:nvPr/>
          </p:nvCxnSpPr>
          <p:spPr>
            <a:xfrm>
              <a:off x="10184876" y="6223667"/>
              <a:ext cx="735290" cy="0"/>
            </a:xfrm>
            <a:prstGeom prst="line">
              <a:avLst/>
            </a:prstGeom>
            <a:ln w="76200" cap="rnd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3B5291D-3262-7973-7FD5-0119AF6A0535}"/>
                </a:ext>
              </a:extLst>
            </p:cNvPr>
            <p:cNvSpPr txBox="1"/>
            <p:nvPr/>
          </p:nvSpPr>
          <p:spPr>
            <a:xfrm>
              <a:off x="10071540" y="2892479"/>
              <a:ext cx="9190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chemeClr val="accent4"/>
                  </a:solidFill>
                </a:rPr>
                <a:t>metodoA</a:t>
              </a:r>
              <a:endParaRPr lang="en-US" sz="1100" dirty="0">
                <a:solidFill>
                  <a:schemeClr val="accent4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33213E8-DCE7-E82F-A500-0F150860436D}"/>
                </a:ext>
              </a:extLst>
            </p:cNvPr>
            <p:cNvSpPr txBox="1"/>
            <p:nvPr/>
          </p:nvSpPr>
          <p:spPr>
            <a:xfrm>
              <a:off x="10071540" y="4220120"/>
              <a:ext cx="9190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chemeClr val="accent4"/>
                  </a:solidFill>
                </a:rPr>
                <a:t>metodoB</a:t>
              </a:r>
              <a:endParaRPr lang="en-US" sz="1100" dirty="0">
                <a:solidFill>
                  <a:schemeClr val="accent4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4EDFDAB-B393-52C3-C997-2AAF326B7334}"/>
                </a:ext>
              </a:extLst>
            </p:cNvPr>
            <p:cNvSpPr txBox="1"/>
            <p:nvPr/>
          </p:nvSpPr>
          <p:spPr>
            <a:xfrm>
              <a:off x="10071540" y="5221525"/>
              <a:ext cx="9190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dirty="0" err="1">
                  <a:solidFill>
                    <a:schemeClr val="accent4"/>
                  </a:solidFill>
                </a:rPr>
                <a:t>metodoC</a:t>
              </a:r>
              <a:endParaRPr lang="en-US" sz="1100" dirty="0">
                <a:solidFill>
                  <a:schemeClr val="accent4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35DEBA9-DC99-B940-CD37-9D68DD5A16E2}"/>
                </a:ext>
              </a:extLst>
            </p:cNvPr>
            <p:cNvSpPr txBox="1"/>
            <p:nvPr/>
          </p:nvSpPr>
          <p:spPr>
            <a:xfrm>
              <a:off x="9921787" y="2504999"/>
              <a:ext cx="9190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100" dirty="0">
                  <a:solidFill>
                    <a:schemeClr val="bg1">
                      <a:lumMod val="50000"/>
                    </a:schemeClr>
                  </a:solidFill>
                </a:rPr>
                <a:t>M</a:t>
              </a:r>
              <a:r>
                <a:rPr lang="en-US" sz="1100" dirty="0" err="1">
                  <a:solidFill>
                    <a:schemeClr val="bg1">
                      <a:lumMod val="50000"/>
                    </a:schemeClr>
                  </a:solidFill>
                </a:rPr>
                <a:t>iClase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6" name="Arrow: Chevron 65">
            <a:extLst>
              <a:ext uri="{FF2B5EF4-FFF2-40B4-BE49-F238E27FC236}">
                <a16:creationId xmlns:a16="http://schemas.microsoft.com/office/drawing/2014/main" id="{41814E21-6D1C-8C18-6F59-07D9976AD5EF}"/>
              </a:ext>
            </a:extLst>
          </p:cNvPr>
          <p:cNvSpPr/>
          <p:nvPr/>
        </p:nvSpPr>
        <p:spPr>
          <a:xfrm>
            <a:off x="8812836" y="2134080"/>
            <a:ext cx="311085" cy="854400"/>
          </a:xfrm>
          <a:prstGeom prst="chevron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Procedimientos y funciones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Paso de parámetros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Procedimientos y funciones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Paso de parámetros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8CC2C-F2D4-10A9-2D12-CCD6B4875CA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791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EE3-5E02-6C39-711B-341B4B7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66BC7-8AC3-AE70-47C2-46060552AF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7855510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Un método implementa lo que la clase es </a:t>
            </a:r>
            <a:r>
              <a:rPr lang="es-ES" u="sng" dirty="0">
                <a:latin typeface="+mj-lt"/>
              </a:rPr>
              <a:t>capaz de hacer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Es una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subrutina</a:t>
            </a:r>
            <a:r>
              <a:rPr lang="es-ES" dirty="0">
                <a:latin typeface="+mj-lt"/>
              </a:rPr>
              <a:t> que manipula datos definidos en la clase.</a:t>
            </a:r>
          </a:p>
          <a:p>
            <a:r>
              <a:rPr lang="es-ES" dirty="0">
                <a:latin typeface="+mj-lt"/>
              </a:rPr>
              <a:t>Medio para </a:t>
            </a:r>
            <a:r>
              <a:rPr lang="es-ES" b="1" dirty="0">
                <a:latin typeface="+mj-lt"/>
              </a:rPr>
              <a:t>interactuar</a:t>
            </a:r>
            <a:r>
              <a:rPr lang="es-ES" dirty="0">
                <a:latin typeface="+mj-lt"/>
              </a:rPr>
              <a:t> con la clase.</a:t>
            </a:r>
          </a:p>
          <a:p>
            <a:r>
              <a:rPr lang="es-ES" dirty="0">
                <a:latin typeface="+mj-lt"/>
              </a:rPr>
              <a:t>Cada </a:t>
            </a:r>
            <a:r>
              <a:rPr lang="es-ES" b="1" dirty="0">
                <a:latin typeface="+mj-lt"/>
              </a:rPr>
              <a:t>método</a:t>
            </a:r>
            <a:r>
              <a:rPr lang="es-ES" dirty="0">
                <a:latin typeface="+mj-lt"/>
              </a:rPr>
              <a:t> realiza </a:t>
            </a:r>
            <a:r>
              <a:rPr lang="es-ES" b="1" dirty="0">
                <a:latin typeface="+mj-lt"/>
              </a:rPr>
              <a:t>una tarea </a:t>
            </a:r>
            <a:r>
              <a:rPr lang="es-ES" dirty="0">
                <a:latin typeface="+mj-lt"/>
              </a:rPr>
              <a:t>y </a:t>
            </a:r>
            <a:r>
              <a:rPr lang="en-US" dirty="0" err="1">
                <a:latin typeface="+mj-lt"/>
              </a:rPr>
              <a:t>puede</a:t>
            </a:r>
            <a:r>
              <a:rPr lang="en-US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devolver</a:t>
            </a:r>
            <a:r>
              <a:rPr lang="en-US" b="1" dirty="0">
                <a:latin typeface="+mj-lt"/>
              </a:rPr>
              <a:t> un valor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5C18A0B-6BA4-424D-3C76-EB8199FFFF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547" y="5304315"/>
            <a:ext cx="5985934" cy="1209001"/>
          </a:xfrm>
          <a:prstGeom prst="roundRect">
            <a:avLst>
              <a:gd name="adj" fmla="val 7522"/>
            </a:avLst>
          </a:prstGeom>
          <a:solidFill>
            <a:srgbClr val="074D67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tipo-retorno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nombreMetodo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lista-parámetros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cuerpo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9589E-AFD9-5BF6-C363-BD61B2988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64" y="1620963"/>
            <a:ext cx="2501534" cy="358133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5DCF31-3F72-7749-297B-891B2A136B76}"/>
              </a:ext>
            </a:extLst>
          </p:cNvPr>
          <p:cNvSpPr/>
          <p:nvPr/>
        </p:nvSpPr>
        <p:spPr>
          <a:xfrm>
            <a:off x="8880051" y="3886232"/>
            <a:ext cx="2501534" cy="1175962"/>
          </a:xfrm>
          <a:prstGeom prst="roundRect">
            <a:avLst>
              <a:gd name="adj" fmla="val 6555"/>
            </a:avLst>
          </a:prstGeom>
          <a:noFill/>
          <a:ln w="38100">
            <a:solidFill>
              <a:schemeClr val="accent4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1486DDA-2518-1CF6-A38B-8C517BD254E6}"/>
              </a:ext>
            </a:extLst>
          </p:cNvPr>
          <p:cNvSpPr/>
          <p:nvPr/>
        </p:nvSpPr>
        <p:spPr>
          <a:xfrm>
            <a:off x="1299080" y="1431116"/>
            <a:ext cx="10033762" cy="4678265"/>
          </a:xfrm>
          <a:prstGeom prst="rect">
            <a:avLst/>
          </a:prstGeom>
          <a:solidFill>
            <a:srgbClr val="F7F7F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EB4B8-0AF1-6E2D-4D25-455292BD2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E9C887-6FFF-0614-6D15-053C954D52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6A9F4-2B54-A176-A229-D4A901DFFFD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02831-93C3-F1AF-0FFD-D5B662FF4351}"/>
              </a:ext>
            </a:extLst>
          </p:cNvPr>
          <p:cNvSpPr txBox="1"/>
          <p:nvPr/>
        </p:nvSpPr>
        <p:spPr>
          <a:xfrm>
            <a:off x="1550393" y="2874417"/>
            <a:ext cx="9463894" cy="1836540"/>
          </a:xfrm>
          <a:prstGeom prst="roundRect">
            <a:avLst>
              <a:gd name="adj" fmla="val 661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216000" tIns="144000" bIns="144000" rtlCol="0">
            <a:spAutoFit/>
          </a:bodyPr>
          <a:lstStyle/>
          <a:p>
            <a:r>
              <a:rPr lang="es-ES" sz="2400" dirty="0">
                <a:solidFill>
                  <a:srgbClr val="FF66F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modo-acceso</a:t>
            </a:r>
            <a:r>
              <a:rPr lang="es-ES" sz="24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tipo-retorno</a:t>
            </a: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24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lista-parámetros</a:t>
            </a:r>
            <a:r>
              <a:rPr lang="es-ES" sz="24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24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r>
              <a:rPr lang="es-ES" sz="24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ES" sz="24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cuerpo del método</a:t>
            </a:r>
          </a:p>
          <a:p>
            <a:r>
              <a:rPr lang="es-ES" sz="24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sz="2400" dirty="0">
              <a:solidFill>
                <a:schemeClr val="accent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27367-3D6E-343E-C4AD-14B43AB4E8F8}"/>
              </a:ext>
            </a:extLst>
          </p:cNvPr>
          <p:cNvSpPr txBox="1"/>
          <p:nvPr/>
        </p:nvSpPr>
        <p:spPr>
          <a:xfrm>
            <a:off x="4353811" y="1670736"/>
            <a:ext cx="36778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Tipo de dato retornado por el método o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void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 si no retorna resultado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E5972-5D0B-FE55-7709-B684DDD727A1}"/>
              </a:ext>
            </a:extLst>
          </p:cNvPr>
          <p:cNvSpPr txBox="1"/>
          <p:nvPr/>
        </p:nvSpPr>
        <p:spPr>
          <a:xfrm>
            <a:off x="8867851" y="1994075"/>
            <a:ext cx="2160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Nombre del método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4A7315-21B6-2EA6-3CD9-CA6A3C6EE749}"/>
              </a:ext>
            </a:extLst>
          </p:cNvPr>
          <p:cNvSpPr txBox="1"/>
          <p:nvPr/>
        </p:nvSpPr>
        <p:spPr>
          <a:xfrm>
            <a:off x="7082676" y="5042535"/>
            <a:ext cx="3152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Secuencia de variables que reciben valor cuando el método es invocado (opcional)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CED603-2068-50B3-6A1B-72026931C540}"/>
              </a:ext>
            </a:extLst>
          </p:cNvPr>
          <p:cNvSpPr txBox="1"/>
          <p:nvPr/>
        </p:nvSpPr>
        <p:spPr>
          <a:xfrm>
            <a:off x="2648804" y="5329863"/>
            <a:ext cx="2979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Instrucciones que el método ejecutará al ser invocado.</a:t>
            </a: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B30D861-59DB-82ED-F142-3EA2D702D821}"/>
              </a:ext>
            </a:extLst>
          </p:cNvPr>
          <p:cNvSpPr/>
          <p:nvPr/>
        </p:nvSpPr>
        <p:spPr>
          <a:xfrm>
            <a:off x="5568092" y="2260544"/>
            <a:ext cx="194786" cy="805843"/>
          </a:xfrm>
          <a:custGeom>
            <a:avLst/>
            <a:gdLst>
              <a:gd name="connsiteX0" fmla="*/ 0 w 154005"/>
              <a:gd name="connsiteY0" fmla="*/ 0 h 1135781"/>
              <a:gd name="connsiteX1" fmla="*/ 154005 w 154005"/>
              <a:gd name="connsiteY1" fmla="*/ 1135781 h 1135781"/>
              <a:gd name="connsiteX0" fmla="*/ 0 w 270304"/>
              <a:gd name="connsiteY0" fmla="*/ 0 h 1135781"/>
              <a:gd name="connsiteX1" fmla="*/ 154005 w 270304"/>
              <a:gd name="connsiteY1" fmla="*/ 1135781 h 1135781"/>
              <a:gd name="connsiteX0" fmla="*/ 0 w 441679"/>
              <a:gd name="connsiteY0" fmla="*/ 7931 h 1143712"/>
              <a:gd name="connsiteX1" fmla="*/ 154005 w 441679"/>
              <a:gd name="connsiteY1" fmla="*/ 1143712 h 1143712"/>
              <a:gd name="connsiteX0" fmla="*/ 0 w 470591"/>
              <a:gd name="connsiteY0" fmla="*/ 5927 h 1141708"/>
              <a:gd name="connsiteX1" fmla="*/ 154005 w 470591"/>
              <a:gd name="connsiteY1" fmla="*/ 1141708 h 1141708"/>
              <a:gd name="connsiteX0" fmla="*/ 194786 w 525627"/>
              <a:gd name="connsiteY0" fmla="*/ 11048 h 816891"/>
              <a:gd name="connsiteX1" fmla="*/ 0 w 525627"/>
              <a:gd name="connsiteY1" fmla="*/ 816891 h 816891"/>
              <a:gd name="connsiteX0" fmla="*/ 194786 w 213684"/>
              <a:gd name="connsiteY0" fmla="*/ 0 h 805843"/>
              <a:gd name="connsiteX1" fmla="*/ 0 w 213684"/>
              <a:gd name="connsiteY1" fmla="*/ 805843 h 805843"/>
              <a:gd name="connsiteX0" fmla="*/ 194786 w 229674"/>
              <a:gd name="connsiteY0" fmla="*/ 0 h 805843"/>
              <a:gd name="connsiteX1" fmla="*/ 0 w 229674"/>
              <a:gd name="connsiteY1" fmla="*/ 805843 h 805843"/>
              <a:gd name="connsiteX0" fmla="*/ 194786 w 194786"/>
              <a:gd name="connsiteY0" fmla="*/ 0 h 805843"/>
              <a:gd name="connsiteX1" fmla="*/ 0 w 194786"/>
              <a:gd name="connsiteY1" fmla="*/ 805843 h 805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786" h="805843">
                <a:moveTo>
                  <a:pt x="194786" y="0"/>
                </a:moveTo>
                <a:cubicBezTo>
                  <a:pt x="154929" y="312705"/>
                  <a:pt x="174610" y="507923"/>
                  <a:pt x="0" y="805843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CE9525-2C66-C6BB-AB89-E471EC284333}"/>
              </a:ext>
            </a:extLst>
          </p:cNvPr>
          <p:cNvSpPr/>
          <p:nvPr/>
        </p:nvSpPr>
        <p:spPr>
          <a:xfrm flipH="1">
            <a:off x="6943580" y="2161241"/>
            <a:ext cx="1898766" cy="894045"/>
          </a:xfrm>
          <a:custGeom>
            <a:avLst/>
            <a:gdLst>
              <a:gd name="connsiteX0" fmla="*/ 0 w 154005"/>
              <a:gd name="connsiteY0" fmla="*/ 0 h 1135781"/>
              <a:gd name="connsiteX1" fmla="*/ 154005 w 154005"/>
              <a:gd name="connsiteY1" fmla="*/ 1135781 h 1135781"/>
              <a:gd name="connsiteX0" fmla="*/ 0 w 270304"/>
              <a:gd name="connsiteY0" fmla="*/ 0 h 1135781"/>
              <a:gd name="connsiteX1" fmla="*/ 154005 w 270304"/>
              <a:gd name="connsiteY1" fmla="*/ 1135781 h 1135781"/>
              <a:gd name="connsiteX0" fmla="*/ 0 w 441679"/>
              <a:gd name="connsiteY0" fmla="*/ 7931 h 1143712"/>
              <a:gd name="connsiteX1" fmla="*/ 154005 w 441679"/>
              <a:gd name="connsiteY1" fmla="*/ 1143712 h 1143712"/>
              <a:gd name="connsiteX0" fmla="*/ 0 w 470591"/>
              <a:gd name="connsiteY0" fmla="*/ 5927 h 1141708"/>
              <a:gd name="connsiteX1" fmla="*/ 154005 w 470591"/>
              <a:gd name="connsiteY1" fmla="*/ 1141708 h 1141708"/>
              <a:gd name="connsiteX0" fmla="*/ 0 w 1285976"/>
              <a:gd name="connsiteY0" fmla="*/ 5545 h 1189453"/>
              <a:gd name="connsiteX1" fmla="*/ 1192729 w 1285976"/>
              <a:gd name="connsiteY1" fmla="*/ 1189453 h 1189453"/>
              <a:gd name="connsiteX0" fmla="*/ 0 w 1192728"/>
              <a:gd name="connsiteY0" fmla="*/ 9364 h 1193272"/>
              <a:gd name="connsiteX1" fmla="*/ 1192729 w 1192728"/>
              <a:gd name="connsiteY1" fmla="*/ 1193272 h 1193272"/>
              <a:gd name="connsiteX0" fmla="*/ 0 w 1192729"/>
              <a:gd name="connsiteY0" fmla="*/ 0 h 1183908"/>
              <a:gd name="connsiteX1" fmla="*/ 1192729 w 1192729"/>
              <a:gd name="connsiteY1" fmla="*/ 1183908 h 1183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2729" h="1183908">
                <a:moveTo>
                  <a:pt x="0" y="0"/>
                </a:moveTo>
                <a:cubicBezTo>
                  <a:pt x="657727" y="118711"/>
                  <a:pt x="920230" y="285551"/>
                  <a:pt x="1192729" y="118390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239C7EF-2E10-EC7E-CA8F-693D35EADF85}"/>
              </a:ext>
            </a:extLst>
          </p:cNvPr>
          <p:cNvSpPr/>
          <p:nvPr/>
        </p:nvSpPr>
        <p:spPr>
          <a:xfrm flipH="1">
            <a:off x="8890182" y="3491507"/>
            <a:ext cx="273323" cy="1551028"/>
          </a:xfrm>
          <a:custGeom>
            <a:avLst/>
            <a:gdLst>
              <a:gd name="connsiteX0" fmla="*/ 0 w 154005"/>
              <a:gd name="connsiteY0" fmla="*/ 0 h 1135781"/>
              <a:gd name="connsiteX1" fmla="*/ 154005 w 154005"/>
              <a:gd name="connsiteY1" fmla="*/ 1135781 h 1135781"/>
              <a:gd name="connsiteX0" fmla="*/ 0 w 270304"/>
              <a:gd name="connsiteY0" fmla="*/ 0 h 1135781"/>
              <a:gd name="connsiteX1" fmla="*/ 154005 w 270304"/>
              <a:gd name="connsiteY1" fmla="*/ 1135781 h 1135781"/>
              <a:gd name="connsiteX0" fmla="*/ 0 w 441679"/>
              <a:gd name="connsiteY0" fmla="*/ 7931 h 1143712"/>
              <a:gd name="connsiteX1" fmla="*/ 154005 w 441679"/>
              <a:gd name="connsiteY1" fmla="*/ 1143712 h 1143712"/>
              <a:gd name="connsiteX0" fmla="*/ 0 w 470591"/>
              <a:gd name="connsiteY0" fmla="*/ 5927 h 1141708"/>
              <a:gd name="connsiteX1" fmla="*/ 154005 w 470591"/>
              <a:gd name="connsiteY1" fmla="*/ 1141708 h 1141708"/>
              <a:gd name="connsiteX0" fmla="*/ 0 w 1285976"/>
              <a:gd name="connsiteY0" fmla="*/ 5545 h 1189453"/>
              <a:gd name="connsiteX1" fmla="*/ 1192729 w 1285976"/>
              <a:gd name="connsiteY1" fmla="*/ 1189453 h 1189453"/>
              <a:gd name="connsiteX0" fmla="*/ 0 w 1192728"/>
              <a:gd name="connsiteY0" fmla="*/ 9364 h 1193272"/>
              <a:gd name="connsiteX1" fmla="*/ 1192729 w 1192728"/>
              <a:gd name="connsiteY1" fmla="*/ 1193272 h 1193272"/>
              <a:gd name="connsiteX0" fmla="*/ 0 w 1192729"/>
              <a:gd name="connsiteY0" fmla="*/ 0 h 1183908"/>
              <a:gd name="connsiteX1" fmla="*/ 1192729 w 1192729"/>
              <a:gd name="connsiteY1" fmla="*/ 1183908 h 1183908"/>
              <a:gd name="connsiteX0" fmla="*/ 0 w 303466"/>
              <a:gd name="connsiteY0" fmla="*/ 1506930 h 1511355"/>
              <a:gd name="connsiteX1" fmla="*/ 271799 w 303466"/>
              <a:gd name="connsiteY1" fmla="*/ 207520 h 1511355"/>
              <a:gd name="connsiteX0" fmla="*/ 95288 w 367087"/>
              <a:gd name="connsiteY0" fmla="*/ 1299410 h 1307898"/>
              <a:gd name="connsiteX1" fmla="*/ 367087 w 367087"/>
              <a:gd name="connsiteY1" fmla="*/ 0 h 1307898"/>
              <a:gd name="connsiteX0" fmla="*/ 215313 w 487112"/>
              <a:gd name="connsiteY0" fmla="*/ 1299410 h 1299410"/>
              <a:gd name="connsiteX1" fmla="*/ 487112 w 487112"/>
              <a:gd name="connsiteY1" fmla="*/ 0 h 1299410"/>
              <a:gd name="connsiteX0" fmla="*/ 71877 w 343676"/>
              <a:gd name="connsiteY0" fmla="*/ 1299410 h 1299410"/>
              <a:gd name="connsiteX1" fmla="*/ 343676 w 343676"/>
              <a:gd name="connsiteY1" fmla="*/ 0 h 1299410"/>
              <a:gd name="connsiteX0" fmla="*/ 150077 w 304083"/>
              <a:gd name="connsiteY0" fmla="*/ 1376412 h 1376412"/>
              <a:gd name="connsiteX1" fmla="*/ 304082 w 304083"/>
              <a:gd name="connsiteY1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4083" h="1376412">
                <a:moveTo>
                  <a:pt x="150077" y="1376412"/>
                </a:moveTo>
                <a:cubicBezTo>
                  <a:pt x="261671" y="869481"/>
                  <a:pt x="-343215" y="535807"/>
                  <a:pt x="304082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7647A36-3F77-30C9-10E0-E094C5E05FC2}"/>
              </a:ext>
            </a:extLst>
          </p:cNvPr>
          <p:cNvSpPr/>
          <p:nvPr/>
        </p:nvSpPr>
        <p:spPr>
          <a:xfrm flipH="1">
            <a:off x="3690638" y="4210126"/>
            <a:ext cx="1671660" cy="1077218"/>
          </a:xfrm>
          <a:custGeom>
            <a:avLst/>
            <a:gdLst>
              <a:gd name="connsiteX0" fmla="*/ 0 w 154005"/>
              <a:gd name="connsiteY0" fmla="*/ 0 h 1135781"/>
              <a:gd name="connsiteX1" fmla="*/ 154005 w 154005"/>
              <a:gd name="connsiteY1" fmla="*/ 1135781 h 1135781"/>
              <a:gd name="connsiteX0" fmla="*/ 0 w 270304"/>
              <a:gd name="connsiteY0" fmla="*/ 0 h 1135781"/>
              <a:gd name="connsiteX1" fmla="*/ 154005 w 270304"/>
              <a:gd name="connsiteY1" fmla="*/ 1135781 h 1135781"/>
              <a:gd name="connsiteX0" fmla="*/ 0 w 441679"/>
              <a:gd name="connsiteY0" fmla="*/ 7931 h 1143712"/>
              <a:gd name="connsiteX1" fmla="*/ 154005 w 441679"/>
              <a:gd name="connsiteY1" fmla="*/ 1143712 h 1143712"/>
              <a:gd name="connsiteX0" fmla="*/ 0 w 470591"/>
              <a:gd name="connsiteY0" fmla="*/ 5927 h 1141708"/>
              <a:gd name="connsiteX1" fmla="*/ 154005 w 470591"/>
              <a:gd name="connsiteY1" fmla="*/ 1141708 h 1141708"/>
              <a:gd name="connsiteX0" fmla="*/ 0 w 1285976"/>
              <a:gd name="connsiteY0" fmla="*/ 5545 h 1189453"/>
              <a:gd name="connsiteX1" fmla="*/ 1192729 w 1285976"/>
              <a:gd name="connsiteY1" fmla="*/ 1189453 h 1189453"/>
              <a:gd name="connsiteX0" fmla="*/ 0 w 1192728"/>
              <a:gd name="connsiteY0" fmla="*/ 9364 h 1193272"/>
              <a:gd name="connsiteX1" fmla="*/ 1192729 w 1192728"/>
              <a:gd name="connsiteY1" fmla="*/ 1193272 h 1193272"/>
              <a:gd name="connsiteX0" fmla="*/ 0 w 1192729"/>
              <a:gd name="connsiteY0" fmla="*/ 0 h 1183908"/>
              <a:gd name="connsiteX1" fmla="*/ 1192729 w 1192729"/>
              <a:gd name="connsiteY1" fmla="*/ 1183908 h 1183908"/>
              <a:gd name="connsiteX0" fmla="*/ 1463465 w 1579224"/>
              <a:gd name="connsiteY0" fmla="*/ 1293766 h 1298667"/>
              <a:gd name="connsiteX1" fmla="*/ 21908 w 1579224"/>
              <a:gd name="connsiteY1" fmla="*/ 225362 h 1298667"/>
              <a:gd name="connsiteX0" fmla="*/ 1441557 w 1572035"/>
              <a:gd name="connsiteY0" fmla="*/ 1068404 h 1090401"/>
              <a:gd name="connsiteX1" fmla="*/ 0 w 1572035"/>
              <a:gd name="connsiteY1" fmla="*/ 0 h 1090401"/>
              <a:gd name="connsiteX0" fmla="*/ 1441557 w 1441557"/>
              <a:gd name="connsiteY0" fmla="*/ 1068404 h 1068404"/>
              <a:gd name="connsiteX1" fmla="*/ 0 w 1441557"/>
              <a:gd name="connsiteY1" fmla="*/ 0 h 1068404"/>
              <a:gd name="connsiteX0" fmla="*/ 1463303 w 1463303"/>
              <a:gd name="connsiteY0" fmla="*/ 1068404 h 1068404"/>
              <a:gd name="connsiteX1" fmla="*/ 21746 w 1463303"/>
              <a:gd name="connsiteY1" fmla="*/ 0 h 1068404"/>
              <a:gd name="connsiteX0" fmla="*/ 1855630 w 1855630"/>
              <a:gd name="connsiteY0" fmla="*/ 1126155 h 1126155"/>
              <a:gd name="connsiteX1" fmla="*/ 17859 w 1855630"/>
              <a:gd name="connsiteY1" fmla="*/ 0 h 1126155"/>
              <a:gd name="connsiteX0" fmla="*/ 1859788 w 1859788"/>
              <a:gd name="connsiteY0" fmla="*/ 1126155 h 1126155"/>
              <a:gd name="connsiteX1" fmla="*/ 22017 w 1859788"/>
              <a:gd name="connsiteY1" fmla="*/ 0 h 112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9788" h="1126155">
                <a:moveTo>
                  <a:pt x="1859788" y="1126155"/>
                </a:moveTo>
                <a:cubicBezTo>
                  <a:pt x="1425248" y="426718"/>
                  <a:pt x="-207649" y="930443"/>
                  <a:pt x="2201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3CEEFB-CFCC-12D8-B262-60C009ECCFAF}"/>
              </a:ext>
            </a:extLst>
          </p:cNvPr>
          <p:cNvSpPr txBox="1"/>
          <p:nvPr/>
        </p:nvSpPr>
        <p:spPr>
          <a:xfrm>
            <a:off x="1640041" y="1670736"/>
            <a:ext cx="2688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Modificador de acceso: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public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private</a:t>
            </a:r>
            <a:r>
              <a:rPr lang="es-ES" sz="16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s-ES" sz="1600" b="1" dirty="0" err="1">
                <a:solidFill>
                  <a:schemeClr val="bg1">
                    <a:lumMod val="50000"/>
                  </a:schemeClr>
                </a:solidFill>
              </a:rPr>
              <a:t>protected</a:t>
            </a: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EFF00B7-08F6-FDEC-8C81-0DFA3D926185}"/>
              </a:ext>
            </a:extLst>
          </p:cNvPr>
          <p:cNvSpPr/>
          <p:nvPr/>
        </p:nvSpPr>
        <p:spPr>
          <a:xfrm rot="19406304">
            <a:off x="2888469" y="2279398"/>
            <a:ext cx="194786" cy="805843"/>
          </a:xfrm>
          <a:custGeom>
            <a:avLst/>
            <a:gdLst>
              <a:gd name="connsiteX0" fmla="*/ 0 w 154005"/>
              <a:gd name="connsiteY0" fmla="*/ 0 h 1135781"/>
              <a:gd name="connsiteX1" fmla="*/ 154005 w 154005"/>
              <a:gd name="connsiteY1" fmla="*/ 1135781 h 1135781"/>
              <a:gd name="connsiteX0" fmla="*/ 0 w 270304"/>
              <a:gd name="connsiteY0" fmla="*/ 0 h 1135781"/>
              <a:gd name="connsiteX1" fmla="*/ 154005 w 270304"/>
              <a:gd name="connsiteY1" fmla="*/ 1135781 h 1135781"/>
              <a:gd name="connsiteX0" fmla="*/ 0 w 441679"/>
              <a:gd name="connsiteY0" fmla="*/ 7931 h 1143712"/>
              <a:gd name="connsiteX1" fmla="*/ 154005 w 441679"/>
              <a:gd name="connsiteY1" fmla="*/ 1143712 h 1143712"/>
              <a:gd name="connsiteX0" fmla="*/ 0 w 470591"/>
              <a:gd name="connsiteY0" fmla="*/ 5927 h 1141708"/>
              <a:gd name="connsiteX1" fmla="*/ 154005 w 470591"/>
              <a:gd name="connsiteY1" fmla="*/ 1141708 h 1141708"/>
              <a:gd name="connsiteX0" fmla="*/ 194786 w 525627"/>
              <a:gd name="connsiteY0" fmla="*/ 11048 h 816891"/>
              <a:gd name="connsiteX1" fmla="*/ 0 w 525627"/>
              <a:gd name="connsiteY1" fmla="*/ 816891 h 816891"/>
              <a:gd name="connsiteX0" fmla="*/ 194786 w 213684"/>
              <a:gd name="connsiteY0" fmla="*/ 0 h 805843"/>
              <a:gd name="connsiteX1" fmla="*/ 0 w 213684"/>
              <a:gd name="connsiteY1" fmla="*/ 805843 h 805843"/>
              <a:gd name="connsiteX0" fmla="*/ 194786 w 229674"/>
              <a:gd name="connsiteY0" fmla="*/ 0 h 805843"/>
              <a:gd name="connsiteX1" fmla="*/ 0 w 229674"/>
              <a:gd name="connsiteY1" fmla="*/ 805843 h 805843"/>
              <a:gd name="connsiteX0" fmla="*/ 194786 w 194786"/>
              <a:gd name="connsiteY0" fmla="*/ 0 h 805843"/>
              <a:gd name="connsiteX1" fmla="*/ 0 w 194786"/>
              <a:gd name="connsiteY1" fmla="*/ 805843 h 805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786" h="805843">
                <a:moveTo>
                  <a:pt x="194786" y="0"/>
                </a:moveTo>
                <a:cubicBezTo>
                  <a:pt x="154929" y="312705"/>
                  <a:pt x="174610" y="507923"/>
                  <a:pt x="0" y="805843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0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4636515-130B-E118-1273-C33174502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334" y="1559384"/>
            <a:ext cx="5098408" cy="3701523"/>
          </a:xfrm>
          <a:prstGeom prst="roundRect">
            <a:avLst>
              <a:gd name="adj" fmla="val 2954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calcularArea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base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*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altura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7DF1A-3F9A-405D-E4A0-59F334B95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EBE311-0C68-167E-6E5E-46402AA7FA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7B0451-2459-B39F-B5C8-2D8FA327537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Métodos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C41BB64-55FC-582E-6FD4-AE61E42C4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750" y="4157699"/>
            <a:ext cx="5818852" cy="1777184"/>
          </a:xfrm>
          <a:prstGeom prst="roundRect">
            <a:avLst>
              <a:gd name="adj" fmla="val 5537"/>
            </a:avLst>
          </a:prstGeom>
          <a:solidFill>
            <a:srgbClr val="042F3E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12.5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13.56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rectangulo.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calcularArea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37A147-2EDA-D12B-B508-FB0E11E836EF}"/>
              </a:ext>
            </a:extLst>
          </p:cNvPr>
          <p:cNvSpPr txBox="1"/>
          <p:nvPr/>
        </p:nvSpPr>
        <p:spPr>
          <a:xfrm>
            <a:off x="2264790" y="5604900"/>
            <a:ext cx="1600200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169.5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BF505-0261-A33D-FC4E-1045DC873DF7}"/>
              </a:ext>
            </a:extLst>
          </p:cNvPr>
          <p:cNvSpPr txBox="1"/>
          <p:nvPr/>
        </p:nvSpPr>
        <p:spPr>
          <a:xfrm>
            <a:off x="1411978" y="5605276"/>
            <a:ext cx="765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Salida: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161C89-A41A-41B5-A005-FC448D6E68F9}"/>
              </a:ext>
            </a:extLst>
          </p:cNvPr>
          <p:cNvSpPr/>
          <p:nvPr/>
        </p:nvSpPr>
        <p:spPr>
          <a:xfrm>
            <a:off x="1640264" y="4077564"/>
            <a:ext cx="3778105" cy="922884"/>
          </a:xfrm>
          <a:prstGeom prst="roundRect">
            <a:avLst>
              <a:gd name="adj" fmla="val 6555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7E916CD-C9FF-9B00-02D7-C5A8A73F6CA6}"/>
              </a:ext>
            </a:extLst>
          </p:cNvPr>
          <p:cNvSpPr/>
          <p:nvPr/>
        </p:nvSpPr>
        <p:spPr>
          <a:xfrm>
            <a:off x="4396817" y="4229367"/>
            <a:ext cx="3808429" cy="1582778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4189634 w 4288026"/>
              <a:gd name="connsiteY0" fmla="*/ 1273924 h 1273924"/>
              <a:gd name="connsiteX1" fmla="*/ 315217 w 4288026"/>
              <a:gd name="connsiteY1" fmla="*/ 10730 h 1273924"/>
              <a:gd name="connsiteX0" fmla="*/ 3874417 w 4072646"/>
              <a:gd name="connsiteY0" fmla="*/ 1777329 h 1777329"/>
              <a:gd name="connsiteX1" fmla="*/ 0 w 4072646"/>
              <a:gd name="connsiteY1" fmla="*/ 514135 h 1777329"/>
              <a:gd name="connsiteX0" fmla="*/ 3874417 w 3874417"/>
              <a:gd name="connsiteY0" fmla="*/ 1650157 h 1898259"/>
              <a:gd name="connsiteX1" fmla="*/ 0 w 3874417"/>
              <a:gd name="connsiteY1" fmla="*/ 386963 h 1898259"/>
              <a:gd name="connsiteX0" fmla="*/ 3874417 w 3874417"/>
              <a:gd name="connsiteY0" fmla="*/ 1652350 h 1652350"/>
              <a:gd name="connsiteX1" fmla="*/ 1692897 w 3874417"/>
              <a:gd name="connsiteY1" fmla="*/ 1197968 h 1652350"/>
              <a:gd name="connsiteX2" fmla="*/ 0 w 3874417"/>
              <a:gd name="connsiteY2" fmla="*/ 389156 h 1652350"/>
              <a:gd name="connsiteX0" fmla="*/ 3874417 w 3874417"/>
              <a:gd name="connsiteY0" fmla="*/ 1850934 h 1850934"/>
              <a:gd name="connsiteX1" fmla="*/ 1692897 w 3874417"/>
              <a:gd name="connsiteY1" fmla="*/ 1396552 h 1850934"/>
              <a:gd name="connsiteX2" fmla="*/ 0 w 3874417"/>
              <a:gd name="connsiteY2" fmla="*/ 587740 h 1850934"/>
              <a:gd name="connsiteX0" fmla="*/ 3874417 w 3874417"/>
              <a:gd name="connsiteY0" fmla="*/ 1906023 h 1906023"/>
              <a:gd name="connsiteX1" fmla="*/ 1692897 w 3874417"/>
              <a:gd name="connsiteY1" fmla="*/ 1451641 h 1906023"/>
              <a:gd name="connsiteX2" fmla="*/ 0 w 3874417"/>
              <a:gd name="connsiteY2" fmla="*/ 642829 h 190602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12175 h 2388886"/>
              <a:gd name="connsiteX1" fmla="*/ 1692897 w 3874417"/>
              <a:gd name="connsiteY1" fmla="*/ 1457793 h 2388886"/>
              <a:gd name="connsiteX2" fmla="*/ 0 w 3874417"/>
              <a:gd name="connsiteY2" fmla="*/ 648981 h 2388886"/>
              <a:gd name="connsiteX0" fmla="*/ 3874417 w 3874417"/>
              <a:gd name="connsiteY0" fmla="*/ 1264028 h 1740739"/>
              <a:gd name="connsiteX1" fmla="*/ 1692897 w 3874417"/>
              <a:gd name="connsiteY1" fmla="*/ 809646 h 1740739"/>
              <a:gd name="connsiteX2" fmla="*/ 0 w 3874417"/>
              <a:gd name="connsiteY2" fmla="*/ 834 h 1740739"/>
              <a:gd name="connsiteX0" fmla="*/ 3704734 w 3704734"/>
              <a:gd name="connsiteY0" fmla="*/ 1263617 h 1598041"/>
              <a:gd name="connsiteX1" fmla="*/ 1523214 w 3704734"/>
              <a:gd name="connsiteY1" fmla="*/ 809235 h 1598041"/>
              <a:gd name="connsiteX2" fmla="*/ 0 w 3704734"/>
              <a:gd name="connsiteY2" fmla="*/ 423 h 1598041"/>
              <a:gd name="connsiteX0" fmla="*/ 3808429 w 3808429"/>
              <a:gd name="connsiteY0" fmla="*/ 1207090 h 1539972"/>
              <a:gd name="connsiteX1" fmla="*/ 1626909 w 3808429"/>
              <a:gd name="connsiteY1" fmla="*/ 752708 h 1539972"/>
              <a:gd name="connsiteX2" fmla="*/ 0 w 3808429"/>
              <a:gd name="connsiteY2" fmla="*/ 457 h 1539972"/>
              <a:gd name="connsiteX0" fmla="*/ 3808429 w 3808429"/>
              <a:gd name="connsiteY0" fmla="*/ 1206963 h 1586963"/>
              <a:gd name="connsiteX1" fmla="*/ 1730604 w 3808429"/>
              <a:gd name="connsiteY1" fmla="*/ 978824 h 1586963"/>
              <a:gd name="connsiteX2" fmla="*/ 0 w 3808429"/>
              <a:gd name="connsiteY2" fmla="*/ 330 h 1586963"/>
              <a:gd name="connsiteX0" fmla="*/ 3808429 w 3808429"/>
              <a:gd name="connsiteY0" fmla="*/ 1207099 h 1679211"/>
              <a:gd name="connsiteX1" fmla="*/ 1730604 w 3808429"/>
              <a:gd name="connsiteY1" fmla="*/ 978960 h 1679211"/>
              <a:gd name="connsiteX2" fmla="*/ 0 w 3808429"/>
              <a:gd name="connsiteY2" fmla="*/ 466 h 1679211"/>
              <a:gd name="connsiteX0" fmla="*/ 3808429 w 3808429"/>
              <a:gd name="connsiteY0" fmla="*/ 1207470 h 1606712"/>
              <a:gd name="connsiteX1" fmla="*/ 1636336 w 3808429"/>
              <a:gd name="connsiteY1" fmla="*/ 724807 h 1606712"/>
              <a:gd name="connsiteX2" fmla="*/ 0 w 3808429"/>
              <a:gd name="connsiteY2" fmla="*/ 837 h 1606712"/>
              <a:gd name="connsiteX0" fmla="*/ 3808429 w 3808429"/>
              <a:gd name="connsiteY0" fmla="*/ 1207470 h 1569026"/>
              <a:gd name="connsiteX1" fmla="*/ 1636336 w 3808429"/>
              <a:gd name="connsiteY1" fmla="*/ 724807 h 1569026"/>
              <a:gd name="connsiteX2" fmla="*/ 0 w 3808429"/>
              <a:gd name="connsiteY2" fmla="*/ 837 h 1569026"/>
              <a:gd name="connsiteX0" fmla="*/ 3808429 w 3808429"/>
              <a:gd name="connsiteY0" fmla="*/ 1221222 h 1582778"/>
              <a:gd name="connsiteX1" fmla="*/ 1636336 w 3808429"/>
              <a:gd name="connsiteY1" fmla="*/ 738559 h 1582778"/>
              <a:gd name="connsiteX2" fmla="*/ 0 w 3808429"/>
              <a:gd name="connsiteY2" fmla="*/ 14589 h 1582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08429" h="1582778">
                <a:moveTo>
                  <a:pt x="3808429" y="1221222"/>
                </a:moveTo>
                <a:cubicBezTo>
                  <a:pt x="3335780" y="2021869"/>
                  <a:pt x="2299355" y="1326163"/>
                  <a:pt x="1636336" y="738559"/>
                </a:cubicBezTo>
                <a:cubicBezTo>
                  <a:pt x="1138034" y="296936"/>
                  <a:pt x="870407" y="-79677"/>
                  <a:pt x="0" y="14589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1AAD17F-EDDD-E14E-B137-92267E87C5DC}"/>
              </a:ext>
            </a:extLst>
          </p:cNvPr>
          <p:cNvGrpSpPr/>
          <p:nvPr/>
        </p:nvGrpSpPr>
        <p:grpSpPr>
          <a:xfrm>
            <a:off x="7182915" y="1244318"/>
            <a:ext cx="3699751" cy="1999013"/>
            <a:chOff x="7182915" y="1244318"/>
            <a:chExt cx="3699751" cy="199901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6684913-5270-6FBF-0CCB-1ABB54CDB8DD}"/>
                </a:ext>
              </a:extLst>
            </p:cNvPr>
            <p:cNvSpPr/>
            <p:nvPr/>
          </p:nvSpPr>
          <p:spPr>
            <a:xfrm>
              <a:off x="8016917" y="1607510"/>
              <a:ext cx="2865749" cy="1092791"/>
            </a:xfrm>
            <a:prstGeom prst="rect">
              <a:avLst/>
            </a:prstGeom>
            <a:solidFill>
              <a:srgbClr val="CB1B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6A5840-2C45-43E7-64E9-87D440C98D8B}"/>
                </a:ext>
              </a:extLst>
            </p:cNvPr>
            <p:cNvCxnSpPr/>
            <p:nvPr/>
          </p:nvCxnSpPr>
          <p:spPr>
            <a:xfrm>
              <a:off x="7833673" y="1636858"/>
              <a:ext cx="0" cy="1063443"/>
            </a:xfrm>
            <a:prstGeom prst="straightConnector1">
              <a:avLst/>
            </a:prstGeom>
            <a:ln w="19050">
              <a:solidFill>
                <a:srgbClr val="CB1B4A"/>
              </a:solidFill>
              <a:prstDash val="sys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2A147DB-C66F-FD00-ED7E-D3F3D61A893B}"/>
                </a:ext>
              </a:extLst>
            </p:cNvPr>
            <p:cNvCxnSpPr>
              <a:cxnSpLocks/>
            </p:cNvCxnSpPr>
            <p:nvPr/>
          </p:nvCxnSpPr>
          <p:spPr>
            <a:xfrm>
              <a:off x="8016917" y="2897278"/>
              <a:ext cx="2865749" cy="0"/>
            </a:xfrm>
            <a:prstGeom prst="straightConnector1">
              <a:avLst/>
            </a:prstGeom>
            <a:ln w="19050">
              <a:solidFill>
                <a:srgbClr val="CB1B4A"/>
              </a:solidFill>
              <a:prstDash val="sysDash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2F55DF-3D09-5021-4516-03DE7D60CFA9}"/>
                </a:ext>
              </a:extLst>
            </p:cNvPr>
            <p:cNvSpPr txBox="1"/>
            <p:nvPr/>
          </p:nvSpPr>
          <p:spPr>
            <a:xfrm>
              <a:off x="9163494" y="2935554"/>
              <a:ext cx="57259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chemeClr val="bg1">
                      <a:lumMod val="50000"/>
                    </a:schemeClr>
                  </a:solidFill>
                </a:rPr>
                <a:t>base</a:t>
              </a:r>
              <a:endParaRPr lang="en-US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E348421-9F8D-9AAE-2DAF-4AEE28E0A76A}"/>
                </a:ext>
              </a:extLst>
            </p:cNvPr>
            <p:cNvSpPr txBox="1"/>
            <p:nvPr/>
          </p:nvSpPr>
          <p:spPr>
            <a:xfrm>
              <a:off x="7182915" y="2000016"/>
              <a:ext cx="6319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chemeClr val="bg1">
                      <a:lumMod val="50000"/>
                    </a:schemeClr>
                  </a:solidFill>
                </a:rPr>
                <a:t>altura</a:t>
              </a:r>
              <a:endParaRPr lang="en-US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113FD9-7818-531C-8277-109E8034FAFB}"/>
                </a:ext>
              </a:extLst>
            </p:cNvPr>
            <p:cNvSpPr txBox="1"/>
            <p:nvPr/>
          </p:nvSpPr>
          <p:spPr>
            <a:xfrm>
              <a:off x="8557831" y="2006426"/>
              <a:ext cx="17700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rgbClr val="FCB6B8"/>
                  </a:solidFill>
                </a:rPr>
                <a:t>área = base x altura</a:t>
              </a:r>
              <a:endParaRPr lang="en-US" i="1" dirty="0">
                <a:solidFill>
                  <a:srgbClr val="FCB6B8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33DB232-5AEE-6496-58BA-A23E85B4E965}"/>
                </a:ext>
              </a:extLst>
            </p:cNvPr>
            <p:cNvSpPr txBox="1"/>
            <p:nvPr/>
          </p:nvSpPr>
          <p:spPr>
            <a:xfrm>
              <a:off x="8920883" y="1244318"/>
              <a:ext cx="1019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i="1" dirty="0">
                  <a:solidFill>
                    <a:srgbClr val="CB1B4A"/>
                  </a:solidFill>
                </a:rPr>
                <a:t>rectángulo</a:t>
              </a:r>
              <a:endParaRPr lang="en-US" i="1" dirty="0">
                <a:solidFill>
                  <a:srgbClr val="CB1B4A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96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Paso de parámetros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8CC2C-F2D4-10A9-2D12-CCD6B4875CA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Procedimientos y funciones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8857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ight Brace 12">
            <a:extLst>
              <a:ext uri="{FF2B5EF4-FFF2-40B4-BE49-F238E27FC236}">
                <a16:creationId xmlns:a16="http://schemas.microsoft.com/office/drawing/2014/main" id="{1D071D8F-2790-9F8B-80AD-4D31E35987DF}"/>
              </a:ext>
            </a:extLst>
          </p:cNvPr>
          <p:cNvSpPr/>
          <p:nvPr/>
        </p:nvSpPr>
        <p:spPr>
          <a:xfrm rot="16200000">
            <a:off x="6014890" y="119928"/>
            <a:ext cx="743540" cy="4787846"/>
          </a:xfrm>
          <a:prstGeom prst="rightBrace">
            <a:avLst>
              <a:gd name="adj1" fmla="val 0"/>
              <a:gd name="adj2" fmla="val 50000"/>
            </a:avLst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métodos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Procedimientos y funciones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233D8B-672D-E427-1700-A684D0EACF35}"/>
              </a:ext>
            </a:extLst>
          </p:cNvPr>
          <p:cNvSpPr/>
          <p:nvPr/>
        </p:nvSpPr>
        <p:spPr>
          <a:xfrm>
            <a:off x="5099902" y="1639296"/>
            <a:ext cx="2573516" cy="63525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Métodos</a:t>
            </a:r>
            <a:endParaRPr lang="en-US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900576-FF79-3792-DBF6-303A5126FC62}"/>
              </a:ext>
            </a:extLst>
          </p:cNvPr>
          <p:cNvSpPr/>
          <p:nvPr/>
        </p:nvSpPr>
        <p:spPr>
          <a:xfrm>
            <a:off x="2046609" y="2793168"/>
            <a:ext cx="3889134" cy="635250"/>
          </a:xfrm>
          <a:prstGeom prst="roundRect">
            <a:avLst/>
          </a:prstGeom>
          <a:solidFill>
            <a:srgbClr val="697F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Procedimiento</a:t>
            </a: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17B52A8-521C-FA0D-4A3C-D6035102AD4E}"/>
              </a:ext>
            </a:extLst>
          </p:cNvPr>
          <p:cNvSpPr/>
          <p:nvPr/>
        </p:nvSpPr>
        <p:spPr>
          <a:xfrm>
            <a:off x="6806152" y="2793168"/>
            <a:ext cx="3889135" cy="635250"/>
          </a:xfrm>
          <a:prstGeom prst="roundRect">
            <a:avLst/>
          </a:prstGeom>
          <a:solidFill>
            <a:srgbClr val="42A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Función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0A3A9-EE41-BAA2-B437-C604CA105E18}"/>
              </a:ext>
            </a:extLst>
          </p:cNvPr>
          <p:cNvSpPr txBox="1"/>
          <p:nvPr/>
        </p:nvSpPr>
        <p:spPr>
          <a:xfrm>
            <a:off x="2046608" y="3681272"/>
            <a:ext cx="3889135" cy="1273585"/>
          </a:xfrm>
          <a:prstGeom prst="roundRect">
            <a:avLst>
              <a:gd name="adj" fmla="val 661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44000" tIns="72000" rIns="72000" b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void</a:t>
            </a: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lang="es-ES" sz="12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lista-parámetros</a:t>
            </a:r>
            <a:r>
              <a:rPr lang="es-ES" sz="12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cuerpo del 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// procedimiento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F489E-DE53-89D3-090C-96CB87F9C6C5}"/>
              </a:ext>
            </a:extLst>
          </p:cNvPr>
          <p:cNvSpPr txBox="1"/>
          <p:nvPr/>
        </p:nvSpPr>
        <p:spPr>
          <a:xfrm>
            <a:off x="6806153" y="3681272"/>
            <a:ext cx="3889134" cy="1273585"/>
          </a:xfrm>
          <a:prstGeom prst="roundRect">
            <a:avLst>
              <a:gd name="adj" fmla="val 6617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144000" tIns="72000" rIns="72000" bIns="72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tipo-retorno</a:t>
            </a: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</a:t>
            </a:r>
            <a:r>
              <a:rPr lang="es-ES" sz="12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es-ES" sz="1200" dirty="0">
                <a:solidFill>
                  <a:schemeClr val="accent2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lista-parámetros</a:t>
            </a:r>
            <a:r>
              <a:rPr lang="es-ES" sz="1200" dirty="0">
                <a:solidFill>
                  <a:schemeClr val="bg1">
                    <a:lumMod val="8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cuerpo de la función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</a:t>
            </a:r>
            <a:r>
              <a:rPr lang="es-ES" sz="1200" dirty="0" err="1">
                <a:solidFill>
                  <a:srgbClr val="00B0F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</a:t>
            </a: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s-ES" sz="1200" dirty="0">
                <a:solidFill>
                  <a:srgbClr val="FCB6B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</a:t>
            </a:r>
            <a:r>
              <a:rPr lang="es-ES" sz="1200" dirty="0">
                <a:solidFill>
                  <a:schemeClr val="bg1">
                    <a:lumMod val="65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chemeClr val="accent4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lang="en-US" sz="1200" dirty="0">
              <a:solidFill>
                <a:schemeClr val="accent4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0E16B9-41B8-996B-AA3E-36B0D8E1278A}"/>
              </a:ext>
            </a:extLst>
          </p:cNvPr>
          <p:cNvSpPr txBox="1"/>
          <p:nvPr/>
        </p:nvSpPr>
        <p:spPr>
          <a:xfrm>
            <a:off x="2046609" y="5258910"/>
            <a:ext cx="8648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A partir de la sintaxis mostrada… </a:t>
            </a:r>
            <a:br>
              <a:rPr lang="es-ES" sz="24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¿Qué diferencias encuentras entre un procedimiento y una función?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4B9C-C6A8-43A7-55A7-D8B1768A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Procedimientos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7030F-C4C3-3C11-7552-1268072EB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C8FD1-95C1-7C97-0C40-D78A7F69581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Procedimientos y funciones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045071-8610-62BA-D47E-CB505ECD4D0E}"/>
              </a:ext>
            </a:extLst>
          </p:cNvPr>
          <p:cNvSpPr txBox="1"/>
          <p:nvPr/>
        </p:nvSpPr>
        <p:spPr>
          <a:xfrm>
            <a:off x="2542256" y="1916583"/>
            <a:ext cx="3466706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+mj-lt"/>
              </a:rPr>
              <a:t>Método que </a:t>
            </a:r>
          </a:p>
          <a:p>
            <a:pPr algn="ctr"/>
            <a:r>
              <a:rPr lang="es-ES" sz="4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NO retorna </a:t>
            </a:r>
          </a:p>
          <a:p>
            <a:pPr algn="ctr"/>
            <a:r>
              <a:rPr lang="es-ES" sz="3200" dirty="0">
                <a:latin typeface="+mj-lt"/>
              </a:rPr>
              <a:t>ningún valor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008483-B9EA-26CF-6CA2-D006F74AF2E4}"/>
              </a:ext>
            </a:extLst>
          </p:cNvPr>
          <p:cNvSpPr txBox="1"/>
          <p:nvPr/>
        </p:nvSpPr>
        <p:spPr>
          <a:xfrm>
            <a:off x="6661610" y="1932583"/>
            <a:ext cx="3466706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+mj-lt"/>
              </a:rPr>
              <a:t>Su tipo de </a:t>
            </a:r>
          </a:p>
          <a:p>
            <a:pPr algn="ctr"/>
            <a:r>
              <a:rPr lang="es-ES" sz="3200" dirty="0">
                <a:latin typeface="+mj-lt"/>
              </a:rPr>
              <a:t>retorno es </a:t>
            </a:r>
          </a:p>
          <a:p>
            <a:pPr algn="ctr"/>
            <a:r>
              <a:rPr lang="es-ES" sz="4000" b="1" dirty="0" err="1">
                <a:solidFill>
                  <a:schemeClr val="accent2"/>
                </a:solidFill>
                <a:latin typeface="+mj-lt"/>
              </a:rPr>
              <a:t>void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EA0D14-D1C6-1D3B-568A-FED94B0448B1}"/>
              </a:ext>
            </a:extLst>
          </p:cNvPr>
          <p:cNvSpPr txBox="1"/>
          <p:nvPr/>
        </p:nvSpPr>
        <p:spPr>
          <a:xfrm>
            <a:off x="2542256" y="4162350"/>
            <a:ext cx="3466706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+mj-lt"/>
              </a:rPr>
              <a:t>No es necesario </a:t>
            </a:r>
          </a:p>
          <a:p>
            <a:pPr algn="ctr"/>
            <a:r>
              <a:rPr lang="es-ES" sz="3200" dirty="0">
                <a:latin typeface="+mj-lt"/>
              </a:rPr>
              <a:t>el uso de </a:t>
            </a:r>
          </a:p>
          <a:p>
            <a:pPr algn="ctr"/>
            <a:r>
              <a:rPr lang="es-ES" sz="4000" b="1" dirty="0" err="1">
                <a:solidFill>
                  <a:srgbClr val="00B050"/>
                </a:solidFill>
                <a:latin typeface="+mj-lt"/>
              </a:rPr>
              <a:t>return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19D17C-D167-1D85-786D-63EB4DB911F3}"/>
              </a:ext>
            </a:extLst>
          </p:cNvPr>
          <p:cNvSpPr txBox="1"/>
          <p:nvPr/>
        </p:nvSpPr>
        <p:spPr>
          <a:xfrm>
            <a:off x="6661610" y="4162350"/>
            <a:ext cx="34667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+mj-lt"/>
              </a:rPr>
              <a:t>Nota</a:t>
            </a:r>
            <a:r>
              <a:rPr lang="es-ES" sz="2000" dirty="0">
                <a:latin typeface="+mj-lt"/>
              </a:rPr>
              <a:t>: aún en procedimientos se puede usar </a:t>
            </a:r>
            <a:r>
              <a:rPr lang="es-ES" sz="2000" b="1" dirty="0" err="1">
                <a:solidFill>
                  <a:srgbClr val="00B050"/>
                </a:solidFill>
                <a:latin typeface="+mj-lt"/>
              </a:rPr>
              <a:t>return</a:t>
            </a:r>
            <a:r>
              <a:rPr lang="es-ES" sz="2000" dirty="0">
                <a:latin typeface="+mj-lt"/>
              </a:rPr>
              <a:t> para causar su </a:t>
            </a:r>
            <a:r>
              <a:rPr lang="es-ES" sz="2000" u="sng" dirty="0">
                <a:latin typeface="+mj-lt"/>
              </a:rPr>
              <a:t>terminación inmediata</a:t>
            </a:r>
            <a:r>
              <a:rPr lang="es-ES" sz="2000" dirty="0">
                <a:latin typeface="+mj-lt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129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4B9C-C6A8-43A7-55A7-D8B1768A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Procedimientos.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7030F-C4C3-3C11-7552-1268072EB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C8FD1-95C1-7C97-0C40-D78A7F69581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Procedimientos y funciones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09F78DE-6B5B-357D-776B-0D292F29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626" y="1454852"/>
            <a:ext cx="4612689" cy="4986341"/>
          </a:xfrm>
          <a:prstGeom prst="roundRect">
            <a:avLst>
              <a:gd name="adj" fmla="val 3446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calcularPromedio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double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: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%.2f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6A7FDEC-E277-7668-D274-097E9E15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555" y="2350398"/>
            <a:ext cx="4986127" cy="2443575"/>
          </a:xfrm>
          <a:prstGeom prst="roundRect">
            <a:avLst>
              <a:gd name="adj" fmla="val 5784"/>
            </a:avLst>
          </a:prstGeom>
          <a:solidFill>
            <a:schemeClr val="bg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{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calcularPromedio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C92829-9C63-9ECA-C322-E22663B2A0BD}"/>
              </a:ext>
            </a:extLst>
          </p:cNvPr>
          <p:cNvSpPr/>
          <p:nvPr/>
        </p:nvSpPr>
        <p:spPr>
          <a:xfrm>
            <a:off x="1649222" y="3775908"/>
            <a:ext cx="3950300" cy="2379797"/>
          </a:xfrm>
          <a:prstGeom prst="roundRect">
            <a:avLst>
              <a:gd name="adj" fmla="val 6555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0F8986-8FA5-F9A5-220D-249E97FA1A67}"/>
              </a:ext>
            </a:extLst>
          </p:cNvPr>
          <p:cNvSpPr/>
          <p:nvPr/>
        </p:nvSpPr>
        <p:spPr>
          <a:xfrm>
            <a:off x="5665511" y="4280630"/>
            <a:ext cx="3808429" cy="953540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4189634 w 4288026"/>
              <a:gd name="connsiteY0" fmla="*/ 1273924 h 1273924"/>
              <a:gd name="connsiteX1" fmla="*/ 315217 w 4288026"/>
              <a:gd name="connsiteY1" fmla="*/ 10730 h 1273924"/>
              <a:gd name="connsiteX0" fmla="*/ 3874417 w 4072646"/>
              <a:gd name="connsiteY0" fmla="*/ 1777329 h 1777329"/>
              <a:gd name="connsiteX1" fmla="*/ 0 w 4072646"/>
              <a:gd name="connsiteY1" fmla="*/ 514135 h 1777329"/>
              <a:gd name="connsiteX0" fmla="*/ 3874417 w 3874417"/>
              <a:gd name="connsiteY0" fmla="*/ 1650157 h 1898259"/>
              <a:gd name="connsiteX1" fmla="*/ 0 w 3874417"/>
              <a:gd name="connsiteY1" fmla="*/ 386963 h 1898259"/>
              <a:gd name="connsiteX0" fmla="*/ 3874417 w 3874417"/>
              <a:gd name="connsiteY0" fmla="*/ 1652350 h 1652350"/>
              <a:gd name="connsiteX1" fmla="*/ 1692897 w 3874417"/>
              <a:gd name="connsiteY1" fmla="*/ 1197968 h 1652350"/>
              <a:gd name="connsiteX2" fmla="*/ 0 w 3874417"/>
              <a:gd name="connsiteY2" fmla="*/ 389156 h 1652350"/>
              <a:gd name="connsiteX0" fmla="*/ 3874417 w 3874417"/>
              <a:gd name="connsiteY0" fmla="*/ 1850934 h 1850934"/>
              <a:gd name="connsiteX1" fmla="*/ 1692897 w 3874417"/>
              <a:gd name="connsiteY1" fmla="*/ 1396552 h 1850934"/>
              <a:gd name="connsiteX2" fmla="*/ 0 w 3874417"/>
              <a:gd name="connsiteY2" fmla="*/ 587740 h 1850934"/>
              <a:gd name="connsiteX0" fmla="*/ 3874417 w 3874417"/>
              <a:gd name="connsiteY0" fmla="*/ 1906023 h 1906023"/>
              <a:gd name="connsiteX1" fmla="*/ 1692897 w 3874417"/>
              <a:gd name="connsiteY1" fmla="*/ 1451641 h 1906023"/>
              <a:gd name="connsiteX2" fmla="*/ 0 w 3874417"/>
              <a:gd name="connsiteY2" fmla="*/ 642829 h 190602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12175 h 2388886"/>
              <a:gd name="connsiteX1" fmla="*/ 1692897 w 3874417"/>
              <a:gd name="connsiteY1" fmla="*/ 1457793 h 2388886"/>
              <a:gd name="connsiteX2" fmla="*/ 0 w 3874417"/>
              <a:gd name="connsiteY2" fmla="*/ 648981 h 2388886"/>
              <a:gd name="connsiteX0" fmla="*/ 3874417 w 3874417"/>
              <a:gd name="connsiteY0" fmla="*/ 1264028 h 1740739"/>
              <a:gd name="connsiteX1" fmla="*/ 1692897 w 3874417"/>
              <a:gd name="connsiteY1" fmla="*/ 809646 h 1740739"/>
              <a:gd name="connsiteX2" fmla="*/ 0 w 3874417"/>
              <a:gd name="connsiteY2" fmla="*/ 834 h 1740739"/>
              <a:gd name="connsiteX0" fmla="*/ 3704734 w 3704734"/>
              <a:gd name="connsiteY0" fmla="*/ 1263617 h 1598041"/>
              <a:gd name="connsiteX1" fmla="*/ 1523214 w 3704734"/>
              <a:gd name="connsiteY1" fmla="*/ 809235 h 1598041"/>
              <a:gd name="connsiteX2" fmla="*/ 0 w 3704734"/>
              <a:gd name="connsiteY2" fmla="*/ 423 h 1598041"/>
              <a:gd name="connsiteX0" fmla="*/ 3808429 w 3808429"/>
              <a:gd name="connsiteY0" fmla="*/ 1207090 h 1539972"/>
              <a:gd name="connsiteX1" fmla="*/ 1626909 w 3808429"/>
              <a:gd name="connsiteY1" fmla="*/ 752708 h 1539972"/>
              <a:gd name="connsiteX2" fmla="*/ 0 w 3808429"/>
              <a:gd name="connsiteY2" fmla="*/ 457 h 1539972"/>
              <a:gd name="connsiteX0" fmla="*/ 3808429 w 3808429"/>
              <a:gd name="connsiteY0" fmla="*/ 1206963 h 1586963"/>
              <a:gd name="connsiteX1" fmla="*/ 1730604 w 3808429"/>
              <a:gd name="connsiteY1" fmla="*/ 978824 h 1586963"/>
              <a:gd name="connsiteX2" fmla="*/ 0 w 3808429"/>
              <a:gd name="connsiteY2" fmla="*/ 330 h 1586963"/>
              <a:gd name="connsiteX0" fmla="*/ 3808429 w 3808429"/>
              <a:gd name="connsiteY0" fmla="*/ 1207099 h 1679211"/>
              <a:gd name="connsiteX1" fmla="*/ 1730604 w 3808429"/>
              <a:gd name="connsiteY1" fmla="*/ 978960 h 1679211"/>
              <a:gd name="connsiteX2" fmla="*/ 0 w 3808429"/>
              <a:gd name="connsiteY2" fmla="*/ 466 h 1679211"/>
              <a:gd name="connsiteX0" fmla="*/ 3808429 w 3808429"/>
              <a:gd name="connsiteY0" fmla="*/ 1207470 h 1606712"/>
              <a:gd name="connsiteX1" fmla="*/ 1636336 w 3808429"/>
              <a:gd name="connsiteY1" fmla="*/ 724807 h 1606712"/>
              <a:gd name="connsiteX2" fmla="*/ 0 w 3808429"/>
              <a:gd name="connsiteY2" fmla="*/ 837 h 1606712"/>
              <a:gd name="connsiteX0" fmla="*/ 3808429 w 3808429"/>
              <a:gd name="connsiteY0" fmla="*/ 1207470 h 1569026"/>
              <a:gd name="connsiteX1" fmla="*/ 1636336 w 3808429"/>
              <a:gd name="connsiteY1" fmla="*/ 724807 h 1569026"/>
              <a:gd name="connsiteX2" fmla="*/ 0 w 3808429"/>
              <a:gd name="connsiteY2" fmla="*/ 837 h 1569026"/>
              <a:gd name="connsiteX0" fmla="*/ 3808429 w 3808429"/>
              <a:gd name="connsiteY0" fmla="*/ 1221222 h 1582778"/>
              <a:gd name="connsiteX1" fmla="*/ 1636336 w 3808429"/>
              <a:gd name="connsiteY1" fmla="*/ 738559 h 1582778"/>
              <a:gd name="connsiteX2" fmla="*/ 0 w 3808429"/>
              <a:gd name="connsiteY2" fmla="*/ 14589 h 1582778"/>
              <a:gd name="connsiteX0" fmla="*/ 3808429 w 3808429"/>
              <a:gd name="connsiteY0" fmla="*/ 0 h 1785442"/>
              <a:gd name="connsiteX1" fmla="*/ 1636336 w 3808429"/>
              <a:gd name="connsiteY1" fmla="*/ 1647795 h 1785442"/>
              <a:gd name="connsiteX2" fmla="*/ 0 w 3808429"/>
              <a:gd name="connsiteY2" fmla="*/ 923825 h 1785442"/>
              <a:gd name="connsiteX0" fmla="*/ 3808429 w 3808578"/>
              <a:gd name="connsiteY0" fmla="*/ 0 h 1806772"/>
              <a:gd name="connsiteX1" fmla="*/ 1636336 w 3808578"/>
              <a:gd name="connsiteY1" fmla="*/ 1647795 h 1806772"/>
              <a:gd name="connsiteX2" fmla="*/ 0 w 3808578"/>
              <a:gd name="connsiteY2" fmla="*/ 923825 h 1806772"/>
              <a:gd name="connsiteX0" fmla="*/ 3808429 w 3808709"/>
              <a:gd name="connsiteY0" fmla="*/ 0 h 1201490"/>
              <a:gd name="connsiteX1" fmla="*/ 2352773 w 3808709"/>
              <a:gd name="connsiteY1" fmla="*/ 940784 h 1201490"/>
              <a:gd name="connsiteX2" fmla="*/ 0 w 3808709"/>
              <a:gd name="connsiteY2" fmla="*/ 923825 h 1201490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53540"/>
              <a:gd name="connsiteX1" fmla="*/ 0 w 3808429"/>
              <a:gd name="connsiteY1" fmla="*/ 923825 h 9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08429" h="953540">
                <a:moveTo>
                  <a:pt x="3808429" y="0"/>
                </a:moveTo>
                <a:cubicBezTo>
                  <a:pt x="3038574" y="958392"/>
                  <a:pt x="1410878" y="1011809"/>
                  <a:pt x="0" y="923825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74B8F-81E1-3301-9454-203D962CFD38}"/>
              </a:ext>
            </a:extLst>
          </p:cNvPr>
          <p:cNvSpPr txBox="1"/>
          <p:nvPr/>
        </p:nvSpPr>
        <p:spPr>
          <a:xfrm>
            <a:off x="7936155" y="5894095"/>
            <a:ext cx="2606623" cy="578882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Promedio</a:t>
            </a:r>
            <a:r>
              <a:rPr lang="en-US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32.43</a:t>
            </a:r>
          </a:p>
          <a:p>
            <a:endParaRPr lang="en-US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EF318-430C-2B37-6100-0FD7C7E2CA9D}"/>
              </a:ext>
            </a:extLst>
          </p:cNvPr>
          <p:cNvSpPr txBox="1"/>
          <p:nvPr/>
        </p:nvSpPr>
        <p:spPr>
          <a:xfrm>
            <a:off x="7936155" y="5546610"/>
            <a:ext cx="765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Salida:</a:t>
            </a:r>
          </a:p>
        </p:txBody>
      </p:sp>
    </p:spTree>
    <p:extLst>
      <p:ext uri="{BB962C8B-B14F-4D97-AF65-F5344CB8AC3E}">
        <p14:creationId xmlns:p14="http://schemas.microsoft.com/office/powerpoint/2010/main" val="373497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4B9C-C6A8-43A7-55A7-D8B1768A2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37030F-C4C3-3C11-7552-1268072EB3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3C8FD1-95C1-7C97-0C40-D78A7F69581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Procedimientos y funciones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A6D7C8-C129-AFAF-9B22-AF797A630A46}"/>
              </a:ext>
            </a:extLst>
          </p:cNvPr>
          <p:cNvSpPr txBox="1"/>
          <p:nvPr/>
        </p:nvSpPr>
        <p:spPr>
          <a:xfrm>
            <a:off x="2608243" y="1709019"/>
            <a:ext cx="3466706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+mj-lt"/>
              </a:rPr>
              <a:t>Método que </a:t>
            </a:r>
          </a:p>
          <a:p>
            <a:pPr algn="ctr"/>
            <a:r>
              <a:rPr lang="es-ES" sz="4000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retorna </a:t>
            </a:r>
          </a:p>
          <a:p>
            <a:pPr algn="ctr"/>
            <a:r>
              <a:rPr lang="es-ES" sz="3200" dirty="0">
                <a:latin typeface="+mj-lt"/>
              </a:rPr>
              <a:t>un valor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BD645-5158-1DEA-9184-B351438FC3AC}"/>
              </a:ext>
            </a:extLst>
          </p:cNvPr>
          <p:cNvSpPr txBox="1"/>
          <p:nvPr/>
        </p:nvSpPr>
        <p:spPr>
          <a:xfrm>
            <a:off x="2608242" y="3723502"/>
            <a:ext cx="7516221" cy="8309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accent2"/>
                </a:solidFill>
                <a:latin typeface="+mj-lt"/>
              </a:rPr>
              <a:t>Retornar un valor</a:t>
            </a:r>
            <a:r>
              <a:rPr lang="es-ES" sz="2400" dirty="0">
                <a:latin typeface="+mj-lt"/>
              </a:rPr>
              <a:t> ocasiona la </a:t>
            </a:r>
            <a:br>
              <a:rPr lang="es-ES" sz="2400" dirty="0">
                <a:latin typeface="+mj-lt"/>
              </a:rPr>
            </a:br>
            <a:r>
              <a:rPr lang="es-ES" sz="2400" u="sng" dirty="0">
                <a:latin typeface="+mj-lt"/>
              </a:rPr>
              <a:t>salida incondicional</a:t>
            </a:r>
            <a:r>
              <a:rPr lang="es-ES" sz="2400" dirty="0">
                <a:latin typeface="+mj-lt"/>
              </a:rPr>
              <a:t> de la función.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FD2D9B-DB53-E0BC-BB9A-537D27A86815}"/>
              </a:ext>
            </a:extLst>
          </p:cNvPr>
          <p:cNvSpPr txBox="1"/>
          <p:nvPr/>
        </p:nvSpPr>
        <p:spPr>
          <a:xfrm>
            <a:off x="6657757" y="1709018"/>
            <a:ext cx="3466706" cy="1692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3200" dirty="0">
                <a:latin typeface="+mj-lt"/>
              </a:rPr>
              <a:t>Para retornar un valor se usa</a:t>
            </a:r>
          </a:p>
          <a:p>
            <a:pPr algn="ctr"/>
            <a:r>
              <a:rPr lang="es-ES" sz="4000" b="1" dirty="0" err="1">
                <a:solidFill>
                  <a:srgbClr val="00B050"/>
                </a:solidFill>
                <a:latin typeface="+mj-lt"/>
              </a:rPr>
              <a:t>return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43F92C-BF9F-19CE-9E51-713E017D4C7D}"/>
              </a:ext>
            </a:extLst>
          </p:cNvPr>
          <p:cNvSpPr txBox="1"/>
          <p:nvPr/>
        </p:nvSpPr>
        <p:spPr>
          <a:xfrm>
            <a:off x="2608242" y="4858481"/>
            <a:ext cx="7516221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+mj-lt"/>
              </a:rPr>
              <a:t>El </a:t>
            </a:r>
            <a:r>
              <a:rPr lang="es-ES" sz="2400" b="1" dirty="0">
                <a:latin typeface="+mj-lt"/>
              </a:rPr>
              <a:t>resultado</a:t>
            </a:r>
            <a:r>
              <a:rPr lang="es-ES" sz="2400" dirty="0">
                <a:latin typeface="+mj-lt"/>
              </a:rPr>
              <a:t> de la ejecución de la función </a:t>
            </a:r>
            <a:r>
              <a:rPr lang="es-ES" sz="2400" u="sng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debe asignarse a una variable</a:t>
            </a:r>
            <a:r>
              <a:rPr lang="es-ES" sz="2400" dirty="0">
                <a:latin typeface="+mj-lt"/>
              </a:rPr>
              <a:t> o </a:t>
            </a:r>
            <a:r>
              <a:rPr lang="es-ES" sz="2400" u="sng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ser parte de alguna instrucción</a:t>
            </a:r>
            <a:r>
              <a:rPr lang="es-ES" sz="24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0939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63910385-0B33-BDD2-7A95-6B10915FF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738" y="1294018"/>
            <a:ext cx="4894183" cy="4541565"/>
          </a:xfrm>
          <a:prstGeom prst="roundRect">
            <a:avLst>
              <a:gd name="adj" fmla="val 3332"/>
            </a:avLst>
          </a:pr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{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82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30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Formas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invocar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función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Forma 1.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Asignamos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retorno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la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función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6F737A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//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variable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obtenerMaximo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valor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máximo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es: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Forma 2.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Usamos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retorno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expresión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000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"El valor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máximo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7EC48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es: "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0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obtenerMaximo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4E2A8-5E27-0AD3-E23C-6837E5C1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784A99-7EE5-313B-1504-99ECC920DF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ED3A4-DF13-9A66-735C-D65BEC478FF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Procedimientos y funciones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13D236-E453-A0BC-347C-7363F9376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624" y="1462609"/>
            <a:ext cx="4760376" cy="4986341"/>
          </a:xfrm>
          <a:prstGeom prst="roundRect">
            <a:avLst>
              <a:gd name="adj" fmla="val 3562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OperadorArreglos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int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arraycopy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this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CED0D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obtenerMaximo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length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++)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&lt;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maximo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5093BA-3CD7-C455-1FC8-4957B29E3764}"/>
              </a:ext>
            </a:extLst>
          </p:cNvPr>
          <p:cNvSpPr/>
          <p:nvPr/>
        </p:nvSpPr>
        <p:spPr>
          <a:xfrm>
            <a:off x="1656657" y="3785728"/>
            <a:ext cx="4029701" cy="2379797"/>
          </a:xfrm>
          <a:prstGeom prst="roundRect">
            <a:avLst>
              <a:gd name="adj" fmla="val 6555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96E34C8-F14E-18C6-B855-98DAD453C5B0}"/>
              </a:ext>
            </a:extLst>
          </p:cNvPr>
          <p:cNvSpPr/>
          <p:nvPr/>
        </p:nvSpPr>
        <p:spPr>
          <a:xfrm>
            <a:off x="5754532" y="4030824"/>
            <a:ext cx="1364165" cy="443883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4189634 w 4288026"/>
              <a:gd name="connsiteY0" fmla="*/ 1273924 h 1273924"/>
              <a:gd name="connsiteX1" fmla="*/ 315217 w 4288026"/>
              <a:gd name="connsiteY1" fmla="*/ 10730 h 1273924"/>
              <a:gd name="connsiteX0" fmla="*/ 3874417 w 4072646"/>
              <a:gd name="connsiteY0" fmla="*/ 1777329 h 1777329"/>
              <a:gd name="connsiteX1" fmla="*/ 0 w 4072646"/>
              <a:gd name="connsiteY1" fmla="*/ 514135 h 1777329"/>
              <a:gd name="connsiteX0" fmla="*/ 3874417 w 3874417"/>
              <a:gd name="connsiteY0" fmla="*/ 1650157 h 1898259"/>
              <a:gd name="connsiteX1" fmla="*/ 0 w 3874417"/>
              <a:gd name="connsiteY1" fmla="*/ 386963 h 1898259"/>
              <a:gd name="connsiteX0" fmla="*/ 3874417 w 3874417"/>
              <a:gd name="connsiteY0" fmla="*/ 1652350 h 1652350"/>
              <a:gd name="connsiteX1" fmla="*/ 1692897 w 3874417"/>
              <a:gd name="connsiteY1" fmla="*/ 1197968 h 1652350"/>
              <a:gd name="connsiteX2" fmla="*/ 0 w 3874417"/>
              <a:gd name="connsiteY2" fmla="*/ 389156 h 1652350"/>
              <a:gd name="connsiteX0" fmla="*/ 3874417 w 3874417"/>
              <a:gd name="connsiteY0" fmla="*/ 1850934 h 1850934"/>
              <a:gd name="connsiteX1" fmla="*/ 1692897 w 3874417"/>
              <a:gd name="connsiteY1" fmla="*/ 1396552 h 1850934"/>
              <a:gd name="connsiteX2" fmla="*/ 0 w 3874417"/>
              <a:gd name="connsiteY2" fmla="*/ 587740 h 1850934"/>
              <a:gd name="connsiteX0" fmla="*/ 3874417 w 3874417"/>
              <a:gd name="connsiteY0" fmla="*/ 1906023 h 1906023"/>
              <a:gd name="connsiteX1" fmla="*/ 1692897 w 3874417"/>
              <a:gd name="connsiteY1" fmla="*/ 1451641 h 1906023"/>
              <a:gd name="connsiteX2" fmla="*/ 0 w 3874417"/>
              <a:gd name="connsiteY2" fmla="*/ 642829 h 190602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12175 h 2388886"/>
              <a:gd name="connsiteX1" fmla="*/ 1692897 w 3874417"/>
              <a:gd name="connsiteY1" fmla="*/ 1457793 h 2388886"/>
              <a:gd name="connsiteX2" fmla="*/ 0 w 3874417"/>
              <a:gd name="connsiteY2" fmla="*/ 648981 h 2388886"/>
              <a:gd name="connsiteX0" fmla="*/ 3874417 w 3874417"/>
              <a:gd name="connsiteY0" fmla="*/ 1264028 h 1740739"/>
              <a:gd name="connsiteX1" fmla="*/ 1692897 w 3874417"/>
              <a:gd name="connsiteY1" fmla="*/ 809646 h 1740739"/>
              <a:gd name="connsiteX2" fmla="*/ 0 w 3874417"/>
              <a:gd name="connsiteY2" fmla="*/ 834 h 1740739"/>
              <a:gd name="connsiteX0" fmla="*/ 3704734 w 3704734"/>
              <a:gd name="connsiteY0" fmla="*/ 1263617 h 1598041"/>
              <a:gd name="connsiteX1" fmla="*/ 1523214 w 3704734"/>
              <a:gd name="connsiteY1" fmla="*/ 809235 h 1598041"/>
              <a:gd name="connsiteX2" fmla="*/ 0 w 3704734"/>
              <a:gd name="connsiteY2" fmla="*/ 423 h 1598041"/>
              <a:gd name="connsiteX0" fmla="*/ 3808429 w 3808429"/>
              <a:gd name="connsiteY0" fmla="*/ 1207090 h 1539972"/>
              <a:gd name="connsiteX1" fmla="*/ 1626909 w 3808429"/>
              <a:gd name="connsiteY1" fmla="*/ 752708 h 1539972"/>
              <a:gd name="connsiteX2" fmla="*/ 0 w 3808429"/>
              <a:gd name="connsiteY2" fmla="*/ 457 h 1539972"/>
              <a:gd name="connsiteX0" fmla="*/ 3808429 w 3808429"/>
              <a:gd name="connsiteY0" fmla="*/ 1206963 h 1586963"/>
              <a:gd name="connsiteX1" fmla="*/ 1730604 w 3808429"/>
              <a:gd name="connsiteY1" fmla="*/ 978824 h 1586963"/>
              <a:gd name="connsiteX2" fmla="*/ 0 w 3808429"/>
              <a:gd name="connsiteY2" fmla="*/ 330 h 1586963"/>
              <a:gd name="connsiteX0" fmla="*/ 3808429 w 3808429"/>
              <a:gd name="connsiteY0" fmla="*/ 1207099 h 1679211"/>
              <a:gd name="connsiteX1" fmla="*/ 1730604 w 3808429"/>
              <a:gd name="connsiteY1" fmla="*/ 978960 h 1679211"/>
              <a:gd name="connsiteX2" fmla="*/ 0 w 3808429"/>
              <a:gd name="connsiteY2" fmla="*/ 466 h 1679211"/>
              <a:gd name="connsiteX0" fmla="*/ 3808429 w 3808429"/>
              <a:gd name="connsiteY0" fmla="*/ 1207470 h 1606712"/>
              <a:gd name="connsiteX1" fmla="*/ 1636336 w 3808429"/>
              <a:gd name="connsiteY1" fmla="*/ 724807 h 1606712"/>
              <a:gd name="connsiteX2" fmla="*/ 0 w 3808429"/>
              <a:gd name="connsiteY2" fmla="*/ 837 h 1606712"/>
              <a:gd name="connsiteX0" fmla="*/ 3808429 w 3808429"/>
              <a:gd name="connsiteY0" fmla="*/ 1207470 h 1569026"/>
              <a:gd name="connsiteX1" fmla="*/ 1636336 w 3808429"/>
              <a:gd name="connsiteY1" fmla="*/ 724807 h 1569026"/>
              <a:gd name="connsiteX2" fmla="*/ 0 w 3808429"/>
              <a:gd name="connsiteY2" fmla="*/ 837 h 1569026"/>
              <a:gd name="connsiteX0" fmla="*/ 3808429 w 3808429"/>
              <a:gd name="connsiteY0" fmla="*/ 1221222 h 1582778"/>
              <a:gd name="connsiteX1" fmla="*/ 1636336 w 3808429"/>
              <a:gd name="connsiteY1" fmla="*/ 738559 h 1582778"/>
              <a:gd name="connsiteX2" fmla="*/ 0 w 3808429"/>
              <a:gd name="connsiteY2" fmla="*/ 14589 h 1582778"/>
              <a:gd name="connsiteX0" fmla="*/ 3808429 w 3808429"/>
              <a:gd name="connsiteY0" fmla="*/ 0 h 1785442"/>
              <a:gd name="connsiteX1" fmla="*/ 1636336 w 3808429"/>
              <a:gd name="connsiteY1" fmla="*/ 1647795 h 1785442"/>
              <a:gd name="connsiteX2" fmla="*/ 0 w 3808429"/>
              <a:gd name="connsiteY2" fmla="*/ 923825 h 1785442"/>
              <a:gd name="connsiteX0" fmla="*/ 3808429 w 3808578"/>
              <a:gd name="connsiteY0" fmla="*/ 0 h 1806772"/>
              <a:gd name="connsiteX1" fmla="*/ 1636336 w 3808578"/>
              <a:gd name="connsiteY1" fmla="*/ 1647795 h 1806772"/>
              <a:gd name="connsiteX2" fmla="*/ 0 w 3808578"/>
              <a:gd name="connsiteY2" fmla="*/ 923825 h 1806772"/>
              <a:gd name="connsiteX0" fmla="*/ 3808429 w 3808709"/>
              <a:gd name="connsiteY0" fmla="*/ 0 h 1201490"/>
              <a:gd name="connsiteX1" fmla="*/ 2352773 w 3808709"/>
              <a:gd name="connsiteY1" fmla="*/ 940784 h 1201490"/>
              <a:gd name="connsiteX2" fmla="*/ 0 w 3808709"/>
              <a:gd name="connsiteY2" fmla="*/ 923825 h 1201490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53540"/>
              <a:gd name="connsiteX1" fmla="*/ 0 w 3808429"/>
              <a:gd name="connsiteY1" fmla="*/ 923825 h 953540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1093509 w 1093509"/>
              <a:gd name="connsiteY0" fmla="*/ 0 h 420775"/>
              <a:gd name="connsiteX1" fmla="*/ 0 w 1093509"/>
              <a:gd name="connsiteY1" fmla="*/ 292229 h 420775"/>
              <a:gd name="connsiteX0" fmla="*/ 1093509 w 1093509"/>
              <a:gd name="connsiteY0" fmla="*/ 0 h 292229"/>
              <a:gd name="connsiteX1" fmla="*/ 0 w 1093509"/>
              <a:gd name="connsiteY1" fmla="*/ 292229 h 292229"/>
              <a:gd name="connsiteX0" fmla="*/ 1150070 w 1150070"/>
              <a:gd name="connsiteY0" fmla="*/ 0 h 2260482"/>
              <a:gd name="connsiteX1" fmla="*/ 0 w 1150070"/>
              <a:gd name="connsiteY1" fmla="*/ 2260482 h 2260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0070" h="2260482">
                <a:moveTo>
                  <a:pt x="1150070" y="0"/>
                </a:moveTo>
                <a:cubicBezTo>
                  <a:pt x="719580" y="25139"/>
                  <a:pt x="487052" y="1895979"/>
                  <a:pt x="0" y="226048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B1A3051-097A-A6BE-FAF4-DBD10630627E}"/>
              </a:ext>
            </a:extLst>
          </p:cNvPr>
          <p:cNvSpPr/>
          <p:nvPr/>
        </p:nvSpPr>
        <p:spPr>
          <a:xfrm flipV="1">
            <a:off x="5757177" y="4980285"/>
            <a:ext cx="1311739" cy="263916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4189634 w 4288026"/>
              <a:gd name="connsiteY0" fmla="*/ 1273924 h 1273924"/>
              <a:gd name="connsiteX1" fmla="*/ 315217 w 4288026"/>
              <a:gd name="connsiteY1" fmla="*/ 10730 h 1273924"/>
              <a:gd name="connsiteX0" fmla="*/ 3874417 w 4072646"/>
              <a:gd name="connsiteY0" fmla="*/ 1777329 h 1777329"/>
              <a:gd name="connsiteX1" fmla="*/ 0 w 4072646"/>
              <a:gd name="connsiteY1" fmla="*/ 514135 h 1777329"/>
              <a:gd name="connsiteX0" fmla="*/ 3874417 w 3874417"/>
              <a:gd name="connsiteY0" fmla="*/ 1650157 h 1898259"/>
              <a:gd name="connsiteX1" fmla="*/ 0 w 3874417"/>
              <a:gd name="connsiteY1" fmla="*/ 386963 h 1898259"/>
              <a:gd name="connsiteX0" fmla="*/ 3874417 w 3874417"/>
              <a:gd name="connsiteY0" fmla="*/ 1652350 h 1652350"/>
              <a:gd name="connsiteX1" fmla="*/ 1692897 w 3874417"/>
              <a:gd name="connsiteY1" fmla="*/ 1197968 h 1652350"/>
              <a:gd name="connsiteX2" fmla="*/ 0 w 3874417"/>
              <a:gd name="connsiteY2" fmla="*/ 389156 h 1652350"/>
              <a:gd name="connsiteX0" fmla="*/ 3874417 w 3874417"/>
              <a:gd name="connsiteY0" fmla="*/ 1850934 h 1850934"/>
              <a:gd name="connsiteX1" fmla="*/ 1692897 w 3874417"/>
              <a:gd name="connsiteY1" fmla="*/ 1396552 h 1850934"/>
              <a:gd name="connsiteX2" fmla="*/ 0 w 3874417"/>
              <a:gd name="connsiteY2" fmla="*/ 587740 h 1850934"/>
              <a:gd name="connsiteX0" fmla="*/ 3874417 w 3874417"/>
              <a:gd name="connsiteY0" fmla="*/ 1906023 h 1906023"/>
              <a:gd name="connsiteX1" fmla="*/ 1692897 w 3874417"/>
              <a:gd name="connsiteY1" fmla="*/ 1451641 h 1906023"/>
              <a:gd name="connsiteX2" fmla="*/ 0 w 3874417"/>
              <a:gd name="connsiteY2" fmla="*/ 642829 h 190602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06023 h 2291893"/>
              <a:gd name="connsiteX1" fmla="*/ 1692897 w 3874417"/>
              <a:gd name="connsiteY1" fmla="*/ 1451641 h 2291893"/>
              <a:gd name="connsiteX2" fmla="*/ 0 w 3874417"/>
              <a:gd name="connsiteY2" fmla="*/ 642829 h 2291893"/>
              <a:gd name="connsiteX0" fmla="*/ 3874417 w 3874417"/>
              <a:gd name="connsiteY0" fmla="*/ 1912175 h 2388886"/>
              <a:gd name="connsiteX1" fmla="*/ 1692897 w 3874417"/>
              <a:gd name="connsiteY1" fmla="*/ 1457793 h 2388886"/>
              <a:gd name="connsiteX2" fmla="*/ 0 w 3874417"/>
              <a:gd name="connsiteY2" fmla="*/ 648981 h 2388886"/>
              <a:gd name="connsiteX0" fmla="*/ 3874417 w 3874417"/>
              <a:gd name="connsiteY0" fmla="*/ 1264028 h 1740739"/>
              <a:gd name="connsiteX1" fmla="*/ 1692897 w 3874417"/>
              <a:gd name="connsiteY1" fmla="*/ 809646 h 1740739"/>
              <a:gd name="connsiteX2" fmla="*/ 0 w 3874417"/>
              <a:gd name="connsiteY2" fmla="*/ 834 h 1740739"/>
              <a:gd name="connsiteX0" fmla="*/ 3704734 w 3704734"/>
              <a:gd name="connsiteY0" fmla="*/ 1263617 h 1598041"/>
              <a:gd name="connsiteX1" fmla="*/ 1523214 w 3704734"/>
              <a:gd name="connsiteY1" fmla="*/ 809235 h 1598041"/>
              <a:gd name="connsiteX2" fmla="*/ 0 w 3704734"/>
              <a:gd name="connsiteY2" fmla="*/ 423 h 1598041"/>
              <a:gd name="connsiteX0" fmla="*/ 3808429 w 3808429"/>
              <a:gd name="connsiteY0" fmla="*/ 1207090 h 1539972"/>
              <a:gd name="connsiteX1" fmla="*/ 1626909 w 3808429"/>
              <a:gd name="connsiteY1" fmla="*/ 752708 h 1539972"/>
              <a:gd name="connsiteX2" fmla="*/ 0 w 3808429"/>
              <a:gd name="connsiteY2" fmla="*/ 457 h 1539972"/>
              <a:gd name="connsiteX0" fmla="*/ 3808429 w 3808429"/>
              <a:gd name="connsiteY0" fmla="*/ 1206963 h 1586963"/>
              <a:gd name="connsiteX1" fmla="*/ 1730604 w 3808429"/>
              <a:gd name="connsiteY1" fmla="*/ 978824 h 1586963"/>
              <a:gd name="connsiteX2" fmla="*/ 0 w 3808429"/>
              <a:gd name="connsiteY2" fmla="*/ 330 h 1586963"/>
              <a:gd name="connsiteX0" fmla="*/ 3808429 w 3808429"/>
              <a:gd name="connsiteY0" fmla="*/ 1207099 h 1679211"/>
              <a:gd name="connsiteX1" fmla="*/ 1730604 w 3808429"/>
              <a:gd name="connsiteY1" fmla="*/ 978960 h 1679211"/>
              <a:gd name="connsiteX2" fmla="*/ 0 w 3808429"/>
              <a:gd name="connsiteY2" fmla="*/ 466 h 1679211"/>
              <a:gd name="connsiteX0" fmla="*/ 3808429 w 3808429"/>
              <a:gd name="connsiteY0" fmla="*/ 1207470 h 1606712"/>
              <a:gd name="connsiteX1" fmla="*/ 1636336 w 3808429"/>
              <a:gd name="connsiteY1" fmla="*/ 724807 h 1606712"/>
              <a:gd name="connsiteX2" fmla="*/ 0 w 3808429"/>
              <a:gd name="connsiteY2" fmla="*/ 837 h 1606712"/>
              <a:gd name="connsiteX0" fmla="*/ 3808429 w 3808429"/>
              <a:gd name="connsiteY0" fmla="*/ 1207470 h 1569026"/>
              <a:gd name="connsiteX1" fmla="*/ 1636336 w 3808429"/>
              <a:gd name="connsiteY1" fmla="*/ 724807 h 1569026"/>
              <a:gd name="connsiteX2" fmla="*/ 0 w 3808429"/>
              <a:gd name="connsiteY2" fmla="*/ 837 h 1569026"/>
              <a:gd name="connsiteX0" fmla="*/ 3808429 w 3808429"/>
              <a:gd name="connsiteY0" fmla="*/ 1221222 h 1582778"/>
              <a:gd name="connsiteX1" fmla="*/ 1636336 w 3808429"/>
              <a:gd name="connsiteY1" fmla="*/ 738559 h 1582778"/>
              <a:gd name="connsiteX2" fmla="*/ 0 w 3808429"/>
              <a:gd name="connsiteY2" fmla="*/ 14589 h 1582778"/>
              <a:gd name="connsiteX0" fmla="*/ 3808429 w 3808429"/>
              <a:gd name="connsiteY0" fmla="*/ 0 h 1785442"/>
              <a:gd name="connsiteX1" fmla="*/ 1636336 w 3808429"/>
              <a:gd name="connsiteY1" fmla="*/ 1647795 h 1785442"/>
              <a:gd name="connsiteX2" fmla="*/ 0 w 3808429"/>
              <a:gd name="connsiteY2" fmla="*/ 923825 h 1785442"/>
              <a:gd name="connsiteX0" fmla="*/ 3808429 w 3808578"/>
              <a:gd name="connsiteY0" fmla="*/ 0 h 1806772"/>
              <a:gd name="connsiteX1" fmla="*/ 1636336 w 3808578"/>
              <a:gd name="connsiteY1" fmla="*/ 1647795 h 1806772"/>
              <a:gd name="connsiteX2" fmla="*/ 0 w 3808578"/>
              <a:gd name="connsiteY2" fmla="*/ 923825 h 1806772"/>
              <a:gd name="connsiteX0" fmla="*/ 3808429 w 3808709"/>
              <a:gd name="connsiteY0" fmla="*/ 0 h 1201490"/>
              <a:gd name="connsiteX1" fmla="*/ 2352773 w 3808709"/>
              <a:gd name="connsiteY1" fmla="*/ 940784 h 1201490"/>
              <a:gd name="connsiteX2" fmla="*/ 0 w 3808709"/>
              <a:gd name="connsiteY2" fmla="*/ 923825 h 1201490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3808429 w 3808429"/>
              <a:gd name="connsiteY0" fmla="*/ 0 h 953540"/>
              <a:gd name="connsiteX1" fmla="*/ 0 w 3808429"/>
              <a:gd name="connsiteY1" fmla="*/ 923825 h 953540"/>
              <a:gd name="connsiteX0" fmla="*/ 3808429 w 3808429"/>
              <a:gd name="connsiteY0" fmla="*/ 0 h 923825"/>
              <a:gd name="connsiteX1" fmla="*/ 0 w 3808429"/>
              <a:gd name="connsiteY1" fmla="*/ 923825 h 923825"/>
              <a:gd name="connsiteX0" fmla="*/ 1093509 w 1093509"/>
              <a:gd name="connsiteY0" fmla="*/ 0 h 420775"/>
              <a:gd name="connsiteX1" fmla="*/ 0 w 1093509"/>
              <a:gd name="connsiteY1" fmla="*/ 292229 h 420775"/>
              <a:gd name="connsiteX0" fmla="*/ 1093509 w 1093509"/>
              <a:gd name="connsiteY0" fmla="*/ 0 h 292229"/>
              <a:gd name="connsiteX1" fmla="*/ 0 w 1093509"/>
              <a:gd name="connsiteY1" fmla="*/ 292229 h 292229"/>
              <a:gd name="connsiteX0" fmla="*/ 1084082 w 1084082"/>
              <a:gd name="connsiteY0" fmla="*/ 1343717 h 1343997"/>
              <a:gd name="connsiteX1" fmla="*/ 0 w 1084082"/>
              <a:gd name="connsiteY1" fmla="*/ 51745 h 134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84082" h="1343997">
                <a:moveTo>
                  <a:pt x="1084082" y="1343717"/>
                </a:moveTo>
                <a:cubicBezTo>
                  <a:pt x="653592" y="1368856"/>
                  <a:pt x="487052" y="-312758"/>
                  <a:pt x="0" y="51745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CC2614-0318-0A9E-4318-57EB729C7E55}"/>
              </a:ext>
            </a:extLst>
          </p:cNvPr>
          <p:cNvSpPr txBox="1"/>
          <p:nvPr/>
        </p:nvSpPr>
        <p:spPr>
          <a:xfrm>
            <a:off x="7223762" y="5987367"/>
            <a:ext cx="3312876" cy="51077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valor máximo es: 82</a:t>
            </a:r>
          </a:p>
          <a:p>
            <a:r>
              <a:rPr lang="es-ES" sz="12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El valor máximo es: 82</a:t>
            </a:r>
            <a:endParaRPr lang="en-US" sz="12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A28C47-A6DE-33E5-CB9D-575B193CEDBC}"/>
              </a:ext>
            </a:extLst>
          </p:cNvPr>
          <p:cNvSpPr txBox="1"/>
          <p:nvPr/>
        </p:nvSpPr>
        <p:spPr>
          <a:xfrm>
            <a:off x="6470315" y="5976292"/>
            <a:ext cx="7656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Salida:</a:t>
            </a:r>
          </a:p>
        </p:txBody>
      </p:sp>
    </p:spTree>
    <p:extLst>
      <p:ext uri="{BB962C8B-B14F-4D97-AF65-F5344CB8AC3E}">
        <p14:creationId xmlns:p14="http://schemas.microsoft.com/office/powerpoint/2010/main" val="132291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Procedimientos y funciones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8CC2C-F2D4-10A9-2D12-CCD6B4875CA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Paso de parámetros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321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75618-428D-11B3-D51F-C8080D3A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Tema previo: Alcance (</a:t>
            </a:r>
            <a:r>
              <a:rPr lang="es-ES" i="1" dirty="0" err="1"/>
              <a:t>Scope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9A3F7-C4AB-74EB-C5C9-5B211E3B0A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4779018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El </a:t>
            </a:r>
            <a:r>
              <a:rPr lang="es-ES" b="1" dirty="0">
                <a:latin typeface="+mj-lt"/>
              </a:rPr>
              <a:t>alcance</a:t>
            </a:r>
            <a:r>
              <a:rPr lang="es-ES" dirty="0">
                <a:latin typeface="+mj-lt"/>
              </a:rPr>
              <a:t> define el ámbito dentro del cual una variable “</a:t>
            </a:r>
            <a:r>
              <a:rPr lang="es-ES" i="1" dirty="0">
                <a:latin typeface="+mj-lt"/>
              </a:rPr>
              <a:t>existe</a:t>
            </a:r>
            <a:r>
              <a:rPr lang="es-ES" dirty="0">
                <a:latin typeface="+mj-lt"/>
              </a:rPr>
              <a:t>”.</a:t>
            </a:r>
          </a:p>
          <a:p>
            <a:r>
              <a:rPr lang="es-ES" dirty="0">
                <a:latin typeface="+mj-lt"/>
              </a:rPr>
              <a:t>Un ámbito está determinado por </a:t>
            </a:r>
            <a:r>
              <a:rPr lang="es-ES" b="1" dirty="0">
                <a:latin typeface="+mj-lt"/>
              </a:rPr>
              <a:t>{ }</a:t>
            </a:r>
          </a:p>
          <a:p>
            <a:r>
              <a:rPr lang="es-ES" dirty="0">
                <a:latin typeface="+mj-lt"/>
              </a:rPr>
              <a:t>Las </a:t>
            </a:r>
            <a:r>
              <a:rPr lang="es-ES" b="1" dirty="0">
                <a:latin typeface="+mj-lt"/>
              </a:rPr>
              <a:t>variables</a:t>
            </a:r>
            <a:r>
              <a:rPr lang="es-ES" dirty="0">
                <a:latin typeface="+mj-lt"/>
              </a:rPr>
              <a:t> sólo están </a:t>
            </a:r>
            <a:r>
              <a:rPr lang="es-ES" b="1" dirty="0">
                <a:latin typeface="+mj-lt"/>
              </a:rPr>
              <a:t>disponibles</a:t>
            </a:r>
            <a:r>
              <a:rPr lang="es-ES" dirty="0">
                <a:latin typeface="+mj-lt"/>
              </a:rPr>
              <a:t> </a:t>
            </a:r>
            <a:r>
              <a:rPr lang="es-ES" b="1" dirty="0">
                <a:latin typeface="+mj-lt"/>
              </a:rPr>
              <a:t>dentro</a:t>
            </a:r>
            <a:r>
              <a:rPr lang="es-ES" dirty="0">
                <a:latin typeface="+mj-lt"/>
              </a:rPr>
              <a:t> del </a:t>
            </a:r>
            <a:r>
              <a:rPr lang="es-ES" b="1" dirty="0">
                <a:latin typeface="+mj-lt"/>
              </a:rPr>
              <a:t>ámbito</a:t>
            </a:r>
            <a:r>
              <a:rPr lang="es-ES" dirty="0">
                <a:latin typeface="+mj-lt"/>
              </a:rPr>
              <a:t> donde fueron </a:t>
            </a:r>
            <a:r>
              <a:rPr lang="es-ES" b="1" dirty="0">
                <a:latin typeface="+mj-lt"/>
              </a:rPr>
              <a:t>declaradas</a:t>
            </a:r>
            <a:r>
              <a:rPr lang="es-ES" dirty="0">
                <a:latin typeface="+mj-lt"/>
              </a:rPr>
              <a:t>.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CE196A-6827-835D-EC35-0FB48425AAAF}"/>
              </a:ext>
            </a:extLst>
          </p:cNvPr>
          <p:cNvSpPr/>
          <p:nvPr/>
        </p:nvSpPr>
        <p:spPr>
          <a:xfrm>
            <a:off x="6486202" y="1432212"/>
            <a:ext cx="5341346" cy="4467250"/>
          </a:xfrm>
          <a:prstGeom prst="roundRect">
            <a:avLst>
              <a:gd name="adj" fmla="val 335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4188DF-8A6A-CBA7-1DBA-2450810EB10B}"/>
              </a:ext>
            </a:extLst>
          </p:cNvPr>
          <p:cNvSpPr/>
          <p:nvPr/>
        </p:nvSpPr>
        <p:spPr>
          <a:xfrm>
            <a:off x="7111682" y="1923073"/>
            <a:ext cx="3811604" cy="3629319"/>
          </a:xfrm>
          <a:prstGeom prst="roundRect">
            <a:avLst>
              <a:gd name="adj" fmla="val 3396"/>
            </a:avLst>
          </a:prstGeom>
          <a:solidFill>
            <a:schemeClr val="accent5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B44A9B-3F17-9998-3534-7637E307ADF8}"/>
              </a:ext>
            </a:extLst>
          </p:cNvPr>
          <p:cNvSpPr/>
          <p:nvPr/>
        </p:nvSpPr>
        <p:spPr>
          <a:xfrm>
            <a:off x="7409468" y="2894034"/>
            <a:ext cx="3071055" cy="747054"/>
          </a:xfrm>
          <a:prstGeom prst="roundRect">
            <a:avLst>
              <a:gd name="adj" fmla="val 18736"/>
            </a:avLst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DD08BC2E-0BC0-137C-51FF-C8E0B923A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66" y="1508217"/>
            <a:ext cx="4567381" cy="4344110"/>
          </a:xfrm>
          <a:prstGeom prst="roundRect">
            <a:avLst>
              <a:gd name="adj" fmla="val 4736"/>
            </a:avLst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 %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y = x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(y)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y++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Error!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x++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(x)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6B3DCF-8342-B8B5-F299-B8D0CE857AA2}"/>
              </a:ext>
            </a:extLst>
          </p:cNvPr>
          <p:cNvSpPr/>
          <p:nvPr/>
        </p:nvSpPr>
        <p:spPr>
          <a:xfrm>
            <a:off x="8671931" y="6018566"/>
            <a:ext cx="292960" cy="303572"/>
          </a:xfrm>
          <a:prstGeom prst="roundRect">
            <a:avLst>
              <a:gd name="adj" fmla="val 11334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52332E-A9C3-BE62-316B-937A94D206D7}"/>
              </a:ext>
            </a:extLst>
          </p:cNvPr>
          <p:cNvSpPr/>
          <p:nvPr/>
        </p:nvSpPr>
        <p:spPr>
          <a:xfrm>
            <a:off x="6558296" y="6018566"/>
            <a:ext cx="292960" cy="303572"/>
          </a:xfrm>
          <a:prstGeom prst="roundRect">
            <a:avLst>
              <a:gd name="adj" fmla="val 1133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9760B-F7FF-80B9-5466-0D3E75D1C03C}"/>
              </a:ext>
            </a:extLst>
          </p:cNvPr>
          <p:cNvSpPr txBox="1"/>
          <p:nvPr/>
        </p:nvSpPr>
        <p:spPr>
          <a:xfrm>
            <a:off x="6907633" y="6016463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Alcance de x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CF72D-821E-EBD9-42C0-D38E50015A06}"/>
              </a:ext>
            </a:extLst>
          </p:cNvPr>
          <p:cNvSpPr txBox="1"/>
          <p:nvPr/>
        </p:nvSpPr>
        <p:spPr>
          <a:xfrm>
            <a:off x="9021269" y="6016463"/>
            <a:ext cx="12105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Alcance de y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3BB29-2A5A-3761-598B-F1795018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Ejemplo de alcance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3CD58A-F9AE-3301-255C-6D7AA5B75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C85F9C-5D2D-A21C-FC6B-B8A87E5F9C8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F5FC5FF-146F-428A-24B2-AC702E36A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837" y="1457507"/>
            <a:ext cx="6712669" cy="4627541"/>
          </a:xfrm>
          <a:prstGeom prst="roundRect">
            <a:avLst>
              <a:gd name="adj" fmla="val 2879"/>
            </a:avLst>
          </a:prstGeom>
          <a:solidFill>
            <a:srgbClr val="2B2B2B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AmbitoVariables2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arregloNumeros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arregloNumeros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numero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arregloNumeros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static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proceso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int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valor = n *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(valor)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 +=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= valor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F7567586-5443-72E0-C7EB-926AD6FC6DBB}"/>
              </a:ext>
            </a:extLst>
          </p:cNvPr>
          <p:cNvSpPr/>
          <p:nvPr/>
        </p:nvSpPr>
        <p:spPr>
          <a:xfrm>
            <a:off x="8974322" y="2108316"/>
            <a:ext cx="743644" cy="3405439"/>
          </a:xfrm>
          <a:prstGeom prst="rightBrace">
            <a:avLst>
              <a:gd name="adj1" fmla="val 0"/>
              <a:gd name="adj2" fmla="val 50000"/>
            </a:avLst>
          </a:prstGeom>
          <a:ln w="19050" cap="flat" cmpd="sng">
            <a:solidFill>
              <a:srgbClr val="697F9F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DF239-C534-2789-3955-7FB5EB8C7523}"/>
              </a:ext>
            </a:extLst>
          </p:cNvPr>
          <p:cNvSpPr txBox="1"/>
          <p:nvPr/>
        </p:nvSpPr>
        <p:spPr>
          <a:xfrm>
            <a:off x="9754759" y="3657146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arregloNumeros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7D29EE8-EEA8-9698-1866-36CE68F7B457}"/>
              </a:ext>
            </a:extLst>
          </p:cNvPr>
          <p:cNvSpPr/>
          <p:nvPr/>
        </p:nvSpPr>
        <p:spPr>
          <a:xfrm>
            <a:off x="8015972" y="2108316"/>
            <a:ext cx="397866" cy="1445117"/>
          </a:xfrm>
          <a:prstGeom prst="rightBrace">
            <a:avLst>
              <a:gd name="adj1" fmla="val 0"/>
              <a:gd name="adj2" fmla="val 50000"/>
            </a:avLst>
          </a:prstGeom>
          <a:ln w="19050" cap="flat" cmpd="sng">
            <a:solidFill>
              <a:srgbClr val="697F9F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E0318C-C8E7-B74A-649B-9990A87222CD}"/>
              </a:ext>
            </a:extLst>
          </p:cNvPr>
          <p:cNvSpPr txBox="1"/>
          <p:nvPr/>
        </p:nvSpPr>
        <p:spPr>
          <a:xfrm>
            <a:off x="8397793" y="2661346"/>
            <a:ext cx="7906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numero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3B93E47-B509-9403-A6CC-9E1D1AC653A5}"/>
              </a:ext>
            </a:extLst>
          </p:cNvPr>
          <p:cNvSpPr/>
          <p:nvPr/>
        </p:nvSpPr>
        <p:spPr>
          <a:xfrm>
            <a:off x="8032016" y="4188192"/>
            <a:ext cx="397866" cy="1325563"/>
          </a:xfrm>
          <a:prstGeom prst="rightBrace">
            <a:avLst>
              <a:gd name="adj1" fmla="val 0"/>
              <a:gd name="adj2" fmla="val 50000"/>
            </a:avLst>
          </a:prstGeom>
          <a:ln w="19050" cap="flat" cmpd="sng">
            <a:solidFill>
              <a:srgbClr val="697F9F"/>
            </a:solidFill>
            <a:prstDash val="solid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9F73D-7458-A604-6906-C2A074C629CA}"/>
              </a:ext>
            </a:extLst>
          </p:cNvPr>
          <p:cNvSpPr txBox="1"/>
          <p:nvPr/>
        </p:nvSpPr>
        <p:spPr>
          <a:xfrm>
            <a:off x="8413837" y="4668803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valor, n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74B09-8563-A4C7-B4C9-E46025DBDD2B}"/>
              </a:ext>
            </a:extLst>
          </p:cNvPr>
          <p:cNvSpPr txBox="1"/>
          <p:nvPr/>
        </p:nvSpPr>
        <p:spPr>
          <a:xfrm>
            <a:off x="8692315" y="5819175"/>
            <a:ext cx="2227848" cy="817245"/>
          </a:xfrm>
          <a:prstGeom prst="roundRect">
            <a:avLst>
              <a:gd name="adj" fmla="val 8593"/>
            </a:avLst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Inconsolata" panose="00000509000000000000" pitchFamily="49" charset="0"/>
              </a:rPr>
              <a:t>20</a:t>
            </a:r>
          </a:p>
          <a:p>
            <a:r>
              <a:rPr lang="en-US" dirty="0">
                <a:solidFill>
                  <a:schemeClr val="bg1"/>
                </a:solidFill>
                <a:latin typeface="Inconsolata" panose="00000509000000000000" pitchFamily="49" charset="0"/>
              </a:rPr>
              <a:t>10</a:t>
            </a:r>
          </a:p>
          <a:p>
            <a:r>
              <a:rPr lang="en-US" dirty="0">
                <a:solidFill>
                  <a:schemeClr val="bg1"/>
                </a:solidFill>
                <a:latin typeface="Inconsolata" panose="00000509000000000000" pitchFamily="49" charset="0"/>
              </a:rPr>
              <a:t>[4, 7, 20, 23]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41A8AB-7812-E7F2-786D-877B9B026ED4}"/>
              </a:ext>
            </a:extLst>
          </p:cNvPr>
          <p:cNvSpPr txBox="1"/>
          <p:nvPr/>
        </p:nvSpPr>
        <p:spPr>
          <a:xfrm>
            <a:off x="10312606" y="541845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67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6C3EF-5D84-4CA1-A49C-42748C91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Mensajes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E662C6-2911-4CF7-8D3C-003C85D6C4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0D5800-7384-9DDF-6208-C950799DD7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4892351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Un </a:t>
            </a:r>
            <a:r>
              <a:rPr lang="es-ES" b="1" dirty="0">
                <a:latin typeface="+mj-lt"/>
              </a:rPr>
              <a:t>programa</a:t>
            </a:r>
            <a:r>
              <a:rPr lang="es-ES" dirty="0">
                <a:latin typeface="+mj-lt"/>
              </a:rPr>
              <a:t> es un </a:t>
            </a:r>
            <a:r>
              <a:rPr lang="es-ES" b="1" dirty="0">
                <a:latin typeface="+mj-lt"/>
              </a:rPr>
              <a:t>conjunto</a:t>
            </a:r>
            <a:r>
              <a:rPr lang="es-ES" dirty="0">
                <a:latin typeface="+mj-lt"/>
              </a:rPr>
              <a:t> de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objetos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Los </a:t>
            </a:r>
            <a:r>
              <a:rPr lang="es-ES" b="1" dirty="0">
                <a:latin typeface="+mj-lt"/>
              </a:rPr>
              <a:t>objetos</a:t>
            </a:r>
            <a:r>
              <a:rPr lang="es-ES" dirty="0">
                <a:latin typeface="+mj-lt"/>
              </a:rPr>
              <a:t>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interactúan</a:t>
            </a:r>
            <a:r>
              <a:rPr lang="es-ES" dirty="0">
                <a:latin typeface="+mj-lt"/>
              </a:rPr>
              <a:t> entre sí.</a:t>
            </a:r>
          </a:p>
          <a:p>
            <a:r>
              <a:rPr lang="es-ES" dirty="0">
                <a:latin typeface="+mj-lt"/>
              </a:rPr>
              <a:t>La </a:t>
            </a:r>
            <a:r>
              <a:rPr lang="es-ES" b="1" dirty="0">
                <a:latin typeface="+mj-lt"/>
              </a:rPr>
              <a:t>interacción</a:t>
            </a:r>
            <a:r>
              <a:rPr lang="es-ES" dirty="0">
                <a:latin typeface="+mj-lt"/>
              </a:rPr>
              <a:t> se realiza a través de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mensajes</a:t>
            </a:r>
            <a:r>
              <a:rPr lang="es-ES" dirty="0">
                <a:latin typeface="+mj-lt"/>
              </a:rPr>
              <a:t>.</a:t>
            </a:r>
          </a:p>
          <a:p>
            <a:r>
              <a:rPr lang="es-ES" dirty="0">
                <a:latin typeface="+mj-lt"/>
              </a:rPr>
              <a:t>Los </a:t>
            </a:r>
            <a:r>
              <a:rPr lang="es-ES" b="1" dirty="0">
                <a:latin typeface="+mj-lt"/>
              </a:rPr>
              <a:t>mensajes</a:t>
            </a:r>
            <a:r>
              <a:rPr lang="es-ES" dirty="0">
                <a:latin typeface="+mj-lt"/>
              </a:rPr>
              <a:t> son parte de las </a:t>
            </a:r>
            <a:r>
              <a:rPr lang="es-ES" b="1" dirty="0">
                <a:latin typeface="+mj-lt"/>
              </a:rPr>
              <a:t>llamadas</a:t>
            </a:r>
            <a:r>
              <a:rPr lang="es-ES" dirty="0">
                <a:latin typeface="+mj-lt"/>
              </a:rPr>
              <a:t> a </a:t>
            </a:r>
            <a:r>
              <a:rPr lang="es-ES" b="1" dirty="0">
                <a:solidFill>
                  <a:schemeClr val="accent2"/>
                </a:solidFill>
                <a:latin typeface="+mj-lt"/>
              </a:rPr>
              <a:t>métodos</a:t>
            </a:r>
            <a:r>
              <a:rPr lang="es-ES" dirty="0">
                <a:latin typeface="+mj-lt"/>
              </a:rPr>
              <a:t> de objetos.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916D0DA-1AF0-85A8-A935-AD0BCCA77CA5}"/>
              </a:ext>
            </a:extLst>
          </p:cNvPr>
          <p:cNvGrpSpPr/>
          <p:nvPr/>
        </p:nvGrpSpPr>
        <p:grpSpPr>
          <a:xfrm>
            <a:off x="6212257" y="1130547"/>
            <a:ext cx="5062194" cy="5004435"/>
            <a:chOff x="6627043" y="1215390"/>
            <a:chExt cx="5062194" cy="500443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E373D-3FD4-83B3-6318-E4412B17FA5F}"/>
                </a:ext>
              </a:extLst>
            </p:cNvPr>
            <p:cNvSpPr/>
            <p:nvPr/>
          </p:nvSpPr>
          <p:spPr>
            <a:xfrm>
              <a:off x="6627043" y="1215390"/>
              <a:ext cx="5062194" cy="50044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E7A3AB-3DD7-EE84-03C5-540B1A521199}"/>
                </a:ext>
              </a:extLst>
            </p:cNvPr>
            <p:cNvSpPr/>
            <p:nvPr/>
          </p:nvSpPr>
          <p:spPr>
            <a:xfrm>
              <a:off x="7063667" y="3831291"/>
              <a:ext cx="1318661" cy="1318661"/>
            </a:xfrm>
            <a:prstGeom prst="ellipse">
              <a:avLst/>
            </a:prstGeom>
            <a:solidFill>
              <a:srgbClr val="F0466E"/>
            </a:solidFill>
            <a:ln>
              <a:solidFill>
                <a:schemeClr val="bg1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Docente</a:t>
              </a:r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E35F527-2C45-1D35-0B85-743E183FF4FE}"/>
                </a:ext>
              </a:extLst>
            </p:cNvPr>
            <p:cNvSpPr/>
            <p:nvPr/>
          </p:nvSpPr>
          <p:spPr>
            <a:xfrm>
              <a:off x="9924156" y="2373932"/>
              <a:ext cx="1318661" cy="1318661"/>
            </a:xfrm>
            <a:prstGeom prst="ellipse">
              <a:avLst/>
            </a:prstGeom>
            <a:solidFill>
              <a:srgbClr val="05D7A0"/>
            </a:solidFill>
            <a:ln>
              <a:solidFill>
                <a:schemeClr val="bg1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Alumno</a:t>
              </a:r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4616BB7-4211-690E-35C8-906971088133}"/>
                </a:ext>
              </a:extLst>
            </p:cNvPr>
            <p:cNvSpPr/>
            <p:nvPr/>
          </p:nvSpPr>
          <p:spPr>
            <a:xfrm>
              <a:off x="9097747" y="4477216"/>
              <a:ext cx="1318661" cy="1318661"/>
            </a:xfrm>
            <a:prstGeom prst="ellipse">
              <a:avLst/>
            </a:prstGeom>
            <a:solidFill>
              <a:srgbClr val="FFD264"/>
            </a:solidFill>
            <a:ln>
              <a:solidFill>
                <a:schemeClr val="bg1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chemeClr val="accent4">
                      <a:lumMod val="50000"/>
                    </a:schemeClr>
                  </a:solidFill>
                </a:rPr>
                <a:t>Curso</a:t>
              </a:r>
              <a:endParaRPr lang="en-US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3962ADC-FA5C-7989-ECCF-F8C90363C71E}"/>
                </a:ext>
              </a:extLst>
            </p:cNvPr>
            <p:cNvCxnSpPr>
              <a:cxnSpLocks/>
            </p:cNvCxnSpPr>
            <p:nvPr/>
          </p:nvCxnSpPr>
          <p:spPr>
            <a:xfrm>
              <a:off x="8808034" y="2450621"/>
              <a:ext cx="997343" cy="367886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502FD1C4-8C6D-1CD2-9103-B32FF6724B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88986" y="3014408"/>
              <a:ext cx="105606" cy="65933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1AEB14-57E5-0DDE-0AF8-8DA70C55D2E3}"/>
                </a:ext>
              </a:extLst>
            </p:cNvPr>
            <p:cNvSpPr/>
            <p:nvPr/>
          </p:nvSpPr>
          <p:spPr>
            <a:xfrm>
              <a:off x="7389882" y="1595427"/>
              <a:ext cx="1318661" cy="1318661"/>
            </a:xfrm>
            <a:prstGeom prst="ellipse">
              <a:avLst/>
            </a:prstGeom>
            <a:solidFill>
              <a:srgbClr val="00B0F0"/>
            </a:solidFill>
            <a:ln>
              <a:solidFill>
                <a:schemeClr val="bg1"/>
              </a:solidFill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App</a:t>
              </a:r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3E4CDD8-1AE5-B35F-2B76-A283C46629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8317" y="3369540"/>
              <a:ext cx="1428704" cy="718037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0610732-D893-D4B2-77A4-B613495C7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71746" y="3810403"/>
              <a:ext cx="251802" cy="59772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B9B9AE20-7F99-8BB5-2053-61000B070C36}"/>
                </a:ext>
              </a:extLst>
            </p:cNvPr>
            <p:cNvCxnSpPr>
              <a:cxnSpLocks/>
            </p:cNvCxnSpPr>
            <p:nvPr/>
          </p:nvCxnSpPr>
          <p:spPr>
            <a:xfrm>
              <a:off x="8454909" y="4752842"/>
              <a:ext cx="567422" cy="157668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1798B1F-EF46-4B90-5376-7638699BD914}"/>
                </a:ext>
              </a:extLst>
            </p:cNvPr>
            <p:cNvSpPr txBox="1"/>
            <p:nvPr/>
          </p:nvSpPr>
          <p:spPr>
            <a:xfrm>
              <a:off x="7841789" y="5602093"/>
              <a:ext cx="8402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s-ES" sz="1200" i="1" dirty="0">
                  <a:solidFill>
                    <a:schemeClr val="bg1">
                      <a:lumMod val="50000"/>
                    </a:schemeClr>
                  </a:solidFill>
                </a:rPr>
                <a:t>mensajes</a:t>
              </a:r>
              <a:endParaRPr lang="en-US" sz="12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5830BE7-0275-3A8D-B2F1-3C316582B6D9}"/>
                </a:ext>
              </a:extLst>
            </p:cNvPr>
            <p:cNvCxnSpPr>
              <a:cxnSpLocks/>
            </p:cNvCxnSpPr>
            <p:nvPr/>
          </p:nvCxnSpPr>
          <p:spPr>
            <a:xfrm>
              <a:off x="7002717" y="5764178"/>
              <a:ext cx="793607" cy="0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3BCFCE0-D41B-0C58-514C-E25CC8C000D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21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B0E49-6053-8122-E67E-2F63286A2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Mensajes a métodos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4B12D6-EF30-DBB3-3E0E-E089F310FE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46314-8D4D-7C65-7601-005A1F7D20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>
                <a:latin typeface="+mj-lt"/>
              </a:rPr>
              <a:t>Usualmente los métodos requieren de ciertos mensajes (datos) para realizar su trabajo.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88FCB9-5135-4CAF-289C-13ED7B814439}"/>
              </a:ext>
            </a:extLst>
          </p:cNvPr>
          <p:cNvSpPr txBox="1"/>
          <p:nvPr/>
        </p:nvSpPr>
        <p:spPr>
          <a:xfrm>
            <a:off x="838200" y="6490643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https://cdn.pixabay.com/photo/2020/06/04/13/22/square-5258734_640.png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F64F43E1-0EA5-620C-CA98-AE608D80520F}"/>
              </a:ext>
            </a:extLst>
          </p:cNvPr>
          <p:cNvSpPr/>
          <p:nvPr/>
        </p:nvSpPr>
        <p:spPr>
          <a:xfrm>
            <a:off x="1738304" y="3064134"/>
            <a:ext cx="2966515" cy="2441119"/>
          </a:xfrm>
          <a:prstGeom prst="wedgeEllipseCallout">
            <a:avLst>
              <a:gd name="adj1" fmla="val 62713"/>
              <a:gd name="adj2" fmla="val 28571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accent4">
                    <a:lumMod val="50000"/>
                  </a:schemeClr>
                </a:solidFill>
              </a:rPr>
              <a:t>¡Hola! Soy un método que suma dos números…</a:t>
            </a:r>
            <a:endParaRPr lang="en-US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BAAF8D1F-641B-D78C-2A00-46673A94970D}"/>
              </a:ext>
            </a:extLst>
          </p:cNvPr>
          <p:cNvSpPr/>
          <p:nvPr/>
        </p:nvSpPr>
        <p:spPr>
          <a:xfrm>
            <a:off x="7568909" y="2257152"/>
            <a:ext cx="3702434" cy="1999891"/>
          </a:xfrm>
          <a:prstGeom prst="wedgeEllipseCallout">
            <a:avLst>
              <a:gd name="adj1" fmla="val -64435"/>
              <a:gd name="adj2" fmla="val 37532"/>
            </a:avLst>
          </a:prstGeom>
          <a:solidFill>
            <a:schemeClr val="accent6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/>
              <a:t>…me das dos números “a” y “b” y yo realizo la suma</a:t>
            </a:r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DEC3F-FE4E-6240-1C80-E830D6A3B9D2}"/>
              </a:ext>
            </a:extLst>
          </p:cNvPr>
          <p:cNvSpPr txBox="1"/>
          <p:nvPr/>
        </p:nvSpPr>
        <p:spPr>
          <a:xfrm>
            <a:off x="7799731" y="4372887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(parámetros)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B84853-4A37-0076-1159-1089E136A744}"/>
              </a:ext>
            </a:extLst>
          </p:cNvPr>
          <p:cNvSpPr/>
          <p:nvPr/>
        </p:nvSpPr>
        <p:spPr>
          <a:xfrm>
            <a:off x="7900058" y="5166551"/>
            <a:ext cx="791851" cy="791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03EE0-1FF1-95DB-92F4-1B4BE1DFB152}"/>
              </a:ext>
            </a:extLst>
          </p:cNvPr>
          <p:cNvSpPr/>
          <p:nvPr/>
        </p:nvSpPr>
        <p:spPr>
          <a:xfrm>
            <a:off x="8846107" y="5166551"/>
            <a:ext cx="791851" cy="79185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B5840-9E06-79AF-5249-E5F03D91364C}"/>
              </a:ext>
            </a:extLst>
          </p:cNvPr>
          <p:cNvSpPr txBox="1"/>
          <p:nvPr/>
        </p:nvSpPr>
        <p:spPr>
          <a:xfrm>
            <a:off x="8117889" y="474982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a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C1009-7EDB-E264-6059-D66E0186DF02}"/>
              </a:ext>
            </a:extLst>
          </p:cNvPr>
          <p:cNvSpPr txBox="1"/>
          <p:nvPr/>
        </p:nvSpPr>
        <p:spPr>
          <a:xfrm>
            <a:off x="9063938" y="474982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b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388E61-76D1-FB29-8347-252651534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948" y="4139567"/>
            <a:ext cx="2684998" cy="22486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2A88AF-43F2-6C79-F81D-A5195F21B52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12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2D16405-904C-D0BA-11C6-9EFFFEFB71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7339" b="33609"/>
          <a:stretch/>
        </p:blipFill>
        <p:spPr>
          <a:xfrm>
            <a:off x="4298623" y="-1563"/>
            <a:ext cx="7893377" cy="6859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AD5FBF-749C-D67C-F88E-8834B53F2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el paso de parámetros?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287BB3-1122-08A9-5BE1-8093DCBB36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82668-2911-7F93-3274-5396B77B76B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8817044" cy="4782911"/>
          </a:xfrm>
        </p:spPr>
        <p:txBody>
          <a:bodyPr/>
          <a:lstStyle/>
          <a:p>
            <a:r>
              <a:rPr lang="es-ES" dirty="0"/>
              <a:t>Es el proceso de </a:t>
            </a:r>
            <a:r>
              <a:rPr lang="es-ES" b="1" dirty="0">
                <a:solidFill>
                  <a:schemeClr val="accent2"/>
                </a:solidFill>
              </a:rPr>
              <a:t>enviar mensajes</a:t>
            </a:r>
            <a:r>
              <a:rPr lang="es-ES" dirty="0">
                <a:solidFill>
                  <a:schemeClr val="accent2"/>
                </a:solidFill>
              </a:rPr>
              <a:t> </a:t>
            </a:r>
            <a:r>
              <a:rPr lang="es-ES" dirty="0"/>
              <a:t>a los </a:t>
            </a:r>
            <a:r>
              <a:rPr lang="es-ES" b="1" dirty="0">
                <a:solidFill>
                  <a:schemeClr val="accent2"/>
                </a:solidFill>
              </a:rPr>
              <a:t>métodos</a:t>
            </a:r>
            <a:r>
              <a:rPr lang="es-ES" dirty="0"/>
              <a:t>.</a:t>
            </a:r>
          </a:p>
          <a:p>
            <a:r>
              <a:rPr lang="es-ES" dirty="0"/>
              <a:t>Los mensajes enviados (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argumentos</a:t>
            </a:r>
            <a:r>
              <a:rPr lang="es-ES" dirty="0"/>
              <a:t>) deben ser del mismo tipo que los </a:t>
            </a:r>
            <a:r>
              <a:rPr lang="es-ES" b="1" dirty="0">
                <a:solidFill>
                  <a:schemeClr val="accent2"/>
                </a:solidFill>
              </a:rPr>
              <a:t>parámetros</a:t>
            </a:r>
            <a:r>
              <a:rPr lang="es-ES" dirty="0"/>
              <a:t> declarados en el método.</a:t>
            </a:r>
          </a:p>
          <a:p>
            <a:r>
              <a:rPr lang="es-ES" dirty="0"/>
              <a:t>Los mensajes enviados son </a:t>
            </a:r>
            <a:r>
              <a:rPr lang="es-ES" b="1" dirty="0">
                <a:solidFill>
                  <a:schemeClr val="accent2"/>
                </a:solidFill>
              </a:rPr>
              <a:t>copiados</a:t>
            </a:r>
            <a:r>
              <a:rPr lang="es-ES" dirty="0"/>
              <a:t> o </a:t>
            </a:r>
            <a:r>
              <a:rPr lang="es-ES" b="1" dirty="0">
                <a:solidFill>
                  <a:schemeClr val="accent2"/>
                </a:solidFill>
              </a:rPr>
              <a:t>referenciados</a:t>
            </a:r>
            <a:r>
              <a:rPr lang="es-ES" dirty="0"/>
              <a:t>, según el tipo de dato.</a:t>
            </a:r>
          </a:p>
          <a:p>
            <a:pPr lvl="1"/>
            <a:r>
              <a:rPr lang="es-ES" dirty="0"/>
              <a:t>Los </a:t>
            </a:r>
            <a:r>
              <a:rPr lang="es-ES" u="sng" dirty="0"/>
              <a:t>tipos primitivos</a:t>
            </a:r>
            <a:r>
              <a:rPr lang="es-ES" dirty="0"/>
              <a:t> se </a:t>
            </a:r>
            <a:r>
              <a:rPr lang="es-ES" u="sng" dirty="0"/>
              <a:t>copian</a:t>
            </a:r>
            <a:r>
              <a:rPr lang="es-ES" dirty="0"/>
              <a:t>.</a:t>
            </a:r>
          </a:p>
          <a:p>
            <a:pPr lvl="1"/>
            <a:r>
              <a:rPr lang="es-ES" dirty="0"/>
              <a:t>Los </a:t>
            </a:r>
            <a:r>
              <a:rPr lang="es-ES" u="sng" dirty="0"/>
              <a:t>objetos</a:t>
            </a:r>
            <a:r>
              <a:rPr lang="es-ES" dirty="0"/>
              <a:t> se </a:t>
            </a:r>
            <a:r>
              <a:rPr lang="es-ES" u="sng" dirty="0"/>
              <a:t>referencian</a:t>
            </a:r>
            <a:r>
              <a:rPr lang="es-ES" dirty="0"/>
              <a:t>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2D7048-F720-857F-7FE1-EC7D76F7C31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83403-4A81-379E-BC40-2FB26C33A94D}"/>
              </a:ext>
            </a:extLst>
          </p:cNvPr>
          <p:cNvSpPr txBox="1"/>
          <p:nvPr/>
        </p:nvSpPr>
        <p:spPr>
          <a:xfrm>
            <a:off x="761295" y="635214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https://t4.ftcdn.net/jpg/00/38/95/43/360_F_38954304_vLH37PxD2EGdVHMuOH4kaxzPBUFApEia.jpg</a:t>
            </a:r>
          </a:p>
        </p:txBody>
      </p:sp>
    </p:spTree>
    <p:extLst>
      <p:ext uri="{BB962C8B-B14F-4D97-AF65-F5344CB8AC3E}">
        <p14:creationId xmlns:p14="http://schemas.microsoft.com/office/powerpoint/2010/main" val="2410539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39549-ADDC-35DA-931A-E973E657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Paso de parámetros ¿Cómo funciona?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37E6D-AB1B-79BF-B9DD-54C3A3E998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C8CDAF-A0B3-EA32-78E0-521531AE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16255"/>
            <a:ext cx="2684998" cy="2248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698557-53EC-9B23-D604-C0EE380C46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488"/>
          <a:stretch/>
        </p:blipFill>
        <p:spPr>
          <a:xfrm>
            <a:off x="619432" y="4244910"/>
            <a:ext cx="3279104" cy="201202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594625-4C5D-683A-A5C4-E7390BBE0DEC}"/>
              </a:ext>
            </a:extLst>
          </p:cNvPr>
          <p:cNvSpPr/>
          <p:nvPr/>
        </p:nvSpPr>
        <p:spPr>
          <a:xfrm>
            <a:off x="1698229" y="3501969"/>
            <a:ext cx="791851" cy="791851"/>
          </a:xfrm>
          <a:prstGeom prst="rect">
            <a:avLst/>
          </a:prstGeom>
          <a:solidFill>
            <a:srgbClr val="CB1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16</a:t>
            </a:r>
            <a:endParaRPr lang="en-US" sz="28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13D9EF-53C1-3BD5-815B-671737E8AF3F}"/>
              </a:ext>
            </a:extLst>
          </p:cNvPr>
          <p:cNvSpPr/>
          <p:nvPr/>
        </p:nvSpPr>
        <p:spPr>
          <a:xfrm>
            <a:off x="2668487" y="3810924"/>
            <a:ext cx="791851" cy="791851"/>
          </a:xfrm>
          <a:prstGeom prst="rect">
            <a:avLst/>
          </a:prstGeom>
          <a:solidFill>
            <a:srgbClr val="007A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25</a:t>
            </a:r>
            <a:endParaRPr lang="en-US" sz="2800" dirty="0"/>
          </a:p>
        </p:txBody>
      </p:sp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61C990BE-184C-1A5C-5283-A38880C56112}"/>
              </a:ext>
            </a:extLst>
          </p:cNvPr>
          <p:cNvSpPr/>
          <p:nvPr/>
        </p:nvSpPr>
        <p:spPr>
          <a:xfrm>
            <a:off x="1203649" y="1465426"/>
            <a:ext cx="2677212" cy="1602557"/>
          </a:xfrm>
          <a:prstGeom prst="wedgeEllipseCallout">
            <a:avLst>
              <a:gd name="adj1" fmla="val -68368"/>
              <a:gd name="adj2" fmla="val 50147"/>
            </a:avLst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Suma estos dos números, por favor…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C06BE3E3-0D74-AB55-A24D-7274F514C4C9}"/>
              </a:ext>
            </a:extLst>
          </p:cNvPr>
          <p:cNvSpPr/>
          <p:nvPr/>
        </p:nvSpPr>
        <p:spPr>
          <a:xfrm>
            <a:off x="8780998" y="1753896"/>
            <a:ext cx="2215139" cy="1602557"/>
          </a:xfrm>
          <a:prstGeom prst="wedgeEllipseCallout">
            <a:avLst>
              <a:gd name="adj1" fmla="val -76819"/>
              <a:gd name="adj2" fmla="val 64265"/>
            </a:avLst>
          </a:prstGeom>
          <a:solidFill>
            <a:srgbClr val="697F9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La suma es…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623C50-FE57-BC3A-2F3E-60540D3922DC}"/>
              </a:ext>
            </a:extLst>
          </p:cNvPr>
          <p:cNvSpPr/>
          <p:nvPr/>
        </p:nvSpPr>
        <p:spPr>
          <a:xfrm>
            <a:off x="9477060" y="3007938"/>
            <a:ext cx="791851" cy="79185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41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3CFC5-8EE3-0CCC-84E5-4FC3A818B2B8}"/>
              </a:ext>
            </a:extLst>
          </p:cNvPr>
          <p:cNvSpPr txBox="1"/>
          <p:nvPr/>
        </p:nvSpPr>
        <p:spPr>
          <a:xfrm>
            <a:off x="1999487" y="5392574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(argumentos)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776E74-A9C7-1FE9-6156-99AD2DF3556C}"/>
              </a:ext>
            </a:extLst>
          </p:cNvPr>
          <p:cNvSpPr/>
          <p:nvPr/>
        </p:nvSpPr>
        <p:spPr>
          <a:xfrm>
            <a:off x="5791731" y="2089808"/>
            <a:ext cx="791851" cy="791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16</a:t>
            </a:r>
            <a:endParaRPr lang="en-US" sz="2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95F991-D2CB-A252-E0A1-5B130455A6D3}"/>
              </a:ext>
            </a:extLst>
          </p:cNvPr>
          <p:cNvSpPr/>
          <p:nvPr/>
        </p:nvSpPr>
        <p:spPr>
          <a:xfrm>
            <a:off x="6771331" y="2740277"/>
            <a:ext cx="791851" cy="79185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/>
              <a:t>25</a:t>
            </a:r>
            <a:endParaRPr lang="en-US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765EC-1283-93B6-1C63-8389BC8DB804}"/>
              </a:ext>
            </a:extLst>
          </p:cNvPr>
          <p:cNvSpPr txBox="1"/>
          <p:nvPr/>
        </p:nvSpPr>
        <p:spPr>
          <a:xfrm>
            <a:off x="6464514" y="1421767"/>
            <a:ext cx="1947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(parámetros)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BC27E3-662F-1D0B-958D-7785302ADA40}"/>
              </a:ext>
            </a:extLst>
          </p:cNvPr>
          <p:cNvSpPr/>
          <p:nvPr/>
        </p:nvSpPr>
        <p:spPr>
          <a:xfrm>
            <a:off x="2668487" y="2413038"/>
            <a:ext cx="2950589" cy="1203566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2950589"/>
              <a:gd name="connsiteY0" fmla="*/ 1214453 h 1214453"/>
              <a:gd name="connsiteX1" fmla="*/ 2950589 w 2950589"/>
              <a:gd name="connsiteY1" fmla="*/ 17246 h 1214453"/>
              <a:gd name="connsiteX0" fmla="*/ 0 w 2950589"/>
              <a:gd name="connsiteY0" fmla="*/ 1197207 h 1197207"/>
              <a:gd name="connsiteX1" fmla="*/ 2950589 w 2950589"/>
              <a:gd name="connsiteY1" fmla="*/ 0 h 1197207"/>
              <a:gd name="connsiteX0" fmla="*/ 0 w 2950589"/>
              <a:gd name="connsiteY0" fmla="*/ 1203566 h 1203566"/>
              <a:gd name="connsiteX1" fmla="*/ 2950589 w 2950589"/>
              <a:gd name="connsiteY1" fmla="*/ 6359 h 1203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50589" h="1203566">
                <a:moveTo>
                  <a:pt x="0" y="1203566"/>
                </a:moveTo>
                <a:cubicBezTo>
                  <a:pt x="1542851" y="1099873"/>
                  <a:pt x="1756527" y="-97336"/>
                  <a:pt x="2950589" y="6359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9713E69-F1D5-7BAD-AEC6-B86971FB4C59}"/>
              </a:ext>
            </a:extLst>
          </p:cNvPr>
          <p:cNvSpPr/>
          <p:nvPr/>
        </p:nvSpPr>
        <p:spPr>
          <a:xfrm>
            <a:off x="3603428" y="3145696"/>
            <a:ext cx="3054284" cy="937991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54284" h="937991">
                <a:moveTo>
                  <a:pt x="0" y="937991"/>
                </a:moveTo>
                <a:cubicBezTo>
                  <a:pt x="977243" y="834298"/>
                  <a:pt x="1238053" y="-127239"/>
                  <a:pt x="3054284" y="1416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CF034A-3E1B-FFFE-8199-9BAA7A3AE7C5}"/>
              </a:ext>
            </a:extLst>
          </p:cNvPr>
          <p:cNvSpPr txBox="1"/>
          <p:nvPr/>
        </p:nvSpPr>
        <p:spPr>
          <a:xfrm>
            <a:off x="6009562" y="16165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a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9A30B7-E80D-2140-CDBA-C49FD5C9C301}"/>
              </a:ext>
            </a:extLst>
          </p:cNvPr>
          <p:cNvSpPr txBox="1"/>
          <p:nvPr/>
        </p:nvSpPr>
        <p:spPr>
          <a:xfrm>
            <a:off x="6989162" y="2325317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b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75CBEE-E8A4-FC7F-3B1F-CEF99588682E}"/>
              </a:ext>
            </a:extLst>
          </p:cNvPr>
          <p:cNvSpPr txBox="1"/>
          <p:nvPr/>
        </p:nvSpPr>
        <p:spPr>
          <a:xfrm>
            <a:off x="851321" y="6357609"/>
            <a:ext cx="10319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https://cdn.pixabay.com/photo/2020/06/04/13/22/square-5258734_640.png   /   https://png.pngitem.com/pimgs/s/12-126663_palm-flat-of-hand-hand-png-transparent-png.png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8F15AB-5233-D333-4583-44F118B5C52E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119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2057-5B29-3B34-0654-D3566A46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En conclusión…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8CB674-61D9-EFA0-8822-AA4754AAEF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0DC47-EEEA-3BCD-40D9-5756AACEC45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b="1" dirty="0"/>
              <a:t>variables que </a:t>
            </a:r>
            <a:r>
              <a:rPr lang="en-US" b="1" dirty="0" err="1"/>
              <a:t>establece</a:t>
            </a:r>
            <a:r>
              <a:rPr lang="en-US" b="1" dirty="0"/>
              <a:t> un </a:t>
            </a:r>
            <a:r>
              <a:rPr lang="en-US" b="1" dirty="0" err="1"/>
              <a:t>método</a:t>
            </a:r>
            <a:r>
              <a:rPr lang="en-US" dirty="0"/>
              <a:t> para ser </a:t>
            </a:r>
            <a:r>
              <a:rPr lang="en-US" dirty="0" err="1"/>
              <a:t>invocado</a:t>
            </a:r>
            <a:r>
              <a:rPr lang="en-US" dirty="0"/>
              <a:t> se </a:t>
            </a:r>
            <a:r>
              <a:rPr lang="en-US" dirty="0" err="1"/>
              <a:t>denominan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2"/>
                </a:solidFill>
              </a:rPr>
              <a:t>parámetros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b="1" dirty="0"/>
              <a:t>valores que </a:t>
            </a:r>
            <a:r>
              <a:rPr lang="en-US" b="1" dirty="0" err="1"/>
              <a:t>enviamos</a:t>
            </a:r>
            <a:r>
              <a:rPr lang="en-US" b="1" dirty="0"/>
              <a:t> a un </a:t>
            </a:r>
            <a:r>
              <a:rPr lang="en-US" b="1" dirty="0" err="1"/>
              <a:t>método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lo </a:t>
            </a:r>
            <a:r>
              <a:rPr lang="en-US" dirty="0" err="1"/>
              <a:t>invocamos</a:t>
            </a:r>
            <a:r>
              <a:rPr lang="en-US" dirty="0"/>
              <a:t> se </a:t>
            </a:r>
            <a:r>
              <a:rPr lang="en-US" dirty="0" err="1"/>
              <a:t>denominan</a:t>
            </a:r>
            <a:r>
              <a:rPr lang="en-US" dirty="0"/>
              <a:t> </a:t>
            </a:r>
            <a:r>
              <a:rPr lang="en-US" b="1" dirty="0" err="1">
                <a:solidFill>
                  <a:schemeClr val="accent2"/>
                </a:solidFill>
              </a:rPr>
              <a:t>argumentos</a:t>
            </a:r>
            <a:r>
              <a:rPr lang="en-US" dirty="0"/>
              <a:t>.</a:t>
            </a:r>
          </a:p>
          <a:p>
            <a:r>
              <a:rPr lang="en-US" dirty="0" err="1"/>
              <a:t>Sintaxis</a:t>
            </a:r>
            <a:r>
              <a:rPr lang="en-US" dirty="0"/>
              <a:t>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1BD928B-BC2C-3839-C1DC-C8BC062B0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465" y="4521135"/>
            <a:ext cx="8331127" cy="1352116"/>
          </a:xfrm>
          <a:prstGeom prst="roundRect">
            <a:avLst>
              <a:gd name="adj" fmla="val 8395"/>
            </a:avLst>
          </a:prstGeom>
          <a:solidFill>
            <a:srgbClr val="074D67"/>
          </a:solidFill>
          <a:ln>
            <a:noFill/>
          </a:ln>
          <a:effectLst/>
        </p:spPr>
        <p:txBody>
          <a:bodyPr vert="horz" wrap="none" lIns="91440" tIns="108000" rIns="91440" bIns="108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tipo-retorno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nombreMetodo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variable2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...) {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//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cuerpo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073870-51ED-3DF2-9785-02ACC8292BE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7555BC-3FAF-280A-E04C-5044F651A745}"/>
              </a:ext>
            </a:extLst>
          </p:cNvPr>
          <p:cNvSpPr/>
          <p:nvPr/>
        </p:nvSpPr>
        <p:spPr>
          <a:xfrm>
            <a:off x="5401560" y="4656839"/>
            <a:ext cx="4609707" cy="433634"/>
          </a:xfrm>
          <a:prstGeom prst="roundRect">
            <a:avLst>
              <a:gd name="adj" fmla="val 6555"/>
            </a:avLst>
          </a:prstGeom>
          <a:noFill/>
          <a:ln w="1905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8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579D1-639A-BC5A-4376-BA4E111A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Paso de parámetros.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689BD-356D-1AB1-DD0E-A26B830E2F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692647D-7A23-D011-DEAA-A98111FFA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60" y="4098911"/>
            <a:ext cx="6227481" cy="1741206"/>
          </a:xfrm>
          <a:prstGeom prst="roundRect">
            <a:avLst>
              <a:gd name="adj" fmla="val 7658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b="0" i="1" u="none" strike="noStrike" cap="none" normalizeH="0" baseline="0" dirty="0" err="1">
                <a:ln>
                  <a:noFill/>
                </a:ln>
                <a:solidFill>
                  <a:srgbClr val="72CF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println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30A7C22-5B4B-D6F2-72CC-052E964BC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339" y="1764669"/>
            <a:ext cx="5930521" cy="2057535"/>
          </a:xfrm>
          <a:prstGeom prst="roundRect">
            <a:avLst>
              <a:gd name="adj" fmla="val 6307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16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A3CDDFC-4BDA-E157-E485-3D68B789D720}"/>
              </a:ext>
            </a:extLst>
          </p:cNvPr>
          <p:cNvSpPr/>
          <p:nvPr/>
        </p:nvSpPr>
        <p:spPr>
          <a:xfrm flipV="1">
            <a:off x="4153059" y="3145588"/>
            <a:ext cx="4515279" cy="1398132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3864990 w 3864990"/>
              <a:gd name="connsiteY0" fmla="*/ 386501 h 386501"/>
              <a:gd name="connsiteX1" fmla="*/ 0 w 3864990"/>
              <a:gd name="connsiteY1" fmla="*/ 0 h 386501"/>
              <a:gd name="connsiteX0" fmla="*/ 3864990 w 3864990"/>
              <a:gd name="connsiteY0" fmla="*/ 386501 h 998550"/>
              <a:gd name="connsiteX1" fmla="*/ 0 w 3864990"/>
              <a:gd name="connsiteY1" fmla="*/ 0 h 998550"/>
              <a:gd name="connsiteX0" fmla="*/ 3883843 w 3883843"/>
              <a:gd name="connsiteY0" fmla="*/ 273379 h 964969"/>
              <a:gd name="connsiteX1" fmla="*/ 0 w 3883843"/>
              <a:gd name="connsiteY1" fmla="*/ 0 h 964969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306689"/>
              <a:gd name="connsiteX1" fmla="*/ 0 w 3883843"/>
              <a:gd name="connsiteY1" fmla="*/ 0 h 1306689"/>
              <a:gd name="connsiteX0" fmla="*/ 3824220 w 3824220"/>
              <a:gd name="connsiteY0" fmla="*/ 1480821 h 2001647"/>
              <a:gd name="connsiteX1" fmla="*/ 0 w 3824220"/>
              <a:gd name="connsiteY1" fmla="*/ 0 h 2001647"/>
              <a:gd name="connsiteX0" fmla="*/ 4079745 w 4079745"/>
              <a:gd name="connsiteY0" fmla="*/ 2092382 h 2475777"/>
              <a:gd name="connsiteX1" fmla="*/ 0 w 4079745"/>
              <a:gd name="connsiteY1" fmla="*/ 0 h 2475777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79745" h="2092382">
                <a:moveTo>
                  <a:pt x="4079745" y="2092382"/>
                </a:moveTo>
                <a:cubicBezTo>
                  <a:pt x="3819604" y="1214336"/>
                  <a:pt x="126736" y="2698088"/>
                  <a:pt x="0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C1B95DD-2A8C-BB94-8981-5D04D3BE9045}"/>
              </a:ext>
            </a:extLst>
          </p:cNvPr>
          <p:cNvSpPr/>
          <p:nvPr/>
        </p:nvSpPr>
        <p:spPr>
          <a:xfrm flipV="1">
            <a:off x="4863816" y="3145588"/>
            <a:ext cx="4213766" cy="1398132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3864990 w 3864990"/>
              <a:gd name="connsiteY0" fmla="*/ 386501 h 386501"/>
              <a:gd name="connsiteX1" fmla="*/ 0 w 3864990"/>
              <a:gd name="connsiteY1" fmla="*/ 0 h 386501"/>
              <a:gd name="connsiteX0" fmla="*/ 3864990 w 3864990"/>
              <a:gd name="connsiteY0" fmla="*/ 386501 h 998550"/>
              <a:gd name="connsiteX1" fmla="*/ 0 w 3864990"/>
              <a:gd name="connsiteY1" fmla="*/ 0 h 998550"/>
              <a:gd name="connsiteX0" fmla="*/ 3883843 w 3883843"/>
              <a:gd name="connsiteY0" fmla="*/ 273379 h 964969"/>
              <a:gd name="connsiteX1" fmla="*/ 0 w 3883843"/>
              <a:gd name="connsiteY1" fmla="*/ 0 h 964969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306689"/>
              <a:gd name="connsiteX1" fmla="*/ 0 w 3883843"/>
              <a:gd name="connsiteY1" fmla="*/ 0 h 1306689"/>
              <a:gd name="connsiteX0" fmla="*/ 3824220 w 3824220"/>
              <a:gd name="connsiteY0" fmla="*/ 1480821 h 2001647"/>
              <a:gd name="connsiteX1" fmla="*/ 0 w 3824220"/>
              <a:gd name="connsiteY1" fmla="*/ 0 h 2001647"/>
              <a:gd name="connsiteX0" fmla="*/ 4079745 w 4079745"/>
              <a:gd name="connsiteY0" fmla="*/ 2092382 h 2475777"/>
              <a:gd name="connsiteX1" fmla="*/ 0 w 4079745"/>
              <a:gd name="connsiteY1" fmla="*/ 0 h 2475777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79745" h="2092382">
                <a:moveTo>
                  <a:pt x="4079745" y="2092382"/>
                </a:moveTo>
                <a:cubicBezTo>
                  <a:pt x="3691842" y="226794"/>
                  <a:pt x="16009" y="2190209"/>
                  <a:pt x="0" y="0"/>
                </a:cubicBezTo>
              </a:path>
            </a:pathLst>
          </a:custGeom>
          <a:noFill/>
          <a:ln w="19050">
            <a:solidFill>
              <a:srgbClr val="92D050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5D8A60-F889-5E13-B1BD-6BE3C413A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189" y="1634746"/>
            <a:ext cx="2684998" cy="22486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52C6F4-FA5B-4C21-5B0C-6A61EEADB3D3}"/>
              </a:ext>
            </a:extLst>
          </p:cNvPr>
          <p:cNvSpPr txBox="1"/>
          <p:nvPr/>
        </p:nvSpPr>
        <p:spPr>
          <a:xfrm>
            <a:off x="9152168" y="3145588"/>
            <a:ext cx="20168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(argumentos)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5CEC2-3F14-9BFE-F311-B8734AB25BC5}"/>
              </a:ext>
            </a:extLst>
          </p:cNvPr>
          <p:cNvSpPr txBox="1"/>
          <p:nvPr/>
        </p:nvSpPr>
        <p:spPr>
          <a:xfrm>
            <a:off x="5217222" y="4451735"/>
            <a:ext cx="1947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solidFill>
                  <a:schemeClr val="bg1">
                    <a:lumMod val="50000"/>
                  </a:schemeClr>
                </a:solidFill>
              </a:rPr>
              <a:t>(parámetros)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D0391-ADE2-16FD-4276-1391DA4577C6}"/>
              </a:ext>
            </a:extLst>
          </p:cNvPr>
          <p:cNvSpPr txBox="1"/>
          <p:nvPr/>
        </p:nvSpPr>
        <p:spPr>
          <a:xfrm>
            <a:off x="838200" y="6490643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https://cdn.pixabay.com/photo/2020/06/04/13/22/square-5258734_640.png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F34FD0-D4E5-F30B-5092-E8756BB73BD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F1428E-6ADD-53F0-34C1-A83FBA99F72D}"/>
              </a:ext>
            </a:extLst>
          </p:cNvPr>
          <p:cNvSpPr txBox="1"/>
          <p:nvPr/>
        </p:nvSpPr>
        <p:spPr>
          <a:xfrm>
            <a:off x="8328801" y="4879957"/>
            <a:ext cx="3024999" cy="772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Ejemplo de envío de dos mensajes de tipo </a:t>
            </a:r>
            <a:r>
              <a:rPr lang="es-ES" sz="1800" b="1" dirty="0" err="1">
                <a:solidFill>
                  <a:schemeClr val="bg1">
                    <a:lumMod val="50000"/>
                  </a:schemeClr>
                </a:solidFill>
              </a:rPr>
              <a:t>int</a:t>
            </a:r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397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DA42B3-2927-8C0A-103F-BDD17898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Tener en cuenta que…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863586-458B-A76A-505D-517733399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FBB96B-5A9D-62F7-78C6-C92B967DD5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403782" cy="4782911"/>
          </a:xfrm>
        </p:spPr>
        <p:txBody>
          <a:bodyPr/>
          <a:lstStyle/>
          <a:p>
            <a:r>
              <a:rPr lang="es-ES" dirty="0">
                <a:latin typeface="+mj-lt"/>
              </a:rPr>
              <a:t>Los datos enviados como argumentos deben coincidir en </a:t>
            </a:r>
            <a:r>
              <a:rPr lang="es-ES" b="1" dirty="0">
                <a:latin typeface="+mj-lt"/>
              </a:rPr>
              <a:t>cantidad, orden y tipo</a:t>
            </a:r>
            <a:r>
              <a:rPr lang="es-ES" dirty="0">
                <a:latin typeface="+mj-lt"/>
              </a:rPr>
              <a:t> con los parámetros definidos en el método.</a:t>
            </a:r>
          </a:p>
          <a:p>
            <a:endParaRPr lang="es-ES" dirty="0">
              <a:latin typeface="+mj-lt"/>
            </a:endParaRPr>
          </a:p>
          <a:p>
            <a:endParaRPr lang="es-E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6178B5-3486-7C22-10DC-EE8E1DC322F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E6747C2-862F-6092-D268-61C698BFD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3789" y="1538744"/>
            <a:ext cx="3565892" cy="1492149"/>
          </a:xfrm>
          <a:prstGeom prst="roundRect">
            <a:avLst>
              <a:gd name="adj" fmla="val 6044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int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return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9D05C11-38B8-FAD5-D627-EA275EFF3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2080" y="3688297"/>
            <a:ext cx="7808548" cy="2889908"/>
          </a:xfrm>
          <a:prstGeom prst="roundRect">
            <a:avLst>
              <a:gd name="adj" fmla="val 4245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Test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B189F5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resultado1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56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73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resultado2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(resultado1,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230.5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Error!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749DE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resultado3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calculadora.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DEBC7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sumar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981DE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125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resultado1, resultado2);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73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Error!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ED0D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6C5FD0-5471-13C2-3019-2D5646C8518C}"/>
              </a:ext>
            </a:extLst>
          </p:cNvPr>
          <p:cNvSpPr txBox="1"/>
          <p:nvPr/>
        </p:nvSpPr>
        <p:spPr>
          <a:xfrm>
            <a:off x="8657629" y="3865463"/>
            <a:ext cx="2815078" cy="104910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tIns="108000" bIns="108000" rtlCol="0">
            <a:spAutoFit/>
          </a:bodyPr>
          <a:lstStyle/>
          <a:p>
            <a:pPr algn="ctr"/>
            <a:r>
              <a:rPr lang="es-ES" sz="1800" dirty="0">
                <a:solidFill>
                  <a:srgbClr val="00B0F0"/>
                </a:solidFill>
              </a:rPr>
              <a:t>Analiza y responde:</a:t>
            </a:r>
          </a:p>
          <a:p>
            <a:pPr algn="ctr"/>
            <a:r>
              <a:rPr lang="es-ES" sz="1800" dirty="0">
                <a:solidFill>
                  <a:srgbClr val="00B0F0"/>
                </a:solidFill>
              </a:rPr>
              <a:t>¿Porqué hay error en las dos última líneas?</a:t>
            </a:r>
            <a:endParaRPr lang="en-US" sz="1800" dirty="0">
              <a:solidFill>
                <a:srgbClr val="00B0F0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B438F1-5915-3416-CB3D-37746AB6E697}"/>
              </a:ext>
            </a:extLst>
          </p:cNvPr>
          <p:cNvSpPr/>
          <p:nvPr/>
        </p:nvSpPr>
        <p:spPr>
          <a:xfrm>
            <a:off x="9606617" y="4986776"/>
            <a:ext cx="687454" cy="712383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2950589"/>
              <a:gd name="connsiteY0" fmla="*/ 1214453 h 1214453"/>
              <a:gd name="connsiteX1" fmla="*/ 2950589 w 2950589"/>
              <a:gd name="connsiteY1" fmla="*/ 17246 h 1214453"/>
              <a:gd name="connsiteX0" fmla="*/ 0 w 2950589"/>
              <a:gd name="connsiteY0" fmla="*/ 1197207 h 1197207"/>
              <a:gd name="connsiteX1" fmla="*/ 2950589 w 2950589"/>
              <a:gd name="connsiteY1" fmla="*/ 0 h 1197207"/>
              <a:gd name="connsiteX0" fmla="*/ 0 w 2950589"/>
              <a:gd name="connsiteY0" fmla="*/ 1203566 h 1203566"/>
              <a:gd name="connsiteX1" fmla="*/ 2950589 w 2950589"/>
              <a:gd name="connsiteY1" fmla="*/ 6359 h 1203566"/>
              <a:gd name="connsiteX0" fmla="*/ 955014 w 1361279"/>
              <a:gd name="connsiteY0" fmla="*/ 6360 h 1203561"/>
              <a:gd name="connsiteX1" fmla="*/ 257430 w 1361279"/>
              <a:gd name="connsiteY1" fmla="*/ 1203561 h 1203561"/>
              <a:gd name="connsiteX0" fmla="*/ 697584 w 1364398"/>
              <a:gd name="connsiteY0" fmla="*/ 5692 h 1204101"/>
              <a:gd name="connsiteX1" fmla="*/ 0 w 1364398"/>
              <a:gd name="connsiteY1" fmla="*/ 1202893 h 1204101"/>
              <a:gd name="connsiteX0" fmla="*/ 697584 w 704671"/>
              <a:gd name="connsiteY0" fmla="*/ 0 h 1200325"/>
              <a:gd name="connsiteX1" fmla="*/ 0 w 704671"/>
              <a:gd name="connsiteY1" fmla="*/ 1197201 h 120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4671" h="1200325">
                <a:moveTo>
                  <a:pt x="697584" y="0"/>
                </a:moveTo>
                <a:cubicBezTo>
                  <a:pt x="722719" y="754147"/>
                  <a:pt x="719579" y="1244335"/>
                  <a:pt x="0" y="119720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sys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2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D1FDA747-D7D2-9BDB-5E40-A4EBB32B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683" y="345020"/>
            <a:ext cx="10150151" cy="785528"/>
          </a:xfrm>
        </p:spPr>
        <p:txBody>
          <a:bodyPr/>
          <a:lstStyle/>
          <a:p>
            <a:r>
              <a:rPr lang="es-ES" dirty="0"/>
              <a:t>¿Copiado o Referenciado?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0F70F-B203-0109-F6CF-7125518866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9B42A-96F3-D948-B9DD-85C15C702E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Paso de parámetros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DBC75DB-7FA6-40AB-5268-76A3B569F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0791" y="1321623"/>
            <a:ext cx="5075959" cy="2898078"/>
          </a:xfrm>
          <a:prstGeom prst="roundRect">
            <a:avLst>
              <a:gd name="adj" fmla="val 4020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800"/>
              </a:lnSpc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DemoPasoParametros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void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cambiarValores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ts val="1800"/>
              </a:lnSpc>
              <a:buClrTx/>
              <a:buSzTx/>
              <a:buFontTx/>
              <a:buNone/>
              <a:tabLst/>
            </a:pPr>
            <a:r>
              <a:rPr lang="en-US" altLang="en-US" sz="1100" dirty="0">
                <a:solidFill>
                  <a:srgbClr val="A9B7C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A9B7C6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ts val="1800"/>
              </a:lnSpc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+=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2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] *=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1.25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Dentro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93BB0060-E719-7444-5DA6-690653C75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339" y="1305062"/>
            <a:ext cx="5247520" cy="4268971"/>
          </a:xfrm>
          <a:prstGeom prst="roundRect">
            <a:avLst>
              <a:gd name="adj" fmla="val 3089"/>
            </a:avLst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800"/>
              </a:lnSpc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PruebaPasoParametros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(String[]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DemoPasoParametros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demo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DemoPasoParametros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int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double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{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10.45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12.77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13.25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60.04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"Antes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demo.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accent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cambiarValores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Después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del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método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.printf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%d /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%s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  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Arrays.</a:t>
            </a:r>
            <a:r>
              <a:rPr kumimoji="0" lang="en-US" altLang="en-US" sz="1100" b="0" i="1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toString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precios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EC5915-CB97-4136-39ED-69CCEB62703C}"/>
              </a:ext>
            </a:extLst>
          </p:cNvPr>
          <p:cNvSpPr txBox="1"/>
          <p:nvPr/>
        </p:nvSpPr>
        <p:spPr>
          <a:xfrm>
            <a:off x="6530791" y="4690422"/>
            <a:ext cx="5075959" cy="1667746"/>
          </a:xfrm>
          <a:prstGeom prst="roundRect">
            <a:avLst>
              <a:gd name="adj" fmla="val 8593"/>
            </a:avLst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Antes del método: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unidades: 125 / precios: [10.45, 12.77, 13.25, 60.04]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Dentro del método: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unidades: 135 / precios: [10.45, 12.77, 16.5625, 60.04]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Después del método:</a:t>
            </a:r>
          </a:p>
          <a:p>
            <a:pPr>
              <a:lnSpc>
                <a:spcPct val="150000"/>
              </a:lnSpc>
            </a:pPr>
            <a:r>
              <a:rPr lang="es-ES" sz="1100" dirty="0">
                <a:solidFill>
                  <a:schemeClr val="bg1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unidades: 125 / precios: [10.45, 12.77, 16.5625, 60.04]</a:t>
            </a:r>
            <a:endParaRPr lang="en-US" sz="1100" dirty="0">
              <a:solidFill>
                <a:schemeClr val="bg1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96F2BC-6484-7209-9992-B5541DA0311D}"/>
              </a:ext>
            </a:extLst>
          </p:cNvPr>
          <p:cNvSpPr txBox="1"/>
          <p:nvPr/>
        </p:nvSpPr>
        <p:spPr>
          <a:xfrm>
            <a:off x="6530791" y="4356182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D1126C-8430-36B6-1C60-17F8290E3A6A}"/>
              </a:ext>
            </a:extLst>
          </p:cNvPr>
          <p:cNvSpPr txBox="1"/>
          <p:nvPr/>
        </p:nvSpPr>
        <p:spPr>
          <a:xfrm>
            <a:off x="1017339" y="5747511"/>
            <a:ext cx="5247520" cy="710552"/>
          </a:xfrm>
          <a:prstGeom prst="round1Rect">
            <a:avLst>
              <a:gd name="adj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 wrap="square" lIns="144000" tIns="108000" rIns="144000" bIns="108000">
            <a:spAutoFit/>
          </a:bodyPr>
          <a:lstStyle/>
          <a:p>
            <a:pPr lvl="1"/>
            <a:r>
              <a:rPr lang="es-ES" sz="1600" dirty="0"/>
              <a:t>Los </a:t>
            </a:r>
            <a:r>
              <a:rPr lang="es-ES" sz="1600" u="sng" dirty="0"/>
              <a:t>tipos primitivos</a:t>
            </a:r>
            <a:r>
              <a:rPr lang="es-ES" sz="1600" dirty="0"/>
              <a:t> se </a:t>
            </a:r>
            <a:r>
              <a:rPr lang="es-ES" sz="1600" b="1" u="sng" dirty="0">
                <a:solidFill>
                  <a:srgbClr val="92D050"/>
                </a:solidFill>
              </a:rPr>
              <a:t>copian</a:t>
            </a:r>
            <a:r>
              <a:rPr lang="es-ES" sz="1600" dirty="0"/>
              <a:t> (alcance limitado)</a:t>
            </a:r>
          </a:p>
          <a:p>
            <a:pPr lvl="1"/>
            <a:r>
              <a:rPr lang="es-ES" sz="1600" dirty="0"/>
              <a:t>Los </a:t>
            </a:r>
            <a:r>
              <a:rPr lang="es-ES" sz="1600" u="sng" dirty="0"/>
              <a:t>objetos</a:t>
            </a:r>
            <a:r>
              <a:rPr lang="es-ES" sz="1600" dirty="0"/>
              <a:t> se </a:t>
            </a:r>
            <a:r>
              <a:rPr lang="es-ES" sz="1600" b="1" u="sng" dirty="0">
                <a:solidFill>
                  <a:srgbClr val="00B0F0"/>
                </a:solidFill>
              </a:rPr>
              <a:t>referencian</a:t>
            </a:r>
            <a:r>
              <a:rPr lang="es-ES" sz="1600" dirty="0"/>
              <a:t> (alcance amplio)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8DDAF1-082D-F0FD-E476-3B6C09AFF99B}"/>
              </a:ext>
            </a:extLst>
          </p:cNvPr>
          <p:cNvSpPr/>
          <p:nvPr/>
        </p:nvSpPr>
        <p:spPr>
          <a:xfrm>
            <a:off x="3500889" y="4125061"/>
            <a:ext cx="662214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CD9144-7710-D258-5930-F3999A3DE168}"/>
              </a:ext>
            </a:extLst>
          </p:cNvPr>
          <p:cNvSpPr/>
          <p:nvPr/>
        </p:nvSpPr>
        <p:spPr>
          <a:xfrm>
            <a:off x="4339873" y="4125061"/>
            <a:ext cx="66221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C2F7E3-5C69-C469-7579-87F1542B1C34}"/>
              </a:ext>
            </a:extLst>
          </p:cNvPr>
          <p:cNvSpPr/>
          <p:nvPr/>
        </p:nvSpPr>
        <p:spPr>
          <a:xfrm>
            <a:off x="8586534" y="2079445"/>
            <a:ext cx="728435" cy="45719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317061-F1DC-EFB3-F67D-DF06299E9A53}"/>
              </a:ext>
            </a:extLst>
          </p:cNvPr>
          <p:cNvSpPr/>
          <p:nvPr/>
        </p:nvSpPr>
        <p:spPr>
          <a:xfrm>
            <a:off x="10193919" y="2079445"/>
            <a:ext cx="662214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8EA4FCC-FB69-58F2-5ED2-AEC5320E3F42}"/>
              </a:ext>
            </a:extLst>
          </p:cNvPr>
          <p:cNvSpPr/>
          <p:nvPr/>
        </p:nvSpPr>
        <p:spPr>
          <a:xfrm flipV="1">
            <a:off x="5180353" y="1773066"/>
            <a:ext cx="1741178" cy="2258969"/>
          </a:xfrm>
          <a:custGeom>
            <a:avLst/>
            <a:gdLst>
              <a:gd name="connsiteX0" fmla="*/ 0 w 782425"/>
              <a:gd name="connsiteY0" fmla="*/ 0 h 650450"/>
              <a:gd name="connsiteX1" fmla="*/ 782425 w 782425"/>
              <a:gd name="connsiteY1" fmla="*/ 650450 h 65045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0 w 1018095"/>
              <a:gd name="connsiteY0" fmla="*/ 0 h 622170"/>
              <a:gd name="connsiteX1" fmla="*/ 1018095 w 1018095"/>
              <a:gd name="connsiteY1" fmla="*/ 622170 h 622170"/>
              <a:gd name="connsiteX0" fmla="*/ 643569 w 738153"/>
              <a:gd name="connsiteY0" fmla="*/ 1465896 h 1465929"/>
              <a:gd name="connsiteX1" fmla="*/ 2546 w 738153"/>
              <a:gd name="connsiteY1" fmla="*/ 127290 h 1465929"/>
              <a:gd name="connsiteX0" fmla="*/ 641023 w 749102"/>
              <a:gd name="connsiteY0" fmla="*/ 1338606 h 1338947"/>
              <a:gd name="connsiteX1" fmla="*/ 0 w 749102"/>
              <a:gd name="connsiteY1" fmla="*/ 0 h 1338947"/>
              <a:gd name="connsiteX0" fmla="*/ 2639506 w 2680799"/>
              <a:gd name="connsiteY0" fmla="*/ 1423448 h 1423688"/>
              <a:gd name="connsiteX1" fmla="*/ 0 w 2680799"/>
              <a:gd name="connsiteY1" fmla="*/ 0 h 1423688"/>
              <a:gd name="connsiteX0" fmla="*/ 2639506 w 2639506"/>
              <a:gd name="connsiteY0" fmla="*/ 1423448 h 1459380"/>
              <a:gd name="connsiteX1" fmla="*/ 0 w 2639506"/>
              <a:gd name="connsiteY1" fmla="*/ 0 h 1459380"/>
              <a:gd name="connsiteX0" fmla="*/ 2639506 w 2639506"/>
              <a:gd name="connsiteY0" fmla="*/ 1423448 h 1464157"/>
              <a:gd name="connsiteX1" fmla="*/ 0 w 2639506"/>
              <a:gd name="connsiteY1" fmla="*/ 0 h 1464157"/>
              <a:gd name="connsiteX0" fmla="*/ 1630838 w 1630838"/>
              <a:gd name="connsiteY0" fmla="*/ 848413 h 985120"/>
              <a:gd name="connsiteX1" fmla="*/ 0 w 1630838"/>
              <a:gd name="connsiteY1" fmla="*/ 0 h 985120"/>
              <a:gd name="connsiteX0" fmla="*/ 1630838 w 1630838"/>
              <a:gd name="connsiteY0" fmla="*/ 848413 h 882597"/>
              <a:gd name="connsiteX1" fmla="*/ 0 w 1630838"/>
              <a:gd name="connsiteY1" fmla="*/ 0 h 882597"/>
              <a:gd name="connsiteX0" fmla="*/ 1602558 w 1602558"/>
              <a:gd name="connsiteY0" fmla="*/ 933255 h 963543"/>
              <a:gd name="connsiteX1" fmla="*/ 0 w 1602558"/>
              <a:gd name="connsiteY1" fmla="*/ 0 h 963543"/>
              <a:gd name="connsiteX0" fmla="*/ 1602558 w 1602558"/>
              <a:gd name="connsiteY0" fmla="*/ 933255 h 944777"/>
              <a:gd name="connsiteX1" fmla="*/ 0 w 1602558"/>
              <a:gd name="connsiteY1" fmla="*/ 0 h 944777"/>
              <a:gd name="connsiteX0" fmla="*/ 1606213 w 1606213"/>
              <a:gd name="connsiteY0" fmla="*/ 933255 h 949697"/>
              <a:gd name="connsiteX1" fmla="*/ 3655 w 1606213"/>
              <a:gd name="connsiteY1" fmla="*/ 0 h 949697"/>
              <a:gd name="connsiteX0" fmla="*/ 1615561 w 1615561"/>
              <a:gd name="connsiteY0" fmla="*/ 1150072 h 1160981"/>
              <a:gd name="connsiteX1" fmla="*/ 3576 w 1615561"/>
              <a:gd name="connsiteY1" fmla="*/ 0 h 1160981"/>
              <a:gd name="connsiteX0" fmla="*/ 1616182 w 1616182"/>
              <a:gd name="connsiteY0" fmla="*/ 1150072 h 1150072"/>
              <a:gd name="connsiteX1" fmla="*/ 4197 w 1616182"/>
              <a:gd name="connsiteY1" fmla="*/ 0 h 1150072"/>
              <a:gd name="connsiteX0" fmla="*/ 342205 w 2199284"/>
              <a:gd name="connsiteY0" fmla="*/ 1018097 h 1018097"/>
              <a:gd name="connsiteX1" fmla="*/ 2199284 w 2199284"/>
              <a:gd name="connsiteY1" fmla="*/ 0 h 1018097"/>
              <a:gd name="connsiteX0" fmla="*/ 0 w 1857079"/>
              <a:gd name="connsiteY0" fmla="*/ 1018097 h 1018097"/>
              <a:gd name="connsiteX1" fmla="*/ 1857079 w 1857079"/>
              <a:gd name="connsiteY1" fmla="*/ 0 h 1018097"/>
              <a:gd name="connsiteX0" fmla="*/ 0 w 2950589"/>
              <a:gd name="connsiteY0" fmla="*/ 914403 h 914403"/>
              <a:gd name="connsiteX1" fmla="*/ 2950589 w 2950589"/>
              <a:gd name="connsiteY1" fmla="*/ 0 h 914403"/>
              <a:gd name="connsiteX0" fmla="*/ 0 w 2950589"/>
              <a:gd name="connsiteY0" fmla="*/ 936940 h 936940"/>
              <a:gd name="connsiteX1" fmla="*/ 2950589 w 2950589"/>
              <a:gd name="connsiteY1" fmla="*/ 22537 h 936940"/>
              <a:gd name="connsiteX0" fmla="*/ 0 w 2950589"/>
              <a:gd name="connsiteY0" fmla="*/ 936019 h 936019"/>
              <a:gd name="connsiteX1" fmla="*/ 2950589 w 2950589"/>
              <a:gd name="connsiteY1" fmla="*/ 21616 h 936019"/>
              <a:gd name="connsiteX0" fmla="*/ 0 w 3054284"/>
              <a:gd name="connsiteY0" fmla="*/ 945263 h 945263"/>
              <a:gd name="connsiteX1" fmla="*/ 3054284 w 3054284"/>
              <a:gd name="connsiteY1" fmla="*/ 21434 h 945263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23829 h 923829"/>
              <a:gd name="connsiteX1" fmla="*/ 3054284 w 3054284"/>
              <a:gd name="connsiteY1" fmla="*/ 0 h 923829"/>
              <a:gd name="connsiteX0" fmla="*/ 0 w 3054284"/>
              <a:gd name="connsiteY0" fmla="*/ 937991 h 937991"/>
              <a:gd name="connsiteX1" fmla="*/ 3054284 w 3054284"/>
              <a:gd name="connsiteY1" fmla="*/ 14162 h 937991"/>
              <a:gd name="connsiteX0" fmla="*/ 3864990 w 3864990"/>
              <a:gd name="connsiteY0" fmla="*/ 386501 h 386501"/>
              <a:gd name="connsiteX1" fmla="*/ 0 w 3864990"/>
              <a:gd name="connsiteY1" fmla="*/ 0 h 386501"/>
              <a:gd name="connsiteX0" fmla="*/ 3864990 w 3864990"/>
              <a:gd name="connsiteY0" fmla="*/ 386501 h 998550"/>
              <a:gd name="connsiteX1" fmla="*/ 0 w 3864990"/>
              <a:gd name="connsiteY1" fmla="*/ 0 h 998550"/>
              <a:gd name="connsiteX0" fmla="*/ 3883843 w 3883843"/>
              <a:gd name="connsiteY0" fmla="*/ 273379 h 964969"/>
              <a:gd name="connsiteX1" fmla="*/ 0 w 3883843"/>
              <a:gd name="connsiteY1" fmla="*/ 0 h 964969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287582"/>
              <a:gd name="connsiteX1" fmla="*/ 0 w 3883843"/>
              <a:gd name="connsiteY1" fmla="*/ 0 h 1287582"/>
              <a:gd name="connsiteX0" fmla="*/ 3883843 w 3883843"/>
              <a:gd name="connsiteY0" fmla="*/ 273379 h 1306689"/>
              <a:gd name="connsiteX1" fmla="*/ 0 w 3883843"/>
              <a:gd name="connsiteY1" fmla="*/ 0 h 1306689"/>
              <a:gd name="connsiteX0" fmla="*/ 3824220 w 3824220"/>
              <a:gd name="connsiteY0" fmla="*/ 1480821 h 2001647"/>
              <a:gd name="connsiteX1" fmla="*/ 0 w 3824220"/>
              <a:gd name="connsiteY1" fmla="*/ 0 h 2001647"/>
              <a:gd name="connsiteX0" fmla="*/ 4079745 w 4079745"/>
              <a:gd name="connsiteY0" fmla="*/ 2092382 h 2475777"/>
              <a:gd name="connsiteX1" fmla="*/ 0 w 4079745"/>
              <a:gd name="connsiteY1" fmla="*/ 0 h 2475777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4079745 w 4079745"/>
              <a:gd name="connsiteY0" fmla="*/ 2092382 h 2092382"/>
              <a:gd name="connsiteX1" fmla="*/ 0 w 4079745"/>
              <a:gd name="connsiteY1" fmla="*/ 0 h 2092382"/>
              <a:gd name="connsiteX0" fmla="*/ 5083712 w 5083712"/>
              <a:gd name="connsiteY0" fmla="*/ 1443426 h 1443426"/>
              <a:gd name="connsiteX1" fmla="*/ 0 w 5083712"/>
              <a:gd name="connsiteY1" fmla="*/ 0 h 1443426"/>
              <a:gd name="connsiteX0" fmla="*/ 5083712 w 5083712"/>
              <a:gd name="connsiteY0" fmla="*/ 1443426 h 1443426"/>
              <a:gd name="connsiteX1" fmla="*/ 0 w 5083712"/>
              <a:gd name="connsiteY1" fmla="*/ 0 h 1443426"/>
              <a:gd name="connsiteX0" fmla="*/ 5521807 w 5521807"/>
              <a:gd name="connsiteY0" fmla="*/ 1570395 h 1570395"/>
              <a:gd name="connsiteX1" fmla="*/ 0 w 5521807"/>
              <a:gd name="connsiteY1" fmla="*/ 0 h 1570395"/>
              <a:gd name="connsiteX0" fmla="*/ 5321014 w 5321014"/>
              <a:gd name="connsiteY0" fmla="*/ 1457534 h 1457534"/>
              <a:gd name="connsiteX1" fmla="*/ 0 w 5321014"/>
              <a:gd name="connsiteY1" fmla="*/ 0 h 1457534"/>
              <a:gd name="connsiteX0" fmla="*/ 5321137 w 5321137"/>
              <a:gd name="connsiteY0" fmla="*/ 1457534 h 1457534"/>
              <a:gd name="connsiteX1" fmla="*/ 123 w 5321137"/>
              <a:gd name="connsiteY1" fmla="*/ 0 h 1457534"/>
              <a:gd name="connsiteX0" fmla="*/ 478 w 1579460"/>
              <a:gd name="connsiteY0" fmla="*/ 432067 h 4040073"/>
              <a:gd name="connsiteX1" fmla="*/ 1579460 w 1579460"/>
              <a:gd name="connsiteY1" fmla="*/ 3799378 h 4040073"/>
              <a:gd name="connsiteX0" fmla="*/ 682 w 1579664"/>
              <a:gd name="connsiteY0" fmla="*/ 560600 h 3927911"/>
              <a:gd name="connsiteX1" fmla="*/ 1579664 w 1579664"/>
              <a:gd name="connsiteY1" fmla="*/ 3927911 h 3927911"/>
              <a:gd name="connsiteX0" fmla="*/ 0 w 1578982"/>
              <a:gd name="connsiteY0" fmla="*/ 14926 h 3382237"/>
              <a:gd name="connsiteX1" fmla="*/ 1578982 w 1578982"/>
              <a:gd name="connsiteY1" fmla="*/ 3382237 h 3382237"/>
              <a:gd name="connsiteX0" fmla="*/ 0 w 1578982"/>
              <a:gd name="connsiteY0" fmla="*/ 13361 h 3380672"/>
              <a:gd name="connsiteX1" fmla="*/ 1578982 w 1578982"/>
              <a:gd name="connsiteY1" fmla="*/ 3380672 h 3380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8982" h="3380672">
                <a:moveTo>
                  <a:pt x="0" y="13361"/>
                </a:moveTo>
                <a:cubicBezTo>
                  <a:pt x="1382732" y="-243947"/>
                  <a:pt x="709674" y="3299539"/>
                  <a:pt x="1578982" y="3380672"/>
                </a:cubicBezTo>
              </a:path>
            </a:pathLst>
          </a:custGeom>
          <a:noFill/>
          <a:ln w="28575">
            <a:solidFill>
              <a:srgbClr val="FF66FF"/>
            </a:solidFill>
            <a:prstDash val="sysDash"/>
            <a:headEnd type="none" w="med" len="med"/>
            <a:tailEnd type="arrow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231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Métodos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Procedimientos y funciones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3503525" cy="1862048"/>
            <a:chOff x="2592475" y="894308"/>
            <a:chExt cx="3503525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Paso de parámetros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3B48CC2C-F2D4-10A9-2D12-CCD6B4875CAA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54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D2412-C8AB-2541-ACC5-3C51C06A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83659-8255-0D93-DD9B-5C209559D0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31487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/>
                </a:solidFill>
              </a:rPr>
              <a:t>34</a:t>
            </a:fld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2E66FC4-5EE5-1E98-6054-E41EDC54C2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4945" y="1436914"/>
            <a:ext cx="6886347" cy="4782911"/>
          </a:xfrm>
        </p:spPr>
        <p:txBody>
          <a:bodyPr>
            <a:normAutofit fontScale="925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>
                <a:latin typeface="+mj-lt"/>
              </a:rPr>
              <a:t>1. Es correcto afirmar, acerca de los métodos en Java:</a:t>
            </a:r>
          </a:p>
          <a:p>
            <a:pPr marL="565150" indent="-514350">
              <a:lnSpc>
                <a:spcPct val="120000"/>
              </a:lnSpc>
              <a:buAutoNum type="arabicPeriod"/>
            </a:pPr>
            <a:endParaRPr lang="es-ES" dirty="0">
              <a:latin typeface="+mj-lt"/>
            </a:endParaRP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Opcionalmente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pueden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retornar</a:t>
            </a:r>
            <a:r>
              <a:rPr lang="en-US" dirty="0">
                <a:latin typeface="+mj-lt"/>
              </a:rPr>
              <a:t> un valor.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Pueden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tener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parámetros</a:t>
            </a:r>
            <a:r>
              <a:rPr lang="en-US" dirty="0">
                <a:latin typeface="+mj-lt"/>
              </a:rPr>
              <a:t> cero, uno o más </a:t>
            </a:r>
            <a:r>
              <a:rPr lang="en-US" dirty="0" err="1">
                <a:latin typeface="+mj-lt"/>
              </a:rPr>
              <a:t>parámetros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Pueden</a:t>
            </a:r>
            <a:r>
              <a:rPr lang="en-US" dirty="0">
                <a:latin typeface="+mj-lt"/>
              </a:rPr>
              <a:t> ser </a:t>
            </a:r>
            <a:r>
              <a:rPr lang="en-US" dirty="0" err="1">
                <a:latin typeface="+mj-lt"/>
              </a:rPr>
              <a:t>funciones</a:t>
            </a:r>
            <a:r>
              <a:rPr lang="en-US" dirty="0">
                <a:latin typeface="+mj-lt"/>
              </a:rPr>
              <a:t> o </a:t>
            </a:r>
            <a:r>
              <a:rPr lang="en-US" dirty="0" err="1">
                <a:latin typeface="+mj-lt"/>
              </a:rPr>
              <a:t>procedimientos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Todas</a:t>
            </a:r>
            <a:r>
              <a:rPr lang="en-US" dirty="0">
                <a:latin typeface="+mj-lt"/>
              </a:rPr>
              <a:t> las </a:t>
            </a:r>
            <a:r>
              <a:rPr lang="en-US" dirty="0" err="1">
                <a:latin typeface="+mj-lt"/>
              </a:rPr>
              <a:t>anteriores</a:t>
            </a:r>
            <a:r>
              <a:rPr lang="en-US" dirty="0">
                <a:latin typeface="+mj-lt"/>
              </a:rPr>
              <a:t> afirmaciones son </a:t>
            </a:r>
            <a:r>
              <a:rPr lang="en-US" dirty="0" err="1">
                <a:latin typeface="+mj-lt"/>
              </a:rPr>
              <a:t>correctas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Ninguna</a:t>
            </a:r>
            <a:r>
              <a:rPr lang="en-US" dirty="0">
                <a:latin typeface="+mj-lt"/>
              </a:rPr>
              <a:t> de las </a:t>
            </a:r>
            <a:r>
              <a:rPr lang="en-US" dirty="0" err="1">
                <a:latin typeface="+mj-lt"/>
              </a:rPr>
              <a:t>anteriores</a:t>
            </a:r>
            <a:r>
              <a:rPr lang="en-US" dirty="0">
                <a:latin typeface="+mj-lt"/>
              </a:rPr>
              <a:t> afirmaciones son </a:t>
            </a:r>
            <a:r>
              <a:rPr lang="en-US" dirty="0" err="1">
                <a:latin typeface="+mj-lt"/>
              </a:rPr>
              <a:t>correctas</a:t>
            </a:r>
            <a:r>
              <a:rPr lang="en-US" dirty="0">
                <a:latin typeface="+mj-lt"/>
              </a:rPr>
              <a:t>.</a:t>
            </a:r>
          </a:p>
          <a:p>
            <a:pPr marL="565150" indent="-514350">
              <a:lnSpc>
                <a:spcPct val="120000"/>
              </a:lnSpc>
              <a:buAutoNum type="alphaUcPeriod"/>
            </a:pPr>
            <a:endParaRPr lang="en-US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E5BEDD-EE00-8838-E562-22007BEA1C1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D329C-98C5-273B-CF23-3C7C149806D9}"/>
              </a:ext>
            </a:extLst>
          </p:cNvPr>
          <p:cNvSpPr txBox="1"/>
          <p:nvPr/>
        </p:nvSpPr>
        <p:spPr>
          <a:xfrm>
            <a:off x="739938" y="6252653"/>
            <a:ext cx="68863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https://assets.website-files.com/63e3d6905bacd6855fa38c1c/63e3d6905bacd66ec7a39147_Java%20Code%20%20Review%20Checklist.jpg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https://logos-world.net/wp-content/uploads/2022/07/Java-Logo.png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B7973A0-7B6A-6E63-25A0-2E2D2D3F0257}"/>
              </a:ext>
            </a:extLst>
          </p:cNvPr>
          <p:cNvGrpSpPr/>
          <p:nvPr/>
        </p:nvGrpSpPr>
        <p:grpSpPr>
          <a:xfrm>
            <a:off x="8443576" y="0"/>
            <a:ext cx="3748424" cy="6858000"/>
            <a:chOff x="8443576" y="0"/>
            <a:chExt cx="3748424" cy="68580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AB9F8F-5C16-D503-F880-125DBC671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3576" y="0"/>
              <a:ext cx="3748424" cy="6858000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74C8D024-9CF6-B342-4C61-421D7C9610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biLevel thresh="25000"/>
              <a:alphaModFix amt="35000"/>
            </a:blip>
            <a:srcRect l="33326" r="34818"/>
            <a:stretch/>
          </p:blipFill>
          <p:spPr>
            <a:xfrm>
              <a:off x="8748074" y="3429000"/>
              <a:ext cx="1783098" cy="31485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283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9B153-2E45-3645-2F12-D2E0DDBC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5AD12-3A1E-FA81-1BBD-F556CC290B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7FBE8-14AA-5030-D37A-C9C89F64C8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886346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2. Es correcto afirmar, acerca de las funciones y los procedimientos.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>
                <a:latin typeface="+mj-lt"/>
              </a:rPr>
              <a:t>Un </a:t>
            </a:r>
            <a:r>
              <a:rPr lang="en-US" dirty="0" err="1">
                <a:latin typeface="+mj-lt"/>
              </a:rPr>
              <a:t>procedimiento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aunque</a:t>
            </a:r>
            <a:r>
              <a:rPr lang="en-US" dirty="0">
                <a:latin typeface="+mj-lt"/>
              </a:rPr>
              <a:t> no </a:t>
            </a:r>
            <a:r>
              <a:rPr lang="en-US" dirty="0" err="1">
                <a:latin typeface="+mj-lt"/>
              </a:rPr>
              <a:t>devuelve</a:t>
            </a:r>
            <a:r>
              <a:rPr lang="en-US" dirty="0">
                <a:latin typeface="+mj-lt"/>
              </a:rPr>
              <a:t> un valor </a:t>
            </a:r>
            <a:r>
              <a:rPr lang="en-US" dirty="0" err="1">
                <a:latin typeface="+mj-lt"/>
              </a:rPr>
              <a:t>puede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tener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instrucción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return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>
                <a:latin typeface="+mj-lt"/>
              </a:rPr>
              <a:t>Una </a:t>
            </a:r>
            <a:r>
              <a:rPr lang="en-US" dirty="0" err="1">
                <a:latin typeface="+mj-lt"/>
              </a:rPr>
              <a:t>función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debe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incluir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obligatoriamente</a:t>
            </a:r>
            <a:r>
              <a:rPr lang="en-US" dirty="0">
                <a:latin typeface="+mj-lt"/>
              </a:rPr>
              <a:t> la </a:t>
            </a:r>
            <a:r>
              <a:rPr lang="en-US" dirty="0" err="1">
                <a:latin typeface="+mj-lt"/>
              </a:rPr>
              <a:t>instrucción</a:t>
            </a:r>
            <a:r>
              <a:rPr lang="en-US" dirty="0">
                <a:latin typeface="+mj-lt"/>
              </a:rPr>
              <a:t> </a:t>
            </a:r>
            <a:r>
              <a:rPr lang="en-US" b="1" dirty="0">
                <a:latin typeface="+mj-lt"/>
              </a:rPr>
              <a:t>return</a:t>
            </a:r>
            <a:r>
              <a:rPr lang="en-US" dirty="0">
                <a:latin typeface="+mj-lt"/>
              </a:rPr>
              <a:t> para </a:t>
            </a:r>
            <a:r>
              <a:rPr lang="en-US" dirty="0" err="1">
                <a:latin typeface="+mj-lt"/>
              </a:rPr>
              <a:t>devolver</a:t>
            </a:r>
            <a:r>
              <a:rPr lang="en-US" dirty="0">
                <a:latin typeface="+mj-lt"/>
              </a:rPr>
              <a:t> un valor.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>
                <a:latin typeface="+mj-lt"/>
              </a:rPr>
              <a:t>Tanto </a:t>
            </a:r>
            <a:r>
              <a:rPr lang="en-US" dirty="0" err="1">
                <a:latin typeface="+mj-lt"/>
              </a:rPr>
              <a:t>funciones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como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procedimientos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deben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realizar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una</a:t>
            </a:r>
            <a:r>
              <a:rPr lang="en-US" dirty="0">
                <a:latin typeface="+mj-lt"/>
              </a:rPr>
              <a:t> sola </a:t>
            </a:r>
            <a:r>
              <a:rPr lang="en-US" dirty="0" err="1">
                <a:latin typeface="+mj-lt"/>
              </a:rPr>
              <a:t>tarea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específica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Todas</a:t>
            </a:r>
            <a:r>
              <a:rPr lang="en-US" dirty="0">
                <a:latin typeface="+mj-lt"/>
              </a:rPr>
              <a:t> las </a:t>
            </a:r>
            <a:r>
              <a:rPr lang="en-US" dirty="0" err="1">
                <a:latin typeface="+mj-lt"/>
              </a:rPr>
              <a:t>anteriores</a:t>
            </a:r>
            <a:r>
              <a:rPr lang="en-US" dirty="0">
                <a:latin typeface="+mj-lt"/>
              </a:rPr>
              <a:t> afirmaciones son </a:t>
            </a:r>
            <a:r>
              <a:rPr lang="en-US" dirty="0" err="1">
                <a:latin typeface="+mj-lt"/>
              </a:rPr>
              <a:t>correctas</a:t>
            </a:r>
            <a:r>
              <a:rPr lang="en-US" dirty="0">
                <a:latin typeface="+mj-lt"/>
              </a:rPr>
              <a:t>.</a:t>
            </a:r>
          </a:p>
          <a:p>
            <a:pPr marL="1022350" lvl="1" indent="-514350">
              <a:lnSpc>
                <a:spcPct val="120000"/>
              </a:lnSpc>
              <a:buSzPct val="99000"/>
              <a:buAutoNum type="alphaUcPeriod"/>
            </a:pPr>
            <a:r>
              <a:rPr lang="en-US" dirty="0" err="1">
                <a:latin typeface="+mj-lt"/>
              </a:rPr>
              <a:t>Ninguna</a:t>
            </a:r>
            <a:r>
              <a:rPr lang="en-US" dirty="0">
                <a:latin typeface="+mj-lt"/>
              </a:rPr>
              <a:t> de las </a:t>
            </a:r>
            <a:r>
              <a:rPr lang="en-US" dirty="0" err="1">
                <a:latin typeface="+mj-lt"/>
              </a:rPr>
              <a:t>anteriores</a:t>
            </a:r>
            <a:r>
              <a:rPr lang="en-US" dirty="0">
                <a:latin typeface="+mj-lt"/>
              </a:rPr>
              <a:t> afirmaciones son </a:t>
            </a:r>
            <a:r>
              <a:rPr lang="en-US" dirty="0" err="1">
                <a:latin typeface="+mj-lt"/>
              </a:rPr>
              <a:t>correctas</a:t>
            </a:r>
            <a:r>
              <a:rPr lang="en-US" dirty="0">
                <a:latin typeface="+mj-lt"/>
              </a:rPr>
              <a:t>.</a:t>
            </a:r>
          </a:p>
          <a:p>
            <a:pPr marL="565150" indent="-514350">
              <a:lnSpc>
                <a:spcPct val="120000"/>
              </a:lnSpc>
              <a:buAutoNum type="alphaUcPeriod"/>
            </a:pPr>
            <a:endParaRPr lang="en-US" dirty="0">
              <a:latin typeface="+mj-lt"/>
            </a:endParaRPr>
          </a:p>
          <a:p>
            <a:pPr marL="5080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8D13D-C763-ADAD-78B4-E0F4779E7C8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B88A1-408C-9268-D873-6749715D451A}"/>
              </a:ext>
            </a:extLst>
          </p:cNvPr>
          <p:cNvSpPr txBox="1"/>
          <p:nvPr/>
        </p:nvSpPr>
        <p:spPr>
          <a:xfrm>
            <a:off x="739938" y="6252653"/>
            <a:ext cx="68863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https://assets.website-files.com/63e3d6905bacd6855fa38c1c/63e3d6905bacd66ec7a39147_Java%20Code%20%20Review%20Checklist.jpg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https://logos-world.net/wp-content/uploads/2022/07/Java-Logo.png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98EA0A-7A1F-EBA9-CCF1-DF876F3665BF}"/>
              </a:ext>
            </a:extLst>
          </p:cNvPr>
          <p:cNvGrpSpPr/>
          <p:nvPr/>
        </p:nvGrpSpPr>
        <p:grpSpPr>
          <a:xfrm>
            <a:off x="8443576" y="0"/>
            <a:ext cx="3748424" cy="6858000"/>
            <a:chOff x="8443576" y="0"/>
            <a:chExt cx="3748424" cy="68580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32BB9B4-B58D-5DAE-96CB-F2C10752E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3576" y="0"/>
              <a:ext cx="3748424" cy="6858000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58B7A321-D8EC-884A-6D9B-305CF7B6C0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biLevel thresh="25000"/>
              <a:alphaModFix amt="35000"/>
            </a:blip>
            <a:srcRect l="33326" r="34818"/>
            <a:stretch/>
          </p:blipFill>
          <p:spPr>
            <a:xfrm>
              <a:off x="8748074" y="3429000"/>
              <a:ext cx="1783098" cy="31485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512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4FB7-1C9A-B9B5-3A02-05FD5A0A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590660-B2EB-9AE6-90BF-109BCBEBA1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49F4B-96C6-7F26-C426-8B1E3516AE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978817" cy="4782911"/>
          </a:xfrm>
        </p:spPr>
        <p:txBody>
          <a:bodyPr>
            <a:normAutofit fontScale="85000" lnSpcReduction="2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3. Una de las siguientes afirmaciones es incorrecta: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10000"/>
              </a:lnSpc>
              <a:buSzPct val="99000"/>
              <a:buAutoNum type="alphaUcPeriod"/>
            </a:pPr>
            <a:r>
              <a:rPr lang="es-ES" dirty="0"/>
              <a:t>Las variables de tipo primitivo declaradas como parámetros tienen como alcance el método al que pertenecen.</a:t>
            </a:r>
          </a:p>
          <a:p>
            <a:pPr marL="1022350" lvl="1" indent="-514350">
              <a:lnSpc>
                <a:spcPct val="110000"/>
              </a:lnSpc>
              <a:buSzPct val="99000"/>
              <a:buAutoNum type="alphaUcPeriod"/>
            </a:pPr>
            <a:r>
              <a:rPr lang="es-ES" dirty="0"/>
              <a:t>Al menos uno de los parámetros declarados en un método debe ser de tipo primitivo.</a:t>
            </a:r>
          </a:p>
          <a:p>
            <a:pPr marL="1022350" lvl="1" indent="-514350">
              <a:lnSpc>
                <a:spcPct val="110000"/>
              </a:lnSpc>
              <a:buSzPct val="99000"/>
              <a:buAutoNum type="alphaUcPeriod"/>
            </a:pPr>
            <a:r>
              <a:rPr lang="es-ES" dirty="0"/>
              <a:t>No existe un límite acerca del número de parámetros que puede tener un método.</a:t>
            </a:r>
          </a:p>
          <a:p>
            <a:pPr marL="1022350" lvl="1" indent="-514350">
              <a:lnSpc>
                <a:spcPct val="110000"/>
              </a:lnSpc>
              <a:buSzPct val="99000"/>
              <a:buAutoNum type="alphaUcPeriod"/>
            </a:pPr>
            <a:r>
              <a:rPr lang="es-ES" dirty="0"/>
              <a:t>Es necesario que los argumentos coincidan en número, tipo y orden con los parámetros del método invocado.</a:t>
            </a:r>
          </a:p>
          <a:p>
            <a:pPr marL="1022350" lvl="1" indent="-514350">
              <a:lnSpc>
                <a:spcPct val="110000"/>
              </a:lnSpc>
              <a:buSzPct val="99000"/>
              <a:buAutoNum type="alphaUcPeriod"/>
            </a:pPr>
            <a:r>
              <a:rPr lang="es-ES" dirty="0"/>
              <a:t>Todas las anteriores afirmaciones son incorrectas.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/>
          </a:p>
          <a:p>
            <a:pPr marL="5080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E69D49-4259-1931-ECBF-44D68D8BB96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F96D90-876D-2287-BA07-6691B9496B37}"/>
              </a:ext>
            </a:extLst>
          </p:cNvPr>
          <p:cNvSpPr txBox="1"/>
          <p:nvPr/>
        </p:nvSpPr>
        <p:spPr>
          <a:xfrm>
            <a:off x="739938" y="6252653"/>
            <a:ext cx="68863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https://assets.website-files.com/63e3d6905bacd6855fa38c1c/63e3d6905bacd66ec7a39147_Java%20Code%20%20Review%20Checklist.jpg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https://logos-world.net/wp-content/uploads/2022/07/Java-Logo.png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ABDE1C-E1D5-523D-A1DB-AD15BE27C6E7}"/>
              </a:ext>
            </a:extLst>
          </p:cNvPr>
          <p:cNvGrpSpPr/>
          <p:nvPr/>
        </p:nvGrpSpPr>
        <p:grpSpPr>
          <a:xfrm>
            <a:off x="8443576" y="0"/>
            <a:ext cx="3748424" cy="6858000"/>
            <a:chOff x="8443576" y="0"/>
            <a:chExt cx="3748424" cy="68580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3309925-17E6-6551-08C9-7ADD3B506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43576" y="0"/>
              <a:ext cx="3748424" cy="6858000"/>
            </a:xfrm>
            <a:prstGeom prst="rect">
              <a:avLst/>
            </a:prstGeom>
          </p:spPr>
        </p:pic>
        <p:pic>
          <p:nvPicPr>
            <p:cNvPr id="9" name="Picture 8" descr="Logo&#10;&#10;Description automatically generated">
              <a:extLst>
                <a:ext uri="{FF2B5EF4-FFF2-40B4-BE49-F238E27FC236}">
                  <a16:creationId xmlns:a16="http://schemas.microsoft.com/office/drawing/2014/main" id="{D93926C8-CA14-3C69-49A2-621DB299EB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biLevel thresh="25000"/>
              <a:alphaModFix amt="35000"/>
            </a:blip>
            <a:srcRect l="33326" r="34818"/>
            <a:stretch/>
          </p:blipFill>
          <p:spPr>
            <a:xfrm>
              <a:off x="8748074" y="3429000"/>
              <a:ext cx="1783098" cy="31485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757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40BCE-FF8C-5609-50E2-6449DC8A78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5904722" cy="4782911"/>
          </a:xfrm>
        </p:spPr>
        <p:txBody>
          <a:bodyPr/>
          <a:lstStyle/>
          <a:p>
            <a:pPr marL="50800" indent="0">
              <a:buNone/>
            </a:pPr>
            <a:r>
              <a:rPr lang="es-ES" dirty="0"/>
              <a:t>Ampliar la clase </a:t>
            </a:r>
            <a:r>
              <a:rPr lang="es-ES" b="1" dirty="0" err="1"/>
              <a:t>OperadorArreglos</a:t>
            </a:r>
            <a:r>
              <a:rPr lang="es-ES" dirty="0"/>
              <a:t> desarrollada en clase para que implemente el método </a:t>
            </a:r>
            <a:r>
              <a:rPr lang="es-ES" b="1" dirty="0" err="1"/>
              <a:t>eliminarValor</a:t>
            </a:r>
            <a:r>
              <a:rPr lang="es-ES" b="1" dirty="0"/>
              <a:t>()</a:t>
            </a:r>
            <a:r>
              <a:rPr lang="es-ES" dirty="0"/>
              <a:t> que remueve la primera ocurrencia de un valor dado. </a:t>
            </a:r>
          </a:p>
          <a:p>
            <a:pPr marL="50800" indent="0">
              <a:buNone/>
            </a:pPr>
            <a:r>
              <a:rPr lang="es-ES" dirty="0"/>
              <a:t>Los elementos a la derecha del valor eliminado deben avanzar una posición.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FAAB0759-8589-D639-3754-D51343AAE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227335"/>
              </p:ext>
            </p:extLst>
          </p:nvPr>
        </p:nvGraphicFramePr>
        <p:xfrm>
          <a:off x="7945584" y="1282046"/>
          <a:ext cx="3408216" cy="599184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599184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12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16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22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48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31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2BEDE5-36DC-61C1-E6C2-20726C20C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59240"/>
              </p:ext>
            </p:extLst>
          </p:nvPr>
        </p:nvGraphicFramePr>
        <p:xfrm>
          <a:off x="7945584" y="1928048"/>
          <a:ext cx="340821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A649D4F3-9D4C-7B11-794C-756335915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26559"/>
              </p:ext>
            </p:extLst>
          </p:nvPr>
        </p:nvGraphicFramePr>
        <p:xfrm>
          <a:off x="7945584" y="4770014"/>
          <a:ext cx="3408216" cy="622168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622168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12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16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48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31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0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6603BF-16A6-4E66-8B46-DA1B08AFC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473879"/>
              </p:ext>
            </p:extLst>
          </p:nvPr>
        </p:nvGraphicFramePr>
        <p:xfrm>
          <a:off x="7945584" y="5392182"/>
          <a:ext cx="340821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B23656F-2C46-75BB-F14B-8834ECACE36F}"/>
              </a:ext>
            </a:extLst>
          </p:cNvPr>
          <p:cNvSpPr txBox="1"/>
          <p:nvPr/>
        </p:nvSpPr>
        <p:spPr>
          <a:xfrm>
            <a:off x="9803091" y="2541027"/>
            <a:ext cx="47000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s-ES" sz="2000" dirty="0"/>
              <a:t>22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6FFC86-9CD9-C714-522E-76022EAE7A74}"/>
              </a:ext>
            </a:extLst>
          </p:cNvPr>
          <p:cNvSpPr txBox="1"/>
          <p:nvPr/>
        </p:nvSpPr>
        <p:spPr>
          <a:xfrm>
            <a:off x="7945585" y="963285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Sea el arreglo: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E1126A-5C94-1545-CB9A-FC23F27C6231}"/>
              </a:ext>
            </a:extLst>
          </p:cNvPr>
          <p:cNvSpPr txBox="1"/>
          <p:nvPr/>
        </p:nvSpPr>
        <p:spPr>
          <a:xfrm>
            <a:off x="7945585" y="2588163"/>
            <a:ext cx="18069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Y el valor a eliminar: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ACAD63-161D-1181-C36E-55CD628CBA7F}"/>
              </a:ext>
            </a:extLst>
          </p:cNvPr>
          <p:cNvSpPr txBox="1"/>
          <p:nvPr/>
        </p:nvSpPr>
        <p:spPr>
          <a:xfrm>
            <a:off x="7945585" y="3155163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Entonces:</a:t>
            </a:r>
            <a:endParaRPr lang="en-US" dirty="0"/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C899A628-A6E8-F815-AA73-18D7168C3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318353"/>
              </p:ext>
            </p:extLst>
          </p:nvPr>
        </p:nvGraphicFramePr>
        <p:xfrm>
          <a:off x="7945584" y="3573778"/>
          <a:ext cx="3408216" cy="599184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599184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12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16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22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5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48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31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5443DB-7D78-765F-87FD-66152DA7F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959240"/>
              </p:ext>
            </p:extLst>
          </p:nvPr>
        </p:nvGraphicFramePr>
        <p:xfrm>
          <a:off x="7945584" y="4219780"/>
          <a:ext cx="3408216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036">
                  <a:extLst>
                    <a:ext uri="{9D8B030D-6E8A-4147-A177-3AD203B41FA5}">
                      <a16:colId xmlns:a16="http://schemas.microsoft.com/office/drawing/2014/main" val="3308367400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766776116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3909607673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955332277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2313134395"/>
                    </a:ext>
                  </a:extLst>
                </a:gridCol>
                <a:gridCol w="568036">
                  <a:extLst>
                    <a:ext uri="{9D8B030D-6E8A-4147-A177-3AD203B41FA5}">
                      <a16:colId xmlns:a16="http://schemas.microsoft.com/office/drawing/2014/main" val="10987623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98308"/>
                  </a:ext>
                </a:extLst>
              </a:tr>
            </a:tbl>
          </a:graphicData>
        </a:graphic>
      </p:graphicFrame>
      <p:sp>
        <p:nvSpPr>
          <p:cNvPr id="8" name="Flowchart: Summing Junction 7">
            <a:extLst>
              <a:ext uri="{FF2B5EF4-FFF2-40B4-BE49-F238E27FC236}">
                <a16:creationId xmlns:a16="http://schemas.microsoft.com/office/drawing/2014/main" id="{F03C3B41-709F-0616-0D6E-BB82CA358173}"/>
              </a:ext>
            </a:extLst>
          </p:cNvPr>
          <p:cNvSpPr/>
          <p:nvPr/>
        </p:nvSpPr>
        <p:spPr>
          <a:xfrm>
            <a:off x="9181708" y="3711192"/>
            <a:ext cx="367645" cy="367645"/>
          </a:xfrm>
          <a:prstGeom prst="flowChartSummingJunction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39511B6-04BD-A27C-7815-3374DB074770}"/>
              </a:ext>
            </a:extLst>
          </p:cNvPr>
          <p:cNvCxnSpPr/>
          <p:nvPr/>
        </p:nvCxnSpPr>
        <p:spPr>
          <a:xfrm flipH="1">
            <a:off x="9455085" y="4219780"/>
            <a:ext cx="348006" cy="4836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6EA79A3-4FB1-B197-C205-623B5D339C0C}"/>
              </a:ext>
            </a:extLst>
          </p:cNvPr>
          <p:cNvCxnSpPr/>
          <p:nvPr/>
        </p:nvCxnSpPr>
        <p:spPr>
          <a:xfrm flipH="1">
            <a:off x="10056436" y="4219780"/>
            <a:ext cx="348006" cy="4836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0AD44F-F549-1FA2-731A-A3C8AB4FA12A}"/>
              </a:ext>
            </a:extLst>
          </p:cNvPr>
          <p:cNvCxnSpPr/>
          <p:nvPr/>
        </p:nvCxnSpPr>
        <p:spPr>
          <a:xfrm flipH="1">
            <a:off x="10657787" y="4219780"/>
            <a:ext cx="348006" cy="48368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463E09E-901A-242B-325E-5BEDA72E3E5F}"/>
              </a:ext>
            </a:extLst>
          </p:cNvPr>
          <p:cNvSpPr/>
          <p:nvPr/>
        </p:nvSpPr>
        <p:spPr>
          <a:xfrm>
            <a:off x="10850644" y="4854804"/>
            <a:ext cx="442668" cy="45141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38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¿Qué es un método?</a:t>
            </a:r>
          </a:p>
          <a:p>
            <a:r>
              <a:rPr lang="es-ES" dirty="0"/>
              <a:t>¿Qué tipos de métodos existen?</a:t>
            </a:r>
          </a:p>
          <a:p>
            <a:r>
              <a:rPr lang="es-ES" dirty="0"/>
              <a:t>¿Qué los diferencia?</a:t>
            </a:r>
          </a:p>
          <a:p>
            <a:r>
              <a:rPr lang="es-ES" dirty="0"/>
              <a:t>¿Qué es un parámetro y cuál es su utilidad?</a:t>
            </a:r>
          </a:p>
          <a:p>
            <a:r>
              <a:rPr lang="es-ES" dirty="0"/>
              <a:t>¿En qué consisten el “paso de parámetros”?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31082">
            <a:off x="10177213" y="390474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1793496">
            <a:off x="8875847" y="645281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5120549">
            <a:off x="9920715" y="4551555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49711" flipH="1">
            <a:off x="9026196" y="2193883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39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6673</TotalTime>
  <Words>3347</Words>
  <Application>Microsoft Office PowerPoint</Application>
  <PresentationFormat>Panorámica</PresentationFormat>
  <Paragraphs>442</Paragraphs>
  <Slides>40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40</vt:i4>
      </vt:variant>
    </vt:vector>
  </HeadingPairs>
  <TitlesOfParts>
    <vt:vector size="46" baseType="lpstr">
      <vt:lpstr>Arial</vt:lpstr>
      <vt:lpstr>Arial Black</vt:lpstr>
      <vt:lpstr>Helvetica</vt:lpstr>
      <vt:lpstr>Inconsolata</vt:lpstr>
      <vt:lpstr>JetBrains Mono</vt:lpstr>
      <vt:lpstr>TemaUTP</vt:lpstr>
      <vt:lpstr>Taller de Programación</vt:lpstr>
      <vt:lpstr>Dudas de la clase anterior</vt:lpstr>
      <vt:lpstr>Dudas de la clase anterior</vt:lpstr>
      <vt:lpstr>Dudas de la clase anterior</vt:lpstr>
      <vt:lpstr>Dudas de la clase anterior</vt:lpstr>
      <vt:lpstr>Dudas de la clase anterior</vt:lpstr>
      <vt:lpstr>POO:  Métodos (I)</vt:lpstr>
      <vt:lpstr>Conocimientos previos</vt:lpstr>
      <vt:lpstr>Logro de aprendizaje</vt:lpstr>
      <vt:lpstr>Utilidad</vt:lpstr>
      <vt:lpstr>Presentación de PowerPoint</vt:lpstr>
      <vt:lpstr>Presentación de PowerPoint</vt:lpstr>
      <vt:lpstr>Métodos</vt:lpstr>
      <vt:lpstr>Métodos</vt:lpstr>
      <vt:lpstr>Métodos. Ejemplo.</vt:lpstr>
      <vt:lpstr>Presentación de PowerPoint</vt:lpstr>
      <vt:lpstr>Tipos de métodos</vt:lpstr>
      <vt:lpstr>Procedimientos</vt:lpstr>
      <vt:lpstr>Procedimientos. Ejemplo.</vt:lpstr>
      <vt:lpstr>Funciones</vt:lpstr>
      <vt:lpstr>Funciones. Ejemplo.</vt:lpstr>
      <vt:lpstr>Presentación de PowerPoint</vt:lpstr>
      <vt:lpstr>Tema previo: Alcance (Scope)</vt:lpstr>
      <vt:lpstr>Ejemplo de alcance</vt:lpstr>
      <vt:lpstr>Mensajes</vt:lpstr>
      <vt:lpstr>Mensajes a métodos</vt:lpstr>
      <vt:lpstr>¿Qué es el paso de parámetros?</vt:lpstr>
      <vt:lpstr>Paso de parámetros ¿Cómo funciona?</vt:lpstr>
      <vt:lpstr>En conclusión…</vt:lpstr>
      <vt:lpstr>Paso de parámetros. Ejemplo.</vt:lpstr>
      <vt:lpstr>Tener en cuenta que…</vt:lpstr>
      <vt:lpstr>¿Copiado o Referenciado?</vt:lpstr>
      <vt:lpstr>Presentación de PowerPoint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13-Sesión 25</dc:title>
  <dc:creator>jorgerodcas@hotmail.com</dc:creator>
  <cp:lastModifiedBy>Juan Carlos García</cp:lastModifiedBy>
  <cp:revision>310</cp:revision>
  <dcterms:modified xsi:type="dcterms:W3CDTF">2023-10-23T16:01:16Z</dcterms:modified>
</cp:coreProperties>
</file>