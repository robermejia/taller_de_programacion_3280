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494" r:id="rId3"/>
    <p:sldId id="513" r:id="rId4"/>
    <p:sldId id="514" r:id="rId5"/>
    <p:sldId id="515" r:id="rId6"/>
    <p:sldId id="516" r:id="rId7"/>
    <p:sldId id="258" r:id="rId8"/>
    <p:sldId id="257" r:id="rId9"/>
    <p:sldId id="263" r:id="rId10"/>
    <p:sldId id="264" r:id="rId11"/>
    <p:sldId id="380" r:id="rId12"/>
    <p:sldId id="495" r:id="rId13"/>
    <p:sldId id="455" r:id="rId14"/>
    <p:sldId id="496" r:id="rId15"/>
    <p:sldId id="446" r:id="rId16"/>
    <p:sldId id="497" r:id="rId17"/>
    <p:sldId id="498" r:id="rId18"/>
    <p:sldId id="499" r:id="rId19"/>
    <p:sldId id="500" r:id="rId20"/>
    <p:sldId id="501" r:id="rId21"/>
    <p:sldId id="464" r:id="rId22"/>
    <p:sldId id="517" r:id="rId23"/>
    <p:sldId id="518" r:id="rId24"/>
    <p:sldId id="519" r:id="rId25"/>
    <p:sldId id="505" r:id="rId26"/>
    <p:sldId id="502" r:id="rId27"/>
    <p:sldId id="477" r:id="rId28"/>
    <p:sldId id="507" r:id="rId29"/>
    <p:sldId id="508" r:id="rId30"/>
    <p:sldId id="509" r:id="rId31"/>
    <p:sldId id="503" r:id="rId32"/>
    <p:sldId id="481" r:id="rId33"/>
    <p:sldId id="510" r:id="rId34"/>
    <p:sldId id="511" r:id="rId35"/>
    <p:sldId id="512" r:id="rId36"/>
    <p:sldId id="261" r:id="rId37"/>
    <p:sldId id="329" r:id="rId38"/>
    <p:sldId id="259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140000"/>
    <a:srgbClr val="360000"/>
    <a:srgbClr val="500000"/>
    <a:srgbClr val="800000"/>
    <a:srgbClr val="90FC88"/>
    <a:srgbClr val="FB838D"/>
    <a:srgbClr val="FAF782"/>
    <a:srgbClr val="183A9E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84197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>
        <p:guide orient="horz" pos="66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8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704824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471132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013495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936290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949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</a:p>
          <a:p>
            <a:r>
              <a:rPr lang="es-ES" dirty="0"/>
              <a:t>(los ejemplos mostrados en la presentación ilustran los casos)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397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99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Debe comenzarse con un método básico, por ejemplo: </a:t>
            </a:r>
            <a:r>
              <a:rPr lang="es-ES" i="1" dirty="0" err="1"/>
              <a:t>leerEntero</a:t>
            </a:r>
            <a:r>
              <a:rPr lang="es-ES" i="1" dirty="0"/>
              <a:t>(</a:t>
            </a:r>
            <a:r>
              <a:rPr lang="es-ES" i="1" dirty="0" err="1"/>
              <a:t>int</a:t>
            </a:r>
            <a:r>
              <a:rPr lang="es-ES" i="1" dirty="0"/>
              <a:t> mínimo, </a:t>
            </a:r>
            <a:r>
              <a:rPr lang="es-ES" i="1" dirty="0" err="1"/>
              <a:t>int</a:t>
            </a:r>
            <a:r>
              <a:rPr lang="es-ES" i="1" dirty="0"/>
              <a:t> máximo)</a:t>
            </a:r>
          </a:p>
          <a:p>
            <a:r>
              <a:rPr lang="es-ES" dirty="0"/>
              <a:t>Y luego ponerse a prueba.</a:t>
            </a:r>
          </a:p>
          <a:p>
            <a:r>
              <a:rPr lang="es-ES" dirty="0"/>
              <a:t>Luego se pueden ir implementando otros métodos, hasta donde el tiempo lo permita.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7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sv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4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8886BA-8CB5-DA66-EE68-1AFEBC8511BD}"/>
              </a:ext>
            </a:extLst>
          </p:cNvPr>
          <p:cNvGrpSpPr/>
          <p:nvPr/>
        </p:nvGrpSpPr>
        <p:grpSpPr>
          <a:xfrm>
            <a:off x="159027" y="136525"/>
            <a:ext cx="11864009" cy="6584950"/>
            <a:chOff x="1401417" y="1384185"/>
            <a:chExt cx="9491870" cy="507129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716CF74-A16D-DF7F-277C-98D99FD2D000}"/>
                </a:ext>
              </a:extLst>
            </p:cNvPr>
            <p:cNvSpPr/>
            <p:nvPr/>
          </p:nvSpPr>
          <p:spPr>
            <a:xfrm>
              <a:off x="1401417" y="1384185"/>
              <a:ext cx="9491870" cy="5071294"/>
            </a:xfrm>
            <a:prstGeom prst="roundRect">
              <a:avLst>
                <a:gd name="adj" fmla="val 2225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41845A-F554-7C09-53D2-A52BD9E7DF34}"/>
                </a:ext>
              </a:extLst>
            </p:cNvPr>
            <p:cNvSpPr/>
            <p:nvPr/>
          </p:nvSpPr>
          <p:spPr>
            <a:xfrm>
              <a:off x="1401417" y="1384185"/>
              <a:ext cx="9491870" cy="1050902"/>
            </a:xfrm>
            <a:prstGeom prst="roundRect">
              <a:avLst>
                <a:gd name="adj" fmla="val 889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9DC31E-7CEA-22B1-E2DE-2E270F46944C}"/>
                </a:ext>
              </a:extLst>
            </p:cNvPr>
            <p:cNvSpPr/>
            <p:nvPr/>
          </p:nvSpPr>
          <p:spPr>
            <a:xfrm>
              <a:off x="1401417" y="2055879"/>
              <a:ext cx="9491870" cy="75140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C1486D-5F72-C27E-771E-2CB10A79939A}"/>
                </a:ext>
              </a:extLst>
            </p:cNvPr>
            <p:cNvGrpSpPr/>
            <p:nvPr/>
          </p:nvGrpSpPr>
          <p:grpSpPr>
            <a:xfrm>
              <a:off x="1585499" y="1646875"/>
              <a:ext cx="743367" cy="176704"/>
              <a:chOff x="1162878" y="3200181"/>
              <a:chExt cx="5352252" cy="127225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E4B68C-71A8-A781-3506-6025B37A6DDC}"/>
                  </a:ext>
                </a:extLst>
              </p:cNvPr>
              <p:cNvSpPr/>
              <p:nvPr/>
            </p:nvSpPr>
            <p:spPr>
              <a:xfrm>
                <a:off x="1162878" y="3200181"/>
                <a:ext cx="1272204" cy="1272209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B5739E-AFC5-1482-F158-8EC34CB92CAD}"/>
                  </a:ext>
                </a:extLst>
              </p:cNvPr>
              <p:cNvSpPr/>
              <p:nvPr/>
            </p:nvSpPr>
            <p:spPr>
              <a:xfrm>
                <a:off x="3202899" y="3200203"/>
                <a:ext cx="1272204" cy="127220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FCFFDDB-92B2-8686-B121-D0B072BB48FD}"/>
                  </a:ext>
                </a:extLst>
              </p:cNvPr>
              <p:cNvSpPr/>
              <p:nvPr/>
            </p:nvSpPr>
            <p:spPr>
              <a:xfrm>
                <a:off x="5242926" y="3200225"/>
                <a:ext cx="1272204" cy="127220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019F67-C206-913B-C0C7-1956865F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50" y="196602"/>
            <a:ext cx="10150151" cy="785528"/>
          </a:xfrm>
        </p:spPr>
        <p:txBody>
          <a:bodyPr>
            <a:normAutofit/>
          </a:bodyPr>
          <a:lstStyle/>
          <a:p>
            <a:r>
              <a:rPr lang="es-ES" sz="4800" dirty="0">
                <a:solidFill>
                  <a:schemeClr val="bg1"/>
                </a:solidFill>
              </a:rPr>
              <a:t>Dudas de la clase anterior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E514C-5935-6B3D-3D55-A042532DD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455B3-A281-539A-1F70-5B4A5D8E47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3259" y="1436914"/>
            <a:ext cx="10610542" cy="478291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sz="4400" dirty="0">
                <a:solidFill>
                  <a:schemeClr val="accent4"/>
                </a:solidFill>
              </a:rPr>
              <a:t>Tipos de constructores.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Paso de parámetros.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Sobrecarga de métodos.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instancia.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estáticos.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Graphic 13" descr="Modern architecture with solid fill">
            <a:extLst>
              <a:ext uri="{FF2B5EF4-FFF2-40B4-BE49-F238E27FC236}">
                <a16:creationId xmlns:a16="http://schemas.microsoft.com/office/drawing/2014/main" id="{63A7CB82-01F0-C911-2AA8-6E01DE5DD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7449" y="2715133"/>
            <a:ext cx="914400" cy="914400"/>
          </a:xfrm>
          <a:prstGeom prst="rect">
            <a:avLst/>
          </a:prstGeom>
        </p:spPr>
      </p:pic>
      <p:pic>
        <p:nvPicPr>
          <p:cNvPr id="16" name="Graphic 15" descr="Saw with solid fill">
            <a:extLst>
              <a:ext uri="{FF2B5EF4-FFF2-40B4-BE49-F238E27FC236}">
                <a16:creationId xmlns:a16="http://schemas.microsoft.com/office/drawing/2014/main" id="{6343BB1D-11A8-B3C2-C7E3-013BE2B95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4618" y="2023935"/>
            <a:ext cx="914400" cy="914400"/>
          </a:xfrm>
          <a:prstGeom prst="rect">
            <a:avLst/>
          </a:prstGeom>
        </p:spPr>
      </p:pic>
      <p:pic>
        <p:nvPicPr>
          <p:cNvPr id="18" name="Graphic 17" descr="Court with solid fill">
            <a:extLst>
              <a:ext uri="{FF2B5EF4-FFF2-40B4-BE49-F238E27FC236}">
                <a16:creationId xmlns:a16="http://schemas.microsoft.com/office/drawing/2014/main" id="{FC478152-45DA-F879-C3B6-3D3B537935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8295" y="4039640"/>
            <a:ext cx="914400" cy="914400"/>
          </a:xfrm>
          <a:prstGeom prst="rect">
            <a:avLst/>
          </a:prstGeom>
        </p:spPr>
      </p:pic>
      <p:pic>
        <p:nvPicPr>
          <p:cNvPr id="20" name="Graphic 19" descr="Hammer with solid fill">
            <a:extLst>
              <a:ext uri="{FF2B5EF4-FFF2-40B4-BE49-F238E27FC236}">
                <a16:creationId xmlns:a16="http://schemas.microsoft.com/office/drawing/2014/main" id="{AC30E61C-BDCA-0908-D56E-C54BF26744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23386" y="4747665"/>
            <a:ext cx="914400" cy="914400"/>
          </a:xfrm>
          <a:prstGeom prst="rect">
            <a:avLst/>
          </a:prstGeom>
        </p:spPr>
      </p:pic>
      <p:pic>
        <p:nvPicPr>
          <p:cNvPr id="22" name="Graphic 21" descr="Triangle Ruler outline">
            <a:extLst>
              <a:ext uri="{FF2B5EF4-FFF2-40B4-BE49-F238E27FC236}">
                <a16:creationId xmlns:a16="http://schemas.microsoft.com/office/drawing/2014/main" id="{7BC4EFF2-7496-73FC-AC80-D925F9D43D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2446" y="3074186"/>
            <a:ext cx="914400" cy="914400"/>
          </a:xfrm>
          <a:prstGeom prst="rect">
            <a:avLst/>
          </a:prstGeom>
        </p:spPr>
      </p:pic>
      <p:pic>
        <p:nvPicPr>
          <p:cNvPr id="24" name="Graphic 23" descr="Tools with solid fill">
            <a:extLst>
              <a:ext uri="{FF2B5EF4-FFF2-40B4-BE49-F238E27FC236}">
                <a16:creationId xmlns:a16="http://schemas.microsoft.com/office/drawing/2014/main" id="{99D2F2A7-E65D-11A7-9E35-A3F2233B1B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90247" y="49348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4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8886BA-8CB5-DA66-EE68-1AFEBC8511BD}"/>
              </a:ext>
            </a:extLst>
          </p:cNvPr>
          <p:cNvGrpSpPr/>
          <p:nvPr/>
        </p:nvGrpSpPr>
        <p:grpSpPr>
          <a:xfrm>
            <a:off x="159027" y="136525"/>
            <a:ext cx="11864009" cy="6584950"/>
            <a:chOff x="1401417" y="1384185"/>
            <a:chExt cx="9491870" cy="507129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716CF74-A16D-DF7F-277C-98D99FD2D000}"/>
                </a:ext>
              </a:extLst>
            </p:cNvPr>
            <p:cNvSpPr/>
            <p:nvPr/>
          </p:nvSpPr>
          <p:spPr>
            <a:xfrm>
              <a:off x="1401417" y="1384185"/>
              <a:ext cx="9491870" cy="5071294"/>
            </a:xfrm>
            <a:prstGeom prst="roundRect">
              <a:avLst>
                <a:gd name="adj" fmla="val 2225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41845A-F554-7C09-53D2-A52BD9E7DF34}"/>
                </a:ext>
              </a:extLst>
            </p:cNvPr>
            <p:cNvSpPr/>
            <p:nvPr/>
          </p:nvSpPr>
          <p:spPr>
            <a:xfrm>
              <a:off x="1401417" y="1384185"/>
              <a:ext cx="9491870" cy="1050902"/>
            </a:xfrm>
            <a:prstGeom prst="roundRect">
              <a:avLst>
                <a:gd name="adj" fmla="val 889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9DC31E-7CEA-22B1-E2DE-2E270F46944C}"/>
                </a:ext>
              </a:extLst>
            </p:cNvPr>
            <p:cNvSpPr/>
            <p:nvPr/>
          </p:nvSpPr>
          <p:spPr>
            <a:xfrm>
              <a:off x="1401417" y="2055879"/>
              <a:ext cx="9491870" cy="75140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C1486D-5F72-C27E-771E-2CB10A79939A}"/>
                </a:ext>
              </a:extLst>
            </p:cNvPr>
            <p:cNvGrpSpPr/>
            <p:nvPr/>
          </p:nvGrpSpPr>
          <p:grpSpPr>
            <a:xfrm>
              <a:off x="1585499" y="1646875"/>
              <a:ext cx="743367" cy="176704"/>
              <a:chOff x="1162878" y="3200181"/>
              <a:chExt cx="5352252" cy="127225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E4B68C-71A8-A781-3506-6025B37A6DDC}"/>
                  </a:ext>
                </a:extLst>
              </p:cNvPr>
              <p:cNvSpPr/>
              <p:nvPr/>
            </p:nvSpPr>
            <p:spPr>
              <a:xfrm>
                <a:off x="1162878" y="3200181"/>
                <a:ext cx="1272204" cy="1272209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B5739E-AFC5-1482-F158-8EC34CB92CAD}"/>
                  </a:ext>
                </a:extLst>
              </p:cNvPr>
              <p:cNvSpPr/>
              <p:nvPr/>
            </p:nvSpPr>
            <p:spPr>
              <a:xfrm>
                <a:off x="3202899" y="3200203"/>
                <a:ext cx="1272204" cy="127220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FCFFDDB-92B2-8686-B121-D0B072BB48FD}"/>
                  </a:ext>
                </a:extLst>
              </p:cNvPr>
              <p:cNvSpPr/>
              <p:nvPr/>
            </p:nvSpPr>
            <p:spPr>
              <a:xfrm>
                <a:off x="5242926" y="3200225"/>
                <a:ext cx="1272204" cy="127220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019F67-C206-913B-C0C7-1956865F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50" y="196602"/>
            <a:ext cx="10150151" cy="785528"/>
          </a:xfrm>
        </p:spPr>
        <p:txBody>
          <a:bodyPr>
            <a:normAutofit/>
          </a:bodyPr>
          <a:lstStyle/>
          <a:p>
            <a:r>
              <a:rPr lang="es-ES" sz="4800" dirty="0">
                <a:solidFill>
                  <a:schemeClr val="bg1"/>
                </a:solidFill>
              </a:rPr>
              <a:t>Dudas de la clase anterior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E514C-5935-6B3D-3D55-A042532DD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455B3-A281-539A-1F70-5B4A5D8E47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3259" y="1436914"/>
            <a:ext cx="10610542" cy="478291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Tipos de constructores.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sz="4400" dirty="0">
                <a:solidFill>
                  <a:schemeClr val="accent4"/>
                </a:solidFill>
              </a:rPr>
              <a:t>Paso de parámetros.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Sobrecarga de métodos.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instancia.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estáticos.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Graphic 13" descr="Send with solid fill">
            <a:extLst>
              <a:ext uri="{FF2B5EF4-FFF2-40B4-BE49-F238E27FC236}">
                <a16:creationId xmlns:a16="http://schemas.microsoft.com/office/drawing/2014/main" id="{16915C88-134F-9C07-4123-12A7DC226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0776" y="3024422"/>
            <a:ext cx="914400" cy="914400"/>
          </a:xfrm>
          <a:prstGeom prst="rect">
            <a:avLst/>
          </a:prstGeom>
        </p:spPr>
      </p:pic>
      <p:pic>
        <p:nvPicPr>
          <p:cNvPr id="16" name="Graphic 15" descr="Open envelope with solid fill">
            <a:extLst>
              <a:ext uri="{FF2B5EF4-FFF2-40B4-BE49-F238E27FC236}">
                <a16:creationId xmlns:a16="http://schemas.microsoft.com/office/drawing/2014/main" id="{BE21AFA1-0F6E-7BD6-7660-35CC17574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6276" y="3939906"/>
            <a:ext cx="914400" cy="914400"/>
          </a:xfrm>
          <a:prstGeom prst="rect">
            <a:avLst/>
          </a:prstGeom>
        </p:spPr>
      </p:pic>
      <p:pic>
        <p:nvPicPr>
          <p:cNvPr id="20" name="Graphic 19" descr="Badge 1 outline">
            <a:extLst>
              <a:ext uri="{FF2B5EF4-FFF2-40B4-BE49-F238E27FC236}">
                <a16:creationId xmlns:a16="http://schemas.microsoft.com/office/drawing/2014/main" id="{83A3C28A-2122-73E9-8FCF-B6EFFD3C32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40197" y="2234190"/>
            <a:ext cx="914400" cy="914400"/>
          </a:xfrm>
          <a:prstGeom prst="rect">
            <a:avLst/>
          </a:prstGeom>
        </p:spPr>
      </p:pic>
      <p:pic>
        <p:nvPicPr>
          <p:cNvPr id="22" name="Graphic 21" descr="Badge 7 outline">
            <a:extLst>
              <a:ext uri="{FF2B5EF4-FFF2-40B4-BE49-F238E27FC236}">
                <a16:creationId xmlns:a16="http://schemas.microsoft.com/office/drawing/2014/main" id="{0EF0A3BA-F964-C0D4-964A-DA31710B8B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8444" y="5055618"/>
            <a:ext cx="914400" cy="914400"/>
          </a:xfrm>
          <a:prstGeom prst="rect">
            <a:avLst/>
          </a:prstGeom>
        </p:spPr>
      </p:pic>
      <p:pic>
        <p:nvPicPr>
          <p:cNvPr id="24" name="Graphic 23" descr="Badge 3 with solid fill">
            <a:extLst>
              <a:ext uri="{FF2B5EF4-FFF2-40B4-BE49-F238E27FC236}">
                <a16:creationId xmlns:a16="http://schemas.microsoft.com/office/drawing/2014/main" id="{FC172526-6FE9-FDC6-52E7-19459A68DD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87301" y="4649015"/>
            <a:ext cx="914400" cy="914400"/>
          </a:xfrm>
          <a:prstGeom prst="rect">
            <a:avLst/>
          </a:prstGeom>
        </p:spPr>
      </p:pic>
      <p:pic>
        <p:nvPicPr>
          <p:cNvPr id="26" name="Graphic 25" descr="Circles with arrows with solid fill">
            <a:extLst>
              <a:ext uri="{FF2B5EF4-FFF2-40B4-BE49-F238E27FC236}">
                <a16:creationId xmlns:a16="http://schemas.microsoft.com/office/drawing/2014/main" id="{0DDBB629-F9F0-BFE9-2E25-BB768021B7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57292" y="306638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5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8886BA-8CB5-DA66-EE68-1AFEBC8511BD}"/>
              </a:ext>
            </a:extLst>
          </p:cNvPr>
          <p:cNvGrpSpPr/>
          <p:nvPr/>
        </p:nvGrpSpPr>
        <p:grpSpPr>
          <a:xfrm>
            <a:off x="159027" y="136525"/>
            <a:ext cx="11864009" cy="6584950"/>
            <a:chOff x="1401417" y="1384185"/>
            <a:chExt cx="9491870" cy="507129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716CF74-A16D-DF7F-277C-98D99FD2D000}"/>
                </a:ext>
              </a:extLst>
            </p:cNvPr>
            <p:cNvSpPr/>
            <p:nvPr/>
          </p:nvSpPr>
          <p:spPr>
            <a:xfrm>
              <a:off x="1401417" y="1384185"/>
              <a:ext cx="9491870" cy="5071294"/>
            </a:xfrm>
            <a:prstGeom prst="roundRect">
              <a:avLst>
                <a:gd name="adj" fmla="val 2225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41845A-F554-7C09-53D2-A52BD9E7DF34}"/>
                </a:ext>
              </a:extLst>
            </p:cNvPr>
            <p:cNvSpPr/>
            <p:nvPr/>
          </p:nvSpPr>
          <p:spPr>
            <a:xfrm>
              <a:off x="1401417" y="1384185"/>
              <a:ext cx="9491870" cy="1050902"/>
            </a:xfrm>
            <a:prstGeom prst="roundRect">
              <a:avLst>
                <a:gd name="adj" fmla="val 889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9DC31E-7CEA-22B1-E2DE-2E270F46944C}"/>
                </a:ext>
              </a:extLst>
            </p:cNvPr>
            <p:cNvSpPr/>
            <p:nvPr/>
          </p:nvSpPr>
          <p:spPr>
            <a:xfrm>
              <a:off x="1401417" y="2055879"/>
              <a:ext cx="9491870" cy="75140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C1486D-5F72-C27E-771E-2CB10A79939A}"/>
                </a:ext>
              </a:extLst>
            </p:cNvPr>
            <p:cNvGrpSpPr/>
            <p:nvPr/>
          </p:nvGrpSpPr>
          <p:grpSpPr>
            <a:xfrm>
              <a:off x="1585499" y="1646875"/>
              <a:ext cx="743367" cy="176704"/>
              <a:chOff x="1162878" y="3200181"/>
              <a:chExt cx="5352252" cy="127225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E4B68C-71A8-A781-3506-6025B37A6DDC}"/>
                  </a:ext>
                </a:extLst>
              </p:cNvPr>
              <p:cNvSpPr/>
              <p:nvPr/>
            </p:nvSpPr>
            <p:spPr>
              <a:xfrm>
                <a:off x="1162878" y="3200181"/>
                <a:ext cx="1272204" cy="1272209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B5739E-AFC5-1482-F158-8EC34CB92CAD}"/>
                  </a:ext>
                </a:extLst>
              </p:cNvPr>
              <p:cNvSpPr/>
              <p:nvPr/>
            </p:nvSpPr>
            <p:spPr>
              <a:xfrm>
                <a:off x="3202899" y="3200203"/>
                <a:ext cx="1272204" cy="127220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FCFFDDB-92B2-8686-B121-D0B072BB48FD}"/>
                  </a:ext>
                </a:extLst>
              </p:cNvPr>
              <p:cNvSpPr/>
              <p:nvPr/>
            </p:nvSpPr>
            <p:spPr>
              <a:xfrm>
                <a:off x="5242926" y="3200225"/>
                <a:ext cx="1272204" cy="127220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019F67-C206-913B-C0C7-1956865F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50" y="196602"/>
            <a:ext cx="10150151" cy="785528"/>
          </a:xfrm>
        </p:spPr>
        <p:txBody>
          <a:bodyPr>
            <a:normAutofit/>
          </a:bodyPr>
          <a:lstStyle/>
          <a:p>
            <a:r>
              <a:rPr lang="es-ES" sz="4800" dirty="0">
                <a:solidFill>
                  <a:schemeClr val="bg1"/>
                </a:solidFill>
              </a:rPr>
              <a:t>Dudas de la clase anterior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E514C-5935-6B3D-3D55-A042532DD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455B3-A281-539A-1F70-5B4A5D8E47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3259" y="1436914"/>
            <a:ext cx="10610542" cy="478291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Tipos de constructores.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Paso de parámetros.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sz="4400" dirty="0">
                <a:solidFill>
                  <a:schemeClr val="accent4"/>
                </a:solidFill>
              </a:rPr>
              <a:t>Sobrecarga de métodos.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instancia.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estáticos.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Graphic 13" descr="Branching diagram with solid fill">
            <a:extLst>
              <a:ext uri="{FF2B5EF4-FFF2-40B4-BE49-F238E27FC236}">
                <a16:creationId xmlns:a16="http://schemas.microsoft.com/office/drawing/2014/main" id="{CA638A3F-20FF-1F10-A4FB-BE93C6775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2982" y="3532839"/>
            <a:ext cx="914400" cy="914400"/>
          </a:xfrm>
          <a:prstGeom prst="rect">
            <a:avLst/>
          </a:prstGeom>
        </p:spPr>
      </p:pic>
      <p:pic>
        <p:nvPicPr>
          <p:cNvPr id="16" name="Graphic 15" descr="Circles with lines with solid fill">
            <a:extLst>
              <a:ext uri="{FF2B5EF4-FFF2-40B4-BE49-F238E27FC236}">
                <a16:creationId xmlns:a16="http://schemas.microsoft.com/office/drawing/2014/main" id="{B99584AA-80A2-0620-6D12-02592A8A8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7518" y="3870052"/>
            <a:ext cx="914400" cy="914400"/>
          </a:xfrm>
          <a:prstGeom prst="rect">
            <a:avLst/>
          </a:prstGeom>
        </p:spPr>
      </p:pic>
      <p:pic>
        <p:nvPicPr>
          <p:cNvPr id="18" name="Graphic 17" descr="Loading outline">
            <a:extLst>
              <a:ext uri="{FF2B5EF4-FFF2-40B4-BE49-F238E27FC236}">
                <a16:creationId xmlns:a16="http://schemas.microsoft.com/office/drawing/2014/main" id="{00FC3677-0BF8-A685-6381-7111F6410F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86952" y="4589576"/>
            <a:ext cx="914400" cy="914400"/>
          </a:xfrm>
          <a:prstGeom prst="rect">
            <a:avLst/>
          </a:prstGeom>
        </p:spPr>
      </p:pic>
      <p:pic>
        <p:nvPicPr>
          <p:cNvPr id="20" name="Graphic 19" descr="Delivery with solid fill">
            <a:extLst>
              <a:ext uri="{FF2B5EF4-FFF2-40B4-BE49-F238E27FC236}">
                <a16:creationId xmlns:a16="http://schemas.microsoft.com/office/drawing/2014/main" id="{222A24D9-0BDF-E3E1-D893-B4DAF2BBD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65702" y="4312207"/>
            <a:ext cx="914400" cy="914400"/>
          </a:xfrm>
          <a:prstGeom prst="rect">
            <a:avLst/>
          </a:prstGeom>
        </p:spPr>
      </p:pic>
      <p:pic>
        <p:nvPicPr>
          <p:cNvPr id="22" name="Graphic 21" descr="Wheelbarrow outline">
            <a:extLst>
              <a:ext uri="{FF2B5EF4-FFF2-40B4-BE49-F238E27FC236}">
                <a16:creationId xmlns:a16="http://schemas.microsoft.com/office/drawing/2014/main" id="{BF01A725-EB8E-D6E3-6F98-C6999B3882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4589" y="4978513"/>
            <a:ext cx="914400" cy="914400"/>
          </a:xfrm>
          <a:prstGeom prst="rect">
            <a:avLst/>
          </a:prstGeom>
        </p:spPr>
      </p:pic>
      <p:pic>
        <p:nvPicPr>
          <p:cNvPr id="24" name="Graphic 23" descr="Hourglass Finished with solid fill">
            <a:extLst>
              <a:ext uri="{FF2B5EF4-FFF2-40B4-BE49-F238E27FC236}">
                <a16:creationId xmlns:a16="http://schemas.microsoft.com/office/drawing/2014/main" id="{548B9BBD-E021-2C2F-9EE5-C0B775EE86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64912" y="26184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3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8886BA-8CB5-DA66-EE68-1AFEBC8511BD}"/>
              </a:ext>
            </a:extLst>
          </p:cNvPr>
          <p:cNvGrpSpPr/>
          <p:nvPr/>
        </p:nvGrpSpPr>
        <p:grpSpPr>
          <a:xfrm>
            <a:off x="159027" y="136525"/>
            <a:ext cx="11864009" cy="6584950"/>
            <a:chOff x="1401417" y="1384185"/>
            <a:chExt cx="9491870" cy="507129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716CF74-A16D-DF7F-277C-98D99FD2D000}"/>
                </a:ext>
              </a:extLst>
            </p:cNvPr>
            <p:cNvSpPr/>
            <p:nvPr/>
          </p:nvSpPr>
          <p:spPr>
            <a:xfrm>
              <a:off x="1401417" y="1384185"/>
              <a:ext cx="9491870" cy="5071294"/>
            </a:xfrm>
            <a:prstGeom prst="roundRect">
              <a:avLst>
                <a:gd name="adj" fmla="val 2225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41845A-F554-7C09-53D2-A52BD9E7DF34}"/>
                </a:ext>
              </a:extLst>
            </p:cNvPr>
            <p:cNvSpPr/>
            <p:nvPr/>
          </p:nvSpPr>
          <p:spPr>
            <a:xfrm>
              <a:off x="1401417" y="1384185"/>
              <a:ext cx="9491870" cy="1050902"/>
            </a:xfrm>
            <a:prstGeom prst="roundRect">
              <a:avLst>
                <a:gd name="adj" fmla="val 889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9DC31E-7CEA-22B1-E2DE-2E270F46944C}"/>
                </a:ext>
              </a:extLst>
            </p:cNvPr>
            <p:cNvSpPr/>
            <p:nvPr/>
          </p:nvSpPr>
          <p:spPr>
            <a:xfrm>
              <a:off x="1401417" y="2055879"/>
              <a:ext cx="9491870" cy="75140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C1486D-5F72-C27E-771E-2CB10A79939A}"/>
                </a:ext>
              </a:extLst>
            </p:cNvPr>
            <p:cNvGrpSpPr/>
            <p:nvPr/>
          </p:nvGrpSpPr>
          <p:grpSpPr>
            <a:xfrm>
              <a:off x="1585499" y="1646875"/>
              <a:ext cx="743367" cy="176704"/>
              <a:chOff x="1162878" y="3200181"/>
              <a:chExt cx="5352252" cy="127225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E4B68C-71A8-A781-3506-6025B37A6DDC}"/>
                  </a:ext>
                </a:extLst>
              </p:cNvPr>
              <p:cNvSpPr/>
              <p:nvPr/>
            </p:nvSpPr>
            <p:spPr>
              <a:xfrm>
                <a:off x="1162878" y="3200181"/>
                <a:ext cx="1272204" cy="1272209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B5739E-AFC5-1482-F158-8EC34CB92CAD}"/>
                  </a:ext>
                </a:extLst>
              </p:cNvPr>
              <p:cNvSpPr/>
              <p:nvPr/>
            </p:nvSpPr>
            <p:spPr>
              <a:xfrm>
                <a:off x="3202899" y="3200203"/>
                <a:ext cx="1272204" cy="127220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FCFFDDB-92B2-8686-B121-D0B072BB48FD}"/>
                  </a:ext>
                </a:extLst>
              </p:cNvPr>
              <p:cNvSpPr/>
              <p:nvPr/>
            </p:nvSpPr>
            <p:spPr>
              <a:xfrm>
                <a:off x="5242926" y="3200225"/>
                <a:ext cx="1272204" cy="127220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019F67-C206-913B-C0C7-1956865F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50" y="196602"/>
            <a:ext cx="10150151" cy="785528"/>
          </a:xfrm>
        </p:spPr>
        <p:txBody>
          <a:bodyPr>
            <a:normAutofit/>
          </a:bodyPr>
          <a:lstStyle/>
          <a:p>
            <a:r>
              <a:rPr lang="es-ES" sz="4800" dirty="0">
                <a:solidFill>
                  <a:schemeClr val="bg1"/>
                </a:solidFill>
              </a:rPr>
              <a:t>Dudas de la clase anterior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E514C-5935-6B3D-3D55-A042532DD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455B3-A281-539A-1F70-5B4A5D8E47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3259" y="1436914"/>
            <a:ext cx="10610542" cy="478291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Tipos de constructores.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Paso de parámetros.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Sobrecarga de métodos.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sz="4400" dirty="0">
                <a:solidFill>
                  <a:schemeClr val="accent4"/>
                </a:solidFill>
              </a:rPr>
              <a:t>Métodos de instancia.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estáticos.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Graphic 13" descr="Circles with arrows with solid fill">
            <a:extLst>
              <a:ext uri="{FF2B5EF4-FFF2-40B4-BE49-F238E27FC236}">
                <a16:creationId xmlns:a16="http://schemas.microsoft.com/office/drawing/2014/main" id="{A70B4836-4A04-6E10-50DE-F7B470728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1592" y="3592286"/>
            <a:ext cx="914400" cy="914400"/>
          </a:xfrm>
          <a:prstGeom prst="rect">
            <a:avLst/>
          </a:prstGeom>
        </p:spPr>
      </p:pic>
      <p:pic>
        <p:nvPicPr>
          <p:cNvPr id="16" name="Graphic 15" descr="Cube with solid fill">
            <a:extLst>
              <a:ext uri="{FF2B5EF4-FFF2-40B4-BE49-F238E27FC236}">
                <a16:creationId xmlns:a16="http://schemas.microsoft.com/office/drawing/2014/main" id="{DD4130C5-C8EC-35E7-2581-E606E4EBB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09583" y="45066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9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8886BA-8CB5-DA66-EE68-1AFEBC8511BD}"/>
              </a:ext>
            </a:extLst>
          </p:cNvPr>
          <p:cNvGrpSpPr/>
          <p:nvPr/>
        </p:nvGrpSpPr>
        <p:grpSpPr>
          <a:xfrm>
            <a:off x="159027" y="136525"/>
            <a:ext cx="11864009" cy="6584950"/>
            <a:chOff x="1401417" y="1384185"/>
            <a:chExt cx="9491870" cy="507129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716CF74-A16D-DF7F-277C-98D99FD2D000}"/>
                </a:ext>
              </a:extLst>
            </p:cNvPr>
            <p:cNvSpPr/>
            <p:nvPr/>
          </p:nvSpPr>
          <p:spPr>
            <a:xfrm>
              <a:off x="1401417" y="1384185"/>
              <a:ext cx="9491870" cy="5071294"/>
            </a:xfrm>
            <a:prstGeom prst="roundRect">
              <a:avLst>
                <a:gd name="adj" fmla="val 2225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41845A-F554-7C09-53D2-A52BD9E7DF34}"/>
                </a:ext>
              </a:extLst>
            </p:cNvPr>
            <p:cNvSpPr/>
            <p:nvPr/>
          </p:nvSpPr>
          <p:spPr>
            <a:xfrm>
              <a:off x="1401417" y="1384185"/>
              <a:ext cx="9491870" cy="1050902"/>
            </a:xfrm>
            <a:prstGeom prst="roundRect">
              <a:avLst>
                <a:gd name="adj" fmla="val 889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9DC31E-7CEA-22B1-E2DE-2E270F46944C}"/>
                </a:ext>
              </a:extLst>
            </p:cNvPr>
            <p:cNvSpPr/>
            <p:nvPr/>
          </p:nvSpPr>
          <p:spPr>
            <a:xfrm>
              <a:off x="1401417" y="2055879"/>
              <a:ext cx="9491870" cy="75140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C1486D-5F72-C27E-771E-2CB10A79939A}"/>
                </a:ext>
              </a:extLst>
            </p:cNvPr>
            <p:cNvGrpSpPr/>
            <p:nvPr/>
          </p:nvGrpSpPr>
          <p:grpSpPr>
            <a:xfrm>
              <a:off x="1585499" y="1646875"/>
              <a:ext cx="743367" cy="176704"/>
              <a:chOff x="1162878" y="3200181"/>
              <a:chExt cx="5352252" cy="1272253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E4B68C-71A8-A781-3506-6025B37A6DDC}"/>
                  </a:ext>
                </a:extLst>
              </p:cNvPr>
              <p:cNvSpPr/>
              <p:nvPr/>
            </p:nvSpPr>
            <p:spPr>
              <a:xfrm>
                <a:off x="1162878" y="3200181"/>
                <a:ext cx="1272204" cy="1272209"/>
              </a:xfrm>
              <a:prstGeom prst="ellipse">
                <a:avLst/>
              </a:prstGeom>
              <a:solidFill>
                <a:srgbClr val="FF5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B5739E-AFC5-1482-F158-8EC34CB92CAD}"/>
                  </a:ext>
                </a:extLst>
              </p:cNvPr>
              <p:cNvSpPr/>
              <p:nvPr/>
            </p:nvSpPr>
            <p:spPr>
              <a:xfrm>
                <a:off x="3202899" y="3200203"/>
                <a:ext cx="1272204" cy="127220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FCFFDDB-92B2-8686-B121-D0B072BB48FD}"/>
                  </a:ext>
                </a:extLst>
              </p:cNvPr>
              <p:cNvSpPr/>
              <p:nvPr/>
            </p:nvSpPr>
            <p:spPr>
              <a:xfrm>
                <a:off x="5242926" y="3200225"/>
                <a:ext cx="1272204" cy="127220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019F67-C206-913B-C0C7-1956865F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50" y="196602"/>
            <a:ext cx="10150151" cy="785528"/>
          </a:xfrm>
        </p:spPr>
        <p:txBody>
          <a:bodyPr>
            <a:normAutofit/>
          </a:bodyPr>
          <a:lstStyle/>
          <a:p>
            <a:r>
              <a:rPr lang="es-ES" sz="4800" dirty="0">
                <a:solidFill>
                  <a:schemeClr val="bg1"/>
                </a:solidFill>
              </a:rPr>
              <a:t>Dudas de la clase anterior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E514C-5935-6B3D-3D55-A042532DD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455B3-A281-539A-1F70-5B4A5D8E47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3259" y="1436914"/>
            <a:ext cx="10610542" cy="478291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Tipos de constructores.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Paso de parámetros.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Sobrecarga de métodos.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instancia.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s-ES" sz="4400" dirty="0">
                <a:solidFill>
                  <a:schemeClr val="accent4"/>
                </a:solidFill>
              </a:rPr>
              <a:t>Métodos estáticos.</a:t>
            </a:r>
            <a:endParaRPr lang="en-US" sz="4400" dirty="0">
              <a:solidFill>
                <a:schemeClr val="accent4"/>
              </a:solidFill>
            </a:endParaRPr>
          </a:p>
        </p:txBody>
      </p:sp>
      <p:pic>
        <p:nvPicPr>
          <p:cNvPr id="14" name="Graphic 13" descr="Low temperature with solid fill">
            <a:extLst>
              <a:ext uri="{FF2B5EF4-FFF2-40B4-BE49-F238E27FC236}">
                <a16:creationId xmlns:a16="http://schemas.microsoft.com/office/drawing/2014/main" id="{2447FEA9-BEE2-074D-2C5B-F7703AC4C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4731" y="4128873"/>
            <a:ext cx="914400" cy="914400"/>
          </a:xfrm>
          <a:prstGeom prst="rect">
            <a:avLst/>
          </a:prstGeom>
        </p:spPr>
      </p:pic>
      <p:pic>
        <p:nvPicPr>
          <p:cNvPr id="16" name="Graphic 15" descr="Fingerprint with solid fill">
            <a:extLst>
              <a:ext uri="{FF2B5EF4-FFF2-40B4-BE49-F238E27FC236}">
                <a16:creationId xmlns:a16="http://schemas.microsoft.com/office/drawing/2014/main" id="{D8F77B67-0024-2EC1-DDF6-FF7E6D21E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7301" y="4116388"/>
            <a:ext cx="914400" cy="914400"/>
          </a:xfrm>
          <a:prstGeom prst="rect">
            <a:avLst/>
          </a:prstGeom>
        </p:spPr>
      </p:pic>
      <p:pic>
        <p:nvPicPr>
          <p:cNvPr id="18" name="Graphic 17" descr="Share with solid fill">
            <a:extLst>
              <a:ext uri="{FF2B5EF4-FFF2-40B4-BE49-F238E27FC236}">
                <a16:creationId xmlns:a16="http://schemas.microsoft.com/office/drawing/2014/main" id="{2A94F433-CE90-FE02-48DA-A063EAF7C1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39898" y="3158696"/>
            <a:ext cx="914400" cy="914400"/>
          </a:xfrm>
          <a:prstGeom prst="rect">
            <a:avLst/>
          </a:prstGeom>
        </p:spPr>
      </p:pic>
      <p:pic>
        <p:nvPicPr>
          <p:cNvPr id="20" name="Graphic 19" descr="Network with solid fill">
            <a:extLst>
              <a:ext uri="{FF2B5EF4-FFF2-40B4-BE49-F238E27FC236}">
                <a16:creationId xmlns:a16="http://schemas.microsoft.com/office/drawing/2014/main" id="{A093F66F-68CA-3823-1CC4-084FFD0160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8713" y="50990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0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83580"/>
            <a:ext cx="7364361" cy="222706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dirty="0">
                <a:latin typeface="Helvetica"/>
              </a:rPr>
              <a:t>Manejo de excepciones (I)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40129EFE-FDC1-4969-9789-4A416C49BA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79" y="1436914"/>
            <a:ext cx="10022433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¿Porqué aparece este mensaje?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¿El programa puede solucionar el problema o solo se limita a informarlo?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has atendido hasta el momento los errores que aparecen en tus programas de Java?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5063F5-E6B6-9F5E-1BB0-2B69D1E1F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404" y="1581150"/>
            <a:ext cx="4619625" cy="18478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F3692B-4D9F-3254-D25F-AC4BCEB43B8F}"/>
              </a:ext>
            </a:extLst>
          </p:cNvPr>
          <p:cNvSpPr txBox="1"/>
          <p:nvPr/>
        </p:nvSpPr>
        <p:spPr>
          <a:xfrm>
            <a:off x="248478" y="6470168"/>
            <a:ext cx="7983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http://neosmart.net/wiki/wp-content/uploads/sites/5/2015/06/0xE0000100-windows-setup.jpg?w=640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qué son las excepciones </a:t>
            </a:r>
            <a:r>
              <a:rPr lang="es-ES" dirty="0">
                <a:solidFill>
                  <a:srgbClr val="D3052C"/>
                </a:solidFill>
              </a:rPr>
              <a:t>mediante la realización de actividades </a:t>
            </a:r>
            <a:r>
              <a:rPr lang="es-ES" dirty="0">
                <a:solidFill>
                  <a:srgbClr val="7030A0"/>
                </a:solidFill>
              </a:rPr>
              <a:t>para manejar errores en sus programas.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59" y="1436915"/>
            <a:ext cx="5212211" cy="38418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¿Es posible evitar el potencial error o excepción? ¿Cómo?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¿Consideras necesario realizar validaciones en los programas?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¿De qué te serviría manejar errores en los programas?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363618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Reconocer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cómo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manejar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excepciones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3DAFA0-D197-59AD-E801-9A11CA965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166" y="1436915"/>
            <a:ext cx="5212210" cy="3136675"/>
          </a:xfrm>
          <a:prstGeom prst="roundRect">
            <a:avLst>
              <a:gd name="adj" fmla="val 4943"/>
            </a:avLst>
          </a:prstGeom>
          <a:solidFill>
            <a:srgbClr val="14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dividendo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divisor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Scanner(System.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"Ingrese dividendo: 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dividendo = lector.nextInt()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lector.nextLine()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"Ingrese divisor: 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divisor = lector.nextInt()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 = dividendo / divisor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"La división es: 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resultado)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7BFE01-3621-336B-A12F-2F045BE9CA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08"/>
          <a:stretch/>
        </p:blipFill>
        <p:spPr>
          <a:xfrm>
            <a:off x="5511641" y="4798033"/>
            <a:ext cx="6138735" cy="1325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E55B60-64DD-0F3B-6546-7EA909CB2E11}"/>
              </a:ext>
            </a:extLst>
          </p:cNvPr>
          <p:cNvSpPr txBox="1"/>
          <p:nvPr/>
        </p:nvSpPr>
        <p:spPr>
          <a:xfrm>
            <a:off x="6438165" y="805071"/>
            <a:ext cx="5212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rgbClr val="00B0F0"/>
                </a:solidFill>
              </a:rPr>
              <a:t>Este programa realiza una división entre dos números ingresados por el usuario:</a:t>
            </a:r>
            <a:endParaRPr lang="en-US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Sentencias try, catch,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finally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Errores y excepciones comunes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Sentencias try, catch,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finally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Errores y excepciones comunes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34D26-1415-D63D-E1AC-F71D37F8FF31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012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CEE3-5E02-6C39-711B-341B4B75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¿Qué es una Excepción?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F81F1-5A62-1178-BF7C-C0311CE5D1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66BC7-8AC3-AE70-47C2-46060552AF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469770" cy="4782911"/>
          </a:xfrm>
        </p:spPr>
        <p:txBody>
          <a:bodyPr>
            <a:normAutofit/>
          </a:bodyPr>
          <a:lstStyle/>
          <a:p>
            <a:pPr>
              <a:buClr>
                <a:schemeClr val="accent4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Proviene del término “</a:t>
            </a:r>
            <a:r>
              <a:rPr lang="es-ES" b="1" dirty="0" err="1">
                <a:solidFill>
                  <a:schemeClr val="bg1"/>
                </a:solidFill>
                <a:latin typeface="+mj-lt"/>
              </a:rPr>
              <a:t>exceptional</a:t>
            </a:r>
            <a:r>
              <a:rPr lang="es-E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+mj-lt"/>
              </a:rPr>
              <a:t>event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”</a:t>
            </a:r>
          </a:p>
          <a:p>
            <a:pPr>
              <a:buClr>
                <a:schemeClr val="accent4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Es el resultado de un </a:t>
            </a:r>
            <a:r>
              <a:rPr lang="es-ES" b="1" dirty="0">
                <a:solidFill>
                  <a:schemeClr val="bg1"/>
                </a:solidFill>
              </a:rPr>
              <a:t>error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que ocurre en tiempo de ejecución.</a:t>
            </a:r>
          </a:p>
          <a:p>
            <a:pPr>
              <a:buClr>
                <a:schemeClr val="accent4"/>
              </a:buClr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Interrumpe el flujo normal de un programa si no es controlada.</a:t>
            </a:r>
          </a:p>
          <a:p>
            <a:pPr>
              <a:buClr>
                <a:schemeClr val="accent4"/>
              </a:buClr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Permite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informar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sobre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una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situación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adversa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ocurrida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en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el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programa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9F705-7365-89BB-C95C-ADF94AC7331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Excepciones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53849-B717-974C-6ADA-B76EB4DA2AB7}"/>
              </a:ext>
            </a:extLst>
          </p:cNvPr>
          <p:cNvSpPr txBox="1"/>
          <p:nvPr/>
        </p:nvSpPr>
        <p:spPr>
          <a:xfrm>
            <a:off x="747073" y="6399278"/>
            <a:ext cx="9933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https://bs-uploads.toptal.io/blackfish-uploads/components/blog_post_page/content/cover_image_file/cover_image/685761/clean-code-and-the-art-of-exception-handling-Waldek_Newsletter-34cc48de20aaa3c5e502e361d0170b01.png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5667E0-347E-2329-57DF-0F7D2F188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417" y="2376243"/>
            <a:ext cx="4846583" cy="281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987D47-7A6F-020C-F131-EBAF2064A6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9432" y="0"/>
            <a:ext cx="115725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5B7407-602B-BB99-133E-8C48345C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¿Tienen alguna ventaja?... Sí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AFCCEA-6599-8795-0CB8-0F8DFAD3EB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6EAAA-0F3E-0117-03CB-3FB6372A46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Clr>
                <a:schemeClr val="accent4"/>
              </a:buClr>
            </a:pPr>
            <a:r>
              <a:rPr lang="es-ES" b="1" dirty="0">
                <a:solidFill>
                  <a:schemeClr val="accent4"/>
                </a:solidFill>
              </a:rPr>
              <a:t>Separan</a:t>
            </a:r>
            <a:r>
              <a:rPr lang="es-ES" dirty="0">
                <a:solidFill>
                  <a:schemeClr val="bg1"/>
                </a:solidFill>
              </a:rPr>
              <a:t> el </a:t>
            </a:r>
            <a:r>
              <a:rPr lang="es-ES" b="1" dirty="0">
                <a:solidFill>
                  <a:schemeClr val="accent4"/>
                </a:solidFill>
              </a:rPr>
              <a:t>código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b="1" dirty="0">
                <a:solidFill>
                  <a:schemeClr val="accent4"/>
                </a:solidFill>
              </a:rPr>
              <a:t>regular</a:t>
            </a:r>
            <a:r>
              <a:rPr lang="es-ES" dirty="0">
                <a:solidFill>
                  <a:schemeClr val="bg1"/>
                </a:solidFill>
              </a:rPr>
              <a:t> del programa del </a:t>
            </a:r>
            <a:r>
              <a:rPr lang="es-ES" b="1" dirty="0">
                <a:solidFill>
                  <a:schemeClr val="accent4"/>
                </a:solidFill>
              </a:rPr>
              <a:t>código</a:t>
            </a:r>
            <a:r>
              <a:rPr lang="es-ES" dirty="0">
                <a:solidFill>
                  <a:schemeClr val="bg1"/>
                </a:solidFill>
              </a:rPr>
              <a:t> que </a:t>
            </a:r>
            <a:r>
              <a:rPr lang="es-ES" b="1" dirty="0">
                <a:solidFill>
                  <a:schemeClr val="accent4"/>
                </a:solidFill>
              </a:rPr>
              <a:t>manejará</a:t>
            </a:r>
            <a:r>
              <a:rPr lang="es-ES" dirty="0">
                <a:solidFill>
                  <a:schemeClr val="bg1"/>
                </a:solidFill>
              </a:rPr>
              <a:t> el </a:t>
            </a:r>
            <a:r>
              <a:rPr lang="es-ES" b="1" dirty="0">
                <a:solidFill>
                  <a:schemeClr val="accent4"/>
                </a:solidFill>
              </a:rPr>
              <a:t>error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pPr>
              <a:buClr>
                <a:schemeClr val="accent4"/>
              </a:buClr>
            </a:pPr>
            <a:r>
              <a:rPr lang="es-ES" dirty="0">
                <a:solidFill>
                  <a:schemeClr val="bg1"/>
                </a:solidFill>
              </a:rPr>
              <a:t>Permite la </a:t>
            </a:r>
            <a:r>
              <a:rPr lang="es-ES" b="1" dirty="0">
                <a:solidFill>
                  <a:schemeClr val="accent4"/>
                </a:solidFill>
              </a:rPr>
              <a:t>propagación del reporte de errores</a:t>
            </a:r>
            <a:r>
              <a:rPr lang="es-ES" dirty="0">
                <a:solidFill>
                  <a:schemeClr val="bg1"/>
                </a:solidFill>
              </a:rPr>
              <a:t> a través de las llamadas a los métodos.</a:t>
            </a:r>
          </a:p>
          <a:p>
            <a:pPr>
              <a:buClr>
                <a:schemeClr val="accent4"/>
              </a:buClr>
            </a:pPr>
            <a:r>
              <a:rPr lang="es-ES" dirty="0">
                <a:solidFill>
                  <a:schemeClr val="bg1"/>
                </a:solidFill>
              </a:rPr>
              <a:t>Permite </a:t>
            </a:r>
            <a:r>
              <a:rPr lang="es-ES" b="1" dirty="0">
                <a:solidFill>
                  <a:schemeClr val="accent4"/>
                </a:solidFill>
              </a:rPr>
              <a:t>agrupar y diferenciar</a:t>
            </a:r>
            <a:r>
              <a:rPr lang="es-ES" dirty="0">
                <a:solidFill>
                  <a:schemeClr val="bg1"/>
                </a:solidFill>
              </a:rPr>
              <a:t> tipos de errores.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40871-FAE5-23D6-6A76-FAF73E0DC51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Excepciones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DDAF6-B252-E7B8-97A9-6C779979F350}"/>
              </a:ext>
            </a:extLst>
          </p:cNvPr>
          <p:cNvSpPr txBox="1"/>
          <p:nvPr/>
        </p:nvSpPr>
        <p:spPr>
          <a:xfrm>
            <a:off x="747073" y="6465267"/>
            <a:ext cx="99334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https://cdn.windowsreport.com/wp-content/uploads/2020/04/Error-0xC00D3E8E-on-Windows-10.jpg</a:t>
            </a:r>
          </a:p>
        </p:txBody>
      </p:sp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9ED0AEA9-3E15-6909-2C20-6237C626D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8412" y="4932774"/>
            <a:ext cx="914400" cy="914400"/>
          </a:xfrm>
          <a:prstGeom prst="rect">
            <a:avLst/>
          </a:prstGeom>
        </p:spPr>
      </p:pic>
      <p:pic>
        <p:nvPicPr>
          <p:cNvPr id="11" name="Graphic 10" descr="Siren with solid fill">
            <a:extLst>
              <a:ext uri="{FF2B5EF4-FFF2-40B4-BE49-F238E27FC236}">
                <a16:creationId xmlns:a16="http://schemas.microsoft.com/office/drawing/2014/main" id="{E1E1F469-69BC-632B-B725-9740F4C87C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4799" y="4705955"/>
            <a:ext cx="1230671" cy="123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1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1EB4-E9E0-A5FC-F19F-663B76C8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se genera una excepción?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988601-FAFB-8F24-BE3A-BAA18296F3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1267F3-D9C4-491B-CE40-8BC4022A0F9E}"/>
              </a:ext>
            </a:extLst>
          </p:cNvPr>
          <p:cNvSpPr/>
          <p:nvPr/>
        </p:nvSpPr>
        <p:spPr>
          <a:xfrm>
            <a:off x="1929507" y="2064196"/>
            <a:ext cx="2725093" cy="3838669"/>
          </a:xfrm>
          <a:prstGeom prst="roundRect">
            <a:avLst>
              <a:gd name="adj" fmla="val 4042"/>
            </a:avLst>
          </a:prstGeom>
          <a:solidFill>
            <a:srgbClr val="F046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La JVM puede generar una excepción en respuesta a algún error interno que está más allá de su control.</a:t>
            </a:r>
          </a:p>
          <a:p>
            <a:pPr algn="ctr"/>
            <a:r>
              <a:rPr lang="es-ES" sz="2000" dirty="0"/>
              <a:t>Normalmente, un programa no gestiona este tipo de errores.</a:t>
            </a: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ECABE9-C4A5-8D1E-26BC-1429535C04DA}"/>
              </a:ext>
            </a:extLst>
          </p:cNvPr>
          <p:cNvSpPr/>
          <p:nvPr/>
        </p:nvSpPr>
        <p:spPr>
          <a:xfrm>
            <a:off x="4973314" y="2064196"/>
            <a:ext cx="2725093" cy="3838669"/>
          </a:xfrm>
          <a:prstGeom prst="roundRect">
            <a:avLst>
              <a:gd name="adj" fmla="val 4042"/>
            </a:avLst>
          </a:prstGeom>
          <a:solidFill>
            <a:srgbClr val="00A0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Excepciones estándar, como las que corresponden a divisiones entre cero o índices fuera del arreglo, generan excepciones causadas por errores en el código.</a:t>
            </a: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B354AA-58C9-38F1-E4F3-A0C2214FC7B4}"/>
              </a:ext>
            </a:extLst>
          </p:cNvPr>
          <p:cNvSpPr/>
          <p:nvPr/>
        </p:nvSpPr>
        <p:spPr>
          <a:xfrm>
            <a:off x="7989884" y="2064196"/>
            <a:ext cx="2725093" cy="3838669"/>
          </a:xfrm>
          <a:prstGeom prst="roundRect">
            <a:avLst>
              <a:gd name="adj" fmla="val 4042"/>
            </a:avLst>
          </a:prstGeom>
          <a:solidFill>
            <a:srgbClr val="FFD26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Una excepción pueden ser manualmente generada usando la instrucción </a:t>
            </a:r>
            <a:r>
              <a:rPr lang="es-ES" sz="2000" b="1" dirty="0" err="1">
                <a:solidFill>
                  <a:schemeClr val="accent4">
                    <a:lumMod val="50000"/>
                  </a:schemeClr>
                </a:solidFill>
              </a:rPr>
              <a:t>throw</a:t>
            </a:r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96AD2-7A7B-2BD4-FDE6-4DAB2EA7DEE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Excepciones</a:t>
            </a:r>
          </a:p>
        </p:txBody>
      </p:sp>
    </p:spTree>
    <p:extLst>
      <p:ext uri="{BB962C8B-B14F-4D97-AF65-F5344CB8AC3E}">
        <p14:creationId xmlns:p14="http://schemas.microsoft.com/office/powerpoint/2010/main" val="141656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4784-5EE9-2FA1-33A7-7358C288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excepciones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E3C369-B8E6-2E9C-0B22-CFE41D0C8A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A172B-27EE-38C5-1232-23D278FDCBD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Excepciones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FB60B2-AA41-6438-E4B3-929CE0C65F96}"/>
              </a:ext>
            </a:extLst>
          </p:cNvPr>
          <p:cNvSpPr/>
          <p:nvPr/>
        </p:nvSpPr>
        <p:spPr>
          <a:xfrm>
            <a:off x="4864231" y="2484172"/>
            <a:ext cx="6731458" cy="2248084"/>
          </a:xfrm>
          <a:prstGeom prst="roundRect">
            <a:avLst>
              <a:gd name="adj" fmla="val 4042"/>
            </a:avLst>
          </a:prstGeom>
          <a:solidFill>
            <a:srgbClr val="00707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endParaRPr lang="en-US" sz="2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D69263-69FD-9BC0-E1C6-81A30951437C}"/>
              </a:ext>
            </a:extLst>
          </p:cNvPr>
          <p:cNvSpPr/>
          <p:nvPr/>
        </p:nvSpPr>
        <p:spPr>
          <a:xfrm>
            <a:off x="1136913" y="2472554"/>
            <a:ext cx="3474700" cy="2248084"/>
          </a:xfrm>
          <a:prstGeom prst="roundRect">
            <a:avLst>
              <a:gd name="adj" fmla="val 4042"/>
            </a:avLst>
          </a:prstGeom>
          <a:solidFill>
            <a:srgbClr val="F046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Excepción verificada</a:t>
            </a:r>
          </a:p>
          <a:p>
            <a:pPr algn="ctr"/>
            <a:r>
              <a:rPr lang="es-ES" sz="2000" dirty="0"/>
              <a:t>(</a:t>
            </a:r>
            <a:r>
              <a:rPr lang="es-ES" sz="2000" dirty="0" err="1"/>
              <a:t>Checked</a:t>
            </a:r>
            <a:r>
              <a:rPr lang="es-ES" sz="2000" dirty="0"/>
              <a:t> </a:t>
            </a:r>
            <a:r>
              <a:rPr lang="es-ES" sz="2000" dirty="0" err="1"/>
              <a:t>exception</a:t>
            </a:r>
            <a:r>
              <a:rPr lang="es-ES" sz="2000" dirty="0"/>
              <a:t>)</a:t>
            </a:r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BAC11D-FEAE-2CD8-03FD-03E1F4696C90}"/>
              </a:ext>
            </a:extLst>
          </p:cNvPr>
          <p:cNvSpPr/>
          <p:nvPr/>
        </p:nvSpPr>
        <p:spPr>
          <a:xfrm>
            <a:off x="5127479" y="3327131"/>
            <a:ext cx="1693935" cy="1060371"/>
          </a:xfrm>
          <a:prstGeom prst="roundRect">
            <a:avLst>
              <a:gd name="adj" fmla="val 4042"/>
            </a:avLst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Error</a:t>
            </a:r>
            <a:endParaRPr lang="en-US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C96541-A5D7-3518-13A0-186E761F82C6}"/>
              </a:ext>
            </a:extLst>
          </p:cNvPr>
          <p:cNvSpPr/>
          <p:nvPr/>
        </p:nvSpPr>
        <p:spPr>
          <a:xfrm>
            <a:off x="7126215" y="3327131"/>
            <a:ext cx="4197378" cy="1060371"/>
          </a:xfrm>
          <a:prstGeom prst="roundRect">
            <a:avLst>
              <a:gd name="adj" fmla="val 4042"/>
            </a:avLst>
          </a:prstGeom>
          <a:solidFill>
            <a:srgbClr val="FFD26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Excepción en tiempo de ejecución</a:t>
            </a:r>
            <a:br>
              <a:rPr lang="es-E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s-ES" sz="2000" dirty="0" err="1">
                <a:solidFill>
                  <a:schemeClr val="accent4">
                    <a:lumMod val="50000"/>
                  </a:schemeClr>
                </a:solidFill>
              </a:rPr>
              <a:t>runtime</a:t>
            </a:r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accent4">
                    <a:lumMod val="50000"/>
                  </a:schemeClr>
                </a:solidFill>
              </a:rPr>
              <a:t>exception</a:t>
            </a:r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205D3-A066-A781-D2CF-A0DB4422B18D}"/>
              </a:ext>
            </a:extLst>
          </p:cNvPr>
          <p:cNvSpPr txBox="1"/>
          <p:nvPr/>
        </p:nvSpPr>
        <p:spPr>
          <a:xfrm>
            <a:off x="5182746" y="2705597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Excepción no verificada (</a:t>
            </a:r>
            <a:r>
              <a:rPr lang="es-ES" sz="2000" dirty="0" err="1">
                <a:solidFill>
                  <a:schemeClr val="bg1"/>
                </a:solidFill>
              </a:rPr>
              <a:t>unchecked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exception</a:t>
            </a:r>
            <a:r>
              <a:rPr lang="es-ES" sz="2000" dirty="0">
                <a:solidFill>
                  <a:schemeClr val="bg1"/>
                </a:solidFill>
              </a:rPr>
              <a:t>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18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0D11DF-1A4E-819B-CD1D-1DC4854216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66"/>
          <a:stretch/>
        </p:blipFill>
        <p:spPr>
          <a:xfrm>
            <a:off x="8030840" y="0"/>
            <a:ext cx="4161160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086835-0E98-5974-DE50-4273F14F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Excepción verificada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9CB5B4-EB2F-1811-994B-229E21054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58F97-DCB1-AD98-3D68-301961090A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337794" cy="478291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dirty="0"/>
              <a:t>Java las </a:t>
            </a:r>
            <a:r>
              <a:rPr lang="es-ES" b="1" dirty="0"/>
              <a:t>detecta</a:t>
            </a:r>
            <a:r>
              <a:rPr lang="es-ES" dirty="0"/>
              <a:t> en </a:t>
            </a:r>
            <a:r>
              <a:rPr lang="es-ES" b="1" dirty="0"/>
              <a:t>tiempo de compilación</a:t>
            </a:r>
            <a:r>
              <a:rPr lang="es-ES" dirty="0"/>
              <a:t> y se reúsa a compilar a menos que sea manejada.</a:t>
            </a:r>
          </a:p>
          <a:p>
            <a:pPr>
              <a:lnSpc>
                <a:spcPct val="120000"/>
              </a:lnSpc>
            </a:pPr>
            <a:r>
              <a:rPr lang="es-ES" dirty="0"/>
              <a:t>Son provocadas por </a:t>
            </a:r>
            <a:r>
              <a:rPr lang="es-ES" b="1" dirty="0"/>
              <a:t>condiciones</a:t>
            </a:r>
            <a:r>
              <a:rPr lang="es-ES" dirty="0"/>
              <a:t> que están </a:t>
            </a:r>
            <a:r>
              <a:rPr lang="es-ES" b="1" dirty="0"/>
              <a:t>fuera</a:t>
            </a:r>
            <a:r>
              <a:rPr lang="es-ES" dirty="0"/>
              <a:t> del </a:t>
            </a:r>
            <a:r>
              <a:rPr lang="es-ES" b="1" dirty="0"/>
              <a:t>control</a:t>
            </a:r>
            <a:r>
              <a:rPr lang="es-ES" dirty="0"/>
              <a:t> del programa.</a:t>
            </a:r>
          </a:p>
          <a:p>
            <a:pPr>
              <a:lnSpc>
                <a:spcPct val="120000"/>
              </a:lnSpc>
            </a:pPr>
            <a:r>
              <a:rPr lang="es-ES" dirty="0"/>
              <a:t>Por ejemplo, cuando se intenta acceder a un archivo que no existe.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C9AAD-AA9E-3FA4-E6C6-9B53DF0AC5D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Excepciones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E19AA-D7B6-E261-6D96-72106BEEBF11}"/>
              </a:ext>
            </a:extLst>
          </p:cNvPr>
          <p:cNvGrpSpPr/>
          <p:nvPr/>
        </p:nvGrpSpPr>
        <p:grpSpPr>
          <a:xfrm>
            <a:off x="8437176" y="1436914"/>
            <a:ext cx="3754824" cy="5227163"/>
            <a:chOff x="3691799" y="1436914"/>
            <a:chExt cx="3754824" cy="522716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0762FE-F063-D31D-2E89-2456D7367225}"/>
                </a:ext>
              </a:extLst>
            </p:cNvPr>
            <p:cNvSpPr/>
            <p:nvPr/>
          </p:nvSpPr>
          <p:spPr>
            <a:xfrm>
              <a:off x="3776454" y="1486521"/>
              <a:ext cx="2920738" cy="2920738"/>
            </a:xfrm>
            <a:prstGeom prst="ellipse">
              <a:avLst/>
            </a:prstGeom>
            <a:blipFill dpi="0" rotWithShape="1">
              <a:blip r:embed="rId3"/>
              <a:srcRect/>
              <a:tile tx="-1270000" ty="-207010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6F4487-E50E-F4C3-ED0E-B58A18B8E1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8167"/>
            <a:stretch/>
          </p:blipFill>
          <p:spPr>
            <a:xfrm>
              <a:off x="3691799" y="1436914"/>
              <a:ext cx="3754824" cy="5227163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19958DB-932D-F2DF-D5B6-BCC5101BC57B}"/>
              </a:ext>
            </a:extLst>
          </p:cNvPr>
          <p:cNvSpPr txBox="1"/>
          <p:nvPr/>
        </p:nvSpPr>
        <p:spPr>
          <a:xfrm>
            <a:off x="760587" y="6518924"/>
            <a:ext cx="77518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https://static.vecteezy.com/system/resources/previews/009/876/396/original/realistic-magnifying-glass-clip-art-free-png.png</a:t>
            </a:r>
          </a:p>
        </p:txBody>
      </p:sp>
    </p:spTree>
    <p:extLst>
      <p:ext uri="{BB962C8B-B14F-4D97-AF65-F5344CB8AC3E}">
        <p14:creationId xmlns:p14="http://schemas.microsoft.com/office/powerpoint/2010/main" val="176233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6BB807F-7022-CC45-3FAE-1C43F4FD0D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-75414"/>
            <a:ext cx="12192000" cy="6973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548126-0DFC-E75D-7CCD-D7A861B0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Excepción no verificada: Error.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8BAA8-2A0C-36C5-3610-4F7318D5F2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A241-35BD-ABF3-3AEC-C777A75CDF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573611" cy="478291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Son situaciones excepcionales </a:t>
            </a:r>
            <a:r>
              <a:rPr lang="es-ES" b="1" dirty="0"/>
              <a:t>externas</a:t>
            </a:r>
            <a:r>
              <a:rPr lang="es-ES" dirty="0"/>
              <a:t> a la aplicación​.</a:t>
            </a:r>
          </a:p>
          <a:p>
            <a:pPr>
              <a:lnSpc>
                <a:spcPct val="120000"/>
              </a:lnSpc>
            </a:pPr>
            <a:r>
              <a:rPr lang="es-ES" dirty="0"/>
              <a:t>La aplicación </a:t>
            </a:r>
            <a:r>
              <a:rPr lang="es-ES" u="sng" dirty="0"/>
              <a:t>no puede anticiparlos</a:t>
            </a:r>
            <a:r>
              <a:rPr lang="es-ES" dirty="0"/>
              <a:t> ni recuperarse de ellos​.</a:t>
            </a:r>
          </a:p>
          <a:p>
            <a:pPr>
              <a:lnSpc>
                <a:spcPct val="120000"/>
              </a:lnSpc>
            </a:pPr>
            <a:r>
              <a:rPr lang="es-ES" dirty="0"/>
              <a:t>Por lo general, están relacionadas con recursos agotados (RAM, CPU, disco, </a:t>
            </a:r>
            <a:r>
              <a:rPr lang="es-ES" dirty="0" err="1"/>
              <a:t>stack</a:t>
            </a:r>
            <a:r>
              <a:rPr lang="es-ES" dirty="0"/>
              <a:t> </a:t>
            </a:r>
            <a:r>
              <a:rPr lang="es-ES" dirty="0" err="1"/>
              <a:t>overflow</a:t>
            </a:r>
            <a:r>
              <a:rPr lang="es-ES" dirty="0"/>
              <a:t>, etc.)​</a:t>
            </a:r>
          </a:p>
          <a:p>
            <a:pPr>
              <a:lnSpc>
                <a:spcPct val="120000"/>
              </a:lnSpc>
            </a:pPr>
            <a:r>
              <a:rPr lang="es-ES" dirty="0"/>
              <a:t>Las excepciones de tipo </a:t>
            </a:r>
            <a:r>
              <a:rPr lang="es-ES" b="1" dirty="0"/>
              <a:t>Error</a:t>
            </a:r>
            <a:r>
              <a:rPr lang="es-ES" dirty="0"/>
              <a:t> son problemas tan serios que el programa ni siquiera debe intentar lidiar con ellos.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8D34A-7ACE-3A4D-BE9C-1B53AFFBF7C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Excepciones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00F56C-28F2-59E5-5839-37BBF39CD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483"/>
          <a:stretch/>
        </p:blipFill>
        <p:spPr>
          <a:xfrm flipH="1">
            <a:off x="7777260" y="1795132"/>
            <a:ext cx="4409879" cy="4457700"/>
          </a:xfrm>
          <a:prstGeom prst="rect">
            <a:avLst/>
          </a:prstGeom>
          <a:effectLst>
            <a:outerShdw blurRad="76200" sy="23000" kx="1200000" algn="br" rotWithShape="0">
              <a:prstClr val="black">
                <a:alpha val="5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4F508F-7765-9CC1-4A49-C9167CE44559}"/>
              </a:ext>
            </a:extLst>
          </p:cNvPr>
          <p:cNvSpPr txBox="1"/>
          <p:nvPr/>
        </p:nvSpPr>
        <p:spPr>
          <a:xfrm>
            <a:off x="770016" y="6302107"/>
            <a:ext cx="8138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https://pngimg.com/d/car_crash_PNG36.png  /  https://freepngimg.com/save/24106-town-transparent-image/1600x570</a:t>
            </a:r>
          </a:p>
        </p:txBody>
      </p:sp>
    </p:spTree>
    <p:extLst>
      <p:ext uri="{BB962C8B-B14F-4D97-AF65-F5344CB8AC3E}">
        <p14:creationId xmlns:p14="http://schemas.microsoft.com/office/powerpoint/2010/main" val="269519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066CD1-898A-1CAD-4E1F-48F31A240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343" y="0"/>
            <a:ext cx="3349658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5193D5-C84D-E6B7-A09E-8DF02D701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Excepción en tiempo de ejecución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5A1FE9-C848-13A4-6516-28B36FCA7E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C907D-2EAE-5A82-843F-1199681841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837415" cy="4782911"/>
          </a:xfrm>
        </p:spPr>
        <p:txBody>
          <a:bodyPr>
            <a:normAutofit/>
          </a:bodyPr>
          <a:lstStyle/>
          <a:p>
            <a:r>
              <a:rPr lang="es-ES" dirty="0"/>
              <a:t>Verificadas en </a:t>
            </a:r>
            <a:r>
              <a:rPr lang="es-ES" b="1" dirty="0"/>
              <a:t>tiempo de ejecución</a:t>
            </a:r>
            <a:r>
              <a:rPr lang="es-ES" dirty="0"/>
              <a:t>.</a:t>
            </a:r>
          </a:p>
          <a:p>
            <a:r>
              <a:rPr lang="es-ES" dirty="0"/>
              <a:t>Son condiciones excepcionales que son internas a la aplicación​</a:t>
            </a:r>
          </a:p>
          <a:p>
            <a:r>
              <a:rPr lang="es-ES" dirty="0"/>
              <a:t>La aplicación puede anticiparlos y recuperarse de ellas.</a:t>
            </a:r>
          </a:p>
          <a:p>
            <a:r>
              <a:rPr lang="es-ES" dirty="0"/>
              <a:t>Por lo general, están relacionadas con </a:t>
            </a:r>
            <a:r>
              <a:rPr lang="es-ES" b="1" i="1" dirty="0">
                <a:solidFill>
                  <a:schemeClr val="bg1">
                    <a:lumMod val="50000"/>
                  </a:schemeClr>
                </a:solidFill>
              </a:rPr>
              <a:t>bugs</a:t>
            </a:r>
            <a:r>
              <a:rPr lang="es-ES" dirty="0"/>
              <a:t> en el programa (errores de lógica, uso inadecuado de métodos, presencia de nulos, etc.)​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A9AF5-9B8B-42B8-378E-A83554067A3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Excepciones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E63C9-3169-D914-2E9B-9F63E5020836}"/>
              </a:ext>
            </a:extLst>
          </p:cNvPr>
          <p:cNvSpPr txBox="1"/>
          <p:nvPr/>
        </p:nvSpPr>
        <p:spPr>
          <a:xfrm>
            <a:off x="793584" y="6423496"/>
            <a:ext cx="84588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https://www.pngplay.com/wp-content/uploads/1/Ladybug-Free-PNG.png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FE7047-91ED-041C-F536-78B1156F8456}"/>
              </a:ext>
            </a:extLst>
          </p:cNvPr>
          <p:cNvSpPr/>
          <p:nvPr/>
        </p:nvSpPr>
        <p:spPr>
          <a:xfrm>
            <a:off x="9784836" y="0"/>
            <a:ext cx="2407164" cy="6023728"/>
          </a:xfrm>
          <a:custGeom>
            <a:avLst/>
            <a:gdLst>
              <a:gd name="connsiteX0" fmla="*/ 0 w 857839"/>
              <a:gd name="connsiteY0" fmla="*/ 0 h 5957740"/>
              <a:gd name="connsiteX1" fmla="*/ 857839 w 857839"/>
              <a:gd name="connsiteY1" fmla="*/ 5957740 h 5957740"/>
              <a:gd name="connsiteX0" fmla="*/ 1029202 w 1887041"/>
              <a:gd name="connsiteY0" fmla="*/ 0 h 5957740"/>
              <a:gd name="connsiteX1" fmla="*/ 20534 w 1887041"/>
              <a:gd name="connsiteY1" fmla="*/ 4826523 h 5957740"/>
              <a:gd name="connsiteX2" fmla="*/ 1887041 w 1887041"/>
              <a:gd name="connsiteY2" fmla="*/ 5957740 h 5957740"/>
              <a:gd name="connsiteX0" fmla="*/ 1029202 w 1887041"/>
              <a:gd name="connsiteY0" fmla="*/ 0 h 5957740"/>
              <a:gd name="connsiteX1" fmla="*/ 20534 w 1887041"/>
              <a:gd name="connsiteY1" fmla="*/ 4826523 h 5957740"/>
              <a:gd name="connsiteX2" fmla="*/ 1887041 w 1887041"/>
              <a:gd name="connsiteY2" fmla="*/ 5957740 h 5957740"/>
              <a:gd name="connsiteX0" fmla="*/ 1028712 w 1886551"/>
              <a:gd name="connsiteY0" fmla="*/ 0 h 5957740"/>
              <a:gd name="connsiteX1" fmla="*/ 20044 w 1886551"/>
              <a:gd name="connsiteY1" fmla="*/ 4826523 h 5957740"/>
              <a:gd name="connsiteX2" fmla="*/ 1886551 w 1886551"/>
              <a:gd name="connsiteY2" fmla="*/ 5957740 h 5957740"/>
              <a:gd name="connsiteX0" fmla="*/ 1028712 w 1886551"/>
              <a:gd name="connsiteY0" fmla="*/ 0 h 5957740"/>
              <a:gd name="connsiteX1" fmla="*/ 20044 w 1886551"/>
              <a:gd name="connsiteY1" fmla="*/ 4826523 h 5957740"/>
              <a:gd name="connsiteX2" fmla="*/ 1886551 w 1886551"/>
              <a:gd name="connsiteY2" fmla="*/ 5957740 h 5957740"/>
              <a:gd name="connsiteX0" fmla="*/ 1194722 w 2052561"/>
              <a:gd name="connsiteY0" fmla="*/ 0 h 5957740"/>
              <a:gd name="connsiteX1" fmla="*/ 186054 w 2052561"/>
              <a:gd name="connsiteY1" fmla="*/ 4826523 h 5957740"/>
              <a:gd name="connsiteX2" fmla="*/ 2052561 w 2052561"/>
              <a:gd name="connsiteY2" fmla="*/ 5957740 h 5957740"/>
              <a:gd name="connsiteX0" fmla="*/ 1329238 w 2187077"/>
              <a:gd name="connsiteY0" fmla="*/ 0 h 5957740"/>
              <a:gd name="connsiteX1" fmla="*/ 94327 w 2187077"/>
              <a:gd name="connsiteY1" fmla="*/ 2337847 h 5957740"/>
              <a:gd name="connsiteX2" fmla="*/ 320570 w 2187077"/>
              <a:gd name="connsiteY2" fmla="*/ 4826523 h 5957740"/>
              <a:gd name="connsiteX3" fmla="*/ 2187077 w 2187077"/>
              <a:gd name="connsiteY3" fmla="*/ 5957740 h 5957740"/>
              <a:gd name="connsiteX0" fmla="*/ 1350067 w 2207906"/>
              <a:gd name="connsiteY0" fmla="*/ 0 h 5957740"/>
              <a:gd name="connsiteX1" fmla="*/ 115156 w 2207906"/>
              <a:gd name="connsiteY1" fmla="*/ 2337847 h 5957740"/>
              <a:gd name="connsiteX2" fmla="*/ 341399 w 2207906"/>
              <a:gd name="connsiteY2" fmla="*/ 4826523 h 5957740"/>
              <a:gd name="connsiteX3" fmla="*/ 2207906 w 2207906"/>
              <a:gd name="connsiteY3" fmla="*/ 5957740 h 5957740"/>
              <a:gd name="connsiteX0" fmla="*/ 1350067 w 2207906"/>
              <a:gd name="connsiteY0" fmla="*/ 0 h 5957740"/>
              <a:gd name="connsiteX1" fmla="*/ 115156 w 2207906"/>
              <a:gd name="connsiteY1" fmla="*/ 2337847 h 5957740"/>
              <a:gd name="connsiteX2" fmla="*/ 341399 w 2207906"/>
              <a:gd name="connsiteY2" fmla="*/ 4826523 h 5957740"/>
              <a:gd name="connsiteX3" fmla="*/ 2207906 w 2207906"/>
              <a:gd name="connsiteY3" fmla="*/ 5957740 h 5957740"/>
              <a:gd name="connsiteX0" fmla="*/ 1350067 w 2207906"/>
              <a:gd name="connsiteY0" fmla="*/ 0 h 5957740"/>
              <a:gd name="connsiteX1" fmla="*/ 115156 w 2207906"/>
              <a:gd name="connsiteY1" fmla="*/ 2337847 h 5957740"/>
              <a:gd name="connsiteX2" fmla="*/ 341399 w 2207906"/>
              <a:gd name="connsiteY2" fmla="*/ 4826523 h 5957740"/>
              <a:gd name="connsiteX3" fmla="*/ 2207906 w 2207906"/>
              <a:gd name="connsiteY3" fmla="*/ 5957740 h 5957740"/>
              <a:gd name="connsiteX0" fmla="*/ 1395988 w 2253827"/>
              <a:gd name="connsiteY0" fmla="*/ 0 h 5957740"/>
              <a:gd name="connsiteX1" fmla="*/ 161077 w 2253827"/>
              <a:gd name="connsiteY1" fmla="*/ 2337847 h 5957740"/>
              <a:gd name="connsiteX2" fmla="*/ 387320 w 2253827"/>
              <a:gd name="connsiteY2" fmla="*/ 4826523 h 5957740"/>
              <a:gd name="connsiteX3" fmla="*/ 2253827 w 2253827"/>
              <a:gd name="connsiteY3" fmla="*/ 5957740 h 5957740"/>
              <a:gd name="connsiteX0" fmla="*/ 1415468 w 2273307"/>
              <a:gd name="connsiteY0" fmla="*/ 0 h 5957740"/>
              <a:gd name="connsiteX1" fmla="*/ 180557 w 2273307"/>
              <a:gd name="connsiteY1" fmla="*/ 2337847 h 5957740"/>
              <a:gd name="connsiteX2" fmla="*/ 406800 w 2273307"/>
              <a:gd name="connsiteY2" fmla="*/ 4826523 h 5957740"/>
              <a:gd name="connsiteX3" fmla="*/ 2273307 w 2273307"/>
              <a:gd name="connsiteY3" fmla="*/ 5957740 h 5957740"/>
              <a:gd name="connsiteX0" fmla="*/ 1480194 w 2338033"/>
              <a:gd name="connsiteY0" fmla="*/ 0 h 5957740"/>
              <a:gd name="connsiteX1" fmla="*/ 245283 w 2338033"/>
              <a:gd name="connsiteY1" fmla="*/ 2337847 h 5957740"/>
              <a:gd name="connsiteX2" fmla="*/ 471526 w 2338033"/>
              <a:gd name="connsiteY2" fmla="*/ 4826523 h 5957740"/>
              <a:gd name="connsiteX3" fmla="*/ 2338033 w 2338033"/>
              <a:gd name="connsiteY3" fmla="*/ 5957740 h 5957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8033" h="5957740">
                <a:moveTo>
                  <a:pt x="1480194" y="0"/>
                </a:moveTo>
                <a:cubicBezTo>
                  <a:pt x="1379641" y="380214"/>
                  <a:pt x="564224" y="1731389"/>
                  <a:pt x="245283" y="2337847"/>
                </a:cubicBezTo>
                <a:cubicBezTo>
                  <a:pt x="-73658" y="2944305"/>
                  <a:pt x="-160070" y="3968684"/>
                  <a:pt x="471526" y="4826523"/>
                </a:cubicBezTo>
                <a:cubicBezTo>
                  <a:pt x="1103122" y="5684362"/>
                  <a:pt x="1618454" y="5715785"/>
                  <a:pt x="2338033" y="595774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C9A1F8-2CFF-51A1-EE0A-CC8E7C64C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506" y="5041474"/>
            <a:ext cx="1178351" cy="1178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45DB6A-9410-8C52-2681-D4BBE0E1A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890211">
            <a:off x="9291526" y="3344649"/>
            <a:ext cx="1178351" cy="11783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DBF4EC-99E9-61FC-91AC-467E12F96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608493">
            <a:off x="9504912" y="1881819"/>
            <a:ext cx="1178351" cy="1178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8652B2-A1FA-D872-9C7E-03F005A9D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78032">
            <a:off x="8394382" y="5582590"/>
            <a:ext cx="1178351" cy="117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7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Errores y excepciones comunes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34D26-1415-D63D-E1AC-F71D37F8FF31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Sentencias try, catch,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finally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206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6C5A-EAE7-BF1A-4500-97DC19B2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try..catch..</a:t>
            </a:r>
            <a:r>
              <a:rPr lang="es-ES" dirty="0" err="1"/>
              <a:t>finally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D4ACE-173F-F6A3-F4B0-FA826F9DE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59A53-155B-5F14-233D-7D6BE00B06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3490899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Instrucciones utilizadas para </a:t>
            </a:r>
            <a:r>
              <a:rPr lang="es-ES" b="1" dirty="0"/>
              <a:t>manejar una excepción.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48887-98E5-4BAA-BC9B-3EACE8853E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Sentencias try, catch,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68C91-8498-9A6A-D31E-FD9B37CAF1B8}"/>
              </a:ext>
            </a:extLst>
          </p:cNvPr>
          <p:cNvSpPr txBox="1"/>
          <p:nvPr/>
        </p:nvSpPr>
        <p:spPr>
          <a:xfrm>
            <a:off x="4918516" y="1540985"/>
            <a:ext cx="5413262" cy="4673527"/>
          </a:xfrm>
          <a:prstGeom prst="roundRect">
            <a:avLst>
              <a:gd name="adj" fmla="val 4614"/>
            </a:avLst>
          </a:prstGeom>
          <a:solidFill>
            <a:schemeClr val="bg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Aquí va el código que podría fallar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lang="es-419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ClaseDeExcepcion1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e1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r>
              <a:rPr lang="en-US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Aquí capturamos las excepciones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para tratarlas o propagarlas</a:t>
            </a:r>
            <a:r>
              <a:rPr lang="es-419" b="0" i="0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lang="es-419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ClaseDeExcepcion2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e2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r>
              <a:rPr lang="en-US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Aquí capturamos las excepciones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para tratarlas o propagarlas</a:t>
            </a:r>
            <a:r>
              <a:rPr lang="es-419" b="0" i="0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más cláusulas catch, si fuera necesario</a:t>
            </a:r>
            <a:endParaRPr lang="es-419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 err="1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finally</a:t>
            </a:r>
            <a:r>
              <a:rPr lang="es-419" b="0" i="0" u="none" strike="noStrike" dirty="0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   // Aquí va el código de finalización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   // ocurra o no la excepción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5404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DCDCB8-5D1E-EF0F-6DE5-5FD4FAF1F312}"/>
              </a:ext>
            </a:extLst>
          </p:cNvPr>
          <p:cNvSpPr txBox="1"/>
          <p:nvPr/>
        </p:nvSpPr>
        <p:spPr>
          <a:xfrm>
            <a:off x="7407899" y="1061191"/>
            <a:ext cx="3945901" cy="4951243"/>
          </a:xfrm>
          <a:prstGeom prst="roundRect">
            <a:avLst>
              <a:gd name="adj" fmla="val 4614"/>
            </a:avLst>
          </a:prstGeom>
          <a:solidFill>
            <a:schemeClr val="bg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s-419" sz="1600" i="0" u="none" strike="noStrike" dirty="0"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</a:t>
            </a:r>
            <a:r>
              <a:rPr lang="es-419" sz="1600" b="0" i="0" u="none" strike="noStrike" dirty="0"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endParaRPr lang="en-US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sz="1600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ClaseDeExcepcion1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e1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manejo de excepción</a:t>
            </a:r>
            <a:endParaRPr lang="es-419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sz="1600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ClaseDeExcepcion2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e2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manejo de excepción</a:t>
            </a:r>
            <a:endParaRPr lang="es-419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 err="1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finally</a:t>
            </a:r>
            <a:r>
              <a:rPr lang="es-419" sz="1600" b="0" i="0" u="none" strike="noStrike" dirty="0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   // instrucciones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siempre </a:t>
            </a:r>
          </a:p>
          <a:p>
            <a:pPr algn="l" rtl="0" fontAlgn="base">
              <a:lnSpc>
                <a:spcPct val="150000"/>
              </a:lnSpc>
            </a:pPr>
            <a:r>
              <a:rPr lang="es-ES" sz="16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 ejecutan</a:t>
            </a:r>
            <a:endParaRPr lang="en-US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011DC-70EB-D329-C2B7-FD5DB8B0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2F762-4785-C42E-60DF-4A060345A0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BEE40-C6CC-198C-F39A-70351DEBE3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932442" cy="4782911"/>
          </a:xfrm>
        </p:spPr>
        <p:txBody>
          <a:bodyPr/>
          <a:lstStyle/>
          <a:p>
            <a:r>
              <a:rPr lang="es-ES" dirty="0"/>
              <a:t>El bloque </a:t>
            </a:r>
            <a:r>
              <a:rPr lang="es-ES" b="1" dirty="0"/>
              <a:t>try</a:t>
            </a:r>
            <a:r>
              <a:rPr lang="es-ES" dirty="0"/>
              <a:t> es usado para agrupar instrucciones susceptibles de una operación riesgosa.</a:t>
            </a:r>
          </a:p>
          <a:p>
            <a:r>
              <a:rPr lang="es-ES" dirty="0"/>
              <a:t>Si ocurre una excepción, ésta es manejada en el bloque </a:t>
            </a:r>
            <a:r>
              <a:rPr lang="es-ES" b="1" dirty="0"/>
              <a:t>catch</a:t>
            </a:r>
            <a:r>
              <a:rPr lang="es-ES" dirty="0"/>
              <a:t>. </a:t>
            </a:r>
          </a:p>
          <a:p>
            <a:r>
              <a:rPr lang="es-ES" dirty="0"/>
              <a:t>Si no ocurre una excepción el control pasa al bloque </a:t>
            </a:r>
            <a:r>
              <a:rPr lang="es-ES" b="1" dirty="0" err="1"/>
              <a:t>finally</a:t>
            </a:r>
            <a:r>
              <a:rPr lang="es-ES" dirty="0"/>
              <a:t>, si está presente.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2BB677-AAFE-7BE0-93D6-A86B13E9663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Sentencias try, catch,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927B2C-BC38-2F81-7B28-F685AAEAE0C4}"/>
              </a:ext>
            </a:extLst>
          </p:cNvPr>
          <p:cNvSpPr/>
          <p:nvPr/>
        </p:nvSpPr>
        <p:spPr>
          <a:xfrm>
            <a:off x="7464710" y="1174450"/>
            <a:ext cx="3587183" cy="1122897"/>
          </a:xfrm>
          <a:prstGeom prst="roundRect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8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11DC-70EB-D329-C2B7-FD5DB8B0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catch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2F762-4785-C42E-60DF-4A060345A0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2BB677-AAFE-7BE0-93D6-A86B13E9663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Sentencias try, catch,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BB3C3F3-0649-159A-6312-752EC886E1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932442" cy="4782911"/>
          </a:xfrm>
        </p:spPr>
        <p:txBody>
          <a:bodyPr/>
          <a:lstStyle/>
          <a:p>
            <a:r>
              <a:rPr lang="es-ES" dirty="0"/>
              <a:t>El bloque </a:t>
            </a:r>
            <a:r>
              <a:rPr lang="es-ES" b="1" dirty="0"/>
              <a:t>catch</a:t>
            </a:r>
            <a:r>
              <a:rPr lang="es-ES" dirty="0"/>
              <a:t> nos permite manejar o propagar la excepción ocurrida en </a:t>
            </a:r>
            <a:r>
              <a:rPr lang="es-ES" b="1" dirty="0"/>
              <a:t>try</a:t>
            </a:r>
            <a:r>
              <a:rPr lang="es-ES" dirty="0"/>
              <a:t>.</a:t>
            </a:r>
          </a:p>
          <a:p>
            <a:r>
              <a:rPr lang="es-ES" dirty="0"/>
              <a:t>Pueden existir </a:t>
            </a:r>
            <a:r>
              <a:rPr lang="es-ES" u="sng" dirty="0"/>
              <a:t>varios bloques</a:t>
            </a:r>
            <a:r>
              <a:rPr lang="es-ES" dirty="0"/>
              <a:t> </a:t>
            </a:r>
            <a:r>
              <a:rPr lang="es-ES" b="1" dirty="0"/>
              <a:t>catch</a:t>
            </a:r>
            <a:r>
              <a:rPr lang="es-ES" dirty="0"/>
              <a:t>, cada uno asociado a una excepción específica o grupo de excepciones.</a:t>
            </a:r>
          </a:p>
          <a:p>
            <a:r>
              <a:rPr lang="es-ES" dirty="0"/>
              <a:t>Si hay varios bloques </a:t>
            </a:r>
            <a:r>
              <a:rPr lang="es-ES" b="1" dirty="0"/>
              <a:t>catch</a:t>
            </a:r>
            <a:r>
              <a:rPr lang="es-ES" dirty="0"/>
              <a:t>, éstos deben ir ordenados, del más específico al más general.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95701-8624-F669-2DEC-3F83EE8E0BB3}"/>
              </a:ext>
            </a:extLst>
          </p:cNvPr>
          <p:cNvSpPr txBox="1"/>
          <p:nvPr/>
        </p:nvSpPr>
        <p:spPr>
          <a:xfrm>
            <a:off x="7407899" y="1070615"/>
            <a:ext cx="3945901" cy="4951243"/>
          </a:xfrm>
          <a:prstGeom prst="roundRect">
            <a:avLst>
              <a:gd name="adj" fmla="val 4614"/>
            </a:avLst>
          </a:prstGeom>
          <a:solidFill>
            <a:schemeClr val="bg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s-419" sz="1600" i="0" u="none" strike="noStrike" dirty="0"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</a:t>
            </a:r>
            <a:r>
              <a:rPr lang="es-419" sz="1600" b="0" i="0" u="none" strike="noStrike" dirty="0"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endParaRPr lang="en-US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sz="1600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ClaseDeExcepcion1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e1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manejo de excepción</a:t>
            </a:r>
            <a:endParaRPr lang="es-419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sz="1600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ClaseDeExcepcion2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e2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manejo de excepción</a:t>
            </a:r>
            <a:endParaRPr lang="es-419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 err="1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finally</a:t>
            </a:r>
            <a:r>
              <a:rPr lang="es-419" sz="1600" b="0" i="0" u="none" strike="noStrike" dirty="0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   // instrucciones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siempre </a:t>
            </a:r>
          </a:p>
          <a:p>
            <a:pPr algn="l" rtl="0" fontAlgn="base">
              <a:lnSpc>
                <a:spcPct val="150000"/>
              </a:lnSpc>
            </a:pPr>
            <a:r>
              <a:rPr lang="es-ES" sz="16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 ejecutan</a:t>
            </a:r>
            <a:endParaRPr lang="en-US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592BC9-932F-18A3-550A-8AF56534750F}"/>
              </a:ext>
            </a:extLst>
          </p:cNvPr>
          <p:cNvSpPr/>
          <p:nvPr/>
        </p:nvSpPr>
        <p:spPr>
          <a:xfrm>
            <a:off x="7445856" y="2274593"/>
            <a:ext cx="3828602" cy="2165428"/>
          </a:xfrm>
          <a:prstGeom prst="roundRect">
            <a:avLst>
              <a:gd name="adj" fmla="val 8396"/>
            </a:avLst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8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AB88C20-0906-0BDD-C0B7-CFDEEA115327}"/>
              </a:ext>
            </a:extLst>
          </p:cNvPr>
          <p:cNvSpPr txBox="1"/>
          <p:nvPr/>
        </p:nvSpPr>
        <p:spPr>
          <a:xfrm>
            <a:off x="7407899" y="1061193"/>
            <a:ext cx="3945901" cy="4951243"/>
          </a:xfrm>
          <a:prstGeom prst="roundRect">
            <a:avLst>
              <a:gd name="adj" fmla="val 4614"/>
            </a:avLst>
          </a:prstGeom>
          <a:solidFill>
            <a:schemeClr val="bg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s-419" sz="1600" i="0" u="none" strike="noStrike" dirty="0"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</a:t>
            </a:r>
            <a:r>
              <a:rPr lang="es-419" sz="1600" b="0" i="0" u="none" strike="noStrike" dirty="0"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endParaRPr lang="en-US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sz="1600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ClaseDeExcepcion1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e1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manejo de excepción</a:t>
            </a:r>
            <a:endParaRPr lang="es-419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sz="1600" b="0" i="0" u="none" strike="noStrike" dirty="0">
                <a:solidFill>
                  <a:schemeClr val="accent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ClaseDeExcepcion2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</a:t>
            </a:r>
            <a:r>
              <a:rPr lang="es-419" sz="1600" b="0" i="0" u="none" strike="noStrike" dirty="0"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e2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manejo de excepción</a:t>
            </a:r>
            <a:endParaRPr lang="es-419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 err="1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finally</a:t>
            </a:r>
            <a:r>
              <a:rPr lang="es-419" sz="1600" b="0" i="0" u="none" strike="noStrike" dirty="0">
                <a:solidFill>
                  <a:srgbClr val="FFFF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   // instrucciones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siempre </a:t>
            </a:r>
          </a:p>
          <a:p>
            <a:pPr algn="l" rtl="0" fontAlgn="base">
              <a:lnSpc>
                <a:spcPct val="150000"/>
              </a:lnSpc>
            </a:pPr>
            <a:r>
              <a:rPr lang="es-ES" sz="16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s-ES" sz="1600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 ejecutan</a:t>
            </a:r>
            <a:endParaRPr lang="en-US" sz="1600" b="0" i="0" dirty="0">
              <a:solidFill>
                <a:schemeClr val="bg1">
                  <a:lumMod val="6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s-419" sz="1600" b="0" i="0" u="none" strike="noStrike" dirty="0">
                <a:solidFill>
                  <a:srgbClr val="FFFF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011DC-70EB-D329-C2B7-FD5DB8B0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finally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2F762-4785-C42E-60DF-4A060345A0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BEE40-C6CC-198C-F39A-70351DEBE3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5923015" cy="4782911"/>
          </a:xfrm>
        </p:spPr>
        <p:txBody>
          <a:bodyPr/>
          <a:lstStyle/>
          <a:p>
            <a:r>
              <a:rPr lang="es-ES" dirty="0"/>
              <a:t>El bloque </a:t>
            </a:r>
            <a:r>
              <a:rPr lang="es-ES" b="1" dirty="0" err="1"/>
              <a:t>finally</a:t>
            </a:r>
            <a:r>
              <a:rPr lang="es-ES" dirty="0"/>
              <a:t> nos permite definir una o varias instrucciones cuya ejecución está garantizada, independientemente de que ocurra o no una excepción dentro del bloque </a:t>
            </a:r>
            <a:r>
              <a:rPr lang="es-ES" b="1" dirty="0"/>
              <a:t>try</a:t>
            </a:r>
            <a:r>
              <a:rPr lang="es-ES" dirty="0"/>
              <a:t>.</a:t>
            </a:r>
          </a:p>
          <a:p>
            <a:r>
              <a:rPr lang="es-ES" dirty="0"/>
              <a:t>Sirve para </a:t>
            </a:r>
            <a:r>
              <a:rPr lang="es-ES" u="sng" dirty="0"/>
              <a:t>limpieza del estado</a:t>
            </a:r>
            <a:r>
              <a:rPr lang="es-ES" dirty="0"/>
              <a:t> de los objetos afectados o para liberar recursos externos.</a:t>
            </a:r>
          </a:p>
          <a:p>
            <a:r>
              <a:rPr lang="es-ES" u="sng" dirty="0"/>
              <a:t>Su uso es opcional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2BB677-AAFE-7BE0-93D6-A86B13E9663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Sentencias try, catch,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917743-C678-C1A9-6336-9C205740F0CF}"/>
              </a:ext>
            </a:extLst>
          </p:cNvPr>
          <p:cNvSpPr/>
          <p:nvPr/>
        </p:nvSpPr>
        <p:spPr>
          <a:xfrm>
            <a:off x="7445856" y="4459733"/>
            <a:ext cx="3772041" cy="1456717"/>
          </a:xfrm>
          <a:prstGeom prst="roundRect">
            <a:avLst>
              <a:gd name="adj" fmla="val 9549"/>
            </a:avLst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3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5508-C34E-A5DF-D6DF-7479B832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try..catch..</a:t>
            </a:r>
            <a:r>
              <a:rPr lang="es-ES" dirty="0" err="1"/>
              <a:t>finally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CF527-AD0A-FAAC-631C-B39D69BCE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7E147C-C2D4-81BE-2D0C-9486B6B7238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Sentencias try, catch,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AECAD61-830A-E41B-B454-BB6F3D8DB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462" y="1413273"/>
            <a:ext cx="6863336" cy="4301692"/>
          </a:xfrm>
          <a:prstGeom prst="roundRect">
            <a:avLst>
              <a:gd name="adj" fmla="val 4179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dividir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	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a / 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(Exception ex)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"Error! División entre cero"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finally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"Fin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luego de capturer la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excepción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flujo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de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ejecución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continúa</a:t>
            </a:r>
            <a:endParaRPr lang="en-US" altLang="en-US" sz="1200" dirty="0">
              <a:solidFill>
                <a:schemeClr val="bg1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programa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continúa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endParaRPr lang="en-US" altLang="en-US" sz="12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2D529B0-8A13-D03E-3276-DD2179985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355" y="1290224"/>
            <a:ext cx="5067866" cy="1777184"/>
          </a:xfrm>
          <a:prstGeom prst="roundRect">
            <a:avLst>
              <a:gd name="adj" fmla="val 599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calculadora.dividir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endParaRPr lang="en-US" altLang="en-US" sz="12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6FE21-1F15-6AAE-1876-0A4494F800F1}"/>
              </a:ext>
            </a:extLst>
          </p:cNvPr>
          <p:cNvSpPr txBox="1"/>
          <p:nvPr/>
        </p:nvSpPr>
        <p:spPr>
          <a:xfrm>
            <a:off x="8289172" y="3949422"/>
            <a:ext cx="3165049" cy="6363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Error! División entre cero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 del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62A4B-1732-B94B-104A-586EDA50A238}"/>
              </a:ext>
            </a:extLst>
          </p:cNvPr>
          <p:cNvSpPr txBox="1"/>
          <p:nvPr/>
        </p:nvSpPr>
        <p:spPr>
          <a:xfrm>
            <a:off x="8287972" y="3641645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36090-7602-C0FC-DC05-9051B19C6C52}"/>
              </a:ext>
            </a:extLst>
          </p:cNvPr>
          <p:cNvSpPr txBox="1"/>
          <p:nvPr/>
        </p:nvSpPr>
        <p:spPr>
          <a:xfrm>
            <a:off x="1300898" y="5836126"/>
            <a:ext cx="60331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F0"/>
                </a:solidFill>
              </a:rPr>
              <a:t>En este caso, la clase Calculadora “atrapa” y “maneja” la excepción mostrando un mensaje en pantalla. La aplicación no interrumpe su ejecución.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5FACA9-5D6F-3FEC-21B7-F25CEF8B49E0}"/>
              </a:ext>
            </a:extLst>
          </p:cNvPr>
          <p:cNvSpPr txBox="1"/>
          <p:nvPr/>
        </p:nvSpPr>
        <p:spPr>
          <a:xfrm>
            <a:off x="8289172" y="5401834"/>
            <a:ext cx="3165049" cy="63634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4.0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 del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B73A49-DC3A-FAAB-3A14-C6D804DB657A}"/>
              </a:ext>
            </a:extLst>
          </p:cNvPr>
          <p:cNvSpPr txBox="1"/>
          <p:nvPr/>
        </p:nvSpPr>
        <p:spPr>
          <a:xfrm>
            <a:off x="8287972" y="4865458"/>
            <a:ext cx="2923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Salida si se enviaran los argumentos 16 y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4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Sentencias try, catch,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finally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34D26-1415-D63D-E1AC-F71D37F8FF31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Errores y excepciones comunes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245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416573-FC63-3415-6E3D-3B78A2A0A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70" y="1490394"/>
            <a:ext cx="8820346" cy="469442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D3594F07-3457-DBA6-64D3-474477B9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Jerarquía de excepciones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710EC-BC36-B283-B8DA-5A1F5E22E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C3B69-EB82-9C46-615A-FAA2B775663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Errores y excepciones comunes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F1A9A-7653-D9DD-A05F-50FCF4367AE5}"/>
              </a:ext>
            </a:extLst>
          </p:cNvPr>
          <p:cNvSpPr txBox="1"/>
          <p:nvPr/>
        </p:nvSpPr>
        <p:spPr>
          <a:xfrm>
            <a:off x="838200" y="6441348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https://cdn.codegym.cc/images/article/2f746d9e-9668-4779-b0e7-366eff0377d5/1024.jpeg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1CCFB3-453D-E470-43E4-D739FAF67D51}"/>
              </a:ext>
            </a:extLst>
          </p:cNvPr>
          <p:cNvGrpSpPr/>
          <p:nvPr/>
        </p:nvGrpSpPr>
        <p:grpSpPr>
          <a:xfrm>
            <a:off x="8610600" y="1591330"/>
            <a:ext cx="2413395" cy="1463027"/>
            <a:chOff x="9068585" y="1866507"/>
            <a:chExt cx="2413395" cy="14630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CF4B57-F468-E037-7FF9-E435DB19F3BC}"/>
                </a:ext>
              </a:extLst>
            </p:cNvPr>
            <p:cNvSpPr/>
            <p:nvPr/>
          </p:nvSpPr>
          <p:spPr>
            <a:xfrm>
              <a:off x="9068586" y="1866507"/>
              <a:ext cx="433633" cy="433633"/>
            </a:xfrm>
            <a:prstGeom prst="rect">
              <a:avLst/>
            </a:prstGeom>
            <a:solidFill>
              <a:srgbClr val="FAF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04B67B-C3FB-EA22-F302-10094FF797A8}"/>
                </a:ext>
              </a:extLst>
            </p:cNvPr>
            <p:cNvSpPr/>
            <p:nvPr/>
          </p:nvSpPr>
          <p:spPr>
            <a:xfrm>
              <a:off x="9068586" y="2384020"/>
              <a:ext cx="433633" cy="433633"/>
            </a:xfrm>
            <a:prstGeom prst="rect">
              <a:avLst/>
            </a:prstGeom>
            <a:solidFill>
              <a:srgbClr val="FB8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C1430C-363B-573E-9087-F5A967E86DEB}"/>
                </a:ext>
              </a:extLst>
            </p:cNvPr>
            <p:cNvSpPr/>
            <p:nvPr/>
          </p:nvSpPr>
          <p:spPr>
            <a:xfrm>
              <a:off x="9068585" y="2895901"/>
              <a:ext cx="433633" cy="433633"/>
            </a:xfrm>
            <a:prstGeom prst="rect">
              <a:avLst/>
            </a:prstGeom>
            <a:solidFill>
              <a:srgbClr val="90FC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67B4C7-42E8-4C1C-C41C-01B7D51E5883}"/>
                </a:ext>
              </a:extLst>
            </p:cNvPr>
            <p:cNvSpPr txBox="1"/>
            <p:nvPr/>
          </p:nvSpPr>
          <p:spPr>
            <a:xfrm>
              <a:off x="9554849" y="1929434"/>
              <a:ext cx="19271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 err="1">
                  <a:solidFill>
                    <a:schemeClr val="bg1">
                      <a:lumMod val="50000"/>
                    </a:schemeClr>
                  </a:solidFill>
                </a:rPr>
                <a:t>Checked</a:t>
              </a:r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dirty="0" err="1">
                  <a:solidFill>
                    <a:schemeClr val="bg1">
                      <a:lumMod val="50000"/>
                    </a:schemeClr>
                  </a:solidFill>
                </a:rPr>
                <a:t>exception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EF44B6-BC1B-0857-21BD-F92E76A1D0AF}"/>
                </a:ext>
              </a:extLst>
            </p:cNvPr>
            <p:cNvSpPr txBox="1"/>
            <p:nvPr/>
          </p:nvSpPr>
          <p:spPr>
            <a:xfrm>
              <a:off x="9554849" y="2446946"/>
              <a:ext cx="6415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</a:rPr>
                <a:t>Error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24753B-B119-9098-B3FA-A9D1BE94B947}"/>
                </a:ext>
              </a:extLst>
            </p:cNvPr>
            <p:cNvSpPr txBox="1"/>
            <p:nvPr/>
          </p:nvSpPr>
          <p:spPr>
            <a:xfrm>
              <a:off x="9554849" y="2964460"/>
              <a:ext cx="18822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 err="1">
                  <a:solidFill>
                    <a:schemeClr val="bg1">
                      <a:lumMod val="50000"/>
                    </a:schemeClr>
                  </a:solidFill>
                </a:rPr>
                <a:t>Runtime</a:t>
              </a:r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dirty="0" err="1">
                  <a:solidFill>
                    <a:schemeClr val="bg1">
                      <a:lumMod val="50000"/>
                    </a:schemeClr>
                  </a:solidFill>
                </a:rPr>
                <a:t>exception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843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ED63-6EE1-3C7B-0E71-136B8D54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Errores comunes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A64C1-718E-81A4-86BF-356B609533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E14DB-8DC8-35DB-AEAB-BC8F7F801E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AssertionError</a:t>
            </a:r>
            <a:r>
              <a:rPr lang="en-US" dirty="0"/>
              <a:t>​</a:t>
            </a:r>
          </a:p>
          <a:p>
            <a:r>
              <a:rPr lang="en-US" dirty="0" err="1"/>
              <a:t>StackOverflowError</a:t>
            </a:r>
            <a:r>
              <a:rPr lang="en-US" dirty="0"/>
              <a:t>​</a:t>
            </a:r>
          </a:p>
          <a:p>
            <a:r>
              <a:rPr lang="en-US" dirty="0" err="1"/>
              <a:t>IOError</a:t>
            </a:r>
            <a:r>
              <a:rPr lang="en-US" dirty="0"/>
              <a:t>​</a:t>
            </a:r>
          </a:p>
          <a:p>
            <a:r>
              <a:rPr lang="en-US" dirty="0" err="1"/>
              <a:t>OutOfMemoryError</a:t>
            </a:r>
            <a:r>
              <a:rPr lang="en-US" dirty="0"/>
              <a:t>​</a:t>
            </a:r>
          </a:p>
          <a:p>
            <a:r>
              <a:rPr lang="en-US" dirty="0" err="1"/>
              <a:t>InternalError</a:t>
            </a:r>
            <a:r>
              <a:rPr lang="en-US" dirty="0"/>
              <a:t>​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2B5169-227D-353A-81CC-18E5F20314F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Errores y excepciones comunes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70016C-DF47-5749-7D05-2D73CFE31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547" y="1594900"/>
            <a:ext cx="4854804" cy="3204671"/>
          </a:xfrm>
          <a:prstGeom prst="roundRect">
            <a:avLst>
              <a:gd name="adj" fmla="val 5646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StackOverflowErrorExample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StackOverflowErrorExample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soee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StackOverflowErrorExample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soee.print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4E76FE-2CF5-624F-81FF-7C73F522D2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631"/>
          <a:stretch/>
        </p:blipFill>
        <p:spPr>
          <a:xfrm>
            <a:off x="4873117" y="5042555"/>
            <a:ext cx="6115234" cy="11772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283ECB-8B46-C233-B66F-42934166EBEE}"/>
              </a:ext>
            </a:extLst>
          </p:cNvPr>
          <p:cNvSpPr txBox="1"/>
          <p:nvPr/>
        </p:nvSpPr>
        <p:spPr>
          <a:xfrm>
            <a:off x="760834" y="6428137"/>
            <a:ext cx="102275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Ejemplo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https://rollbar.com/blog/how-to-fix-java-lang-stackoverflowerror-in-java/#:~:text=StackOverflowError%20is%20a%20runtime%20error,by%20deep%20or%20infinite%20recursion.</a:t>
            </a:r>
          </a:p>
        </p:txBody>
      </p:sp>
    </p:spTree>
    <p:extLst>
      <p:ext uri="{BB962C8B-B14F-4D97-AF65-F5344CB8AC3E}">
        <p14:creationId xmlns:p14="http://schemas.microsoft.com/office/powerpoint/2010/main" val="257581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D7A0-316D-316C-64D6-1D9AF578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Runtime</a:t>
            </a:r>
            <a:r>
              <a:rPr lang="es-ES" dirty="0"/>
              <a:t> </a:t>
            </a:r>
            <a:r>
              <a:rPr lang="es-ES" dirty="0" err="1"/>
              <a:t>exceptions</a:t>
            </a:r>
            <a:r>
              <a:rPr lang="es-ES" dirty="0"/>
              <a:t> comunes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A08FE5-8CF8-044D-DCCE-B6487838B0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EA5EF-16F9-00DB-DC0E-9EB28200C6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IndexOutOfBoundsException</a:t>
            </a:r>
            <a:r>
              <a:rPr lang="en-US" dirty="0"/>
              <a:t>​</a:t>
            </a:r>
          </a:p>
          <a:p>
            <a:pPr lvl="1"/>
            <a:r>
              <a:rPr lang="en-US" sz="2000" dirty="0" err="1"/>
              <a:t>ArrayIndexOutOfBoundsException</a:t>
            </a:r>
            <a:r>
              <a:rPr lang="en-US" sz="2000" dirty="0"/>
              <a:t>​</a:t>
            </a:r>
          </a:p>
          <a:p>
            <a:pPr lvl="1"/>
            <a:r>
              <a:rPr lang="en-US" sz="2000" dirty="0" err="1"/>
              <a:t>StringIndexOutOfBoundsException</a:t>
            </a:r>
            <a:r>
              <a:rPr lang="en-US" sz="2000" dirty="0"/>
              <a:t>​</a:t>
            </a:r>
          </a:p>
          <a:p>
            <a:r>
              <a:rPr lang="en-US" dirty="0" err="1"/>
              <a:t>ArithmeticException</a:t>
            </a:r>
            <a:r>
              <a:rPr lang="en-US" dirty="0"/>
              <a:t>​</a:t>
            </a:r>
          </a:p>
          <a:p>
            <a:r>
              <a:rPr lang="en-US" dirty="0" err="1"/>
              <a:t>IllegalArgumentException</a:t>
            </a:r>
            <a:r>
              <a:rPr lang="en-US" dirty="0"/>
              <a:t>​</a:t>
            </a:r>
          </a:p>
          <a:p>
            <a:r>
              <a:rPr lang="en-US" dirty="0" err="1"/>
              <a:t>NullPointerException</a:t>
            </a:r>
            <a:r>
              <a:rPr lang="en-US" dirty="0"/>
              <a:t>​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AE8D50-12AA-61A3-7754-14A9BEE383AE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Errores y excepciones comunes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1A53D9-7FC5-FB57-4619-1D18B6690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282" y="1463850"/>
            <a:ext cx="5178147" cy="2014002"/>
          </a:xfrm>
          <a:prstGeom prst="roundRect">
            <a:avLst>
              <a:gd name="adj" fmla="val 743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public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arraycopy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asignarValor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valor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US" altLang="en-US" sz="18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AA6D649-06FA-74E8-E468-8156B275F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282" y="3680010"/>
            <a:ext cx="5178147" cy="1634490"/>
          </a:xfrm>
          <a:prstGeom prst="roundRect">
            <a:avLst>
              <a:gd name="adj" fmla="val 9746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{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operadorArreglos.asignarValor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US" altLang="en-US" sz="18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US" altLang="en-US" sz="18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A6D677-57AF-B7D7-32DB-BAB20548CD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19"/>
          <a:stretch/>
        </p:blipFill>
        <p:spPr>
          <a:xfrm>
            <a:off x="2521258" y="5548313"/>
            <a:ext cx="9288171" cy="80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3CBA-7BB0-1374-FA05-F6B39B89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Checked</a:t>
            </a:r>
            <a:r>
              <a:rPr lang="es-ES" dirty="0"/>
              <a:t> </a:t>
            </a:r>
            <a:r>
              <a:rPr lang="es-ES" dirty="0" err="1"/>
              <a:t>exceptions</a:t>
            </a:r>
            <a:r>
              <a:rPr lang="es-ES" dirty="0"/>
              <a:t> comunes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BDD6D4-B666-D9D0-D146-94BDD39D7F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A552D-1A9D-F4DC-B5BC-0F21BF5917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ClassNotFoundException</a:t>
            </a:r>
            <a:r>
              <a:rPr lang="en-US" dirty="0"/>
              <a:t>​</a:t>
            </a:r>
          </a:p>
          <a:p>
            <a:r>
              <a:rPr lang="en-US" dirty="0" err="1"/>
              <a:t>IOException</a:t>
            </a:r>
            <a:r>
              <a:rPr lang="en-US" dirty="0"/>
              <a:t>​</a:t>
            </a:r>
          </a:p>
          <a:p>
            <a:pPr lvl="1"/>
            <a:r>
              <a:rPr lang="en-US" dirty="0" err="1"/>
              <a:t>FileNotFoundException</a:t>
            </a:r>
            <a:r>
              <a:rPr lang="en-US" dirty="0"/>
              <a:t>​</a:t>
            </a:r>
          </a:p>
          <a:p>
            <a:pPr lvl="1"/>
            <a:r>
              <a:rPr lang="en-US" dirty="0" err="1"/>
              <a:t>FileSystemException</a:t>
            </a:r>
            <a:r>
              <a:rPr lang="en-US" dirty="0"/>
              <a:t>​</a:t>
            </a:r>
          </a:p>
          <a:p>
            <a:pPr lvl="2"/>
            <a:r>
              <a:rPr lang="en-US" dirty="0" err="1"/>
              <a:t>NoSuchFileException</a:t>
            </a:r>
            <a:r>
              <a:rPr lang="en-US" dirty="0"/>
              <a:t>​</a:t>
            </a:r>
          </a:p>
          <a:p>
            <a:pPr lvl="2"/>
            <a:r>
              <a:rPr lang="en-US" dirty="0" err="1"/>
              <a:t>FileAlreadyExistsException</a:t>
            </a:r>
            <a:r>
              <a:rPr lang="en-US" dirty="0"/>
              <a:t>​</a:t>
            </a:r>
          </a:p>
          <a:p>
            <a:r>
              <a:rPr lang="en-US" dirty="0" err="1"/>
              <a:t>MalformedURLException</a:t>
            </a:r>
            <a:r>
              <a:rPr lang="en-US" dirty="0"/>
              <a:t>​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98B31-2D52-2B12-D464-D05A9A93A52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Errores y excepciones comunes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7FB7490-BD57-C40F-CE35-D6975DA78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51731"/>
            <a:ext cx="5522896" cy="1652361"/>
          </a:xfrm>
          <a:prstGeom prst="roundRect">
            <a:avLst>
              <a:gd name="adj" fmla="val 7026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GestorClases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Object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CrearClase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nombreClase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throws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forName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nombreClase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CCBC64C-BE96-6947-DBDB-42359FD99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380102"/>
            <a:ext cx="5522896" cy="2040984"/>
          </a:xfrm>
          <a:prstGeom prst="roundRect">
            <a:avLst>
              <a:gd name="adj" fmla="val 696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throws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GestorClases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gestorClases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GestorClases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gestorClases.CrearClase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ClaseFalsa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US" altLang="en-US" sz="24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CC783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DF33FC-5D72-E6CB-1D53-B49396D78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91"/>
          <a:stretch/>
        </p:blipFill>
        <p:spPr>
          <a:xfrm>
            <a:off x="3369095" y="5597096"/>
            <a:ext cx="8249801" cy="65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7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Errores y excepciones comunes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Sentencias try, catch,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finally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34D26-1415-D63D-E1AC-F71D37F8FF31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55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50BA4-7BA1-6CC6-64E6-4A1A5EC88E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7304246" cy="4782911"/>
          </a:xfrm>
        </p:spPr>
        <p:txBody>
          <a:bodyPr>
            <a:normAutofit fontScale="92500" lnSpcReduction="10000"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/>
              <a:t>1. Es una afirmación incorrecta acerca de las excepciones:</a:t>
            </a:r>
          </a:p>
          <a:p>
            <a:pPr marL="50800" indent="0">
              <a:lnSpc>
                <a:spcPct val="110000"/>
              </a:lnSpc>
              <a:buNone/>
            </a:pPr>
            <a:endParaRPr lang="en-US" dirty="0"/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/>
              <a:t>Se </a:t>
            </a:r>
            <a:r>
              <a:rPr lang="en-US" dirty="0" err="1"/>
              <a:t>producen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resultado</a:t>
            </a:r>
            <a:r>
              <a:rPr lang="en-US" dirty="0"/>
              <a:t> de un error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 err="1"/>
              <a:t>Muestran</a:t>
            </a:r>
            <a:r>
              <a:rPr lang="en-US" dirty="0"/>
              <a:t> </a:t>
            </a:r>
            <a:r>
              <a:rPr lang="en-US" dirty="0" err="1"/>
              <a:t>mensajes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pantalla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interrumpen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r>
              <a:rPr lang="en-US" dirty="0"/>
              <a:t> del </a:t>
            </a:r>
            <a:r>
              <a:rPr lang="en-US" dirty="0" err="1"/>
              <a:t>programa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manejo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evitar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se </a:t>
            </a:r>
            <a:r>
              <a:rPr lang="en-US" dirty="0" err="1"/>
              <a:t>vea</a:t>
            </a:r>
            <a:r>
              <a:rPr lang="en-US" dirty="0"/>
              <a:t> </a:t>
            </a:r>
            <a:r>
              <a:rPr lang="en-US" dirty="0" err="1"/>
              <a:t>interrumpido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ejecución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proviene</a:t>
            </a:r>
            <a:r>
              <a:rPr lang="en-US" dirty="0"/>
              <a:t> de la expression “exceptional event”.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C9160-F3DC-867C-C19C-3BD9434B42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07" r="48543"/>
          <a:stretch/>
        </p:blipFill>
        <p:spPr>
          <a:xfrm>
            <a:off x="9092114" y="0"/>
            <a:ext cx="3131927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5787F5D-8358-6BE8-3817-EE3D07689A83}"/>
              </a:ext>
            </a:extLst>
          </p:cNvPr>
          <p:cNvSpPr txBox="1"/>
          <p:nvPr/>
        </p:nvSpPr>
        <p:spPr>
          <a:xfrm>
            <a:off x="626520" y="6509295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https://img.freepik.com/premium-photo/concept-error-program-code-detection-dangerous-worms-bugs-viruses-computer-programs_123211-740.jpg</a:t>
            </a:r>
          </a:p>
        </p:txBody>
      </p:sp>
    </p:spTree>
    <p:extLst>
      <p:ext uri="{BB962C8B-B14F-4D97-AF65-F5344CB8AC3E}">
        <p14:creationId xmlns:p14="http://schemas.microsoft.com/office/powerpoint/2010/main" val="14171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50BA4-7BA1-6CC6-64E6-4A1A5EC88E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7592481" cy="4782911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/>
              <a:t>2. Son opciones válidas en el manejo de excepciones:</a:t>
            </a:r>
          </a:p>
          <a:p>
            <a:pPr marL="50800" indent="0">
              <a:lnSpc>
                <a:spcPct val="110000"/>
              </a:lnSpc>
              <a:buNone/>
            </a:pPr>
            <a:endParaRPr lang="es-ES" dirty="0"/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s-ES" dirty="0"/>
              <a:t>Que el método de la clase capture la excepción y la trate, a través de las instrucciones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s-ES" dirty="0"/>
              <a:t>Que la clase cliente capture la excepción y la trate, a través de las instrucciones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s-ES" dirty="0"/>
              <a:t>Que el método de la clase capture la excepción y la trate usando la estructura </a:t>
            </a:r>
            <a:r>
              <a:rPr lang="es-ES" b="1" dirty="0" err="1"/>
              <a:t>try..catch</a:t>
            </a:r>
            <a:r>
              <a:rPr lang="es-ES" dirty="0"/>
              <a:t>, dado que </a:t>
            </a:r>
            <a:r>
              <a:rPr lang="es-ES" b="1" dirty="0" err="1"/>
              <a:t>finally</a:t>
            </a:r>
            <a:r>
              <a:rPr lang="es-ES" dirty="0"/>
              <a:t> es opcional.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s-ES" dirty="0"/>
              <a:t>Todas las opciones anteriores son válidas.</a:t>
            </a:r>
          </a:p>
          <a:p>
            <a:pPr marL="565150" indent="-514350">
              <a:lnSpc>
                <a:spcPct val="110000"/>
              </a:lnSpc>
              <a:buAutoNum type="alphaUcPeriod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87F5D-8358-6BE8-3817-EE3D07689A83}"/>
              </a:ext>
            </a:extLst>
          </p:cNvPr>
          <p:cNvSpPr txBox="1"/>
          <p:nvPr/>
        </p:nvSpPr>
        <p:spPr>
          <a:xfrm>
            <a:off x="715971" y="6399966"/>
            <a:ext cx="9415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https://static.vecteezy.com/system/resources/previews/004/086/260/original/virus-hazard-sign-virus-detected-computer-bug-made-with-binary-code-hacked-digital-binary-data-and-streaming-digital-code-background-concept-of-cyber-crime-internet-piracy-and-hacking-vector.jpg</a:t>
            </a:r>
          </a:p>
        </p:txBody>
      </p:sp>
      <p:pic>
        <p:nvPicPr>
          <p:cNvPr id="6" name="Picture 2" descr="señal de peligro de virus. virus detectado. error informático hecho con  código binario. pirateado. datos binarios digitales y transmisión de fondo  de código digital. concepto de delito cibernético, piratería en Internet y">
            <a:extLst>
              <a:ext uri="{FF2B5EF4-FFF2-40B4-BE49-F238E27FC236}">
                <a16:creationId xmlns:a16="http://schemas.microsoft.com/office/drawing/2014/main" id="{6E258AEA-576B-C991-932E-1C4B5111E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" r="50000"/>
          <a:stretch/>
        </p:blipFill>
        <p:spPr bwMode="auto">
          <a:xfrm>
            <a:off x="9137374" y="0"/>
            <a:ext cx="3054626" cy="685800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96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3553E-29C8-F570-BC71-EDA27450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495AF-4876-4A3A-7AF0-60EB21D5F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F6AB3-AE16-183B-56DE-7347DC5668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827168" cy="4782911"/>
          </a:xfrm>
        </p:spPr>
        <p:txBody>
          <a:bodyPr>
            <a:normAutofit fontScale="77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3. Juan ha escrito un programa en Java y al ejecutarlo ocurre un error pues el cálculo que realiza el programa da un resultado incorrecto, aún cuando los datos ingresados son correctos ¿Cuál es la causa del error?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/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s-ES" dirty="0"/>
              <a:t>Que no ha utilizado instrucciones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 para detectar la falla.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s-ES" dirty="0"/>
              <a:t>Que no utiliza la clase correcta para capturar el error.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s-ES" dirty="0"/>
              <a:t>Que hay un error de lógica en el proceso de cálculo.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s-ES" dirty="0"/>
              <a:t>Que no valida los datos ingresados al programa.</a:t>
            </a:r>
          </a:p>
          <a:p>
            <a:pPr marL="565150" indent="-514350">
              <a:lnSpc>
                <a:spcPct val="120000"/>
              </a:lnSpc>
              <a:buAutoNum type="alphaUcPeriod"/>
            </a:pPr>
            <a:endParaRPr lang="es-ES" dirty="0"/>
          </a:p>
          <a:p>
            <a:pPr marL="5080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C7C0E-00A9-5CC1-F39D-386912F6898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0C3A24-45DD-392B-F24B-18ED324DF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674" r="23777"/>
          <a:stretch/>
        </p:blipFill>
        <p:spPr>
          <a:xfrm>
            <a:off x="9137374" y="0"/>
            <a:ext cx="3054626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F8EAAC-AE8F-CB47-62D5-E09EAD7B3341}"/>
              </a:ext>
            </a:extLst>
          </p:cNvPr>
          <p:cNvSpPr txBox="1"/>
          <p:nvPr/>
        </p:nvSpPr>
        <p:spPr>
          <a:xfrm>
            <a:off x="715971" y="6499356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https://images.pond5.com/system-fail-warning-system-security-088295532_prevstill.jpeg</a:t>
            </a:r>
          </a:p>
        </p:txBody>
      </p:sp>
    </p:spTree>
    <p:extLst>
      <p:ext uri="{BB962C8B-B14F-4D97-AF65-F5344CB8AC3E}">
        <p14:creationId xmlns:p14="http://schemas.microsoft.com/office/powerpoint/2010/main" val="403913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0E45-851D-FF8A-A174-631F1F57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BE32FF-E263-C6D5-7146-1DAA1DE72C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19CF3-3F40-88C7-BF6A-C04EEA843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740851" cy="4782911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Crear la clase </a:t>
            </a:r>
            <a:r>
              <a:rPr lang="es-ES" b="1" dirty="0" err="1"/>
              <a:t>LectorDatos</a:t>
            </a:r>
            <a:r>
              <a:rPr lang="es-ES" dirty="0"/>
              <a:t> que se encargue de leer datos desde teclado.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La clase debe tener diversos métodos para leer números enteros y de coma flotante, caracteres y cadenas.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La clase debe manejar las excepciones de tal forma que muestre los mensajes respectivos ante entradas no válidas y no interrumpa le ejecución del programa.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Crear la clase </a:t>
            </a:r>
            <a:r>
              <a:rPr lang="es-ES" b="1" dirty="0" err="1"/>
              <a:t>PruebaLectorDatos</a:t>
            </a:r>
            <a:r>
              <a:rPr lang="es-ES" dirty="0"/>
              <a:t> y poner a prueba los métodos implementados.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DA514E-8E02-E373-089B-DEDBE6CDAE5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1C99EB-607E-D9A1-6ED6-390756625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850" y="0"/>
            <a:ext cx="3867150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316FCE-0981-8DE6-5F80-9EB91D99AC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803"/>
          <a:stretch/>
        </p:blipFill>
        <p:spPr>
          <a:xfrm>
            <a:off x="7550015" y="525738"/>
            <a:ext cx="4641985" cy="60131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1279CD-62DE-33DF-FF32-CB3CD1F346AA}"/>
              </a:ext>
            </a:extLst>
          </p:cNvPr>
          <p:cNvSpPr txBox="1"/>
          <p:nvPr/>
        </p:nvSpPr>
        <p:spPr>
          <a:xfrm>
            <a:off x="715971" y="6499356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https://www.pngmart.com/files/16/Gaming-Keyboard-PNG-Image.png</a:t>
            </a:r>
          </a:p>
        </p:txBody>
      </p:sp>
    </p:spTree>
    <p:extLst>
      <p:ext uri="{BB962C8B-B14F-4D97-AF65-F5344CB8AC3E}">
        <p14:creationId xmlns:p14="http://schemas.microsoft.com/office/powerpoint/2010/main" val="145081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36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¿Qué es una excepción?</a:t>
            </a:r>
          </a:p>
          <a:p>
            <a:r>
              <a:rPr lang="es-ES" dirty="0"/>
              <a:t>¿Porqué es conveniente manejar excepciones?</a:t>
            </a:r>
          </a:p>
          <a:p>
            <a:r>
              <a:rPr lang="es-ES" dirty="0"/>
              <a:t>¿Qué tipo de excepciones soporta Java?</a:t>
            </a:r>
          </a:p>
          <a:p>
            <a:r>
              <a:rPr lang="es-ES" dirty="0"/>
              <a:t>¿Para qué sirve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?</a:t>
            </a:r>
          </a:p>
          <a:p>
            <a:r>
              <a:rPr lang="es-ES" dirty="0"/>
              <a:t>Mencione y describa un error común en Java.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53688">
            <a:off x="9045180" y="520361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18766932">
            <a:off x="10190353" y="3708899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20834794">
            <a:off x="8024841" y="1384634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03698" flipH="1">
            <a:off x="8813671" y="1782067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8507</TotalTime>
  <Words>2971</Words>
  <Application>Microsoft Office PowerPoint</Application>
  <PresentationFormat>Panorámica</PresentationFormat>
  <Paragraphs>373</Paragraphs>
  <Slides>38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Manejo de excepciones (I)</vt:lpstr>
      <vt:lpstr>Conocimientos previos</vt:lpstr>
      <vt:lpstr>Logro de aprendizaje</vt:lpstr>
      <vt:lpstr>Utilidad</vt:lpstr>
      <vt:lpstr>Presentación de PowerPoint</vt:lpstr>
      <vt:lpstr>Presentación de PowerPoint</vt:lpstr>
      <vt:lpstr>¿Qué es una Excepción?</vt:lpstr>
      <vt:lpstr>¿Tienen alguna ventaja?... Sí</vt:lpstr>
      <vt:lpstr>¿Cómo se genera una excepción?</vt:lpstr>
      <vt:lpstr>Tipos de excepciones en Java</vt:lpstr>
      <vt:lpstr>Excepción verificada</vt:lpstr>
      <vt:lpstr>Excepción no verificada: Error.</vt:lpstr>
      <vt:lpstr>Excepción en tiempo de ejecución</vt:lpstr>
      <vt:lpstr>Presentación de PowerPoint</vt:lpstr>
      <vt:lpstr>try..catch..finally</vt:lpstr>
      <vt:lpstr>try</vt:lpstr>
      <vt:lpstr>catch</vt:lpstr>
      <vt:lpstr>finally</vt:lpstr>
      <vt:lpstr>try..catch..finally. Ejemplo.</vt:lpstr>
      <vt:lpstr>Presentación de PowerPoint</vt:lpstr>
      <vt:lpstr>Jerarquía de excepciones en Java</vt:lpstr>
      <vt:lpstr>Errores comunes en Java</vt:lpstr>
      <vt:lpstr>Runtime exceptions comunes en Java</vt:lpstr>
      <vt:lpstr>Checked exceptions comunes en Java</vt:lpstr>
      <vt:lpstr>Presentación de PowerPoint</vt:lpstr>
      <vt:lpstr>Cuestionario</vt:lpstr>
      <vt:lpstr>Cuestionario</vt:lpstr>
      <vt:lpstr>Cuestionario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14-Sesión 27</dc:title>
  <dc:creator>jorgerodcas@hotmail.com</dc:creator>
  <cp:lastModifiedBy>Juan Carlos García</cp:lastModifiedBy>
  <cp:revision>374</cp:revision>
  <dcterms:modified xsi:type="dcterms:W3CDTF">2023-10-23T16:05:32Z</dcterms:modified>
</cp:coreProperties>
</file>