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494" r:id="rId3"/>
    <p:sldId id="495" r:id="rId4"/>
    <p:sldId id="496" r:id="rId5"/>
    <p:sldId id="497" r:id="rId6"/>
    <p:sldId id="498" r:id="rId7"/>
    <p:sldId id="258" r:id="rId8"/>
    <p:sldId id="257" r:id="rId9"/>
    <p:sldId id="263" r:id="rId10"/>
    <p:sldId id="264" r:id="rId11"/>
    <p:sldId id="380" r:id="rId12"/>
    <p:sldId id="483" r:id="rId13"/>
    <p:sldId id="455" r:id="rId14"/>
    <p:sldId id="487" r:id="rId15"/>
    <p:sldId id="488" r:id="rId16"/>
    <p:sldId id="489" r:id="rId17"/>
    <p:sldId id="490" r:id="rId18"/>
    <p:sldId id="484" r:id="rId19"/>
    <p:sldId id="464" r:id="rId20"/>
    <p:sldId id="491" r:id="rId21"/>
    <p:sldId id="492" r:id="rId22"/>
    <p:sldId id="485" r:id="rId23"/>
    <p:sldId id="477" r:id="rId24"/>
    <p:sldId id="499" r:id="rId25"/>
    <p:sldId id="493" r:id="rId26"/>
    <p:sldId id="486" r:id="rId27"/>
    <p:sldId id="481" r:id="rId28"/>
    <p:sldId id="432" r:id="rId29"/>
    <p:sldId id="261" r:id="rId30"/>
    <p:sldId id="329" r:id="rId31"/>
    <p:sldId id="259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F3F3F3"/>
    <a:srgbClr val="42AFB6"/>
    <a:srgbClr val="CB1B4A"/>
    <a:srgbClr val="FCB6B8"/>
    <a:srgbClr val="697F9F"/>
    <a:srgbClr val="007A7D"/>
    <a:srgbClr val="F7F7F7"/>
    <a:srgbClr val="042F3E"/>
    <a:srgbClr val="074D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86620" autoAdjust="0"/>
  </p:normalViewPr>
  <p:slideViewPr>
    <p:cSldViewPr snapToGrid="0">
      <p:cViewPr varScale="1">
        <p:scale>
          <a:sx n="107" d="100"/>
          <a:sy n="107" d="100"/>
        </p:scale>
        <p:origin x="1061" y="9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Izquierda: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- Modificador de acceso o visibilidad privado.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Modificador de acceso o visibilidad protegido.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Modificador de acceso o visibilidad público.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lang="es-ES" dirty="0"/>
              <a:t>Derecha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Nombre de la clase.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Atributos.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Métodos.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641054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955777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114550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124324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Nota: si hay falta de tiempo, puede partirse del ejercicio desarrollado en la Sesión 09 (Semana 05) y convertirlo a OO.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949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j-lt"/>
              </a:defRPr>
            </a:lvl1pPr>
            <a:lvl2pPr>
              <a:lnSpc>
                <a:spcPct val="100000"/>
              </a:lnSpc>
              <a:defRPr>
                <a:latin typeface="+mj-lt"/>
              </a:defRPr>
            </a:lvl2pPr>
            <a:lvl3pPr>
              <a:lnSpc>
                <a:spcPct val="100000"/>
              </a:lnSpc>
              <a:defRPr>
                <a:latin typeface="+mj-lt"/>
              </a:defRPr>
            </a:lvl3pPr>
            <a:lvl4pPr>
              <a:lnSpc>
                <a:spcPct val="100000"/>
              </a:lnSpc>
              <a:defRPr>
                <a:latin typeface="+mj-lt"/>
              </a:defRPr>
            </a:lvl4pPr>
            <a:lvl5pPr>
              <a:lnSpc>
                <a:spcPct val="10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93B58AB-61E5-74DD-6E7B-46BCE8945885}"/>
              </a:ext>
            </a:extLst>
          </p:cNvPr>
          <p:cNvSpPr txBox="1"/>
          <p:nvPr/>
        </p:nvSpPr>
        <p:spPr>
          <a:xfrm>
            <a:off x="106411" y="6266142"/>
            <a:ext cx="767238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https://static.vecteezy.com/system/resources/previews/009/876/396/original/realistic-magnifying-glass-clip-art-free-png.png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https://img.freepik.com/free-vector/stylish-hexagonal-line-pattern-background_1017-19742.jpg?auto=format&amp;h=200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E6344-B697-058D-6E68-8CC825C3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33" y="429863"/>
            <a:ext cx="10533668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1505-9DAD-B6D8-3186-CC5213994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FAB2C-7E56-BDC6-01C5-0BA21BE5E649}"/>
              </a:ext>
            </a:extLst>
          </p:cNvPr>
          <p:cNvSpPr txBox="1"/>
          <p:nvPr/>
        </p:nvSpPr>
        <p:spPr>
          <a:xfrm>
            <a:off x="7033968" y="30722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Tipos de métodos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A86D9C-B234-0554-586D-9AB7DCAB5EC2}"/>
              </a:ext>
            </a:extLst>
          </p:cNvPr>
          <p:cNvSpPr txBox="1"/>
          <p:nvPr/>
        </p:nvSpPr>
        <p:spPr>
          <a:xfrm>
            <a:off x="6448327" y="50211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Funciones vs procedimientos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2E00F9-A6B1-6757-965C-6C8301AE96D4}"/>
              </a:ext>
            </a:extLst>
          </p:cNvPr>
          <p:cNvSpPr txBox="1"/>
          <p:nvPr/>
        </p:nvSpPr>
        <p:spPr>
          <a:xfrm>
            <a:off x="4041744" y="50211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Parámetros y su utilidad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159299-36E1-37C2-F66A-DE8547D4AF57}"/>
              </a:ext>
            </a:extLst>
          </p:cNvPr>
          <p:cNvSpPr txBox="1"/>
          <p:nvPr/>
        </p:nvSpPr>
        <p:spPr>
          <a:xfrm>
            <a:off x="3244728" y="3169831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Paso de parámetros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DCF18058-440E-46B6-CB38-8DED65D4D3E3}"/>
              </a:ext>
            </a:extLst>
          </p:cNvPr>
          <p:cNvSpPr/>
          <p:nvPr/>
        </p:nvSpPr>
        <p:spPr>
          <a:xfrm>
            <a:off x="4955357" y="2606725"/>
            <a:ext cx="2281286" cy="2172653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  <a:ln w="762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2DE2EC2-49BA-CD73-682F-086C3971CD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20" t="7559" r="28420" b="10233"/>
          <a:stretch/>
        </p:blipFill>
        <p:spPr>
          <a:xfrm>
            <a:off x="4321874" y="129252"/>
            <a:ext cx="3530186" cy="67287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5D1F5C-697D-BFBB-FA9A-20071567187D}"/>
              </a:ext>
            </a:extLst>
          </p:cNvPr>
          <p:cNvSpPr txBox="1"/>
          <p:nvPr/>
        </p:nvSpPr>
        <p:spPr>
          <a:xfrm>
            <a:off x="4421171" y="1369294"/>
            <a:ext cx="33496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chemeClr val="tx1"/>
                </a:solidFill>
              </a:rPr>
              <a:t>¿Qué es un método?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25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E6344-B697-058D-6E68-8CC825C3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33" y="429863"/>
            <a:ext cx="10533668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1505-9DAD-B6D8-3186-CC5213994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D1F5C-697D-BFBB-FA9A-20071567187D}"/>
              </a:ext>
            </a:extLst>
          </p:cNvPr>
          <p:cNvSpPr txBox="1"/>
          <p:nvPr/>
        </p:nvSpPr>
        <p:spPr>
          <a:xfrm>
            <a:off x="5307684" y="1953758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¿Qué es un método?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A86D9C-B234-0554-586D-9AB7DCAB5EC2}"/>
              </a:ext>
            </a:extLst>
          </p:cNvPr>
          <p:cNvSpPr txBox="1"/>
          <p:nvPr/>
        </p:nvSpPr>
        <p:spPr>
          <a:xfrm>
            <a:off x="6448327" y="50211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Funciones vs procedimientos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2E00F9-A6B1-6757-965C-6C8301AE96D4}"/>
              </a:ext>
            </a:extLst>
          </p:cNvPr>
          <p:cNvSpPr txBox="1"/>
          <p:nvPr/>
        </p:nvSpPr>
        <p:spPr>
          <a:xfrm>
            <a:off x="4041744" y="50211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Parámetros y su utilidad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159299-36E1-37C2-F66A-DE8547D4AF57}"/>
              </a:ext>
            </a:extLst>
          </p:cNvPr>
          <p:cNvSpPr txBox="1"/>
          <p:nvPr/>
        </p:nvSpPr>
        <p:spPr>
          <a:xfrm>
            <a:off x="3244728" y="3169831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Paso de parámetros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DCF18058-440E-46B6-CB38-8DED65D4D3E3}"/>
              </a:ext>
            </a:extLst>
          </p:cNvPr>
          <p:cNvSpPr/>
          <p:nvPr/>
        </p:nvSpPr>
        <p:spPr>
          <a:xfrm>
            <a:off x="4955357" y="2606725"/>
            <a:ext cx="2281286" cy="2172653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  <a:ln w="762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icon&#10;&#10;Description automatically generated">
            <a:extLst>
              <a:ext uri="{FF2B5EF4-FFF2-40B4-BE49-F238E27FC236}">
                <a16:creationId xmlns:a16="http://schemas.microsoft.com/office/drawing/2014/main" id="{06C45EFF-CB5D-4220-31EB-90A2FC2879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2445"/>
          <a:stretch/>
        </p:blipFill>
        <p:spPr>
          <a:xfrm>
            <a:off x="6467559" y="1553177"/>
            <a:ext cx="6058849" cy="530482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BCFAB2C-7E56-BDC6-01C5-0BA21BE5E649}"/>
              </a:ext>
            </a:extLst>
          </p:cNvPr>
          <p:cNvSpPr txBox="1"/>
          <p:nvPr/>
        </p:nvSpPr>
        <p:spPr>
          <a:xfrm>
            <a:off x="7128237" y="2855440"/>
            <a:ext cx="22812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chemeClr val="tx1"/>
                </a:solidFill>
              </a:rPr>
              <a:t>Tipos de métodos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B27A2-02BF-D25D-9C2D-A3BD06015392}"/>
              </a:ext>
            </a:extLst>
          </p:cNvPr>
          <p:cNvSpPr txBox="1"/>
          <p:nvPr/>
        </p:nvSpPr>
        <p:spPr>
          <a:xfrm>
            <a:off x="106411" y="6266142"/>
            <a:ext cx="767238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https://static.vecteezy.com/system/resources/previews/009/876/396/original/realistic-magnifying-glass-clip-art-free-png.png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https://img.freepik.com/free-vector/stylish-hexagonal-line-pattern-background_1017-19742.jpg?auto=format&amp;h=200</a:t>
            </a:r>
          </a:p>
        </p:txBody>
      </p:sp>
    </p:spTree>
    <p:extLst>
      <p:ext uri="{BB962C8B-B14F-4D97-AF65-F5344CB8AC3E}">
        <p14:creationId xmlns:p14="http://schemas.microsoft.com/office/powerpoint/2010/main" val="188668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8DFB20-CF26-BB00-0DCE-E3631C0CDE83}"/>
              </a:ext>
            </a:extLst>
          </p:cNvPr>
          <p:cNvSpPr txBox="1"/>
          <p:nvPr/>
        </p:nvSpPr>
        <p:spPr>
          <a:xfrm>
            <a:off x="106411" y="6266142"/>
            <a:ext cx="767238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https://static.vecteezy.com/system/resources/previews/009/876/396/original/realistic-magnifying-glass-clip-art-free-png.png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https://img.freepik.com/free-vector/stylish-hexagonal-line-pattern-background_1017-19742.jpg?auto=format&amp;h=200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E6344-B697-058D-6E68-8CC825C3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33" y="429863"/>
            <a:ext cx="10533668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1505-9DAD-B6D8-3186-CC5213994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D1F5C-697D-BFBB-FA9A-20071567187D}"/>
              </a:ext>
            </a:extLst>
          </p:cNvPr>
          <p:cNvSpPr txBox="1"/>
          <p:nvPr/>
        </p:nvSpPr>
        <p:spPr>
          <a:xfrm>
            <a:off x="5307684" y="1953758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¿Qué es un método?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FAB2C-7E56-BDC6-01C5-0BA21BE5E649}"/>
              </a:ext>
            </a:extLst>
          </p:cNvPr>
          <p:cNvSpPr txBox="1"/>
          <p:nvPr/>
        </p:nvSpPr>
        <p:spPr>
          <a:xfrm>
            <a:off x="7033968" y="30722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Tipos de métodos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2E00F9-A6B1-6757-965C-6C8301AE96D4}"/>
              </a:ext>
            </a:extLst>
          </p:cNvPr>
          <p:cNvSpPr txBox="1"/>
          <p:nvPr/>
        </p:nvSpPr>
        <p:spPr>
          <a:xfrm>
            <a:off x="4041744" y="50211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Parámetros y su utilidad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159299-36E1-37C2-F66A-DE8547D4AF57}"/>
              </a:ext>
            </a:extLst>
          </p:cNvPr>
          <p:cNvSpPr txBox="1"/>
          <p:nvPr/>
        </p:nvSpPr>
        <p:spPr>
          <a:xfrm>
            <a:off x="3244728" y="3169831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Paso de parámetros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DCF18058-440E-46B6-CB38-8DED65D4D3E3}"/>
              </a:ext>
            </a:extLst>
          </p:cNvPr>
          <p:cNvSpPr/>
          <p:nvPr/>
        </p:nvSpPr>
        <p:spPr>
          <a:xfrm>
            <a:off x="4955357" y="2606725"/>
            <a:ext cx="2281286" cy="2172653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  <a:ln w="762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EC279-BC5A-B5BC-2A26-1C1C2393C3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155" r="12055" b="28135"/>
          <a:stretch/>
        </p:blipFill>
        <p:spPr>
          <a:xfrm>
            <a:off x="4871520" y="2429943"/>
            <a:ext cx="7320480" cy="44280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0A86D9C-B234-0554-586D-9AB7DCAB5EC2}"/>
              </a:ext>
            </a:extLst>
          </p:cNvPr>
          <p:cNvSpPr txBox="1"/>
          <p:nvPr/>
        </p:nvSpPr>
        <p:spPr>
          <a:xfrm>
            <a:off x="5722579" y="5021157"/>
            <a:ext cx="331093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400" dirty="0">
                <a:solidFill>
                  <a:schemeClr val="tx1"/>
                </a:solidFill>
              </a:rPr>
              <a:t>Funciones vs procedimientos</a:t>
            </a:r>
            <a:endParaRPr lang="en-US" sz="3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62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F7ED77-6901-6F79-A80E-5DE7923769F7}"/>
              </a:ext>
            </a:extLst>
          </p:cNvPr>
          <p:cNvSpPr txBox="1"/>
          <p:nvPr/>
        </p:nvSpPr>
        <p:spPr>
          <a:xfrm>
            <a:off x="106411" y="6266142"/>
            <a:ext cx="767238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https://static.vecteezy.com/system/resources/previews/009/876/396/original/realistic-magnifying-glass-clip-art-free-png.png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https://img.freepik.com/free-vector/stylish-hexagonal-line-pattern-background_1017-19742.jpg?auto=format&amp;h=200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E6344-B697-058D-6E68-8CC825C3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33" y="429863"/>
            <a:ext cx="10533668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1505-9DAD-B6D8-3186-CC5213994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D1F5C-697D-BFBB-FA9A-20071567187D}"/>
              </a:ext>
            </a:extLst>
          </p:cNvPr>
          <p:cNvSpPr txBox="1"/>
          <p:nvPr/>
        </p:nvSpPr>
        <p:spPr>
          <a:xfrm>
            <a:off x="5307684" y="1953758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¿Qué es un método?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FAB2C-7E56-BDC6-01C5-0BA21BE5E649}"/>
              </a:ext>
            </a:extLst>
          </p:cNvPr>
          <p:cNvSpPr txBox="1"/>
          <p:nvPr/>
        </p:nvSpPr>
        <p:spPr>
          <a:xfrm>
            <a:off x="7033968" y="30722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Tipos de métodos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A86D9C-B234-0554-586D-9AB7DCAB5EC2}"/>
              </a:ext>
            </a:extLst>
          </p:cNvPr>
          <p:cNvSpPr txBox="1"/>
          <p:nvPr/>
        </p:nvSpPr>
        <p:spPr>
          <a:xfrm>
            <a:off x="6448327" y="50211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Funciones vs procedimientos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159299-36E1-37C2-F66A-DE8547D4AF57}"/>
              </a:ext>
            </a:extLst>
          </p:cNvPr>
          <p:cNvSpPr txBox="1"/>
          <p:nvPr/>
        </p:nvSpPr>
        <p:spPr>
          <a:xfrm>
            <a:off x="3244728" y="3169831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Paso de parámetros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DCF18058-440E-46B6-CB38-8DED65D4D3E3}"/>
              </a:ext>
            </a:extLst>
          </p:cNvPr>
          <p:cNvSpPr/>
          <p:nvPr/>
        </p:nvSpPr>
        <p:spPr>
          <a:xfrm>
            <a:off x="4955357" y="2606725"/>
            <a:ext cx="2281286" cy="2172653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  <a:ln w="762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CD68AC-D089-9A4B-5073-7C913662CA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70" b="22803"/>
          <a:stretch/>
        </p:blipFill>
        <p:spPr>
          <a:xfrm>
            <a:off x="0" y="957993"/>
            <a:ext cx="6628616" cy="59000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E2E00F9-A6B1-6757-965C-6C8301AE96D4}"/>
              </a:ext>
            </a:extLst>
          </p:cNvPr>
          <p:cNvSpPr txBox="1"/>
          <p:nvPr/>
        </p:nvSpPr>
        <p:spPr>
          <a:xfrm>
            <a:off x="3052898" y="4924649"/>
            <a:ext cx="26277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chemeClr val="tx1"/>
                </a:solidFill>
              </a:rPr>
              <a:t>Parámetros y su utilidad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77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A9A955-9A22-D2B5-C150-1007FA0FC161}"/>
              </a:ext>
            </a:extLst>
          </p:cNvPr>
          <p:cNvSpPr txBox="1"/>
          <p:nvPr/>
        </p:nvSpPr>
        <p:spPr>
          <a:xfrm>
            <a:off x="106411" y="6266142"/>
            <a:ext cx="767238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https://static.vecteezy.com/system/resources/previews/009/876/396/original/realistic-magnifying-glass-clip-art-free-png.png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https://img.freepik.com/free-vector/stylish-hexagonal-line-pattern-background_1017-19742.jpg?auto=format&amp;h=200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E6344-B697-058D-6E68-8CC825C3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33" y="429863"/>
            <a:ext cx="10533668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1505-9DAD-B6D8-3186-CC5213994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D1F5C-697D-BFBB-FA9A-20071567187D}"/>
              </a:ext>
            </a:extLst>
          </p:cNvPr>
          <p:cNvSpPr txBox="1"/>
          <p:nvPr/>
        </p:nvSpPr>
        <p:spPr>
          <a:xfrm>
            <a:off x="5307684" y="1953758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¿Qué es un método?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FAB2C-7E56-BDC6-01C5-0BA21BE5E649}"/>
              </a:ext>
            </a:extLst>
          </p:cNvPr>
          <p:cNvSpPr txBox="1"/>
          <p:nvPr/>
        </p:nvSpPr>
        <p:spPr>
          <a:xfrm>
            <a:off x="7033968" y="30722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Tipos de métodos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A86D9C-B234-0554-586D-9AB7DCAB5EC2}"/>
              </a:ext>
            </a:extLst>
          </p:cNvPr>
          <p:cNvSpPr txBox="1"/>
          <p:nvPr/>
        </p:nvSpPr>
        <p:spPr>
          <a:xfrm>
            <a:off x="6448327" y="50211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Funciones vs procedimientos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2E00F9-A6B1-6757-965C-6C8301AE96D4}"/>
              </a:ext>
            </a:extLst>
          </p:cNvPr>
          <p:cNvSpPr txBox="1"/>
          <p:nvPr/>
        </p:nvSpPr>
        <p:spPr>
          <a:xfrm>
            <a:off x="4041744" y="5021157"/>
            <a:ext cx="1576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Parámetros y su utilidad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DCF18058-440E-46B6-CB38-8DED65D4D3E3}"/>
              </a:ext>
            </a:extLst>
          </p:cNvPr>
          <p:cNvSpPr/>
          <p:nvPr/>
        </p:nvSpPr>
        <p:spPr>
          <a:xfrm>
            <a:off x="4955357" y="2606725"/>
            <a:ext cx="2281286" cy="2172653"/>
          </a:xfrm>
          <a:prstGeom prst="pentagon">
            <a:avLst/>
          </a:prstGeom>
          <a:solidFill>
            <a:schemeClr val="accent3">
              <a:lumMod val="20000"/>
              <a:lumOff val="80000"/>
            </a:schemeClr>
          </a:solidFill>
          <a:ln w="762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icon&#10;&#10;Description automatically generated">
            <a:extLst>
              <a:ext uri="{FF2B5EF4-FFF2-40B4-BE49-F238E27FC236}">
                <a16:creationId xmlns:a16="http://schemas.microsoft.com/office/drawing/2014/main" id="{06C45EFF-CB5D-4220-31EB-90A2FC2879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115" b="13223"/>
          <a:stretch/>
        </p:blipFill>
        <p:spPr>
          <a:xfrm flipH="1">
            <a:off x="-1" y="1600313"/>
            <a:ext cx="5446002" cy="525768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159299-36E1-37C2-F66A-DE8547D4AF57}"/>
              </a:ext>
            </a:extLst>
          </p:cNvPr>
          <p:cNvSpPr txBox="1"/>
          <p:nvPr/>
        </p:nvSpPr>
        <p:spPr>
          <a:xfrm>
            <a:off x="1779425" y="2858211"/>
            <a:ext cx="38805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dirty="0">
                <a:solidFill>
                  <a:schemeClr val="tx1"/>
                </a:solidFill>
              </a:rPr>
              <a:t>Paso de parámetros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883580"/>
            <a:ext cx="7364361" cy="2227062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sz="4800" dirty="0">
                <a:latin typeface="Helvetica"/>
              </a:rPr>
              <a:t>POO: </a:t>
            </a:r>
            <a:br>
              <a:rPr lang="es-ES" sz="4800" dirty="0">
                <a:latin typeface="Helvetica"/>
              </a:rPr>
            </a:br>
            <a:r>
              <a:rPr lang="es-ES" sz="4800" dirty="0">
                <a:latin typeface="Helvetica"/>
              </a:rPr>
              <a:t>Métodos (II)</a:t>
            </a:r>
            <a:endParaRPr lang="en-US" sz="4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3425816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15913"/>
            <a:ext cx="2949677" cy="6667564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68D32137-F4CE-45F3-BDA8-A94E718233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79" y="429863"/>
            <a:ext cx="10552522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1279" y="1436914"/>
            <a:ext cx="10552521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Indica y describe cada una de las partes de un método en Java, de acuerdo a la sintaxis mostrada.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CE3939-1315-2DCA-35B6-A7D38C88F961}"/>
              </a:ext>
            </a:extLst>
          </p:cNvPr>
          <p:cNvGrpSpPr/>
          <p:nvPr/>
        </p:nvGrpSpPr>
        <p:grpSpPr>
          <a:xfrm>
            <a:off x="2253006" y="2771480"/>
            <a:ext cx="7685988" cy="3629114"/>
            <a:chOff x="2312709" y="2040534"/>
            <a:chExt cx="7685988" cy="362911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FF3DB0F-2731-5DDB-E8D8-0C22D3B19152}"/>
                </a:ext>
              </a:extLst>
            </p:cNvPr>
            <p:cNvSpPr/>
            <p:nvPr/>
          </p:nvSpPr>
          <p:spPr>
            <a:xfrm>
              <a:off x="2312709" y="2040534"/>
              <a:ext cx="7685988" cy="3629114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AE11146-2780-014E-06DE-248DF18AE0BE}"/>
                </a:ext>
              </a:extLst>
            </p:cNvPr>
            <p:cNvSpPr txBox="1"/>
            <p:nvPr/>
          </p:nvSpPr>
          <p:spPr>
            <a:xfrm>
              <a:off x="2516826" y="2921552"/>
              <a:ext cx="7267074" cy="1836540"/>
            </a:xfrm>
            <a:prstGeom prst="roundRect">
              <a:avLst>
                <a:gd name="adj" fmla="val 6617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lIns="216000" tIns="144000" bIns="144000" rtlCol="0">
              <a:spAutoFit/>
            </a:bodyPr>
            <a:lstStyle/>
            <a:p>
              <a:r>
                <a:rPr lang="es-ES" sz="2400" dirty="0">
                  <a:solidFill>
                    <a:srgbClr val="00B0F0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tipo-retorno</a:t>
              </a:r>
              <a:r>
                <a:rPr lang="es-ES" sz="2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s-ES" sz="2400" dirty="0">
                  <a:solidFill>
                    <a:srgbClr val="92D050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nombre</a:t>
              </a:r>
              <a:r>
                <a:rPr lang="es-ES" sz="2400" dirty="0">
                  <a:solidFill>
                    <a:schemeClr val="bg1">
                      <a:lumMod val="8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</a:t>
              </a:r>
              <a:r>
                <a:rPr lang="es-ES" sz="2400" dirty="0">
                  <a:solidFill>
                    <a:schemeClr val="accent2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lista-parámetros</a:t>
              </a:r>
              <a:r>
                <a:rPr lang="es-ES" sz="2400" dirty="0">
                  <a:solidFill>
                    <a:schemeClr val="bg1">
                      <a:lumMod val="8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</a:t>
              </a:r>
              <a:r>
                <a:rPr lang="es-ES" sz="2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s-ES" sz="2400" dirty="0">
                  <a:solidFill>
                    <a:schemeClr val="accent4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{</a:t>
              </a:r>
            </a:p>
            <a:p>
              <a:r>
                <a:rPr lang="es-ES" sz="24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</a:t>
              </a:r>
              <a:r>
                <a:rPr lang="es-ES" sz="2400" dirty="0">
                  <a:solidFill>
                    <a:schemeClr val="bg1">
                      <a:lumMod val="6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// cuerpo del método</a:t>
              </a:r>
            </a:p>
            <a:p>
              <a:r>
                <a:rPr lang="es-ES" sz="2400" dirty="0">
                  <a:solidFill>
                    <a:schemeClr val="accent4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</a:t>
              </a:r>
              <a:endParaRPr lang="en-US" sz="2400" dirty="0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A2B5CCA-AF71-62A6-12B4-833CD0D590C8}"/>
                </a:ext>
              </a:extLst>
            </p:cNvPr>
            <p:cNvSpPr/>
            <p:nvPr/>
          </p:nvSpPr>
          <p:spPr>
            <a:xfrm>
              <a:off x="4763634" y="2465219"/>
              <a:ext cx="470591" cy="638875"/>
            </a:xfrm>
            <a:custGeom>
              <a:avLst/>
              <a:gdLst>
                <a:gd name="connsiteX0" fmla="*/ 0 w 154005"/>
                <a:gd name="connsiteY0" fmla="*/ 0 h 1135781"/>
                <a:gd name="connsiteX1" fmla="*/ 154005 w 154005"/>
                <a:gd name="connsiteY1" fmla="*/ 1135781 h 1135781"/>
                <a:gd name="connsiteX0" fmla="*/ 0 w 270304"/>
                <a:gd name="connsiteY0" fmla="*/ 0 h 1135781"/>
                <a:gd name="connsiteX1" fmla="*/ 154005 w 270304"/>
                <a:gd name="connsiteY1" fmla="*/ 1135781 h 1135781"/>
                <a:gd name="connsiteX0" fmla="*/ 0 w 441679"/>
                <a:gd name="connsiteY0" fmla="*/ 7931 h 1143712"/>
                <a:gd name="connsiteX1" fmla="*/ 154005 w 441679"/>
                <a:gd name="connsiteY1" fmla="*/ 1143712 h 1143712"/>
                <a:gd name="connsiteX0" fmla="*/ 0 w 470591"/>
                <a:gd name="connsiteY0" fmla="*/ 5927 h 1141708"/>
                <a:gd name="connsiteX1" fmla="*/ 154005 w 470591"/>
                <a:gd name="connsiteY1" fmla="*/ 1141708 h 1141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591" h="1141708">
                  <a:moveTo>
                    <a:pt x="0" y="5927"/>
                  </a:moveTo>
                  <a:cubicBezTo>
                    <a:pt x="657727" y="-67867"/>
                    <a:pt x="545432" y="560984"/>
                    <a:pt x="154005" y="1141708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8ED40E3-DAE7-1F1E-F1D3-352B60BCE476}"/>
                </a:ext>
              </a:extLst>
            </p:cNvPr>
            <p:cNvSpPr/>
            <p:nvPr/>
          </p:nvSpPr>
          <p:spPr>
            <a:xfrm flipH="1">
              <a:off x="5812362" y="2464740"/>
              <a:ext cx="1734660" cy="637681"/>
            </a:xfrm>
            <a:custGeom>
              <a:avLst/>
              <a:gdLst>
                <a:gd name="connsiteX0" fmla="*/ 0 w 154005"/>
                <a:gd name="connsiteY0" fmla="*/ 0 h 1135781"/>
                <a:gd name="connsiteX1" fmla="*/ 154005 w 154005"/>
                <a:gd name="connsiteY1" fmla="*/ 1135781 h 1135781"/>
                <a:gd name="connsiteX0" fmla="*/ 0 w 270304"/>
                <a:gd name="connsiteY0" fmla="*/ 0 h 1135781"/>
                <a:gd name="connsiteX1" fmla="*/ 154005 w 270304"/>
                <a:gd name="connsiteY1" fmla="*/ 1135781 h 1135781"/>
                <a:gd name="connsiteX0" fmla="*/ 0 w 441679"/>
                <a:gd name="connsiteY0" fmla="*/ 7931 h 1143712"/>
                <a:gd name="connsiteX1" fmla="*/ 154005 w 441679"/>
                <a:gd name="connsiteY1" fmla="*/ 1143712 h 1143712"/>
                <a:gd name="connsiteX0" fmla="*/ 0 w 470591"/>
                <a:gd name="connsiteY0" fmla="*/ 5927 h 1141708"/>
                <a:gd name="connsiteX1" fmla="*/ 154005 w 470591"/>
                <a:gd name="connsiteY1" fmla="*/ 1141708 h 1141708"/>
                <a:gd name="connsiteX0" fmla="*/ 0 w 1285976"/>
                <a:gd name="connsiteY0" fmla="*/ 5545 h 1189453"/>
                <a:gd name="connsiteX1" fmla="*/ 1192729 w 1285976"/>
                <a:gd name="connsiteY1" fmla="*/ 1189453 h 1189453"/>
                <a:gd name="connsiteX0" fmla="*/ 0 w 1192728"/>
                <a:gd name="connsiteY0" fmla="*/ 9364 h 1193272"/>
                <a:gd name="connsiteX1" fmla="*/ 1192729 w 1192728"/>
                <a:gd name="connsiteY1" fmla="*/ 1193272 h 1193272"/>
                <a:gd name="connsiteX0" fmla="*/ 0 w 1192729"/>
                <a:gd name="connsiteY0" fmla="*/ 0 h 1183908"/>
                <a:gd name="connsiteX1" fmla="*/ 1192729 w 1192729"/>
                <a:gd name="connsiteY1" fmla="*/ 1183908 h 1183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2729" h="1183908">
                  <a:moveTo>
                    <a:pt x="0" y="0"/>
                  </a:moveTo>
                  <a:cubicBezTo>
                    <a:pt x="657727" y="118711"/>
                    <a:pt x="920230" y="285551"/>
                    <a:pt x="1192729" y="1183908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FDFC3C2-81D3-1459-31A0-B5AEEFB72828}"/>
                </a:ext>
              </a:extLst>
            </p:cNvPr>
            <p:cNvSpPr/>
            <p:nvPr/>
          </p:nvSpPr>
          <p:spPr>
            <a:xfrm flipH="1">
              <a:off x="7719854" y="3469986"/>
              <a:ext cx="273323" cy="1440997"/>
            </a:xfrm>
            <a:custGeom>
              <a:avLst/>
              <a:gdLst>
                <a:gd name="connsiteX0" fmla="*/ 0 w 154005"/>
                <a:gd name="connsiteY0" fmla="*/ 0 h 1135781"/>
                <a:gd name="connsiteX1" fmla="*/ 154005 w 154005"/>
                <a:gd name="connsiteY1" fmla="*/ 1135781 h 1135781"/>
                <a:gd name="connsiteX0" fmla="*/ 0 w 270304"/>
                <a:gd name="connsiteY0" fmla="*/ 0 h 1135781"/>
                <a:gd name="connsiteX1" fmla="*/ 154005 w 270304"/>
                <a:gd name="connsiteY1" fmla="*/ 1135781 h 1135781"/>
                <a:gd name="connsiteX0" fmla="*/ 0 w 441679"/>
                <a:gd name="connsiteY0" fmla="*/ 7931 h 1143712"/>
                <a:gd name="connsiteX1" fmla="*/ 154005 w 441679"/>
                <a:gd name="connsiteY1" fmla="*/ 1143712 h 1143712"/>
                <a:gd name="connsiteX0" fmla="*/ 0 w 470591"/>
                <a:gd name="connsiteY0" fmla="*/ 5927 h 1141708"/>
                <a:gd name="connsiteX1" fmla="*/ 154005 w 470591"/>
                <a:gd name="connsiteY1" fmla="*/ 1141708 h 1141708"/>
                <a:gd name="connsiteX0" fmla="*/ 0 w 1285976"/>
                <a:gd name="connsiteY0" fmla="*/ 5545 h 1189453"/>
                <a:gd name="connsiteX1" fmla="*/ 1192729 w 1285976"/>
                <a:gd name="connsiteY1" fmla="*/ 1189453 h 1189453"/>
                <a:gd name="connsiteX0" fmla="*/ 0 w 1192728"/>
                <a:gd name="connsiteY0" fmla="*/ 9364 h 1193272"/>
                <a:gd name="connsiteX1" fmla="*/ 1192729 w 1192728"/>
                <a:gd name="connsiteY1" fmla="*/ 1193272 h 1193272"/>
                <a:gd name="connsiteX0" fmla="*/ 0 w 1192729"/>
                <a:gd name="connsiteY0" fmla="*/ 0 h 1183908"/>
                <a:gd name="connsiteX1" fmla="*/ 1192729 w 1192729"/>
                <a:gd name="connsiteY1" fmla="*/ 1183908 h 1183908"/>
                <a:gd name="connsiteX0" fmla="*/ 0 w 303466"/>
                <a:gd name="connsiteY0" fmla="*/ 1506930 h 1511355"/>
                <a:gd name="connsiteX1" fmla="*/ 271799 w 303466"/>
                <a:gd name="connsiteY1" fmla="*/ 207520 h 1511355"/>
                <a:gd name="connsiteX0" fmla="*/ 95288 w 367087"/>
                <a:gd name="connsiteY0" fmla="*/ 1299410 h 1307898"/>
                <a:gd name="connsiteX1" fmla="*/ 367087 w 367087"/>
                <a:gd name="connsiteY1" fmla="*/ 0 h 1307898"/>
                <a:gd name="connsiteX0" fmla="*/ 215313 w 487112"/>
                <a:gd name="connsiteY0" fmla="*/ 1299410 h 1299410"/>
                <a:gd name="connsiteX1" fmla="*/ 487112 w 487112"/>
                <a:gd name="connsiteY1" fmla="*/ 0 h 1299410"/>
                <a:gd name="connsiteX0" fmla="*/ 71877 w 343676"/>
                <a:gd name="connsiteY0" fmla="*/ 1299410 h 1299410"/>
                <a:gd name="connsiteX1" fmla="*/ 343676 w 343676"/>
                <a:gd name="connsiteY1" fmla="*/ 0 h 1299410"/>
                <a:gd name="connsiteX0" fmla="*/ 150077 w 304083"/>
                <a:gd name="connsiteY0" fmla="*/ 1376412 h 1376412"/>
                <a:gd name="connsiteX1" fmla="*/ 304082 w 304083"/>
                <a:gd name="connsiteY1" fmla="*/ 0 h 1376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4083" h="1376412">
                  <a:moveTo>
                    <a:pt x="150077" y="1376412"/>
                  </a:moveTo>
                  <a:cubicBezTo>
                    <a:pt x="261671" y="869481"/>
                    <a:pt x="-343215" y="535807"/>
                    <a:pt x="304082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65963C9-1BEE-2535-1CC2-1A00B38D1FA0}"/>
                </a:ext>
              </a:extLst>
            </p:cNvPr>
            <p:cNvSpPr/>
            <p:nvPr/>
          </p:nvSpPr>
          <p:spPr>
            <a:xfrm flipH="1">
              <a:off x="3558661" y="4295728"/>
              <a:ext cx="639409" cy="580795"/>
            </a:xfrm>
            <a:custGeom>
              <a:avLst/>
              <a:gdLst>
                <a:gd name="connsiteX0" fmla="*/ 0 w 154005"/>
                <a:gd name="connsiteY0" fmla="*/ 0 h 1135781"/>
                <a:gd name="connsiteX1" fmla="*/ 154005 w 154005"/>
                <a:gd name="connsiteY1" fmla="*/ 1135781 h 1135781"/>
                <a:gd name="connsiteX0" fmla="*/ 0 w 270304"/>
                <a:gd name="connsiteY0" fmla="*/ 0 h 1135781"/>
                <a:gd name="connsiteX1" fmla="*/ 154005 w 270304"/>
                <a:gd name="connsiteY1" fmla="*/ 1135781 h 1135781"/>
                <a:gd name="connsiteX0" fmla="*/ 0 w 441679"/>
                <a:gd name="connsiteY0" fmla="*/ 7931 h 1143712"/>
                <a:gd name="connsiteX1" fmla="*/ 154005 w 441679"/>
                <a:gd name="connsiteY1" fmla="*/ 1143712 h 1143712"/>
                <a:gd name="connsiteX0" fmla="*/ 0 w 470591"/>
                <a:gd name="connsiteY0" fmla="*/ 5927 h 1141708"/>
                <a:gd name="connsiteX1" fmla="*/ 154005 w 470591"/>
                <a:gd name="connsiteY1" fmla="*/ 1141708 h 1141708"/>
                <a:gd name="connsiteX0" fmla="*/ 0 w 1285976"/>
                <a:gd name="connsiteY0" fmla="*/ 5545 h 1189453"/>
                <a:gd name="connsiteX1" fmla="*/ 1192729 w 1285976"/>
                <a:gd name="connsiteY1" fmla="*/ 1189453 h 1189453"/>
                <a:gd name="connsiteX0" fmla="*/ 0 w 1192728"/>
                <a:gd name="connsiteY0" fmla="*/ 9364 h 1193272"/>
                <a:gd name="connsiteX1" fmla="*/ 1192729 w 1192728"/>
                <a:gd name="connsiteY1" fmla="*/ 1193272 h 1193272"/>
                <a:gd name="connsiteX0" fmla="*/ 0 w 1192729"/>
                <a:gd name="connsiteY0" fmla="*/ 0 h 1183908"/>
                <a:gd name="connsiteX1" fmla="*/ 1192729 w 1192729"/>
                <a:gd name="connsiteY1" fmla="*/ 1183908 h 1183908"/>
                <a:gd name="connsiteX0" fmla="*/ 1463465 w 1579224"/>
                <a:gd name="connsiteY0" fmla="*/ 1293766 h 1298667"/>
                <a:gd name="connsiteX1" fmla="*/ 21908 w 1579224"/>
                <a:gd name="connsiteY1" fmla="*/ 225362 h 1298667"/>
                <a:gd name="connsiteX0" fmla="*/ 1441557 w 1572035"/>
                <a:gd name="connsiteY0" fmla="*/ 1068404 h 1090401"/>
                <a:gd name="connsiteX1" fmla="*/ 0 w 1572035"/>
                <a:gd name="connsiteY1" fmla="*/ 0 h 1090401"/>
                <a:gd name="connsiteX0" fmla="*/ 1441557 w 1441557"/>
                <a:gd name="connsiteY0" fmla="*/ 1068404 h 1068404"/>
                <a:gd name="connsiteX1" fmla="*/ 0 w 1441557"/>
                <a:gd name="connsiteY1" fmla="*/ 0 h 1068404"/>
                <a:gd name="connsiteX0" fmla="*/ 1463303 w 1463303"/>
                <a:gd name="connsiteY0" fmla="*/ 1068404 h 1068404"/>
                <a:gd name="connsiteX1" fmla="*/ 21746 w 1463303"/>
                <a:gd name="connsiteY1" fmla="*/ 0 h 1068404"/>
                <a:gd name="connsiteX0" fmla="*/ 1855630 w 1855630"/>
                <a:gd name="connsiteY0" fmla="*/ 1126155 h 1126155"/>
                <a:gd name="connsiteX1" fmla="*/ 17859 w 1855630"/>
                <a:gd name="connsiteY1" fmla="*/ 0 h 1126155"/>
                <a:gd name="connsiteX0" fmla="*/ 1859788 w 1859788"/>
                <a:gd name="connsiteY0" fmla="*/ 1126155 h 1126155"/>
                <a:gd name="connsiteX1" fmla="*/ 22017 w 1859788"/>
                <a:gd name="connsiteY1" fmla="*/ 0 h 1126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9788" h="1126155">
                  <a:moveTo>
                    <a:pt x="1859788" y="1126155"/>
                  </a:moveTo>
                  <a:cubicBezTo>
                    <a:pt x="1425248" y="426718"/>
                    <a:pt x="-207649" y="930443"/>
                    <a:pt x="22017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82C2A02-356D-D7CA-093F-08908B2620AB}"/>
                </a:ext>
              </a:extLst>
            </p:cNvPr>
            <p:cNvSpPr/>
            <p:nvPr/>
          </p:nvSpPr>
          <p:spPr>
            <a:xfrm>
              <a:off x="2516826" y="2230231"/>
              <a:ext cx="2138422" cy="53040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AAC5D41-5F06-8BE7-5132-CB303E01476A}"/>
                </a:ext>
              </a:extLst>
            </p:cNvPr>
            <p:cNvSpPr/>
            <p:nvPr/>
          </p:nvSpPr>
          <p:spPr>
            <a:xfrm>
              <a:off x="7653649" y="2230231"/>
              <a:ext cx="2138422" cy="53040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5942916-399D-0410-818A-83386311E365}"/>
                </a:ext>
              </a:extLst>
            </p:cNvPr>
            <p:cNvSpPr/>
            <p:nvPr/>
          </p:nvSpPr>
          <p:spPr>
            <a:xfrm>
              <a:off x="7653649" y="4953091"/>
              <a:ext cx="2138422" cy="53040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176D428-B6CB-2213-7E76-C0AA5D9C1E96}"/>
                </a:ext>
              </a:extLst>
            </p:cNvPr>
            <p:cNvSpPr/>
            <p:nvPr/>
          </p:nvSpPr>
          <p:spPr>
            <a:xfrm>
              <a:off x="2516826" y="4953091"/>
              <a:ext cx="2138422" cy="53040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desarrolla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programas con métodos de clase </a:t>
            </a:r>
            <a:r>
              <a:rPr lang="es-ES" dirty="0">
                <a:solidFill>
                  <a:srgbClr val="D3052C"/>
                </a:solidFill>
              </a:rPr>
              <a:t>mediante el uso de un IDE Java </a:t>
            </a:r>
            <a:r>
              <a:rPr lang="es-ES" dirty="0">
                <a:solidFill>
                  <a:srgbClr val="7030A0"/>
                </a:solidFill>
              </a:rPr>
              <a:t>para aplicar el paradigma de la Programación Orientada a Objetos.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60" y="1436915"/>
            <a:ext cx="6117754" cy="384186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muestra la imagen?​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tipo de documento es?​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estructura de datos podría servirnos para guardar la información de los productos?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¿Cómo te podría servir en tu futuro profesional aprender a elaborar Reportes HTML usando POO en Java?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363618"/>
            <a:ext cx="6117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Desarrollar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reportes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HTML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en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Java </a:t>
            </a:r>
            <a:r>
              <a:rPr lang="en-US" sz="2800" dirty="0" err="1">
                <a:latin typeface="Helvetica" pitchFamily="2" charset="0"/>
              </a:rPr>
              <a:t>utilizando</a:t>
            </a:r>
            <a:r>
              <a:rPr lang="en-US" sz="2800" dirty="0">
                <a:latin typeface="Helvetica" pitchFamily="2" charset="0"/>
              </a:rPr>
              <a:t> POO.</a:t>
            </a:r>
            <a:endParaRPr lang="es-ES" sz="2800" dirty="0">
              <a:latin typeface="Helvetica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F0443E-C4A8-9F09-8EFA-ED9BE2F17C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02" t="12665" r="16118"/>
          <a:stretch/>
        </p:blipFill>
        <p:spPr>
          <a:xfrm>
            <a:off x="6805914" y="1724987"/>
            <a:ext cx="5015061" cy="37753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Métodos de instancia y estáticos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Sobreescritura de métodos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Sobrecarga de métodos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Sobreescritura de métodos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Sobrecarga de métodos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7D530-DA7D-3ABD-32E1-58C197E8AC85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Métodos de instancia y estáticos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002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CEE3-5E02-6C39-711B-341B4B75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 método de instancia?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1F81F1-5A62-1178-BF7C-C0311CE5D1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66BC7-8AC3-AE70-47C2-46060552AF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5545943" cy="4782911"/>
          </a:xfrm>
        </p:spPr>
        <p:txBody>
          <a:bodyPr/>
          <a:lstStyle/>
          <a:p>
            <a:r>
              <a:rPr lang="es-ES" dirty="0">
                <a:latin typeface="+mj-lt"/>
              </a:rPr>
              <a:t>Es un método que puede ser </a:t>
            </a:r>
            <a:r>
              <a:rPr lang="es-ES" b="1" dirty="0">
                <a:latin typeface="+mj-lt"/>
              </a:rPr>
              <a:t>invocado solo desde un objeto</a:t>
            </a:r>
            <a:r>
              <a:rPr lang="es-ES" dirty="0">
                <a:latin typeface="+mj-lt"/>
              </a:rPr>
              <a:t> (instancia de una clase)</a:t>
            </a:r>
          </a:p>
          <a:p>
            <a:r>
              <a:rPr lang="es-ES" dirty="0">
                <a:latin typeface="+mj-lt"/>
              </a:rPr>
              <a:t>Son los métodos más comunes en POO.</a:t>
            </a:r>
          </a:p>
          <a:p>
            <a:endParaRPr lang="es-ES" dirty="0">
              <a:latin typeface="+mj-lt"/>
            </a:endParaRPr>
          </a:p>
          <a:p>
            <a:r>
              <a:rPr lang="es-ES" dirty="0">
                <a:latin typeface="+mj-lt"/>
              </a:rPr>
              <a:t>Sintaxis:</a:t>
            </a:r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9F705-7365-89BB-C95C-ADF94AC7331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Métodos de instancia y estáticos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3858B0-2A48-13FE-9BA0-70B64D37DA00}"/>
              </a:ext>
            </a:extLst>
          </p:cNvPr>
          <p:cNvSpPr/>
          <p:nvPr/>
        </p:nvSpPr>
        <p:spPr>
          <a:xfrm>
            <a:off x="1772239" y="5599525"/>
            <a:ext cx="4977353" cy="50029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err="1">
                <a:solidFill>
                  <a:srgbClr val="42AFB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objeto</a:t>
            </a:r>
            <a:r>
              <a:rPr lang="es-ES" sz="18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s-ES" sz="1800" dirty="0" err="1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Metodo</a:t>
            </a:r>
            <a:r>
              <a:rPr lang="es-ES" sz="1800" dirty="0">
                <a:solidFill>
                  <a:srgbClr val="FF6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ES" sz="1800" dirty="0">
                <a:solidFill>
                  <a:schemeClr val="accent4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lista-argumentos</a:t>
            </a:r>
            <a:r>
              <a:rPr lang="es-ES" sz="1800" dirty="0">
                <a:solidFill>
                  <a:srgbClr val="FF6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US" sz="1800" dirty="0">
              <a:solidFill>
                <a:srgbClr val="FF66F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1389B5-FA02-2BDD-7020-360207230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558" y="1754343"/>
            <a:ext cx="4363059" cy="387721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39A579-CA03-FACA-92BC-07FB5BFCD9ED}"/>
              </a:ext>
            </a:extLst>
          </p:cNvPr>
          <p:cNvSpPr/>
          <p:nvPr/>
        </p:nvSpPr>
        <p:spPr>
          <a:xfrm>
            <a:off x="7173798" y="4458878"/>
            <a:ext cx="4440819" cy="962209"/>
          </a:xfrm>
          <a:prstGeom prst="round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0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7A3A-CB33-697A-6B13-A9ACDC370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 de instancia.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2B9819-0F64-C67D-4EF9-6AD2A509AC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DFA06-5DCA-B394-A30E-00452F0AFF17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Métodos de instancia y estáticos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BDDC80A-86D9-FC9A-7BDB-83A0E1F25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740" y="1489105"/>
            <a:ext cx="5587871" cy="4939032"/>
          </a:xfrm>
          <a:prstGeom prst="roundRect">
            <a:avLst>
              <a:gd name="adj" fmla="val 2733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pc1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pc3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String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asignarNotas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pc1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pc2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pc3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A3CB7EB-6DA4-B4B9-D383-47E26160F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724" y="3958621"/>
            <a:ext cx="5381133" cy="1916099"/>
          </a:xfrm>
          <a:prstGeom prst="roundRect">
            <a:avLst>
              <a:gd name="adj" fmla="val 650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PruebaAlumno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notasAlumno1 = {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17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alumno1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“alex.png"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“Alex"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alumno1.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asignarNotas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(notasAlumno1);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43D9DF-A1D5-AB33-D456-3838CED835CD}"/>
              </a:ext>
            </a:extLst>
          </p:cNvPr>
          <p:cNvSpPr/>
          <p:nvPr/>
        </p:nvSpPr>
        <p:spPr>
          <a:xfrm>
            <a:off x="1734533" y="4534292"/>
            <a:ext cx="3629320" cy="1640265"/>
          </a:xfrm>
          <a:prstGeom prst="roundRect">
            <a:avLst>
              <a:gd name="adj" fmla="val 4023"/>
            </a:avLst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DF9932-66DC-E969-563D-EDFF43B3EB9B}"/>
              </a:ext>
            </a:extLst>
          </p:cNvPr>
          <p:cNvSpPr/>
          <p:nvPr/>
        </p:nvSpPr>
        <p:spPr>
          <a:xfrm>
            <a:off x="6973611" y="5063800"/>
            <a:ext cx="3141350" cy="284635"/>
          </a:xfrm>
          <a:prstGeom prst="roundRect">
            <a:avLst>
              <a:gd name="adj" fmla="val 4023"/>
            </a:avLst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170409-168F-700E-4236-992FC7B6DF15}"/>
              </a:ext>
            </a:extLst>
          </p:cNvPr>
          <p:cNvSpPr txBox="1"/>
          <p:nvPr/>
        </p:nvSpPr>
        <p:spPr>
          <a:xfrm>
            <a:off x="7865097" y="1965631"/>
            <a:ext cx="2941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Invocando al método </a:t>
            </a:r>
            <a:r>
              <a:rPr lang="es-ES" sz="1800" b="1" dirty="0" err="1">
                <a:solidFill>
                  <a:schemeClr val="bg1">
                    <a:lumMod val="50000"/>
                  </a:schemeClr>
                </a:solidFill>
              </a:rPr>
              <a:t>asignarNotas</a:t>
            </a:r>
            <a:r>
              <a:rPr lang="es-ES" sz="1800" b="1" dirty="0">
                <a:solidFill>
                  <a:schemeClr val="bg1">
                    <a:lumMod val="50000"/>
                  </a:schemeClr>
                </a:solidFill>
              </a:rPr>
              <a:t>()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 de la clase </a:t>
            </a:r>
            <a:r>
              <a:rPr lang="es-ES" sz="1800" b="1" dirty="0">
                <a:solidFill>
                  <a:schemeClr val="bg1">
                    <a:lumMod val="50000"/>
                  </a:schemeClr>
                </a:solidFill>
              </a:rPr>
              <a:t>Alumno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 a través del objeto (instancia) </a:t>
            </a:r>
            <a:r>
              <a:rPr lang="es-ES" sz="1800" b="1" dirty="0">
                <a:solidFill>
                  <a:schemeClr val="bg1">
                    <a:lumMod val="50000"/>
                  </a:schemeClr>
                </a:solidFill>
              </a:rPr>
              <a:t>alumno1</a:t>
            </a:r>
            <a:endParaRPr lang="en-US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30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85CA4-4CC4-96B7-44C3-37C6D3E1A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 método estático?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FF1B72-513F-9F64-30D4-95C4AF83E7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6B5E3-04C9-BFF8-D0EE-C8B036F4EE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5442248" cy="4782911"/>
          </a:xfrm>
        </p:spPr>
        <p:txBody>
          <a:bodyPr/>
          <a:lstStyle/>
          <a:p>
            <a:r>
              <a:rPr lang="es-ES" dirty="0"/>
              <a:t>Es un método que le pertenece a la clase cargada en memoria.</a:t>
            </a:r>
          </a:p>
          <a:p>
            <a:r>
              <a:rPr lang="es-ES" dirty="0"/>
              <a:t>No puede ser ejecutado a través de una instancia.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90098E-92AF-286F-FCD8-24D67404EB3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Métodos de instancia y estáticos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B3E13C-F57C-823B-B360-BBF4F1B96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116" y="1436914"/>
            <a:ext cx="4467225" cy="40767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5793F3-DC5F-0FD5-0690-0745BBB38AC5}"/>
              </a:ext>
            </a:extLst>
          </p:cNvPr>
          <p:cNvSpPr/>
          <p:nvPr/>
        </p:nvSpPr>
        <p:spPr>
          <a:xfrm>
            <a:off x="7230116" y="4930219"/>
            <a:ext cx="4384501" cy="490868"/>
          </a:xfrm>
          <a:prstGeom prst="round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ABA202-24CF-2BF1-E725-70B603EBDFD8}"/>
              </a:ext>
            </a:extLst>
          </p:cNvPr>
          <p:cNvGrpSpPr/>
          <p:nvPr/>
        </p:nvGrpSpPr>
        <p:grpSpPr>
          <a:xfrm>
            <a:off x="1791092" y="4298622"/>
            <a:ext cx="2216329" cy="2158900"/>
            <a:chOff x="1791092" y="4298622"/>
            <a:chExt cx="2216329" cy="21589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7AC89D-442F-FDB4-59C1-D7CF7B8581F8}"/>
                </a:ext>
              </a:extLst>
            </p:cNvPr>
            <p:cNvSpPr/>
            <p:nvPr/>
          </p:nvSpPr>
          <p:spPr>
            <a:xfrm>
              <a:off x="1791092" y="4298622"/>
              <a:ext cx="2216329" cy="49962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Se pueden usar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83C7E2-E9F4-BBE6-E676-E6D722C636CC}"/>
                </a:ext>
              </a:extLst>
            </p:cNvPr>
            <p:cNvSpPr/>
            <p:nvPr/>
          </p:nvSpPr>
          <p:spPr>
            <a:xfrm>
              <a:off x="1791092" y="4797175"/>
              <a:ext cx="2216329" cy="166034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s-ES" dirty="0"/>
                <a:t>Desde la clase cargada​.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s-ES" dirty="0"/>
                <a:t>Desde los métodos estáticos​.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s-ES" dirty="0"/>
                <a:t>Desde los métodos de instancia​.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91419B-C90E-BC40-9C2F-1F0E20D189A2}"/>
              </a:ext>
            </a:extLst>
          </p:cNvPr>
          <p:cNvGrpSpPr/>
          <p:nvPr/>
        </p:nvGrpSpPr>
        <p:grpSpPr>
          <a:xfrm>
            <a:off x="4429568" y="4298622"/>
            <a:ext cx="2216329" cy="2158900"/>
            <a:chOff x="4429568" y="4298622"/>
            <a:chExt cx="2216329" cy="21589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248A10B-1EFD-F80B-F328-B11A28E386B9}"/>
                </a:ext>
              </a:extLst>
            </p:cNvPr>
            <p:cNvSpPr/>
            <p:nvPr/>
          </p:nvSpPr>
          <p:spPr>
            <a:xfrm>
              <a:off x="4429568" y="4298622"/>
              <a:ext cx="2216329" cy="49962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NO se pueden usar</a:t>
              </a:r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EA6C09-B237-7ECD-AFCA-9F3419A1A357}"/>
                </a:ext>
              </a:extLst>
            </p:cNvPr>
            <p:cNvSpPr/>
            <p:nvPr/>
          </p:nvSpPr>
          <p:spPr>
            <a:xfrm>
              <a:off x="4429568" y="4797175"/>
              <a:ext cx="2216329" cy="16603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s-ES" dirty="0"/>
                <a:t>Atributos de la instancia como si fueran estáticos​.</a:t>
              </a:r>
            </a:p>
            <a:p>
              <a:pPr marL="285750" indent="-2857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s-ES" dirty="0"/>
                <a:t>Métodos de la instancia como si fueran estáticos​.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2002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9DCF-A9FB-4EA1-3CC0-E54BCE3AD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 estático.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C8B913-E6C9-CC28-5F2C-3BF4EDB782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DE6CD1-4F18-8CC8-2809-C7208157E963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Métodos de instancia y estáticos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7A333D1-DCD0-7E62-418D-5B07292B0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473" y="1432867"/>
            <a:ext cx="5081048" cy="3421846"/>
          </a:xfrm>
          <a:prstGeom prst="roundRect">
            <a:avLst>
              <a:gd name="adj" fmla="val 2605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Reporte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mostrarNotas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"%2d-%2d-%2d-%2d -&gt; %.2f"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getPc1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getPc2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getPc3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getEf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getPromedio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E96A141-690D-231F-8B1C-DB19AE835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776" y="3550937"/>
            <a:ext cx="5814766" cy="2607552"/>
          </a:xfrm>
          <a:prstGeom prst="roundRect">
            <a:avLst>
              <a:gd name="adj" fmla="val 346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PruebaAlumno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notasAlumno1 = {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alumno1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“alex.png"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“Alex"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alumno1.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asignarNotas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(notasAlumno1);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Reporte.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mostrarNotas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(alumno1);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AB3679-5AF4-D59C-212C-677D18D97CE6}"/>
              </a:ext>
            </a:extLst>
          </p:cNvPr>
          <p:cNvSpPr/>
          <p:nvPr/>
        </p:nvSpPr>
        <p:spPr>
          <a:xfrm>
            <a:off x="6473991" y="5282815"/>
            <a:ext cx="3141350" cy="284635"/>
          </a:xfrm>
          <a:prstGeom prst="roundRect">
            <a:avLst>
              <a:gd name="adj" fmla="val 4023"/>
            </a:avLst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77EE5-951B-581D-2EB9-A3F99B2A3AE9}"/>
              </a:ext>
            </a:extLst>
          </p:cNvPr>
          <p:cNvSpPr txBox="1"/>
          <p:nvPr/>
        </p:nvSpPr>
        <p:spPr>
          <a:xfrm>
            <a:off x="7865097" y="1965631"/>
            <a:ext cx="2941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Invocando al método </a:t>
            </a:r>
            <a:r>
              <a:rPr lang="es-ES" sz="1800" b="1" dirty="0" err="1">
                <a:solidFill>
                  <a:schemeClr val="bg1">
                    <a:lumMod val="50000"/>
                  </a:schemeClr>
                </a:solidFill>
              </a:rPr>
              <a:t>mostrarNotas</a:t>
            </a:r>
            <a:r>
              <a:rPr lang="es-ES" sz="1800" b="1" dirty="0">
                <a:solidFill>
                  <a:schemeClr val="bg1">
                    <a:lumMod val="50000"/>
                  </a:schemeClr>
                </a:solidFill>
              </a:rPr>
              <a:t>()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 de la clase </a:t>
            </a:r>
            <a:r>
              <a:rPr lang="es-ES" sz="1800" b="1" dirty="0">
                <a:solidFill>
                  <a:schemeClr val="bg1">
                    <a:lumMod val="50000"/>
                  </a:schemeClr>
                </a:solidFill>
              </a:rPr>
              <a:t>Reporte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 a través del la misma clase.</a:t>
            </a:r>
            <a:endParaRPr lang="en-US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33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1352727-50A6-AC8D-2550-282EA4CDDA2D}"/>
              </a:ext>
            </a:extLst>
          </p:cNvPr>
          <p:cNvSpPr/>
          <p:nvPr/>
        </p:nvSpPr>
        <p:spPr>
          <a:xfrm>
            <a:off x="1203649" y="1282045"/>
            <a:ext cx="10150151" cy="483595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7D6872-CD26-995D-F385-120EB370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Cuándo</a:t>
            </a:r>
            <a:r>
              <a:rPr lang="en-US" dirty="0"/>
              <a:t>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estáticos</a:t>
            </a:r>
            <a:r>
              <a:rPr lang="en-US" dirty="0"/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0ED5EA-7E5F-8BEF-0493-22BFF8FDD5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36F0F0-CB92-1F35-DF5D-0D0CB2B4D8D3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Métodos de instancia y estáticos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04CF9B-F5B9-62C9-B8DC-5B7CFDE15754}"/>
              </a:ext>
            </a:extLst>
          </p:cNvPr>
          <p:cNvSpPr txBox="1"/>
          <p:nvPr/>
        </p:nvSpPr>
        <p:spPr>
          <a:xfrm>
            <a:off x="791064" y="6265230"/>
            <a:ext cx="878656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https://www.pngitem.com/pimgs/m/216-2165624_no-connect-png-transparent-connected-png-png-download.png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https://static.vecteezy.com/system/resources/previews/008/852/920/original/traffic-light-clip-art-free-png.png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https://cdn0.iconfinder.com/data/icons/3D-shapes-psd/256/cube-6x6.png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59FCB4-5160-DB19-0F2C-861D7EE23973}"/>
              </a:ext>
            </a:extLst>
          </p:cNvPr>
          <p:cNvGrpSpPr/>
          <p:nvPr/>
        </p:nvGrpSpPr>
        <p:grpSpPr>
          <a:xfrm>
            <a:off x="1659118" y="1971539"/>
            <a:ext cx="2566794" cy="3746007"/>
            <a:chOff x="1659118" y="1971539"/>
            <a:chExt cx="2566794" cy="3746007"/>
          </a:xfrm>
        </p:grpSpPr>
        <p:pic>
          <p:nvPicPr>
            <p:cNvPr id="9" name="Picture 8" descr="A traffic light showing green&#10;&#10;Description automatically generated with medium confidence">
              <a:extLst>
                <a:ext uri="{FF2B5EF4-FFF2-40B4-BE49-F238E27FC236}">
                  <a16:creationId xmlns:a16="http://schemas.microsoft.com/office/drawing/2014/main" id="{B9FC87D7-D46C-F971-8BE1-9B4C36E519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4614"/>
            <a:stretch/>
          </p:blipFill>
          <p:spPr>
            <a:xfrm>
              <a:off x="2195615" y="1971539"/>
              <a:ext cx="1493800" cy="186762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C8E07D-1AAB-DA76-7C61-4C07EA47FF40}"/>
                </a:ext>
              </a:extLst>
            </p:cNvPr>
            <p:cNvSpPr txBox="1"/>
            <p:nvPr/>
          </p:nvSpPr>
          <p:spPr>
            <a:xfrm>
              <a:off x="1659118" y="4240218"/>
              <a:ext cx="256679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Cuando no se necesita mantener información de estado una vez que el método ha culminado.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9D04E64-8023-81E5-C546-E324AAB3B45D}"/>
              </a:ext>
            </a:extLst>
          </p:cNvPr>
          <p:cNvGrpSpPr/>
          <p:nvPr/>
        </p:nvGrpSpPr>
        <p:grpSpPr>
          <a:xfrm>
            <a:off x="5062273" y="1971539"/>
            <a:ext cx="2566794" cy="3469008"/>
            <a:chOff x="5308344" y="1971539"/>
            <a:chExt cx="2566794" cy="3469008"/>
          </a:xfrm>
        </p:grpSpPr>
        <p:pic>
          <p:nvPicPr>
            <p:cNvPr id="11" name="Picture 10" descr="Shape&#10;&#10;Description automatically generated">
              <a:extLst>
                <a:ext uri="{FF2B5EF4-FFF2-40B4-BE49-F238E27FC236}">
                  <a16:creationId xmlns:a16="http://schemas.microsoft.com/office/drawing/2014/main" id="{FAE08E1A-515F-95A5-3529-6F6352EFF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34776" y="1971539"/>
              <a:ext cx="2113930" cy="186762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0057A97-3882-C521-4A10-0CAF89CEA58A}"/>
                </a:ext>
              </a:extLst>
            </p:cNvPr>
            <p:cNvSpPr txBox="1"/>
            <p:nvPr/>
          </p:nvSpPr>
          <p:spPr>
            <a:xfrm>
              <a:off x="5308344" y="4240218"/>
              <a:ext cx="256679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Si una operación no requiere de ninguna variable de instancia para su ejecución.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ECF7BA-AAC7-59F8-FBB7-A434ED4514DE}"/>
              </a:ext>
            </a:extLst>
          </p:cNvPr>
          <p:cNvGrpSpPr/>
          <p:nvPr/>
        </p:nvGrpSpPr>
        <p:grpSpPr>
          <a:xfrm>
            <a:off x="8465428" y="1921817"/>
            <a:ext cx="2566794" cy="3518730"/>
            <a:chOff x="8955622" y="1921817"/>
            <a:chExt cx="2566794" cy="3518730"/>
          </a:xfrm>
        </p:grpSpPr>
        <p:pic>
          <p:nvPicPr>
            <p:cNvPr id="15" name="Picture 14" descr="Icon&#10;&#10;Description automatically generated">
              <a:extLst>
                <a:ext uri="{FF2B5EF4-FFF2-40B4-BE49-F238E27FC236}">
                  <a16:creationId xmlns:a16="http://schemas.microsoft.com/office/drawing/2014/main" id="{BE68E5DD-315B-1196-2628-1F96FAE69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158765" y="1921817"/>
              <a:ext cx="2160508" cy="196706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492D93B-B038-1C8B-53B1-70838A45F88F}"/>
                </a:ext>
              </a:extLst>
            </p:cNvPr>
            <p:cNvSpPr txBox="1"/>
            <p:nvPr/>
          </p:nvSpPr>
          <p:spPr>
            <a:xfrm>
              <a:off x="8955622" y="4240218"/>
              <a:ext cx="256679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Si la funcionalidad puede ser compartida a través de múltiples instancias.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729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Sobrecarga de métodos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Métodos de instancia y estáticos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7D530-DA7D-3ABD-32E1-58C197E8AC85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Sobreescritura de métodos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095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6C5A-EAE7-BF1A-4500-97DC19B2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sobreescritura? (</a:t>
            </a:r>
            <a:r>
              <a:rPr lang="es-ES" i="1" dirty="0" err="1"/>
              <a:t>override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D4ACE-173F-F6A3-F4B0-FA826F9DE0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59A53-155B-5F14-233D-7D6BE00B06D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b="1" dirty="0" err="1">
                <a:solidFill>
                  <a:schemeClr val="accent2"/>
                </a:solidFill>
              </a:rPr>
              <a:t>Object</a:t>
            </a:r>
            <a:r>
              <a:rPr lang="es-ES" dirty="0"/>
              <a:t> es la </a:t>
            </a:r>
            <a:r>
              <a:rPr lang="es-ES" b="1" dirty="0"/>
              <a:t>clase base</a:t>
            </a:r>
            <a:r>
              <a:rPr lang="es-ES" dirty="0"/>
              <a:t> de Java.</a:t>
            </a:r>
          </a:p>
          <a:p>
            <a:r>
              <a:rPr lang="es-ES" dirty="0"/>
              <a:t>Todas las clases de Java </a:t>
            </a:r>
            <a:r>
              <a:rPr lang="es-ES" b="1" dirty="0"/>
              <a:t>derivan</a:t>
            </a:r>
            <a:r>
              <a:rPr lang="es-ES" dirty="0"/>
              <a:t>, directa o indirectamente, de </a:t>
            </a:r>
            <a:r>
              <a:rPr lang="es-ES" b="1" dirty="0" err="1">
                <a:solidFill>
                  <a:schemeClr val="accent2"/>
                </a:solidFill>
              </a:rPr>
              <a:t>Object</a:t>
            </a:r>
            <a:r>
              <a:rPr lang="es-ES" dirty="0"/>
              <a:t>.</a:t>
            </a:r>
          </a:p>
          <a:p>
            <a:r>
              <a:rPr lang="es-ES" dirty="0"/>
              <a:t>Hay </a:t>
            </a:r>
            <a:r>
              <a:rPr lang="es-ES" b="1" dirty="0"/>
              <a:t>métodos</a:t>
            </a:r>
            <a:r>
              <a:rPr lang="es-ES" dirty="0"/>
              <a:t> de la clase </a:t>
            </a:r>
            <a:r>
              <a:rPr lang="es-ES" b="1" dirty="0" err="1">
                <a:solidFill>
                  <a:schemeClr val="accent2"/>
                </a:solidFill>
              </a:rPr>
              <a:t>Object</a:t>
            </a:r>
            <a:r>
              <a:rPr lang="es-ES" dirty="0"/>
              <a:t> que podemos </a:t>
            </a:r>
            <a:r>
              <a:rPr lang="es-ES" b="1" dirty="0"/>
              <a:t>reutilizar</a:t>
            </a:r>
            <a:r>
              <a:rPr lang="es-ES" dirty="0"/>
              <a:t> en nuestras clases.</a:t>
            </a:r>
          </a:p>
          <a:p>
            <a:r>
              <a:rPr lang="es-ES" dirty="0"/>
              <a:t>Si deseamos, podemos cambiar el comportamiento de éstos métodos.</a:t>
            </a:r>
          </a:p>
          <a:p>
            <a:r>
              <a:rPr lang="es-ES" dirty="0"/>
              <a:t>Este </a:t>
            </a:r>
            <a:r>
              <a:rPr lang="es-ES" u="sng" dirty="0"/>
              <a:t>cambio de comportamiento</a:t>
            </a:r>
            <a:r>
              <a:rPr lang="es-ES" dirty="0"/>
              <a:t> se logra a través de la </a:t>
            </a:r>
            <a:r>
              <a:rPr lang="es-ES" b="1" dirty="0"/>
              <a:t>sobreescritura </a:t>
            </a:r>
            <a:r>
              <a:rPr lang="es-ES" b="1" i="1" dirty="0"/>
              <a:t>(</a:t>
            </a:r>
            <a:r>
              <a:rPr lang="es-ES" b="1" i="1" dirty="0" err="1"/>
              <a:t>override</a:t>
            </a:r>
            <a:r>
              <a:rPr lang="es-ES" b="1" i="1" dirty="0"/>
              <a:t>)</a:t>
            </a:r>
            <a:r>
              <a:rPr lang="es-ES" i="1" dirty="0"/>
              <a:t>.</a:t>
            </a:r>
            <a:endParaRPr lang="en-US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D48887-98E5-4BAA-BC9B-3EACE8853E8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Sobre escritura de métodos</a:t>
            </a:r>
          </a:p>
        </p:txBody>
      </p:sp>
    </p:spTree>
    <p:extLst>
      <p:ext uri="{BB962C8B-B14F-4D97-AF65-F5344CB8AC3E}">
        <p14:creationId xmlns:p14="http://schemas.microsoft.com/office/powerpoint/2010/main" val="254046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EC12-C98F-4796-73B8-C60BA22E0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podemos sobrescribir?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7D74F5-AAA1-03AE-FD75-63961A33AF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E2061-D8D9-27CD-2EC4-CB9463E222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Existen diversos métodos de </a:t>
            </a:r>
            <a:r>
              <a:rPr lang="es-ES" b="1" dirty="0" err="1"/>
              <a:t>Object</a:t>
            </a:r>
            <a:r>
              <a:rPr lang="es-ES" dirty="0"/>
              <a:t> que podemos sobre escribir, tales como </a:t>
            </a:r>
            <a:r>
              <a:rPr lang="es-ES" b="1" dirty="0" err="1"/>
              <a:t>equals</a:t>
            </a:r>
            <a:r>
              <a:rPr lang="es-ES" b="1" dirty="0"/>
              <a:t>()</a:t>
            </a:r>
            <a:r>
              <a:rPr lang="es-ES" dirty="0"/>
              <a:t>, </a:t>
            </a:r>
            <a:r>
              <a:rPr lang="es-ES" b="1" dirty="0" err="1"/>
              <a:t>toString</a:t>
            </a:r>
            <a:r>
              <a:rPr lang="es-ES" b="1" dirty="0"/>
              <a:t>()</a:t>
            </a:r>
            <a:r>
              <a:rPr lang="es-ES" dirty="0"/>
              <a:t>, </a:t>
            </a:r>
            <a:r>
              <a:rPr lang="es-ES" b="1" dirty="0" err="1"/>
              <a:t>hashCode</a:t>
            </a:r>
            <a:r>
              <a:rPr lang="es-ES" b="1" dirty="0"/>
              <a:t>()</a:t>
            </a:r>
            <a:r>
              <a:rPr lang="es-ES" dirty="0"/>
              <a:t>, etc.</a:t>
            </a:r>
          </a:p>
          <a:p>
            <a:r>
              <a:rPr lang="es-ES" dirty="0"/>
              <a:t>El método que usualmente sobrescribimos es </a:t>
            </a:r>
            <a:r>
              <a:rPr lang="es-ES" b="1" dirty="0" err="1">
                <a:solidFill>
                  <a:schemeClr val="accent2"/>
                </a:solidFill>
              </a:rPr>
              <a:t>toString</a:t>
            </a:r>
            <a:r>
              <a:rPr lang="es-ES" b="1" dirty="0">
                <a:solidFill>
                  <a:schemeClr val="accent2"/>
                </a:solidFill>
              </a:rPr>
              <a:t>()</a:t>
            </a:r>
            <a:r>
              <a:rPr lang="es-ES" dirty="0"/>
              <a:t>.</a:t>
            </a:r>
          </a:p>
          <a:p>
            <a:r>
              <a:rPr lang="es-ES" b="1" dirty="0" err="1">
                <a:solidFill>
                  <a:schemeClr val="accent2"/>
                </a:solidFill>
              </a:rPr>
              <a:t>toString</a:t>
            </a:r>
            <a:r>
              <a:rPr lang="es-ES" b="1" dirty="0">
                <a:solidFill>
                  <a:schemeClr val="accent2"/>
                </a:solidFill>
              </a:rPr>
              <a:t>()</a:t>
            </a:r>
            <a:r>
              <a:rPr lang="es-ES" dirty="0"/>
              <a:t> retorna la representación de cadena de un objeto.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1F43B8-C719-FB4D-29A2-D1BAA3437B62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Sobre escritura de métodos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6F182F2-E270-00E1-260F-19F68C70E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312" y="4603881"/>
            <a:ext cx="5949254" cy="1777184"/>
          </a:xfrm>
          <a:prstGeom prst="roundRect">
            <a:avLst>
              <a:gd name="adj" fmla="val 508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PruebaAlumno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alumno1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“alex.png"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“Alex"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(alumno1.toString());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22B9B-229D-98F9-A651-8A5C97622900}"/>
              </a:ext>
            </a:extLst>
          </p:cNvPr>
          <p:cNvSpPr txBox="1"/>
          <p:nvPr/>
        </p:nvSpPr>
        <p:spPr>
          <a:xfrm>
            <a:off x="7970089" y="6048573"/>
            <a:ext cx="2430389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Alumno@4dd8dc3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6FB0F-4166-CF20-DC9D-8E6B0E238B7C}"/>
              </a:ext>
            </a:extLst>
          </p:cNvPr>
          <p:cNvSpPr txBox="1"/>
          <p:nvPr/>
        </p:nvSpPr>
        <p:spPr>
          <a:xfrm>
            <a:off x="7970089" y="5721159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76A4F6-2FF8-FBC5-725C-6B882F0C9340}"/>
              </a:ext>
            </a:extLst>
          </p:cNvPr>
          <p:cNvSpPr txBox="1"/>
          <p:nvPr/>
        </p:nvSpPr>
        <p:spPr>
          <a:xfrm>
            <a:off x="7970089" y="4538366"/>
            <a:ext cx="3443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Por defecto,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toString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() devuelve una expresión de cadena con el nombre de la clase, el símbolo @ y el valor hexadecimal del código hash del objeto.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59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3706-5CEA-874F-86AE-100D9C69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Sobrescribiendo </a:t>
            </a:r>
            <a:r>
              <a:rPr lang="es-ES" dirty="0" err="1"/>
              <a:t>toString</a:t>
            </a:r>
            <a:r>
              <a:rPr lang="es-ES" dirty="0"/>
              <a:t>()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2F3CD-B42F-12B7-B32F-7F19DBE69B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F8AB8-4C3F-DE19-4FA6-E718C4BB3DC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>
                <a:latin typeface="+mj-lt"/>
              </a:rPr>
              <a:t>Para sobrescribir un método debemos mantener su tipo de retorno y su firma.</a:t>
            </a:r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78DCE1-42FB-D31C-B90D-2E09E544FEAA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Sobre escritura de métodos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6B57E36-8277-9E52-86FC-5CC60C408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990" y="2801933"/>
            <a:ext cx="4024996" cy="3736979"/>
          </a:xfrm>
          <a:prstGeom prst="roundRect">
            <a:avLst>
              <a:gd name="adj" fmla="val 3661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pc3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getters, setters,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@Override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-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C85D2DD-3474-0FA5-94DA-080E70800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8120" y="2989659"/>
            <a:ext cx="6127107" cy="1777184"/>
          </a:xfrm>
          <a:prstGeom prst="roundRect">
            <a:avLst>
              <a:gd name="adj" fmla="val 5088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PruebaAlumno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alumno1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Alumno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“alex.png"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“Alex"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(alumno1.toString());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E8D79-ADD8-74DA-76C5-C3FFCAE4EEAD}"/>
              </a:ext>
            </a:extLst>
          </p:cNvPr>
          <p:cNvSpPr txBox="1"/>
          <p:nvPr/>
        </p:nvSpPr>
        <p:spPr>
          <a:xfrm>
            <a:off x="8946519" y="5299448"/>
            <a:ext cx="2430389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Alex - 19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0EAE5-B8D1-1167-6E0C-7E2B1B7D6A99}"/>
              </a:ext>
            </a:extLst>
          </p:cNvPr>
          <p:cNvSpPr txBox="1"/>
          <p:nvPr/>
        </p:nvSpPr>
        <p:spPr>
          <a:xfrm>
            <a:off x="8946519" y="4972034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C6C7DE-9CC6-6C60-1B93-5F2C4B1FC728}"/>
              </a:ext>
            </a:extLst>
          </p:cNvPr>
          <p:cNvSpPr/>
          <p:nvPr/>
        </p:nvSpPr>
        <p:spPr>
          <a:xfrm>
            <a:off x="2030286" y="5037613"/>
            <a:ext cx="3427834" cy="1271602"/>
          </a:xfrm>
          <a:prstGeom prst="roundRect">
            <a:avLst/>
          </a:pr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120312-8317-3F97-F45E-85BB72A77DEB}"/>
              </a:ext>
            </a:extLst>
          </p:cNvPr>
          <p:cNvSpPr txBox="1"/>
          <p:nvPr/>
        </p:nvSpPr>
        <p:spPr>
          <a:xfrm>
            <a:off x="5896143" y="5125922"/>
            <a:ext cx="23146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sobreescritura oculta la implementación original de un método, la cual es reemplazada por una nueva definición.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51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Métodos de instancia y estáticos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Sobreescritura de métodos 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7D530-DA7D-3ABD-32E1-58C197E8AC85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Sobrecarga de métodos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433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3594F07-3457-DBA6-64D3-474477B9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Signatura de un método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710EC-BC36-B283-B8DA-5A1F5E22E5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D364A62-401F-966A-106F-118C597294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>
                <a:latin typeface="+mj-lt"/>
              </a:rPr>
              <a:t>Los métodos de una clase se definen por su </a:t>
            </a:r>
            <a:r>
              <a:rPr lang="es-ES" b="1" dirty="0">
                <a:latin typeface="+mj-lt"/>
              </a:rPr>
              <a:t>signatura</a:t>
            </a:r>
            <a:r>
              <a:rPr lang="es-ES" dirty="0">
                <a:latin typeface="+mj-lt"/>
              </a:rPr>
              <a:t> (</a:t>
            </a:r>
            <a:r>
              <a:rPr lang="es-ES" i="1" dirty="0">
                <a:latin typeface="+mj-lt"/>
              </a:rPr>
              <a:t>firma</a:t>
            </a:r>
            <a:r>
              <a:rPr lang="es-ES" dirty="0">
                <a:latin typeface="+mj-lt"/>
              </a:rPr>
              <a:t>) la cual está formada por el nombre del método más el número y tipo de dato de los parámetros.</a:t>
            </a:r>
          </a:p>
          <a:p>
            <a:r>
              <a:rPr lang="es-ES" dirty="0">
                <a:latin typeface="+mj-lt"/>
              </a:rPr>
              <a:t>Cuando se invoca un método, el compilador compara el número y tipo de los parámetros y determina qué método debe invocar.</a:t>
            </a:r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C3B69-EB82-9C46-615A-FAA2B775663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Sobrecarga de métodos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389B26A-ECD3-2412-3058-E834AA0C8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326" y="5062209"/>
            <a:ext cx="5730796" cy="150218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GestorDatos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CC7832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CC783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highlight>
                  <a:srgbClr val="0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cambiarValores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highlight>
                  <a:srgbClr val="0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highlight>
                  <a:srgbClr val="0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highlight>
                  <a:srgbClr val="0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highlight>
                  <a:srgbClr val="0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double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highlight>
                  <a:srgbClr val="0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highlight>
                  <a:srgbClr val="0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highlight>
                  <a:srgbClr val="000080"/>
                </a:highlight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//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instrucciones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A9B7C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endParaRPr lang="en-US" altLang="en-US" sz="2400" dirty="0">
              <a:solidFill>
                <a:schemeClr val="tx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621C8-A63C-F9DF-E5A9-484EBC0151D1}"/>
              </a:ext>
            </a:extLst>
          </p:cNvPr>
          <p:cNvSpPr txBox="1"/>
          <p:nvPr/>
        </p:nvSpPr>
        <p:spPr>
          <a:xfrm>
            <a:off x="2595241" y="4560470"/>
            <a:ext cx="7386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Signatura o Firma = Nombre del  Método + Lista de parámetros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43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Blank t-shirts in various colors - PSDgraphics">
            <a:extLst>
              <a:ext uri="{FF2B5EF4-FFF2-40B4-BE49-F238E27FC236}">
                <a16:creationId xmlns:a16="http://schemas.microsoft.com/office/drawing/2014/main" id="{C5115848-2ADB-ABC3-ACEF-300A3003D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62" t="6713" r="14931" b="4484"/>
          <a:stretch/>
        </p:blipFill>
        <p:spPr bwMode="auto">
          <a:xfrm>
            <a:off x="7824253" y="3274368"/>
            <a:ext cx="3129699" cy="300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D3594F07-3457-DBA6-64D3-474477B9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Sobrecarga de métodos (</a:t>
            </a:r>
            <a:r>
              <a:rPr lang="es-ES" i="1" dirty="0" err="1"/>
              <a:t>overload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710EC-BC36-B283-B8DA-5A1F5E22E5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D364A62-401F-966A-106F-118C597294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>
                <a:latin typeface="+mj-lt"/>
              </a:rPr>
              <a:t>En Java, </a:t>
            </a:r>
            <a:r>
              <a:rPr lang="es-ES" b="1" dirty="0">
                <a:latin typeface="+mj-lt"/>
              </a:rPr>
              <a:t>dos o más métodos</a:t>
            </a:r>
            <a:r>
              <a:rPr lang="es-ES" dirty="0">
                <a:latin typeface="+mj-lt"/>
              </a:rPr>
              <a:t> pueden compartir el </a:t>
            </a:r>
            <a:r>
              <a:rPr lang="es-ES" b="1" dirty="0">
                <a:latin typeface="+mj-lt"/>
              </a:rPr>
              <a:t>mismo</a:t>
            </a:r>
            <a:r>
              <a:rPr lang="es-ES" dirty="0">
                <a:latin typeface="+mj-lt"/>
              </a:rPr>
              <a:t> </a:t>
            </a:r>
            <a:r>
              <a:rPr lang="es-ES" b="1" dirty="0">
                <a:latin typeface="+mj-lt"/>
              </a:rPr>
              <a:t>nombre</a:t>
            </a:r>
            <a:r>
              <a:rPr lang="es-ES" dirty="0">
                <a:latin typeface="+mj-lt"/>
              </a:rPr>
              <a:t>, en tanto sus </a:t>
            </a:r>
            <a:r>
              <a:rPr lang="es-ES" b="1" dirty="0">
                <a:latin typeface="+mj-lt"/>
              </a:rPr>
              <a:t>parámetros</a:t>
            </a:r>
            <a:r>
              <a:rPr lang="es-ES" dirty="0">
                <a:latin typeface="+mj-lt"/>
              </a:rPr>
              <a:t> sean </a:t>
            </a:r>
            <a:r>
              <a:rPr lang="es-ES" b="1" dirty="0">
                <a:latin typeface="+mj-lt"/>
              </a:rPr>
              <a:t>distintos</a:t>
            </a:r>
            <a:r>
              <a:rPr lang="es-ES" dirty="0">
                <a:latin typeface="+mj-lt"/>
              </a:rPr>
              <a:t>.</a:t>
            </a:r>
          </a:p>
          <a:p>
            <a:r>
              <a:rPr lang="es-ES" dirty="0">
                <a:latin typeface="+mj-lt"/>
              </a:rPr>
              <a:t>En este caso, se dice que el </a:t>
            </a:r>
            <a:r>
              <a:rPr lang="es-ES" b="1" dirty="0">
                <a:latin typeface="+mj-lt"/>
              </a:rPr>
              <a:t>método</a:t>
            </a:r>
            <a:r>
              <a:rPr lang="es-ES" dirty="0">
                <a:latin typeface="+mj-lt"/>
              </a:rPr>
              <a:t> está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sobrecargado</a:t>
            </a:r>
            <a:r>
              <a:rPr lang="es-ES" dirty="0">
                <a:latin typeface="+mj-lt"/>
              </a:rPr>
              <a:t>.</a:t>
            </a:r>
          </a:p>
          <a:p>
            <a:r>
              <a:rPr lang="es-ES" dirty="0">
                <a:latin typeface="+mj-lt"/>
              </a:rPr>
              <a:t>El propósito es proveer diferentes </a:t>
            </a:r>
            <a:br>
              <a:rPr lang="es-ES" dirty="0">
                <a:latin typeface="+mj-lt"/>
              </a:rPr>
            </a:br>
            <a:r>
              <a:rPr lang="es-ES" dirty="0">
                <a:latin typeface="+mj-lt"/>
              </a:rPr>
              <a:t>versiones del mismo método.</a:t>
            </a:r>
          </a:p>
          <a:p>
            <a:r>
              <a:rPr lang="es-ES" dirty="0">
                <a:latin typeface="+mj-lt"/>
              </a:rPr>
              <a:t>El proceso de crear varias versiones </a:t>
            </a:r>
            <a:br>
              <a:rPr lang="es-ES" dirty="0">
                <a:latin typeface="+mj-lt"/>
              </a:rPr>
            </a:br>
            <a:r>
              <a:rPr lang="es-ES" dirty="0">
                <a:latin typeface="+mj-lt"/>
              </a:rPr>
              <a:t>del mismo método se denomina </a:t>
            </a:r>
            <a:br>
              <a:rPr lang="es-ES" dirty="0">
                <a:latin typeface="+mj-lt"/>
              </a:rPr>
            </a:br>
            <a:r>
              <a:rPr lang="es-ES" b="1" dirty="0">
                <a:solidFill>
                  <a:schemeClr val="accent2"/>
                </a:solidFill>
                <a:latin typeface="+mj-lt"/>
              </a:rPr>
              <a:t>sobrecarga de métodos </a:t>
            </a:r>
            <a:r>
              <a:rPr lang="es-ES" b="1" i="1" dirty="0">
                <a:solidFill>
                  <a:schemeClr val="accent2"/>
                </a:solidFill>
                <a:latin typeface="+mj-lt"/>
              </a:rPr>
              <a:t>(</a:t>
            </a:r>
            <a:r>
              <a:rPr lang="es-ES" b="1" i="1" dirty="0" err="1">
                <a:solidFill>
                  <a:schemeClr val="accent2"/>
                </a:solidFill>
                <a:latin typeface="+mj-lt"/>
              </a:rPr>
              <a:t>overload</a:t>
            </a:r>
            <a:r>
              <a:rPr lang="es-ES" b="1" i="1" dirty="0">
                <a:solidFill>
                  <a:schemeClr val="accent2"/>
                </a:solidFill>
                <a:latin typeface="+mj-lt"/>
              </a:rPr>
              <a:t>)</a:t>
            </a:r>
            <a:r>
              <a:rPr lang="es-ES" i="1" dirty="0">
                <a:latin typeface="+mj-lt"/>
              </a:rPr>
              <a:t>.</a:t>
            </a:r>
            <a:endParaRPr lang="en-US" i="1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C3B69-EB82-9C46-615A-FAA2B775663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Sobrecarga de métodos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8F1A9A-7653-D9DD-A05F-50FCF4367AE5}"/>
              </a:ext>
            </a:extLst>
          </p:cNvPr>
          <p:cNvSpPr txBox="1"/>
          <p:nvPr/>
        </p:nvSpPr>
        <p:spPr>
          <a:xfrm>
            <a:off x="838200" y="6441348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https://www.psdgraphics.com/wp-content/uploads/2017/07/t-shirts-different-colors.jpg</a:t>
            </a:r>
          </a:p>
        </p:txBody>
      </p:sp>
    </p:spTree>
    <p:extLst>
      <p:ext uri="{BB962C8B-B14F-4D97-AF65-F5344CB8AC3E}">
        <p14:creationId xmlns:p14="http://schemas.microsoft.com/office/powerpoint/2010/main" val="79124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C2614-69F6-5279-C872-306259D02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Sobrecarga.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525D0-E048-39D1-6AE0-0BF86023BF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B3E8FE-383B-DD41-AC19-87E6C38B9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351" y="1640169"/>
            <a:ext cx="4887250" cy="4727514"/>
          </a:xfrm>
          <a:prstGeom prst="roundRect">
            <a:avLst>
              <a:gd name="adj" fmla="val 3558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Sumador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A48C40-E2DC-4CDA-8365-94899668A357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Sobrecarga de métodos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341F9F0-21BD-2941-3984-2047FB37C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356" y="2100551"/>
            <a:ext cx="5676424" cy="2656898"/>
          </a:xfrm>
          <a:prstGeom prst="roundRect">
            <a:avLst>
              <a:gd name="adj" fmla="val 6666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SumadorTest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Sumador.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Sumador.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25.47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256.854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Sumador.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36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16.74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56421.6354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Sumador.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double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{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56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18.05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66f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600.74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}));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EA89FB-30BB-CCAA-BF51-DA77D7FAEF8E}"/>
              </a:ext>
            </a:extLst>
          </p:cNvPr>
          <p:cNvSpPr txBox="1"/>
          <p:nvPr/>
        </p:nvSpPr>
        <p:spPr>
          <a:xfrm>
            <a:off x="9310795" y="5022035"/>
            <a:ext cx="2227848" cy="1241148"/>
          </a:xfrm>
          <a:prstGeom prst="roundRect">
            <a:avLst>
              <a:gd name="adj" fmla="val 10284"/>
            </a:avLst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36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282.32399999999996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56474.3754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744.79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F3E3F-6930-4A3D-6FF8-BD399E5BF40D}"/>
              </a:ext>
            </a:extLst>
          </p:cNvPr>
          <p:cNvSpPr txBox="1"/>
          <p:nvPr/>
        </p:nvSpPr>
        <p:spPr>
          <a:xfrm>
            <a:off x="8521340" y="5040889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F377AD-4CB1-3440-08A3-028A73E9EF98}"/>
              </a:ext>
            </a:extLst>
          </p:cNvPr>
          <p:cNvSpPr txBox="1"/>
          <p:nvPr/>
        </p:nvSpPr>
        <p:spPr>
          <a:xfrm>
            <a:off x="6096000" y="5198132"/>
            <a:ext cx="172703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sobrecarga permite definir nuevas versiones de un mismo método.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90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Métodos de instancia y estáticos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Sobreescritura de métodos 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Sobrecarga de métodos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F07D530-DA7D-3ABD-32E1-58C197E8AC85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693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F2A91A-8B82-A534-A46F-C62BC408F0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02" t="12665" r="16118"/>
          <a:stretch/>
        </p:blipFill>
        <p:spPr>
          <a:xfrm>
            <a:off x="6598524" y="2646715"/>
            <a:ext cx="5015061" cy="37753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00879A-9F19-004B-D3C8-3CE74B28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04778C-8CFB-EC49-DD1D-F0769E62F6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2D2FD5-00E1-9B18-4B63-31A7E7243B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4892351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Reporte HTML</a:t>
            </a:r>
          </a:p>
          <a:p>
            <a:pPr marL="50800" indent="0">
              <a:buNone/>
            </a:pPr>
            <a:r>
              <a:rPr lang="es-ES" dirty="0"/>
              <a:t>Escribir un programa que genere el archivo </a:t>
            </a:r>
            <a:r>
              <a:rPr lang="es-ES" b="1" dirty="0"/>
              <a:t>productos.html</a:t>
            </a:r>
            <a:r>
              <a:rPr lang="es-ES" dirty="0"/>
              <a:t> con la información proporcionada en el archivo </a:t>
            </a:r>
            <a:r>
              <a:rPr lang="es-ES" b="1" dirty="0"/>
              <a:t>productos.txt</a:t>
            </a:r>
          </a:p>
          <a:p>
            <a:pPr marL="50800" indent="0">
              <a:buNone/>
            </a:pPr>
            <a:r>
              <a:rPr lang="es-ES" dirty="0"/>
              <a:t>Las imágenes de los productos y la hoja de estilos se encuentran en la carpeta </a:t>
            </a:r>
            <a:r>
              <a:rPr lang="es-ES" b="1" dirty="0"/>
              <a:t>/recursos</a:t>
            </a:r>
            <a:r>
              <a:rPr lang="es-E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6A48B-7B94-1EEC-C645-0C4DBFDC54A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87F5D-8358-6BE8-3817-EE3D07689A83}"/>
              </a:ext>
            </a:extLst>
          </p:cNvPr>
          <p:cNvSpPr txBox="1"/>
          <p:nvPr/>
        </p:nvSpPr>
        <p:spPr>
          <a:xfrm>
            <a:off x="715971" y="6509295"/>
            <a:ext cx="94150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https://upload.wikimedia.org/wikipedia/commons/thumb/6/61/HTML5_logo_and_wordmark.svg/2048px-HTML5_logo_and_wordmark.svg.png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FB830-8592-5A7E-1AB3-649DBBA37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839" y="457626"/>
            <a:ext cx="4205151" cy="1921272"/>
          </a:xfrm>
          <a:prstGeom prst="rect">
            <a:avLst/>
          </a:prstGeom>
        </p:spPr>
      </p:pic>
      <p:pic>
        <p:nvPicPr>
          <p:cNvPr id="23" name="Picture 22" descr="Logo, icon&#10;&#10;Description automatically generated">
            <a:extLst>
              <a:ext uri="{FF2B5EF4-FFF2-40B4-BE49-F238E27FC236}">
                <a16:creationId xmlns:a16="http://schemas.microsoft.com/office/drawing/2014/main" id="{7159996A-50AE-8C3E-A7BD-7C174A27C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0990" y="1215391"/>
            <a:ext cx="1521643" cy="152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3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AD71-8E5E-5C2C-29AC-8C902C16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07" y="429863"/>
            <a:ext cx="10543094" cy="785528"/>
          </a:xfrm>
        </p:spPr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071F5-2A32-65F7-067E-10C53496A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A7A3DC-024F-B251-3BF8-9E4CDFA1FE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0707" y="1436914"/>
            <a:ext cx="7381187" cy="4782911"/>
          </a:xfrm>
        </p:spPr>
        <p:txBody>
          <a:bodyPr>
            <a:normAutofit fontScale="92500" lnSpcReduction="20000"/>
          </a:bodyPr>
          <a:lstStyle/>
          <a:p>
            <a:pPr marL="565150" indent="-514350">
              <a:lnSpc>
                <a:spcPct val="120000"/>
              </a:lnSpc>
              <a:buAutoNum type="arabicPeriod"/>
            </a:pPr>
            <a:r>
              <a:rPr lang="es-ES" dirty="0">
                <a:latin typeface="+mj-lt"/>
              </a:rPr>
              <a:t>Elaborar 5 reportes HTML a partir de las clases diseñadas en la tarea anterior. Los métodos que generen los reportes deben ser métodos estáticos​.</a:t>
            </a:r>
          </a:p>
          <a:p>
            <a:pPr marL="565150" indent="-514350">
              <a:lnSpc>
                <a:spcPct val="120000"/>
              </a:lnSpc>
              <a:buAutoNum type="arabicPeriod"/>
            </a:pPr>
            <a:r>
              <a:rPr lang="es-ES" dirty="0">
                <a:latin typeface="+mj-lt"/>
              </a:rPr>
              <a:t>Cada clase debe instanciar 5 objetos utilizando </a:t>
            </a:r>
            <a:r>
              <a:rPr lang="es-ES" b="1" dirty="0" err="1">
                <a:latin typeface="+mj-lt"/>
              </a:rPr>
              <a:t>arrays</a:t>
            </a:r>
            <a:r>
              <a:rPr lang="es-ES" dirty="0">
                <a:latin typeface="+mj-lt"/>
              </a:rPr>
              <a:t>​.</a:t>
            </a:r>
          </a:p>
          <a:p>
            <a:pPr marL="565150" indent="-514350">
              <a:lnSpc>
                <a:spcPct val="120000"/>
              </a:lnSpc>
              <a:buAutoNum type="arabicPeriod"/>
            </a:pPr>
            <a:r>
              <a:rPr lang="es-ES" dirty="0">
                <a:latin typeface="+mj-lt"/>
              </a:rPr>
              <a:t>Cada clase debe implementar constructores, </a:t>
            </a:r>
            <a:r>
              <a:rPr lang="es-ES" b="1" dirty="0" err="1">
                <a:latin typeface="+mj-lt"/>
              </a:rPr>
              <a:t>getters</a:t>
            </a:r>
            <a:r>
              <a:rPr lang="es-ES" dirty="0">
                <a:latin typeface="+mj-lt"/>
              </a:rPr>
              <a:t> y </a:t>
            </a:r>
            <a:r>
              <a:rPr lang="es-ES" b="1" dirty="0" err="1">
                <a:latin typeface="+mj-lt"/>
              </a:rPr>
              <a:t>setters</a:t>
            </a:r>
            <a:r>
              <a:rPr lang="es-ES" dirty="0">
                <a:latin typeface="+mj-lt"/>
              </a:rPr>
              <a:t>​.</a:t>
            </a:r>
          </a:p>
          <a:p>
            <a:pPr marL="565150" indent="-514350">
              <a:lnSpc>
                <a:spcPct val="120000"/>
              </a:lnSpc>
              <a:buAutoNum type="arabicPeriod"/>
            </a:pPr>
            <a:r>
              <a:rPr lang="es-ES" dirty="0">
                <a:latin typeface="+mj-lt"/>
              </a:rPr>
              <a:t>Cada reporte debe tener un </a:t>
            </a:r>
            <a:r>
              <a:rPr lang="es-ES" b="1" dirty="0" err="1"/>
              <a:t>f</a:t>
            </a:r>
            <a:r>
              <a:rPr lang="es-ES" b="1" dirty="0" err="1">
                <a:latin typeface="+mj-lt"/>
              </a:rPr>
              <a:t>ooter</a:t>
            </a:r>
            <a:r>
              <a:rPr lang="es-ES" dirty="0">
                <a:latin typeface="+mj-lt"/>
              </a:rPr>
              <a:t> con información de resumen.</a:t>
            </a: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2A737-B6D7-F93F-3DB0-01891C897A21}"/>
              </a:ext>
            </a:extLst>
          </p:cNvPr>
          <p:cNvSpPr txBox="1"/>
          <p:nvPr/>
        </p:nvSpPr>
        <p:spPr>
          <a:xfrm>
            <a:off x="8610600" y="2028889"/>
            <a:ext cx="2770693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rgbClr val="5485A5"/>
                </a:solidFill>
                <a:latin typeface="+mj-lt"/>
              </a:rPr>
              <a:t>Indicaciones</a:t>
            </a:r>
            <a:br>
              <a:rPr lang="en-US" sz="1200" b="1" dirty="0">
                <a:solidFill>
                  <a:srgbClr val="5485A5"/>
                </a:solidFill>
                <a:latin typeface="+mj-lt"/>
              </a:rPr>
            </a:br>
            <a:endParaRPr lang="en-US" sz="1200" b="1" dirty="0">
              <a:solidFill>
                <a:srgbClr val="5485A5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Grupos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Entregables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a). Video de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minutos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propuestas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; b).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Archivo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ZIP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conteniendo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Proyecto java con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Todos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deben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aparecer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video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ejercicios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A53CF-B8F1-AC07-92CB-D7BAEF75967B}"/>
              </a:ext>
            </a:extLst>
          </p:cNvPr>
          <p:cNvSpPr/>
          <p:nvPr/>
        </p:nvSpPr>
        <p:spPr>
          <a:xfrm>
            <a:off x="8323872" y="829559"/>
            <a:ext cx="45719" cy="559857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62AC4A-37B6-8C2E-A679-FA146449B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607" y="727152"/>
            <a:ext cx="1189112" cy="11891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D7791A-315B-43C9-CDA2-EB8F8AF70E4B}"/>
              </a:ext>
            </a:extLst>
          </p:cNvPr>
          <p:cNvSpPr txBox="1"/>
          <p:nvPr/>
        </p:nvSpPr>
        <p:spPr>
          <a:xfrm>
            <a:off x="238026" y="6455777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https://upload.wikimedia.org/wikipedia/commons/0/0a/AnantP%40java.png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FBE75A-E6B2-8472-CA16-ECF23EC50B2D}"/>
              </a:ext>
            </a:extLst>
          </p:cNvPr>
          <p:cNvGrpSpPr/>
          <p:nvPr/>
        </p:nvGrpSpPr>
        <p:grpSpPr>
          <a:xfrm>
            <a:off x="8672114" y="5435206"/>
            <a:ext cx="2590250" cy="815188"/>
            <a:chOff x="8672114" y="5435206"/>
            <a:chExt cx="2590250" cy="8151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FF30B7-717B-C6A2-D46B-0467356FF044}"/>
                </a:ext>
              </a:extLst>
            </p:cNvPr>
            <p:cNvSpPr txBox="1"/>
            <p:nvPr/>
          </p:nvSpPr>
          <p:spPr>
            <a:xfrm>
              <a:off x="8672114" y="5435206"/>
              <a:ext cx="2590250" cy="8151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400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Recuerda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revisar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en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plataforma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rúbrica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de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tarea</a:t>
              </a:r>
              <a:r>
                <a:rPr lang="en-US" sz="1200" b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grupal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.</a:t>
              </a:r>
            </a:p>
          </p:txBody>
        </p:sp>
        <p:pic>
          <p:nvPicPr>
            <p:cNvPr id="7" name="Graphic 6" descr="Clipboard Checked with solid fill">
              <a:extLst>
                <a:ext uri="{FF2B5EF4-FFF2-40B4-BE49-F238E27FC236}">
                  <a16:creationId xmlns:a16="http://schemas.microsoft.com/office/drawing/2014/main" id="{56A6BEB9-E94A-9672-69A0-BA27FDFAE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1702" y="5508797"/>
              <a:ext cx="418135" cy="418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326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85000"/>
                  </a:schemeClr>
                </a:solidFill>
              </a:rPr>
              <a:t>29</a:t>
            </a:fld>
            <a:endParaRPr lang="es-P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5"/>
            <a:ext cx="7288244" cy="4337622"/>
          </a:xfrm>
        </p:spPr>
        <p:txBody>
          <a:bodyPr/>
          <a:lstStyle/>
          <a:p>
            <a:r>
              <a:rPr lang="es-ES" dirty="0"/>
              <a:t>¿Qué es un método de instancia?</a:t>
            </a:r>
          </a:p>
          <a:p>
            <a:r>
              <a:rPr lang="es-ES" dirty="0"/>
              <a:t>¿Qué es un método estático?</a:t>
            </a:r>
          </a:p>
          <a:p>
            <a:r>
              <a:rPr lang="es-ES" dirty="0"/>
              <a:t>¿En qué consiste la sobre escritura?</a:t>
            </a:r>
          </a:p>
          <a:p>
            <a:r>
              <a:rPr lang="es-ES" dirty="0"/>
              <a:t>¿En qué consiste la sobrecarga?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31082">
            <a:off x="10177213" y="390474"/>
            <a:ext cx="1134497" cy="59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3835086">
            <a:off x="10569068" y="3721301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409" b="34623"/>
          <a:stretch/>
        </p:blipFill>
        <p:spPr>
          <a:xfrm rot="8263172">
            <a:off x="8191037" y="1515870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03698" flipH="1">
            <a:off x="9141723" y="1586561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7055</TotalTime>
  <Words>2771</Words>
  <Application>Microsoft Office PowerPoint</Application>
  <PresentationFormat>Panorámica</PresentationFormat>
  <Paragraphs>272</Paragraphs>
  <Slides>31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6" baseType="lpstr">
      <vt:lpstr>Arial</vt:lpstr>
      <vt:lpstr>Arial Black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Dudas de la clase anterior</vt:lpstr>
      <vt:lpstr>POO:  Métodos (II)</vt:lpstr>
      <vt:lpstr>Conocimientos previos</vt:lpstr>
      <vt:lpstr>Logro de aprendizaje</vt:lpstr>
      <vt:lpstr>Utilidad</vt:lpstr>
      <vt:lpstr>Presentación de PowerPoint</vt:lpstr>
      <vt:lpstr>Presentación de PowerPoint</vt:lpstr>
      <vt:lpstr>¿Qué es un método de instancia?</vt:lpstr>
      <vt:lpstr>Método de instancia. Ejemplo.</vt:lpstr>
      <vt:lpstr>¿Qué es un método estático?</vt:lpstr>
      <vt:lpstr>Método estático. Ejemplo.</vt:lpstr>
      <vt:lpstr>¿Cuándo crear métodos estáticos?</vt:lpstr>
      <vt:lpstr>Presentación de PowerPoint</vt:lpstr>
      <vt:lpstr>¿Qué es sobreescritura? (override)</vt:lpstr>
      <vt:lpstr>¿Qué podemos sobrescribir?</vt:lpstr>
      <vt:lpstr>Sobrescribiendo toString()</vt:lpstr>
      <vt:lpstr>Presentación de PowerPoint</vt:lpstr>
      <vt:lpstr>Signatura de un método</vt:lpstr>
      <vt:lpstr>Sobrecarga de métodos (overload)</vt:lpstr>
      <vt:lpstr>Sobrecarga. Ejemplo.</vt:lpstr>
      <vt:lpstr>Presentación de PowerPoint</vt:lpstr>
      <vt:lpstr>Ejercicio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13-Sesión 26</dc:title>
  <dc:creator>jorgerodcas@hotmail.com</dc:creator>
  <cp:lastModifiedBy>Juan Carlos García</cp:lastModifiedBy>
  <cp:revision>331</cp:revision>
  <dcterms:modified xsi:type="dcterms:W3CDTF">2023-10-23T16:02:27Z</dcterms:modified>
</cp:coreProperties>
</file>