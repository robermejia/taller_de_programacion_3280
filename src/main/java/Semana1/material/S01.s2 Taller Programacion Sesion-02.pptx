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388" r:id="rId3"/>
    <p:sldId id="387" r:id="rId4"/>
    <p:sldId id="386" r:id="rId5"/>
    <p:sldId id="385" r:id="rId6"/>
    <p:sldId id="384" r:id="rId7"/>
    <p:sldId id="258" r:id="rId8"/>
    <p:sldId id="257" r:id="rId9"/>
    <p:sldId id="263" r:id="rId10"/>
    <p:sldId id="264" r:id="rId11"/>
    <p:sldId id="330" r:id="rId12"/>
    <p:sldId id="379" r:id="rId13"/>
    <p:sldId id="320" r:id="rId14"/>
    <p:sldId id="312" r:id="rId15"/>
    <p:sldId id="380" r:id="rId16"/>
    <p:sldId id="318" r:id="rId17"/>
    <p:sldId id="357" r:id="rId18"/>
    <p:sldId id="381" r:id="rId19"/>
    <p:sldId id="376" r:id="rId20"/>
    <p:sldId id="373" r:id="rId21"/>
    <p:sldId id="374" r:id="rId22"/>
    <p:sldId id="375" r:id="rId23"/>
    <p:sldId id="382" r:id="rId24"/>
    <p:sldId id="316" r:id="rId25"/>
    <p:sldId id="323" r:id="rId26"/>
    <p:sldId id="325" r:id="rId27"/>
    <p:sldId id="324" r:id="rId28"/>
    <p:sldId id="383" r:id="rId29"/>
    <p:sldId id="326" r:id="rId30"/>
    <p:sldId id="327" r:id="rId31"/>
    <p:sldId id="261" r:id="rId32"/>
    <p:sldId id="329" r:id="rId33"/>
    <p:sldId id="259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9F9F9"/>
    <a:srgbClr val="E5E5E6"/>
    <a:srgbClr val="57D3FF"/>
    <a:srgbClr val="1B5E8B"/>
    <a:srgbClr val="758F3A"/>
    <a:srgbClr val="DAEEEF"/>
    <a:srgbClr val="0E7D73"/>
    <a:srgbClr val="CC7832"/>
    <a:srgbClr val="8F2A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4C9A02-74FF-7E2E-5F4D-FDFDB9A4B402}" v="283" dt="2023-01-25T19:27:28.717"/>
    <p1510:client id="{90E126E1-5C4D-C8B8-5F1D-E5D7261B44FF}" v="61" dt="2023-01-26T02:30:17.6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6081" autoAdjust="0"/>
  </p:normalViewPr>
  <p:slideViewPr>
    <p:cSldViewPr snapToGrid="0">
      <p:cViewPr varScale="1">
        <p:scale>
          <a:sx n="119" d="100"/>
          <a:sy n="119" d="100"/>
        </p:scale>
        <p:origin x="595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84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s-ES" dirty="0"/>
              <a:t>Respuestas que deben buscarse:</a:t>
            </a:r>
          </a:p>
          <a:p>
            <a:pPr marL="228600" indent="0">
              <a:buNone/>
            </a:pPr>
            <a:endParaRPr lang="es-ES" dirty="0"/>
          </a:p>
          <a:p>
            <a:pPr>
              <a:buAutoNum type="arabicPeriod"/>
            </a:pPr>
            <a:r>
              <a:rPr lang="es-ES" dirty="0"/>
              <a:t>Elaborar un plan de solución.</a:t>
            </a:r>
          </a:p>
          <a:p>
            <a:pPr>
              <a:buAutoNum type="arabicPeriod"/>
            </a:pPr>
            <a:r>
              <a:rPr lang="es-ES" dirty="0"/>
              <a:t>En una secuencia de instrucciones o algoritmo.</a:t>
            </a:r>
          </a:p>
          <a:p>
            <a:pPr>
              <a:buAutoNum type="arabicPeriod"/>
            </a:pPr>
            <a:r>
              <a:rPr lang="es-ES" dirty="0"/>
              <a:t>Solucionar el problema.</a:t>
            </a:r>
          </a:p>
          <a:p>
            <a:pPr>
              <a:buAutoNum type="arabicPeriod"/>
            </a:pPr>
            <a:r>
              <a:rPr lang="es-ES" dirty="0"/>
              <a:t>Java</a:t>
            </a:r>
          </a:p>
          <a:p>
            <a:pPr marL="228600" indent="0">
              <a:buNone/>
            </a:pPr>
            <a:endParaRPr lang="en-US" dirty="0"/>
          </a:p>
          <a:p>
            <a:pPr marL="228600" indent="0">
              <a:buNone/>
            </a:pPr>
            <a:r>
              <a:rPr lang="en-US" dirty="0" err="1"/>
              <a:t>Utilidad</a:t>
            </a:r>
            <a:r>
              <a:rPr lang="en-US" dirty="0"/>
              <a:t>: </a:t>
            </a:r>
            <a:r>
              <a:rPr lang="en-US" dirty="0" err="1"/>
              <a:t>Programar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lenguaje</a:t>
            </a:r>
            <a:r>
              <a:rPr lang="en-US" dirty="0"/>
              <a:t> Java para resolver un </a:t>
            </a:r>
            <a:r>
              <a:rPr lang="en-US" dirty="0" err="1"/>
              <a:t>problema</a:t>
            </a:r>
            <a:r>
              <a:rPr lang="en-US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dirty="0"/>
              <a:t>Ejercicio: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dirty="0"/>
              <a:t>Escriba un programa para averiguar si un número de 4 cifras es o no un número de la suerte. Un número de la suerte es tal cuando la suma de sus dos primeros dígitos es igual a la suma de los dos últimos. Ejemplo: 3719 es un número de la suerte, pues 3+7=1+9.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293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ava2s.com/Code/Java/Data-Type/TheTimeandDateFormatSuffixes.htm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 dirty="0"/>
              <a:t>Taller de Programación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20A1C7E6-FF6D-F3A4-61D9-3E00E5EF46A7}"/>
              </a:ext>
            </a:extLst>
          </p:cNvPr>
          <p:cNvSpPr/>
          <p:nvPr/>
        </p:nvSpPr>
        <p:spPr>
          <a:xfrm rot="16200000">
            <a:off x="4088230" y="2477839"/>
            <a:ext cx="4339856" cy="4432044"/>
          </a:xfrm>
          <a:prstGeom prst="flowChartDelay">
            <a:avLst/>
          </a:prstGeom>
          <a:solidFill>
            <a:srgbClr val="8E9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5BF79-0658-35D8-EE42-F107C0C5AC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2" r="25945"/>
          <a:stretch/>
        </p:blipFill>
        <p:spPr>
          <a:xfrm>
            <a:off x="4471737" y="3444513"/>
            <a:ext cx="3574434" cy="3426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2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F12B6F-531E-0473-1994-213A98A3A878}"/>
              </a:ext>
            </a:extLst>
          </p:cNvPr>
          <p:cNvSpPr/>
          <p:nvPr/>
        </p:nvSpPr>
        <p:spPr>
          <a:xfrm>
            <a:off x="4309442" y="2513473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Lenguaje Java / Características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0DA05F-E44F-2853-F85F-DCDD66250F00}"/>
              </a:ext>
            </a:extLst>
          </p:cNvPr>
          <p:cNvSpPr txBox="1"/>
          <p:nvPr/>
        </p:nvSpPr>
        <p:spPr>
          <a:xfrm>
            <a:off x="63371" y="640161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https://knowledgeone.ca/wp-content/uploads/2018/11/memories.jpg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43D18B1-F542-BD15-1992-9846650D216F}"/>
              </a:ext>
            </a:extLst>
          </p:cNvPr>
          <p:cNvSpPr/>
          <p:nvPr/>
        </p:nvSpPr>
        <p:spPr>
          <a:xfrm>
            <a:off x="2282603" y="4096298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JVM / JDK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DF6E2E8-5262-ED51-9906-194C9F88D59A}"/>
              </a:ext>
            </a:extLst>
          </p:cNvPr>
          <p:cNvSpPr/>
          <p:nvPr/>
        </p:nvSpPr>
        <p:spPr>
          <a:xfrm>
            <a:off x="953831" y="2028037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Algoritmo / Programa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412D7D7-92DB-D0D5-87C9-F2AD916D1B43}"/>
              </a:ext>
            </a:extLst>
          </p:cNvPr>
          <p:cNvSpPr/>
          <p:nvPr/>
        </p:nvSpPr>
        <p:spPr>
          <a:xfrm>
            <a:off x="8087666" y="1745716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lang="es-ES" sz="24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endParaRPr lang="en-US" sz="24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F1DD2FE-2105-A6FE-92E8-FDCC599DA76E}"/>
              </a:ext>
            </a:extLst>
          </p:cNvPr>
          <p:cNvSpPr/>
          <p:nvPr/>
        </p:nvSpPr>
        <p:spPr>
          <a:xfrm>
            <a:off x="7665053" y="4051033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Método </a:t>
            </a:r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endParaRPr lang="en-US" sz="24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18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20A1C7E6-FF6D-F3A4-61D9-3E00E5EF46A7}"/>
              </a:ext>
            </a:extLst>
          </p:cNvPr>
          <p:cNvSpPr/>
          <p:nvPr/>
        </p:nvSpPr>
        <p:spPr>
          <a:xfrm rot="16200000">
            <a:off x="4088230" y="2477839"/>
            <a:ext cx="4339856" cy="4432044"/>
          </a:xfrm>
          <a:prstGeom prst="flowChartDelay">
            <a:avLst/>
          </a:prstGeom>
          <a:solidFill>
            <a:srgbClr val="8E9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5BF79-0658-35D8-EE42-F107C0C5AC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2" r="25945"/>
          <a:stretch/>
        </p:blipFill>
        <p:spPr>
          <a:xfrm>
            <a:off x="4471737" y="3444513"/>
            <a:ext cx="3574434" cy="3426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3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F12B6F-531E-0473-1994-213A98A3A878}"/>
              </a:ext>
            </a:extLst>
          </p:cNvPr>
          <p:cNvSpPr/>
          <p:nvPr/>
        </p:nvSpPr>
        <p:spPr>
          <a:xfrm>
            <a:off x="4309442" y="2513473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Lenguaje Java / Características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0DA05F-E44F-2853-F85F-DCDD66250F00}"/>
              </a:ext>
            </a:extLst>
          </p:cNvPr>
          <p:cNvSpPr txBox="1"/>
          <p:nvPr/>
        </p:nvSpPr>
        <p:spPr>
          <a:xfrm>
            <a:off x="63371" y="640161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https://knowledgeone.ca/wp-content/uploads/2018/11/memories.jpg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43D18B1-F542-BD15-1992-9846650D216F}"/>
              </a:ext>
            </a:extLst>
          </p:cNvPr>
          <p:cNvSpPr/>
          <p:nvPr/>
        </p:nvSpPr>
        <p:spPr>
          <a:xfrm>
            <a:off x="2282603" y="4096298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JVM / JDK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DF6E2E8-5262-ED51-9906-194C9F88D59A}"/>
              </a:ext>
            </a:extLst>
          </p:cNvPr>
          <p:cNvSpPr/>
          <p:nvPr/>
        </p:nvSpPr>
        <p:spPr>
          <a:xfrm>
            <a:off x="953831" y="2028037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Algoritmo / Programa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412D7D7-92DB-D0D5-87C9-F2AD916D1B43}"/>
              </a:ext>
            </a:extLst>
          </p:cNvPr>
          <p:cNvSpPr/>
          <p:nvPr/>
        </p:nvSpPr>
        <p:spPr>
          <a:xfrm>
            <a:off x="8087666" y="1745716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lang="es-ES" sz="24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endParaRPr lang="en-US" sz="24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F1DD2FE-2105-A6FE-92E8-FDCC599DA76E}"/>
              </a:ext>
            </a:extLst>
          </p:cNvPr>
          <p:cNvSpPr/>
          <p:nvPr/>
        </p:nvSpPr>
        <p:spPr>
          <a:xfrm>
            <a:off x="7665053" y="4051033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Método </a:t>
            </a:r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endParaRPr lang="en-US" sz="24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15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20A1C7E6-FF6D-F3A4-61D9-3E00E5EF46A7}"/>
              </a:ext>
            </a:extLst>
          </p:cNvPr>
          <p:cNvSpPr/>
          <p:nvPr/>
        </p:nvSpPr>
        <p:spPr>
          <a:xfrm rot="16200000">
            <a:off x="4088230" y="2477839"/>
            <a:ext cx="4339856" cy="4432044"/>
          </a:xfrm>
          <a:prstGeom prst="flowChartDelay">
            <a:avLst/>
          </a:prstGeom>
          <a:solidFill>
            <a:srgbClr val="8E9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5BF79-0658-35D8-EE42-F107C0C5AC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2" r="25945"/>
          <a:stretch/>
        </p:blipFill>
        <p:spPr>
          <a:xfrm>
            <a:off x="4471737" y="3444513"/>
            <a:ext cx="3574434" cy="3426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4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F12B6F-531E-0473-1994-213A98A3A878}"/>
              </a:ext>
            </a:extLst>
          </p:cNvPr>
          <p:cNvSpPr/>
          <p:nvPr/>
        </p:nvSpPr>
        <p:spPr>
          <a:xfrm>
            <a:off x="4309442" y="2513473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Lenguaje Java / Características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0DA05F-E44F-2853-F85F-DCDD66250F00}"/>
              </a:ext>
            </a:extLst>
          </p:cNvPr>
          <p:cNvSpPr txBox="1"/>
          <p:nvPr/>
        </p:nvSpPr>
        <p:spPr>
          <a:xfrm>
            <a:off x="63371" y="640161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https://knowledgeone.ca/wp-content/uploads/2018/11/memories.jpg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43D18B1-F542-BD15-1992-9846650D216F}"/>
              </a:ext>
            </a:extLst>
          </p:cNvPr>
          <p:cNvSpPr/>
          <p:nvPr/>
        </p:nvSpPr>
        <p:spPr>
          <a:xfrm>
            <a:off x="2282603" y="4096298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tx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JVM / JDK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DF6E2E8-5262-ED51-9906-194C9F88D59A}"/>
              </a:ext>
            </a:extLst>
          </p:cNvPr>
          <p:cNvSpPr/>
          <p:nvPr/>
        </p:nvSpPr>
        <p:spPr>
          <a:xfrm>
            <a:off x="953831" y="2028037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Algoritmo / Programa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412D7D7-92DB-D0D5-87C9-F2AD916D1B43}"/>
              </a:ext>
            </a:extLst>
          </p:cNvPr>
          <p:cNvSpPr/>
          <p:nvPr/>
        </p:nvSpPr>
        <p:spPr>
          <a:xfrm>
            <a:off x="8087666" y="1745716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lang="es-ES" sz="24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endParaRPr lang="en-US" sz="24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F1DD2FE-2105-A6FE-92E8-FDCC599DA76E}"/>
              </a:ext>
            </a:extLst>
          </p:cNvPr>
          <p:cNvSpPr/>
          <p:nvPr/>
        </p:nvSpPr>
        <p:spPr>
          <a:xfrm>
            <a:off x="7665053" y="4051033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Método </a:t>
            </a:r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endParaRPr lang="en-US" sz="24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97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20A1C7E6-FF6D-F3A4-61D9-3E00E5EF46A7}"/>
              </a:ext>
            </a:extLst>
          </p:cNvPr>
          <p:cNvSpPr/>
          <p:nvPr/>
        </p:nvSpPr>
        <p:spPr>
          <a:xfrm rot="16200000">
            <a:off x="4088230" y="2477839"/>
            <a:ext cx="4339856" cy="4432044"/>
          </a:xfrm>
          <a:prstGeom prst="flowChartDelay">
            <a:avLst/>
          </a:prstGeom>
          <a:solidFill>
            <a:srgbClr val="8E9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5BF79-0658-35D8-EE42-F107C0C5AC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2" r="25945"/>
          <a:stretch/>
        </p:blipFill>
        <p:spPr>
          <a:xfrm>
            <a:off x="4471737" y="3444513"/>
            <a:ext cx="3574434" cy="3426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5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F12B6F-531E-0473-1994-213A98A3A878}"/>
              </a:ext>
            </a:extLst>
          </p:cNvPr>
          <p:cNvSpPr/>
          <p:nvPr/>
        </p:nvSpPr>
        <p:spPr>
          <a:xfrm>
            <a:off x="4309442" y="2513473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Lenguaje Java / Características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0DA05F-E44F-2853-F85F-DCDD66250F00}"/>
              </a:ext>
            </a:extLst>
          </p:cNvPr>
          <p:cNvSpPr txBox="1"/>
          <p:nvPr/>
        </p:nvSpPr>
        <p:spPr>
          <a:xfrm>
            <a:off x="63371" y="640161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https://knowledgeone.ca/wp-content/uploads/2018/11/memories.jpg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43D18B1-F542-BD15-1992-9846650D216F}"/>
              </a:ext>
            </a:extLst>
          </p:cNvPr>
          <p:cNvSpPr/>
          <p:nvPr/>
        </p:nvSpPr>
        <p:spPr>
          <a:xfrm>
            <a:off x="2282603" y="4096298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JVM / JDK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DF6E2E8-5262-ED51-9906-194C9F88D59A}"/>
              </a:ext>
            </a:extLst>
          </p:cNvPr>
          <p:cNvSpPr/>
          <p:nvPr/>
        </p:nvSpPr>
        <p:spPr>
          <a:xfrm>
            <a:off x="953831" y="2028037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Algoritmo / Programa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412D7D7-92DB-D0D5-87C9-F2AD916D1B43}"/>
              </a:ext>
            </a:extLst>
          </p:cNvPr>
          <p:cNvSpPr/>
          <p:nvPr/>
        </p:nvSpPr>
        <p:spPr>
          <a:xfrm>
            <a:off x="8087666" y="1745716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lang="es-ES" sz="24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endParaRPr lang="en-US" sz="24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F1DD2FE-2105-A6FE-92E8-FDCC599DA76E}"/>
              </a:ext>
            </a:extLst>
          </p:cNvPr>
          <p:cNvSpPr/>
          <p:nvPr/>
        </p:nvSpPr>
        <p:spPr>
          <a:xfrm>
            <a:off x="7665053" y="4051033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Método </a:t>
            </a:r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endParaRPr lang="en-US" sz="24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20A1C7E6-FF6D-F3A4-61D9-3E00E5EF46A7}"/>
              </a:ext>
            </a:extLst>
          </p:cNvPr>
          <p:cNvSpPr/>
          <p:nvPr/>
        </p:nvSpPr>
        <p:spPr>
          <a:xfrm rot="16200000">
            <a:off x="4088230" y="2477839"/>
            <a:ext cx="4339856" cy="4432044"/>
          </a:xfrm>
          <a:prstGeom prst="flowChartDelay">
            <a:avLst/>
          </a:prstGeom>
          <a:solidFill>
            <a:srgbClr val="8E92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5BF79-0658-35D8-EE42-F107C0C5AC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2" r="25945"/>
          <a:stretch/>
        </p:blipFill>
        <p:spPr>
          <a:xfrm>
            <a:off x="4471737" y="3444513"/>
            <a:ext cx="3574434" cy="3426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6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F12B6F-531E-0473-1994-213A98A3A878}"/>
              </a:ext>
            </a:extLst>
          </p:cNvPr>
          <p:cNvSpPr/>
          <p:nvPr/>
        </p:nvSpPr>
        <p:spPr>
          <a:xfrm>
            <a:off x="4309442" y="2513473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Lenguaje Java / Características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0DA05F-E44F-2853-F85F-DCDD66250F00}"/>
              </a:ext>
            </a:extLst>
          </p:cNvPr>
          <p:cNvSpPr txBox="1"/>
          <p:nvPr/>
        </p:nvSpPr>
        <p:spPr>
          <a:xfrm>
            <a:off x="63371" y="640161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https://knowledgeone.ca/wp-content/uploads/2018/11/memories.jpg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43D18B1-F542-BD15-1992-9846650D216F}"/>
              </a:ext>
            </a:extLst>
          </p:cNvPr>
          <p:cNvSpPr/>
          <p:nvPr/>
        </p:nvSpPr>
        <p:spPr>
          <a:xfrm>
            <a:off x="2282603" y="4096298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JVM / JDK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DF6E2E8-5262-ED51-9906-194C9F88D59A}"/>
              </a:ext>
            </a:extLst>
          </p:cNvPr>
          <p:cNvSpPr/>
          <p:nvPr/>
        </p:nvSpPr>
        <p:spPr>
          <a:xfrm>
            <a:off x="953831" y="2028037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Algoritmo / Programa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412D7D7-92DB-D0D5-87C9-F2AD916D1B43}"/>
              </a:ext>
            </a:extLst>
          </p:cNvPr>
          <p:cNvSpPr/>
          <p:nvPr/>
        </p:nvSpPr>
        <p:spPr>
          <a:xfrm>
            <a:off x="8087666" y="1745716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</a:t>
            </a:r>
            <a:r>
              <a:rPr lang="es-ES" sz="24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class</a:t>
            </a:r>
            <a:endParaRPr lang="en-US" sz="24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F1DD2FE-2105-A6FE-92E8-FDCC599DA76E}"/>
              </a:ext>
            </a:extLst>
          </p:cNvPr>
          <p:cNvSpPr/>
          <p:nvPr/>
        </p:nvSpPr>
        <p:spPr>
          <a:xfrm>
            <a:off x="7665053" y="4051033"/>
            <a:ext cx="2845473" cy="1912553"/>
          </a:xfrm>
          <a:custGeom>
            <a:avLst/>
            <a:gdLst>
              <a:gd name="connsiteX0" fmla="*/ 1515180 w 2845473"/>
              <a:gd name="connsiteY0" fmla="*/ 0 h 2090288"/>
              <a:gd name="connsiteX1" fmla="*/ 1837911 w 2845473"/>
              <a:gd name="connsiteY1" fmla="*/ 213920 h 2090288"/>
              <a:gd name="connsiteX2" fmla="*/ 1844406 w 2845473"/>
              <a:gd name="connsiteY2" fmla="*/ 234844 h 2090288"/>
              <a:gd name="connsiteX3" fmla="*/ 1869160 w 2845473"/>
              <a:gd name="connsiteY3" fmla="*/ 227160 h 2090288"/>
              <a:gd name="connsiteX4" fmla="*/ 1939749 w 2845473"/>
              <a:gd name="connsiteY4" fmla="*/ 220044 h 2090288"/>
              <a:gd name="connsiteX5" fmla="*/ 2290005 w 2845473"/>
              <a:gd name="connsiteY5" fmla="*/ 570300 h 2090288"/>
              <a:gd name="connsiteX6" fmla="*/ 2282889 w 2845473"/>
              <a:gd name="connsiteY6" fmla="*/ 640889 h 2090288"/>
              <a:gd name="connsiteX7" fmla="*/ 2282356 w 2845473"/>
              <a:gd name="connsiteY7" fmla="*/ 642607 h 2090288"/>
              <a:gd name="connsiteX8" fmla="*/ 2355454 w 2845473"/>
              <a:gd name="connsiteY8" fmla="*/ 635238 h 2090288"/>
              <a:gd name="connsiteX9" fmla="*/ 2845473 w 2845473"/>
              <a:gd name="connsiteY9" fmla="*/ 1125257 h 2090288"/>
              <a:gd name="connsiteX10" fmla="*/ 2454210 w 2845473"/>
              <a:gd name="connsiteY10" fmla="*/ 1605321 h 2090288"/>
              <a:gd name="connsiteX11" fmla="*/ 2410244 w 2845473"/>
              <a:gd name="connsiteY11" fmla="*/ 1609753 h 2090288"/>
              <a:gd name="connsiteX12" fmla="*/ 2400359 w 2845473"/>
              <a:gd name="connsiteY12" fmla="*/ 1641598 h 2090288"/>
              <a:gd name="connsiteX13" fmla="*/ 1948848 w 2845473"/>
              <a:gd name="connsiteY13" fmla="*/ 1940879 h 2090288"/>
              <a:gd name="connsiteX14" fmla="*/ 1674874 w 2845473"/>
              <a:gd name="connsiteY14" fmla="*/ 1857192 h 2090288"/>
              <a:gd name="connsiteX15" fmla="*/ 1648751 w 2845473"/>
              <a:gd name="connsiteY15" fmla="*/ 1835638 h 2090288"/>
              <a:gd name="connsiteX16" fmla="*/ 1627797 w 2845473"/>
              <a:gd name="connsiteY16" fmla="*/ 1874244 h 2090288"/>
              <a:gd name="connsiteX17" fmla="*/ 1221465 w 2845473"/>
              <a:gd name="connsiteY17" fmla="*/ 2090288 h 2090288"/>
              <a:gd name="connsiteX18" fmla="*/ 815134 w 2845473"/>
              <a:gd name="connsiteY18" fmla="*/ 1874244 h 2090288"/>
              <a:gd name="connsiteX19" fmla="*/ 792359 w 2845473"/>
              <a:gd name="connsiteY19" fmla="*/ 1832284 h 2090288"/>
              <a:gd name="connsiteX20" fmla="*/ 787633 w 2845473"/>
              <a:gd name="connsiteY20" fmla="*/ 1833373 h 2090288"/>
              <a:gd name="connsiteX21" fmla="*/ 683537 w 2845473"/>
              <a:gd name="connsiteY21" fmla="*/ 1841249 h 2090288"/>
              <a:gd name="connsiteX22" fmla="*/ 0 w 2845473"/>
              <a:gd name="connsiteY22" fmla="*/ 1157712 h 2090288"/>
              <a:gd name="connsiteX23" fmla="*/ 417474 w 2845473"/>
              <a:gd name="connsiteY23" fmla="*/ 527891 h 2090288"/>
              <a:gd name="connsiteX24" fmla="*/ 480999 w 2845473"/>
              <a:gd name="connsiteY24" fmla="*/ 508171 h 2090288"/>
              <a:gd name="connsiteX25" fmla="*/ 508956 w 2845473"/>
              <a:gd name="connsiteY25" fmla="*/ 418108 h 2090288"/>
              <a:gd name="connsiteX26" fmla="*/ 960467 w 2845473"/>
              <a:gd name="connsiteY26" fmla="*/ 118827 h 2090288"/>
              <a:gd name="connsiteX27" fmla="*/ 1204377 w 2845473"/>
              <a:gd name="connsiteY27" fmla="*/ 183749 h 2090288"/>
              <a:gd name="connsiteX28" fmla="*/ 1207610 w 2845473"/>
              <a:gd name="connsiteY28" fmla="*/ 185989 h 2090288"/>
              <a:gd name="connsiteX29" fmla="*/ 1224742 w 2845473"/>
              <a:gd name="connsiteY29" fmla="*/ 154424 h 2090288"/>
              <a:gd name="connsiteX30" fmla="*/ 1515180 w 2845473"/>
              <a:gd name="connsiteY30" fmla="*/ 0 h 209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845473" h="2090288">
                <a:moveTo>
                  <a:pt x="1515180" y="0"/>
                </a:moveTo>
                <a:cubicBezTo>
                  <a:pt x="1660261" y="0"/>
                  <a:pt x="1784739" y="88208"/>
                  <a:pt x="1837911" y="213920"/>
                </a:cubicBezTo>
                <a:lnTo>
                  <a:pt x="1844406" y="234844"/>
                </a:lnTo>
                <a:lnTo>
                  <a:pt x="1869160" y="227160"/>
                </a:lnTo>
                <a:cubicBezTo>
                  <a:pt x="1891961" y="222494"/>
                  <a:pt x="1915569" y="220044"/>
                  <a:pt x="1939749" y="220044"/>
                </a:cubicBezTo>
                <a:cubicBezTo>
                  <a:pt x="2133190" y="220044"/>
                  <a:pt x="2290005" y="376859"/>
                  <a:pt x="2290005" y="570300"/>
                </a:cubicBezTo>
                <a:cubicBezTo>
                  <a:pt x="2290005" y="594480"/>
                  <a:pt x="2287555" y="618088"/>
                  <a:pt x="2282889" y="640889"/>
                </a:cubicBezTo>
                <a:lnTo>
                  <a:pt x="2282356" y="642607"/>
                </a:lnTo>
                <a:lnTo>
                  <a:pt x="2355454" y="635238"/>
                </a:lnTo>
                <a:cubicBezTo>
                  <a:pt x="2626084" y="635238"/>
                  <a:pt x="2845473" y="854627"/>
                  <a:pt x="2845473" y="1125257"/>
                </a:cubicBezTo>
                <a:cubicBezTo>
                  <a:pt x="2845473" y="1362059"/>
                  <a:pt x="2677503" y="1559628"/>
                  <a:pt x="2454210" y="1605321"/>
                </a:cubicBezTo>
                <a:lnTo>
                  <a:pt x="2410244" y="1609753"/>
                </a:lnTo>
                <a:lnTo>
                  <a:pt x="2400359" y="1641598"/>
                </a:lnTo>
                <a:cubicBezTo>
                  <a:pt x="2325970" y="1817473"/>
                  <a:pt x="2151821" y="1940879"/>
                  <a:pt x="1948848" y="1940879"/>
                </a:cubicBezTo>
                <a:cubicBezTo>
                  <a:pt x="1847362" y="1940879"/>
                  <a:pt x="1753081" y="1910028"/>
                  <a:pt x="1674874" y="1857192"/>
                </a:cubicBezTo>
                <a:lnTo>
                  <a:pt x="1648751" y="1835638"/>
                </a:lnTo>
                <a:lnTo>
                  <a:pt x="1627797" y="1874244"/>
                </a:lnTo>
                <a:cubicBezTo>
                  <a:pt x="1539737" y="2004589"/>
                  <a:pt x="1390609" y="2090288"/>
                  <a:pt x="1221465" y="2090288"/>
                </a:cubicBezTo>
                <a:cubicBezTo>
                  <a:pt x="1052321" y="2090288"/>
                  <a:pt x="903193" y="2004589"/>
                  <a:pt x="815134" y="1874244"/>
                </a:cubicBezTo>
                <a:lnTo>
                  <a:pt x="792359" y="1832284"/>
                </a:lnTo>
                <a:lnTo>
                  <a:pt x="787633" y="1833373"/>
                </a:lnTo>
                <a:cubicBezTo>
                  <a:pt x="753691" y="1838560"/>
                  <a:pt x="718928" y="1841249"/>
                  <a:pt x="683537" y="1841249"/>
                </a:cubicBezTo>
                <a:cubicBezTo>
                  <a:pt x="306030" y="1841249"/>
                  <a:pt x="0" y="1535219"/>
                  <a:pt x="0" y="1157712"/>
                </a:cubicBezTo>
                <a:cubicBezTo>
                  <a:pt x="0" y="874582"/>
                  <a:pt x="172142" y="631657"/>
                  <a:pt x="417474" y="527891"/>
                </a:cubicBezTo>
                <a:lnTo>
                  <a:pt x="480999" y="508171"/>
                </a:lnTo>
                <a:lnTo>
                  <a:pt x="508956" y="418108"/>
                </a:lnTo>
                <a:cubicBezTo>
                  <a:pt x="583345" y="242233"/>
                  <a:pt x="757494" y="118827"/>
                  <a:pt x="960467" y="118827"/>
                </a:cubicBezTo>
                <a:cubicBezTo>
                  <a:pt x="1049267" y="118827"/>
                  <a:pt x="1132551" y="142448"/>
                  <a:pt x="1204377" y="183749"/>
                </a:cubicBezTo>
                <a:lnTo>
                  <a:pt x="1207610" y="185989"/>
                </a:lnTo>
                <a:lnTo>
                  <a:pt x="1224742" y="154424"/>
                </a:lnTo>
                <a:cubicBezTo>
                  <a:pt x="1287686" y="61256"/>
                  <a:pt x="1394279" y="0"/>
                  <a:pt x="1515180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Método </a:t>
            </a:r>
            <a:r>
              <a:rPr lang="es-ES" sz="24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endParaRPr lang="en-US" sz="24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97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Introducción al Lenguaje de </a:t>
            </a:r>
            <a:r>
              <a:rPr lang="es-ES">
                <a:latin typeface="Helvetica"/>
              </a:rPr>
              <a:t>Programación Java (II)</a:t>
            </a:r>
            <a:endParaRPr lang="en-US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7801F95A-97E5-4DEE-B734-79746E0E2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97547-6358-4D01-A970-DA2F4BB592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4584826" cy="4373562"/>
          </a:xfrm>
        </p:spPr>
        <p:txBody>
          <a:bodyPr>
            <a:normAutofit fontScale="92500" lnSpcReduction="20000"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 dirty="0"/>
              <a:t>Observa la imagen y responde:</a:t>
            </a:r>
          </a:p>
          <a:p>
            <a:pPr>
              <a:lnSpc>
                <a:spcPct val="110000"/>
              </a:lnSpc>
            </a:pPr>
            <a:endParaRPr lang="es-ES" sz="2000" dirty="0"/>
          </a:p>
          <a:p>
            <a:pPr>
              <a:lnSpc>
                <a:spcPct val="110000"/>
              </a:lnSpc>
            </a:pPr>
            <a:r>
              <a:rPr lang="es-ES" sz="2400" dirty="0"/>
              <a:t>¿Reconoces qué son las palabras coloreadas de </a:t>
            </a:r>
            <a:r>
              <a:rPr lang="es-ES" sz="2400" dirty="0">
                <a:solidFill>
                  <a:schemeClr val="accent1"/>
                </a:solidFill>
              </a:rPr>
              <a:t>azul</a:t>
            </a:r>
            <a:r>
              <a:rPr lang="es-ES" sz="2400" dirty="0"/>
              <a:t>? ¿Cuál es su utilidad?</a:t>
            </a:r>
          </a:p>
          <a:p>
            <a:pPr>
              <a:lnSpc>
                <a:spcPct val="110000"/>
              </a:lnSpc>
            </a:pPr>
            <a:r>
              <a:rPr lang="es-ES" sz="2400" dirty="0"/>
              <a:t>¿Y las palabras coloreadas de </a:t>
            </a: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gris</a:t>
            </a:r>
            <a:r>
              <a:rPr lang="es-ES" sz="2400" dirty="0"/>
              <a:t>? ¿Qué son y para qué sirven?</a:t>
            </a:r>
          </a:p>
          <a:p>
            <a:pPr>
              <a:lnSpc>
                <a:spcPct val="110000"/>
              </a:lnSpc>
            </a:pPr>
            <a:r>
              <a:rPr lang="es-ES" sz="2400" dirty="0"/>
              <a:t>¿Qué hacen las expresiones que comienzan con “</a:t>
            </a:r>
            <a:r>
              <a:rPr lang="es-ES" sz="2400" dirty="0">
                <a:solidFill>
                  <a:schemeClr val="accent1"/>
                </a:solidFill>
              </a:rPr>
              <a:t>Escribir</a:t>
            </a:r>
            <a:r>
              <a:rPr lang="es-ES" sz="2400" dirty="0"/>
              <a:t>”?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2FDDC3-32E1-0A0E-BC26-DE60E60445F5}"/>
              </a:ext>
            </a:extLst>
          </p:cNvPr>
          <p:cNvSpPr/>
          <p:nvPr/>
        </p:nvSpPr>
        <p:spPr>
          <a:xfrm>
            <a:off x="5685547" y="2654701"/>
            <a:ext cx="6067387" cy="2402940"/>
          </a:xfrm>
          <a:prstGeom prst="roundRect">
            <a:avLst>
              <a:gd name="adj" fmla="val 650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rgbClr val="0070C0"/>
                </a:solidFill>
                <a:latin typeface="JetBrains Mono"/>
              </a:rPr>
              <a:t>Proceso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b="1" dirty="0" err="1">
                <a:solidFill>
                  <a:srgbClr val="7030A0"/>
                </a:solidFill>
                <a:latin typeface="JetBrains Mono"/>
              </a:rPr>
              <a:t>FahrenheitACelsius</a:t>
            </a:r>
            <a:endParaRPr lang="en-US" sz="1200" b="1" dirty="0">
              <a:solidFill>
                <a:srgbClr val="7030A0"/>
              </a:solidFill>
              <a:ea typeface="+mn-lt"/>
              <a:cs typeface="+mn-lt"/>
            </a:endParaRPr>
          </a:p>
          <a:p>
            <a:pPr lvl="2">
              <a:lnSpc>
                <a:spcPct val="150000"/>
              </a:lnSpc>
            </a:pPr>
            <a:r>
              <a:rPr lang="en-US" sz="1200" dirty="0">
                <a:solidFill>
                  <a:srgbClr val="7F7F7F"/>
                </a:solidFill>
                <a:latin typeface="JetBrains Mono"/>
              </a:rPr>
              <a:t>    </a:t>
            </a:r>
            <a:r>
              <a:rPr lang="en-US" sz="1200" b="1" dirty="0" err="1">
                <a:solidFill>
                  <a:srgbClr val="0070C0"/>
                </a:solidFill>
                <a:latin typeface="JetBrains Mono"/>
              </a:rPr>
              <a:t>Definir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dirty="0" err="1">
                <a:solidFill>
                  <a:srgbClr val="7F7F7F"/>
                </a:solidFill>
                <a:latin typeface="JetBrains Mono"/>
              </a:rPr>
              <a:t>gradosFahrenheit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b="1" dirty="0">
                <a:solidFill>
                  <a:srgbClr val="0070C0"/>
                </a:solidFill>
                <a:latin typeface="JetBrains Mono"/>
              </a:rPr>
              <a:t>Como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b="1" dirty="0" err="1">
                <a:solidFill>
                  <a:srgbClr val="0070C0"/>
                </a:solidFill>
                <a:latin typeface="JetBrains Mono"/>
              </a:rPr>
              <a:t>Entero</a:t>
            </a:r>
            <a:endParaRPr lang="en-US" sz="1200" b="1" dirty="0">
              <a:solidFill>
                <a:srgbClr val="0070C0"/>
              </a:solidFill>
              <a:ea typeface="+mn-lt"/>
              <a:cs typeface="+mn-lt"/>
            </a:endParaRPr>
          </a:p>
          <a:p>
            <a:pPr lvl="2">
              <a:lnSpc>
                <a:spcPct val="150000"/>
              </a:lnSpc>
            </a:pPr>
            <a:r>
              <a:rPr lang="en-US" sz="1200" dirty="0">
                <a:solidFill>
                  <a:srgbClr val="7F7F7F"/>
                </a:solidFill>
                <a:latin typeface="JetBrains Mono"/>
              </a:rPr>
              <a:t>    </a:t>
            </a:r>
            <a:r>
              <a:rPr lang="en-US" sz="1200" b="1" dirty="0" err="1">
                <a:solidFill>
                  <a:srgbClr val="0070C0"/>
                </a:solidFill>
                <a:latin typeface="JetBrains Mono"/>
              </a:rPr>
              <a:t>Definir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dirty="0" err="1">
                <a:solidFill>
                  <a:srgbClr val="7F7F7F"/>
                </a:solidFill>
                <a:latin typeface="JetBrains Mono"/>
              </a:rPr>
              <a:t>gradosCelsius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b="1" dirty="0">
                <a:solidFill>
                  <a:srgbClr val="0070C0"/>
                </a:solidFill>
                <a:latin typeface="JetBrains Mono"/>
              </a:rPr>
              <a:t>Como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JetBrains Mono"/>
              </a:rPr>
              <a:t>Real</a:t>
            </a:r>
            <a:endParaRPr lang="en-US" sz="1200" b="1" dirty="0">
              <a:solidFill>
                <a:srgbClr val="0070C0"/>
              </a:solidFill>
              <a:ea typeface="+mn-lt"/>
              <a:cs typeface="+mn-lt"/>
            </a:endParaRPr>
          </a:p>
          <a:p>
            <a:pPr lvl="2">
              <a:lnSpc>
                <a:spcPct val="150000"/>
              </a:lnSpc>
            </a:pPr>
            <a:r>
              <a:rPr lang="en-US" sz="1200" dirty="0">
                <a:solidFill>
                  <a:srgbClr val="7F7F7F"/>
                </a:solidFill>
                <a:latin typeface="JetBrains Mono"/>
              </a:rPr>
              <a:t>    </a:t>
            </a:r>
            <a:r>
              <a:rPr lang="en-US" sz="1200" b="1" dirty="0" err="1">
                <a:solidFill>
                  <a:srgbClr val="0070C0"/>
                </a:solidFill>
                <a:latin typeface="JetBrains Mono"/>
              </a:rPr>
              <a:t>Escribir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dirty="0">
                <a:solidFill>
                  <a:srgbClr val="00B050"/>
                </a:solidFill>
                <a:latin typeface="JetBrains Mono"/>
              </a:rPr>
              <a:t>"</a:t>
            </a:r>
            <a:r>
              <a:rPr lang="en-US" sz="1200" dirty="0" err="1">
                <a:solidFill>
                  <a:srgbClr val="00B050"/>
                </a:solidFill>
                <a:latin typeface="JetBrains Mono"/>
              </a:rPr>
              <a:t>Ingrese</a:t>
            </a:r>
            <a:r>
              <a:rPr lang="en-US" sz="1200" dirty="0">
                <a:solidFill>
                  <a:srgbClr val="00B050"/>
                </a:solidFill>
                <a:latin typeface="JetBrains Mono"/>
              </a:rPr>
              <a:t> la </a:t>
            </a:r>
            <a:r>
              <a:rPr lang="en-US" sz="1200" dirty="0" err="1">
                <a:solidFill>
                  <a:srgbClr val="00B050"/>
                </a:solidFill>
                <a:latin typeface="JetBrains Mono"/>
              </a:rPr>
              <a:t>temperatura</a:t>
            </a:r>
            <a:r>
              <a:rPr lang="en-US" sz="1200" dirty="0">
                <a:solidFill>
                  <a:srgbClr val="00B050"/>
                </a:solidFill>
                <a:latin typeface="JetBrains Mono"/>
              </a:rPr>
              <a:t> </a:t>
            </a:r>
            <a:r>
              <a:rPr lang="en-US" sz="1200" dirty="0" err="1">
                <a:solidFill>
                  <a:srgbClr val="00B050"/>
                </a:solidFill>
                <a:latin typeface="JetBrains Mono"/>
              </a:rPr>
              <a:t>en</a:t>
            </a:r>
            <a:r>
              <a:rPr lang="en-US" sz="1200" dirty="0">
                <a:solidFill>
                  <a:srgbClr val="00B050"/>
                </a:solidFill>
                <a:latin typeface="JetBrains Mono"/>
              </a:rPr>
              <a:t> </a:t>
            </a:r>
            <a:r>
              <a:rPr lang="en-US" sz="1200" dirty="0" err="1">
                <a:solidFill>
                  <a:srgbClr val="00B050"/>
                </a:solidFill>
                <a:latin typeface="JetBrains Mono"/>
              </a:rPr>
              <a:t>grados</a:t>
            </a:r>
            <a:r>
              <a:rPr lang="en-US" sz="1200" dirty="0">
                <a:solidFill>
                  <a:srgbClr val="00B050"/>
                </a:solidFill>
                <a:latin typeface="JetBrains Mono"/>
              </a:rPr>
              <a:t> Fahrenheit:"</a:t>
            </a:r>
            <a:endParaRPr lang="en-US" sz="1200" dirty="0">
              <a:solidFill>
                <a:srgbClr val="00B050"/>
              </a:solidFill>
              <a:ea typeface="+mn-lt"/>
              <a:cs typeface="+mn-lt"/>
            </a:endParaRPr>
          </a:p>
          <a:p>
            <a:pPr lvl="2">
              <a:lnSpc>
                <a:spcPct val="150000"/>
              </a:lnSpc>
            </a:pPr>
            <a:r>
              <a:rPr lang="en-US" sz="1200" dirty="0">
                <a:solidFill>
                  <a:srgbClr val="7F7F7F"/>
                </a:solidFill>
                <a:latin typeface="JetBrains Mono"/>
              </a:rPr>
              <a:t>    </a:t>
            </a:r>
            <a:r>
              <a:rPr lang="en-US" sz="1200" b="1" dirty="0">
                <a:solidFill>
                  <a:srgbClr val="0070C0"/>
                </a:solidFill>
                <a:latin typeface="JetBrains Mono"/>
              </a:rPr>
              <a:t>Leer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dirty="0" err="1">
                <a:solidFill>
                  <a:srgbClr val="7F7F7F"/>
                </a:solidFill>
                <a:latin typeface="JetBrains Mono"/>
              </a:rPr>
              <a:t>gradosFahrenheit</a:t>
            </a:r>
            <a:endParaRPr lang="en-US" sz="1200" dirty="0">
              <a:solidFill>
                <a:srgbClr val="7F7F7F"/>
              </a:solidFill>
              <a:ea typeface="+mn-lt"/>
              <a:cs typeface="+mn-lt"/>
            </a:endParaRPr>
          </a:p>
          <a:p>
            <a:pPr lvl="2">
              <a:lnSpc>
                <a:spcPct val="150000"/>
              </a:lnSpc>
            </a:pPr>
            <a:r>
              <a:rPr lang="en-US" sz="1200" dirty="0">
                <a:solidFill>
                  <a:srgbClr val="7F7F7F"/>
                </a:solidFill>
                <a:latin typeface="JetBrains Mono"/>
              </a:rPr>
              <a:t>    </a:t>
            </a:r>
            <a:r>
              <a:rPr lang="en-US" sz="1200" dirty="0" err="1">
                <a:solidFill>
                  <a:srgbClr val="7F7F7F"/>
                </a:solidFill>
                <a:latin typeface="JetBrains Mono"/>
              </a:rPr>
              <a:t>gradosCelsius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dirty="0">
                <a:solidFill>
                  <a:srgbClr val="FF00FF"/>
                </a:solidFill>
                <a:latin typeface="JetBrains Mono"/>
              </a:rPr>
              <a:t>=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 (</a:t>
            </a:r>
            <a:r>
              <a:rPr lang="en-US" sz="1200" dirty="0" err="1">
                <a:solidFill>
                  <a:srgbClr val="7F7F7F"/>
                </a:solidFill>
                <a:latin typeface="JetBrains Mono"/>
              </a:rPr>
              <a:t>gradosFahrenheit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dirty="0">
                <a:solidFill>
                  <a:srgbClr val="FF00FF"/>
                </a:solidFill>
                <a:latin typeface="JetBrains Mono"/>
              </a:rPr>
              <a:t>-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JetBrains Mono"/>
              </a:rPr>
              <a:t>32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) </a:t>
            </a:r>
            <a:r>
              <a:rPr lang="en-US" sz="1200" dirty="0">
                <a:solidFill>
                  <a:srgbClr val="FF00FF"/>
                </a:solidFill>
                <a:latin typeface="JetBrains Mono"/>
              </a:rPr>
              <a:t>*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JetBrains Mono"/>
              </a:rPr>
              <a:t>5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JetBrains Mono"/>
              </a:rPr>
              <a:t>/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JetBrains Mono"/>
              </a:rPr>
              <a:t>9</a:t>
            </a:r>
            <a:endParaRPr lang="en-US" sz="1200" dirty="0">
              <a:solidFill>
                <a:srgbClr val="C00000"/>
              </a:solidFill>
              <a:ea typeface="+mn-lt"/>
              <a:cs typeface="+mn-lt"/>
            </a:endParaRPr>
          </a:p>
          <a:p>
            <a:pPr lvl="2">
              <a:lnSpc>
                <a:spcPct val="150000"/>
              </a:lnSpc>
            </a:pPr>
            <a:r>
              <a:rPr lang="en-US" sz="1200" dirty="0">
                <a:solidFill>
                  <a:srgbClr val="7F7F7F"/>
                </a:solidFill>
                <a:latin typeface="JetBrains Mono"/>
              </a:rPr>
              <a:t>    </a:t>
            </a:r>
            <a:r>
              <a:rPr lang="en-US" sz="1200" b="1" dirty="0" err="1">
                <a:solidFill>
                  <a:srgbClr val="0070C0"/>
                </a:solidFill>
                <a:latin typeface="JetBrains Mono"/>
              </a:rPr>
              <a:t>Escribir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dirty="0">
                <a:solidFill>
                  <a:srgbClr val="00B050"/>
                </a:solidFill>
                <a:latin typeface="JetBrains Mono"/>
              </a:rPr>
              <a:t>"</a:t>
            </a:r>
            <a:r>
              <a:rPr lang="en-US" sz="1200" dirty="0" err="1">
                <a:solidFill>
                  <a:srgbClr val="00B050"/>
                </a:solidFill>
                <a:latin typeface="JetBrains Mono"/>
              </a:rPr>
              <a:t>Temperatura</a:t>
            </a:r>
            <a:r>
              <a:rPr lang="en-US" sz="1200" dirty="0">
                <a:solidFill>
                  <a:srgbClr val="00B050"/>
                </a:solidFill>
                <a:latin typeface="JetBrains Mono"/>
              </a:rPr>
              <a:t> </a:t>
            </a:r>
            <a:r>
              <a:rPr lang="en-US" sz="1200" dirty="0" err="1">
                <a:solidFill>
                  <a:srgbClr val="00B050"/>
                </a:solidFill>
                <a:latin typeface="JetBrains Mono"/>
              </a:rPr>
              <a:t>en</a:t>
            </a:r>
            <a:r>
              <a:rPr lang="en-US" sz="1200" dirty="0">
                <a:solidFill>
                  <a:srgbClr val="00B050"/>
                </a:solidFill>
                <a:latin typeface="JetBrains Mono"/>
              </a:rPr>
              <a:t> </a:t>
            </a:r>
            <a:r>
              <a:rPr lang="en-US" sz="1200" dirty="0" err="1">
                <a:solidFill>
                  <a:srgbClr val="00B050"/>
                </a:solidFill>
                <a:latin typeface="JetBrains Mono"/>
              </a:rPr>
              <a:t>grados</a:t>
            </a:r>
            <a:r>
              <a:rPr lang="en-US" sz="1200" dirty="0">
                <a:solidFill>
                  <a:srgbClr val="00B050"/>
                </a:solidFill>
                <a:latin typeface="JetBrains Mono"/>
              </a:rPr>
              <a:t> </a:t>
            </a:r>
            <a:r>
              <a:rPr lang="en-US" sz="1200" dirty="0" err="1">
                <a:solidFill>
                  <a:srgbClr val="00B050"/>
                </a:solidFill>
                <a:latin typeface="JetBrains Mono"/>
              </a:rPr>
              <a:t>Celcius</a:t>
            </a:r>
            <a:r>
              <a:rPr lang="en-US" sz="1200" dirty="0">
                <a:solidFill>
                  <a:srgbClr val="00B050"/>
                </a:solidFill>
                <a:latin typeface="JetBrains Mono"/>
              </a:rPr>
              <a:t>: "</a:t>
            </a:r>
            <a:r>
              <a:rPr lang="en-US" sz="1200" dirty="0">
                <a:solidFill>
                  <a:srgbClr val="FF00FF"/>
                </a:solidFill>
                <a:latin typeface="JetBrains Mono"/>
              </a:rPr>
              <a:t>,</a:t>
            </a:r>
            <a:r>
              <a:rPr lang="en-US" sz="1200" dirty="0">
                <a:solidFill>
                  <a:srgbClr val="7F7F7F"/>
                </a:solidFill>
                <a:latin typeface="JetBrains Mono"/>
              </a:rPr>
              <a:t> </a:t>
            </a:r>
            <a:r>
              <a:rPr lang="en-US" sz="1200" dirty="0" err="1">
                <a:solidFill>
                  <a:srgbClr val="7F7F7F"/>
                </a:solidFill>
                <a:latin typeface="JetBrains Mono"/>
              </a:rPr>
              <a:t>gradosCelsius</a:t>
            </a:r>
            <a:endParaRPr lang="en-US" sz="1200" dirty="0">
              <a:solidFill>
                <a:srgbClr val="7F7F7F"/>
              </a:solidFill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rgbClr val="0070C0"/>
                </a:solidFill>
                <a:latin typeface="JetBrains Mono"/>
              </a:rPr>
              <a:t>FinProceso</a:t>
            </a:r>
            <a:endParaRPr lang="en-US" sz="1200" b="1" dirty="0" err="1">
              <a:solidFill>
                <a:srgbClr val="0070C0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/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conoce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las principales características del lenguaje de programación Java</a:t>
            </a:r>
            <a:r>
              <a:rPr lang="es-ES" dirty="0"/>
              <a:t> </a:t>
            </a:r>
            <a:r>
              <a:rPr lang="es-ES" dirty="0">
                <a:solidFill>
                  <a:srgbClr val="D3052C"/>
                </a:solidFill>
              </a:rPr>
              <a:t>mediante la resolución de ejercicios utilizando un  IDE Java</a:t>
            </a:r>
            <a:r>
              <a:rPr lang="es-ES" dirty="0"/>
              <a:t> </a:t>
            </a:r>
            <a:r>
              <a:rPr lang="es-ES" dirty="0">
                <a:solidFill>
                  <a:srgbClr val="7030A0"/>
                </a:solidFill>
              </a:rPr>
              <a:t>para realizar operaciones básicas y generar salidas en pantalla.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D87FA7-0550-8D5B-34FB-FECF2503B0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r="15589"/>
          <a:stretch/>
        </p:blipFill>
        <p:spPr>
          <a:xfrm>
            <a:off x="8112869" y="3575181"/>
            <a:ext cx="4079131" cy="328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4344A6-58F5-C2D2-E15E-DE86E9E8C3A3}"/>
              </a:ext>
            </a:extLst>
          </p:cNvPr>
          <p:cNvSpPr txBox="1"/>
          <p:nvPr/>
        </p:nvSpPr>
        <p:spPr>
          <a:xfrm>
            <a:off x="206261" y="6013306"/>
            <a:ext cx="10583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solidFill>
                  <a:schemeClr val="accent3"/>
                </a:solidFill>
              </a:rPr>
              <a:t>Imagenes</a:t>
            </a:r>
            <a:r>
              <a:rPr lang="en-US" sz="900" dirty="0">
                <a:solidFill>
                  <a:schemeClr val="accent3"/>
                </a:solidFill>
              </a:rPr>
              <a:t> </a:t>
            </a:r>
            <a:r>
              <a:rPr lang="en-US" sz="900" dirty="0" err="1">
                <a:solidFill>
                  <a:schemeClr val="accent3"/>
                </a:solidFill>
              </a:rPr>
              <a:t>obtenidas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https://static.vecteezy.com/system/resources/previews/008/546/029/non_2x/problem-icons-symbol-elements-for-infographic-web-vector.jpg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https://static.thenounproject.com/png/3308381-200.png / https://cdn-icons-png.flaticon.com/512/2618/2618595.png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https://cdn-icons-png.flaticon.com/512/226/226777.png / https://naahtoolworks.com/wp-content/uploads/2017/02/tools@2x.png / https://cdn-icons-png.flaticon.com/512/858/858150.png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2024334" y="4746870"/>
            <a:ext cx="90890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b="1" dirty="0" err="1">
                <a:solidFill>
                  <a:srgbClr val="0E7D73"/>
                </a:solidFill>
                <a:latin typeface="Helvetica" pitchFamily="2" charset="0"/>
              </a:rPr>
              <a:t>Programar</a:t>
            </a:r>
            <a:r>
              <a:rPr lang="en-US" sz="2800" b="1" dirty="0"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secuencias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de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instrucciones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b="1" dirty="0" err="1">
                <a:latin typeface="Helvetica" pitchFamily="2" charset="0"/>
              </a:rPr>
              <a:t>utilizando</a:t>
            </a:r>
            <a:r>
              <a:rPr lang="en-US" sz="2800" b="1" dirty="0">
                <a:latin typeface="Helvetica" pitchFamily="2" charset="0"/>
              </a:rPr>
              <a:t> </a:t>
            </a:r>
            <a:r>
              <a:rPr lang="en-US" sz="2800" b="1" dirty="0" err="1">
                <a:latin typeface="Helvetica" pitchFamily="2" charset="0"/>
              </a:rPr>
              <a:t>el</a:t>
            </a:r>
            <a:r>
              <a:rPr lang="en-US" sz="2800" b="1" dirty="0"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1B5E8B"/>
                </a:solidFill>
                <a:latin typeface="Helvetica" pitchFamily="2" charset="0"/>
              </a:rPr>
              <a:t>lenguaje</a:t>
            </a:r>
            <a:r>
              <a:rPr lang="en-US" sz="2800" b="1" dirty="0">
                <a:solidFill>
                  <a:srgbClr val="1B5E8B"/>
                </a:solidFill>
                <a:latin typeface="Helvetica" pitchFamily="2" charset="0"/>
              </a:rPr>
              <a:t> Java </a:t>
            </a:r>
            <a:r>
              <a:rPr lang="en-US" sz="2800" b="1" dirty="0">
                <a:latin typeface="Helvetica" pitchFamily="2" charset="0"/>
              </a:rPr>
              <a:t>para </a:t>
            </a:r>
            <a:r>
              <a:rPr lang="en-US" sz="2800" b="1" dirty="0">
                <a:solidFill>
                  <a:srgbClr val="7030A0"/>
                </a:solidFill>
                <a:latin typeface="Helvetica" pitchFamily="2" charset="0"/>
              </a:rPr>
              <a:t>resolver un </a:t>
            </a:r>
            <a:r>
              <a:rPr lang="en-US" sz="2800" b="1" dirty="0" err="1">
                <a:solidFill>
                  <a:srgbClr val="7030A0"/>
                </a:solidFill>
                <a:latin typeface="Helvetica" pitchFamily="2" charset="0"/>
              </a:rPr>
              <a:t>problema</a:t>
            </a:r>
            <a:r>
              <a:rPr lang="en-US" sz="2800" b="1" dirty="0">
                <a:latin typeface="Helvetica" pitchFamily="2" charset="0"/>
              </a:rPr>
              <a:t>.</a:t>
            </a:r>
            <a:endParaRPr lang="es-ES" sz="2800" b="1" dirty="0">
              <a:latin typeface="Helvetica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A8AB352-5284-5375-296B-28A0D5EE5970}"/>
              </a:ext>
            </a:extLst>
          </p:cNvPr>
          <p:cNvGrpSpPr/>
          <p:nvPr/>
        </p:nvGrpSpPr>
        <p:grpSpPr>
          <a:xfrm>
            <a:off x="750227" y="1674550"/>
            <a:ext cx="905688" cy="1269284"/>
            <a:chOff x="1258346" y="1548918"/>
            <a:chExt cx="905688" cy="126928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E5A5A09-38BF-B57B-242F-EBC0C9D9F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8121" y="1548918"/>
              <a:ext cx="744460" cy="954107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71663B-1538-82B0-125C-87F386CD4D10}"/>
                </a:ext>
              </a:extLst>
            </p:cNvPr>
            <p:cNvSpPr txBox="1"/>
            <p:nvPr/>
          </p:nvSpPr>
          <p:spPr>
            <a:xfrm>
              <a:off x="1258346" y="2541203"/>
              <a:ext cx="9056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200" dirty="0">
                  <a:solidFill>
                    <a:schemeClr val="accent2"/>
                  </a:solidFill>
                </a:rPr>
                <a:t>Problema</a:t>
              </a:r>
              <a:endParaRPr lang="en-US" sz="120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B494195-3C9C-6A57-F93A-1F5C1868BC15}"/>
              </a:ext>
            </a:extLst>
          </p:cNvPr>
          <p:cNvGrpSpPr/>
          <p:nvPr/>
        </p:nvGrpSpPr>
        <p:grpSpPr>
          <a:xfrm>
            <a:off x="1773287" y="1939860"/>
            <a:ext cx="2670506" cy="738664"/>
            <a:chOff x="1773287" y="1939860"/>
            <a:chExt cx="2670506" cy="73866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49A77E-7198-1DE2-3E3A-BC3F19BFF6BC}"/>
                </a:ext>
              </a:extLst>
            </p:cNvPr>
            <p:cNvSpPr txBox="1"/>
            <p:nvPr/>
          </p:nvSpPr>
          <p:spPr>
            <a:xfrm>
              <a:off x="2379123" y="1939860"/>
              <a:ext cx="206467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dirty="0"/>
                <a:t>¿Cuál es el primer paso para resolver un problema?</a:t>
              </a:r>
              <a:endParaRPr lang="en-US" dirty="0"/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6F6591F2-51FF-AC6F-80A8-7AD42BF7B1AA}"/>
                </a:ext>
              </a:extLst>
            </p:cNvPr>
            <p:cNvSpPr/>
            <p:nvPr/>
          </p:nvSpPr>
          <p:spPr>
            <a:xfrm>
              <a:off x="1773287" y="2190491"/>
              <a:ext cx="488464" cy="237402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702E2DF-54A7-0577-A3A3-2B4E456A10B7}"/>
              </a:ext>
            </a:extLst>
          </p:cNvPr>
          <p:cNvGrpSpPr/>
          <p:nvPr/>
        </p:nvGrpSpPr>
        <p:grpSpPr>
          <a:xfrm>
            <a:off x="4561165" y="1629008"/>
            <a:ext cx="1580922" cy="1360369"/>
            <a:chOff x="4561165" y="1629008"/>
            <a:chExt cx="1580922" cy="136036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00D2D13-7263-9E32-D6E3-9A34D6AB812A}"/>
                </a:ext>
              </a:extLst>
            </p:cNvPr>
            <p:cNvGrpSpPr/>
            <p:nvPr/>
          </p:nvGrpSpPr>
          <p:grpSpPr>
            <a:xfrm>
              <a:off x="5167001" y="1629008"/>
              <a:ext cx="975086" cy="1360369"/>
              <a:chOff x="4068559" y="1482479"/>
              <a:chExt cx="975086" cy="1360369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6F46020A-0704-C596-543B-64BB3266F2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25062" y="1482479"/>
                <a:ext cx="898704" cy="898704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BEBDE6-6F1C-2827-BAE0-A9AC737214F0}"/>
                  </a:ext>
                </a:extLst>
              </p:cNvPr>
              <p:cNvSpPr txBox="1"/>
              <p:nvPr/>
            </p:nvSpPr>
            <p:spPr>
              <a:xfrm>
                <a:off x="4068559" y="2381183"/>
                <a:ext cx="97508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2"/>
                    </a:solidFill>
                  </a:rPr>
                  <a:t>Plan de </a:t>
                </a:r>
                <a:r>
                  <a:rPr lang="en-US" sz="1200" dirty="0" err="1">
                    <a:solidFill>
                      <a:schemeClr val="accent2"/>
                    </a:solidFill>
                  </a:rPr>
                  <a:t>solución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A5EF9522-055A-D075-642C-EF8CF13087F0}"/>
                </a:ext>
              </a:extLst>
            </p:cNvPr>
            <p:cNvSpPr/>
            <p:nvPr/>
          </p:nvSpPr>
          <p:spPr>
            <a:xfrm>
              <a:off x="4561165" y="2190491"/>
              <a:ext cx="488464" cy="237402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E3256A5-2B02-E4AE-0099-FD51B47C8A17}"/>
              </a:ext>
            </a:extLst>
          </p:cNvPr>
          <p:cNvGrpSpPr/>
          <p:nvPr/>
        </p:nvGrpSpPr>
        <p:grpSpPr>
          <a:xfrm>
            <a:off x="6259459" y="1939860"/>
            <a:ext cx="2579716" cy="738664"/>
            <a:chOff x="6259459" y="1939860"/>
            <a:chExt cx="2579716" cy="7386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0C2FCF-C6D3-3F69-787D-100B8CF05394}"/>
                </a:ext>
              </a:extLst>
            </p:cNvPr>
            <p:cNvSpPr txBox="1"/>
            <p:nvPr/>
          </p:nvSpPr>
          <p:spPr>
            <a:xfrm>
              <a:off x="6865295" y="1939860"/>
              <a:ext cx="197388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¿</a:t>
              </a:r>
              <a:r>
                <a:rPr lang="en-US" dirty="0" err="1"/>
                <a:t>En</a:t>
              </a:r>
              <a:r>
                <a:rPr lang="en-US" dirty="0"/>
                <a:t> </a:t>
              </a:r>
              <a:r>
                <a:rPr lang="en-US" dirty="0" err="1"/>
                <a:t>qué</a:t>
              </a:r>
              <a:r>
                <a:rPr lang="en-US" dirty="0"/>
                <a:t> </a:t>
              </a:r>
              <a:r>
                <a:rPr lang="en-US" dirty="0" err="1"/>
                <a:t>debemos</a:t>
              </a:r>
              <a:r>
                <a:rPr lang="en-US" dirty="0"/>
                <a:t> </a:t>
              </a:r>
              <a:r>
                <a:rPr lang="en-US" dirty="0" err="1"/>
                <a:t>transformar</a:t>
              </a:r>
              <a:r>
                <a:rPr lang="en-US" dirty="0"/>
                <a:t> </a:t>
              </a:r>
              <a:r>
                <a:rPr lang="en-US" dirty="0" err="1"/>
                <a:t>el</a:t>
              </a:r>
              <a:r>
                <a:rPr lang="en-US" dirty="0"/>
                <a:t> plan de </a:t>
              </a:r>
              <a:r>
                <a:rPr lang="en-US" dirty="0" err="1"/>
                <a:t>solución</a:t>
              </a:r>
              <a:r>
                <a:rPr lang="en-US" dirty="0"/>
                <a:t>?</a:t>
              </a:r>
            </a:p>
          </p:txBody>
        </p: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0278331F-6075-CF7F-A928-43329A611EFD}"/>
                </a:ext>
              </a:extLst>
            </p:cNvPr>
            <p:cNvSpPr/>
            <p:nvPr/>
          </p:nvSpPr>
          <p:spPr>
            <a:xfrm>
              <a:off x="6259459" y="2190491"/>
              <a:ext cx="488464" cy="237402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62C1581-70CD-3778-3813-7239A86F137D}"/>
              </a:ext>
            </a:extLst>
          </p:cNvPr>
          <p:cNvGrpSpPr/>
          <p:nvPr/>
        </p:nvGrpSpPr>
        <p:grpSpPr>
          <a:xfrm>
            <a:off x="8956547" y="1646597"/>
            <a:ext cx="1781701" cy="1325191"/>
            <a:chOff x="8956547" y="1646597"/>
            <a:chExt cx="1781701" cy="132519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81F7BE4-E372-8597-C3B6-FCAB0A25A83F}"/>
                </a:ext>
              </a:extLst>
            </p:cNvPr>
            <p:cNvGrpSpPr/>
            <p:nvPr/>
          </p:nvGrpSpPr>
          <p:grpSpPr>
            <a:xfrm>
              <a:off x="9562384" y="1646597"/>
              <a:ext cx="1175864" cy="1325191"/>
              <a:chOff x="6948171" y="1518234"/>
              <a:chExt cx="1175864" cy="1325191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6E3EB7CD-92D5-8642-37D7-DDE4CEB46A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8357" y="1518234"/>
                <a:ext cx="826460" cy="826460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BF247D-3828-5AFC-175D-F8C4788623F1}"/>
                  </a:ext>
                </a:extLst>
              </p:cNvPr>
              <p:cNvSpPr txBox="1"/>
              <p:nvPr/>
            </p:nvSpPr>
            <p:spPr>
              <a:xfrm>
                <a:off x="6948171" y="2381760"/>
                <a:ext cx="11758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 err="1">
                    <a:solidFill>
                      <a:schemeClr val="accent2"/>
                    </a:solidFill>
                  </a:rPr>
                  <a:t>Secuencia</a:t>
                </a:r>
                <a:r>
                  <a:rPr lang="en-US" sz="1200" dirty="0">
                    <a:solidFill>
                      <a:schemeClr val="accent2"/>
                    </a:solidFill>
                  </a:rPr>
                  <a:t> de </a:t>
                </a:r>
                <a:r>
                  <a:rPr lang="en-US" sz="1200" dirty="0" err="1">
                    <a:solidFill>
                      <a:schemeClr val="accent2"/>
                    </a:solidFill>
                  </a:rPr>
                  <a:t>instrucciones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6068AFA8-2A7C-BA69-D455-52961AF1F1E3}"/>
                </a:ext>
              </a:extLst>
            </p:cNvPr>
            <p:cNvSpPr/>
            <p:nvPr/>
          </p:nvSpPr>
          <p:spPr>
            <a:xfrm>
              <a:off x="8956547" y="2190491"/>
              <a:ext cx="488464" cy="237402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1DAAF86-5376-7A7A-ADEB-6233C712551D}"/>
              </a:ext>
            </a:extLst>
          </p:cNvPr>
          <p:cNvGrpSpPr/>
          <p:nvPr/>
        </p:nvGrpSpPr>
        <p:grpSpPr>
          <a:xfrm>
            <a:off x="8438315" y="2151604"/>
            <a:ext cx="3540415" cy="2004035"/>
            <a:chOff x="8438315" y="2151604"/>
            <a:chExt cx="3540415" cy="200403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C6341C-6AFE-96D6-AD1A-70DFF1A74AA9}"/>
                </a:ext>
              </a:extLst>
            </p:cNvPr>
            <p:cNvSpPr txBox="1"/>
            <p:nvPr/>
          </p:nvSpPr>
          <p:spPr>
            <a:xfrm>
              <a:off x="8438315" y="3416975"/>
              <a:ext cx="2364841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¿Qué </a:t>
              </a:r>
              <a:r>
                <a:rPr lang="en-US" dirty="0" err="1"/>
                <a:t>lograremos</a:t>
              </a:r>
              <a:r>
                <a:rPr lang="en-US" dirty="0"/>
                <a:t> al </a:t>
              </a:r>
              <a:r>
                <a:rPr lang="en-US" dirty="0" err="1"/>
                <a:t>ejecutar</a:t>
              </a:r>
              <a:r>
                <a:rPr lang="en-US" dirty="0"/>
                <a:t> </a:t>
              </a:r>
              <a:r>
                <a:rPr lang="en-US" dirty="0" err="1"/>
                <a:t>esta</a:t>
              </a:r>
              <a:r>
                <a:rPr lang="en-US" dirty="0"/>
                <a:t> </a:t>
              </a:r>
              <a:r>
                <a:rPr lang="en-US" dirty="0" err="1"/>
                <a:t>secuencia</a:t>
              </a:r>
              <a:r>
                <a:rPr lang="en-US" dirty="0"/>
                <a:t> de </a:t>
              </a:r>
              <a:r>
                <a:rPr lang="en-US" dirty="0" err="1"/>
                <a:t>instrucciones</a:t>
              </a:r>
              <a:r>
                <a:rPr lang="en-US" dirty="0"/>
                <a:t>?</a:t>
              </a:r>
            </a:p>
          </p:txBody>
        </p:sp>
        <p:sp>
          <p:nvSpPr>
            <p:cNvPr id="44" name="Arrow: U-Turn 43">
              <a:extLst>
                <a:ext uri="{FF2B5EF4-FFF2-40B4-BE49-F238E27FC236}">
                  <a16:creationId xmlns:a16="http://schemas.microsoft.com/office/drawing/2014/main" id="{9881F0C0-86ED-C701-7E07-08C250DB5D38}"/>
                </a:ext>
              </a:extLst>
            </p:cNvPr>
            <p:cNvSpPr/>
            <p:nvPr/>
          </p:nvSpPr>
          <p:spPr>
            <a:xfrm rot="5400000">
              <a:off x="10600065" y="2441691"/>
              <a:ext cx="1668751" cy="1088578"/>
            </a:xfrm>
            <a:prstGeom prst="uturnArrow">
              <a:avLst>
                <a:gd name="adj1" fmla="val 10391"/>
                <a:gd name="adj2" fmla="val 13131"/>
                <a:gd name="adj3" fmla="val 13131"/>
                <a:gd name="adj4" fmla="val 43750"/>
                <a:gd name="adj5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88A828-FF73-E3E6-8B5D-A6B538578B19}"/>
              </a:ext>
            </a:extLst>
          </p:cNvPr>
          <p:cNvGrpSpPr/>
          <p:nvPr/>
        </p:nvGrpSpPr>
        <p:grpSpPr>
          <a:xfrm>
            <a:off x="6684532" y="3081273"/>
            <a:ext cx="1673476" cy="1410069"/>
            <a:chOff x="6684532" y="3081273"/>
            <a:chExt cx="1673476" cy="141006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67ABBE7-7E4C-BEFE-892A-65FA209FB148}"/>
                </a:ext>
              </a:extLst>
            </p:cNvPr>
            <p:cNvGrpSpPr/>
            <p:nvPr/>
          </p:nvGrpSpPr>
          <p:grpSpPr>
            <a:xfrm>
              <a:off x="6684532" y="3081273"/>
              <a:ext cx="1104705" cy="1410069"/>
              <a:chOff x="8636675" y="799374"/>
              <a:chExt cx="1104705" cy="141006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58DFE2F4-5FCC-E461-12F0-169818F613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44792" y="799374"/>
                <a:ext cx="871330" cy="871330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49C79EF-585F-7E85-253A-C988C0212B0C}"/>
                  </a:ext>
                </a:extLst>
              </p:cNvPr>
              <p:cNvSpPr txBox="1"/>
              <p:nvPr/>
            </p:nvSpPr>
            <p:spPr>
              <a:xfrm>
                <a:off x="8636675" y="1747778"/>
                <a:ext cx="11047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 err="1">
                    <a:solidFill>
                      <a:schemeClr val="accent2"/>
                    </a:solidFill>
                  </a:rPr>
                  <a:t>Solucionar</a:t>
                </a:r>
                <a:r>
                  <a:rPr lang="en-US" sz="1200" dirty="0">
                    <a:solidFill>
                      <a:schemeClr val="accent2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accent2"/>
                    </a:solidFill>
                  </a:rPr>
                  <a:t>el</a:t>
                </a:r>
                <a:r>
                  <a:rPr lang="en-US" sz="1200" dirty="0">
                    <a:solidFill>
                      <a:schemeClr val="accent2"/>
                    </a:solidFill>
                  </a:rPr>
                  <a:t> </a:t>
                </a:r>
                <a:r>
                  <a:rPr lang="en-US" sz="1200" dirty="0" err="1">
                    <a:solidFill>
                      <a:schemeClr val="accent2"/>
                    </a:solidFill>
                  </a:rPr>
                  <a:t>problema</a:t>
                </a:r>
                <a:endParaRPr lang="en-US" sz="12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76942CFE-2AB0-8A4F-F396-CE3EC504F12C}"/>
                </a:ext>
              </a:extLst>
            </p:cNvPr>
            <p:cNvSpPr/>
            <p:nvPr/>
          </p:nvSpPr>
          <p:spPr>
            <a:xfrm flipH="1">
              <a:off x="7869544" y="3667606"/>
              <a:ext cx="488464" cy="237402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681B3B2-9123-A273-FDE9-47E652E3D3F6}"/>
              </a:ext>
            </a:extLst>
          </p:cNvPr>
          <p:cNvGrpSpPr/>
          <p:nvPr/>
        </p:nvGrpSpPr>
        <p:grpSpPr>
          <a:xfrm>
            <a:off x="3670613" y="3416975"/>
            <a:ext cx="2933612" cy="738664"/>
            <a:chOff x="3670613" y="3416975"/>
            <a:chExt cx="2933612" cy="73866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E93EB75-B64F-490D-237A-48FA16F20C8E}"/>
                </a:ext>
              </a:extLst>
            </p:cNvPr>
            <p:cNvSpPr txBox="1"/>
            <p:nvPr/>
          </p:nvSpPr>
          <p:spPr>
            <a:xfrm>
              <a:off x="3670613" y="3416975"/>
              <a:ext cx="2364841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¿Qué </a:t>
              </a:r>
              <a:r>
                <a:rPr lang="en-US" dirty="0" err="1"/>
                <a:t>lenguaje</a:t>
              </a:r>
              <a:r>
                <a:rPr lang="en-US" dirty="0"/>
                <a:t> </a:t>
              </a:r>
              <a:r>
                <a:rPr lang="en-US" dirty="0" err="1"/>
                <a:t>utilizaremos</a:t>
              </a:r>
              <a:r>
                <a:rPr lang="en-US" dirty="0"/>
                <a:t> para </a:t>
              </a:r>
              <a:r>
                <a:rPr lang="en-US" dirty="0" err="1"/>
                <a:t>programar</a:t>
              </a:r>
              <a:r>
                <a:rPr lang="en-US" dirty="0"/>
                <a:t> las </a:t>
              </a:r>
              <a:r>
                <a:rPr lang="en-US" dirty="0" err="1"/>
                <a:t>instrucciones</a:t>
              </a:r>
              <a:r>
                <a:rPr lang="en-US" dirty="0"/>
                <a:t>?</a:t>
              </a: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DC85A8AE-C6B0-7F97-4B31-014D7865C817}"/>
                </a:ext>
              </a:extLst>
            </p:cNvPr>
            <p:cNvSpPr/>
            <p:nvPr/>
          </p:nvSpPr>
          <p:spPr>
            <a:xfrm flipH="1">
              <a:off x="6115761" y="3667606"/>
              <a:ext cx="488464" cy="237402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F0A5F79-E460-1720-1D3B-2D451F6E8721}"/>
              </a:ext>
            </a:extLst>
          </p:cNvPr>
          <p:cNvGrpSpPr/>
          <p:nvPr/>
        </p:nvGrpSpPr>
        <p:grpSpPr>
          <a:xfrm>
            <a:off x="2024334" y="3106718"/>
            <a:ext cx="1565972" cy="1359178"/>
            <a:chOff x="2024334" y="3106718"/>
            <a:chExt cx="1565972" cy="135917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B073CA8-053E-60E0-15E4-0CF3D69A2CE9}"/>
                </a:ext>
              </a:extLst>
            </p:cNvPr>
            <p:cNvGrpSpPr/>
            <p:nvPr/>
          </p:nvGrpSpPr>
          <p:grpSpPr>
            <a:xfrm>
              <a:off x="2024334" y="3106718"/>
              <a:ext cx="997201" cy="1359178"/>
              <a:chOff x="9862571" y="1347493"/>
              <a:chExt cx="997201" cy="1359178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9E47CE1E-A6C1-7DE0-2AD9-E6CCB9AC87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62571" y="1347493"/>
                <a:ext cx="997201" cy="997201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FF21610-B96B-FFA6-0824-5572B9E4F813}"/>
                  </a:ext>
                </a:extLst>
              </p:cNvPr>
              <p:cNvSpPr txBox="1"/>
              <p:nvPr/>
            </p:nvSpPr>
            <p:spPr>
              <a:xfrm>
                <a:off x="10028561" y="2429672"/>
                <a:ext cx="64144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2"/>
                    </a:solidFill>
                  </a:rPr>
                  <a:t>Java</a:t>
                </a:r>
              </a:p>
            </p:txBody>
          </p:sp>
        </p:grpSp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133088A9-139E-53DF-0626-2ECBB74297C6}"/>
                </a:ext>
              </a:extLst>
            </p:cNvPr>
            <p:cNvSpPr/>
            <p:nvPr/>
          </p:nvSpPr>
          <p:spPr>
            <a:xfrm flipH="1">
              <a:off x="3101842" y="3667606"/>
              <a:ext cx="488464" cy="237402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48" name="Arrow: U-Turn 47">
            <a:extLst>
              <a:ext uri="{FF2B5EF4-FFF2-40B4-BE49-F238E27FC236}">
                <a16:creationId xmlns:a16="http://schemas.microsoft.com/office/drawing/2014/main" id="{396D99C8-0DC4-8B07-326A-6F5E5F278A31}"/>
              </a:ext>
            </a:extLst>
          </p:cNvPr>
          <p:cNvSpPr/>
          <p:nvPr/>
        </p:nvSpPr>
        <p:spPr>
          <a:xfrm rot="16200000" flipH="1">
            <a:off x="450561" y="3974484"/>
            <a:ext cx="1668751" cy="1088578"/>
          </a:xfrm>
          <a:prstGeom prst="uturnArrow">
            <a:avLst>
              <a:gd name="adj1" fmla="val 10391"/>
              <a:gd name="adj2" fmla="val 13131"/>
              <a:gd name="adj3" fmla="val 13131"/>
              <a:gd name="adj4" fmla="val 43750"/>
              <a:gd name="adj5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Palabras</a:t>
              </a:r>
              <a:br>
                <a:rPr lang="es-ES" dirty="0">
                  <a:solidFill>
                    <a:schemeClr val="bg1"/>
                  </a:solidFill>
                  <a:latin typeface="Helvetica"/>
                </a:rPr>
              </a:br>
              <a:r>
                <a:rPr lang="es-ES" dirty="0">
                  <a:solidFill>
                    <a:schemeClr val="bg1"/>
                  </a:solidFill>
                  <a:latin typeface="Helvetica"/>
                </a:rPr>
                <a:t>reservadas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Salida por pantalla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Salida con secuencias de escape y formatos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Identificadores, variables y constantes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Salida por pantalla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Salida con secuencias de escape y formatos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Identificadores, variables y constantes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1F3D1-1E81-775F-7B05-642025ED483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Palabras</a:t>
              </a:r>
              <a:br>
                <a:rPr lang="es-ES" dirty="0">
                  <a:solidFill>
                    <a:schemeClr val="bg1"/>
                  </a:solidFill>
                  <a:latin typeface="Helvetica"/>
                </a:rPr>
              </a:br>
              <a:r>
                <a:rPr lang="es-ES" dirty="0">
                  <a:solidFill>
                    <a:schemeClr val="bg1"/>
                  </a:solidFill>
                  <a:latin typeface="Helvetica"/>
                </a:rPr>
                <a:t>reservadas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95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E4B5A3A-7F83-A9D2-7FFA-D60A769DC04A}"/>
              </a:ext>
            </a:extLst>
          </p:cNvPr>
          <p:cNvGrpSpPr/>
          <p:nvPr/>
        </p:nvGrpSpPr>
        <p:grpSpPr>
          <a:xfrm>
            <a:off x="860147" y="-36940"/>
            <a:ext cx="4629752" cy="1015663"/>
            <a:chOff x="924025" y="1526961"/>
            <a:chExt cx="4629752" cy="10156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660D735-9802-7B4A-7B09-7B46C1F108CA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965356-5C03-03EB-CF37-2BDC7540A295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Palabras</a:t>
              </a:r>
              <a:br>
                <a:rPr lang="es-ES" dirty="0">
                  <a:solidFill>
                    <a:schemeClr val="bg1"/>
                  </a:solidFill>
                  <a:latin typeface="Helvetica"/>
                </a:rPr>
              </a:br>
              <a:r>
                <a:rPr lang="es-ES" dirty="0">
                  <a:solidFill>
                    <a:schemeClr val="bg1"/>
                  </a:solidFill>
                  <a:latin typeface="Helvetica"/>
                </a:rPr>
                <a:t>reservadas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FE160C-6E87-5472-DFCA-E962F208A0C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0592BEA-43DD-ECE1-2C5E-654AB273A31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0F9F1C-EBDE-CDDA-FFC2-30CD8365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Palabras reservadas (</a:t>
            </a:r>
            <a:r>
              <a:rPr lang="es-ES" dirty="0" err="1"/>
              <a:t>keywords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B1E376-C09D-3E7D-2ED3-553B4A89B7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651B4-FF91-CF06-F76C-5A74862886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85519"/>
            <a:ext cx="10515600" cy="408223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dirty="0"/>
              <a:t>Una </a:t>
            </a:r>
            <a:r>
              <a:rPr lang="es-ES" b="1" dirty="0"/>
              <a:t>palabra reservada</a:t>
            </a:r>
            <a:r>
              <a:rPr lang="es-ES" dirty="0"/>
              <a:t> es una </a:t>
            </a:r>
            <a:r>
              <a:rPr lang="es-ES" b="1" dirty="0">
                <a:solidFill>
                  <a:schemeClr val="accent2"/>
                </a:solidFill>
              </a:rPr>
              <a:t>palabra predefinida</a:t>
            </a:r>
            <a:r>
              <a:rPr lang="es-ES" dirty="0"/>
              <a:t> que tiene un </a:t>
            </a:r>
            <a:r>
              <a:rPr lang="es-ES" b="1" dirty="0">
                <a:solidFill>
                  <a:schemeClr val="accent2"/>
                </a:solidFill>
              </a:rPr>
              <a:t>significado especial</a:t>
            </a:r>
            <a:r>
              <a:rPr lang="es-ES" dirty="0"/>
              <a:t> para el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compilador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Forman parte de la sintaxis del lenguaje de programación.</a:t>
            </a:r>
          </a:p>
          <a:p>
            <a:pPr>
              <a:lnSpc>
                <a:spcPct val="120000"/>
              </a:lnSpc>
            </a:pPr>
            <a:r>
              <a:rPr lang="es-ES" b="1" dirty="0">
                <a:solidFill>
                  <a:schemeClr val="accent2"/>
                </a:solidFill>
              </a:rPr>
              <a:t>No pueden ser utilizadas como identificadores</a:t>
            </a:r>
            <a:r>
              <a:rPr lang="es-ES" dirty="0"/>
              <a:t> en los programas.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7A6EBFB-EFE8-0AA3-A98A-5A454C361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18" y="4648646"/>
            <a:ext cx="5202511" cy="1631394"/>
          </a:xfrm>
          <a:prstGeom prst="roundRect">
            <a:avLst>
              <a:gd name="adj" fmla="val 4669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package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pe.edu.utp.tallerprogramacion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HelloUTP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"Hello! UTP"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3FD7DB-9E4B-E2BE-4A29-BED7F063C680}"/>
              </a:ext>
            </a:extLst>
          </p:cNvPr>
          <p:cNvGrpSpPr/>
          <p:nvPr/>
        </p:nvGrpSpPr>
        <p:grpSpPr>
          <a:xfrm>
            <a:off x="5565718" y="6328641"/>
            <a:ext cx="2680769" cy="307777"/>
            <a:chOff x="7499501" y="5459978"/>
            <a:chExt cx="2680769" cy="3077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C33BBBB-0D47-4765-7BB2-1EE775221C32}"/>
                </a:ext>
              </a:extLst>
            </p:cNvPr>
            <p:cNvSpPr txBox="1"/>
            <p:nvPr/>
          </p:nvSpPr>
          <p:spPr>
            <a:xfrm>
              <a:off x="7698500" y="5459978"/>
              <a:ext cx="24817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rgbClr val="CC7832"/>
                  </a:solidFill>
                  <a:latin typeface="Helvetica" pitchFamily="2" charset="0"/>
                </a:rPr>
                <a:t>Palabra reservada (</a:t>
              </a:r>
              <a:r>
                <a:rPr lang="es-ES" dirty="0" err="1">
                  <a:solidFill>
                    <a:srgbClr val="CC7832"/>
                  </a:solidFill>
                  <a:latin typeface="Helvetica" pitchFamily="2" charset="0"/>
                </a:rPr>
                <a:t>keyword</a:t>
              </a:r>
              <a:r>
                <a:rPr lang="es-ES" dirty="0">
                  <a:solidFill>
                    <a:srgbClr val="CC7832"/>
                  </a:solidFill>
                  <a:latin typeface="Helvetica" pitchFamily="2" charset="0"/>
                </a:rPr>
                <a:t>)</a:t>
              </a:r>
              <a:endParaRPr lang="en-US" dirty="0">
                <a:solidFill>
                  <a:srgbClr val="CC7832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287268-ED5E-B4B7-2C79-D0DCBF7363BE}"/>
                </a:ext>
              </a:extLst>
            </p:cNvPr>
            <p:cNvSpPr/>
            <p:nvPr/>
          </p:nvSpPr>
          <p:spPr>
            <a:xfrm>
              <a:off x="7499501" y="5510225"/>
              <a:ext cx="205154" cy="205154"/>
            </a:xfrm>
            <a:prstGeom prst="rect">
              <a:avLst/>
            </a:prstGeom>
            <a:solidFill>
              <a:srgbClr val="CC7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99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279E-CB3C-514C-77A6-979B6993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Palabras reservadas (</a:t>
            </a:r>
            <a:r>
              <a:rPr lang="es-ES" dirty="0" err="1"/>
              <a:t>keywords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BC5360-2E37-5115-B17F-BF8B39FA4C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C8CA6DD-D4E9-87AD-DA08-A9F1176C23F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25876386"/>
              </p:ext>
            </p:extLst>
          </p:nvPr>
        </p:nvGraphicFramePr>
        <p:xfrm>
          <a:off x="838200" y="1729212"/>
          <a:ext cx="10515600" cy="444346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1904254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580234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426542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965538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82258072"/>
                    </a:ext>
                  </a:extLst>
                </a:gridCol>
              </a:tblGrid>
              <a:tr h="44434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abstract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continue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for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new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switch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52374641"/>
                  </a:ext>
                </a:extLst>
              </a:tr>
              <a:tr h="44434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assert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default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goto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package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synchronized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2326796"/>
                  </a:ext>
                </a:extLst>
              </a:tr>
              <a:tr h="444346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boolean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do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if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private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this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02839135"/>
                  </a:ext>
                </a:extLst>
              </a:tr>
              <a:tr h="444346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break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double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implements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protected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throw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76089644"/>
                  </a:ext>
                </a:extLst>
              </a:tr>
              <a:tr h="444346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byte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else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import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public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throws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921903"/>
                  </a:ext>
                </a:extLst>
              </a:tr>
              <a:tr h="444346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case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enum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instanceof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return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transient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43770967"/>
                  </a:ext>
                </a:extLst>
              </a:tr>
              <a:tr h="444346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catch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extends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int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short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try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0756694"/>
                  </a:ext>
                </a:extLst>
              </a:tr>
              <a:tr h="444346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char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final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interface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static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void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1995863"/>
                  </a:ext>
                </a:extLst>
              </a:tr>
              <a:tr h="444346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class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finally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long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strictfp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volatile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649008"/>
                  </a:ext>
                </a:extLst>
              </a:tr>
              <a:tr h="44434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const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float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native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super</a:t>
                      </a:r>
                      <a:endParaRPr lang="en-US" sz="1800" b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while</a:t>
                      </a:r>
                      <a:endParaRPr lang="en-US" sz="18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Inconsolata" panose="00000509000000000000" pitchFamily="49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51179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26FEAF-4AA2-709C-6C41-5BDF8AED418B}"/>
              </a:ext>
            </a:extLst>
          </p:cNvPr>
          <p:cNvSpPr txBox="1"/>
          <p:nvPr/>
        </p:nvSpPr>
        <p:spPr>
          <a:xfrm>
            <a:off x="838199" y="6228792"/>
            <a:ext cx="7988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i="1" dirty="0" err="1">
                <a:solidFill>
                  <a:srgbClr val="00B0F0"/>
                </a:solidFill>
              </a:rPr>
              <a:t>const</a:t>
            </a:r>
            <a:r>
              <a:rPr lang="es-ES" i="1" dirty="0">
                <a:solidFill>
                  <a:srgbClr val="00B0F0"/>
                </a:solidFill>
              </a:rPr>
              <a:t> y </a:t>
            </a:r>
            <a:r>
              <a:rPr lang="es-ES" b="1" i="1" dirty="0" err="1">
                <a:solidFill>
                  <a:srgbClr val="00B0F0"/>
                </a:solidFill>
              </a:rPr>
              <a:t>goto</a:t>
            </a:r>
            <a:r>
              <a:rPr lang="es-ES" i="1" dirty="0">
                <a:solidFill>
                  <a:srgbClr val="00B0F0"/>
                </a:solidFill>
              </a:rPr>
              <a:t> son palabras reservadas pero no están en uso.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DA3350-B7FE-F6BF-40D9-EE83F836295C}"/>
              </a:ext>
            </a:extLst>
          </p:cNvPr>
          <p:cNvGrpSpPr/>
          <p:nvPr/>
        </p:nvGrpSpPr>
        <p:grpSpPr>
          <a:xfrm>
            <a:off x="860147" y="-36940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B789F6-6EE4-06B7-15B2-FB568BECE1B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6FC4048-6FF0-88E2-77C4-BA395FD349F0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Palabras</a:t>
              </a:r>
              <a:br>
                <a:rPr lang="es-ES" dirty="0">
                  <a:solidFill>
                    <a:schemeClr val="bg1"/>
                  </a:solidFill>
                  <a:latin typeface="Helvetica"/>
                </a:rPr>
              </a:br>
              <a:r>
                <a:rPr lang="es-ES" dirty="0">
                  <a:solidFill>
                    <a:schemeClr val="bg1"/>
                  </a:solidFill>
                  <a:latin typeface="Helvetica"/>
                </a:rPr>
                <a:t>reservadas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1E2DDE2-7983-EA2D-47C3-B3E29F8B16C3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2522B6C-59D5-82DE-2BC4-CC27CF9FD5C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146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Palabras</a:t>
              </a:r>
              <a:br>
                <a:rPr lang="es-ES" dirty="0">
                  <a:solidFill>
                    <a:schemeClr val="bg1"/>
                  </a:solidFill>
                  <a:latin typeface="Helvetica"/>
                </a:rPr>
              </a:br>
              <a:r>
                <a:rPr lang="es-ES" dirty="0">
                  <a:solidFill>
                    <a:schemeClr val="bg1"/>
                  </a:solidFill>
                  <a:latin typeface="Helvetica"/>
                </a:rPr>
                <a:t>reservadas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Salida con secuencias de escape y formatos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Identificadores, variables y constantes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1F3D1-1E81-775F-7B05-642025ED483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Salida por pantalla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140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FC2730-C34A-D923-107D-1DB3368177D3}"/>
              </a:ext>
            </a:extLst>
          </p:cNvPr>
          <p:cNvGrpSpPr/>
          <p:nvPr/>
        </p:nvGrpSpPr>
        <p:grpSpPr>
          <a:xfrm>
            <a:off x="858237" y="-32842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76840E-0824-C76E-700D-2396A5C980F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3EFCCE-F3DA-6FF0-5D3D-2B5432BC93A7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Salida por pantalla</a:t>
              </a:r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3C5EED8-53FE-AC46-EBB6-587F291CFEB3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5200AD-A9E0-BD62-30D2-26CBBDEA648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8AFBE6-C964-05E8-F6B1-8D161CBA1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Salida por pantalla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2B51A4-6595-180D-F1BD-40BBBE25AE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8F028-6F1C-E7A2-BA08-368D45910F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355186" cy="4119971"/>
          </a:xfrm>
        </p:spPr>
        <p:txBody>
          <a:bodyPr>
            <a:normAutofit/>
          </a:bodyPr>
          <a:lstStyle/>
          <a:p>
            <a:r>
              <a:rPr lang="es-ES" dirty="0"/>
              <a:t>El método utilizado es </a:t>
            </a:r>
            <a:r>
              <a:rPr lang="es-ES" b="1" dirty="0" err="1">
                <a:solidFill>
                  <a:schemeClr val="accent2"/>
                </a:solidFill>
              </a:rPr>
              <a:t>println</a:t>
            </a:r>
            <a:r>
              <a:rPr lang="es-ES" b="1" dirty="0">
                <a:solidFill>
                  <a:schemeClr val="accent2"/>
                </a:solidFill>
              </a:rPr>
              <a:t>()</a:t>
            </a:r>
            <a:r>
              <a:rPr lang="es-ES" dirty="0"/>
              <a:t> (</a:t>
            </a:r>
            <a:r>
              <a:rPr lang="es-ES" i="1" dirty="0" err="1"/>
              <a:t>print</a:t>
            </a:r>
            <a:r>
              <a:rPr lang="es-ES" i="1" dirty="0"/>
              <a:t> line</a:t>
            </a:r>
            <a:r>
              <a:rPr lang="es-ES" dirty="0"/>
              <a:t>)</a:t>
            </a:r>
          </a:p>
          <a:p>
            <a:r>
              <a:rPr lang="es-ES" dirty="0"/>
              <a:t>Esta sentencia le indica a la computadora mostrar algo en la pantalla.</a:t>
            </a:r>
          </a:p>
          <a:p>
            <a:r>
              <a:rPr lang="es-ES" dirty="0"/>
              <a:t>Se puede imprimir texto, variables, objetos y otros elementos.</a:t>
            </a:r>
          </a:p>
          <a:p>
            <a:r>
              <a:rPr lang="es-ES" dirty="0"/>
              <a:t>Luego de imprimir agrega un salto de línea.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E9A9A-EBB2-38C6-3EEB-E1ECA93670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59784" y="2830789"/>
            <a:ext cx="3608619" cy="3614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4982B9-E402-6C81-E88E-4C91F7FFF92B}"/>
              </a:ext>
            </a:extLst>
          </p:cNvPr>
          <p:cNvSpPr txBox="1"/>
          <p:nvPr/>
        </p:nvSpPr>
        <p:spPr>
          <a:xfrm>
            <a:off x="8437831" y="3537636"/>
            <a:ext cx="2969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Programando en Java _</a:t>
            </a:r>
            <a:endParaRPr lang="en-US" sz="1600" dirty="0">
              <a:solidFill>
                <a:srgbClr val="0070C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1C4BB8-6CD5-A868-AD9D-4748F626AEDB}"/>
              </a:ext>
            </a:extLst>
          </p:cNvPr>
          <p:cNvSpPr txBox="1"/>
          <p:nvPr/>
        </p:nvSpPr>
        <p:spPr>
          <a:xfrm>
            <a:off x="197261" y="624801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https://i.pinimg.com/736x/a1/f4/65/a1f46544b651c57ba33a2154399cde29.jpg</a:t>
            </a:r>
          </a:p>
        </p:txBody>
      </p:sp>
    </p:spTree>
    <p:extLst>
      <p:ext uri="{BB962C8B-B14F-4D97-AF65-F5344CB8AC3E}">
        <p14:creationId xmlns:p14="http://schemas.microsoft.com/office/powerpoint/2010/main" val="368763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1AF5C-F28B-4CB0-6652-274D9C9C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System.out.println</a:t>
            </a:r>
            <a:r>
              <a:rPr lang="es-ES" dirty="0"/>
              <a:t>()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E2F7D9-8577-5EF1-FCCA-CF16C7552F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5D9F39-72EA-EFEF-D1F2-953983DC4446}"/>
              </a:ext>
            </a:extLst>
          </p:cNvPr>
          <p:cNvGrpSpPr/>
          <p:nvPr/>
        </p:nvGrpSpPr>
        <p:grpSpPr>
          <a:xfrm>
            <a:off x="2093457" y="2467314"/>
            <a:ext cx="8164119" cy="2899859"/>
            <a:chOff x="1637945" y="3389646"/>
            <a:chExt cx="8164119" cy="289985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63413AC-808A-B74C-C3C7-FF8BFBEDF6D7}"/>
                </a:ext>
              </a:extLst>
            </p:cNvPr>
            <p:cNvSpPr txBox="1"/>
            <p:nvPr/>
          </p:nvSpPr>
          <p:spPr>
            <a:xfrm>
              <a:off x="1637945" y="4313793"/>
              <a:ext cx="8164119" cy="578882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0" lang="en-US" altLang="en-US" sz="2800" i="0" u="none" strike="noStrike" cap="none" normalizeH="0" baseline="0" dirty="0" err="1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System.</a:t>
              </a:r>
              <a:r>
                <a:rPr kumimoji="0" lang="en-US" altLang="en-US" sz="2800" i="1" u="none" strike="noStrike" cap="none" normalizeH="0" baseline="0" dirty="0" err="1">
                  <a:ln>
                    <a:noFill/>
                  </a:ln>
                  <a:solidFill>
                    <a:srgbClr val="9876AA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out</a:t>
              </a:r>
              <a:r>
                <a:rPr kumimoji="0" lang="en-US" altLang="en-US" sz="2800" i="0" u="none" strike="noStrike" cap="none" normalizeH="0" baseline="0" dirty="0" err="1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.println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rgbClr val="6A8759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"Hello! UTP"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rgbClr val="A9B7C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</a:t>
              </a:r>
              <a:r>
                <a:rPr kumimoji="0" lang="en-US" altLang="en-US" sz="2800" i="0" u="none" strike="noStrike" cap="none" normalizeH="0" baseline="0" dirty="0">
                  <a:ln>
                    <a:noFill/>
                  </a:ln>
                  <a:solidFill>
                    <a:srgbClr val="CC783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endPara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C981FE-CB2E-CA9D-C0A2-312537E972A6}"/>
                </a:ext>
              </a:extLst>
            </p:cNvPr>
            <p:cNvSpPr txBox="1"/>
            <p:nvPr/>
          </p:nvSpPr>
          <p:spPr>
            <a:xfrm>
              <a:off x="1637945" y="3389646"/>
              <a:ext cx="33217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Referido al sistema (computadora)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77D2C1-ADFB-A81D-155A-88E8303C2AC0}"/>
                </a:ext>
              </a:extLst>
            </p:cNvPr>
            <p:cNvSpPr txBox="1"/>
            <p:nvPr/>
          </p:nvSpPr>
          <p:spPr>
            <a:xfrm>
              <a:off x="2130485" y="5704730"/>
              <a:ext cx="27531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Referido a la salida estándar (monitor)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8A09D7-4369-DD70-C439-6BAB757B8BBB}"/>
                </a:ext>
              </a:extLst>
            </p:cNvPr>
            <p:cNvSpPr txBox="1"/>
            <p:nvPr/>
          </p:nvSpPr>
          <p:spPr>
            <a:xfrm>
              <a:off x="5247030" y="5702658"/>
              <a:ext cx="35800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Referido al método que realiza la impresión (</a:t>
              </a:r>
              <a:r>
                <a:rPr lang="es-ES" sz="1600" i="1" dirty="0" err="1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print</a:t>
              </a:r>
              <a:r>
                <a:rPr lang="es-ES" sz="1600" i="1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 line</a:t>
              </a:r>
              <a:r>
                <a:rPr lang="es-ES" sz="16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)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25F5C1-2E58-A743-6D64-39B0B47D18C0}"/>
                </a:ext>
              </a:extLst>
            </p:cNvPr>
            <p:cNvSpPr txBox="1"/>
            <p:nvPr/>
          </p:nvSpPr>
          <p:spPr>
            <a:xfrm>
              <a:off x="6586675" y="3403966"/>
              <a:ext cx="16562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Texto a imprimir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52A0558-A0F3-A8CA-D65F-98255AB97F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9808" y="3774380"/>
              <a:ext cx="2961" cy="538339"/>
            </a:xfrm>
            <a:prstGeom prst="straightConnector1">
              <a:avLst/>
            </a:prstGeom>
            <a:ln w="28575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03120E5-28C1-E58F-86E8-C6A82CA7E2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4713" y="4945610"/>
              <a:ext cx="483483" cy="666760"/>
            </a:xfrm>
            <a:prstGeom prst="straightConnector1">
              <a:avLst/>
            </a:prstGeom>
            <a:ln w="28575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F7FE6B8-6F92-2932-4A52-2ADE9CDD37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3322" y="4934299"/>
              <a:ext cx="439602" cy="668835"/>
            </a:xfrm>
            <a:prstGeom prst="straightConnector1">
              <a:avLst/>
            </a:prstGeom>
            <a:ln w="28575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ABBFAE5-B705-593F-B911-B1D99BF28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8278" y="3733284"/>
              <a:ext cx="206509" cy="560939"/>
            </a:xfrm>
            <a:prstGeom prst="straightConnector1">
              <a:avLst/>
            </a:prstGeom>
            <a:ln w="28575">
              <a:solidFill>
                <a:srgbClr val="FF416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7F04730-0642-3D34-C593-E05926DCA94F}"/>
              </a:ext>
            </a:extLst>
          </p:cNvPr>
          <p:cNvGrpSpPr/>
          <p:nvPr/>
        </p:nvGrpSpPr>
        <p:grpSpPr>
          <a:xfrm>
            <a:off x="858237" y="-32842"/>
            <a:ext cx="4629752" cy="1015663"/>
            <a:chOff x="924025" y="1526961"/>
            <a:chExt cx="4629752" cy="10156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BE0FAC7-F95B-10BD-0A12-37E3D18B339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CCA75B2-AC31-81C1-EE96-DE64D9C4AE9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Salida por pantalla</a:t>
              </a:r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F15E42-4440-8773-CFEC-238D7ED754E9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0B78E2-8E4C-67D4-C7BF-35E32C27F60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759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Salida por pantalla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Palabras</a:t>
              </a:r>
              <a:br>
                <a:rPr lang="es-ES" dirty="0">
                  <a:solidFill>
                    <a:schemeClr val="bg1"/>
                  </a:solidFill>
                  <a:latin typeface="Helvetica"/>
                </a:rPr>
              </a:br>
              <a:r>
                <a:rPr lang="es-ES" dirty="0">
                  <a:solidFill>
                    <a:schemeClr val="bg1"/>
                  </a:solidFill>
                  <a:latin typeface="Helvetica"/>
                </a:rPr>
                <a:t>reservadas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Identificadores, variables y constantes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1F3D1-1E81-775F-7B05-642025ED483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Salida con secuencias de escape y formatos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836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D665D0A-63A1-0854-0D1B-98F6F002523B}"/>
              </a:ext>
            </a:extLst>
          </p:cNvPr>
          <p:cNvGrpSpPr/>
          <p:nvPr/>
        </p:nvGrpSpPr>
        <p:grpSpPr>
          <a:xfrm>
            <a:off x="857839" y="-32191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40D329-BFB1-64B0-DD57-4EE4C9AE1C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4CAEADA-DFA3-34FF-D5C1-4AAC3328E39E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Salida con secuencias de escape y formatos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07D2137-06DD-368A-4FC9-76BF56681F8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3AC4F27-38E4-590C-EAAD-7EDAA354AE0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E9B383-610A-55BE-2E22-98F847CF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Secuencias de escape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A55AC1-AEFE-66D9-BD64-7A76682BA4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EE0049-7E92-B0EA-043B-5DD7411B0F4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9289612"/>
              </p:ext>
            </p:extLst>
          </p:nvPr>
        </p:nvGraphicFramePr>
        <p:xfrm>
          <a:off x="946841" y="1719156"/>
          <a:ext cx="5517333" cy="2895600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2529689">
                  <a:extLst>
                    <a:ext uri="{9D8B030D-6E8A-4147-A177-3AD203B41FA5}">
                      <a16:colId xmlns:a16="http://schemas.microsoft.com/office/drawing/2014/main" val="2967026462"/>
                    </a:ext>
                  </a:extLst>
                </a:gridCol>
                <a:gridCol w="2987644">
                  <a:extLst>
                    <a:ext uri="{9D8B030D-6E8A-4147-A177-3AD203B41FA5}">
                      <a16:colId xmlns:a16="http://schemas.microsoft.com/office/drawing/2014/main" val="3197466556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Secuencia de escape​</a:t>
                      </a:r>
                      <a:endParaRPr lang="es-419" sz="16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Descripción​</a:t>
                      </a:r>
                      <a:endParaRPr lang="es-419" sz="16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18265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\’​</a:t>
                      </a:r>
                      <a:endParaRPr lang="es-419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Comilla simple​</a:t>
                      </a:r>
                      <a:endParaRPr lang="es-419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4138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\”​</a:t>
                      </a:r>
                      <a:endParaRPr lang="es-419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Comilla doble​</a:t>
                      </a:r>
                      <a:endParaRPr lang="es-419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5308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\\​</a:t>
                      </a:r>
                      <a:endParaRPr lang="es-419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Backslash​</a:t>
                      </a:r>
                      <a:endParaRPr lang="es-419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17166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\r​</a:t>
                      </a:r>
                      <a:endParaRPr lang="es-419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Retorno de carro​</a:t>
                      </a:r>
                      <a:endParaRPr lang="es-419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08384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\n​</a:t>
                      </a:r>
                      <a:endParaRPr lang="es-419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Nueva línea​</a:t>
                      </a:r>
                      <a:endParaRPr lang="es-419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89869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\t​</a:t>
                      </a:r>
                      <a:endParaRPr lang="es-419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Tab​</a:t>
                      </a:r>
                      <a:endParaRPr lang="es-419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51713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\b​</a:t>
                      </a:r>
                      <a:endParaRPr lang="es-419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600" b="0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Backspace</a:t>
                      </a:r>
                      <a:r>
                        <a:rPr lang="es-419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​</a:t>
                      </a:r>
                      <a:endParaRPr lang="es-419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801106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6F2EEDFD-1E2B-48E1-437D-F24F0629E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841" y="5003696"/>
            <a:ext cx="10248318" cy="408623"/>
          </a:xfrm>
          <a:prstGeom prst="round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\n\t\"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Steve Jobs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announced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iPhone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at 2007."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B2F9E2-D43F-0227-33A4-36A66BB2A7A8}"/>
              </a:ext>
            </a:extLst>
          </p:cNvPr>
          <p:cNvSpPr txBox="1"/>
          <p:nvPr/>
        </p:nvSpPr>
        <p:spPr>
          <a:xfrm>
            <a:off x="946841" y="5870837"/>
            <a:ext cx="6097508" cy="578882"/>
          </a:xfrm>
          <a:prstGeom prst="round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"Steve Jobs" announced the </a:t>
            </a:r>
          </a:p>
          <a:p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iPhone at 2007.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F54DF-A719-D33C-5BAA-71D823397039}"/>
              </a:ext>
            </a:extLst>
          </p:cNvPr>
          <p:cNvSpPr txBox="1"/>
          <p:nvPr/>
        </p:nvSpPr>
        <p:spPr>
          <a:xfrm>
            <a:off x="946841" y="5479176"/>
            <a:ext cx="1408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99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EBA41-5064-955D-6167-78DED7978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Salida con formato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82BA69-DD8A-9DE0-2D06-DE56E4A62E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E4CA1-EF95-F708-D945-FDE2C4556C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846263"/>
            <a:ext cx="5381531" cy="4373562"/>
          </a:xfrm>
        </p:spPr>
        <p:txBody>
          <a:bodyPr/>
          <a:lstStyle/>
          <a:p>
            <a:r>
              <a:rPr lang="es-ES" dirty="0"/>
              <a:t>Se utiliza el método </a:t>
            </a:r>
            <a:r>
              <a:rPr lang="es-ES" b="1" dirty="0" err="1">
                <a:solidFill>
                  <a:schemeClr val="accent2"/>
                </a:solidFill>
              </a:rPr>
              <a:t>printf</a:t>
            </a:r>
            <a:r>
              <a:rPr lang="es-ES" b="1" dirty="0">
                <a:solidFill>
                  <a:schemeClr val="accent2"/>
                </a:solidFill>
              </a:rPr>
              <a:t>()</a:t>
            </a:r>
            <a:r>
              <a:rPr lang="es-ES" dirty="0">
                <a:solidFill>
                  <a:schemeClr val="tx1"/>
                </a:solidFill>
              </a:rPr>
              <a:t> (perteneciente a </a:t>
            </a:r>
            <a:r>
              <a:rPr lang="es-ES" b="1" dirty="0" err="1">
                <a:solidFill>
                  <a:schemeClr val="tx1"/>
                </a:solidFill>
              </a:rPr>
              <a:t>PrintStream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Hace uso de </a:t>
            </a:r>
            <a:r>
              <a:rPr lang="es-ES" b="1" dirty="0">
                <a:solidFill>
                  <a:schemeClr val="accent2"/>
                </a:solidFill>
              </a:rPr>
              <a:t>especificadores de formato</a:t>
            </a:r>
            <a:r>
              <a:rPr lang="es-ES" dirty="0">
                <a:solidFill>
                  <a:schemeClr val="tx1"/>
                </a:solidFill>
              </a:rPr>
              <a:t> para formatear los valores a mostrar.</a:t>
            </a:r>
            <a:endParaRPr lang="es-E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20CA0CF-95D8-A910-36F9-A01F16507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68182"/>
              </p:ext>
            </p:extLst>
          </p:nvPr>
        </p:nvGraphicFramePr>
        <p:xfrm>
          <a:off x="6771991" y="1981286"/>
          <a:ext cx="4952833" cy="410351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115257">
                  <a:extLst>
                    <a:ext uri="{9D8B030D-6E8A-4147-A177-3AD203B41FA5}">
                      <a16:colId xmlns:a16="http://schemas.microsoft.com/office/drawing/2014/main" val="789934092"/>
                    </a:ext>
                  </a:extLst>
                </a:gridCol>
                <a:gridCol w="3837576">
                  <a:extLst>
                    <a:ext uri="{9D8B030D-6E8A-4147-A177-3AD203B41FA5}">
                      <a16:colId xmlns:a16="http://schemas.microsoft.com/office/drawing/2014/main" val="2353745560"/>
                    </a:ext>
                  </a:extLst>
                </a:gridCol>
              </a:tblGrid>
              <a:tr h="2443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Formato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Descripción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956467"/>
                  </a:ext>
                </a:extLst>
              </a:tr>
              <a:tr h="2443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%%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Inserta el signo %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514974"/>
                  </a:ext>
                </a:extLst>
              </a:tr>
              <a:tr h="2443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%x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Entero hexadecimal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555204"/>
                  </a:ext>
                </a:extLst>
              </a:tr>
              <a:tr h="2443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%t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Hora/Fecha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596079"/>
                  </a:ext>
                </a:extLst>
              </a:tr>
              <a:tr h="2443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%o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Entero octal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481359"/>
                  </a:ext>
                </a:extLst>
              </a:tr>
              <a:tr h="2443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%f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Número de punto flotante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732245"/>
                  </a:ext>
                </a:extLst>
              </a:tr>
              <a:tr h="2443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%e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Notación científica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13003"/>
                  </a:ext>
                </a:extLst>
              </a:tr>
              <a:tr h="2443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%d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Entero decimal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419221"/>
                  </a:ext>
                </a:extLst>
              </a:tr>
              <a:tr h="415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%a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Número de punto flotante hexadecimal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470645"/>
                  </a:ext>
                </a:extLst>
              </a:tr>
              <a:tr h="2443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%b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Booleano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269658"/>
                  </a:ext>
                </a:extLst>
              </a:tr>
              <a:tr h="2443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%s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Cadena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992485"/>
                  </a:ext>
                </a:extLst>
              </a:tr>
              <a:tr h="2443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%c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sz="1600" dirty="0">
                          <a:latin typeface="Helvetica" pitchFamily="2" charset="0"/>
                        </a:rPr>
                        <a:t>Carácter</a:t>
                      </a:r>
                      <a:endParaRPr lang="en-US" sz="160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825978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B8E4285E-7940-181D-199B-7CB91F5DDAB4}"/>
              </a:ext>
            </a:extLst>
          </p:cNvPr>
          <p:cNvGrpSpPr/>
          <p:nvPr/>
        </p:nvGrpSpPr>
        <p:grpSpPr>
          <a:xfrm>
            <a:off x="857839" y="-32191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FFAC09-7EAE-711C-A4FC-C608D9C724EA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87346B-93B7-6D5D-A0ED-CEA571B43E0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Salida con secuencias de escape y formatos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A121A3-6E1E-36D9-1B3E-B91765BDE88E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756A9D2-4D85-0C44-EE82-6333C1DA780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524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DD65-F83E-A062-6FF5-F9F13B4F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System.out.printf</a:t>
            </a:r>
            <a:r>
              <a:rPr lang="es-ES" dirty="0"/>
              <a:t>()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389E44-1C66-5958-C7DD-B953AD2E1F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2BF2913-8B7D-251D-7DE2-18EA7F3E2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502" y="2009460"/>
            <a:ext cx="5060887" cy="4301692"/>
          </a:xfrm>
          <a:prstGeom prst="roundRect">
            <a:avLst>
              <a:gd name="adj" fmla="val 3758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142587.250478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 today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message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"I am learning"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"%%%n"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)value)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tT%n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today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today)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)value)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)value)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"%b / 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true,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 &lt;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message)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message.charAt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98D849-6AC8-098F-FDF5-5374AC9883A5}"/>
              </a:ext>
            </a:extLst>
          </p:cNvPr>
          <p:cNvSpPr txBox="1"/>
          <p:nvPr/>
        </p:nvSpPr>
        <p:spPr>
          <a:xfrm>
            <a:off x="7613297" y="3138887"/>
            <a:ext cx="2368903" cy="3172265"/>
          </a:xfrm>
          <a:prstGeom prst="roundRect">
            <a:avLst>
              <a:gd name="adj" fmla="val 6077"/>
            </a:avLst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%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22cfb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08/29/22-09:46:10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426373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142587.250478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1.425873e+05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142587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0x1.167da00fa9c13p17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 / false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 am learning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E81F-A81D-CF10-D7F6-4E811239C216}"/>
              </a:ext>
            </a:extLst>
          </p:cNvPr>
          <p:cNvSpPr txBox="1"/>
          <p:nvPr/>
        </p:nvSpPr>
        <p:spPr>
          <a:xfrm>
            <a:off x="7613297" y="2668508"/>
            <a:ext cx="1408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7FDA75-CF77-5A3D-C54D-651325B4C982}"/>
              </a:ext>
            </a:extLst>
          </p:cNvPr>
          <p:cNvGrpSpPr/>
          <p:nvPr/>
        </p:nvGrpSpPr>
        <p:grpSpPr>
          <a:xfrm>
            <a:off x="857839" y="-32191"/>
            <a:ext cx="4629752" cy="1015663"/>
            <a:chOff x="924025" y="1526961"/>
            <a:chExt cx="4629752" cy="10156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D5AD40E-7545-B71C-60B5-5F93861140A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0706E50-016A-13E6-7469-7247F34C2D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Salida con secuencias de escape y formatos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3BD446B-E0E1-5D13-017B-42BA1538D168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EF09AE-F8C7-C6DF-E240-E6D4CFE2992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923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00F4-9801-626A-ED2D-0CEE25C4F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System.out.printf</a:t>
            </a:r>
            <a:r>
              <a:rPr lang="es-ES" dirty="0"/>
              <a:t>()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A907CB-B350-A18B-7344-D5CA146D87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2FD5CD3-8E6F-FAED-73AE-0A38493DC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725" y="1797974"/>
            <a:ext cx="4326888" cy="2523741"/>
          </a:xfrm>
          <a:prstGeom prst="roundRect">
            <a:avLst>
              <a:gd name="adj" fmla="val 5905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message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"I love programming!"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message);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S%n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message);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"'%28s'%n"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message);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"'%-28s'%n"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message);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"'%16.10s'%n"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message);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"'%-12.6s'%n"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message);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589FB8-90A0-F016-B9AE-2CC97AD83729}"/>
              </a:ext>
            </a:extLst>
          </p:cNvPr>
          <p:cNvSpPr txBox="1"/>
          <p:nvPr/>
        </p:nvSpPr>
        <p:spPr>
          <a:xfrm>
            <a:off x="7847093" y="2401855"/>
            <a:ext cx="3442579" cy="1910807"/>
          </a:xfrm>
          <a:prstGeom prst="roundRect">
            <a:avLst>
              <a:gd name="adj" fmla="val 7191"/>
            </a:avLst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 love programming!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 LOVE PROGRAMMING!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        I love programming!'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'I love programming!         '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     I love pro'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'I love      '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C3EB9-3F1C-2B56-0A15-E4D974B1AA79}"/>
              </a:ext>
            </a:extLst>
          </p:cNvPr>
          <p:cNvSpPr txBox="1"/>
          <p:nvPr/>
        </p:nvSpPr>
        <p:spPr>
          <a:xfrm>
            <a:off x="6778784" y="1906921"/>
            <a:ext cx="1408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8F105D92-51D8-12C0-E5CE-F2E6302A7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725" y="4574712"/>
            <a:ext cx="4326888" cy="1297874"/>
          </a:xfrm>
          <a:prstGeom prst="roundRect">
            <a:avLst>
              <a:gd name="adj" fmla="val 1178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 today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today);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today);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6D4102-B369-3F6A-940E-AEE11BFC426C}"/>
              </a:ext>
            </a:extLst>
          </p:cNvPr>
          <p:cNvSpPr txBox="1"/>
          <p:nvPr/>
        </p:nvSpPr>
        <p:spPr>
          <a:xfrm>
            <a:off x="7846810" y="5178384"/>
            <a:ext cx="3442862" cy="684940"/>
          </a:xfrm>
          <a:prstGeom prst="round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01/20/23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11:04:46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9BB1E-D265-5E09-2A82-76A8A14CD08A}"/>
              </a:ext>
            </a:extLst>
          </p:cNvPr>
          <p:cNvSpPr txBox="1"/>
          <p:nvPr/>
        </p:nvSpPr>
        <p:spPr>
          <a:xfrm>
            <a:off x="425516" y="4526068"/>
            <a:ext cx="27160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Para formatear fecha/hora la conversión se especifica con una secuencia de 2 caracteres: el primero es siempre ‘t’ o ‘T’; el segundo, llamado sufijo, determina el formato.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080AF-CC95-2B79-9D4B-01ED6BB053FF}"/>
              </a:ext>
            </a:extLst>
          </p:cNvPr>
          <p:cNvSpPr txBox="1"/>
          <p:nvPr/>
        </p:nvSpPr>
        <p:spPr>
          <a:xfrm>
            <a:off x="462482" y="6025070"/>
            <a:ext cx="8148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Puedes consultar la lista completa de sufijos para formatear fecha/hora en: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hlinkClick r:id="rId2"/>
              </a:rPr>
              <a:t>http://www.java2s.com/Code/Java/Data-Type/TheTimeandDateFormatSuffixes.htm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57635C-F97C-A2CB-6C7E-EF35792DC239}"/>
              </a:ext>
            </a:extLst>
          </p:cNvPr>
          <p:cNvSpPr txBox="1"/>
          <p:nvPr/>
        </p:nvSpPr>
        <p:spPr>
          <a:xfrm>
            <a:off x="7846810" y="1932332"/>
            <a:ext cx="1408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5B2B8D-41B1-D9F1-B5DA-4251EA9EA348}"/>
              </a:ext>
            </a:extLst>
          </p:cNvPr>
          <p:cNvGrpSpPr/>
          <p:nvPr/>
        </p:nvGrpSpPr>
        <p:grpSpPr>
          <a:xfrm>
            <a:off x="857839" y="-32191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36A2A69-D9AC-62AE-B63E-93864928449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0801A44-6E7A-F922-024E-233478D0401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Salida con secuencias de escape y formatos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80FD1A-3F64-97EA-C3E8-D0F284E6CF2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E45E84-69AE-8DB3-D578-4553F30FC770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735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Salida con secuencias de escape y formatos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Salida por pantalla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Palabras</a:t>
              </a:r>
              <a:br>
                <a:rPr lang="es-ES" dirty="0">
                  <a:solidFill>
                    <a:schemeClr val="bg1"/>
                  </a:solidFill>
                  <a:latin typeface="Helvetica"/>
                </a:rPr>
              </a:br>
              <a:r>
                <a:rPr lang="es-ES" dirty="0">
                  <a:solidFill>
                    <a:schemeClr val="bg1"/>
                  </a:solidFill>
                  <a:latin typeface="Helvetica"/>
                </a:rPr>
                <a:t>reservadas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1F3D1-1E81-775F-7B05-642025ED483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Identificadores, variables y constantes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253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DA18070-9080-1477-2E7E-17419BCE9C17}"/>
              </a:ext>
            </a:extLst>
          </p:cNvPr>
          <p:cNvGrpSpPr/>
          <p:nvPr/>
        </p:nvGrpSpPr>
        <p:grpSpPr>
          <a:xfrm>
            <a:off x="857954" y="-29686"/>
            <a:ext cx="4629752" cy="1015663"/>
            <a:chOff x="924025" y="1526961"/>
            <a:chExt cx="4629752" cy="10156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F6E38D3-D50A-DAC6-7F4A-D04A6FA143E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1559E7-2799-5652-E7DD-472186C33E47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Identificadores, variables y constantes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312EE1-6897-3048-FD39-E4D431F87B8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3AC99CC-8A80-F9A2-E7B0-EFA943CA591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D0FFEC6-0280-57E3-4048-64F57A7DF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Identificadores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5856C-9908-BA4D-4594-A04DFAA8E0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FE70B-1639-D3FB-CEB5-FCD90FC832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750849"/>
            <a:ext cx="8397988" cy="47420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" dirty="0"/>
              <a:t>Son </a:t>
            </a:r>
            <a:r>
              <a:rPr lang="es-ES" b="1" dirty="0">
                <a:solidFill>
                  <a:schemeClr val="accent2"/>
                </a:solidFill>
              </a:rPr>
              <a:t>usados para nombrar</a:t>
            </a:r>
            <a:r>
              <a:rPr lang="es-ES" b="1" dirty="0"/>
              <a:t> </a:t>
            </a:r>
            <a:r>
              <a:rPr lang="es-ES" dirty="0"/>
              <a:t>variables, constantes, métodos, clases, paquetes, etc.</a:t>
            </a:r>
          </a:p>
          <a:p>
            <a:pPr>
              <a:lnSpc>
                <a:spcPct val="120000"/>
              </a:lnSpc>
            </a:pPr>
            <a:r>
              <a:rPr lang="es-ES" dirty="0"/>
              <a:t>Es una </a:t>
            </a:r>
            <a:r>
              <a:rPr lang="es-ES" b="1" dirty="0">
                <a:solidFill>
                  <a:schemeClr val="accent2"/>
                </a:solidFill>
              </a:rPr>
              <a:t>secuencia descriptiva</a:t>
            </a:r>
            <a:r>
              <a:rPr lang="es-ES" dirty="0"/>
              <a:t> de letras mayúsculas o minúsculas, números y caracteres especiales ($ y _).</a:t>
            </a:r>
          </a:p>
          <a:p>
            <a:pPr>
              <a:lnSpc>
                <a:spcPct val="120000"/>
              </a:lnSpc>
            </a:pPr>
            <a:r>
              <a:rPr lang="es-ES" dirty="0"/>
              <a:t>No deben iniciar con un número.</a:t>
            </a:r>
          </a:p>
          <a:p>
            <a:pPr>
              <a:lnSpc>
                <a:spcPct val="120000"/>
              </a:lnSpc>
            </a:pPr>
            <a:r>
              <a:rPr lang="es-ES" dirty="0"/>
              <a:t>Java es </a:t>
            </a:r>
            <a:r>
              <a:rPr lang="es-ES" b="1" dirty="0">
                <a:solidFill>
                  <a:schemeClr val="accent2"/>
                </a:solidFill>
              </a:rPr>
              <a:t>case-sensitive</a:t>
            </a:r>
            <a:r>
              <a:rPr lang="es-ES" dirty="0"/>
              <a:t> (el identificador </a:t>
            </a:r>
            <a:r>
              <a:rPr lang="es-E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pagoMensual</a:t>
            </a:r>
            <a:r>
              <a:rPr lang="es-ES" dirty="0"/>
              <a:t> es diferente a </a:t>
            </a:r>
            <a:r>
              <a:rPr lang="es-E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PagoMensual</a:t>
            </a:r>
            <a:r>
              <a:rPr lang="es-E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" dirty="0"/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722A5D-A329-86B4-1CF9-78E16FAE05B6}"/>
              </a:ext>
            </a:extLst>
          </p:cNvPr>
          <p:cNvGrpSpPr/>
          <p:nvPr/>
        </p:nvGrpSpPr>
        <p:grpSpPr>
          <a:xfrm>
            <a:off x="9308076" y="887689"/>
            <a:ext cx="1919331" cy="2768735"/>
            <a:chOff x="901567" y="2296067"/>
            <a:chExt cx="2261938" cy="32629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D47BE4F-ECB5-167D-557B-6DE97134FA49}"/>
                </a:ext>
              </a:extLst>
            </p:cNvPr>
            <p:cNvSpPr/>
            <p:nvPr/>
          </p:nvSpPr>
          <p:spPr>
            <a:xfrm>
              <a:off x="901568" y="2296067"/>
              <a:ext cx="2261937" cy="3262964"/>
            </a:xfrm>
            <a:prstGeom prst="roundRect">
              <a:avLst>
                <a:gd name="adj" fmla="val 516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sz="2000" dirty="0"/>
            </a:p>
            <a:p>
              <a:r>
                <a:rPr lang="es-ES" sz="2000" dirty="0"/>
                <a:t>pago-Mensual</a:t>
              </a:r>
            </a:p>
            <a:p>
              <a:r>
                <a:rPr lang="es-ES" sz="2000" dirty="0"/>
                <a:t>sum@</a:t>
              </a:r>
            </a:p>
            <a:p>
              <a:r>
                <a:rPr lang="es-ES" sz="2000" dirty="0"/>
                <a:t>4test</a:t>
              </a:r>
            </a:p>
            <a:p>
              <a:r>
                <a:rPr lang="es-ES" sz="2000" dirty="0"/>
                <a:t>No/valido</a:t>
              </a:r>
            </a:p>
            <a:p>
              <a:r>
                <a:rPr lang="es-ES" sz="2000" dirty="0"/>
                <a:t>Suma Total</a:t>
              </a:r>
            </a:p>
            <a:p>
              <a:r>
                <a:rPr lang="es-ES" sz="2000" dirty="0" err="1"/>
                <a:t>const</a:t>
              </a:r>
              <a:endParaRPr lang="en-US" sz="2000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E2E46C-9447-D254-6512-AC9121F9F8D3}"/>
                </a:ext>
              </a:extLst>
            </p:cNvPr>
            <p:cNvSpPr/>
            <p:nvPr/>
          </p:nvSpPr>
          <p:spPr>
            <a:xfrm>
              <a:off x="901567" y="2296068"/>
              <a:ext cx="2261937" cy="635267"/>
            </a:xfrm>
            <a:custGeom>
              <a:avLst/>
              <a:gdLst>
                <a:gd name="connsiteX0" fmla="*/ 116784 w 2261937"/>
                <a:gd name="connsiteY0" fmla="*/ 0 h 635267"/>
                <a:gd name="connsiteX1" fmla="*/ 2145153 w 2261937"/>
                <a:gd name="connsiteY1" fmla="*/ 0 h 635267"/>
                <a:gd name="connsiteX2" fmla="*/ 2261937 w 2261937"/>
                <a:gd name="connsiteY2" fmla="*/ 116784 h 635267"/>
                <a:gd name="connsiteX3" fmla="*/ 2261937 w 2261937"/>
                <a:gd name="connsiteY3" fmla="*/ 635267 h 635267"/>
                <a:gd name="connsiteX4" fmla="*/ 0 w 2261937"/>
                <a:gd name="connsiteY4" fmla="*/ 635267 h 635267"/>
                <a:gd name="connsiteX5" fmla="*/ 0 w 2261937"/>
                <a:gd name="connsiteY5" fmla="*/ 116784 h 635267"/>
                <a:gd name="connsiteX6" fmla="*/ 116784 w 2261937"/>
                <a:gd name="connsiteY6" fmla="*/ 0 h 6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61937" h="635267">
                  <a:moveTo>
                    <a:pt x="116784" y="0"/>
                  </a:moveTo>
                  <a:lnTo>
                    <a:pt x="2145153" y="0"/>
                  </a:lnTo>
                  <a:cubicBezTo>
                    <a:pt x="2209651" y="0"/>
                    <a:pt x="2261937" y="52286"/>
                    <a:pt x="2261937" y="116784"/>
                  </a:cubicBezTo>
                  <a:lnTo>
                    <a:pt x="2261937" y="635267"/>
                  </a:lnTo>
                  <a:lnTo>
                    <a:pt x="0" y="635267"/>
                  </a:lnTo>
                  <a:lnTo>
                    <a:pt x="0" y="116784"/>
                  </a:lnTo>
                  <a:cubicBezTo>
                    <a:pt x="0" y="52286"/>
                    <a:pt x="52286" y="0"/>
                    <a:pt x="116784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s-ES" sz="2000" dirty="0"/>
                <a:t>Inválidos</a:t>
              </a:r>
              <a:endParaRPr lang="en-US" sz="20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4AF10E4-0E58-9536-7599-F2FDB92AFFB7}"/>
              </a:ext>
            </a:extLst>
          </p:cNvPr>
          <p:cNvGrpSpPr/>
          <p:nvPr/>
        </p:nvGrpSpPr>
        <p:grpSpPr>
          <a:xfrm>
            <a:off x="9815162" y="3500764"/>
            <a:ext cx="1919331" cy="2768735"/>
            <a:chOff x="901567" y="2296067"/>
            <a:chExt cx="2261938" cy="32629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FB55334-8924-B320-B323-8529BF9E3628}"/>
                </a:ext>
              </a:extLst>
            </p:cNvPr>
            <p:cNvSpPr/>
            <p:nvPr/>
          </p:nvSpPr>
          <p:spPr>
            <a:xfrm>
              <a:off x="901568" y="2296067"/>
              <a:ext cx="2261937" cy="3262964"/>
            </a:xfrm>
            <a:prstGeom prst="roundRect">
              <a:avLst>
                <a:gd name="adj" fmla="val 516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sz="2000" dirty="0"/>
            </a:p>
            <a:p>
              <a:r>
                <a:rPr lang="es-ES" sz="2000" dirty="0" err="1"/>
                <a:t>pagoMensual</a:t>
              </a:r>
              <a:endParaRPr lang="es-ES" sz="2000" dirty="0"/>
            </a:p>
            <a:p>
              <a:r>
                <a:rPr lang="es-ES" sz="2000" dirty="0"/>
                <a:t>Suma</a:t>
              </a:r>
            </a:p>
            <a:p>
              <a:r>
                <a:rPr lang="es-ES" sz="2000" dirty="0"/>
                <a:t>_promedio</a:t>
              </a:r>
            </a:p>
            <a:p>
              <a:r>
                <a:rPr lang="es-ES" sz="2000" dirty="0"/>
                <a:t>x</a:t>
              </a:r>
            </a:p>
            <a:p>
              <a:r>
                <a:rPr lang="en-US" sz="2000" dirty="0"/>
                <a:t>$test</a:t>
              </a:r>
              <a:br>
                <a:rPr lang="en-US" sz="2000" dirty="0"/>
              </a:br>
              <a:r>
                <a:rPr lang="en-US" sz="2000" dirty="0" err="1"/>
                <a:t>es_Par</a:t>
              </a:r>
              <a:endParaRPr lang="en-US" sz="20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9F47055-2685-7393-3349-C6D36B081BA9}"/>
                </a:ext>
              </a:extLst>
            </p:cNvPr>
            <p:cNvSpPr/>
            <p:nvPr/>
          </p:nvSpPr>
          <p:spPr>
            <a:xfrm>
              <a:off x="901567" y="2296068"/>
              <a:ext cx="2261937" cy="635267"/>
            </a:xfrm>
            <a:custGeom>
              <a:avLst/>
              <a:gdLst>
                <a:gd name="connsiteX0" fmla="*/ 116784 w 2261937"/>
                <a:gd name="connsiteY0" fmla="*/ 0 h 635267"/>
                <a:gd name="connsiteX1" fmla="*/ 2145153 w 2261937"/>
                <a:gd name="connsiteY1" fmla="*/ 0 h 635267"/>
                <a:gd name="connsiteX2" fmla="*/ 2261937 w 2261937"/>
                <a:gd name="connsiteY2" fmla="*/ 116784 h 635267"/>
                <a:gd name="connsiteX3" fmla="*/ 2261937 w 2261937"/>
                <a:gd name="connsiteY3" fmla="*/ 635267 h 635267"/>
                <a:gd name="connsiteX4" fmla="*/ 0 w 2261937"/>
                <a:gd name="connsiteY4" fmla="*/ 635267 h 635267"/>
                <a:gd name="connsiteX5" fmla="*/ 0 w 2261937"/>
                <a:gd name="connsiteY5" fmla="*/ 116784 h 635267"/>
                <a:gd name="connsiteX6" fmla="*/ 116784 w 2261937"/>
                <a:gd name="connsiteY6" fmla="*/ 0 h 6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61937" h="635267">
                  <a:moveTo>
                    <a:pt x="116784" y="0"/>
                  </a:moveTo>
                  <a:lnTo>
                    <a:pt x="2145153" y="0"/>
                  </a:lnTo>
                  <a:cubicBezTo>
                    <a:pt x="2209651" y="0"/>
                    <a:pt x="2261937" y="52286"/>
                    <a:pt x="2261937" y="116784"/>
                  </a:cubicBezTo>
                  <a:lnTo>
                    <a:pt x="2261937" y="635267"/>
                  </a:lnTo>
                  <a:lnTo>
                    <a:pt x="0" y="635267"/>
                  </a:lnTo>
                  <a:lnTo>
                    <a:pt x="0" y="116784"/>
                  </a:lnTo>
                  <a:cubicBezTo>
                    <a:pt x="0" y="52286"/>
                    <a:pt x="52286" y="0"/>
                    <a:pt x="116784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s-ES" sz="2000" dirty="0"/>
                <a:t>Válidos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4796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7E0C9E6-440D-CAC9-B703-5FF4EF49A769}"/>
              </a:ext>
            </a:extLst>
          </p:cNvPr>
          <p:cNvSpPr/>
          <p:nvPr/>
        </p:nvSpPr>
        <p:spPr>
          <a:xfrm>
            <a:off x="10012218" y="1283855"/>
            <a:ext cx="1656651" cy="50061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F8D18-FB62-F45C-5942-7C9E48B0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0D8414-785F-41F0-0739-FC3E6BF0B1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F7F6B-C675-6F43-97AA-F9B82F52AC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6785" y="1762802"/>
            <a:ext cx="8890507" cy="445702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La </a:t>
            </a:r>
            <a:r>
              <a:rPr lang="es-ES" b="1" dirty="0">
                <a:solidFill>
                  <a:schemeClr val="accent2"/>
                </a:solidFill>
              </a:rPr>
              <a:t>variable</a:t>
            </a:r>
            <a:r>
              <a:rPr lang="es-ES" dirty="0"/>
              <a:t> es la </a:t>
            </a:r>
            <a:r>
              <a:rPr lang="es-ES" b="1" dirty="0">
                <a:solidFill>
                  <a:schemeClr val="accent2"/>
                </a:solidFill>
              </a:rPr>
              <a:t>unidad básica de almacenamiento</a:t>
            </a:r>
            <a:r>
              <a:rPr lang="es-ES" b="1" dirty="0"/>
              <a:t> </a:t>
            </a:r>
            <a:r>
              <a:rPr lang="es-ES" dirty="0"/>
              <a:t>en Java.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s-ES" dirty="0">
                <a:latin typeface="Helvetica"/>
              </a:rPr>
              <a:t>Una variable está 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definida</a:t>
            </a:r>
            <a:r>
              <a:rPr lang="es-ES" dirty="0">
                <a:latin typeface="Helvetica"/>
              </a:rPr>
              <a:t> por la 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combinación</a:t>
            </a:r>
            <a:r>
              <a:rPr lang="es-ES" dirty="0">
                <a:latin typeface="Helvetica"/>
              </a:rPr>
              <a:t> de un 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identificador</a:t>
            </a:r>
            <a:r>
              <a:rPr lang="es-ES" dirty="0">
                <a:latin typeface="Helvetica"/>
              </a:rPr>
              <a:t>, un 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tipo</a:t>
            </a:r>
            <a:r>
              <a:rPr lang="es-ES" dirty="0">
                <a:latin typeface="Helvetica"/>
              </a:rPr>
              <a:t>, y opcionalmente, un 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inicializador</a:t>
            </a:r>
            <a:r>
              <a:rPr lang="es-ES" dirty="0">
                <a:latin typeface="Helvetica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s-ES" dirty="0"/>
              <a:t>Todas las variables tienen un </a:t>
            </a:r>
            <a:r>
              <a:rPr lang="es-ES" b="1" dirty="0">
                <a:solidFill>
                  <a:schemeClr val="accent2"/>
                </a:solidFill>
              </a:rPr>
              <a:t>alcance</a:t>
            </a:r>
            <a:r>
              <a:rPr lang="es-ES" dirty="0"/>
              <a:t> -que define su visibilidad- y un </a:t>
            </a:r>
            <a:r>
              <a:rPr lang="es-ES" b="1" dirty="0">
                <a:solidFill>
                  <a:schemeClr val="accent2"/>
                </a:solidFill>
              </a:rPr>
              <a:t>tiempo de vida</a:t>
            </a:r>
            <a:r>
              <a:rPr lang="es-ES" dirty="0"/>
              <a:t>.</a:t>
            </a:r>
          </a:p>
          <a:p>
            <a:pPr>
              <a:lnSpc>
                <a:spcPct val="110000"/>
              </a:lnSpc>
            </a:pPr>
            <a:r>
              <a:rPr lang="es-ES" dirty="0">
                <a:latin typeface="Helvetica"/>
              </a:rPr>
              <a:t>Las variables son 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almacenadas</a:t>
            </a:r>
            <a:r>
              <a:rPr lang="es-ES" dirty="0">
                <a:latin typeface="Helvetica"/>
              </a:rPr>
              <a:t> en espacios reservados de la 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memoria</a:t>
            </a:r>
            <a:r>
              <a:rPr lang="es-ES" dirty="0">
                <a:latin typeface="Helvetica"/>
              </a:rPr>
              <a:t> cuyo </a:t>
            </a:r>
            <a:r>
              <a:rPr lang="es-ES" b="1" dirty="0">
                <a:latin typeface="Helvetica"/>
              </a:rPr>
              <a:t>contenido puede modificarse</a:t>
            </a:r>
            <a:r>
              <a:rPr lang="es-ES" dirty="0">
                <a:latin typeface="Helvetica"/>
              </a:rPr>
              <a:t>.</a:t>
            </a:r>
            <a:endParaRPr lang="es-ES" dirty="0"/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chemeClr val="tx1"/>
                </a:solidFill>
                <a:latin typeface="Helvetica"/>
                <a:cs typeface="Helvetica"/>
              </a:rPr>
              <a:t>Por esto, las variables </a:t>
            </a:r>
            <a:r>
              <a:rPr lang="es-ES" b="1" dirty="0">
                <a:solidFill>
                  <a:schemeClr val="accent2"/>
                </a:solidFill>
                <a:latin typeface="Helvetica"/>
                <a:cs typeface="Helvetica"/>
              </a:rPr>
              <a:t>pueden cambiar su valor</a:t>
            </a:r>
            <a:r>
              <a:rPr lang="es-ES" dirty="0">
                <a:latin typeface="Helvetica"/>
                <a:cs typeface="Helvetica"/>
              </a:rPr>
              <a:t> durante la ejecución del programa.</a:t>
            </a:r>
            <a:endParaRPr lang="es-ES" dirty="0">
              <a:latin typeface="Helvetica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EFCC1B-2ED7-486D-148D-5BA782FE66C4}"/>
              </a:ext>
            </a:extLst>
          </p:cNvPr>
          <p:cNvSpPr/>
          <p:nvPr/>
        </p:nvSpPr>
        <p:spPr>
          <a:xfrm>
            <a:off x="10550881" y="5483294"/>
            <a:ext cx="656512" cy="46018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19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A4854-57CF-071F-0B32-C242157C1F30}"/>
              </a:ext>
            </a:extLst>
          </p:cNvPr>
          <p:cNvSpPr txBox="1"/>
          <p:nvPr/>
        </p:nvSpPr>
        <p:spPr>
          <a:xfrm>
            <a:off x="10373255" y="5074287"/>
            <a:ext cx="1011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edad</a:t>
            </a:r>
            <a:endParaRPr lang="en-US" sz="1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DF775B-D16B-D8B8-0BF8-8B33CCC58E92}"/>
              </a:ext>
            </a:extLst>
          </p:cNvPr>
          <p:cNvSpPr/>
          <p:nvPr/>
        </p:nvSpPr>
        <p:spPr>
          <a:xfrm>
            <a:off x="10198394" y="4235799"/>
            <a:ext cx="1361486" cy="460180"/>
          </a:xfrm>
          <a:prstGeom prst="roundRect">
            <a:avLst/>
          </a:prstGeom>
          <a:solidFill>
            <a:srgbClr val="758F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2358.50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C4B83-088E-F854-6530-CC4A4A9EFD31}"/>
              </a:ext>
            </a:extLst>
          </p:cNvPr>
          <p:cNvSpPr txBox="1"/>
          <p:nvPr/>
        </p:nvSpPr>
        <p:spPr>
          <a:xfrm>
            <a:off x="10252364" y="3826792"/>
            <a:ext cx="1253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/>
              <a:t>salario</a:t>
            </a:r>
            <a:endParaRPr lang="en-US" sz="1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2B3ACA9-6CFE-E5E8-BA92-4194E1AA9B0A}"/>
              </a:ext>
            </a:extLst>
          </p:cNvPr>
          <p:cNvSpPr/>
          <p:nvPr/>
        </p:nvSpPr>
        <p:spPr>
          <a:xfrm>
            <a:off x="10198394" y="2980122"/>
            <a:ext cx="1361486" cy="460180"/>
          </a:xfrm>
          <a:prstGeom prst="roundRect">
            <a:avLst/>
          </a:prstGeom>
          <a:solidFill>
            <a:srgbClr val="1B5E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true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AEF01-41C2-B6FA-7938-2014D7DA9E36}"/>
              </a:ext>
            </a:extLst>
          </p:cNvPr>
          <p:cNvSpPr txBox="1"/>
          <p:nvPr/>
        </p:nvSpPr>
        <p:spPr>
          <a:xfrm>
            <a:off x="10362793" y="2571115"/>
            <a:ext cx="103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dirty="0" err="1"/>
              <a:t>esPar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3ED3AF-2BB0-85B9-3753-6E7659513F14}"/>
              </a:ext>
            </a:extLst>
          </p:cNvPr>
          <p:cNvSpPr txBox="1"/>
          <p:nvPr/>
        </p:nvSpPr>
        <p:spPr>
          <a:xfrm>
            <a:off x="10089405" y="1533356"/>
            <a:ext cx="1579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i="1" dirty="0">
                <a:solidFill>
                  <a:schemeClr val="bg1">
                    <a:lumMod val="50000"/>
                  </a:schemeClr>
                </a:solidFill>
              </a:rPr>
              <a:t>Representación gráfica de una variable</a:t>
            </a:r>
            <a:endParaRPr lang="en-US" sz="1200" i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5B34CC-DFE8-1B61-89AF-438F7BB417D5}"/>
              </a:ext>
            </a:extLst>
          </p:cNvPr>
          <p:cNvGrpSpPr/>
          <p:nvPr/>
        </p:nvGrpSpPr>
        <p:grpSpPr>
          <a:xfrm>
            <a:off x="857954" y="-29686"/>
            <a:ext cx="4629752" cy="1015663"/>
            <a:chOff x="924025" y="1526961"/>
            <a:chExt cx="4629752" cy="10156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CBCDFF-936E-9B29-02F2-18706CEC9D2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2C71875-36DA-BFC3-5641-DAE9DDCF528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Identificadores, variables y constantes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EAE1F4-5EA6-E760-D855-7249CC95565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881AE1-7ED0-4FD2-8F36-FDD06C9C0C91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046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9713-139C-F8A4-E86F-CD6D403E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58E931-F50C-EDD1-31EF-19CA232E53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26BAAC-0F28-583D-7120-5FEAFB1227E9}"/>
              </a:ext>
            </a:extLst>
          </p:cNvPr>
          <p:cNvSpPr txBox="1"/>
          <p:nvPr/>
        </p:nvSpPr>
        <p:spPr>
          <a:xfrm>
            <a:off x="1890762" y="1966162"/>
            <a:ext cx="8609761" cy="56263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tipo </a:t>
            </a:r>
            <a:r>
              <a:rPr lang="es-ES" sz="2000" dirty="0">
                <a:solidFill>
                  <a:schemeClr val="bg1">
                    <a:lumMod val="9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identificador</a:t>
            </a:r>
            <a:r>
              <a:rPr lang="es-ES" sz="20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dirty="0">
                <a:solidFill>
                  <a:srgbClr val="FA9B9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[= valor]</a:t>
            </a:r>
            <a:endParaRPr lang="en-US" sz="2000" dirty="0">
              <a:solidFill>
                <a:srgbClr val="FA9B9B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E93E07-C92E-1D05-25D7-8D0E671BF377}"/>
              </a:ext>
            </a:extLst>
          </p:cNvPr>
          <p:cNvSpPr txBox="1"/>
          <p:nvPr/>
        </p:nvSpPr>
        <p:spPr>
          <a:xfrm>
            <a:off x="1978337" y="3151341"/>
            <a:ext cx="2927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 tipo puede ser un tipo atómico de Java, o el nombre de una clase o interfaz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E37B4-B84B-82E5-F742-D8A23289BA14}"/>
              </a:ext>
            </a:extLst>
          </p:cNvPr>
          <p:cNvSpPr txBox="1"/>
          <p:nvPr/>
        </p:nvSpPr>
        <p:spPr>
          <a:xfrm>
            <a:off x="5077768" y="3594447"/>
            <a:ext cx="1470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Nombre de la variable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7B3F83-A40C-E0B5-F7C7-180C41EC5B09}"/>
              </a:ext>
            </a:extLst>
          </p:cNvPr>
          <p:cNvSpPr txBox="1"/>
          <p:nvPr/>
        </p:nvSpPr>
        <p:spPr>
          <a:xfrm>
            <a:off x="6806912" y="3208727"/>
            <a:ext cx="2371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Valor inicial de la variable (opcional)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84BC95-B966-888D-5BE8-78855C1139C3}"/>
              </a:ext>
            </a:extLst>
          </p:cNvPr>
          <p:cNvCxnSpPr>
            <a:cxnSpLocks/>
          </p:cNvCxnSpPr>
          <p:nvPr/>
        </p:nvCxnSpPr>
        <p:spPr>
          <a:xfrm flipV="1">
            <a:off x="4290648" y="2551396"/>
            <a:ext cx="0" cy="506570"/>
          </a:xfrm>
          <a:prstGeom prst="straightConnector1">
            <a:avLst/>
          </a:prstGeom>
          <a:ln w="28575">
            <a:solidFill>
              <a:srgbClr val="FF4164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9E99CE-416C-5B77-0F9C-37E149557D76}"/>
              </a:ext>
            </a:extLst>
          </p:cNvPr>
          <p:cNvCxnSpPr>
            <a:cxnSpLocks/>
          </p:cNvCxnSpPr>
          <p:nvPr/>
        </p:nvCxnSpPr>
        <p:spPr>
          <a:xfrm flipH="1" flipV="1">
            <a:off x="5812971" y="2550263"/>
            <a:ext cx="1" cy="886064"/>
          </a:xfrm>
          <a:prstGeom prst="straightConnector1">
            <a:avLst/>
          </a:prstGeom>
          <a:ln w="28575">
            <a:solidFill>
              <a:srgbClr val="FF4164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47C68D-58A3-FE44-4B46-FD322CD7E3E6}"/>
              </a:ext>
            </a:extLst>
          </p:cNvPr>
          <p:cNvCxnSpPr>
            <a:cxnSpLocks/>
          </p:cNvCxnSpPr>
          <p:nvPr/>
        </p:nvCxnSpPr>
        <p:spPr>
          <a:xfrm flipV="1">
            <a:off x="7817615" y="2551396"/>
            <a:ext cx="0" cy="506570"/>
          </a:xfrm>
          <a:prstGeom prst="straightConnector1">
            <a:avLst/>
          </a:prstGeom>
          <a:ln w="28575">
            <a:solidFill>
              <a:srgbClr val="FF4164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">
            <a:extLst>
              <a:ext uri="{FF2B5EF4-FFF2-40B4-BE49-F238E27FC236}">
                <a16:creationId xmlns:a16="http://schemas.microsoft.com/office/drawing/2014/main" id="{1F237997-36EF-B1A5-BBAF-4E13998FD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66" y="4699528"/>
            <a:ext cx="8609761" cy="1741206"/>
          </a:xfrm>
          <a:prstGeom prst="roundRect">
            <a:avLst>
              <a:gd name="adj" fmla="val 7746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          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declara tres enteros: a, b, y c</a:t>
            </a:r>
            <a:b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 =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 =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  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declara tres enteros e inicializa dos de ellos</a:t>
            </a:r>
            <a:b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 =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22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          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declara e inicializa z</a:t>
            </a:r>
            <a:b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 =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3.14159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  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declara una aproximación de pi</a:t>
            </a:r>
            <a:b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'x'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          </a:t>
            </a:r>
            <a:r>
              <a:rPr kumimoji="0" lang="en-US" altLang="en-US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la variable x tiene el valor 'x'</a:t>
            </a:r>
            <a:endParaRPr kumimoji="0" lang="en-US" altLang="en-US" sz="2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7EAD18-962C-FB97-CB96-5EFF5CF04F4B}"/>
              </a:ext>
            </a:extLst>
          </p:cNvPr>
          <p:cNvSpPr txBox="1"/>
          <p:nvPr/>
        </p:nvSpPr>
        <p:spPr>
          <a:xfrm>
            <a:off x="1890762" y="4296136"/>
            <a:ext cx="1828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Helvetica" pitchFamily="2" charset="0"/>
              </a:rPr>
              <a:t>Ejemplos:</a:t>
            </a:r>
            <a:endParaRPr lang="en-US" dirty="0">
              <a:latin typeface="Helvetica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5C2E0E-62E4-1984-872C-2FD636062261}"/>
              </a:ext>
            </a:extLst>
          </p:cNvPr>
          <p:cNvGrpSpPr/>
          <p:nvPr/>
        </p:nvGrpSpPr>
        <p:grpSpPr>
          <a:xfrm>
            <a:off x="857954" y="-29686"/>
            <a:ext cx="4629752" cy="1015663"/>
            <a:chOff x="924025" y="1526961"/>
            <a:chExt cx="4629752" cy="101566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3E5BBE-926A-ECC1-3F14-FF76AEAB0A5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C91645A-B590-C1AA-4716-92908E3DFC3A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Identificadores, variables y constantes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3DAC3C-E723-7333-E9CF-76BA9022A36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EEC16B-12A5-E9BE-D560-0890E0D4FAD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548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E1E41-DEA1-C23F-3547-A35C142C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Constantes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80D994-83C3-3D17-9FEB-F16239FE7B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908BE-55FE-AB3E-1751-5097720C39B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329610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s-ES" dirty="0">
                <a:latin typeface="Helvetica"/>
              </a:rPr>
              <a:t>Las constantes son 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almacenadas</a:t>
            </a:r>
            <a:r>
              <a:rPr lang="es-ES" dirty="0">
                <a:latin typeface="Helvetica"/>
              </a:rPr>
              <a:t> en espacios reservados de la </a:t>
            </a:r>
            <a:r>
              <a:rPr lang="es-ES" b="1" dirty="0">
                <a:solidFill>
                  <a:schemeClr val="accent2"/>
                </a:solidFill>
                <a:latin typeface="Helvetica"/>
              </a:rPr>
              <a:t>memoria</a:t>
            </a:r>
            <a:r>
              <a:rPr lang="es-ES" dirty="0">
                <a:latin typeface="Helvetica"/>
              </a:rPr>
              <a:t> cuyo </a:t>
            </a:r>
            <a:r>
              <a:rPr lang="es-ES" b="1" dirty="0">
                <a:latin typeface="Helvetica"/>
              </a:rPr>
              <a:t>contenido no puede modificarse</a:t>
            </a:r>
            <a:r>
              <a:rPr lang="es-ES" dirty="0">
                <a:latin typeface="Helvetica"/>
              </a:rPr>
              <a:t>.</a:t>
            </a:r>
            <a:endParaRPr lang="es-ES" dirty="0"/>
          </a:p>
          <a:p>
            <a:pPr>
              <a:lnSpc>
                <a:spcPct val="120000"/>
              </a:lnSpc>
            </a:pPr>
            <a:r>
              <a:rPr lang="es-ES" dirty="0"/>
              <a:t>Por eso decimos que una constante es una </a:t>
            </a:r>
            <a:r>
              <a:rPr lang="es-ES" b="1" dirty="0">
                <a:solidFill>
                  <a:schemeClr val="accent2"/>
                </a:solidFill>
              </a:rPr>
              <a:t>variable inmutable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Por </a:t>
            </a:r>
            <a:r>
              <a:rPr lang="en-US" dirty="0" err="1"/>
              <a:t>convención</a:t>
            </a:r>
            <a:r>
              <a:rPr lang="en-US" dirty="0"/>
              <a:t>, se les </a:t>
            </a:r>
            <a:r>
              <a:rPr lang="en-US" dirty="0" err="1"/>
              <a:t>nombra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mayúsculas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Una </a:t>
            </a:r>
            <a:r>
              <a:rPr lang="en-US" dirty="0" err="1"/>
              <a:t>constante</a:t>
            </a:r>
            <a:r>
              <a:rPr lang="en-US" dirty="0"/>
              <a:t> </a:t>
            </a:r>
            <a:r>
              <a:rPr lang="en-US" dirty="0" err="1"/>
              <a:t>nombrada</a:t>
            </a:r>
            <a:r>
              <a:rPr lang="en-US" dirty="0"/>
              <a:t> se </a:t>
            </a:r>
            <a:r>
              <a:rPr lang="en-US" dirty="0" err="1"/>
              <a:t>declara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variable y se </a:t>
            </a:r>
            <a:r>
              <a:rPr lang="en-US" dirty="0" err="1"/>
              <a:t>agrega</a:t>
            </a:r>
            <a:r>
              <a:rPr lang="en-US" dirty="0"/>
              <a:t> la palabra </a:t>
            </a:r>
            <a:r>
              <a:rPr lang="en-US" b="1" dirty="0">
                <a:solidFill>
                  <a:schemeClr val="accent2"/>
                </a:solidFill>
              </a:rPr>
              <a:t>final</a:t>
            </a:r>
            <a:r>
              <a:rPr lang="en-US" dirty="0"/>
              <a:t> al </a:t>
            </a:r>
            <a:r>
              <a:rPr lang="en-US" dirty="0" err="1"/>
              <a:t>inicio</a:t>
            </a:r>
            <a:r>
              <a:rPr lang="en-US" dirty="0"/>
              <a:t> de la </a:t>
            </a:r>
            <a:r>
              <a:rPr lang="en-US" dirty="0" err="1"/>
              <a:t>declaración</a:t>
            </a:r>
            <a:r>
              <a:rPr lang="en-US" dirty="0"/>
              <a:t>.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568E410-F343-FCA1-6182-A9E14AEE1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8967" y="5366433"/>
            <a:ext cx="8510257" cy="950693"/>
          </a:xfrm>
          <a:prstGeom prst="roundRect">
            <a:avLst>
              <a:gd name="adj" fmla="val 13451"/>
            </a:avLst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final double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VELOCIDAD_DE_LUZ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299792458.0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retardoPropagacion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distancia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/ VELOCIDAD_DE_LUZ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136B4-4120-84AC-74EA-E2BD89C50B35}"/>
              </a:ext>
            </a:extLst>
          </p:cNvPr>
          <p:cNvGrpSpPr/>
          <p:nvPr/>
        </p:nvGrpSpPr>
        <p:grpSpPr>
          <a:xfrm>
            <a:off x="857954" y="-29686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52A481-F6A1-8C49-A901-EA42F43CCE6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556849-4414-2B5C-50ED-50D5322F6367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Identificadores, variables y constantes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889551-A1FF-8512-6887-02B53920622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9782C0-74E6-47FF-9AB5-03B9427CE8F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500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Identificadores, variables y constantes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  <a:cs typeface="Helvetica"/>
                </a:rPr>
                <a:t>Salida con secuencias de escape y formatos</a:t>
              </a:r>
              <a:endParaRPr lang="es-ES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Salida por pantalla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Palabras</a:t>
              </a:r>
              <a:br>
                <a:rPr lang="es-ES" dirty="0">
                  <a:solidFill>
                    <a:schemeClr val="bg1"/>
                  </a:solidFill>
                  <a:latin typeface="Helvetica"/>
                </a:rPr>
              </a:br>
              <a:r>
                <a:rPr lang="es-ES" dirty="0">
                  <a:solidFill>
                    <a:schemeClr val="bg1"/>
                  </a:solidFill>
                  <a:latin typeface="Helvetica"/>
                </a:rPr>
                <a:t>reservadas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1F3D1-1E81-775F-7B05-642025ED483B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340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C1B6BDC-78B9-7228-7BBF-36D6571C6F8F}"/>
              </a:ext>
            </a:extLst>
          </p:cNvPr>
          <p:cNvGrpSpPr/>
          <p:nvPr/>
        </p:nvGrpSpPr>
        <p:grpSpPr>
          <a:xfrm>
            <a:off x="877026" y="-37794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B3D735-9F8B-615C-9769-E3243E440D23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C517DD-8812-8262-D7BE-95E64600780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/>
                </a:rPr>
                <a:t>Práctica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A9E6462-3EA8-1F33-D02E-FB8A52A81FB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D29B4B8-C278-7DD1-0B04-C363989B440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F6F7B79-AF6D-3AF6-4281-8D5B2E0B78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49" r="50758"/>
          <a:stretch/>
        </p:blipFill>
        <p:spPr>
          <a:xfrm>
            <a:off x="8303514" y="0"/>
            <a:ext cx="38884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Práctica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299036" cy="4373562"/>
          </a:xfrm>
        </p:spPr>
        <p:txBody>
          <a:bodyPr>
            <a:normAutofit fontScale="92500" lnSpcReduction="20000"/>
          </a:bodyPr>
          <a:lstStyle/>
          <a:p>
            <a:pPr marL="565150" indent="-514350">
              <a:lnSpc>
                <a:spcPct val="120000"/>
              </a:lnSpc>
              <a:buFont typeface="Arial"/>
              <a:buAutoNum type="arabicPeriod"/>
            </a:pPr>
            <a:r>
              <a:rPr lang="es-ES" dirty="0">
                <a:latin typeface="Helvetica"/>
              </a:rPr>
              <a:t>Descarga e instalación de un IDE Java y del JDK (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/>
              </a:rPr>
              <a:t>manual de instalación disponible en la plataforma</a:t>
            </a:r>
            <a:r>
              <a:rPr lang="es-ES" dirty="0">
                <a:latin typeface="Helvetica"/>
              </a:rPr>
              <a:t>).</a:t>
            </a:r>
          </a:p>
          <a:p>
            <a:pPr marL="565150" indent="-514350">
              <a:lnSpc>
                <a:spcPct val="120000"/>
              </a:lnSpc>
              <a:buAutoNum type="arabicPeriod"/>
            </a:pPr>
            <a:r>
              <a:rPr lang="es-ES" dirty="0">
                <a:latin typeface="Helvetica"/>
              </a:rPr>
              <a:t>Escribir un programa que convierta grados Centígrados en grados </a:t>
            </a:r>
            <a:r>
              <a:rPr lang="es-ES" dirty="0" err="1">
                <a:latin typeface="Helvetica"/>
              </a:rPr>
              <a:t>Farenheit</a:t>
            </a:r>
            <a:r>
              <a:rPr lang="es-ES" dirty="0">
                <a:latin typeface="Helvetica"/>
              </a:rPr>
              <a:t>. Fórmula: F = (C * 9/5) + 32</a:t>
            </a:r>
            <a:endParaRPr lang="en-US" dirty="0">
              <a:latin typeface="Helvetica"/>
            </a:endParaRPr>
          </a:p>
          <a:p>
            <a:pPr marL="565150" indent="-514350">
              <a:lnSpc>
                <a:spcPct val="120000"/>
              </a:lnSpc>
              <a:buAutoNum type="arabicPeriod"/>
            </a:pPr>
            <a:r>
              <a:rPr lang="es-ES" dirty="0">
                <a:latin typeface="Helvetica"/>
              </a:rPr>
              <a:t>Implementar un programa en Java que permita convertir dólares a soles (tipo de cambio: 3.48)​</a:t>
            </a:r>
            <a:endParaRPr lang="en-US" dirty="0"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7554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63A0-764F-792D-3F43-7474BD7A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18E3C7-3BFF-8F75-8E58-2C4F28BEF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71356-1799-139A-6FB0-2987604527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07737"/>
            <a:ext cx="7372927" cy="4662434"/>
          </a:xfrm>
        </p:spPr>
        <p:txBody>
          <a:bodyPr>
            <a:normAutofit/>
          </a:bodyPr>
          <a:lstStyle/>
          <a:p>
            <a:pPr marL="565150" indent="-514350">
              <a:lnSpc>
                <a:spcPct val="120000"/>
              </a:lnSpc>
              <a:buFont typeface="+mj-lt"/>
              <a:buAutoNum type="arabicPeriod"/>
            </a:pPr>
            <a:r>
              <a:rPr lang="es-ES" dirty="0"/>
              <a:t>Escribir un programa que calcule el área de una figura geométrica cualquiera.</a:t>
            </a:r>
          </a:p>
          <a:p>
            <a:pPr marL="5651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 err="1"/>
              <a:t>Escribir</a:t>
            </a:r>
            <a:r>
              <a:rPr lang="en-US" dirty="0"/>
              <a:t> un </a:t>
            </a:r>
            <a:r>
              <a:rPr lang="en-US" dirty="0" err="1"/>
              <a:t>programa</a:t>
            </a:r>
            <a:r>
              <a:rPr lang="en-US" dirty="0"/>
              <a:t> que </a:t>
            </a:r>
            <a:r>
              <a:rPr lang="en-US" dirty="0" err="1"/>
              <a:t>resuelva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formula </a:t>
            </a:r>
            <a:r>
              <a:rPr lang="en-US" dirty="0" err="1"/>
              <a:t>matemática</a:t>
            </a:r>
            <a:r>
              <a:rPr lang="en-US" dirty="0"/>
              <a:t> que </a:t>
            </a:r>
            <a:r>
              <a:rPr lang="en-US" dirty="0" err="1"/>
              <a:t>utilice</a:t>
            </a:r>
            <a:r>
              <a:rPr lang="en-US" dirty="0"/>
              <a:t> al </a:t>
            </a:r>
            <a:r>
              <a:rPr lang="en-US" dirty="0" err="1"/>
              <a:t>menos</a:t>
            </a:r>
            <a:r>
              <a:rPr lang="en-US" dirty="0"/>
              <a:t> 3 variables.</a:t>
            </a:r>
          </a:p>
          <a:p>
            <a:pPr marL="5651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 err="1"/>
              <a:t>Escribir</a:t>
            </a:r>
            <a:r>
              <a:rPr lang="en-US" dirty="0"/>
              <a:t> un </a:t>
            </a:r>
            <a:r>
              <a:rPr lang="en-US" dirty="0" err="1"/>
              <a:t>programa</a:t>
            </a:r>
            <a:r>
              <a:rPr lang="en-US" dirty="0"/>
              <a:t> que, dado un </a:t>
            </a:r>
            <a:r>
              <a:rPr lang="en-US" dirty="0" err="1"/>
              <a:t>monto</a:t>
            </a:r>
            <a:r>
              <a:rPr lang="en-US" dirty="0"/>
              <a:t> total, lo </a:t>
            </a:r>
            <a:r>
              <a:rPr lang="en-US" dirty="0" err="1"/>
              <a:t>descomponga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monto</a:t>
            </a:r>
            <a:r>
              <a:rPr lang="en-US" dirty="0"/>
              <a:t> a </a:t>
            </a:r>
            <a:r>
              <a:rPr lang="en-US" dirty="0" err="1"/>
              <a:t>pagar</a:t>
            </a:r>
            <a:r>
              <a:rPr lang="en-US" dirty="0"/>
              <a:t> e IGV (18%)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2361B-123A-158C-5022-4E64314B5E2C}"/>
              </a:ext>
            </a:extLst>
          </p:cNvPr>
          <p:cNvSpPr txBox="1"/>
          <p:nvPr/>
        </p:nvSpPr>
        <p:spPr>
          <a:xfrm>
            <a:off x="8746789" y="1771334"/>
            <a:ext cx="2829125" cy="3470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Indicaciones</a:t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</a:br>
            <a:endParaRPr lang="en-US" b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Grupos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3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Entregables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a). Video de 3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minutos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las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propuestas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; b).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Archivo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ZIP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conteniendo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Proyecto java con las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Cada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aparecerá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video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ejercicio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Luego de la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explicación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cada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solución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se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deberá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introducir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cambio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código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que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genere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resultado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incorrecto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resultados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59FA58-A78A-A9E9-3F96-6C468073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473" y="477870"/>
            <a:ext cx="1906405" cy="126098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A46C900-A034-0531-F677-EAE615CA1CE3}"/>
              </a:ext>
            </a:extLst>
          </p:cNvPr>
          <p:cNvGrpSpPr/>
          <p:nvPr/>
        </p:nvGrpSpPr>
        <p:grpSpPr>
          <a:xfrm>
            <a:off x="8849476" y="5411541"/>
            <a:ext cx="2590250" cy="815188"/>
            <a:chOff x="8672114" y="5435206"/>
            <a:chExt cx="2590250" cy="8151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001230-487E-4672-73EB-A1480FA6D769}"/>
                </a:ext>
              </a:extLst>
            </p:cNvPr>
            <p:cNvSpPr txBox="1"/>
            <p:nvPr/>
          </p:nvSpPr>
          <p:spPr>
            <a:xfrm>
              <a:off x="8672114" y="5435206"/>
              <a:ext cx="2590250" cy="8151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400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Recuerda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revisar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en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plataforma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rúbrica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de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tarea</a:t>
              </a:r>
              <a:r>
                <a:rPr lang="en-US" sz="1200" b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grupal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.</a:t>
              </a:r>
            </a:p>
          </p:txBody>
        </p:sp>
        <p:pic>
          <p:nvPicPr>
            <p:cNvPr id="10" name="Graphic 9" descr="Clipboard Checked with solid fill">
              <a:extLst>
                <a:ext uri="{FF2B5EF4-FFF2-40B4-BE49-F238E27FC236}">
                  <a16:creationId xmlns:a16="http://schemas.microsoft.com/office/drawing/2014/main" id="{30200735-5BE3-D2AA-816F-8347AD7E2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1702" y="5508797"/>
              <a:ext cx="418135" cy="418135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66D1519-3F98-8E8D-7C0F-6C2F0F96BCD4}"/>
              </a:ext>
            </a:extLst>
          </p:cNvPr>
          <p:cNvSpPr/>
          <p:nvPr/>
        </p:nvSpPr>
        <p:spPr>
          <a:xfrm>
            <a:off x="8328083" y="829559"/>
            <a:ext cx="45719" cy="559857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0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160491" cy="4373562"/>
          </a:xfrm>
        </p:spPr>
        <p:txBody>
          <a:bodyPr>
            <a:normAutofit/>
          </a:bodyPr>
          <a:lstStyle/>
          <a:p>
            <a:r>
              <a:rPr lang="es-ES" dirty="0"/>
              <a:t>¿Qué es una </a:t>
            </a:r>
            <a:r>
              <a:rPr lang="es-ES" b="1" dirty="0"/>
              <a:t>palabra reservada</a:t>
            </a:r>
            <a:r>
              <a:rPr lang="es-ES" dirty="0"/>
              <a:t>?</a:t>
            </a:r>
          </a:p>
          <a:p>
            <a:r>
              <a:rPr lang="es-ES" dirty="0"/>
              <a:t>¿Qué es una </a:t>
            </a:r>
            <a:r>
              <a:rPr lang="es-ES" b="1" dirty="0"/>
              <a:t>variable</a:t>
            </a:r>
            <a:r>
              <a:rPr lang="es-ES" dirty="0"/>
              <a:t>?</a:t>
            </a:r>
          </a:p>
          <a:p>
            <a:r>
              <a:rPr lang="es-ES" dirty="0"/>
              <a:t>¿Qué es una </a:t>
            </a:r>
            <a:r>
              <a:rPr lang="es-ES" b="1" dirty="0"/>
              <a:t>constante</a:t>
            </a:r>
            <a:r>
              <a:rPr lang="es-ES" dirty="0"/>
              <a:t>?</a:t>
            </a:r>
          </a:p>
          <a:p>
            <a:r>
              <a:rPr lang="es-ES" dirty="0"/>
              <a:t>¿En qué se </a:t>
            </a:r>
            <a:r>
              <a:rPr lang="es-ES" b="1" dirty="0"/>
              <a:t>diferencia</a:t>
            </a:r>
            <a:r>
              <a:rPr lang="es-ES" dirty="0"/>
              <a:t> una </a:t>
            </a:r>
            <a:r>
              <a:rPr lang="es-ES" b="1" dirty="0"/>
              <a:t>variable</a:t>
            </a:r>
            <a:r>
              <a:rPr lang="es-ES" dirty="0"/>
              <a:t> </a:t>
            </a:r>
            <a:br>
              <a:rPr lang="es-ES" dirty="0"/>
            </a:br>
            <a:r>
              <a:rPr lang="es-ES" dirty="0"/>
              <a:t>de una </a:t>
            </a:r>
            <a:r>
              <a:rPr lang="es-ES" b="1" dirty="0"/>
              <a:t>constante</a:t>
            </a:r>
            <a:r>
              <a:rPr lang="es-ES" dirty="0"/>
              <a:t>?</a:t>
            </a:r>
          </a:p>
          <a:p>
            <a:r>
              <a:rPr lang="es-ES" dirty="0"/>
              <a:t>¿Cuál es la diferencia entre </a:t>
            </a:r>
            <a:r>
              <a:rPr lang="es-ES" b="1" dirty="0" err="1"/>
              <a:t>println</a:t>
            </a:r>
            <a:r>
              <a:rPr lang="es-ES" b="1" dirty="0"/>
              <a:t>()</a:t>
            </a:r>
            <a:r>
              <a:rPr lang="es-ES" dirty="0"/>
              <a:t> y </a:t>
            </a:r>
            <a:r>
              <a:rPr lang="es-ES" b="1" dirty="0" err="1"/>
              <a:t>printf</a:t>
            </a:r>
            <a:r>
              <a:rPr lang="es-ES" b="1" dirty="0"/>
              <a:t>()</a:t>
            </a:r>
            <a:r>
              <a:rPr lang="es-ES" dirty="0"/>
              <a:t>?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A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4893</TotalTime>
  <Words>2483</Words>
  <Application>Microsoft Office PowerPoint</Application>
  <PresentationFormat>Panorámica</PresentationFormat>
  <Paragraphs>422</Paragraphs>
  <Slides>33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8" baseType="lpstr">
      <vt:lpstr>Arial</vt:lpstr>
      <vt:lpstr>Helvetica</vt:lpstr>
      <vt:lpstr>Inconsolata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Dudas de la clase anterior</vt:lpstr>
      <vt:lpstr>Introducción al Lenguaje de Programación Java (II)</vt:lpstr>
      <vt:lpstr>Conocimientos previos</vt:lpstr>
      <vt:lpstr>Logro de aprendizaje</vt:lpstr>
      <vt:lpstr>Utilidad</vt:lpstr>
      <vt:lpstr>Presentación de PowerPoint</vt:lpstr>
      <vt:lpstr>Presentación de PowerPoint</vt:lpstr>
      <vt:lpstr>Palabras reservadas (keywords)</vt:lpstr>
      <vt:lpstr>Palabras reservadas (keywords)</vt:lpstr>
      <vt:lpstr>Presentación de PowerPoint</vt:lpstr>
      <vt:lpstr>Salida por pantalla</vt:lpstr>
      <vt:lpstr>System.out.println()</vt:lpstr>
      <vt:lpstr>Presentación de PowerPoint</vt:lpstr>
      <vt:lpstr>Secuencias de escape</vt:lpstr>
      <vt:lpstr>Salida con formato</vt:lpstr>
      <vt:lpstr>System.out.printf()</vt:lpstr>
      <vt:lpstr>System.out.printf()</vt:lpstr>
      <vt:lpstr>Presentación de PowerPoint</vt:lpstr>
      <vt:lpstr>Identificadores</vt:lpstr>
      <vt:lpstr>Variables</vt:lpstr>
      <vt:lpstr>Variables</vt:lpstr>
      <vt:lpstr>Constantes</vt:lpstr>
      <vt:lpstr>Presentación de PowerPoint</vt:lpstr>
      <vt:lpstr>Práctica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01-Sesión 02</dc:title>
  <dc:creator>jorgerodcas@hotmail.com</dc:creator>
  <cp:lastModifiedBy>Juan Carlos García</cp:lastModifiedBy>
  <cp:revision>282</cp:revision>
  <dcterms:modified xsi:type="dcterms:W3CDTF">2023-10-20T20:54:46Z</dcterms:modified>
</cp:coreProperties>
</file>