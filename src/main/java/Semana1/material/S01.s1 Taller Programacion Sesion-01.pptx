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55"/>
  </p:notesMasterIdLst>
  <p:sldIdLst>
    <p:sldId id="256" r:id="rId2"/>
    <p:sldId id="258" r:id="rId3"/>
    <p:sldId id="257" r:id="rId4"/>
    <p:sldId id="263" r:id="rId5"/>
    <p:sldId id="264" r:id="rId6"/>
    <p:sldId id="343" r:id="rId7"/>
    <p:sldId id="330" r:id="rId8"/>
    <p:sldId id="358" r:id="rId9"/>
    <p:sldId id="281" r:id="rId10"/>
    <p:sldId id="370" r:id="rId11"/>
    <p:sldId id="344" r:id="rId12"/>
    <p:sldId id="300" r:id="rId13"/>
    <p:sldId id="301" r:id="rId14"/>
    <p:sldId id="359" r:id="rId15"/>
    <p:sldId id="345" r:id="rId16"/>
    <p:sldId id="346" r:id="rId17"/>
    <p:sldId id="360" r:id="rId18"/>
    <p:sldId id="272" r:id="rId19"/>
    <p:sldId id="285" r:id="rId20"/>
    <p:sldId id="347" r:id="rId21"/>
    <p:sldId id="348" r:id="rId22"/>
    <p:sldId id="349" r:id="rId23"/>
    <p:sldId id="361" r:id="rId24"/>
    <p:sldId id="304" r:id="rId25"/>
    <p:sldId id="351" r:id="rId26"/>
    <p:sldId id="362" r:id="rId27"/>
    <p:sldId id="352" r:id="rId28"/>
    <p:sldId id="290" r:id="rId29"/>
    <p:sldId id="309" r:id="rId30"/>
    <p:sldId id="310" r:id="rId31"/>
    <p:sldId id="354" r:id="rId32"/>
    <p:sldId id="353" r:id="rId33"/>
    <p:sldId id="371" r:id="rId34"/>
    <p:sldId id="372" r:id="rId35"/>
    <p:sldId id="363" r:id="rId36"/>
    <p:sldId id="292" r:id="rId37"/>
    <p:sldId id="293" r:id="rId38"/>
    <p:sldId id="364" r:id="rId39"/>
    <p:sldId id="355" r:id="rId40"/>
    <p:sldId id="296" r:id="rId41"/>
    <p:sldId id="356" r:id="rId42"/>
    <p:sldId id="298" r:id="rId43"/>
    <p:sldId id="365" r:id="rId44"/>
    <p:sldId id="326" r:id="rId45"/>
    <p:sldId id="374" r:id="rId46"/>
    <p:sldId id="375" r:id="rId47"/>
    <p:sldId id="376" r:id="rId48"/>
    <p:sldId id="377" r:id="rId49"/>
    <p:sldId id="378" r:id="rId50"/>
    <p:sldId id="373" r:id="rId51"/>
    <p:sldId id="261" r:id="rId52"/>
    <p:sldId id="329" r:id="rId53"/>
    <p:sldId id="259" r:id="rId54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http://customooxmlschemas.google.com/">
      <go:slidesCustomData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xmlns="" r:id="rId78" roundtripDataSignature="AMtx7mh2+CB7AwAKHevBYi6hg66TyKQMEg==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6186062B-CF97-CD71-5A85-9B4FD42F42A3}" name="FERNANDO IGNACIO DIAZ SANCHEZ" initials="FIDS" userId="S::fidiaz@utp.edu.pe::ba36fe69-f35f-4358-9126-4b1eb463af60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9F9F9"/>
    <a:srgbClr val="E5E5E6"/>
    <a:srgbClr val="57D3FF"/>
    <a:srgbClr val="1B5E8B"/>
    <a:srgbClr val="758F3A"/>
    <a:srgbClr val="DAEEEF"/>
    <a:srgbClr val="0E7D73"/>
    <a:srgbClr val="CC7832"/>
    <a:srgbClr val="8F2A22"/>
    <a:srgbClr val="B3EDF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3D60B73-A423-B812-5CE1-C8DAD5587D31}" v="389" dt="2023-01-25T19:12:52.82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943" autoAdjust="0"/>
  </p:normalViewPr>
  <p:slideViewPr>
    <p:cSldViewPr snapToGrid="0">
      <p:cViewPr varScale="1">
        <p:scale>
          <a:sx n="118" d="100"/>
          <a:sy n="118" d="100"/>
        </p:scale>
        <p:origin x="610" y="101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notesMaster" Target="notesMasters/notesMaster1.xml"/><Relationship Id="rId84" Type="http://schemas.microsoft.com/office/2018/10/relationships/authors" Target="author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79" Type="http://schemas.openxmlformats.org/officeDocument/2006/relationships/presProps" Target="presProps.xml"/><Relationship Id="rId5" Type="http://schemas.openxmlformats.org/officeDocument/2006/relationships/slide" Target="slides/slide4.xml"/><Relationship Id="rId82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80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83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78" Type="http://customschemas.google.com/relationships/presentationmetadata" Target="metadata"/><Relationship Id="rId8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7819eedc26_1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" name="Google Shape;71;g7819eedc26_1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0">
              <a:buNone/>
            </a:pP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95656830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800" b="0" i="0" u="none" strike="noStrike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Fuente: https://www.educative.io/edpresso/what-is-a-web-container</a:t>
            </a:r>
            <a:r>
              <a:rPr lang="en-US" sz="1800" b="0" i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​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257206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B. Algoritmo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787306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D. Programa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479458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programador / código fuente / lenguaje de programación / programa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887095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A. Intérprete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637247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James Gosling / </a:t>
            </a:r>
            <a:r>
              <a:rPr lang="en-US" dirty="0" err="1"/>
              <a:t>multiplataforma</a:t>
            </a:r>
            <a:r>
              <a:rPr lang="en-US" dirty="0"/>
              <a:t> / </a:t>
            </a:r>
            <a:r>
              <a:rPr lang="en-US" dirty="0" err="1"/>
              <a:t>lenguaje</a:t>
            </a:r>
            <a:r>
              <a:rPr lang="en-US" dirty="0"/>
              <a:t> Java</a:t>
            </a:r>
          </a:p>
        </p:txBody>
      </p:sp>
    </p:spTree>
    <p:extLst>
      <p:ext uri="{BB962C8B-B14F-4D97-AF65-F5344CB8AC3E}">
        <p14:creationId xmlns:p14="http://schemas.microsoft.com/office/powerpoint/2010/main" val="27736255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B. IDE.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823125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Fase 1. Edición</a:t>
            </a:r>
          </a:p>
          <a:p>
            <a:r>
              <a:rPr lang="es-ES" dirty="0"/>
              <a:t>Programador Java / archivo .java (código fuente)</a:t>
            </a:r>
          </a:p>
          <a:p>
            <a:endParaRPr lang="es-ES" dirty="0"/>
          </a:p>
          <a:p>
            <a:r>
              <a:rPr lang="es-ES" dirty="0"/>
              <a:t>Fase 2. Compilación</a:t>
            </a:r>
          </a:p>
          <a:p>
            <a:r>
              <a:rPr lang="es-ES" dirty="0"/>
              <a:t>Compilador </a:t>
            </a:r>
            <a:r>
              <a:rPr lang="es-ES" dirty="0" err="1"/>
              <a:t>javac</a:t>
            </a:r>
            <a:r>
              <a:rPr lang="es-ES" dirty="0"/>
              <a:t> / archivo .</a:t>
            </a:r>
            <a:r>
              <a:rPr lang="es-ES" dirty="0" err="1"/>
              <a:t>class</a:t>
            </a:r>
            <a:r>
              <a:rPr lang="es-ES" dirty="0"/>
              <a:t> (</a:t>
            </a:r>
            <a:r>
              <a:rPr lang="es-ES" dirty="0" err="1"/>
              <a:t>bytecode</a:t>
            </a:r>
            <a:r>
              <a:rPr lang="es-ES" dirty="0"/>
              <a:t>)</a:t>
            </a:r>
          </a:p>
          <a:p>
            <a:endParaRPr lang="es-ES" dirty="0"/>
          </a:p>
          <a:p>
            <a:r>
              <a:rPr lang="es-ES" dirty="0"/>
              <a:t>Fase 3. Carga y Ejecución</a:t>
            </a:r>
          </a:p>
          <a:p>
            <a:r>
              <a:rPr lang="es-ES" dirty="0"/>
              <a:t>Máquina Virtual Java / código de bajo nivel (binario) / Computadora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932985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" name="Google Shape;7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2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013" y="0"/>
            <a:ext cx="12181974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1936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1">
                <a:latin typeface="Helvetica" pitchFamily="2" charset="0"/>
                <a:ea typeface="Helvetica" pitchFamily="2" charset="0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7"/>
          <p:cNvSpPr txBox="1">
            <a:spLocks noGrp="1"/>
          </p:cNvSpPr>
          <p:nvPr>
            <p:ph type="subTitle" idx="1"/>
          </p:nvPr>
        </p:nvSpPr>
        <p:spPr>
          <a:xfrm>
            <a:off x="1524000" y="3178688"/>
            <a:ext cx="9144000" cy="50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latin typeface="Helvetica" pitchFamily="2" charset="0"/>
                <a:ea typeface="Helvetica" pitchFamily="2" charset="0"/>
                <a:cs typeface="Arial"/>
                <a:sym typeface="Arial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BF22F04-4BC9-41E2-B353-830397417302}"/>
              </a:ext>
            </a:extLst>
          </p:cNvPr>
          <p:cNvSpPr/>
          <p:nvPr userDrawn="1"/>
        </p:nvSpPr>
        <p:spPr>
          <a:xfrm>
            <a:off x="4058520" y="5231177"/>
            <a:ext cx="4063504" cy="93654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noFill/>
              </a:ln>
            </a:endParaRPr>
          </a:p>
        </p:txBody>
      </p:sp>
      <p:pic>
        <p:nvPicPr>
          <p:cNvPr id="5" name="Picture 2" descr="Inicio – 10 - Universidad Tecnológica del Perú - UTP – Colegio Anglo  Americano Prescott">
            <a:extLst>
              <a:ext uri="{FF2B5EF4-FFF2-40B4-BE49-F238E27FC236}">
                <a16:creationId xmlns:a16="http://schemas.microsoft.com/office/drawing/2014/main" id="{4E2C1613-F647-4454-932D-F9B6B9380A9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1555" y="5135036"/>
            <a:ext cx="4173573" cy="10928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C29555-3685-4E25-8B53-D766AA0661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49745"/>
            <a:ext cx="10515600" cy="785528"/>
          </a:xfrm>
        </p:spPr>
        <p:txBody>
          <a:bodyPr>
            <a:normAutofit/>
          </a:bodyPr>
          <a:lstStyle>
            <a:lvl1pPr>
              <a:defRPr sz="4400" b="1">
                <a:solidFill>
                  <a:srgbClr val="D3052C"/>
                </a:solidFill>
                <a:latin typeface="Helvetica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A88F942-990C-4C84-A1C3-F5F0BCBF93E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‹Nº›</a:t>
            </a:fld>
            <a:endParaRPr lang="es-PE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368538E7-9E81-474C-AD3B-32C2198C15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38200" y="1846263"/>
            <a:ext cx="10515600" cy="4373562"/>
          </a:xfrm>
        </p:spPr>
        <p:txBody>
          <a:bodyPr/>
          <a:lstStyle>
            <a:lvl1pPr>
              <a:lnSpc>
                <a:spcPct val="100000"/>
              </a:lnSpc>
              <a:defRPr>
                <a:latin typeface="Helvetica" pitchFamily="2" charset="0"/>
              </a:defRPr>
            </a:lvl1pPr>
            <a:lvl2pPr>
              <a:lnSpc>
                <a:spcPct val="100000"/>
              </a:lnSpc>
              <a:defRPr>
                <a:latin typeface="Helvetica" pitchFamily="2" charset="0"/>
              </a:defRPr>
            </a:lvl2pPr>
            <a:lvl3pPr>
              <a:lnSpc>
                <a:spcPct val="100000"/>
              </a:lnSpc>
              <a:defRPr>
                <a:latin typeface="Helvetica" pitchFamily="2" charset="0"/>
              </a:defRPr>
            </a:lvl3pPr>
            <a:lvl4pPr>
              <a:lnSpc>
                <a:spcPct val="100000"/>
              </a:lnSpc>
              <a:defRPr>
                <a:latin typeface="Helvetica" pitchFamily="2" charset="0"/>
              </a:defRPr>
            </a:lvl4pPr>
            <a:lvl5pPr>
              <a:lnSpc>
                <a:spcPct val="100000"/>
              </a:lnSpc>
              <a:defRPr>
                <a:latin typeface="Helvetica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026" name="Picture 2" descr="Inicio – 10 - Universidad Tecnológica del Perú - UTP – Colegio Anglo  Americano Prescott">
            <a:extLst>
              <a:ext uri="{FF2B5EF4-FFF2-40B4-BE49-F238E27FC236}">
                <a16:creationId xmlns:a16="http://schemas.microsoft.com/office/drawing/2014/main" id="{322DE48A-2D4F-4873-8D66-AF7F3593CA7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66428" y="136525"/>
            <a:ext cx="1559859" cy="4013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18310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o el título" preserve="1" userDrawn="1">
  <p:cSld name="2_Solo el título"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Inicio – 10 - Universidad Tecnológica del Perú - UTP – Colegio Anglo  Americano Prescott">
            <a:extLst>
              <a:ext uri="{FF2B5EF4-FFF2-40B4-BE49-F238E27FC236}">
                <a16:creationId xmlns:a16="http://schemas.microsoft.com/office/drawing/2014/main" id="{240F2624-FBFA-46AE-9892-D42C673614F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52847" y="141009"/>
            <a:ext cx="1559859" cy="4013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835F4D67-4966-C21F-A09E-7658BEBF99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68217"/>
            <a:ext cx="10515600" cy="4959927"/>
          </a:xfrm>
        </p:spPr>
        <p:txBody>
          <a:bodyPr/>
          <a:lstStyle>
            <a:lvl1pPr algn="ctr">
              <a:defRPr b="1">
                <a:solidFill>
                  <a:schemeClr val="bg1">
                    <a:lumMod val="50000"/>
                  </a:schemeClr>
                </a:solidFill>
                <a:latin typeface="Helvetica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966700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Encabezado de sección">
  <p:cSld name="1_Encabezado de sección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19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467" y="0"/>
            <a:ext cx="12187066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6D22FCA6-0FCB-4C91-BEC5-A93A5D856507}"/>
              </a:ext>
            </a:extLst>
          </p:cNvPr>
          <p:cNvSpPr/>
          <p:nvPr userDrawn="1"/>
        </p:nvSpPr>
        <p:spPr>
          <a:xfrm>
            <a:off x="8713694" y="0"/>
            <a:ext cx="3478306" cy="14612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Google Shape;20;p9"/>
          <p:cNvSpPr txBox="1">
            <a:spLocks noGrp="1"/>
          </p:cNvSpPr>
          <p:nvPr>
            <p:ph type="body" idx="1"/>
          </p:nvPr>
        </p:nvSpPr>
        <p:spPr>
          <a:xfrm>
            <a:off x="831850" y="469339"/>
            <a:ext cx="10515600" cy="5620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1" name="Google Shape;21;p9"/>
          <p:cNvSpPr txBox="1"/>
          <p:nvPr/>
        </p:nvSpPr>
        <p:spPr>
          <a:xfrm>
            <a:off x="831850" y="6457444"/>
            <a:ext cx="1051560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Datos/Observaciones</a:t>
            </a:r>
            <a:endParaRPr/>
          </a:p>
        </p:txBody>
      </p:sp>
      <p:pic>
        <p:nvPicPr>
          <p:cNvPr id="6" name="Picture 2" descr="Inicio – 10 - Universidad Tecnológica del Perú - UTP – Colegio Anglo  Americano Prescott">
            <a:extLst>
              <a:ext uri="{FF2B5EF4-FFF2-40B4-BE49-F238E27FC236}">
                <a16:creationId xmlns:a16="http://schemas.microsoft.com/office/drawing/2014/main" id="{1B93EADB-A85F-4945-BEEA-1073EED2962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52847" y="122286"/>
            <a:ext cx="1559859" cy="4013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abezado de sección">
  <p:cSld name="Encabezado de sección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Google Shape;23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352"/>
            <a:ext cx="12192000" cy="6857295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345ECD6E-A13D-41C4-A8AA-AC936BA167FF}"/>
              </a:ext>
            </a:extLst>
          </p:cNvPr>
          <p:cNvSpPr/>
          <p:nvPr userDrawn="1"/>
        </p:nvSpPr>
        <p:spPr>
          <a:xfrm>
            <a:off x="8713694" y="0"/>
            <a:ext cx="3478306" cy="14612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Google Shape;24;p10"/>
          <p:cNvSpPr txBox="1">
            <a:spLocks noGrp="1"/>
          </p:cNvSpPr>
          <p:nvPr>
            <p:ph type="body" idx="1"/>
          </p:nvPr>
        </p:nvSpPr>
        <p:spPr>
          <a:xfrm>
            <a:off x="831850" y="469339"/>
            <a:ext cx="10515600" cy="5620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5" name="Google Shape;25;p10"/>
          <p:cNvSpPr txBox="1">
            <a:spLocks noGrp="1"/>
          </p:cNvSpPr>
          <p:nvPr>
            <p:ph type="body" idx="2"/>
          </p:nvPr>
        </p:nvSpPr>
        <p:spPr>
          <a:xfrm>
            <a:off x="831850" y="6382418"/>
            <a:ext cx="1051560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pic>
        <p:nvPicPr>
          <p:cNvPr id="6" name="Picture 2" descr="Inicio – 10 - Universidad Tecnológica del Perú - UTP – Colegio Anglo  Americano Prescott">
            <a:extLst>
              <a:ext uri="{FF2B5EF4-FFF2-40B4-BE49-F238E27FC236}">
                <a16:creationId xmlns:a16="http://schemas.microsoft.com/office/drawing/2014/main" id="{E630A3B5-109D-4437-9425-DCBCCE7F66F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52847" y="122286"/>
            <a:ext cx="1559859" cy="4013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Solo el título">
  <p:cSld name="1_Solo el título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Google Shape;27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639" y="0"/>
            <a:ext cx="12180722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>
  <p:cSld name="Contenido con título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oogle Shape;29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013" y="0"/>
            <a:ext cx="12181974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12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3200"/>
              <a:buNone/>
              <a:defRPr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Contenido con título">
  <p:cSld name="1_Contenido con título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Google Shape;32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352"/>
            <a:ext cx="12192000" cy="6857295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13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3200"/>
              <a:buNone/>
              <a:defRPr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Contenido con título">
  <p:cSld name="2_Contenido con título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Google Shape;35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352"/>
            <a:ext cx="12192000" cy="6857295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14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3200"/>
              <a:buNone/>
              <a:defRPr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Contenido con título">
  <p:cSld name="3_Contenido con título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Google Shape;38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352"/>
            <a:ext cx="12192000" cy="6857295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15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3200"/>
              <a:buNone/>
              <a:defRPr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Contenido con título">
  <p:cSld name="4_Contenido con título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Google Shape;41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013" y="0"/>
            <a:ext cx="12181974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16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3200"/>
              <a:buNone/>
              <a:defRPr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Contenido con título">
  <p:cSld name="5_Contenido con título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Google Shape;44;p1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352"/>
            <a:ext cx="12192000" cy="6857295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17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3200"/>
              <a:buNone/>
              <a:defRPr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_Contenido con título">
  <p:cSld name="6_Contenido con título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Google Shape;47;p1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352"/>
            <a:ext cx="12192000" cy="6857295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18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3200"/>
              <a:buNone/>
              <a:defRPr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7_Contenido con título">
  <p:cSld name="7_Contenido con título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Google Shape;50;p1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013" y="0"/>
            <a:ext cx="12181974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1" name="Google Shape;51;p1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3200"/>
              <a:buNone/>
              <a:defRPr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8_Contenido con título">
  <p:cSld name="8_Contenido con título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Google Shape;53;p2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352"/>
            <a:ext cx="12192000" cy="6857295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20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3200"/>
              <a:buNone/>
              <a:defRPr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_Contenido con título">
  <p:cSld name="9_Contenido con título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Google Shape;56;p2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352"/>
            <a:ext cx="12192000" cy="685729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21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3200"/>
              <a:buNone/>
              <a:defRPr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0_Contenido con título">
  <p:cSld name="10_Contenido con título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2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352"/>
            <a:ext cx="12192000" cy="6857295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22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3200"/>
              <a:buNone/>
              <a:defRPr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Google Shape;9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Google Shape;10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66" r:id="rId2"/>
    <p:sldLayoutId id="2147483665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1" i="0" u="none" strike="noStrike" cap="none">
          <a:solidFill>
            <a:srgbClr val="D3052C"/>
          </a:solidFill>
          <a:latin typeface="Helvetica" pitchFamily="2" charset="0"/>
          <a:ea typeface="Helvetica" pitchFamily="2" charset="0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Helvetica" pitchFamily="2" charset="0"/>
          <a:ea typeface="Helvetica" pitchFamily="2" charset="0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hyperlink" Target="https://dev.java/download/releases/" TargetMode="Externa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37.png"/><Relationship Id="rId7" Type="http://schemas.openxmlformats.org/officeDocument/2006/relationships/image" Target="../media/image41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Relationship Id="rId9" Type="http://schemas.openxmlformats.org/officeDocument/2006/relationships/image" Target="../media/image4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6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51.png"/><Relationship Id="rId7" Type="http://schemas.openxmlformats.org/officeDocument/2006/relationships/image" Target="../media/image37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5" Type="http://schemas.openxmlformats.org/officeDocument/2006/relationships/image" Target="../media/image53.png"/><Relationship Id="rId4" Type="http://schemas.openxmlformats.org/officeDocument/2006/relationships/image" Target="../media/image52.png"/><Relationship Id="rId9" Type="http://schemas.openxmlformats.org/officeDocument/2006/relationships/image" Target="../media/image54.png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4996C790-6468-2096-DC96-223AAF4804CF}"/>
              </a:ext>
            </a:extLst>
          </p:cNvPr>
          <p:cNvSpPr/>
          <p:nvPr/>
        </p:nvSpPr>
        <p:spPr>
          <a:xfrm>
            <a:off x="-9236" y="-13581"/>
            <a:ext cx="12210289" cy="6871581"/>
          </a:xfrm>
          <a:custGeom>
            <a:avLst/>
            <a:gdLst>
              <a:gd name="connsiteX0" fmla="*/ 0 w 12376087"/>
              <a:gd name="connsiteY0" fmla="*/ 5395865 h 6871580"/>
              <a:gd name="connsiteX1" fmla="*/ 0 w 12376087"/>
              <a:gd name="connsiteY1" fmla="*/ 6871580 h 6871580"/>
              <a:gd name="connsiteX2" fmla="*/ 9578566 w 12376087"/>
              <a:gd name="connsiteY2" fmla="*/ 6871580 h 6871580"/>
              <a:gd name="connsiteX3" fmla="*/ 12376087 w 12376087"/>
              <a:gd name="connsiteY3" fmla="*/ 2236205 h 6871580"/>
              <a:gd name="connsiteX4" fmla="*/ 12376087 w 12376087"/>
              <a:gd name="connsiteY4" fmla="*/ 0 h 6871580"/>
              <a:gd name="connsiteX5" fmla="*/ 8256760 w 12376087"/>
              <a:gd name="connsiteY5" fmla="*/ 0 h 6871580"/>
              <a:gd name="connsiteX6" fmla="*/ 0 w 12376087"/>
              <a:gd name="connsiteY6" fmla="*/ 5395865 h 6871580"/>
              <a:gd name="connsiteX0" fmla="*/ 0 w 12376087"/>
              <a:gd name="connsiteY0" fmla="*/ 5395865 h 6871580"/>
              <a:gd name="connsiteX1" fmla="*/ 0 w 12376087"/>
              <a:gd name="connsiteY1" fmla="*/ 6871580 h 6871580"/>
              <a:gd name="connsiteX2" fmla="*/ 9578566 w 12376087"/>
              <a:gd name="connsiteY2" fmla="*/ 6871580 h 6871580"/>
              <a:gd name="connsiteX3" fmla="*/ 12376087 w 12376087"/>
              <a:gd name="connsiteY3" fmla="*/ 2236205 h 6871580"/>
              <a:gd name="connsiteX4" fmla="*/ 12376087 w 12376087"/>
              <a:gd name="connsiteY4" fmla="*/ 0 h 6871580"/>
              <a:gd name="connsiteX5" fmla="*/ 8256760 w 12376087"/>
              <a:gd name="connsiteY5" fmla="*/ 0 h 6871580"/>
              <a:gd name="connsiteX6" fmla="*/ 0 w 12376087"/>
              <a:gd name="connsiteY6" fmla="*/ 5395865 h 6871580"/>
              <a:gd name="connsiteX0" fmla="*/ 0 w 12376087"/>
              <a:gd name="connsiteY0" fmla="*/ 5395865 h 6871580"/>
              <a:gd name="connsiteX1" fmla="*/ 0 w 12376087"/>
              <a:gd name="connsiteY1" fmla="*/ 6871580 h 6871580"/>
              <a:gd name="connsiteX2" fmla="*/ 9578566 w 12376087"/>
              <a:gd name="connsiteY2" fmla="*/ 6871580 h 6871580"/>
              <a:gd name="connsiteX3" fmla="*/ 12376087 w 12376087"/>
              <a:gd name="connsiteY3" fmla="*/ 2236205 h 6871580"/>
              <a:gd name="connsiteX4" fmla="*/ 12376087 w 12376087"/>
              <a:gd name="connsiteY4" fmla="*/ 0 h 6871580"/>
              <a:gd name="connsiteX5" fmla="*/ 8256760 w 12376087"/>
              <a:gd name="connsiteY5" fmla="*/ 0 h 6871580"/>
              <a:gd name="connsiteX6" fmla="*/ 0 w 12376087"/>
              <a:gd name="connsiteY6" fmla="*/ 5395865 h 6871580"/>
              <a:gd name="connsiteX0" fmla="*/ 0 w 12376087"/>
              <a:gd name="connsiteY0" fmla="*/ 5395865 h 6871580"/>
              <a:gd name="connsiteX1" fmla="*/ 0 w 12376087"/>
              <a:gd name="connsiteY1" fmla="*/ 6871580 h 6871580"/>
              <a:gd name="connsiteX2" fmla="*/ 9578566 w 12376087"/>
              <a:gd name="connsiteY2" fmla="*/ 6871580 h 6871580"/>
              <a:gd name="connsiteX3" fmla="*/ 12376087 w 12376087"/>
              <a:gd name="connsiteY3" fmla="*/ 2236205 h 6871580"/>
              <a:gd name="connsiteX4" fmla="*/ 12376087 w 12376087"/>
              <a:gd name="connsiteY4" fmla="*/ 0 h 6871580"/>
              <a:gd name="connsiteX5" fmla="*/ 8256760 w 12376087"/>
              <a:gd name="connsiteY5" fmla="*/ 0 h 6871580"/>
              <a:gd name="connsiteX6" fmla="*/ 0 w 12376087"/>
              <a:gd name="connsiteY6" fmla="*/ 5395865 h 6871580"/>
              <a:gd name="connsiteX0" fmla="*/ 0 w 12376087"/>
              <a:gd name="connsiteY0" fmla="*/ 5395865 h 6871580"/>
              <a:gd name="connsiteX1" fmla="*/ 0 w 12376087"/>
              <a:gd name="connsiteY1" fmla="*/ 6871580 h 6871580"/>
              <a:gd name="connsiteX2" fmla="*/ 9578566 w 12376087"/>
              <a:gd name="connsiteY2" fmla="*/ 6871580 h 6871580"/>
              <a:gd name="connsiteX3" fmla="*/ 12376087 w 12376087"/>
              <a:gd name="connsiteY3" fmla="*/ 2236205 h 6871580"/>
              <a:gd name="connsiteX4" fmla="*/ 12376087 w 12376087"/>
              <a:gd name="connsiteY4" fmla="*/ 0 h 6871580"/>
              <a:gd name="connsiteX5" fmla="*/ 8256760 w 12376087"/>
              <a:gd name="connsiteY5" fmla="*/ 0 h 6871580"/>
              <a:gd name="connsiteX6" fmla="*/ 0 w 12376087"/>
              <a:gd name="connsiteY6" fmla="*/ 5395865 h 6871580"/>
              <a:gd name="connsiteX0" fmla="*/ 0 w 12376087"/>
              <a:gd name="connsiteY0" fmla="*/ 5395865 h 6871580"/>
              <a:gd name="connsiteX1" fmla="*/ 0 w 12376087"/>
              <a:gd name="connsiteY1" fmla="*/ 6871580 h 6871580"/>
              <a:gd name="connsiteX2" fmla="*/ 9578566 w 12376087"/>
              <a:gd name="connsiteY2" fmla="*/ 6871580 h 6871580"/>
              <a:gd name="connsiteX3" fmla="*/ 12376087 w 12376087"/>
              <a:gd name="connsiteY3" fmla="*/ 2236205 h 6871580"/>
              <a:gd name="connsiteX4" fmla="*/ 12376087 w 12376087"/>
              <a:gd name="connsiteY4" fmla="*/ 0 h 6871580"/>
              <a:gd name="connsiteX5" fmla="*/ 8256760 w 12376087"/>
              <a:gd name="connsiteY5" fmla="*/ 0 h 6871580"/>
              <a:gd name="connsiteX6" fmla="*/ 0 w 12376087"/>
              <a:gd name="connsiteY6" fmla="*/ 5395865 h 6871580"/>
              <a:gd name="connsiteX0" fmla="*/ 0 w 12376087"/>
              <a:gd name="connsiteY0" fmla="*/ 5395865 h 6871580"/>
              <a:gd name="connsiteX1" fmla="*/ 0 w 12376087"/>
              <a:gd name="connsiteY1" fmla="*/ 6871580 h 6871580"/>
              <a:gd name="connsiteX2" fmla="*/ 9578566 w 12376087"/>
              <a:gd name="connsiteY2" fmla="*/ 6871580 h 6871580"/>
              <a:gd name="connsiteX3" fmla="*/ 12376087 w 12376087"/>
              <a:gd name="connsiteY3" fmla="*/ 2236205 h 6871580"/>
              <a:gd name="connsiteX4" fmla="*/ 12376087 w 12376087"/>
              <a:gd name="connsiteY4" fmla="*/ 0 h 6871580"/>
              <a:gd name="connsiteX5" fmla="*/ 8256760 w 12376087"/>
              <a:gd name="connsiteY5" fmla="*/ 0 h 6871580"/>
              <a:gd name="connsiteX6" fmla="*/ 0 w 12376087"/>
              <a:gd name="connsiteY6" fmla="*/ 5395865 h 6871580"/>
              <a:gd name="connsiteX0" fmla="*/ 0 w 12385277"/>
              <a:gd name="connsiteY0" fmla="*/ 3802455 h 6871580"/>
              <a:gd name="connsiteX1" fmla="*/ 9190 w 12385277"/>
              <a:gd name="connsiteY1" fmla="*/ 6871580 h 6871580"/>
              <a:gd name="connsiteX2" fmla="*/ 9587756 w 12385277"/>
              <a:gd name="connsiteY2" fmla="*/ 6871580 h 6871580"/>
              <a:gd name="connsiteX3" fmla="*/ 12385277 w 12385277"/>
              <a:gd name="connsiteY3" fmla="*/ 2236205 h 6871580"/>
              <a:gd name="connsiteX4" fmla="*/ 12385277 w 12385277"/>
              <a:gd name="connsiteY4" fmla="*/ 0 h 6871580"/>
              <a:gd name="connsiteX5" fmla="*/ 8265950 w 12385277"/>
              <a:gd name="connsiteY5" fmla="*/ 0 h 6871580"/>
              <a:gd name="connsiteX6" fmla="*/ 0 w 12385277"/>
              <a:gd name="connsiteY6" fmla="*/ 3802455 h 6871580"/>
              <a:gd name="connsiteX0" fmla="*/ 0 w 12385277"/>
              <a:gd name="connsiteY0" fmla="*/ 3802455 h 6871580"/>
              <a:gd name="connsiteX1" fmla="*/ 9190 w 12385277"/>
              <a:gd name="connsiteY1" fmla="*/ 6871580 h 6871580"/>
              <a:gd name="connsiteX2" fmla="*/ 9587756 w 12385277"/>
              <a:gd name="connsiteY2" fmla="*/ 6871580 h 6871580"/>
              <a:gd name="connsiteX3" fmla="*/ 12385277 w 12385277"/>
              <a:gd name="connsiteY3" fmla="*/ 2236205 h 6871580"/>
              <a:gd name="connsiteX4" fmla="*/ 12385277 w 12385277"/>
              <a:gd name="connsiteY4" fmla="*/ 0 h 6871580"/>
              <a:gd name="connsiteX5" fmla="*/ 8265950 w 12385277"/>
              <a:gd name="connsiteY5" fmla="*/ 0 h 6871580"/>
              <a:gd name="connsiteX6" fmla="*/ 0 w 12385277"/>
              <a:gd name="connsiteY6" fmla="*/ 3802455 h 6871580"/>
              <a:gd name="connsiteX0" fmla="*/ 0 w 12394652"/>
              <a:gd name="connsiteY0" fmla="*/ 3543837 h 6871580"/>
              <a:gd name="connsiteX1" fmla="*/ 18565 w 12394652"/>
              <a:gd name="connsiteY1" fmla="*/ 6871580 h 6871580"/>
              <a:gd name="connsiteX2" fmla="*/ 9597131 w 12394652"/>
              <a:gd name="connsiteY2" fmla="*/ 6871580 h 6871580"/>
              <a:gd name="connsiteX3" fmla="*/ 12394652 w 12394652"/>
              <a:gd name="connsiteY3" fmla="*/ 2236205 h 6871580"/>
              <a:gd name="connsiteX4" fmla="*/ 12394652 w 12394652"/>
              <a:gd name="connsiteY4" fmla="*/ 0 h 6871580"/>
              <a:gd name="connsiteX5" fmla="*/ 8275325 w 12394652"/>
              <a:gd name="connsiteY5" fmla="*/ 0 h 6871580"/>
              <a:gd name="connsiteX6" fmla="*/ 0 w 12394652"/>
              <a:gd name="connsiteY6" fmla="*/ 3543837 h 6871580"/>
              <a:gd name="connsiteX0" fmla="*/ 0 w 12394652"/>
              <a:gd name="connsiteY0" fmla="*/ 3543837 h 6899290"/>
              <a:gd name="connsiteX1" fmla="*/ 18565 w 12394652"/>
              <a:gd name="connsiteY1" fmla="*/ 6871580 h 6899290"/>
              <a:gd name="connsiteX2" fmla="*/ 10412828 w 12394652"/>
              <a:gd name="connsiteY2" fmla="*/ 6899290 h 6899290"/>
              <a:gd name="connsiteX3" fmla="*/ 12394652 w 12394652"/>
              <a:gd name="connsiteY3" fmla="*/ 2236205 h 6899290"/>
              <a:gd name="connsiteX4" fmla="*/ 12394652 w 12394652"/>
              <a:gd name="connsiteY4" fmla="*/ 0 h 6899290"/>
              <a:gd name="connsiteX5" fmla="*/ 8275325 w 12394652"/>
              <a:gd name="connsiteY5" fmla="*/ 0 h 6899290"/>
              <a:gd name="connsiteX6" fmla="*/ 0 w 12394652"/>
              <a:gd name="connsiteY6" fmla="*/ 3543837 h 6899290"/>
              <a:gd name="connsiteX0" fmla="*/ 0 w 12394652"/>
              <a:gd name="connsiteY0" fmla="*/ 3543837 h 6871581"/>
              <a:gd name="connsiteX1" fmla="*/ 18565 w 12394652"/>
              <a:gd name="connsiteY1" fmla="*/ 6871580 h 6871581"/>
              <a:gd name="connsiteX2" fmla="*/ 10028419 w 12394652"/>
              <a:gd name="connsiteY2" fmla="*/ 6871581 h 6871581"/>
              <a:gd name="connsiteX3" fmla="*/ 12394652 w 12394652"/>
              <a:gd name="connsiteY3" fmla="*/ 2236205 h 6871581"/>
              <a:gd name="connsiteX4" fmla="*/ 12394652 w 12394652"/>
              <a:gd name="connsiteY4" fmla="*/ 0 h 6871581"/>
              <a:gd name="connsiteX5" fmla="*/ 8275325 w 12394652"/>
              <a:gd name="connsiteY5" fmla="*/ 0 h 6871581"/>
              <a:gd name="connsiteX6" fmla="*/ 0 w 12394652"/>
              <a:gd name="connsiteY6" fmla="*/ 3543837 h 68715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394652" h="6871581">
                <a:moveTo>
                  <a:pt x="0" y="3543837"/>
                </a:moveTo>
                <a:cubicBezTo>
                  <a:pt x="3063" y="4566879"/>
                  <a:pt x="15502" y="5848538"/>
                  <a:pt x="18565" y="6871580"/>
                </a:cubicBezTo>
                <a:lnTo>
                  <a:pt x="10028419" y="6871581"/>
                </a:lnTo>
                <a:cubicBezTo>
                  <a:pt x="11310153" y="5444150"/>
                  <a:pt x="11985983" y="4197789"/>
                  <a:pt x="12394652" y="2236205"/>
                </a:cubicBezTo>
                <a:lnTo>
                  <a:pt x="12394652" y="0"/>
                </a:lnTo>
                <a:lnTo>
                  <a:pt x="8275325" y="0"/>
                </a:lnTo>
                <a:cubicBezTo>
                  <a:pt x="8666108" y="4324539"/>
                  <a:pt x="2283555" y="4597057"/>
                  <a:pt x="0" y="3543837"/>
                </a:cubicBezTo>
                <a:close/>
              </a:path>
            </a:pathLst>
          </a:custGeom>
          <a:solidFill>
            <a:schemeClr val="tx2">
              <a:lumMod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EFDE1541-A8F6-99CE-A61B-085CFF7C2FE8}"/>
              </a:ext>
            </a:extLst>
          </p:cNvPr>
          <p:cNvSpPr/>
          <p:nvPr/>
        </p:nvSpPr>
        <p:spPr>
          <a:xfrm>
            <a:off x="-9053" y="-13580"/>
            <a:ext cx="12201053" cy="6871580"/>
          </a:xfrm>
          <a:custGeom>
            <a:avLst/>
            <a:gdLst>
              <a:gd name="connsiteX0" fmla="*/ 0 w 12376087"/>
              <a:gd name="connsiteY0" fmla="*/ 5395865 h 6871580"/>
              <a:gd name="connsiteX1" fmla="*/ 0 w 12376087"/>
              <a:gd name="connsiteY1" fmla="*/ 6871580 h 6871580"/>
              <a:gd name="connsiteX2" fmla="*/ 9578566 w 12376087"/>
              <a:gd name="connsiteY2" fmla="*/ 6871580 h 6871580"/>
              <a:gd name="connsiteX3" fmla="*/ 12376087 w 12376087"/>
              <a:gd name="connsiteY3" fmla="*/ 2236205 h 6871580"/>
              <a:gd name="connsiteX4" fmla="*/ 12376087 w 12376087"/>
              <a:gd name="connsiteY4" fmla="*/ 0 h 6871580"/>
              <a:gd name="connsiteX5" fmla="*/ 8256760 w 12376087"/>
              <a:gd name="connsiteY5" fmla="*/ 0 h 6871580"/>
              <a:gd name="connsiteX6" fmla="*/ 0 w 12376087"/>
              <a:gd name="connsiteY6" fmla="*/ 5395865 h 6871580"/>
              <a:gd name="connsiteX0" fmla="*/ 0 w 12376087"/>
              <a:gd name="connsiteY0" fmla="*/ 5395865 h 6871580"/>
              <a:gd name="connsiteX1" fmla="*/ 0 w 12376087"/>
              <a:gd name="connsiteY1" fmla="*/ 6871580 h 6871580"/>
              <a:gd name="connsiteX2" fmla="*/ 9578566 w 12376087"/>
              <a:gd name="connsiteY2" fmla="*/ 6871580 h 6871580"/>
              <a:gd name="connsiteX3" fmla="*/ 12376087 w 12376087"/>
              <a:gd name="connsiteY3" fmla="*/ 2236205 h 6871580"/>
              <a:gd name="connsiteX4" fmla="*/ 12376087 w 12376087"/>
              <a:gd name="connsiteY4" fmla="*/ 0 h 6871580"/>
              <a:gd name="connsiteX5" fmla="*/ 8256760 w 12376087"/>
              <a:gd name="connsiteY5" fmla="*/ 0 h 6871580"/>
              <a:gd name="connsiteX6" fmla="*/ 0 w 12376087"/>
              <a:gd name="connsiteY6" fmla="*/ 5395865 h 6871580"/>
              <a:gd name="connsiteX0" fmla="*/ 0 w 12376087"/>
              <a:gd name="connsiteY0" fmla="*/ 5395865 h 6871580"/>
              <a:gd name="connsiteX1" fmla="*/ 0 w 12376087"/>
              <a:gd name="connsiteY1" fmla="*/ 6871580 h 6871580"/>
              <a:gd name="connsiteX2" fmla="*/ 9578566 w 12376087"/>
              <a:gd name="connsiteY2" fmla="*/ 6871580 h 6871580"/>
              <a:gd name="connsiteX3" fmla="*/ 12376087 w 12376087"/>
              <a:gd name="connsiteY3" fmla="*/ 2236205 h 6871580"/>
              <a:gd name="connsiteX4" fmla="*/ 12376087 w 12376087"/>
              <a:gd name="connsiteY4" fmla="*/ 0 h 6871580"/>
              <a:gd name="connsiteX5" fmla="*/ 8256760 w 12376087"/>
              <a:gd name="connsiteY5" fmla="*/ 0 h 6871580"/>
              <a:gd name="connsiteX6" fmla="*/ 0 w 12376087"/>
              <a:gd name="connsiteY6" fmla="*/ 5395865 h 6871580"/>
              <a:gd name="connsiteX0" fmla="*/ 0 w 12376087"/>
              <a:gd name="connsiteY0" fmla="*/ 5395865 h 6871580"/>
              <a:gd name="connsiteX1" fmla="*/ 0 w 12376087"/>
              <a:gd name="connsiteY1" fmla="*/ 6871580 h 6871580"/>
              <a:gd name="connsiteX2" fmla="*/ 9578566 w 12376087"/>
              <a:gd name="connsiteY2" fmla="*/ 6871580 h 6871580"/>
              <a:gd name="connsiteX3" fmla="*/ 12376087 w 12376087"/>
              <a:gd name="connsiteY3" fmla="*/ 2236205 h 6871580"/>
              <a:gd name="connsiteX4" fmla="*/ 12376087 w 12376087"/>
              <a:gd name="connsiteY4" fmla="*/ 0 h 6871580"/>
              <a:gd name="connsiteX5" fmla="*/ 8256760 w 12376087"/>
              <a:gd name="connsiteY5" fmla="*/ 0 h 6871580"/>
              <a:gd name="connsiteX6" fmla="*/ 0 w 12376087"/>
              <a:gd name="connsiteY6" fmla="*/ 5395865 h 6871580"/>
              <a:gd name="connsiteX0" fmla="*/ 0 w 12376087"/>
              <a:gd name="connsiteY0" fmla="*/ 5395865 h 6871580"/>
              <a:gd name="connsiteX1" fmla="*/ 0 w 12376087"/>
              <a:gd name="connsiteY1" fmla="*/ 6871580 h 6871580"/>
              <a:gd name="connsiteX2" fmla="*/ 9578566 w 12376087"/>
              <a:gd name="connsiteY2" fmla="*/ 6871580 h 6871580"/>
              <a:gd name="connsiteX3" fmla="*/ 12376087 w 12376087"/>
              <a:gd name="connsiteY3" fmla="*/ 2236205 h 6871580"/>
              <a:gd name="connsiteX4" fmla="*/ 12376087 w 12376087"/>
              <a:gd name="connsiteY4" fmla="*/ 0 h 6871580"/>
              <a:gd name="connsiteX5" fmla="*/ 8256760 w 12376087"/>
              <a:gd name="connsiteY5" fmla="*/ 0 h 6871580"/>
              <a:gd name="connsiteX6" fmla="*/ 0 w 12376087"/>
              <a:gd name="connsiteY6" fmla="*/ 5395865 h 6871580"/>
              <a:gd name="connsiteX0" fmla="*/ 0 w 12376087"/>
              <a:gd name="connsiteY0" fmla="*/ 5395865 h 6871580"/>
              <a:gd name="connsiteX1" fmla="*/ 0 w 12376087"/>
              <a:gd name="connsiteY1" fmla="*/ 6871580 h 6871580"/>
              <a:gd name="connsiteX2" fmla="*/ 9578566 w 12376087"/>
              <a:gd name="connsiteY2" fmla="*/ 6871580 h 6871580"/>
              <a:gd name="connsiteX3" fmla="*/ 12376087 w 12376087"/>
              <a:gd name="connsiteY3" fmla="*/ 2236205 h 6871580"/>
              <a:gd name="connsiteX4" fmla="*/ 12376087 w 12376087"/>
              <a:gd name="connsiteY4" fmla="*/ 0 h 6871580"/>
              <a:gd name="connsiteX5" fmla="*/ 8256760 w 12376087"/>
              <a:gd name="connsiteY5" fmla="*/ 0 h 6871580"/>
              <a:gd name="connsiteX6" fmla="*/ 0 w 12376087"/>
              <a:gd name="connsiteY6" fmla="*/ 5395865 h 6871580"/>
              <a:gd name="connsiteX0" fmla="*/ 0 w 12376087"/>
              <a:gd name="connsiteY0" fmla="*/ 5395865 h 6871580"/>
              <a:gd name="connsiteX1" fmla="*/ 0 w 12376087"/>
              <a:gd name="connsiteY1" fmla="*/ 6871580 h 6871580"/>
              <a:gd name="connsiteX2" fmla="*/ 9578566 w 12376087"/>
              <a:gd name="connsiteY2" fmla="*/ 6871580 h 6871580"/>
              <a:gd name="connsiteX3" fmla="*/ 12376087 w 12376087"/>
              <a:gd name="connsiteY3" fmla="*/ 2236205 h 6871580"/>
              <a:gd name="connsiteX4" fmla="*/ 12376087 w 12376087"/>
              <a:gd name="connsiteY4" fmla="*/ 0 h 6871580"/>
              <a:gd name="connsiteX5" fmla="*/ 8256760 w 12376087"/>
              <a:gd name="connsiteY5" fmla="*/ 0 h 6871580"/>
              <a:gd name="connsiteX6" fmla="*/ 0 w 12376087"/>
              <a:gd name="connsiteY6" fmla="*/ 5395865 h 6871580"/>
              <a:gd name="connsiteX0" fmla="*/ 0 w 12385277"/>
              <a:gd name="connsiteY0" fmla="*/ 3802455 h 6871580"/>
              <a:gd name="connsiteX1" fmla="*/ 9190 w 12385277"/>
              <a:gd name="connsiteY1" fmla="*/ 6871580 h 6871580"/>
              <a:gd name="connsiteX2" fmla="*/ 9587756 w 12385277"/>
              <a:gd name="connsiteY2" fmla="*/ 6871580 h 6871580"/>
              <a:gd name="connsiteX3" fmla="*/ 12385277 w 12385277"/>
              <a:gd name="connsiteY3" fmla="*/ 2236205 h 6871580"/>
              <a:gd name="connsiteX4" fmla="*/ 12385277 w 12385277"/>
              <a:gd name="connsiteY4" fmla="*/ 0 h 6871580"/>
              <a:gd name="connsiteX5" fmla="*/ 8265950 w 12385277"/>
              <a:gd name="connsiteY5" fmla="*/ 0 h 6871580"/>
              <a:gd name="connsiteX6" fmla="*/ 0 w 12385277"/>
              <a:gd name="connsiteY6" fmla="*/ 3802455 h 6871580"/>
              <a:gd name="connsiteX0" fmla="*/ 0 w 12385277"/>
              <a:gd name="connsiteY0" fmla="*/ 3802455 h 6871580"/>
              <a:gd name="connsiteX1" fmla="*/ 9190 w 12385277"/>
              <a:gd name="connsiteY1" fmla="*/ 6871580 h 6871580"/>
              <a:gd name="connsiteX2" fmla="*/ 9587756 w 12385277"/>
              <a:gd name="connsiteY2" fmla="*/ 6871580 h 6871580"/>
              <a:gd name="connsiteX3" fmla="*/ 12385277 w 12385277"/>
              <a:gd name="connsiteY3" fmla="*/ 2236205 h 6871580"/>
              <a:gd name="connsiteX4" fmla="*/ 12385277 w 12385277"/>
              <a:gd name="connsiteY4" fmla="*/ 0 h 6871580"/>
              <a:gd name="connsiteX5" fmla="*/ 8265950 w 12385277"/>
              <a:gd name="connsiteY5" fmla="*/ 0 h 6871580"/>
              <a:gd name="connsiteX6" fmla="*/ 0 w 12385277"/>
              <a:gd name="connsiteY6" fmla="*/ 3802455 h 6871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385277" h="6871580">
                <a:moveTo>
                  <a:pt x="0" y="3802455"/>
                </a:moveTo>
                <a:cubicBezTo>
                  <a:pt x="3063" y="4825497"/>
                  <a:pt x="6127" y="5848538"/>
                  <a:pt x="9190" y="6871580"/>
                </a:cubicBezTo>
                <a:lnTo>
                  <a:pt x="9587756" y="6871580"/>
                </a:lnTo>
                <a:cubicBezTo>
                  <a:pt x="10869490" y="5444149"/>
                  <a:pt x="11976608" y="4197789"/>
                  <a:pt x="12385277" y="2236205"/>
                </a:cubicBezTo>
                <a:lnTo>
                  <a:pt x="12385277" y="0"/>
                </a:lnTo>
                <a:lnTo>
                  <a:pt x="8265950" y="0"/>
                </a:lnTo>
                <a:cubicBezTo>
                  <a:pt x="8656733" y="4324539"/>
                  <a:pt x="2283555" y="4855675"/>
                  <a:pt x="0" y="3802455"/>
                </a:cubicBezTo>
                <a:close/>
              </a:path>
            </a:pathLst>
          </a:custGeom>
          <a:blipFill>
            <a:blip r:embed="rId3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CF66C8B-894E-49C8-97F0-0500C46A7D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3361" y="420110"/>
            <a:ext cx="7361383" cy="1936426"/>
          </a:xfrm>
        </p:spPr>
        <p:txBody>
          <a:bodyPr/>
          <a:lstStyle/>
          <a:p>
            <a:pPr algn="l"/>
            <a:r>
              <a:rPr lang="es-ES"/>
              <a:t>Taller de Programación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A4B3F2A-9181-449D-AA57-948B7B8CEB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9" y="4068577"/>
            <a:ext cx="9144000" cy="500624"/>
          </a:xfrm>
        </p:spPr>
        <p:txBody>
          <a:bodyPr>
            <a:normAutofit fontScale="92500" lnSpcReduction="10000"/>
          </a:bodyPr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377311F-912E-F29A-7CC2-5367F66BE24D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34114"/>
          <a:stretch/>
        </p:blipFill>
        <p:spPr>
          <a:xfrm>
            <a:off x="4177256" y="5291778"/>
            <a:ext cx="2528344" cy="83994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3EBC89A-FF84-877C-D866-0A9D5D51CCDE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lum bright="70000" contrast="-70000"/>
          </a:blip>
          <a:srcRect l="66576"/>
          <a:stretch/>
        </p:blipFill>
        <p:spPr>
          <a:xfrm>
            <a:off x="6732099" y="5291777"/>
            <a:ext cx="1282645" cy="839943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33B98E4C-CEFA-1581-AF50-FEF751C6337A}"/>
              </a:ext>
            </a:extLst>
          </p:cNvPr>
          <p:cNvSpPr/>
          <p:nvPr/>
        </p:nvSpPr>
        <p:spPr>
          <a:xfrm>
            <a:off x="803564" y="2576945"/>
            <a:ext cx="720435" cy="14778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1110DC5-E042-6864-A9C7-29E21EDB9714}"/>
              </a:ext>
            </a:extLst>
          </p:cNvPr>
          <p:cNvSpPr txBox="1"/>
          <p:nvPr/>
        </p:nvSpPr>
        <p:spPr>
          <a:xfrm>
            <a:off x="-4618" y="6627169"/>
            <a:ext cx="773545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bg1">
                    <a:lumMod val="75000"/>
                  </a:schemeClr>
                </a:solidFill>
              </a:rPr>
              <a:t>Imagen </a:t>
            </a:r>
            <a:r>
              <a:rPr lang="en-US" sz="900" err="1">
                <a:solidFill>
                  <a:schemeClr val="bg1">
                    <a:lumMod val="75000"/>
                  </a:schemeClr>
                </a:solidFill>
              </a:rPr>
              <a:t>obtenida</a:t>
            </a:r>
            <a:r>
              <a:rPr lang="en-US" sz="900">
                <a:solidFill>
                  <a:schemeClr val="bg1">
                    <a:lumMod val="75000"/>
                  </a:schemeClr>
                </a:solidFill>
              </a:rPr>
              <a:t> de: https://www.pixelstalk.net/wp-content/uploads/images6/Abstract-Wallpaper-HD-Free-download.png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: Shape 2">
            <a:extLst>
              <a:ext uri="{FF2B5EF4-FFF2-40B4-BE49-F238E27FC236}">
                <a16:creationId xmlns:a16="http://schemas.microsoft.com/office/drawing/2014/main" id="{3B54F9E4-73EC-5803-C251-20C8EB58177E}"/>
              </a:ext>
            </a:extLst>
          </p:cNvPr>
          <p:cNvSpPr/>
          <p:nvPr/>
        </p:nvSpPr>
        <p:spPr>
          <a:xfrm>
            <a:off x="-9053" y="-13580"/>
            <a:ext cx="12201053" cy="6871580"/>
          </a:xfrm>
          <a:custGeom>
            <a:avLst/>
            <a:gdLst>
              <a:gd name="connsiteX0" fmla="*/ 0 w 12376087"/>
              <a:gd name="connsiteY0" fmla="*/ 5395865 h 6871580"/>
              <a:gd name="connsiteX1" fmla="*/ 0 w 12376087"/>
              <a:gd name="connsiteY1" fmla="*/ 6871580 h 6871580"/>
              <a:gd name="connsiteX2" fmla="*/ 9578566 w 12376087"/>
              <a:gd name="connsiteY2" fmla="*/ 6871580 h 6871580"/>
              <a:gd name="connsiteX3" fmla="*/ 12376087 w 12376087"/>
              <a:gd name="connsiteY3" fmla="*/ 2236205 h 6871580"/>
              <a:gd name="connsiteX4" fmla="*/ 12376087 w 12376087"/>
              <a:gd name="connsiteY4" fmla="*/ 0 h 6871580"/>
              <a:gd name="connsiteX5" fmla="*/ 8256760 w 12376087"/>
              <a:gd name="connsiteY5" fmla="*/ 0 h 6871580"/>
              <a:gd name="connsiteX6" fmla="*/ 0 w 12376087"/>
              <a:gd name="connsiteY6" fmla="*/ 5395865 h 6871580"/>
              <a:gd name="connsiteX0" fmla="*/ 0 w 12376087"/>
              <a:gd name="connsiteY0" fmla="*/ 5395865 h 6871580"/>
              <a:gd name="connsiteX1" fmla="*/ 0 w 12376087"/>
              <a:gd name="connsiteY1" fmla="*/ 6871580 h 6871580"/>
              <a:gd name="connsiteX2" fmla="*/ 9578566 w 12376087"/>
              <a:gd name="connsiteY2" fmla="*/ 6871580 h 6871580"/>
              <a:gd name="connsiteX3" fmla="*/ 12376087 w 12376087"/>
              <a:gd name="connsiteY3" fmla="*/ 2236205 h 6871580"/>
              <a:gd name="connsiteX4" fmla="*/ 12376087 w 12376087"/>
              <a:gd name="connsiteY4" fmla="*/ 0 h 6871580"/>
              <a:gd name="connsiteX5" fmla="*/ 8256760 w 12376087"/>
              <a:gd name="connsiteY5" fmla="*/ 0 h 6871580"/>
              <a:gd name="connsiteX6" fmla="*/ 0 w 12376087"/>
              <a:gd name="connsiteY6" fmla="*/ 5395865 h 6871580"/>
              <a:gd name="connsiteX0" fmla="*/ 0 w 12376087"/>
              <a:gd name="connsiteY0" fmla="*/ 5395865 h 6871580"/>
              <a:gd name="connsiteX1" fmla="*/ 0 w 12376087"/>
              <a:gd name="connsiteY1" fmla="*/ 6871580 h 6871580"/>
              <a:gd name="connsiteX2" fmla="*/ 9578566 w 12376087"/>
              <a:gd name="connsiteY2" fmla="*/ 6871580 h 6871580"/>
              <a:gd name="connsiteX3" fmla="*/ 12376087 w 12376087"/>
              <a:gd name="connsiteY3" fmla="*/ 2236205 h 6871580"/>
              <a:gd name="connsiteX4" fmla="*/ 12376087 w 12376087"/>
              <a:gd name="connsiteY4" fmla="*/ 0 h 6871580"/>
              <a:gd name="connsiteX5" fmla="*/ 8256760 w 12376087"/>
              <a:gd name="connsiteY5" fmla="*/ 0 h 6871580"/>
              <a:gd name="connsiteX6" fmla="*/ 0 w 12376087"/>
              <a:gd name="connsiteY6" fmla="*/ 5395865 h 6871580"/>
              <a:gd name="connsiteX0" fmla="*/ 0 w 12376087"/>
              <a:gd name="connsiteY0" fmla="*/ 5395865 h 6871580"/>
              <a:gd name="connsiteX1" fmla="*/ 0 w 12376087"/>
              <a:gd name="connsiteY1" fmla="*/ 6871580 h 6871580"/>
              <a:gd name="connsiteX2" fmla="*/ 9578566 w 12376087"/>
              <a:gd name="connsiteY2" fmla="*/ 6871580 h 6871580"/>
              <a:gd name="connsiteX3" fmla="*/ 12376087 w 12376087"/>
              <a:gd name="connsiteY3" fmla="*/ 2236205 h 6871580"/>
              <a:gd name="connsiteX4" fmla="*/ 12376087 w 12376087"/>
              <a:gd name="connsiteY4" fmla="*/ 0 h 6871580"/>
              <a:gd name="connsiteX5" fmla="*/ 8256760 w 12376087"/>
              <a:gd name="connsiteY5" fmla="*/ 0 h 6871580"/>
              <a:gd name="connsiteX6" fmla="*/ 0 w 12376087"/>
              <a:gd name="connsiteY6" fmla="*/ 5395865 h 6871580"/>
              <a:gd name="connsiteX0" fmla="*/ 0 w 12376087"/>
              <a:gd name="connsiteY0" fmla="*/ 5395865 h 6871580"/>
              <a:gd name="connsiteX1" fmla="*/ 0 w 12376087"/>
              <a:gd name="connsiteY1" fmla="*/ 6871580 h 6871580"/>
              <a:gd name="connsiteX2" fmla="*/ 9578566 w 12376087"/>
              <a:gd name="connsiteY2" fmla="*/ 6871580 h 6871580"/>
              <a:gd name="connsiteX3" fmla="*/ 12376087 w 12376087"/>
              <a:gd name="connsiteY3" fmla="*/ 2236205 h 6871580"/>
              <a:gd name="connsiteX4" fmla="*/ 12376087 w 12376087"/>
              <a:gd name="connsiteY4" fmla="*/ 0 h 6871580"/>
              <a:gd name="connsiteX5" fmla="*/ 8256760 w 12376087"/>
              <a:gd name="connsiteY5" fmla="*/ 0 h 6871580"/>
              <a:gd name="connsiteX6" fmla="*/ 0 w 12376087"/>
              <a:gd name="connsiteY6" fmla="*/ 5395865 h 6871580"/>
              <a:gd name="connsiteX0" fmla="*/ 0 w 12376087"/>
              <a:gd name="connsiteY0" fmla="*/ 5395865 h 6871580"/>
              <a:gd name="connsiteX1" fmla="*/ 0 w 12376087"/>
              <a:gd name="connsiteY1" fmla="*/ 6871580 h 6871580"/>
              <a:gd name="connsiteX2" fmla="*/ 9578566 w 12376087"/>
              <a:gd name="connsiteY2" fmla="*/ 6871580 h 6871580"/>
              <a:gd name="connsiteX3" fmla="*/ 12376087 w 12376087"/>
              <a:gd name="connsiteY3" fmla="*/ 2236205 h 6871580"/>
              <a:gd name="connsiteX4" fmla="*/ 12376087 w 12376087"/>
              <a:gd name="connsiteY4" fmla="*/ 0 h 6871580"/>
              <a:gd name="connsiteX5" fmla="*/ 8256760 w 12376087"/>
              <a:gd name="connsiteY5" fmla="*/ 0 h 6871580"/>
              <a:gd name="connsiteX6" fmla="*/ 0 w 12376087"/>
              <a:gd name="connsiteY6" fmla="*/ 5395865 h 6871580"/>
              <a:gd name="connsiteX0" fmla="*/ 0 w 12376087"/>
              <a:gd name="connsiteY0" fmla="*/ 5395865 h 6871580"/>
              <a:gd name="connsiteX1" fmla="*/ 0 w 12376087"/>
              <a:gd name="connsiteY1" fmla="*/ 6871580 h 6871580"/>
              <a:gd name="connsiteX2" fmla="*/ 9578566 w 12376087"/>
              <a:gd name="connsiteY2" fmla="*/ 6871580 h 6871580"/>
              <a:gd name="connsiteX3" fmla="*/ 12376087 w 12376087"/>
              <a:gd name="connsiteY3" fmla="*/ 2236205 h 6871580"/>
              <a:gd name="connsiteX4" fmla="*/ 12376087 w 12376087"/>
              <a:gd name="connsiteY4" fmla="*/ 0 h 6871580"/>
              <a:gd name="connsiteX5" fmla="*/ 8256760 w 12376087"/>
              <a:gd name="connsiteY5" fmla="*/ 0 h 6871580"/>
              <a:gd name="connsiteX6" fmla="*/ 0 w 12376087"/>
              <a:gd name="connsiteY6" fmla="*/ 5395865 h 6871580"/>
              <a:gd name="connsiteX0" fmla="*/ 0 w 12385277"/>
              <a:gd name="connsiteY0" fmla="*/ 3802455 h 6871580"/>
              <a:gd name="connsiteX1" fmla="*/ 9190 w 12385277"/>
              <a:gd name="connsiteY1" fmla="*/ 6871580 h 6871580"/>
              <a:gd name="connsiteX2" fmla="*/ 9587756 w 12385277"/>
              <a:gd name="connsiteY2" fmla="*/ 6871580 h 6871580"/>
              <a:gd name="connsiteX3" fmla="*/ 12385277 w 12385277"/>
              <a:gd name="connsiteY3" fmla="*/ 2236205 h 6871580"/>
              <a:gd name="connsiteX4" fmla="*/ 12385277 w 12385277"/>
              <a:gd name="connsiteY4" fmla="*/ 0 h 6871580"/>
              <a:gd name="connsiteX5" fmla="*/ 8265950 w 12385277"/>
              <a:gd name="connsiteY5" fmla="*/ 0 h 6871580"/>
              <a:gd name="connsiteX6" fmla="*/ 0 w 12385277"/>
              <a:gd name="connsiteY6" fmla="*/ 3802455 h 6871580"/>
              <a:gd name="connsiteX0" fmla="*/ 0 w 12385277"/>
              <a:gd name="connsiteY0" fmla="*/ 3802455 h 6871580"/>
              <a:gd name="connsiteX1" fmla="*/ 9190 w 12385277"/>
              <a:gd name="connsiteY1" fmla="*/ 6871580 h 6871580"/>
              <a:gd name="connsiteX2" fmla="*/ 9587756 w 12385277"/>
              <a:gd name="connsiteY2" fmla="*/ 6871580 h 6871580"/>
              <a:gd name="connsiteX3" fmla="*/ 12385277 w 12385277"/>
              <a:gd name="connsiteY3" fmla="*/ 2236205 h 6871580"/>
              <a:gd name="connsiteX4" fmla="*/ 12385277 w 12385277"/>
              <a:gd name="connsiteY4" fmla="*/ 0 h 6871580"/>
              <a:gd name="connsiteX5" fmla="*/ 8265950 w 12385277"/>
              <a:gd name="connsiteY5" fmla="*/ 0 h 6871580"/>
              <a:gd name="connsiteX6" fmla="*/ 0 w 12385277"/>
              <a:gd name="connsiteY6" fmla="*/ 3802455 h 6871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385277" h="6871580">
                <a:moveTo>
                  <a:pt x="0" y="3802455"/>
                </a:moveTo>
                <a:cubicBezTo>
                  <a:pt x="3063" y="4825497"/>
                  <a:pt x="6127" y="5848538"/>
                  <a:pt x="9190" y="6871580"/>
                </a:cubicBezTo>
                <a:lnTo>
                  <a:pt x="9587756" y="6871580"/>
                </a:lnTo>
                <a:cubicBezTo>
                  <a:pt x="10869490" y="5444149"/>
                  <a:pt x="11976608" y="4197789"/>
                  <a:pt x="12385277" y="2236205"/>
                </a:cubicBezTo>
                <a:lnTo>
                  <a:pt x="12385277" y="0"/>
                </a:lnTo>
                <a:lnTo>
                  <a:pt x="8265950" y="0"/>
                </a:lnTo>
                <a:cubicBezTo>
                  <a:pt x="8656733" y="4324539"/>
                  <a:pt x="2283555" y="4855675"/>
                  <a:pt x="0" y="3802455"/>
                </a:cubicBezTo>
                <a:close/>
              </a:path>
            </a:pathLst>
          </a:custGeom>
          <a:blipFill dpi="0" rotWithShape="1">
            <a:blip r:embed="rId3">
              <a:alphaModFix amt="15000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54600F7-1DA8-4B6F-94D5-F0D0A43E92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837398"/>
            <a:ext cx="9144000" cy="2858703"/>
          </a:xfrm>
        </p:spPr>
        <p:txBody>
          <a:bodyPr>
            <a:normAutofit/>
          </a:bodyPr>
          <a:lstStyle/>
          <a:p>
            <a:r>
              <a:rPr lang="es-ES" dirty="0">
                <a:latin typeface="Helvetica"/>
              </a:rPr>
              <a:t>Introducción al Lenguaje de Programación Java (I)</a:t>
            </a:r>
            <a:endParaRPr lang="en-US" dirty="0"/>
          </a:p>
        </p:txBody>
      </p:sp>
      <p:sp>
        <p:nvSpPr>
          <p:cNvPr id="6" name="Subtítulo 5">
            <a:extLst>
              <a:ext uri="{FF2B5EF4-FFF2-40B4-BE49-F238E27FC236}">
                <a16:creationId xmlns:a16="http://schemas.microsoft.com/office/drawing/2014/main" id="{387A8C39-3C04-4F12-84A7-7DB81E3E1BB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endParaRPr lang="es-PE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0077C684-06B1-44CA-9235-D863CE0388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Conocimientos previos</a:t>
            </a:r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5BE97547-6358-4D01-A970-DA2F4BB5922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38200" y="1846263"/>
            <a:ext cx="6223503" cy="4373562"/>
          </a:xfrm>
        </p:spPr>
        <p:txBody>
          <a:bodyPr>
            <a:normAutofit/>
          </a:bodyPr>
          <a:lstStyle/>
          <a:p>
            <a:pPr marL="50800" indent="0">
              <a:buNone/>
            </a:pPr>
            <a:r>
              <a:rPr lang="es-ES"/>
              <a:t>Observa la imagen y responde:</a:t>
            </a:r>
          </a:p>
          <a:p>
            <a:pPr marL="50800" indent="0">
              <a:buNone/>
            </a:pPr>
            <a:endParaRPr lang="es-ES"/>
          </a:p>
          <a:p>
            <a:r>
              <a:rPr lang="es-ES" sz="2400"/>
              <a:t>¿Qué diagrama se ve en la imagen?</a:t>
            </a:r>
          </a:p>
          <a:p>
            <a:r>
              <a:rPr lang="es-ES" sz="2400"/>
              <a:t>¿Qué representan las formas y las flechas?</a:t>
            </a:r>
          </a:p>
          <a:p>
            <a:r>
              <a:rPr lang="es-ES" sz="2400"/>
              <a:t>¿Qué estructuras de programación conoces?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AD4DF39-413F-41FB-80F6-1CF57DEA762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3</a:t>
            </a:fld>
            <a:endParaRPr lang="es-PE"/>
          </a:p>
        </p:txBody>
      </p:sp>
      <p:pic>
        <p:nvPicPr>
          <p:cNvPr id="15" name="Picture 14" descr="A picture containing text&#10;&#10;Description automatically generated">
            <a:extLst>
              <a:ext uri="{FF2B5EF4-FFF2-40B4-BE49-F238E27FC236}">
                <a16:creationId xmlns:a16="http://schemas.microsoft.com/office/drawing/2014/main" id="{77312CCB-95C5-576C-4922-F8E6CFC521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8746" y="2104231"/>
            <a:ext cx="4762500" cy="38576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F7B0424-13E9-17D5-303C-3898AE35A5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938644" y="1045027"/>
            <a:ext cx="5253356" cy="525335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161FBA0-0CED-4DB2-9F90-291CADA87F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Logro de aprendizaje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D37DCA-ED6E-428D-A48F-1565A2EA97A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38200" y="1846263"/>
            <a:ext cx="6105808" cy="4373562"/>
          </a:xfrm>
        </p:spPr>
        <p:txBody>
          <a:bodyPr/>
          <a:lstStyle/>
          <a:p>
            <a:pPr marL="50800" indent="0">
              <a:lnSpc>
                <a:spcPct val="100000"/>
              </a:lnSpc>
              <a:buNone/>
            </a:pPr>
            <a:r>
              <a:rPr lang="es-ES" dirty="0">
                <a:solidFill>
                  <a:srgbClr val="00B050"/>
                </a:solidFill>
              </a:rPr>
              <a:t>Al finalizar la sesión</a:t>
            </a:r>
            <a:r>
              <a:rPr lang="es-ES" dirty="0"/>
              <a:t>, </a:t>
            </a:r>
            <a:r>
              <a:rPr lang="es-ES" dirty="0">
                <a:solidFill>
                  <a:schemeClr val="accent2"/>
                </a:solidFill>
              </a:rPr>
              <a:t>el estudiante</a:t>
            </a:r>
            <a:r>
              <a:rPr lang="es-ES" dirty="0"/>
              <a:t> </a:t>
            </a:r>
            <a:r>
              <a:rPr lang="es-ES" dirty="0">
                <a:solidFill>
                  <a:schemeClr val="accent5"/>
                </a:solidFill>
              </a:rPr>
              <a:t>conoce</a:t>
            </a:r>
            <a:r>
              <a:rPr lang="es-ES" dirty="0"/>
              <a:t> </a:t>
            </a:r>
            <a:r>
              <a:rPr lang="es-ES" dirty="0">
                <a:solidFill>
                  <a:schemeClr val="accent4"/>
                </a:solidFill>
              </a:rPr>
              <a:t>las principales características de la plataforma Java</a:t>
            </a:r>
            <a:r>
              <a:rPr lang="es-ES" dirty="0"/>
              <a:t> </a:t>
            </a:r>
            <a:r>
              <a:rPr lang="es-ES" dirty="0">
                <a:solidFill>
                  <a:srgbClr val="D3052C"/>
                </a:solidFill>
              </a:rPr>
              <a:t>mediante la observación, lectura y realización de actividades </a:t>
            </a:r>
            <a:r>
              <a:rPr lang="es-ES" dirty="0">
                <a:solidFill>
                  <a:srgbClr val="7030A0"/>
                </a:solidFill>
              </a:rPr>
              <a:t>para comprender cómo se crean y ejecutan los programas Java.</a:t>
            </a:r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4BAA4A-C973-4872-991F-677E20FF8B8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4</a:t>
            </a:fld>
            <a:endParaRPr lang="es-PE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6ADFA50-2D5F-464F-91EF-0F1911F9CA8D}"/>
              </a:ext>
            </a:extLst>
          </p:cNvPr>
          <p:cNvSpPr txBox="1"/>
          <p:nvPr/>
        </p:nvSpPr>
        <p:spPr>
          <a:xfrm>
            <a:off x="126748" y="6376940"/>
            <a:ext cx="105835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>
                <a:solidFill>
                  <a:schemeClr val="accent3"/>
                </a:solidFill>
              </a:rPr>
              <a:t>Imagen </a:t>
            </a:r>
            <a:r>
              <a:rPr lang="en-US" sz="900" err="1">
                <a:solidFill>
                  <a:schemeClr val="accent3"/>
                </a:solidFill>
              </a:rPr>
              <a:t>obtenida</a:t>
            </a:r>
            <a:r>
              <a:rPr lang="en-US" sz="900">
                <a:solidFill>
                  <a:schemeClr val="accent3"/>
                </a:solidFill>
              </a:rPr>
              <a:t> de:</a:t>
            </a:r>
            <a:br>
              <a:rPr lang="en-US" sz="900">
                <a:solidFill>
                  <a:schemeClr val="accent3"/>
                </a:solidFill>
              </a:rPr>
            </a:br>
            <a:r>
              <a:rPr lang="en-US" sz="900">
                <a:solidFill>
                  <a:schemeClr val="accent3"/>
                </a:solidFill>
              </a:rPr>
              <a:t>https://img.freepik.com/free-vector/clever-man-student-standing-books-stack-with-flag-self-learning-personal-improvement-knowledge-obtaining-educational-achievement_335657-3461.jpg</a:t>
            </a:r>
          </a:p>
        </p:txBody>
      </p:sp>
    </p:spTree>
    <p:extLst>
      <p:ext uri="{BB962C8B-B14F-4D97-AF65-F5344CB8AC3E}">
        <p14:creationId xmlns:p14="http://schemas.microsoft.com/office/powerpoint/2010/main" val="29481764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2B7613-AEC1-4435-8375-CCB96C0E89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92545"/>
            <a:ext cx="10515600" cy="785528"/>
          </a:xfrm>
        </p:spPr>
        <p:txBody>
          <a:bodyPr/>
          <a:lstStyle/>
          <a:p>
            <a:r>
              <a:rPr lang="es-ES"/>
              <a:t>Utilidad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4C16D3-358F-4224-9D29-22D3C58B568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5</a:t>
            </a:fld>
            <a:endParaRPr lang="es-PE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0B555DED-C1EC-199E-BD3B-E945F183DAD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38200" y="1362075"/>
            <a:ext cx="7772400" cy="4857750"/>
          </a:xfrm>
        </p:spPr>
        <p:txBody>
          <a:bodyPr>
            <a:normAutofit/>
          </a:bodyPr>
          <a:lstStyle/>
          <a:p>
            <a:r>
              <a:rPr lang="es-ES" sz="2400" dirty="0"/>
              <a:t>Menciona 3 programas que conozcas o uses regularmente.</a:t>
            </a:r>
          </a:p>
          <a:p>
            <a:r>
              <a:rPr lang="es-ES" sz="2400" dirty="0"/>
              <a:t>¿Cómo ejecutas un programa en tu computadora?</a:t>
            </a:r>
          </a:p>
          <a:p>
            <a:r>
              <a:rPr lang="es-ES" sz="2400" dirty="0"/>
              <a:t>¿Sabes qué es un archivo ejecutable?</a:t>
            </a:r>
          </a:p>
          <a:p>
            <a:r>
              <a:rPr lang="es-ES" sz="2400" dirty="0"/>
              <a:t>¿Tienes una idea de lo que sucede en tu computadora para que ésta ejecute un programa?</a:t>
            </a:r>
          </a:p>
          <a:p>
            <a:r>
              <a:rPr lang="es-ES" sz="2400" dirty="0"/>
              <a:t>¿Sabes qué necesitas para crear y generar un programa?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498B822-51C5-52A1-4285-E6E96F77F7EE}"/>
              </a:ext>
            </a:extLst>
          </p:cNvPr>
          <p:cNvSpPr txBox="1"/>
          <p:nvPr/>
        </p:nvSpPr>
        <p:spPr>
          <a:xfrm>
            <a:off x="1205185" y="5333980"/>
            <a:ext cx="6376716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0">
              <a:buNone/>
            </a:pPr>
            <a:r>
              <a:rPr lang="en-US" sz="2800" b="1" dirty="0" err="1">
                <a:solidFill>
                  <a:srgbClr val="0E7D73"/>
                </a:solidFill>
                <a:latin typeface="Helvetica" pitchFamily="2" charset="0"/>
              </a:rPr>
              <a:t>Conocer</a:t>
            </a:r>
            <a:r>
              <a:rPr lang="en-US" sz="2800" b="1" dirty="0">
                <a:latin typeface="Helvetica" pitchFamily="2" charset="0"/>
              </a:rPr>
              <a:t> </a:t>
            </a:r>
            <a:r>
              <a:rPr lang="en-US" sz="2800" b="1" dirty="0" err="1">
                <a:solidFill>
                  <a:srgbClr val="CC7832"/>
                </a:solidFill>
                <a:latin typeface="Helvetica" pitchFamily="2" charset="0"/>
              </a:rPr>
              <a:t>el</a:t>
            </a:r>
            <a:r>
              <a:rPr lang="en-US" sz="2800" b="1" dirty="0">
                <a:solidFill>
                  <a:srgbClr val="CC7832"/>
                </a:solidFill>
                <a:latin typeface="Helvetica" pitchFamily="2" charset="0"/>
              </a:rPr>
              <a:t> </a:t>
            </a:r>
            <a:r>
              <a:rPr lang="en-US" sz="2800" b="1" dirty="0" err="1">
                <a:solidFill>
                  <a:srgbClr val="CC7832"/>
                </a:solidFill>
                <a:latin typeface="Helvetica" pitchFamily="2" charset="0"/>
              </a:rPr>
              <a:t>proceso</a:t>
            </a:r>
            <a:r>
              <a:rPr lang="en-US" sz="2800" b="1" dirty="0">
                <a:solidFill>
                  <a:srgbClr val="CC7832"/>
                </a:solidFill>
                <a:latin typeface="Helvetica" pitchFamily="2" charset="0"/>
              </a:rPr>
              <a:t> de </a:t>
            </a:r>
            <a:r>
              <a:rPr lang="en-US" sz="2800" b="1" dirty="0" err="1">
                <a:solidFill>
                  <a:srgbClr val="CC7832"/>
                </a:solidFill>
                <a:latin typeface="Helvetica" pitchFamily="2" charset="0"/>
              </a:rPr>
              <a:t>creación</a:t>
            </a:r>
            <a:r>
              <a:rPr lang="en-US" sz="2800" b="1" dirty="0">
                <a:solidFill>
                  <a:srgbClr val="CC7832"/>
                </a:solidFill>
                <a:latin typeface="Helvetica" pitchFamily="2" charset="0"/>
              </a:rPr>
              <a:t> y </a:t>
            </a:r>
            <a:r>
              <a:rPr lang="en-US" sz="2800" b="1" dirty="0" err="1">
                <a:solidFill>
                  <a:srgbClr val="CC7832"/>
                </a:solidFill>
                <a:latin typeface="Helvetica" pitchFamily="2" charset="0"/>
              </a:rPr>
              <a:t>generación</a:t>
            </a:r>
            <a:r>
              <a:rPr lang="en-US" sz="2800" b="1" dirty="0">
                <a:solidFill>
                  <a:srgbClr val="CC7832"/>
                </a:solidFill>
                <a:latin typeface="Helvetica" pitchFamily="2" charset="0"/>
              </a:rPr>
              <a:t> </a:t>
            </a:r>
            <a:r>
              <a:rPr lang="en-US" sz="2800" b="1" dirty="0">
                <a:latin typeface="Helvetica" pitchFamily="2" charset="0"/>
              </a:rPr>
              <a:t>de un </a:t>
            </a:r>
            <a:r>
              <a:rPr lang="en-US" sz="2800" b="1" dirty="0" err="1">
                <a:latin typeface="Helvetica" pitchFamily="2" charset="0"/>
              </a:rPr>
              <a:t>programa</a:t>
            </a:r>
            <a:r>
              <a:rPr lang="en-US" sz="2800" b="1" dirty="0">
                <a:latin typeface="Helvetica" pitchFamily="2" charset="0"/>
              </a:rPr>
              <a:t>.</a:t>
            </a:r>
            <a:endParaRPr lang="es-ES" sz="2800" b="1" dirty="0">
              <a:latin typeface="Helvetica" pitchFamily="2" charset="0"/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CC05C1CA-2122-5DC0-F2B9-D77745D939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0584" y="1178073"/>
            <a:ext cx="3251771" cy="2765134"/>
          </a:xfrm>
          <a:prstGeom prst="rect">
            <a:avLst/>
          </a:prstGeom>
          <a:effectLst>
            <a:glow rad="101600">
              <a:schemeClr val="accent3">
                <a:satMod val="175000"/>
                <a:alpha val="40000"/>
              </a:schemeClr>
            </a:glow>
          </a:effectLst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FC903BFA-0D0B-4155-C092-F482D2649A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39274" y="3347059"/>
            <a:ext cx="2620295" cy="1551825"/>
          </a:xfrm>
          <a:prstGeom prst="rect">
            <a:avLst/>
          </a:prstGeom>
          <a:effectLst>
            <a:glow rad="101600">
              <a:schemeClr val="accent3">
                <a:satMod val="175000"/>
                <a:alpha val="40000"/>
              </a:schemeClr>
            </a:glow>
          </a:effectLst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0DAB9294-704D-CAEE-5B63-0A07BF9E9E1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77585" y="4684642"/>
            <a:ext cx="1137221" cy="1885950"/>
          </a:xfrm>
          <a:prstGeom prst="rect">
            <a:avLst/>
          </a:prstGeom>
          <a:effectLst>
            <a:glow rad="101600">
              <a:schemeClr val="accent3">
                <a:satMod val="175000"/>
                <a:alpha val="40000"/>
              </a:schemeClr>
            </a:glow>
          </a:effectLst>
        </p:spPr>
      </p:pic>
    </p:spTree>
    <p:extLst>
      <p:ext uri="{BB962C8B-B14F-4D97-AF65-F5344CB8AC3E}">
        <p14:creationId xmlns:p14="http://schemas.microsoft.com/office/powerpoint/2010/main" val="38124651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05B0BE6-E636-4C9A-E374-16318A05BA47}"/>
              </a:ext>
            </a:extLst>
          </p:cNvPr>
          <p:cNvSpPr/>
          <p:nvPr/>
        </p:nvSpPr>
        <p:spPr>
          <a:xfrm>
            <a:off x="543208" y="545532"/>
            <a:ext cx="11036174" cy="5754174"/>
          </a:xfrm>
          <a:prstGeom prst="rect">
            <a:avLst/>
          </a:prstGeom>
          <a:solidFill>
            <a:srgbClr val="F9F9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38A743D-A92A-7527-7420-2D244E898C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Prueba de entrada</a:t>
            </a:r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EDB8F7F-664B-D472-3F30-7C1C8CC51A9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6</a:t>
            </a:fld>
            <a:endParaRPr lang="es-P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C66044-A90C-D949-E3BF-8578D620EB5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38200" y="1846263"/>
            <a:ext cx="7165063" cy="4373562"/>
          </a:xfrm>
        </p:spPr>
        <p:txBody>
          <a:bodyPr/>
          <a:lstStyle/>
          <a:p>
            <a:r>
              <a:rPr lang="es-ES"/>
              <a:t>Tiempo: 15 minutos.</a:t>
            </a:r>
          </a:p>
          <a:p>
            <a:r>
              <a:rPr lang="es-ES"/>
              <a:t>Nro. de ejercicios: 01.</a:t>
            </a:r>
          </a:p>
          <a:p>
            <a:r>
              <a:rPr lang="es-ES"/>
              <a:t>Nota: La prueba de entrada es un instrumento para verificar tu nivel de conocimiento en programación. Resuelve la prueba individualmente, para que ésta tenga el mejor efecto. Utiliza </a:t>
            </a:r>
            <a:r>
              <a:rPr lang="es-ES" b="1"/>
              <a:t>PSeInt</a:t>
            </a:r>
            <a:r>
              <a:rPr lang="es-ES"/>
              <a:t> o lápiz y papel​.</a:t>
            </a:r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EE87E91-202B-B451-6CED-67087C7FB06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34883"/>
          <a:stretch/>
        </p:blipFill>
        <p:spPr>
          <a:xfrm>
            <a:off x="7596504" y="2427468"/>
            <a:ext cx="3982878" cy="321115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7243816-FD16-C3CB-414C-DD6794F01843}"/>
              </a:ext>
            </a:extLst>
          </p:cNvPr>
          <p:cNvSpPr txBox="1"/>
          <p:nvPr/>
        </p:nvSpPr>
        <p:spPr>
          <a:xfrm>
            <a:off x="142887" y="6391497"/>
            <a:ext cx="105835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err="1">
                <a:solidFill>
                  <a:schemeClr val="accent3"/>
                </a:solidFill>
              </a:rPr>
              <a:t>Imagenes</a:t>
            </a:r>
            <a:r>
              <a:rPr lang="en-US" sz="900">
                <a:solidFill>
                  <a:schemeClr val="accent3"/>
                </a:solidFill>
              </a:rPr>
              <a:t> </a:t>
            </a:r>
            <a:r>
              <a:rPr lang="en-US" sz="900" err="1">
                <a:solidFill>
                  <a:schemeClr val="accent3"/>
                </a:solidFill>
              </a:rPr>
              <a:t>obtenidas</a:t>
            </a:r>
            <a:r>
              <a:rPr lang="en-US" sz="900">
                <a:solidFill>
                  <a:schemeClr val="accent3"/>
                </a:solidFill>
              </a:rPr>
              <a:t> de:</a:t>
            </a:r>
            <a:br>
              <a:rPr lang="en-US" sz="900">
                <a:solidFill>
                  <a:schemeClr val="accent3"/>
                </a:solidFill>
              </a:rPr>
            </a:br>
            <a:r>
              <a:rPr lang="en-US" sz="900">
                <a:solidFill>
                  <a:schemeClr val="accent3"/>
                </a:solidFill>
              </a:rPr>
              <a:t>https://schoolsweek.co.uk/wp-content/uploads/2017/10/computing-feat.jpg</a:t>
            </a:r>
          </a:p>
        </p:txBody>
      </p:sp>
    </p:spTree>
    <p:extLst>
      <p:ext uri="{BB962C8B-B14F-4D97-AF65-F5344CB8AC3E}">
        <p14:creationId xmlns:p14="http://schemas.microsoft.com/office/powerpoint/2010/main" val="30377818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6C6B983-D187-5021-011D-340D9A64632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7</a:t>
            </a:fld>
            <a:endParaRPr lang="es-PE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6D8EC2C4-D534-A87E-5305-9BD92B9838D9}"/>
              </a:ext>
            </a:extLst>
          </p:cNvPr>
          <p:cNvGrpSpPr/>
          <p:nvPr/>
        </p:nvGrpSpPr>
        <p:grpSpPr>
          <a:xfrm>
            <a:off x="1955128" y="892964"/>
            <a:ext cx="4629752" cy="1015663"/>
            <a:chOff x="924025" y="1526961"/>
            <a:chExt cx="4629752" cy="1015663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AFE41E11-2903-D4AD-BABB-046EDBE4AABD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1B5E8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AFB12F7A-F286-0B30-D30E-E9A916CC839B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>
                  <a:solidFill>
                    <a:schemeClr val="bg1"/>
                  </a:solidFill>
                  <a:latin typeface="Helvetica" pitchFamily="2" charset="0"/>
                </a:rPr>
                <a:t>Introducción a los lenguajes de programación</a:t>
              </a:r>
              <a:endParaRPr lang="en-US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93EEA1CE-79B2-915B-2C77-2F1212A1BF67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>
                  <a:solidFill>
                    <a:schemeClr val="bg1"/>
                  </a:solidFill>
                  <a:latin typeface="Helvetica" pitchFamily="2" charset="0"/>
                </a:rPr>
                <a:t>1</a:t>
              </a:r>
              <a:endParaRPr lang="en-US" sz="6000" b="1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830C6426-CF18-244B-D9EC-4576E393467C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4C62550A-9487-0FB4-AEF5-18BF59D1D1BB}"/>
              </a:ext>
            </a:extLst>
          </p:cNvPr>
          <p:cNvGrpSpPr/>
          <p:nvPr/>
        </p:nvGrpSpPr>
        <p:grpSpPr>
          <a:xfrm>
            <a:off x="1955128" y="1782509"/>
            <a:ext cx="4629752" cy="1015663"/>
            <a:chOff x="924025" y="1526961"/>
            <a:chExt cx="4629752" cy="1015663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9EE3C4A-25E0-0661-5719-DFD8A408196E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0E7D7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8F03E694-3539-B74F-A7F9-A90BF4FC7172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>
                  <a:solidFill>
                    <a:schemeClr val="bg1"/>
                  </a:solidFill>
                  <a:latin typeface="Helvetica" pitchFamily="2" charset="0"/>
                </a:rPr>
                <a:t>Compiladores e</a:t>
              </a:r>
            </a:p>
            <a:p>
              <a:r>
                <a:rPr lang="es-ES">
                  <a:solidFill>
                    <a:schemeClr val="bg1"/>
                  </a:solidFill>
                  <a:latin typeface="Helvetica" pitchFamily="2" charset="0"/>
                </a:rPr>
                <a:t>Intérpretes</a:t>
              </a:r>
              <a:endParaRPr lang="en-US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0BD6589-A9C6-D2FD-D50D-C5AAC8113E8A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>
                  <a:solidFill>
                    <a:schemeClr val="bg1"/>
                  </a:solidFill>
                  <a:latin typeface="Helvetica" pitchFamily="2" charset="0"/>
                </a:rPr>
                <a:t>2</a:t>
              </a:r>
              <a:endParaRPr lang="en-US" sz="6000" b="1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FE0265B7-9BAF-D770-6E56-5AE1A9C41973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5598A8C9-355C-B375-F419-53EB7FBA52CF}"/>
              </a:ext>
            </a:extLst>
          </p:cNvPr>
          <p:cNvGrpSpPr/>
          <p:nvPr/>
        </p:nvGrpSpPr>
        <p:grpSpPr>
          <a:xfrm>
            <a:off x="1955128" y="2672054"/>
            <a:ext cx="4629752" cy="1015663"/>
            <a:chOff x="924025" y="1526961"/>
            <a:chExt cx="4629752" cy="1015663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968C5937-AEC8-D4AC-1863-47EC6A0DD5D7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758F3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9B9DA0B8-3305-EA9B-D50C-133423FA16B6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>
                  <a:solidFill>
                    <a:schemeClr val="bg1"/>
                  </a:solidFill>
                  <a:latin typeface="Helvetica" pitchFamily="2" charset="0"/>
                </a:rPr>
                <a:t>Introducción al </a:t>
              </a:r>
              <a:br>
                <a:rPr lang="es-ES">
                  <a:solidFill>
                    <a:schemeClr val="bg1"/>
                  </a:solidFill>
                  <a:latin typeface="Helvetica" pitchFamily="2" charset="0"/>
                </a:rPr>
              </a:br>
              <a:r>
                <a:rPr lang="es-ES">
                  <a:solidFill>
                    <a:schemeClr val="bg1"/>
                  </a:solidFill>
                  <a:latin typeface="Helvetica" pitchFamily="2" charset="0"/>
                </a:rPr>
                <a:t>lenguaje Java</a:t>
              </a:r>
              <a:endParaRPr lang="en-US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E719D950-4EA4-CB17-5AF9-0E716D1D0C97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>
                  <a:solidFill>
                    <a:schemeClr val="bg1"/>
                  </a:solidFill>
                  <a:latin typeface="Helvetica" pitchFamily="2" charset="0"/>
                </a:rPr>
                <a:t>3</a:t>
              </a:r>
              <a:endParaRPr lang="en-US" sz="6000" b="1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5DB44CEB-5449-91C4-4D8C-947E50150B6A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B25B4B5B-713C-2D58-C773-D4CFF9997391}"/>
              </a:ext>
            </a:extLst>
          </p:cNvPr>
          <p:cNvGrpSpPr/>
          <p:nvPr/>
        </p:nvGrpSpPr>
        <p:grpSpPr>
          <a:xfrm>
            <a:off x="1955128" y="3561599"/>
            <a:ext cx="4629752" cy="1015663"/>
            <a:chOff x="924025" y="1526961"/>
            <a:chExt cx="4629752" cy="1015663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D5F2FB8B-07D6-48FB-E370-38EA16365289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BA750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728AFDEB-1E73-3FEA-2DFF-DBAF08C0A2B6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>
                  <a:solidFill>
                    <a:schemeClr val="bg1"/>
                  </a:solidFill>
                  <a:latin typeface="Helvetica" pitchFamily="2" charset="0"/>
                </a:rPr>
                <a:t>Entorno de desarrollo y ejecución Java</a:t>
              </a:r>
              <a:endParaRPr lang="en-US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302F77E9-2E11-217F-40EC-8E3C7703B3BB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>
                  <a:solidFill>
                    <a:schemeClr val="bg1"/>
                  </a:solidFill>
                  <a:latin typeface="Helvetica" pitchFamily="2" charset="0"/>
                </a:rPr>
                <a:t>4</a:t>
              </a:r>
              <a:endParaRPr lang="en-US" sz="6000" b="1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369D5F82-C60A-5B84-5E19-A1B153065B8D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20E7D35A-999B-BEC3-A1FE-83D4A699084C}"/>
              </a:ext>
            </a:extLst>
          </p:cNvPr>
          <p:cNvGrpSpPr/>
          <p:nvPr/>
        </p:nvGrpSpPr>
        <p:grpSpPr>
          <a:xfrm>
            <a:off x="1955128" y="4451144"/>
            <a:ext cx="4629752" cy="1015663"/>
            <a:chOff x="924025" y="1526961"/>
            <a:chExt cx="4629752" cy="1015663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EDE43D48-A8F8-0DF2-1001-D5FDD5FF2C6B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8F2A2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C2BEA270-D0DD-E83C-8505-88C9D29A50BF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>
                  <a:solidFill>
                    <a:schemeClr val="bg1"/>
                  </a:solidFill>
                  <a:latin typeface="Helvetica" pitchFamily="2" charset="0"/>
                </a:rPr>
                <a:t>Compilación y </a:t>
              </a:r>
              <a:br>
                <a:rPr lang="es-ES">
                  <a:solidFill>
                    <a:schemeClr val="bg1"/>
                  </a:solidFill>
                  <a:latin typeface="Helvetica" pitchFamily="2" charset="0"/>
                </a:rPr>
              </a:br>
              <a:r>
                <a:rPr lang="es-ES">
                  <a:solidFill>
                    <a:schemeClr val="bg1"/>
                  </a:solidFill>
                  <a:latin typeface="Helvetica" pitchFamily="2" charset="0"/>
                </a:rPr>
                <a:t>ejecución</a:t>
              </a:r>
              <a:endParaRPr lang="en-US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650D84CE-F32A-1F88-1274-CAA8D6234924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>
                  <a:solidFill>
                    <a:schemeClr val="bg1"/>
                  </a:solidFill>
                  <a:latin typeface="Helvetica" pitchFamily="2" charset="0"/>
                </a:rPr>
                <a:t>5</a:t>
              </a:r>
              <a:endParaRPr lang="en-US" sz="6000" b="1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81D92532-6B25-E809-E479-70119D6AA69E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1EA7DF23-1534-8674-0364-FDC45E5DD81C}"/>
              </a:ext>
            </a:extLst>
          </p:cNvPr>
          <p:cNvGrpSpPr/>
          <p:nvPr/>
        </p:nvGrpSpPr>
        <p:grpSpPr>
          <a:xfrm>
            <a:off x="1955128" y="5340687"/>
            <a:ext cx="4629752" cy="1015663"/>
            <a:chOff x="924025" y="1526961"/>
            <a:chExt cx="4629752" cy="1015663"/>
          </a:xfrm>
        </p:grpSpPr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A13A47C2-3050-70BF-03DC-CCA7B4126952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AD94C077-B4AA-B319-24D7-C5B1DE74BBDB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>
                  <a:solidFill>
                    <a:schemeClr val="bg1"/>
                  </a:solidFill>
                  <a:latin typeface="Helvetica" pitchFamily="2" charset="0"/>
                </a:rPr>
                <a:t>Código intermedio y </a:t>
              </a:r>
              <a:br>
                <a:rPr lang="es-ES">
                  <a:solidFill>
                    <a:schemeClr val="bg1"/>
                  </a:solidFill>
                  <a:latin typeface="Helvetica" pitchFamily="2" charset="0"/>
                </a:rPr>
              </a:br>
              <a:r>
                <a:rPr lang="es-ES">
                  <a:solidFill>
                    <a:schemeClr val="bg1"/>
                  </a:solidFill>
                  <a:latin typeface="Helvetica" pitchFamily="2" charset="0"/>
                </a:rPr>
                <a:t>JVM</a:t>
              </a:r>
              <a:endParaRPr lang="en-US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739B75E7-C4E8-816E-FBEB-C8DC5FFDC85F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>
                  <a:solidFill>
                    <a:schemeClr val="bg1"/>
                  </a:solidFill>
                  <a:latin typeface="Helvetica" pitchFamily="2" charset="0"/>
                </a:rPr>
                <a:t>6</a:t>
              </a:r>
              <a:endParaRPr lang="en-US" sz="6000" b="1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ECF212AE-2B6A-DF71-7FC5-AE34B93BB598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4BEE2914-3C25-D19B-57C0-F6E598922A1E}"/>
              </a:ext>
            </a:extLst>
          </p:cNvPr>
          <p:cNvGrpSpPr/>
          <p:nvPr/>
        </p:nvGrpSpPr>
        <p:grpSpPr>
          <a:xfrm>
            <a:off x="6724048" y="892964"/>
            <a:ext cx="4629752" cy="1015663"/>
            <a:chOff x="924025" y="1526961"/>
            <a:chExt cx="4629752" cy="1015663"/>
          </a:xfrm>
        </p:grpSpPr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069C6825-69EA-8D72-4345-309D24E6D675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39F07254-1903-E065-8A8C-CBBABBCAA893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>
                  <a:solidFill>
                    <a:schemeClr val="bg1"/>
                  </a:solidFill>
                  <a:latin typeface="Helvetica" pitchFamily="2" charset="0"/>
                </a:rPr>
                <a:t>Clase principal y método </a:t>
              </a:r>
              <a:r>
                <a:rPr lang="es-ES" err="1">
                  <a:solidFill>
                    <a:schemeClr val="bg1"/>
                  </a:solidFill>
                  <a:latin typeface="Helvetica" pitchFamily="2" charset="0"/>
                </a:rPr>
                <a:t>main</a:t>
              </a:r>
              <a:endParaRPr lang="en-US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40F6FA04-8D92-0B29-3784-F4044CE9F110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>
                  <a:solidFill>
                    <a:schemeClr val="bg1"/>
                  </a:solidFill>
                  <a:latin typeface="Helvetica" pitchFamily="2" charset="0"/>
                </a:rPr>
                <a:t>7</a:t>
              </a:r>
              <a:endParaRPr lang="en-US" sz="6000" b="1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959003DD-D67B-3D2D-7CDF-D9E1CE9AA9B3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C0EBFC4B-97B9-EE23-54E6-35D0BD1A72B6}"/>
              </a:ext>
            </a:extLst>
          </p:cNvPr>
          <p:cNvGrpSpPr/>
          <p:nvPr/>
        </p:nvGrpSpPr>
        <p:grpSpPr>
          <a:xfrm>
            <a:off x="6724048" y="1782509"/>
            <a:ext cx="4629752" cy="1015663"/>
            <a:chOff x="924025" y="1526961"/>
            <a:chExt cx="4629752" cy="1015663"/>
          </a:xfrm>
        </p:grpSpPr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4FE8F910-E501-76FA-7ECF-5ADB916A9A3E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8F2A2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FE3C8125-0623-B6FF-9FE1-0715FE1439E0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rtlCol="0" anchor="t">
              <a:spAutoFit/>
            </a:bodyPr>
            <a:lstStyle/>
            <a:p>
              <a:r>
                <a:rPr lang="es-ES">
                  <a:solidFill>
                    <a:schemeClr val="bg1"/>
                  </a:solidFill>
                  <a:latin typeface="Helvetica"/>
                </a:rPr>
                <a:t>Práctica</a:t>
              </a:r>
              <a:endParaRPr lang="en-US"/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FB2CE88F-B9E6-8333-5227-9BC78AB02562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>
                  <a:solidFill>
                    <a:schemeClr val="bg1"/>
                  </a:solidFill>
                  <a:latin typeface="Helvetica" pitchFamily="2" charset="0"/>
                </a:rPr>
                <a:t>8</a:t>
              </a:r>
              <a:endParaRPr lang="en-US" sz="6000" b="1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0EA75671-C972-4E78-C608-76524A6F268E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6B32F08B-E599-8764-EE5E-B3C48CE274CF}"/>
              </a:ext>
            </a:extLst>
          </p:cNvPr>
          <p:cNvSpPr txBox="1"/>
          <p:nvPr/>
        </p:nvSpPr>
        <p:spPr>
          <a:xfrm rot="16200000">
            <a:off x="-1552306" y="2760043"/>
            <a:ext cx="5599610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8800" b="1">
                <a:solidFill>
                  <a:schemeClr val="bg1">
                    <a:lumMod val="85000"/>
                  </a:schemeClr>
                </a:solidFill>
                <a:latin typeface="Helvetica" pitchFamily="2" charset="0"/>
              </a:rPr>
              <a:t>contenido</a:t>
            </a:r>
            <a:endParaRPr lang="en-US" sz="8800" b="1">
              <a:solidFill>
                <a:schemeClr val="bg1">
                  <a:lumMod val="85000"/>
                </a:schemeClr>
              </a:solidFill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40820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" name="Group 39">
            <a:extLst>
              <a:ext uri="{FF2B5EF4-FFF2-40B4-BE49-F238E27FC236}">
                <a16:creationId xmlns:a16="http://schemas.microsoft.com/office/drawing/2014/main" id="{C0EBFC4B-97B9-EE23-54E6-35D0BD1A72B6}"/>
              </a:ext>
            </a:extLst>
          </p:cNvPr>
          <p:cNvGrpSpPr/>
          <p:nvPr/>
        </p:nvGrpSpPr>
        <p:grpSpPr>
          <a:xfrm>
            <a:off x="6724048" y="1782509"/>
            <a:ext cx="4629752" cy="1015663"/>
            <a:chOff x="924025" y="1526961"/>
            <a:chExt cx="4629752" cy="1015663"/>
          </a:xfrm>
        </p:grpSpPr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4FE8F910-E501-76FA-7ECF-5ADB916A9A3E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8F2A2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FE3C8125-0623-B6FF-9FE1-0715FE1439E0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rtlCol="0" anchor="t">
              <a:spAutoFit/>
            </a:bodyPr>
            <a:lstStyle/>
            <a:p>
              <a:r>
                <a:rPr lang="es-ES">
                  <a:solidFill>
                    <a:schemeClr val="bg1"/>
                  </a:solidFill>
                  <a:latin typeface="Helvetica"/>
                </a:rPr>
                <a:t>Práctica</a:t>
              </a:r>
              <a:endParaRPr lang="en-US"/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FB2CE88F-B9E6-8333-5227-9BC78AB02562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>
                  <a:solidFill>
                    <a:schemeClr val="bg1"/>
                  </a:solidFill>
                  <a:latin typeface="Helvetica" pitchFamily="2" charset="0"/>
                </a:rPr>
                <a:t>8</a:t>
              </a:r>
              <a:endParaRPr lang="en-US" sz="6000" b="1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0EA75671-C972-4E78-C608-76524A6F268E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6C6B983-D187-5021-011D-340D9A64632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8</a:t>
            </a:fld>
            <a:endParaRPr lang="es-PE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4C62550A-9487-0FB4-AEF5-18BF59D1D1BB}"/>
              </a:ext>
            </a:extLst>
          </p:cNvPr>
          <p:cNvGrpSpPr/>
          <p:nvPr/>
        </p:nvGrpSpPr>
        <p:grpSpPr>
          <a:xfrm>
            <a:off x="1955128" y="1782509"/>
            <a:ext cx="4629752" cy="1015663"/>
            <a:chOff x="924025" y="1526961"/>
            <a:chExt cx="4629752" cy="1015663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9EE3C4A-25E0-0661-5719-DFD8A408196E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0E7D7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8F03E694-3539-B74F-A7F9-A90BF4FC7172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>
                  <a:solidFill>
                    <a:schemeClr val="bg1"/>
                  </a:solidFill>
                  <a:latin typeface="Helvetica" pitchFamily="2" charset="0"/>
                </a:rPr>
                <a:t>Compiladores e</a:t>
              </a:r>
            </a:p>
            <a:p>
              <a:r>
                <a:rPr lang="es-ES">
                  <a:solidFill>
                    <a:schemeClr val="bg1"/>
                  </a:solidFill>
                  <a:latin typeface="Helvetica" pitchFamily="2" charset="0"/>
                </a:rPr>
                <a:t>Intérpretes</a:t>
              </a:r>
              <a:endParaRPr lang="en-US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0BD6589-A9C6-D2FD-D50D-C5AAC8113E8A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>
                  <a:solidFill>
                    <a:schemeClr val="bg1"/>
                  </a:solidFill>
                  <a:latin typeface="Helvetica" pitchFamily="2" charset="0"/>
                </a:rPr>
                <a:t>2</a:t>
              </a:r>
              <a:endParaRPr lang="en-US" sz="6000" b="1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FE0265B7-9BAF-D770-6E56-5AE1A9C41973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5598A8C9-355C-B375-F419-53EB7FBA52CF}"/>
              </a:ext>
            </a:extLst>
          </p:cNvPr>
          <p:cNvGrpSpPr/>
          <p:nvPr/>
        </p:nvGrpSpPr>
        <p:grpSpPr>
          <a:xfrm>
            <a:off x="1955128" y="2672054"/>
            <a:ext cx="4629752" cy="1015663"/>
            <a:chOff x="924025" y="1526961"/>
            <a:chExt cx="4629752" cy="1015663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968C5937-AEC8-D4AC-1863-47EC6A0DD5D7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758F3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9B9DA0B8-3305-EA9B-D50C-133423FA16B6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>
                  <a:solidFill>
                    <a:schemeClr val="bg1"/>
                  </a:solidFill>
                  <a:latin typeface="Helvetica" pitchFamily="2" charset="0"/>
                </a:rPr>
                <a:t>Introducción al </a:t>
              </a:r>
              <a:br>
                <a:rPr lang="es-ES">
                  <a:solidFill>
                    <a:schemeClr val="bg1"/>
                  </a:solidFill>
                  <a:latin typeface="Helvetica" pitchFamily="2" charset="0"/>
                </a:rPr>
              </a:br>
              <a:r>
                <a:rPr lang="es-ES">
                  <a:solidFill>
                    <a:schemeClr val="bg1"/>
                  </a:solidFill>
                  <a:latin typeface="Helvetica" pitchFamily="2" charset="0"/>
                </a:rPr>
                <a:t>lenguaje Java</a:t>
              </a:r>
              <a:endParaRPr lang="en-US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E719D950-4EA4-CB17-5AF9-0E716D1D0C97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>
                  <a:solidFill>
                    <a:schemeClr val="bg1"/>
                  </a:solidFill>
                  <a:latin typeface="Helvetica" pitchFamily="2" charset="0"/>
                </a:rPr>
                <a:t>3</a:t>
              </a:r>
              <a:endParaRPr lang="en-US" sz="6000" b="1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5DB44CEB-5449-91C4-4D8C-947E50150B6A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B25B4B5B-713C-2D58-C773-D4CFF9997391}"/>
              </a:ext>
            </a:extLst>
          </p:cNvPr>
          <p:cNvGrpSpPr/>
          <p:nvPr/>
        </p:nvGrpSpPr>
        <p:grpSpPr>
          <a:xfrm>
            <a:off x="1955128" y="3561599"/>
            <a:ext cx="4629752" cy="1015663"/>
            <a:chOff x="924025" y="1526961"/>
            <a:chExt cx="4629752" cy="1015663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D5F2FB8B-07D6-48FB-E370-38EA16365289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BA750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728AFDEB-1E73-3FEA-2DFF-DBAF08C0A2B6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>
                  <a:solidFill>
                    <a:schemeClr val="bg1"/>
                  </a:solidFill>
                  <a:latin typeface="Helvetica" pitchFamily="2" charset="0"/>
                </a:rPr>
                <a:t>Entorno de desarrollo y ejecución Java</a:t>
              </a:r>
              <a:endParaRPr lang="en-US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302F77E9-2E11-217F-40EC-8E3C7703B3BB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>
                  <a:solidFill>
                    <a:schemeClr val="bg1"/>
                  </a:solidFill>
                  <a:latin typeface="Helvetica" pitchFamily="2" charset="0"/>
                </a:rPr>
                <a:t>4</a:t>
              </a:r>
              <a:endParaRPr lang="en-US" sz="6000" b="1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369D5F82-C60A-5B84-5E19-A1B153065B8D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20E7D35A-999B-BEC3-A1FE-83D4A699084C}"/>
              </a:ext>
            </a:extLst>
          </p:cNvPr>
          <p:cNvGrpSpPr/>
          <p:nvPr/>
        </p:nvGrpSpPr>
        <p:grpSpPr>
          <a:xfrm>
            <a:off x="1955128" y="4451144"/>
            <a:ext cx="4629752" cy="1015663"/>
            <a:chOff x="924025" y="1526961"/>
            <a:chExt cx="4629752" cy="1015663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EDE43D48-A8F8-0DF2-1001-D5FDD5FF2C6B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8F2A2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C2BEA270-D0DD-E83C-8505-88C9D29A50BF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>
                  <a:solidFill>
                    <a:schemeClr val="bg1"/>
                  </a:solidFill>
                  <a:latin typeface="Helvetica" pitchFamily="2" charset="0"/>
                </a:rPr>
                <a:t>Compilación y </a:t>
              </a:r>
              <a:br>
                <a:rPr lang="es-ES">
                  <a:solidFill>
                    <a:schemeClr val="bg1"/>
                  </a:solidFill>
                  <a:latin typeface="Helvetica" pitchFamily="2" charset="0"/>
                </a:rPr>
              </a:br>
              <a:r>
                <a:rPr lang="es-ES">
                  <a:solidFill>
                    <a:schemeClr val="bg1"/>
                  </a:solidFill>
                  <a:latin typeface="Helvetica" pitchFamily="2" charset="0"/>
                </a:rPr>
                <a:t>ejecución</a:t>
              </a:r>
              <a:endParaRPr lang="en-US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650D84CE-F32A-1F88-1274-CAA8D6234924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>
                  <a:solidFill>
                    <a:schemeClr val="bg1"/>
                  </a:solidFill>
                  <a:latin typeface="Helvetica" pitchFamily="2" charset="0"/>
                </a:rPr>
                <a:t>5</a:t>
              </a:r>
              <a:endParaRPr lang="en-US" sz="6000" b="1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81D92532-6B25-E809-E479-70119D6AA69E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1EA7DF23-1534-8674-0364-FDC45E5DD81C}"/>
              </a:ext>
            </a:extLst>
          </p:cNvPr>
          <p:cNvGrpSpPr/>
          <p:nvPr/>
        </p:nvGrpSpPr>
        <p:grpSpPr>
          <a:xfrm>
            <a:off x="1955128" y="5340687"/>
            <a:ext cx="4629752" cy="1015663"/>
            <a:chOff x="924025" y="1526961"/>
            <a:chExt cx="4629752" cy="1015663"/>
          </a:xfrm>
        </p:grpSpPr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A13A47C2-3050-70BF-03DC-CCA7B4126952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AD94C077-B4AA-B319-24D7-C5B1DE74BBDB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>
                  <a:solidFill>
                    <a:schemeClr val="bg1"/>
                  </a:solidFill>
                  <a:latin typeface="Helvetica" pitchFamily="2" charset="0"/>
                </a:rPr>
                <a:t>Código intermedio y </a:t>
              </a:r>
              <a:br>
                <a:rPr lang="es-ES">
                  <a:solidFill>
                    <a:schemeClr val="bg1"/>
                  </a:solidFill>
                  <a:latin typeface="Helvetica" pitchFamily="2" charset="0"/>
                </a:rPr>
              </a:br>
              <a:r>
                <a:rPr lang="es-ES">
                  <a:solidFill>
                    <a:schemeClr val="bg1"/>
                  </a:solidFill>
                  <a:latin typeface="Helvetica" pitchFamily="2" charset="0"/>
                </a:rPr>
                <a:t>JVM</a:t>
              </a:r>
              <a:endParaRPr lang="en-US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739B75E7-C4E8-816E-FBEB-C8DC5FFDC85F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>
                  <a:solidFill>
                    <a:schemeClr val="bg1"/>
                  </a:solidFill>
                  <a:latin typeface="Helvetica" pitchFamily="2" charset="0"/>
                </a:rPr>
                <a:t>6</a:t>
              </a:r>
              <a:endParaRPr lang="en-US" sz="6000" b="1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ECF212AE-2B6A-DF71-7FC5-AE34B93BB598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4BEE2914-3C25-D19B-57C0-F6E598922A1E}"/>
              </a:ext>
            </a:extLst>
          </p:cNvPr>
          <p:cNvGrpSpPr/>
          <p:nvPr/>
        </p:nvGrpSpPr>
        <p:grpSpPr>
          <a:xfrm>
            <a:off x="6724048" y="892964"/>
            <a:ext cx="4629752" cy="1015663"/>
            <a:chOff x="924025" y="1526961"/>
            <a:chExt cx="4629752" cy="1015663"/>
          </a:xfrm>
        </p:grpSpPr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069C6825-69EA-8D72-4345-309D24E6D675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39F07254-1903-E065-8A8C-CBBABBCAA893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>
                  <a:solidFill>
                    <a:schemeClr val="bg1"/>
                  </a:solidFill>
                  <a:latin typeface="Helvetica" pitchFamily="2" charset="0"/>
                </a:rPr>
                <a:t>Clase principal y método </a:t>
              </a:r>
              <a:r>
                <a:rPr lang="es-ES" err="1">
                  <a:solidFill>
                    <a:schemeClr val="bg1"/>
                  </a:solidFill>
                  <a:latin typeface="Helvetica" pitchFamily="2" charset="0"/>
                </a:rPr>
                <a:t>main</a:t>
              </a:r>
              <a:endParaRPr lang="en-US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40F6FA04-8D92-0B29-3784-F4044CE9F110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>
                  <a:solidFill>
                    <a:schemeClr val="bg1"/>
                  </a:solidFill>
                  <a:latin typeface="Helvetica" pitchFamily="2" charset="0"/>
                </a:rPr>
                <a:t>7</a:t>
              </a:r>
              <a:endParaRPr lang="en-US" sz="6000" b="1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959003DD-D67B-3D2D-7CDF-D9E1CE9AA9B3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6B32F08B-E599-8764-EE5E-B3C48CE274CF}"/>
              </a:ext>
            </a:extLst>
          </p:cNvPr>
          <p:cNvSpPr txBox="1"/>
          <p:nvPr/>
        </p:nvSpPr>
        <p:spPr>
          <a:xfrm rot="16200000">
            <a:off x="-1552306" y="2760043"/>
            <a:ext cx="5599610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8800" b="1">
                <a:solidFill>
                  <a:schemeClr val="bg1">
                    <a:lumMod val="85000"/>
                  </a:schemeClr>
                </a:solidFill>
                <a:latin typeface="Helvetica" pitchFamily="2" charset="0"/>
              </a:rPr>
              <a:t>contenido</a:t>
            </a:r>
            <a:endParaRPr lang="en-US" sz="8800" b="1">
              <a:solidFill>
                <a:schemeClr val="bg1">
                  <a:lumMod val="85000"/>
                </a:schemeClr>
              </a:solidFill>
              <a:latin typeface="Helvetica" pitchFamily="2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F0AD512-DC53-811E-0839-3807ECBC949B}"/>
              </a:ext>
            </a:extLst>
          </p:cNvPr>
          <p:cNvSpPr/>
          <p:nvPr/>
        </p:nvSpPr>
        <p:spPr>
          <a:xfrm>
            <a:off x="1801640" y="683513"/>
            <a:ext cx="9678154" cy="5599610"/>
          </a:xfrm>
          <a:prstGeom prst="rect">
            <a:avLst/>
          </a:prstGeom>
          <a:solidFill>
            <a:schemeClr val="bg1">
              <a:alpha val="8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6D8EC2C4-D534-A87E-5305-9BD92B9838D9}"/>
              </a:ext>
            </a:extLst>
          </p:cNvPr>
          <p:cNvGrpSpPr/>
          <p:nvPr/>
        </p:nvGrpSpPr>
        <p:grpSpPr>
          <a:xfrm>
            <a:off x="1955128" y="892964"/>
            <a:ext cx="4629752" cy="1015663"/>
            <a:chOff x="924025" y="1526961"/>
            <a:chExt cx="4629752" cy="1015663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AFE41E11-2903-D4AD-BABB-046EDBE4AABD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1B5E8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AFB12F7A-F286-0B30-D30E-E9A916CC839B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>
                  <a:solidFill>
                    <a:schemeClr val="bg1"/>
                  </a:solidFill>
                  <a:latin typeface="Helvetica" pitchFamily="2" charset="0"/>
                </a:rPr>
                <a:t>Introducción a los lenguajes de programación</a:t>
              </a:r>
              <a:endParaRPr lang="en-US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93EEA1CE-79B2-915B-2C77-2F1212A1BF67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>
                  <a:solidFill>
                    <a:schemeClr val="bg1"/>
                  </a:solidFill>
                  <a:latin typeface="Helvetica" pitchFamily="2" charset="0"/>
                </a:rPr>
                <a:t>1</a:t>
              </a:r>
              <a:endParaRPr lang="en-US" sz="6000" b="1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830C6426-CF18-244B-D9EC-4576E393467C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2234484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66C3EF-5D84-4CA1-A49C-42748C91DE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Algoritmo</a:t>
            </a:r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DE662C6-2911-4CF7-8D3C-003C85D6C4D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9</a:t>
            </a:fld>
            <a:endParaRPr lang="es-PE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1CD08E1-5E6D-E365-F653-0CD891B2104F}"/>
              </a:ext>
            </a:extLst>
          </p:cNvPr>
          <p:cNvSpPr/>
          <p:nvPr/>
        </p:nvSpPr>
        <p:spPr>
          <a:xfrm>
            <a:off x="3445844" y="2177964"/>
            <a:ext cx="5164756" cy="3635696"/>
          </a:xfrm>
          <a:prstGeom prst="roundRect">
            <a:avLst>
              <a:gd name="adj" fmla="val 5589"/>
            </a:avLst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rIns="216000" rtlCol="0" anchor="ctr"/>
          <a:lstStyle/>
          <a:p>
            <a:pPr algn="ctr"/>
            <a:r>
              <a:rPr lang="es-ES" sz="2800">
                <a:solidFill>
                  <a:schemeClr val="tx1"/>
                </a:solidFill>
              </a:rPr>
              <a:t>Conjunto de </a:t>
            </a:r>
            <a:r>
              <a:rPr lang="es-ES" sz="2800" b="1">
                <a:solidFill>
                  <a:schemeClr val="accent2"/>
                </a:solidFill>
              </a:rPr>
              <a:t>instrucciones</a:t>
            </a:r>
            <a:r>
              <a:rPr lang="es-ES" sz="2800">
                <a:solidFill>
                  <a:schemeClr val="tx1"/>
                </a:solidFill>
              </a:rPr>
              <a:t> que detalla una </a:t>
            </a:r>
            <a:r>
              <a:rPr lang="es-ES" sz="2800" b="1">
                <a:solidFill>
                  <a:schemeClr val="accent2"/>
                </a:solidFill>
              </a:rPr>
              <a:t>secuencia</a:t>
            </a:r>
            <a:r>
              <a:rPr lang="es-ES" sz="2800">
                <a:solidFill>
                  <a:schemeClr val="tx1"/>
                </a:solidFill>
              </a:rPr>
              <a:t> de </a:t>
            </a:r>
            <a:r>
              <a:rPr lang="es-ES" sz="2800" b="1">
                <a:solidFill>
                  <a:schemeClr val="accent2"/>
                </a:solidFill>
              </a:rPr>
              <a:t>pasos concretos</a:t>
            </a:r>
            <a:r>
              <a:rPr lang="es-ES" sz="2800">
                <a:solidFill>
                  <a:schemeClr val="tx1"/>
                </a:solidFill>
              </a:rPr>
              <a:t> a realizar, en orden, para </a:t>
            </a:r>
            <a:r>
              <a:rPr lang="es-ES" sz="2800" b="1">
                <a:solidFill>
                  <a:schemeClr val="accent2"/>
                </a:solidFill>
              </a:rPr>
              <a:t>resolver</a:t>
            </a:r>
            <a:r>
              <a:rPr lang="es-ES" sz="2800">
                <a:solidFill>
                  <a:schemeClr val="tx1"/>
                </a:solidFill>
              </a:rPr>
              <a:t> un </a:t>
            </a:r>
            <a:r>
              <a:rPr lang="es-ES" sz="2800" b="1">
                <a:solidFill>
                  <a:schemeClr val="accent2"/>
                </a:solidFill>
              </a:rPr>
              <a:t>problema</a:t>
            </a:r>
            <a:r>
              <a:rPr lang="es-ES" sz="2800">
                <a:solidFill>
                  <a:schemeClr val="tx1"/>
                </a:solidFill>
              </a:rPr>
              <a:t> específico.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A8FFF87-FE34-9C4B-50C5-07964021D543}"/>
              </a:ext>
            </a:extLst>
          </p:cNvPr>
          <p:cNvSpPr/>
          <p:nvPr/>
        </p:nvSpPr>
        <p:spPr>
          <a:xfrm>
            <a:off x="838200" y="3333031"/>
            <a:ext cx="2261135" cy="1325563"/>
          </a:xfrm>
          <a:prstGeom prst="roundRect">
            <a:avLst/>
          </a:prstGeom>
          <a:solidFill>
            <a:srgbClr val="758F3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800"/>
              <a:t>Entrada</a:t>
            </a:r>
            <a:endParaRPr lang="en-US" sz="280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1F29BC6-3373-D582-8922-E4B4A37E17D0}"/>
              </a:ext>
            </a:extLst>
          </p:cNvPr>
          <p:cNvSpPr/>
          <p:nvPr/>
        </p:nvSpPr>
        <p:spPr>
          <a:xfrm>
            <a:off x="8957109" y="3333031"/>
            <a:ext cx="2261135" cy="1325563"/>
          </a:xfrm>
          <a:prstGeom prst="roundRect">
            <a:avLst/>
          </a:prstGeom>
          <a:solidFill>
            <a:srgbClr val="1B5E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800"/>
              <a:t>Salida</a:t>
            </a:r>
            <a:endParaRPr lang="en-US" sz="2800"/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5EAC19A9-C876-4611-5121-32F3149A65BC}"/>
              </a:ext>
            </a:extLst>
          </p:cNvPr>
          <p:cNvSpPr/>
          <p:nvPr/>
        </p:nvSpPr>
        <p:spPr>
          <a:xfrm>
            <a:off x="2926479" y="3687804"/>
            <a:ext cx="663742" cy="616017"/>
          </a:xfrm>
          <a:prstGeom prst="right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1B07779C-EC51-3D62-A4B1-83E5D0035A11}"/>
              </a:ext>
            </a:extLst>
          </p:cNvPr>
          <p:cNvSpPr/>
          <p:nvPr/>
        </p:nvSpPr>
        <p:spPr>
          <a:xfrm>
            <a:off x="8451984" y="3687804"/>
            <a:ext cx="663742" cy="616017"/>
          </a:xfrm>
          <a:prstGeom prst="right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E1D2E89E-4E8F-6B02-DD8E-3D37FDE280FA}"/>
              </a:ext>
            </a:extLst>
          </p:cNvPr>
          <p:cNvGrpSpPr/>
          <p:nvPr/>
        </p:nvGrpSpPr>
        <p:grpSpPr>
          <a:xfrm>
            <a:off x="838200" y="-45063"/>
            <a:ext cx="4629752" cy="1015663"/>
            <a:chOff x="924025" y="1526961"/>
            <a:chExt cx="4629752" cy="1015663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38A82F43-43B8-FD25-CC0D-DFA51BC54B6E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1B5E8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85B284D8-96F3-63AF-9033-FCC999DC8672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>
                  <a:solidFill>
                    <a:schemeClr val="bg1"/>
                  </a:solidFill>
                  <a:latin typeface="Helvetica" pitchFamily="2" charset="0"/>
                </a:rPr>
                <a:t>Introducción a los lenguajes de programación</a:t>
              </a:r>
              <a:endParaRPr lang="en-US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34B3F7EB-256E-1A80-3107-DCC2F7C6FB20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>
                  <a:solidFill>
                    <a:schemeClr val="bg1"/>
                  </a:solidFill>
                  <a:latin typeface="Helvetica" pitchFamily="2" charset="0"/>
                </a:rPr>
                <a:t>1</a:t>
              </a:r>
              <a:endParaRPr lang="en-US" sz="6000" b="1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9E06B7A5-5F84-6846-21F9-88473B3CE883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7983280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B5D443-E7BA-7FA2-F2E1-A28993D953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Algoritmo. Ejemplo.</a:t>
            </a:r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E36698C-D3FE-515A-83DB-ED2C1B6C436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10</a:t>
            </a:fld>
            <a:endParaRPr lang="es-PE"/>
          </a:p>
        </p:txBody>
      </p:sp>
      <p:sp>
        <p:nvSpPr>
          <p:cNvPr id="5" name="Rectangle: Folded Corner 4">
            <a:extLst>
              <a:ext uri="{FF2B5EF4-FFF2-40B4-BE49-F238E27FC236}">
                <a16:creationId xmlns:a16="http://schemas.microsoft.com/office/drawing/2014/main" id="{1B838FA8-75A9-E6C8-E035-463A7AD0D022}"/>
              </a:ext>
            </a:extLst>
          </p:cNvPr>
          <p:cNvSpPr/>
          <p:nvPr/>
        </p:nvSpPr>
        <p:spPr>
          <a:xfrm>
            <a:off x="1261713" y="2217487"/>
            <a:ext cx="3281413" cy="3157086"/>
          </a:xfrm>
          <a:prstGeom prst="foldedCorner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400">
                <a:solidFill>
                  <a:schemeClr val="bg1">
                    <a:lumMod val="50000"/>
                  </a:schemeClr>
                </a:solidFill>
              </a:rPr>
              <a:t>“Solicita el valor de compra y si éste supera los 100 soles aplica un descuento del 10% y muestra el monto resultante”</a:t>
            </a:r>
            <a:endParaRPr lang="en-US" sz="240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7" name="Picture 6" descr="Diagram">
            <a:extLst>
              <a:ext uri="{FF2B5EF4-FFF2-40B4-BE49-F238E27FC236}">
                <a16:creationId xmlns:a16="http://schemas.microsoft.com/office/drawing/2014/main" id="{B8AE43E7-0C08-C22C-72C0-3F9CF2D544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7912" y="1642915"/>
            <a:ext cx="6400800" cy="4905375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B860D1D7-18A5-2B79-E9F7-3B30EB376B3A}"/>
              </a:ext>
            </a:extLst>
          </p:cNvPr>
          <p:cNvGrpSpPr/>
          <p:nvPr/>
        </p:nvGrpSpPr>
        <p:grpSpPr>
          <a:xfrm>
            <a:off x="838200" y="-45063"/>
            <a:ext cx="4629752" cy="1015663"/>
            <a:chOff x="924025" y="1526961"/>
            <a:chExt cx="4629752" cy="1015663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62AFB439-EA5A-8BEF-2867-64C7BD19B3EE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1B5E8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2833F1D7-EBC3-0B41-ED55-A76427698144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>
                  <a:solidFill>
                    <a:schemeClr val="bg1"/>
                  </a:solidFill>
                  <a:latin typeface="Helvetica" pitchFamily="2" charset="0"/>
                </a:rPr>
                <a:t>Introducción a los lenguajes de programación</a:t>
              </a:r>
              <a:endParaRPr lang="en-US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FB589E12-71F1-0686-9E36-413CF1310125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>
                  <a:solidFill>
                    <a:schemeClr val="bg1"/>
                  </a:solidFill>
                  <a:latin typeface="Helvetica" pitchFamily="2" charset="0"/>
                </a:rPr>
                <a:t>1</a:t>
              </a:r>
              <a:endParaRPr lang="en-US" sz="6000" b="1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82D88B8C-E628-741F-50CA-1635125BC046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7346516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8D8FB6-C6EE-6732-5CC6-ED66E3F8B2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Programa</a:t>
            </a:r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755B74C-7F75-6C15-3AC8-2DC9F584949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11</a:t>
            </a:fld>
            <a:endParaRPr lang="es-P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9B60F3-2BB7-0542-F064-8E4505411FCA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s-ES"/>
              <a:t>Un programa es un conjunto de </a:t>
            </a:r>
            <a:r>
              <a:rPr lang="es-ES" b="1">
                <a:solidFill>
                  <a:schemeClr val="accent2"/>
                </a:solidFill>
              </a:rPr>
              <a:t>sentencias</a:t>
            </a:r>
            <a:r>
              <a:rPr lang="es-ES"/>
              <a:t> o </a:t>
            </a:r>
            <a:r>
              <a:rPr lang="es-ES" b="1">
                <a:solidFill>
                  <a:schemeClr val="accent2"/>
                </a:solidFill>
              </a:rPr>
              <a:t>instrucciones</a:t>
            </a:r>
            <a:r>
              <a:rPr lang="es-ES"/>
              <a:t> que son </a:t>
            </a:r>
            <a:r>
              <a:rPr lang="es-ES" b="1">
                <a:solidFill>
                  <a:schemeClr val="accent2"/>
                </a:solidFill>
              </a:rPr>
              <a:t>interpretadas</a:t>
            </a:r>
            <a:r>
              <a:rPr lang="es-ES"/>
              <a:t> y </a:t>
            </a:r>
            <a:r>
              <a:rPr lang="es-ES" b="1">
                <a:solidFill>
                  <a:schemeClr val="accent2"/>
                </a:solidFill>
              </a:rPr>
              <a:t>ejecutadas</a:t>
            </a:r>
            <a:r>
              <a:rPr lang="es-ES"/>
              <a:t> por una </a:t>
            </a:r>
            <a:r>
              <a:rPr lang="es-ES" b="1">
                <a:solidFill>
                  <a:schemeClr val="accent2"/>
                </a:solidFill>
              </a:rPr>
              <a:t>computadora</a:t>
            </a:r>
            <a:r>
              <a:rPr lang="es-ES"/>
              <a:t>.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DB5AA3D0-EBE8-C07E-837E-2CD647283A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34164" y="3352200"/>
            <a:ext cx="4754880" cy="2894484"/>
          </a:xfrm>
          <a:prstGeom prst="roundRect">
            <a:avLst>
              <a:gd name="adj" fmla="val 3799"/>
            </a:avLst>
          </a:prstGeom>
          <a:solidFill>
            <a:srgbClr val="1E1F2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public class </a:t>
            </a:r>
            <a:r>
              <a:rPr kumimoji="0" lang="en-US" altLang="en-US" sz="1000" b="0" i="0" u="none" strike="noStrike" cap="none" normalizeH="0" baseline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Descuento</a:t>
            </a: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{</a:t>
            </a:r>
            <a:b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public static void </a:t>
            </a: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DEBC7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main</a:t>
            </a: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(String[] </a:t>
            </a:r>
            <a:r>
              <a:rPr kumimoji="0" lang="en-US" altLang="en-US" sz="1000" b="0" i="0" u="none" strike="noStrike" cap="none" normalizeH="0" baseline="0" err="1">
                <a:ln>
                  <a:noFill/>
                </a:ln>
                <a:solidFill>
                  <a:srgbClr val="B189F5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args</a:t>
            </a: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 {</a:t>
            </a:r>
            <a:b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double </a:t>
            </a:r>
            <a:r>
              <a:rPr kumimoji="0" lang="en-US" altLang="en-US" sz="1000" b="0" i="0" u="none" strike="noStrike" cap="none" normalizeH="0" baseline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valorCompra</a:t>
            </a: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Scanner entrada = </a:t>
            </a: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new </a:t>
            </a: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DEBC7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Scanner</a:t>
            </a: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(System.</a:t>
            </a:r>
            <a:r>
              <a:rPr kumimoji="0" lang="en-US" altLang="en-US" sz="1000" b="0" i="1" u="none" strike="noStrike" cap="none" normalizeH="0" baseline="0">
                <a:ln>
                  <a:noFill/>
                </a:ln>
                <a:solidFill>
                  <a:srgbClr val="72CF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</a:t>
            </a: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);</a:t>
            </a:r>
            <a:b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en-US" altLang="en-US" sz="1000" b="0" i="0" u="none" strike="noStrike" cap="none" normalizeH="0" baseline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System.</a:t>
            </a:r>
            <a:r>
              <a:rPr kumimoji="0" lang="en-US" altLang="en-US" sz="1000" b="0" i="1" u="none" strike="noStrike" cap="none" normalizeH="0" baseline="0" err="1">
                <a:ln>
                  <a:noFill/>
                </a:ln>
                <a:solidFill>
                  <a:srgbClr val="72CF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out</a:t>
            </a:r>
            <a:r>
              <a:rPr kumimoji="0" lang="en-US" altLang="en-US" sz="1000" b="0" i="0" u="none" strike="noStrike" cap="none" normalizeH="0" baseline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</a:t>
            </a:r>
            <a:r>
              <a:rPr kumimoji="0" lang="en-US" altLang="en-US" sz="1000" b="0" i="0" u="none" strike="noStrike" cap="none" normalizeH="0" baseline="0" err="1">
                <a:ln>
                  <a:noFill/>
                </a:ln>
                <a:solidFill>
                  <a:srgbClr val="DEBC7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println</a:t>
            </a: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</a:t>
            </a:r>
            <a:r>
              <a:rPr kumimoji="0" lang="en-US" altLang="en-US" sz="1000" b="0" i="0" u="none" strike="noStrike" cap="none" normalizeH="0" baseline="0" err="1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Ingrese</a:t>
            </a: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valor de </a:t>
            </a:r>
            <a:r>
              <a:rPr kumimoji="0" lang="en-US" altLang="en-US" sz="1000" b="0" i="0" u="none" strike="noStrike" cap="none" normalizeH="0" baseline="0" err="1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compra</a:t>
            </a: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: "</a:t>
            </a: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);</a:t>
            </a:r>
            <a:b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en-US" altLang="en-US" sz="1000" b="0" i="0" u="none" strike="noStrike" cap="none" normalizeH="0" baseline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valorCompra</a:t>
            </a: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= </a:t>
            </a:r>
            <a:r>
              <a:rPr kumimoji="0" lang="en-US" altLang="en-US" sz="1000" b="0" i="0" u="none" strike="noStrike" cap="none" normalizeH="0" baseline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entrada.</a:t>
            </a:r>
            <a:r>
              <a:rPr kumimoji="0" lang="en-US" altLang="en-US" sz="1000" b="0" i="0" u="none" strike="noStrike" cap="none" normalizeH="0" baseline="0" err="1">
                <a:ln>
                  <a:noFill/>
                </a:ln>
                <a:solidFill>
                  <a:srgbClr val="DEBC7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nextDouble</a:t>
            </a: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();</a:t>
            </a:r>
            <a:b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if </a:t>
            </a: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000" b="0" i="0" u="none" strike="noStrike" cap="none" normalizeH="0" baseline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valorCompra</a:t>
            </a: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&gt; </a:t>
            </a: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100</a:t>
            </a: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 {</a:t>
            </a:r>
            <a:b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    </a:t>
            </a:r>
            <a:r>
              <a:rPr kumimoji="0" lang="en-US" altLang="en-US" sz="1000" b="0" i="0" u="none" strike="noStrike" cap="none" normalizeH="0" baseline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valorCompra</a:t>
            </a: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= </a:t>
            </a:r>
            <a:r>
              <a:rPr kumimoji="0" lang="en-US" altLang="en-US" sz="1000" b="0" i="0" u="none" strike="noStrike" cap="none" normalizeH="0" baseline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valorCompra</a:t>
            </a: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* </a:t>
            </a: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0.9</a:t>
            </a: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}</a:t>
            </a:r>
            <a:b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en-US" altLang="en-US" sz="1000" b="0" i="0" u="none" strike="noStrike" cap="none" normalizeH="0" baseline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System.</a:t>
            </a:r>
            <a:r>
              <a:rPr kumimoji="0" lang="en-US" altLang="en-US" sz="1000" b="0" i="1" u="none" strike="noStrike" cap="none" normalizeH="0" baseline="0" err="1">
                <a:ln>
                  <a:noFill/>
                </a:ln>
                <a:solidFill>
                  <a:srgbClr val="72CF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out</a:t>
            </a:r>
            <a:r>
              <a:rPr kumimoji="0" lang="en-US" altLang="en-US" sz="1000" b="0" i="0" u="none" strike="noStrike" cap="none" normalizeH="0" baseline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</a:t>
            </a:r>
            <a:r>
              <a:rPr kumimoji="0" lang="en-US" altLang="en-US" sz="1000" b="0" i="0" u="none" strike="noStrike" cap="none" normalizeH="0" baseline="0" err="1">
                <a:ln>
                  <a:noFill/>
                </a:ln>
                <a:solidFill>
                  <a:srgbClr val="DEBC7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println</a:t>
            </a: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</a:t>
            </a:r>
            <a:r>
              <a:rPr kumimoji="0" lang="en-US" altLang="en-US" sz="1000" b="0" i="0" u="none" strike="noStrike" cap="none" normalizeH="0" baseline="0" err="1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Pagará</a:t>
            </a: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: " </a:t>
            </a: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+ </a:t>
            </a:r>
            <a:r>
              <a:rPr kumimoji="0" lang="en-US" altLang="en-US" sz="1000" b="0" i="0" u="none" strike="noStrike" cap="none" normalizeH="0" baseline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valorCompra</a:t>
            </a: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);</a:t>
            </a:r>
            <a:b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}</a:t>
            </a:r>
            <a:b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}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98F07435-37BF-AADF-8983-C10FD5C1FF3A}"/>
              </a:ext>
            </a:extLst>
          </p:cNvPr>
          <p:cNvGrpSpPr/>
          <p:nvPr/>
        </p:nvGrpSpPr>
        <p:grpSpPr>
          <a:xfrm>
            <a:off x="6918818" y="3370640"/>
            <a:ext cx="4159860" cy="2894484"/>
            <a:chOff x="6264300" y="3360147"/>
            <a:chExt cx="4159860" cy="2838957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78FFB837-1259-B8BF-0515-257A570DCBC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264300" y="3360147"/>
              <a:ext cx="4159860" cy="2838957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BD4DFFB1-ADAB-E114-6662-292C316C24CD}"/>
                </a:ext>
              </a:extLst>
            </p:cNvPr>
            <p:cNvSpPr txBox="1"/>
            <p:nvPr/>
          </p:nvSpPr>
          <p:spPr>
            <a:xfrm>
              <a:off x="6365898" y="3861345"/>
              <a:ext cx="3409749" cy="73866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err="1">
                  <a:solidFill>
                    <a:srgbClr val="00B0F0"/>
                  </a:solidFill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Ingrese</a:t>
              </a:r>
              <a:r>
                <a:rPr lang="en-US">
                  <a:solidFill>
                    <a:srgbClr val="00B0F0"/>
                  </a:solidFill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 valor de </a:t>
              </a:r>
              <a:r>
                <a:rPr lang="en-US" err="1">
                  <a:solidFill>
                    <a:srgbClr val="00B0F0"/>
                  </a:solidFill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compra</a:t>
              </a:r>
              <a:r>
                <a:rPr lang="en-US">
                  <a:solidFill>
                    <a:srgbClr val="00B0F0"/>
                  </a:solidFill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: </a:t>
              </a:r>
            </a:p>
            <a:p>
              <a:r>
                <a:rPr lang="en-US">
                  <a:solidFill>
                    <a:schemeClr val="accent4"/>
                  </a:solidFill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146.50</a:t>
              </a:r>
            </a:p>
            <a:p>
              <a:r>
                <a:rPr lang="en-US" err="1">
                  <a:solidFill>
                    <a:srgbClr val="00B0F0"/>
                  </a:solidFill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Pagará</a:t>
              </a:r>
              <a:r>
                <a:rPr lang="en-US">
                  <a:solidFill>
                    <a:srgbClr val="00B0F0"/>
                  </a:solidFill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: </a:t>
              </a:r>
              <a:r>
                <a:rPr lang="en-US">
                  <a:solidFill>
                    <a:schemeClr val="accent4"/>
                  </a:solidFill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131.85</a:t>
              </a:r>
            </a:p>
          </p:txBody>
        </p:sp>
      </p:grp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33554486-2BF4-E6D5-DB71-5758C177D9D0}"/>
              </a:ext>
            </a:extLst>
          </p:cNvPr>
          <p:cNvSpPr/>
          <p:nvPr/>
        </p:nvSpPr>
        <p:spPr>
          <a:xfrm>
            <a:off x="6235766" y="4491734"/>
            <a:ext cx="663742" cy="616017"/>
          </a:xfrm>
          <a:prstGeom prst="right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5D0E5D7-B3ED-8676-CD1A-269D4ADBE035}"/>
              </a:ext>
            </a:extLst>
          </p:cNvPr>
          <p:cNvSpPr txBox="1"/>
          <p:nvPr/>
        </p:nvSpPr>
        <p:spPr>
          <a:xfrm>
            <a:off x="1434164" y="6312190"/>
            <a:ext cx="32725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i="1">
                <a:solidFill>
                  <a:srgbClr val="00B0F0"/>
                </a:solidFill>
                <a:latin typeface="Helvetica" pitchFamily="2" charset="0"/>
              </a:rPr>
              <a:t>Programa escrito en lenguaje Java</a:t>
            </a:r>
            <a:endParaRPr lang="en-US" sz="1200" i="1">
              <a:solidFill>
                <a:srgbClr val="00B0F0"/>
              </a:solidFill>
              <a:latin typeface="Helvetica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9909C7C-C35C-74A9-991B-8BD87AB93E64}"/>
              </a:ext>
            </a:extLst>
          </p:cNvPr>
          <p:cNvSpPr txBox="1"/>
          <p:nvPr/>
        </p:nvSpPr>
        <p:spPr>
          <a:xfrm>
            <a:off x="6899508" y="6312190"/>
            <a:ext cx="32725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i="1">
                <a:solidFill>
                  <a:srgbClr val="00B0F0"/>
                </a:solidFill>
                <a:latin typeface="Helvetica" pitchFamily="2" charset="0"/>
              </a:rPr>
              <a:t>Programa en ejecución</a:t>
            </a:r>
            <a:endParaRPr lang="en-US" sz="1200" i="1">
              <a:solidFill>
                <a:srgbClr val="00B0F0"/>
              </a:solidFill>
              <a:latin typeface="Helvetica" pitchFamily="2" charset="0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7F721533-033C-ABBF-AF15-B50C69A3A780}"/>
              </a:ext>
            </a:extLst>
          </p:cNvPr>
          <p:cNvGrpSpPr/>
          <p:nvPr/>
        </p:nvGrpSpPr>
        <p:grpSpPr>
          <a:xfrm>
            <a:off x="838200" y="-45063"/>
            <a:ext cx="4629752" cy="1015663"/>
            <a:chOff x="924025" y="1526961"/>
            <a:chExt cx="4629752" cy="1015663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9C51B5F-2699-CD81-6221-7399EB7E3B8D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1B5E8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49B9F4EA-2D12-1AEF-75B6-5440B91BDDE9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>
                  <a:solidFill>
                    <a:schemeClr val="bg1"/>
                  </a:solidFill>
                  <a:latin typeface="Helvetica" pitchFamily="2" charset="0"/>
                </a:rPr>
                <a:t>Introducción a los lenguajes de programación</a:t>
              </a:r>
              <a:endParaRPr lang="en-US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5333C1A6-D297-D739-73B7-56DA1BBDAE2A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>
                  <a:solidFill>
                    <a:schemeClr val="bg1"/>
                  </a:solidFill>
                  <a:latin typeface="Helvetica" pitchFamily="2" charset="0"/>
                </a:rPr>
                <a:t>1</a:t>
              </a:r>
              <a:endParaRPr lang="en-US" sz="6000" b="1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43BFF102-6C1C-3C9D-B5C4-380B7F653CCE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6663098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0EC713-E2F2-83C4-FC60-E09A5B3F29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Lenguaje de programación</a:t>
            </a:r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B2D8E3C-526B-C987-3933-7A1545078CD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12</a:t>
            </a:fld>
            <a:endParaRPr lang="es-P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3C90416-6424-0D30-F086-724AE9435E8D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es-ES"/>
              <a:t>Es un </a:t>
            </a:r>
            <a:r>
              <a:rPr lang="es-ES" b="1">
                <a:solidFill>
                  <a:schemeClr val="accent2"/>
                </a:solidFill>
              </a:rPr>
              <a:t>lenguaje formal</a:t>
            </a:r>
            <a:r>
              <a:rPr lang="es-ES"/>
              <a:t>* utilizado para </a:t>
            </a:r>
            <a:r>
              <a:rPr lang="es-ES" b="1">
                <a:solidFill>
                  <a:schemeClr val="accent2"/>
                </a:solidFill>
              </a:rPr>
              <a:t>escribir</a:t>
            </a:r>
            <a:r>
              <a:rPr lang="es-ES">
                <a:solidFill>
                  <a:schemeClr val="accent2"/>
                </a:solidFill>
              </a:rPr>
              <a:t> </a:t>
            </a:r>
            <a:r>
              <a:rPr lang="es-ES" b="1">
                <a:solidFill>
                  <a:schemeClr val="accent2"/>
                </a:solidFill>
              </a:rPr>
              <a:t>programas</a:t>
            </a:r>
            <a:r>
              <a:rPr lang="es-ES"/>
              <a:t> y controlar el comportamiento de un sistema informático.</a:t>
            </a:r>
          </a:p>
          <a:p>
            <a:pPr marL="50800" indent="0">
              <a:buNone/>
            </a:pPr>
            <a:r>
              <a:rPr lang="es-ES" sz="1800" i="1">
                <a:solidFill>
                  <a:schemeClr val="bg1">
                    <a:lumMod val="50000"/>
                  </a:schemeClr>
                </a:solidFill>
              </a:rPr>
              <a:t>     * utiliza reglas, palabras definidas, gramática y puntuación específicos.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5DA7500-C32F-A848-138E-364FA47A87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2525" y="3647977"/>
            <a:ext cx="6436456" cy="267839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AC6694E-436E-4530-B00D-7EAF68D0F24D}"/>
              </a:ext>
            </a:extLst>
          </p:cNvPr>
          <p:cNvSpPr txBox="1"/>
          <p:nvPr/>
        </p:nvSpPr>
        <p:spPr>
          <a:xfrm>
            <a:off x="228599" y="6376357"/>
            <a:ext cx="107056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>
                <a:solidFill>
                  <a:schemeClr val="bg1">
                    <a:lumMod val="50000"/>
                  </a:schemeClr>
                </a:solidFill>
              </a:rPr>
              <a:t>Imagen </a:t>
            </a:r>
            <a:r>
              <a:rPr lang="en-US" sz="900" err="1">
                <a:solidFill>
                  <a:schemeClr val="bg1">
                    <a:lumMod val="50000"/>
                  </a:schemeClr>
                </a:solidFill>
              </a:rPr>
              <a:t>obtenida</a:t>
            </a:r>
            <a:r>
              <a:rPr lang="en-US" sz="900">
                <a:solidFill>
                  <a:schemeClr val="bg1">
                    <a:lumMod val="50000"/>
                  </a:schemeClr>
                </a:solidFill>
              </a:rPr>
              <a:t> de:</a:t>
            </a:r>
          </a:p>
          <a:p>
            <a:r>
              <a:rPr lang="en-US" sz="900">
                <a:solidFill>
                  <a:schemeClr val="bg1">
                    <a:lumMod val="50000"/>
                  </a:schemeClr>
                </a:solidFill>
              </a:rPr>
              <a:t>https://www.macworld.com/wp-content/uploads/2023/01/which_programming_language_to_learn.jpg?quality=50&amp;strip=all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8A27AD3A-4A4C-0A89-E8BB-41B903EE032A}"/>
              </a:ext>
            </a:extLst>
          </p:cNvPr>
          <p:cNvGrpSpPr/>
          <p:nvPr/>
        </p:nvGrpSpPr>
        <p:grpSpPr>
          <a:xfrm>
            <a:off x="838200" y="-45063"/>
            <a:ext cx="4629752" cy="1015663"/>
            <a:chOff x="924025" y="1526961"/>
            <a:chExt cx="4629752" cy="1015663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7ECBD029-FE6F-B084-9E3B-203D75B381B3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1B5E8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8484B631-079F-BA6B-5FF6-BD8C1D9414F8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>
                  <a:solidFill>
                    <a:schemeClr val="bg1"/>
                  </a:solidFill>
                  <a:latin typeface="Helvetica" pitchFamily="2" charset="0"/>
                </a:rPr>
                <a:t>Introducción a los lenguajes de programación</a:t>
              </a:r>
              <a:endParaRPr lang="en-US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3A58D8BB-8611-985D-7832-57AA58CB1AE7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>
                  <a:solidFill>
                    <a:schemeClr val="bg1"/>
                  </a:solidFill>
                  <a:latin typeface="Helvetica" pitchFamily="2" charset="0"/>
                </a:rPr>
                <a:t>1</a:t>
              </a:r>
              <a:endParaRPr lang="en-US" sz="6000" b="1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537CEE8D-125C-1DCF-BFEA-0D26D0C37034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5724180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12FD8A4-7E86-5FB0-ED65-31D4D626BA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2553" y="2631159"/>
            <a:ext cx="6003727" cy="337709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504207F-0477-11F7-3B22-27FAB41C3F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Programación</a:t>
            </a:r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D3384F2-F566-2DDE-AD31-0E3DAEFFB74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13</a:t>
            </a:fld>
            <a:endParaRPr lang="es-PE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BA49C42-4C82-184E-85F0-3BE056EAF53B}"/>
              </a:ext>
            </a:extLst>
          </p:cNvPr>
          <p:cNvSpPr txBox="1"/>
          <p:nvPr/>
        </p:nvSpPr>
        <p:spPr>
          <a:xfrm>
            <a:off x="756185" y="1927135"/>
            <a:ext cx="3856540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800"/>
              <a:t>La </a:t>
            </a:r>
            <a:r>
              <a:rPr lang="es-ES" sz="2800" b="1">
                <a:solidFill>
                  <a:schemeClr val="accent2"/>
                </a:solidFill>
              </a:rPr>
              <a:t>programación</a:t>
            </a:r>
            <a:r>
              <a:rPr lang="es-ES" sz="2800"/>
              <a:t> (</a:t>
            </a:r>
            <a:r>
              <a:rPr lang="es-ES" sz="2800" i="1" err="1">
                <a:solidFill>
                  <a:schemeClr val="bg1">
                    <a:lumMod val="50000"/>
                  </a:schemeClr>
                </a:solidFill>
              </a:rPr>
              <a:t>programming</a:t>
            </a:r>
            <a:r>
              <a:rPr lang="es-ES" sz="2800"/>
              <a:t>) es el </a:t>
            </a:r>
            <a:r>
              <a:rPr lang="es-ES" sz="2800" b="1">
                <a:solidFill>
                  <a:schemeClr val="accent2"/>
                </a:solidFill>
              </a:rPr>
              <a:t>proceso</a:t>
            </a:r>
            <a:r>
              <a:rPr lang="es-ES" sz="2800"/>
              <a:t> de </a:t>
            </a:r>
            <a:r>
              <a:rPr lang="es-ES" sz="2800" b="1">
                <a:solidFill>
                  <a:schemeClr val="accent2"/>
                </a:solidFill>
              </a:rPr>
              <a:t>escritura</a:t>
            </a:r>
            <a:r>
              <a:rPr lang="es-ES" sz="2800"/>
              <a:t> de </a:t>
            </a:r>
            <a:r>
              <a:rPr lang="es-ES" sz="2800" b="1">
                <a:solidFill>
                  <a:schemeClr val="accent2"/>
                </a:solidFill>
              </a:rPr>
              <a:t>código</a:t>
            </a:r>
            <a:r>
              <a:rPr lang="es-ES" sz="2800"/>
              <a:t> reconocible para la computadora utilizando un lenguaje de programación.</a:t>
            </a:r>
            <a:endParaRPr lang="en-US" sz="28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7F4615B-13BD-28E6-9F52-D3C27FED660C}"/>
              </a:ext>
            </a:extLst>
          </p:cNvPr>
          <p:cNvSpPr txBox="1"/>
          <p:nvPr/>
        </p:nvSpPr>
        <p:spPr>
          <a:xfrm>
            <a:off x="5049355" y="1741287"/>
            <a:ext cx="242444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>
                <a:solidFill>
                  <a:schemeClr val="bg1">
                    <a:lumMod val="50000"/>
                  </a:schemeClr>
                </a:solidFill>
              </a:rPr>
              <a:t>Código fuente </a:t>
            </a:r>
            <a:br>
              <a:rPr lang="es-ES">
                <a:solidFill>
                  <a:schemeClr val="bg1">
                    <a:lumMod val="50000"/>
                  </a:schemeClr>
                </a:solidFill>
              </a:rPr>
            </a:br>
            <a:r>
              <a:rPr lang="es-ES">
                <a:solidFill>
                  <a:schemeClr val="bg1">
                    <a:lumMod val="50000"/>
                  </a:schemeClr>
                </a:solidFill>
              </a:rPr>
              <a:t>(</a:t>
            </a:r>
            <a:r>
              <a:rPr lang="es-ES" i="1" err="1">
                <a:solidFill>
                  <a:schemeClr val="bg1">
                    <a:lumMod val="50000"/>
                  </a:schemeClr>
                </a:solidFill>
              </a:rPr>
              <a:t>source</a:t>
            </a:r>
            <a:r>
              <a:rPr lang="es-ES" i="1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s-ES" i="1" err="1">
                <a:solidFill>
                  <a:schemeClr val="bg1">
                    <a:lumMod val="50000"/>
                  </a:schemeClr>
                </a:solidFill>
              </a:rPr>
              <a:t>code</a:t>
            </a:r>
            <a:r>
              <a:rPr lang="es-ES">
                <a:solidFill>
                  <a:schemeClr val="bg1">
                    <a:lumMod val="50000"/>
                  </a:schemeClr>
                </a:solidFill>
              </a:rPr>
              <a:t>).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DC355C0-D27B-2ECA-2925-B012FCE9CAAD}"/>
              </a:ext>
            </a:extLst>
          </p:cNvPr>
          <p:cNvSpPr txBox="1"/>
          <p:nvPr/>
        </p:nvSpPr>
        <p:spPr>
          <a:xfrm>
            <a:off x="6648349" y="1741287"/>
            <a:ext cx="444215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>
                <a:solidFill>
                  <a:schemeClr val="bg1">
                    <a:lumMod val="50000"/>
                  </a:schemeClr>
                </a:solidFill>
              </a:rPr>
              <a:t>Programador (</a:t>
            </a:r>
            <a:r>
              <a:rPr lang="es-ES" i="1" err="1">
                <a:solidFill>
                  <a:schemeClr val="bg1">
                    <a:lumMod val="50000"/>
                  </a:schemeClr>
                </a:solidFill>
              </a:rPr>
              <a:t>programmer</a:t>
            </a:r>
            <a:r>
              <a:rPr lang="es-ES" i="1">
                <a:solidFill>
                  <a:schemeClr val="bg1">
                    <a:lumMod val="50000"/>
                  </a:schemeClr>
                </a:solidFill>
              </a:rPr>
              <a:t>, </a:t>
            </a:r>
            <a:r>
              <a:rPr lang="es-ES" i="1" err="1">
                <a:solidFill>
                  <a:schemeClr val="bg1">
                    <a:lumMod val="50000"/>
                  </a:schemeClr>
                </a:solidFill>
              </a:rPr>
              <a:t>computer</a:t>
            </a:r>
            <a:r>
              <a:rPr lang="es-ES" i="1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s-ES" i="1" err="1">
                <a:solidFill>
                  <a:schemeClr val="bg1">
                    <a:lumMod val="50000"/>
                  </a:schemeClr>
                </a:solidFill>
              </a:rPr>
              <a:t>programmer</a:t>
            </a:r>
            <a:r>
              <a:rPr lang="es-ES">
                <a:solidFill>
                  <a:schemeClr val="bg1">
                    <a:lumMod val="50000"/>
                  </a:schemeClr>
                </a:solidFill>
              </a:rPr>
              <a:t>) o</a:t>
            </a:r>
          </a:p>
          <a:p>
            <a:r>
              <a:rPr lang="es-ES">
                <a:solidFill>
                  <a:schemeClr val="bg1">
                    <a:lumMod val="50000"/>
                  </a:schemeClr>
                </a:solidFill>
              </a:rPr>
              <a:t>Desarrollador (</a:t>
            </a:r>
            <a:r>
              <a:rPr lang="es-ES" err="1">
                <a:solidFill>
                  <a:schemeClr val="bg1">
                    <a:lumMod val="50000"/>
                  </a:schemeClr>
                </a:solidFill>
              </a:rPr>
              <a:t>d</a:t>
            </a:r>
            <a:r>
              <a:rPr lang="es-ES" i="1" err="1">
                <a:solidFill>
                  <a:schemeClr val="bg1">
                    <a:lumMod val="50000"/>
                  </a:schemeClr>
                </a:solidFill>
              </a:rPr>
              <a:t>eveloper</a:t>
            </a:r>
            <a:r>
              <a:rPr lang="es-ES" i="1">
                <a:solidFill>
                  <a:schemeClr val="bg1">
                    <a:lumMod val="50000"/>
                  </a:schemeClr>
                </a:solidFill>
              </a:rPr>
              <a:t>, software </a:t>
            </a:r>
            <a:r>
              <a:rPr lang="es-ES" i="1" err="1">
                <a:solidFill>
                  <a:schemeClr val="bg1">
                    <a:lumMod val="50000"/>
                  </a:schemeClr>
                </a:solidFill>
              </a:rPr>
              <a:t>developer</a:t>
            </a:r>
            <a:r>
              <a:rPr lang="es-ES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466ED1E-FC35-70E1-F7DC-ADDC041B44B4}"/>
              </a:ext>
            </a:extLst>
          </p:cNvPr>
          <p:cNvSpPr txBox="1"/>
          <p:nvPr/>
        </p:nvSpPr>
        <p:spPr>
          <a:xfrm>
            <a:off x="756185" y="5631297"/>
            <a:ext cx="358942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600" i="1">
                <a:solidFill>
                  <a:schemeClr val="bg1">
                    <a:lumMod val="50000"/>
                  </a:schemeClr>
                </a:solidFill>
              </a:rPr>
              <a:t>A la programación también se le conoce como codificación (</a:t>
            </a:r>
            <a:r>
              <a:rPr lang="es-ES" sz="1600" i="1" err="1">
                <a:solidFill>
                  <a:schemeClr val="bg1">
                    <a:lumMod val="50000"/>
                  </a:schemeClr>
                </a:solidFill>
              </a:rPr>
              <a:t>coding</a:t>
            </a:r>
            <a:r>
              <a:rPr lang="es-ES" sz="1600" i="1">
                <a:solidFill>
                  <a:schemeClr val="bg1">
                    <a:lumMod val="50000"/>
                  </a:schemeClr>
                </a:solidFill>
              </a:rPr>
              <a:t>)</a:t>
            </a:r>
            <a:endParaRPr lang="en-US" sz="1600" i="1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25F4E1B3-3F8A-62C8-DA85-830EA2DF49D6}"/>
              </a:ext>
            </a:extLst>
          </p:cNvPr>
          <p:cNvCxnSpPr>
            <a:cxnSpLocks/>
          </p:cNvCxnSpPr>
          <p:nvPr/>
        </p:nvCxnSpPr>
        <p:spPr>
          <a:xfrm>
            <a:off x="5496226" y="2411525"/>
            <a:ext cx="524328" cy="744405"/>
          </a:xfrm>
          <a:prstGeom prst="straightConnector1">
            <a:avLst/>
          </a:prstGeom>
          <a:ln w="28575">
            <a:solidFill>
              <a:schemeClr val="accent2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267F4C7C-E343-1E16-C868-730D48653A1C}"/>
              </a:ext>
            </a:extLst>
          </p:cNvPr>
          <p:cNvSpPr/>
          <p:nvPr/>
        </p:nvSpPr>
        <p:spPr>
          <a:xfrm>
            <a:off x="4957013" y="1770582"/>
            <a:ext cx="67377" cy="618417"/>
          </a:xfrm>
          <a:prstGeom prst="rect">
            <a:avLst/>
          </a:prstGeom>
          <a:solidFill>
            <a:schemeClr val="tx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7E21CA0-E4CD-B7B7-C76E-2D31B8EA4199}"/>
              </a:ext>
            </a:extLst>
          </p:cNvPr>
          <p:cNvSpPr/>
          <p:nvPr/>
        </p:nvSpPr>
        <p:spPr>
          <a:xfrm>
            <a:off x="6522919" y="1770582"/>
            <a:ext cx="67377" cy="618417"/>
          </a:xfrm>
          <a:prstGeom prst="rect">
            <a:avLst/>
          </a:prstGeom>
          <a:solidFill>
            <a:schemeClr val="tx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CE782114-3140-EAC7-AE85-1E17A6B659B7}"/>
              </a:ext>
            </a:extLst>
          </p:cNvPr>
          <p:cNvCxnSpPr>
            <a:cxnSpLocks/>
          </p:cNvCxnSpPr>
          <p:nvPr/>
        </p:nvCxnSpPr>
        <p:spPr>
          <a:xfrm flipH="1">
            <a:off x="10203255" y="2370521"/>
            <a:ext cx="216912" cy="589962"/>
          </a:xfrm>
          <a:prstGeom prst="straightConnector1">
            <a:avLst/>
          </a:prstGeom>
          <a:ln w="28575">
            <a:solidFill>
              <a:schemeClr val="accent2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F49DD64D-2D2D-5397-D7D7-C9CE07CB72C0}"/>
              </a:ext>
            </a:extLst>
          </p:cNvPr>
          <p:cNvGrpSpPr/>
          <p:nvPr/>
        </p:nvGrpSpPr>
        <p:grpSpPr>
          <a:xfrm>
            <a:off x="838200" y="-45063"/>
            <a:ext cx="4629752" cy="1015663"/>
            <a:chOff x="924025" y="1526961"/>
            <a:chExt cx="4629752" cy="1015663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2202E894-73C0-6005-18BD-0F7912F856B7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1B5E8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D9D114EB-400D-81DA-1731-85C9F4221094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>
                  <a:solidFill>
                    <a:schemeClr val="bg1"/>
                  </a:solidFill>
                  <a:latin typeface="Helvetica" pitchFamily="2" charset="0"/>
                </a:rPr>
                <a:t>Introducción a los lenguajes de programación</a:t>
              </a:r>
              <a:endParaRPr lang="en-US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92D37511-6954-9621-ECD7-F2FF8BA33A15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>
                  <a:solidFill>
                    <a:schemeClr val="bg1"/>
                  </a:solidFill>
                  <a:latin typeface="Helvetica" pitchFamily="2" charset="0"/>
                </a:rPr>
                <a:t>1</a:t>
              </a:r>
              <a:endParaRPr lang="en-US" sz="6000" b="1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6486A77A-E69E-EBC9-B0E9-EEE0B67F28F6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9A191F20-5E9E-7132-16F9-D7829721A25F}"/>
              </a:ext>
            </a:extLst>
          </p:cNvPr>
          <p:cNvSpPr txBox="1"/>
          <p:nvPr/>
        </p:nvSpPr>
        <p:spPr>
          <a:xfrm>
            <a:off x="164068" y="6490643"/>
            <a:ext cx="609750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>
                <a:solidFill>
                  <a:schemeClr val="bg1">
                    <a:lumMod val="50000"/>
                  </a:schemeClr>
                </a:solidFill>
              </a:rPr>
              <a:t>Imagen </a:t>
            </a:r>
            <a:r>
              <a:rPr lang="en-US" sz="900" err="1">
                <a:solidFill>
                  <a:schemeClr val="bg1">
                    <a:lumMod val="50000"/>
                  </a:schemeClr>
                </a:solidFill>
              </a:rPr>
              <a:t>obtenida</a:t>
            </a:r>
            <a:r>
              <a:rPr lang="en-US" sz="900">
                <a:solidFill>
                  <a:schemeClr val="bg1">
                    <a:lumMod val="50000"/>
                  </a:schemeClr>
                </a:solidFill>
              </a:rPr>
              <a:t> de; https://surry.edu/uploads/images/_videoPoster/computer-programmer.jpg</a:t>
            </a:r>
          </a:p>
        </p:txBody>
      </p:sp>
    </p:spTree>
    <p:extLst>
      <p:ext uri="{BB962C8B-B14F-4D97-AF65-F5344CB8AC3E}">
        <p14:creationId xmlns:p14="http://schemas.microsoft.com/office/powerpoint/2010/main" val="5840226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" name="Group 39">
            <a:extLst>
              <a:ext uri="{FF2B5EF4-FFF2-40B4-BE49-F238E27FC236}">
                <a16:creationId xmlns:a16="http://schemas.microsoft.com/office/drawing/2014/main" id="{C0EBFC4B-97B9-EE23-54E6-35D0BD1A72B6}"/>
              </a:ext>
            </a:extLst>
          </p:cNvPr>
          <p:cNvGrpSpPr/>
          <p:nvPr/>
        </p:nvGrpSpPr>
        <p:grpSpPr>
          <a:xfrm>
            <a:off x="6724048" y="1782509"/>
            <a:ext cx="4629752" cy="1015663"/>
            <a:chOff x="924025" y="1526961"/>
            <a:chExt cx="4629752" cy="1015663"/>
          </a:xfrm>
        </p:grpSpPr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4FE8F910-E501-76FA-7ECF-5ADB916A9A3E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8F2A2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FE3C8125-0623-B6FF-9FE1-0715FE1439E0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rtlCol="0" anchor="t">
              <a:spAutoFit/>
            </a:bodyPr>
            <a:lstStyle/>
            <a:p>
              <a:r>
                <a:rPr lang="es-ES">
                  <a:solidFill>
                    <a:schemeClr val="bg1"/>
                  </a:solidFill>
                  <a:latin typeface="Helvetica"/>
                </a:rPr>
                <a:t>Práctica</a:t>
              </a:r>
              <a:endParaRPr lang="en-US"/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FB2CE88F-B9E6-8333-5227-9BC78AB02562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>
                  <a:solidFill>
                    <a:schemeClr val="bg1"/>
                  </a:solidFill>
                  <a:latin typeface="Helvetica" pitchFamily="2" charset="0"/>
                </a:rPr>
                <a:t>8</a:t>
              </a:r>
              <a:endParaRPr lang="en-US" sz="6000" b="1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0EA75671-C972-4E78-C608-76524A6F268E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6C6B983-D187-5021-011D-340D9A64632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14</a:t>
            </a:fld>
            <a:endParaRPr lang="es-PE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5598A8C9-355C-B375-F419-53EB7FBA52CF}"/>
              </a:ext>
            </a:extLst>
          </p:cNvPr>
          <p:cNvGrpSpPr/>
          <p:nvPr/>
        </p:nvGrpSpPr>
        <p:grpSpPr>
          <a:xfrm>
            <a:off x="1955128" y="2672054"/>
            <a:ext cx="4629752" cy="1015663"/>
            <a:chOff x="924025" y="1526961"/>
            <a:chExt cx="4629752" cy="1015663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968C5937-AEC8-D4AC-1863-47EC6A0DD5D7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758F3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9B9DA0B8-3305-EA9B-D50C-133423FA16B6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>
                  <a:solidFill>
                    <a:schemeClr val="bg1"/>
                  </a:solidFill>
                  <a:latin typeface="Helvetica" pitchFamily="2" charset="0"/>
                </a:rPr>
                <a:t>Introducción al </a:t>
              </a:r>
              <a:br>
                <a:rPr lang="es-ES">
                  <a:solidFill>
                    <a:schemeClr val="bg1"/>
                  </a:solidFill>
                  <a:latin typeface="Helvetica" pitchFamily="2" charset="0"/>
                </a:rPr>
              </a:br>
              <a:r>
                <a:rPr lang="es-ES">
                  <a:solidFill>
                    <a:schemeClr val="bg1"/>
                  </a:solidFill>
                  <a:latin typeface="Helvetica" pitchFamily="2" charset="0"/>
                </a:rPr>
                <a:t>lenguaje Java</a:t>
              </a:r>
              <a:endParaRPr lang="en-US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E719D950-4EA4-CB17-5AF9-0E716D1D0C97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>
                  <a:solidFill>
                    <a:schemeClr val="bg1"/>
                  </a:solidFill>
                  <a:latin typeface="Helvetica" pitchFamily="2" charset="0"/>
                </a:rPr>
                <a:t>3</a:t>
              </a:r>
              <a:endParaRPr lang="en-US" sz="6000" b="1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5DB44CEB-5449-91C4-4D8C-947E50150B6A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B25B4B5B-713C-2D58-C773-D4CFF9997391}"/>
              </a:ext>
            </a:extLst>
          </p:cNvPr>
          <p:cNvGrpSpPr/>
          <p:nvPr/>
        </p:nvGrpSpPr>
        <p:grpSpPr>
          <a:xfrm>
            <a:off x="1955128" y="3561599"/>
            <a:ext cx="4629752" cy="1015663"/>
            <a:chOff x="924025" y="1526961"/>
            <a:chExt cx="4629752" cy="1015663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D5F2FB8B-07D6-48FB-E370-38EA16365289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BA750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728AFDEB-1E73-3FEA-2DFF-DBAF08C0A2B6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>
                  <a:solidFill>
                    <a:schemeClr val="bg1"/>
                  </a:solidFill>
                  <a:latin typeface="Helvetica" pitchFamily="2" charset="0"/>
                </a:rPr>
                <a:t>Entorno de desarrollo y ejecución Java</a:t>
              </a:r>
              <a:endParaRPr lang="en-US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302F77E9-2E11-217F-40EC-8E3C7703B3BB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>
                  <a:solidFill>
                    <a:schemeClr val="bg1"/>
                  </a:solidFill>
                  <a:latin typeface="Helvetica" pitchFamily="2" charset="0"/>
                </a:rPr>
                <a:t>4</a:t>
              </a:r>
              <a:endParaRPr lang="en-US" sz="6000" b="1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369D5F82-C60A-5B84-5E19-A1B153065B8D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20E7D35A-999B-BEC3-A1FE-83D4A699084C}"/>
              </a:ext>
            </a:extLst>
          </p:cNvPr>
          <p:cNvGrpSpPr/>
          <p:nvPr/>
        </p:nvGrpSpPr>
        <p:grpSpPr>
          <a:xfrm>
            <a:off x="1955128" y="4451144"/>
            <a:ext cx="4629752" cy="1015663"/>
            <a:chOff x="924025" y="1526961"/>
            <a:chExt cx="4629752" cy="1015663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EDE43D48-A8F8-0DF2-1001-D5FDD5FF2C6B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8F2A2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C2BEA270-D0DD-E83C-8505-88C9D29A50BF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>
                  <a:solidFill>
                    <a:schemeClr val="bg1"/>
                  </a:solidFill>
                  <a:latin typeface="Helvetica" pitchFamily="2" charset="0"/>
                </a:rPr>
                <a:t>Compilación y </a:t>
              </a:r>
              <a:br>
                <a:rPr lang="es-ES">
                  <a:solidFill>
                    <a:schemeClr val="bg1"/>
                  </a:solidFill>
                  <a:latin typeface="Helvetica" pitchFamily="2" charset="0"/>
                </a:rPr>
              </a:br>
              <a:r>
                <a:rPr lang="es-ES">
                  <a:solidFill>
                    <a:schemeClr val="bg1"/>
                  </a:solidFill>
                  <a:latin typeface="Helvetica" pitchFamily="2" charset="0"/>
                </a:rPr>
                <a:t>ejecución</a:t>
              </a:r>
              <a:endParaRPr lang="en-US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650D84CE-F32A-1F88-1274-CAA8D6234924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>
                  <a:solidFill>
                    <a:schemeClr val="bg1"/>
                  </a:solidFill>
                  <a:latin typeface="Helvetica" pitchFamily="2" charset="0"/>
                </a:rPr>
                <a:t>5</a:t>
              </a:r>
              <a:endParaRPr lang="en-US" sz="6000" b="1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81D92532-6B25-E809-E479-70119D6AA69E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1EA7DF23-1534-8674-0364-FDC45E5DD81C}"/>
              </a:ext>
            </a:extLst>
          </p:cNvPr>
          <p:cNvGrpSpPr/>
          <p:nvPr/>
        </p:nvGrpSpPr>
        <p:grpSpPr>
          <a:xfrm>
            <a:off x="1955128" y="5340687"/>
            <a:ext cx="4629752" cy="1015663"/>
            <a:chOff x="924025" y="1526961"/>
            <a:chExt cx="4629752" cy="1015663"/>
          </a:xfrm>
        </p:grpSpPr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A13A47C2-3050-70BF-03DC-CCA7B4126952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AD94C077-B4AA-B319-24D7-C5B1DE74BBDB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>
                  <a:solidFill>
                    <a:schemeClr val="bg1"/>
                  </a:solidFill>
                  <a:latin typeface="Helvetica" pitchFamily="2" charset="0"/>
                </a:rPr>
                <a:t>Código intermedio y </a:t>
              </a:r>
              <a:br>
                <a:rPr lang="es-ES">
                  <a:solidFill>
                    <a:schemeClr val="bg1"/>
                  </a:solidFill>
                  <a:latin typeface="Helvetica" pitchFamily="2" charset="0"/>
                </a:rPr>
              </a:br>
              <a:r>
                <a:rPr lang="es-ES">
                  <a:solidFill>
                    <a:schemeClr val="bg1"/>
                  </a:solidFill>
                  <a:latin typeface="Helvetica" pitchFamily="2" charset="0"/>
                </a:rPr>
                <a:t>JVM</a:t>
              </a:r>
              <a:endParaRPr lang="en-US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739B75E7-C4E8-816E-FBEB-C8DC5FFDC85F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>
                  <a:solidFill>
                    <a:schemeClr val="bg1"/>
                  </a:solidFill>
                  <a:latin typeface="Helvetica" pitchFamily="2" charset="0"/>
                </a:rPr>
                <a:t>6</a:t>
              </a:r>
              <a:endParaRPr lang="en-US" sz="6000" b="1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ECF212AE-2B6A-DF71-7FC5-AE34B93BB598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4BEE2914-3C25-D19B-57C0-F6E598922A1E}"/>
              </a:ext>
            </a:extLst>
          </p:cNvPr>
          <p:cNvGrpSpPr/>
          <p:nvPr/>
        </p:nvGrpSpPr>
        <p:grpSpPr>
          <a:xfrm>
            <a:off x="6724048" y="892964"/>
            <a:ext cx="4629752" cy="1015663"/>
            <a:chOff x="924025" y="1526961"/>
            <a:chExt cx="4629752" cy="1015663"/>
          </a:xfrm>
        </p:grpSpPr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069C6825-69EA-8D72-4345-309D24E6D675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39F07254-1903-E065-8A8C-CBBABBCAA893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>
                  <a:solidFill>
                    <a:schemeClr val="bg1"/>
                  </a:solidFill>
                  <a:latin typeface="Helvetica" pitchFamily="2" charset="0"/>
                </a:rPr>
                <a:t>Clase principal y método </a:t>
              </a:r>
              <a:r>
                <a:rPr lang="es-ES" err="1">
                  <a:solidFill>
                    <a:schemeClr val="bg1"/>
                  </a:solidFill>
                  <a:latin typeface="Helvetica" pitchFamily="2" charset="0"/>
                </a:rPr>
                <a:t>main</a:t>
              </a:r>
              <a:endParaRPr lang="en-US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40F6FA04-8D92-0B29-3784-F4044CE9F110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>
                  <a:solidFill>
                    <a:schemeClr val="bg1"/>
                  </a:solidFill>
                  <a:latin typeface="Helvetica" pitchFamily="2" charset="0"/>
                </a:rPr>
                <a:t>7</a:t>
              </a:r>
              <a:endParaRPr lang="en-US" sz="6000" b="1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959003DD-D67B-3D2D-7CDF-D9E1CE9AA9B3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6B32F08B-E599-8764-EE5E-B3C48CE274CF}"/>
              </a:ext>
            </a:extLst>
          </p:cNvPr>
          <p:cNvSpPr txBox="1"/>
          <p:nvPr/>
        </p:nvSpPr>
        <p:spPr>
          <a:xfrm rot="16200000">
            <a:off x="-1552306" y="2760043"/>
            <a:ext cx="5599610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8800" b="1">
                <a:solidFill>
                  <a:schemeClr val="bg1">
                    <a:lumMod val="85000"/>
                  </a:schemeClr>
                </a:solidFill>
                <a:latin typeface="Helvetica" pitchFamily="2" charset="0"/>
              </a:rPr>
              <a:t>contenido</a:t>
            </a:r>
            <a:endParaRPr lang="en-US" sz="8800" b="1">
              <a:solidFill>
                <a:schemeClr val="bg1">
                  <a:lumMod val="85000"/>
                </a:schemeClr>
              </a:solidFill>
              <a:latin typeface="Helvetica" pitchFamily="2" charset="0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6D8EC2C4-D534-A87E-5305-9BD92B9838D9}"/>
              </a:ext>
            </a:extLst>
          </p:cNvPr>
          <p:cNvGrpSpPr/>
          <p:nvPr/>
        </p:nvGrpSpPr>
        <p:grpSpPr>
          <a:xfrm>
            <a:off x="1955128" y="892964"/>
            <a:ext cx="4629752" cy="1015663"/>
            <a:chOff x="924025" y="1526961"/>
            <a:chExt cx="4629752" cy="1015663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AFE41E11-2903-D4AD-BABB-046EDBE4AABD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1B5E8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AFB12F7A-F286-0B30-D30E-E9A916CC839B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>
                  <a:solidFill>
                    <a:schemeClr val="bg1"/>
                  </a:solidFill>
                  <a:latin typeface="Helvetica" pitchFamily="2" charset="0"/>
                </a:rPr>
                <a:t>Introducción a los lenguajes de programación</a:t>
              </a:r>
              <a:endParaRPr lang="en-US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93EEA1CE-79B2-915B-2C77-2F1212A1BF67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>
                  <a:solidFill>
                    <a:schemeClr val="bg1"/>
                  </a:solidFill>
                  <a:latin typeface="Helvetica" pitchFamily="2" charset="0"/>
                </a:rPr>
                <a:t>1</a:t>
              </a:r>
              <a:endParaRPr lang="en-US" sz="6000" b="1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830C6426-CF18-244B-D9EC-4576E393467C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" name="Rectangle 3">
            <a:extLst>
              <a:ext uri="{FF2B5EF4-FFF2-40B4-BE49-F238E27FC236}">
                <a16:creationId xmlns:a16="http://schemas.microsoft.com/office/drawing/2014/main" id="{5F0AD512-DC53-811E-0839-3807ECBC949B}"/>
              </a:ext>
            </a:extLst>
          </p:cNvPr>
          <p:cNvSpPr/>
          <p:nvPr/>
        </p:nvSpPr>
        <p:spPr>
          <a:xfrm>
            <a:off x="1801640" y="683513"/>
            <a:ext cx="9678154" cy="5599610"/>
          </a:xfrm>
          <a:prstGeom prst="rect">
            <a:avLst/>
          </a:prstGeom>
          <a:solidFill>
            <a:schemeClr val="bg1">
              <a:alpha val="8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1" name="Group 60">
            <a:extLst>
              <a:ext uri="{FF2B5EF4-FFF2-40B4-BE49-F238E27FC236}">
                <a16:creationId xmlns:a16="http://schemas.microsoft.com/office/drawing/2014/main" id="{2F7FF393-76F8-D1B5-F182-6CD4B6974EF6}"/>
              </a:ext>
            </a:extLst>
          </p:cNvPr>
          <p:cNvGrpSpPr/>
          <p:nvPr/>
        </p:nvGrpSpPr>
        <p:grpSpPr>
          <a:xfrm>
            <a:off x="1955128" y="1782509"/>
            <a:ext cx="4629752" cy="1015663"/>
            <a:chOff x="924025" y="1526961"/>
            <a:chExt cx="4629752" cy="1015663"/>
          </a:xfrm>
        </p:grpSpPr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1C7CA0FF-6575-8A07-35E5-5AC4DEBEF238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0E7D7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B59912DA-5350-B1A4-5DD4-B9FE8DABD1B4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>
                  <a:solidFill>
                    <a:schemeClr val="bg1"/>
                  </a:solidFill>
                  <a:latin typeface="Helvetica" pitchFamily="2" charset="0"/>
                </a:rPr>
                <a:t>Compiladores e</a:t>
              </a:r>
            </a:p>
            <a:p>
              <a:r>
                <a:rPr lang="es-ES">
                  <a:solidFill>
                    <a:schemeClr val="bg1"/>
                  </a:solidFill>
                  <a:latin typeface="Helvetica" pitchFamily="2" charset="0"/>
                </a:rPr>
                <a:t>Intérpretes</a:t>
              </a:r>
              <a:endParaRPr lang="en-US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B7D8A7AB-4837-FD39-D572-9F0EC7A327DD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>
                  <a:solidFill>
                    <a:schemeClr val="bg1"/>
                  </a:solidFill>
                  <a:latin typeface="Helvetica" pitchFamily="2" charset="0"/>
                </a:rPr>
                <a:t>2</a:t>
              </a:r>
              <a:endParaRPr lang="en-US" sz="6000" b="1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0E7198D2-8E2B-A71E-C55D-6A627E4EE750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1691842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E61DA8-DC25-0B7C-70F1-97A05F5E99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Compilador</a:t>
            </a:r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2F0B796-4188-1F1A-A81A-B50AF016802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15</a:t>
            </a:fld>
            <a:endParaRPr lang="es-P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07C73B-EEBF-2A4F-DCF7-EEFCA5A9E13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38200" y="1846263"/>
            <a:ext cx="10515600" cy="1431091"/>
          </a:xfrm>
        </p:spPr>
        <p:txBody>
          <a:bodyPr/>
          <a:lstStyle/>
          <a:p>
            <a:r>
              <a:rPr lang="es-ES"/>
              <a:t>Un </a:t>
            </a:r>
            <a:r>
              <a:rPr lang="es-ES" b="1">
                <a:solidFill>
                  <a:schemeClr val="accent2"/>
                </a:solidFill>
              </a:rPr>
              <a:t>compilador</a:t>
            </a:r>
            <a:r>
              <a:rPr lang="es-ES"/>
              <a:t> es un </a:t>
            </a:r>
            <a:r>
              <a:rPr lang="es-ES" b="1">
                <a:solidFill>
                  <a:schemeClr val="accent2"/>
                </a:solidFill>
              </a:rPr>
              <a:t>programa</a:t>
            </a:r>
            <a:r>
              <a:rPr lang="es-ES"/>
              <a:t> que </a:t>
            </a:r>
            <a:r>
              <a:rPr lang="es-ES" b="1">
                <a:solidFill>
                  <a:schemeClr val="accent2"/>
                </a:solidFill>
              </a:rPr>
              <a:t>traduce</a:t>
            </a:r>
            <a:r>
              <a:rPr lang="es-ES"/>
              <a:t> el </a:t>
            </a:r>
            <a:r>
              <a:rPr lang="es-ES" b="1">
                <a:solidFill>
                  <a:schemeClr val="accent2"/>
                </a:solidFill>
              </a:rPr>
              <a:t>código</a:t>
            </a:r>
            <a:r>
              <a:rPr lang="es-ES"/>
              <a:t> de un programa a </a:t>
            </a:r>
            <a:r>
              <a:rPr lang="es-ES" b="1">
                <a:solidFill>
                  <a:schemeClr val="accent2"/>
                </a:solidFill>
              </a:rPr>
              <a:t>lenguaje máquina</a:t>
            </a:r>
            <a:r>
              <a:rPr lang="es-ES"/>
              <a:t>.</a:t>
            </a:r>
            <a:endParaRPr lang="en-US"/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2537B8FF-26BB-0308-E2BC-60AAA125EEED}"/>
              </a:ext>
            </a:extLst>
          </p:cNvPr>
          <p:cNvGrpSpPr/>
          <p:nvPr/>
        </p:nvGrpSpPr>
        <p:grpSpPr>
          <a:xfrm>
            <a:off x="2072651" y="3271045"/>
            <a:ext cx="8473556" cy="3091615"/>
            <a:chOff x="2733554" y="3286785"/>
            <a:chExt cx="8473556" cy="3091615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362499C4-668D-96A8-A0A7-8CEC13C87FE8}"/>
                </a:ext>
              </a:extLst>
            </p:cNvPr>
            <p:cNvSpPr/>
            <p:nvPr/>
          </p:nvSpPr>
          <p:spPr>
            <a:xfrm>
              <a:off x="4865878" y="3649694"/>
              <a:ext cx="2427048" cy="1944232"/>
            </a:xfrm>
            <a:prstGeom prst="roundRect">
              <a:avLst>
                <a:gd name="adj" fmla="val 6888"/>
              </a:avLst>
            </a:prstGeom>
            <a:solidFill>
              <a:srgbClr val="57D3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DB5AB800-CCD2-9289-4396-7FC0D85C91F8}"/>
                </a:ext>
              </a:extLst>
            </p:cNvPr>
            <p:cNvSpPr txBox="1"/>
            <p:nvPr/>
          </p:nvSpPr>
          <p:spPr>
            <a:xfrm>
              <a:off x="5225202" y="3286785"/>
              <a:ext cx="179258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/>
                <a:t>Compilador</a:t>
              </a:r>
              <a:endParaRPr lang="en-US"/>
            </a:p>
          </p:txBody>
        </p: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FD8406E4-B480-1D97-4306-C26985CA3D41}"/>
                </a:ext>
              </a:extLst>
            </p:cNvPr>
            <p:cNvGrpSpPr/>
            <p:nvPr/>
          </p:nvGrpSpPr>
          <p:grpSpPr>
            <a:xfrm>
              <a:off x="3114675" y="4002188"/>
              <a:ext cx="1011891" cy="1239245"/>
              <a:chOff x="4627841" y="1853046"/>
              <a:chExt cx="1011891" cy="1239245"/>
            </a:xfrm>
          </p:grpSpPr>
          <p:sp>
            <p:nvSpPr>
              <p:cNvPr id="8" name="Freeform: Shape 7">
                <a:extLst>
                  <a:ext uri="{FF2B5EF4-FFF2-40B4-BE49-F238E27FC236}">
                    <a16:creationId xmlns:a16="http://schemas.microsoft.com/office/drawing/2014/main" id="{59F1C5EE-084D-A5C8-C085-39F166BECEC4}"/>
                  </a:ext>
                </a:extLst>
              </p:cNvPr>
              <p:cNvSpPr/>
              <p:nvPr/>
            </p:nvSpPr>
            <p:spPr>
              <a:xfrm>
                <a:off x="4627841" y="1853046"/>
                <a:ext cx="1011891" cy="1239245"/>
              </a:xfrm>
              <a:custGeom>
                <a:avLst/>
                <a:gdLst>
                  <a:gd name="connsiteX0" fmla="*/ 549430 w 1493823"/>
                  <a:gd name="connsiteY0" fmla="*/ 0 h 1829457"/>
                  <a:gd name="connsiteX1" fmla="*/ 1244848 w 1493823"/>
                  <a:gd name="connsiteY1" fmla="*/ 0 h 1829457"/>
                  <a:gd name="connsiteX2" fmla="*/ 1493823 w 1493823"/>
                  <a:gd name="connsiteY2" fmla="*/ 248975 h 1829457"/>
                  <a:gd name="connsiteX3" fmla="*/ 1493823 w 1493823"/>
                  <a:gd name="connsiteY3" fmla="*/ 1580482 h 1829457"/>
                  <a:gd name="connsiteX4" fmla="*/ 1244848 w 1493823"/>
                  <a:gd name="connsiteY4" fmla="*/ 1829457 h 1829457"/>
                  <a:gd name="connsiteX5" fmla="*/ 248975 w 1493823"/>
                  <a:gd name="connsiteY5" fmla="*/ 1829457 h 1829457"/>
                  <a:gd name="connsiteX6" fmla="*/ 0 w 1493823"/>
                  <a:gd name="connsiteY6" fmla="*/ 1580482 h 1829457"/>
                  <a:gd name="connsiteX7" fmla="*/ 0 w 1493823"/>
                  <a:gd name="connsiteY7" fmla="*/ 549430 h 18294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493823" h="1829457">
                    <a:moveTo>
                      <a:pt x="549430" y="0"/>
                    </a:moveTo>
                    <a:lnTo>
                      <a:pt x="1244848" y="0"/>
                    </a:lnTo>
                    <a:cubicBezTo>
                      <a:pt x="1382353" y="0"/>
                      <a:pt x="1493823" y="111470"/>
                      <a:pt x="1493823" y="248975"/>
                    </a:cubicBezTo>
                    <a:lnTo>
                      <a:pt x="1493823" y="1580482"/>
                    </a:lnTo>
                    <a:cubicBezTo>
                      <a:pt x="1493823" y="1717987"/>
                      <a:pt x="1382353" y="1829457"/>
                      <a:pt x="1244848" y="1829457"/>
                    </a:cubicBezTo>
                    <a:lnTo>
                      <a:pt x="248975" y="1829457"/>
                    </a:lnTo>
                    <a:cubicBezTo>
                      <a:pt x="111470" y="1829457"/>
                      <a:pt x="0" y="1717987"/>
                      <a:pt x="0" y="1580482"/>
                    </a:cubicBezTo>
                    <a:lnTo>
                      <a:pt x="0" y="549430"/>
                    </a:lnTo>
                    <a:close/>
                  </a:path>
                </a:pathLst>
              </a:cu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9" name="Freeform: Shape 8">
                <a:extLst>
                  <a:ext uri="{FF2B5EF4-FFF2-40B4-BE49-F238E27FC236}">
                    <a16:creationId xmlns:a16="http://schemas.microsoft.com/office/drawing/2014/main" id="{6A13051C-10A3-13ED-0769-03BAA652E3AA}"/>
                  </a:ext>
                </a:extLst>
              </p:cNvPr>
              <p:cNvSpPr/>
              <p:nvPr/>
            </p:nvSpPr>
            <p:spPr>
              <a:xfrm rot="16200000">
                <a:off x="4633092" y="1853258"/>
                <a:ext cx="365733" cy="369436"/>
              </a:xfrm>
              <a:custGeom>
                <a:avLst/>
                <a:gdLst>
                  <a:gd name="connsiteX0" fmla="*/ 539919 w 539919"/>
                  <a:gd name="connsiteY0" fmla="*/ 532111 h 545387"/>
                  <a:gd name="connsiteX1" fmla="*/ 539919 w 539919"/>
                  <a:gd name="connsiteY1" fmla="*/ 545387 h 545387"/>
                  <a:gd name="connsiteX2" fmla="*/ 248975 w 539919"/>
                  <a:gd name="connsiteY2" fmla="*/ 545387 h 545387"/>
                  <a:gd name="connsiteX3" fmla="*/ 0 w 539919"/>
                  <a:gd name="connsiteY3" fmla="*/ 296412 h 545387"/>
                  <a:gd name="connsiteX4" fmla="*/ 0 w 539919"/>
                  <a:gd name="connsiteY4" fmla="*/ 0 h 545387"/>
                  <a:gd name="connsiteX5" fmla="*/ 7808 w 539919"/>
                  <a:gd name="connsiteY5" fmla="*/ 0 h 5453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539919" h="545387">
                    <a:moveTo>
                      <a:pt x="539919" y="532111"/>
                    </a:moveTo>
                    <a:lnTo>
                      <a:pt x="539919" y="545387"/>
                    </a:lnTo>
                    <a:lnTo>
                      <a:pt x="248975" y="545387"/>
                    </a:lnTo>
                    <a:cubicBezTo>
                      <a:pt x="111470" y="545387"/>
                      <a:pt x="0" y="433917"/>
                      <a:pt x="0" y="296412"/>
                    </a:cubicBezTo>
                    <a:lnTo>
                      <a:pt x="0" y="0"/>
                    </a:lnTo>
                    <a:lnTo>
                      <a:pt x="7808" y="0"/>
                    </a:lnTo>
                    <a:close/>
                  </a:path>
                </a:pathLst>
              </a:custGeom>
              <a:solidFill>
                <a:srgbClr val="00B0F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0" name="Rectangle: Rounded Corners 9">
                <a:extLst>
                  <a:ext uri="{FF2B5EF4-FFF2-40B4-BE49-F238E27FC236}">
                    <a16:creationId xmlns:a16="http://schemas.microsoft.com/office/drawing/2014/main" id="{1156E184-214F-C529-BCC0-385BD7347971}"/>
                  </a:ext>
                </a:extLst>
              </p:cNvPr>
              <p:cNvSpPr/>
              <p:nvPr/>
            </p:nvSpPr>
            <p:spPr>
              <a:xfrm>
                <a:off x="4818846" y="2316863"/>
                <a:ext cx="369436" cy="73988"/>
              </a:xfrm>
              <a:prstGeom prst="roundRect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0F6D277C-99AC-CA33-1CDA-83C323E45809}"/>
                  </a:ext>
                </a:extLst>
              </p:cNvPr>
              <p:cNvSpPr/>
              <p:nvPr/>
            </p:nvSpPr>
            <p:spPr>
              <a:xfrm>
                <a:off x="4952913" y="2445646"/>
                <a:ext cx="369436" cy="73988"/>
              </a:xfrm>
              <a:prstGeom prst="roundRect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Rectangle: Rounded Corners 11">
                <a:extLst>
                  <a:ext uri="{FF2B5EF4-FFF2-40B4-BE49-F238E27FC236}">
                    <a16:creationId xmlns:a16="http://schemas.microsoft.com/office/drawing/2014/main" id="{3F6D4CB2-009A-A6C8-70D7-3E356A1617E3}"/>
                  </a:ext>
                </a:extLst>
              </p:cNvPr>
              <p:cNvSpPr/>
              <p:nvPr/>
            </p:nvSpPr>
            <p:spPr>
              <a:xfrm>
                <a:off x="4952913" y="2574430"/>
                <a:ext cx="369436" cy="73988"/>
              </a:xfrm>
              <a:prstGeom prst="roundRect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Rectangle: Rounded Corners 12">
                <a:extLst>
                  <a:ext uri="{FF2B5EF4-FFF2-40B4-BE49-F238E27FC236}">
                    <a16:creationId xmlns:a16="http://schemas.microsoft.com/office/drawing/2014/main" id="{440B74AE-E884-1117-7EAF-DC794AA35CF3}"/>
                  </a:ext>
                </a:extLst>
              </p:cNvPr>
              <p:cNvSpPr/>
              <p:nvPr/>
            </p:nvSpPr>
            <p:spPr>
              <a:xfrm>
                <a:off x="4952912" y="2703214"/>
                <a:ext cx="494502" cy="73988"/>
              </a:xfrm>
              <a:prstGeom prst="roundRect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" name="Rectangle: Rounded Corners 13">
                <a:extLst>
                  <a:ext uri="{FF2B5EF4-FFF2-40B4-BE49-F238E27FC236}">
                    <a16:creationId xmlns:a16="http://schemas.microsoft.com/office/drawing/2014/main" id="{2455CA3A-B02E-25BB-30D5-1DF1FBD27931}"/>
                  </a:ext>
                </a:extLst>
              </p:cNvPr>
              <p:cNvSpPr/>
              <p:nvPr/>
            </p:nvSpPr>
            <p:spPr>
              <a:xfrm>
                <a:off x="4858627" y="2831997"/>
                <a:ext cx="494502" cy="73988"/>
              </a:xfrm>
              <a:prstGeom prst="roundRect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7DB44E52-67BC-E048-3FF2-FD8146249DD3}"/>
                </a:ext>
              </a:extLst>
            </p:cNvPr>
            <p:cNvGrpSpPr/>
            <p:nvPr/>
          </p:nvGrpSpPr>
          <p:grpSpPr>
            <a:xfrm>
              <a:off x="8075055" y="4002188"/>
              <a:ext cx="1011891" cy="1239245"/>
              <a:chOff x="6520301" y="4254261"/>
              <a:chExt cx="1011891" cy="1239245"/>
            </a:xfrm>
          </p:grpSpPr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90A85903-BE21-12EB-6929-8EA174AA1A8B}"/>
                  </a:ext>
                </a:extLst>
              </p:cNvPr>
              <p:cNvSpPr/>
              <p:nvPr/>
            </p:nvSpPr>
            <p:spPr>
              <a:xfrm>
                <a:off x="6520301" y="4254261"/>
                <a:ext cx="1011891" cy="1239245"/>
              </a:xfrm>
              <a:custGeom>
                <a:avLst/>
                <a:gdLst>
                  <a:gd name="connsiteX0" fmla="*/ 549430 w 1493823"/>
                  <a:gd name="connsiteY0" fmla="*/ 0 h 1829457"/>
                  <a:gd name="connsiteX1" fmla="*/ 1244848 w 1493823"/>
                  <a:gd name="connsiteY1" fmla="*/ 0 h 1829457"/>
                  <a:gd name="connsiteX2" fmla="*/ 1493823 w 1493823"/>
                  <a:gd name="connsiteY2" fmla="*/ 248975 h 1829457"/>
                  <a:gd name="connsiteX3" fmla="*/ 1493823 w 1493823"/>
                  <a:gd name="connsiteY3" fmla="*/ 1580482 h 1829457"/>
                  <a:gd name="connsiteX4" fmla="*/ 1244848 w 1493823"/>
                  <a:gd name="connsiteY4" fmla="*/ 1829457 h 1829457"/>
                  <a:gd name="connsiteX5" fmla="*/ 248975 w 1493823"/>
                  <a:gd name="connsiteY5" fmla="*/ 1829457 h 1829457"/>
                  <a:gd name="connsiteX6" fmla="*/ 0 w 1493823"/>
                  <a:gd name="connsiteY6" fmla="*/ 1580482 h 1829457"/>
                  <a:gd name="connsiteX7" fmla="*/ 0 w 1493823"/>
                  <a:gd name="connsiteY7" fmla="*/ 549430 h 18294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493823" h="1829457">
                    <a:moveTo>
                      <a:pt x="549430" y="0"/>
                    </a:moveTo>
                    <a:lnTo>
                      <a:pt x="1244848" y="0"/>
                    </a:lnTo>
                    <a:cubicBezTo>
                      <a:pt x="1382353" y="0"/>
                      <a:pt x="1493823" y="111470"/>
                      <a:pt x="1493823" y="248975"/>
                    </a:cubicBezTo>
                    <a:lnTo>
                      <a:pt x="1493823" y="1580482"/>
                    </a:lnTo>
                    <a:cubicBezTo>
                      <a:pt x="1493823" y="1717987"/>
                      <a:pt x="1382353" y="1829457"/>
                      <a:pt x="1244848" y="1829457"/>
                    </a:cubicBezTo>
                    <a:lnTo>
                      <a:pt x="248975" y="1829457"/>
                    </a:lnTo>
                    <a:cubicBezTo>
                      <a:pt x="111470" y="1829457"/>
                      <a:pt x="0" y="1717987"/>
                      <a:pt x="0" y="1580482"/>
                    </a:cubicBezTo>
                    <a:lnTo>
                      <a:pt x="0" y="549430"/>
                    </a:lnTo>
                    <a:close/>
                  </a:path>
                </a:pathLst>
              </a:cu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0C4928BC-C743-0860-BDB8-4FD42BDFE4E0}"/>
                  </a:ext>
                </a:extLst>
              </p:cNvPr>
              <p:cNvSpPr/>
              <p:nvPr/>
            </p:nvSpPr>
            <p:spPr>
              <a:xfrm rot="16200000">
                <a:off x="6525552" y="4254473"/>
                <a:ext cx="365733" cy="369436"/>
              </a:xfrm>
              <a:custGeom>
                <a:avLst/>
                <a:gdLst>
                  <a:gd name="connsiteX0" fmla="*/ 539919 w 539919"/>
                  <a:gd name="connsiteY0" fmla="*/ 532111 h 545387"/>
                  <a:gd name="connsiteX1" fmla="*/ 539919 w 539919"/>
                  <a:gd name="connsiteY1" fmla="*/ 545387 h 545387"/>
                  <a:gd name="connsiteX2" fmla="*/ 248975 w 539919"/>
                  <a:gd name="connsiteY2" fmla="*/ 545387 h 545387"/>
                  <a:gd name="connsiteX3" fmla="*/ 0 w 539919"/>
                  <a:gd name="connsiteY3" fmla="*/ 296412 h 545387"/>
                  <a:gd name="connsiteX4" fmla="*/ 0 w 539919"/>
                  <a:gd name="connsiteY4" fmla="*/ 0 h 545387"/>
                  <a:gd name="connsiteX5" fmla="*/ 7808 w 539919"/>
                  <a:gd name="connsiteY5" fmla="*/ 0 h 5453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539919" h="545387">
                    <a:moveTo>
                      <a:pt x="539919" y="532111"/>
                    </a:moveTo>
                    <a:lnTo>
                      <a:pt x="539919" y="545387"/>
                    </a:lnTo>
                    <a:lnTo>
                      <a:pt x="248975" y="545387"/>
                    </a:lnTo>
                    <a:cubicBezTo>
                      <a:pt x="111470" y="545387"/>
                      <a:pt x="0" y="433917"/>
                      <a:pt x="0" y="296412"/>
                    </a:cubicBezTo>
                    <a:lnTo>
                      <a:pt x="0" y="0"/>
                    </a:lnTo>
                    <a:lnTo>
                      <a:pt x="7808" y="0"/>
                    </a:lnTo>
                    <a:close/>
                  </a:path>
                </a:pathLst>
              </a:custGeom>
              <a:solidFill>
                <a:srgbClr val="00B0F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61564A2A-A268-E130-E1A1-E1BF3D9FE987}"/>
                  </a:ext>
                </a:extLst>
              </p:cNvPr>
              <p:cNvSpPr txBox="1"/>
              <p:nvPr/>
            </p:nvSpPr>
            <p:spPr>
              <a:xfrm>
                <a:off x="6616186" y="4677083"/>
                <a:ext cx="824996" cy="6410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ES" sz="1200">
                    <a:solidFill>
                      <a:srgbClr val="00B0F0"/>
                    </a:solidFill>
                  </a:rPr>
                  <a:t>101000101011010101010</a:t>
                </a:r>
                <a:endParaRPr lang="en-US" sz="1200">
                  <a:solidFill>
                    <a:srgbClr val="00B0F0"/>
                  </a:solidFill>
                </a:endParaRPr>
              </a:p>
            </p:txBody>
          </p:sp>
        </p:grpSp>
        <p:sp>
          <p:nvSpPr>
            <p:cNvPr id="19" name="Arrow: Down 18">
              <a:extLst>
                <a:ext uri="{FF2B5EF4-FFF2-40B4-BE49-F238E27FC236}">
                  <a16:creationId xmlns:a16="http://schemas.microsoft.com/office/drawing/2014/main" id="{D78FC50A-8293-E988-B900-A60BBEAFA93C}"/>
                </a:ext>
              </a:extLst>
            </p:cNvPr>
            <p:cNvSpPr/>
            <p:nvPr/>
          </p:nvSpPr>
          <p:spPr>
            <a:xfrm rot="16200000">
              <a:off x="4648217" y="4329152"/>
              <a:ext cx="259132" cy="585317"/>
            </a:xfrm>
            <a:prstGeom prst="downArrow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Arrow: Down 19">
              <a:extLst>
                <a:ext uri="{FF2B5EF4-FFF2-40B4-BE49-F238E27FC236}">
                  <a16:creationId xmlns:a16="http://schemas.microsoft.com/office/drawing/2014/main" id="{D1322846-015D-D55F-5EDD-3E01276DEDAF}"/>
                </a:ext>
              </a:extLst>
            </p:cNvPr>
            <p:cNvSpPr/>
            <p:nvPr/>
          </p:nvSpPr>
          <p:spPr>
            <a:xfrm rot="16200000">
              <a:off x="7354065" y="4329152"/>
              <a:ext cx="259132" cy="585317"/>
            </a:xfrm>
            <a:prstGeom prst="downArrow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E5DFC8BA-26F1-5271-326B-6C5F95A255F9}"/>
                </a:ext>
              </a:extLst>
            </p:cNvPr>
            <p:cNvGrpSpPr/>
            <p:nvPr/>
          </p:nvGrpSpPr>
          <p:grpSpPr>
            <a:xfrm>
              <a:off x="5264745" y="3755968"/>
              <a:ext cx="1753044" cy="1731684"/>
              <a:chOff x="5509281" y="4412291"/>
              <a:chExt cx="1236037" cy="1220977"/>
            </a:xfrm>
          </p:grpSpPr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41D9FC7B-A6ED-2FB7-E02F-C4EAC3EA1710}"/>
                  </a:ext>
                </a:extLst>
              </p:cNvPr>
              <p:cNvSpPr/>
              <p:nvPr/>
            </p:nvSpPr>
            <p:spPr>
              <a:xfrm>
                <a:off x="5612005" y="4515015"/>
                <a:ext cx="1030591" cy="1015531"/>
              </a:xfrm>
              <a:prstGeom prst="ellipse">
                <a:avLst/>
              </a:prstGeom>
              <a:solidFill>
                <a:srgbClr val="00B0F0"/>
              </a:solidFill>
              <a:ln w="381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" name="Arrow: Chevron 21">
                <a:extLst>
                  <a:ext uri="{FF2B5EF4-FFF2-40B4-BE49-F238E27FC236}">
                    <a16:creationId xmlns:a16="http://schemas.microsoft.com/office/drawing/2014/main" id="{B1B6B6A7-55D3-B205-ABB0-5B9427A4407C}"/>
                  </a:ext>
                </a:extLst>
              </p:cNvPr>
              <p:cNvSpPr/>
              <p:nvPr/>
            </p:nvSpPr>
            <p:spPr>
              <a:xfrm>
                <a:off x="6076228" y="4412291"/>
                <a:ext cx="102142" cy="205446"/>
              </a:xfrm>
              <a:prstGeom prst="chevron">
                <a:avLst>
                  <a:gd name="adj" fmla="val 77907"/>
                </a:avLst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3" name="Arrow: Chevron 22">
                <a:extLst>
                  <a:ext uri="{FF2B5EF4-FFF2-40B4-BE49-F238E27FC236}">
                    <a16:creationId xmlns:a16="http://schemas.microsoft.com/office/drawing/2014/main" id="{7A18595D-A4F2-7732-AC61-EF277E2E7E5E}"/>
                  </a:ext>
                </a:extLst>
              </p:cNvPr>
              <p:cNvSpPr/>
              <p:nvPr/>
            </p:nvSpPr>
            <p:spPr>
              <a:xfrm flipH="1">
                <a:off x="6076228" y="5427822"/>
                <a:ext cx="102142" cy="205446"/>
              </a:xfrm>
              <a:prstGeom prst="chevron">
                <a:avLst>
                  <a:gd name="adj" fmla="val 77907"/>
                </a:avLst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4" name="Arrow: Chevron 23">
                <a:extLst>
                  <a:ext uri="{FF2B5EF4-FFF2-40B4-BE49-F238E27FC236}">
                    <a16:creationId xmlns:a16="http://schemas.microsoft.com/office/drawing/2014/main" id="{FA8E422A-D149-FF3D-2E48-B16D5D2228C9}"/>
                  </a:ext>
                </a:extLst>
              </p:cNvPr>
              <p:cNvSpPr/>
              <p:nvPr/>
            </p:nvSpPr>
            <p:spPr>
              <a:xfrm rot="5400000">
                <a:off x="6591524" y="4920057"/>
                <a:ext cx="102142" cy="205446"/>
              </a:xfrm>
              <a:prstGeom prst="chevron">
                <a:avLst>
                  <a:gd name="adj" fmla="val 77907"/>
                </a:avLst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" name="Arrow: Chevron 24">
                <a:extLst>
                  <a:ext uri="{FF2B5EF4-FFF2-40B4-BE49-F238E27FC236}">
                    <a16:creationId xmlns:a16="http://schemas.microsoft.com/office/drawing/2014/main" id="{323FA843-79D4-C574-8F81-864A349332D9}"/>
                  </a:ext>
                </a:extLst>
              </p:cNvPr>
              <p:cNvSpPr/>
              <p:nvPr/>
            </p:nvSpPr>
            <p:spPr>
              <a:xfrm rot="5400000" flipH="1">
                <a:off x="5560933" y="4920056"/>
                <a:ext cx="102142" cy="205446"/>
              </a:xfrm>
              <a:prstGeom prst="chevron">
                <a:avLst>
                  <a:gd name="adj" fmla="val 77907"/>
                </a:avLst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440F9CA6-8176-E5B0-044B-C1A90DAA4047}"/>
                </a:ext>
              </a:extLst>
            </p:cNvPr>
            <p:cNvSpPr txBox="1"/>
            <p:nvPr/>
          </p:nvSpPr>
          <p:spPr>
            <a:xfrm>
              <a:off x="5252695" y="4467921"/>
              <a:ext cx="179258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>
                  <a:solidFill>
                    <a:schemeClr val="bg1"/>
                  </a:solidFill>
                </a:rPr>
                <a:t>Compilación</a:t>
              </a:r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22AE277C-2728-6A9F-718A-EAC694EBE28C}"/>
                </a:ext>
              </a:extLst>
            </p:cNvPr>
            <p:cNvSpPr txBox="1"/>
            <p:nvPr/>
          </p:nvSpPr>
          <p:spPr>
            <a:xfrm>
              <a:off x="2733554" y="5424293"/>
              <a:ext cx="1792586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/>
                <a:t>Programa fuente</a:t>
              </a:r>
            </a:p>
            <a:p>
              <a:pPr algn="ctr"/>
              <a:r>
                <a:rPr lang="es-ES"/>
                <a:t>(lenguaje de alto nivel)</a:t>
              </a:r>
              <a:endParaRPr lang="en-US"/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35CEDCB5-F9CC-0281-65E7-5483E8AB0D19}"/>
                </a:ext>
              </a:extLst>
            </p:cNvPr>
            <p:cNvSpPr txBox="1"/>
            <p:nvPr/>
          </p:nvSpPr>
          <p:spPr>
            <a:xfrm>
              <a:off x="7665860" y="5424293"/>
              <a:ext cx="1792586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/>
                <a:t>Programa ejecutable (lenguaje de bajo nivel o máquina)</a:t>
              </a:r>
              <a:endParaRPr lang="en-US"/>
            </a:p>
          </p:txBody>
        </p:sp>
        <p:sp>
          <p:nvSpPr>
            <p:cNvPr id="31" name="Rectangle: Rounded Corners 30">
              <a:extLst>
                <a:ext uri="{FF2B5EF4-FFF2-40B4-BE49-F238E27FC236}">
                  <a16:creationId xmlns:a16="http://schemas.microsoft.com/office/drawing/2014/main" id="{1F6FFD5D-79DF-5A9F-31D3-B0BC92736444}"/>
                </a:ext>
              </a:extLst>
            </p:cNvPr>
            <p:cNvSpPr/>
            <p:nvPr/>
          </p:nvSpPr>
          <p:spPr>
            <a:xfrm>
              <a:off x="9967865" y="4002188"/>
              <a:ext cx="1239245" cy="1239245"/>
            </a:xfrm>
            <a:prstGeom prst="round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/>
                <a:t>Salida</a:t>
              </a:r>
              <a:endParaRPr lang="en-US"/>
            </a:p>
          </p:txBody>
        </p:sp>
        <p:sp>
          <p:nvSpPr>
            <p:cNvPr id="32" name="Arrow: Down 31">
              <a:extLst>
                <a:ext uri="{FF2B5EF4-FFF2-40B4-BE49-F238E27FC236}">
                  <a16:creationId xmlns:a16="http://schemas.microsoft.com/office/drawing/2014/main" id="{77A96B4D-B339-5F7E-4D08-9DFD158947FF}"/>
                </a:ext>
              </a:extLst>
            </p:cNvPr>
            <p:cNvSpPr/>
            <p:nvPr/>
          </p:nvSpPr>
          <p:spPr>
            <a:xfrm rot="16200000">
              <a:off x="9397840" y="4302130"/>
              <a:ext cx="259132" cy="585317"/>
            </a:xfrm>
            <a:prstGeom prst="downArrow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ABB03885-6AE2-D0B6-3ED1-8DE5966C3216}"/>
              </a:ext>
            </a:extLst>
          </p:cNvPr>
          <p:cNvGrpSpPr/>
          <p:nvPr/>
        </p:nvGrpSpPr>
        <p:grpSpPr>
          <a:xfrm>
            <a:off x="839367" y="-37141"/>
            <a:ext cx="4629752" cy="1015663"/>
            <a:chOff x="924025" y="1526961"/>
            <a:chExt cx="4629752" cy="1015663"/>
          </a:xfrm>
        </p:grpSpPr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B93C3967-0FF8-1181-DDEC-26F492E9B251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0E7D7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8FAFF479-AA87-3637-F950-B37B90EFF913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>
                  <a:solidFill>
                    <a:schemeClr val="bg1"/>
                  </a:solidFill>
                  <a:latin typeface="Helvetica" pitchFamily="2" charset="0"/>
                </a:rPr>
                <a:t>Compiladores e</a:t>
              </a:r>
            </a:p>
            <a:p>
              <a:r>
                <a:rPr lang="es-ES">
                  <a:solidFill>
                    <a:schemeClr val="bg1"/>
                  </a:solidFill>
                  <a:latin typeface="Helvetica" pitchFamily="2" charset="0"/>
                </a:rPr>
                <a:t>Intérpretes</a:t>
              </a:r>
              <a:endParaRPr lang="en-US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A0DB29A2-EAF7-638F-5B9E-AE77BF1959CB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>
                  <a:solidFill>
                    <a:schemeClr val="bg1"/>
                  </a:solidFill>
                  <a:latin typeface="Helvetica" pitchFamily="2" charset="0"/>
                </a:rPr>
                <a:t>2</a:t>
              </a:r>
              <a:endParaRPr lang="en-US" sz="6000" b="1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8B2490A9-AEDC-3A5E-60FC-652181DADF6E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9083459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7618A9-187D-6CBE-CDAD-FB10538B06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Intérprete</a:t>
            </a:r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979DED5-AB79-3A46-0AE7-A4249E56735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16</a:t>
            </a:fld>
            <a:endParaRPr lang="es-P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A84730-137E-3DA1-EF7F-EE308402F9C9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s-ES"/>
              <a:t>Un </a:t>
            </a:r>
            <a:r>
              <a:rPr lang="es-ES" b="1">
                <a:solidFill>
                  <a:schemeClr val="accent2"/>
                </a:solidFill>
              </a:rPr>
              <a:t>intérprete</a:t>
            </a:r>
            <a:r>
              <a:rPr lang="es-ES"/>
              <a:t> es un </a:t>
            </a:r>
            <a:r>
              <a:rPr lang="es-ES">
                <a:solidFill>
                  <a:schemeClr val="tx1"/>
                </a:solidFill>
              </a:rPr>
              <a:t>traductor</a:t>
            </a:r>
            <a:r>
              <a:rPr lang="es-ES"/>
              <a:t> que toma un programa fuente y lo </a:t>
            </a:r>
            <a:r>
              <a:rPr lang="es-ES" b="1">
                <a:solidFill>
                  <a:schemeClr val="accent2"/>
                </a:solidFill>
              </a:rPr>
              <a:t>traduce</a:t>
            </a:r>
            <a:r>
              <a:rPr lang="es-ES"/>
              <a:t> </a:t>
            </a:r>
            <a:r>
              <a:rPr lang="es-ES" b="1">
                <a:solidFill>
                  <a:schemeClr val="accent2"/>
                </a:solidFill>
              </a:rPr>
              <a:t>línea por línea</a:t>
            </a:r>
            <a:r>
              <a:rPr lang="es-ES"/>
              <a:t>.</a:t>
            </a:r>
            <a:endParaRPr lang="en-US"/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599A3922-E9D7-E97E-3CD7-FB5B37F3A890}"/>
              </a:ext>
            </a:extLst>
          </p:cNvPr>
          <p:cNvGrpSpPr/>
          <p:nvPr/>
        </p:nvGrpSpPr>
        <p:grpSpPr>
          <a:xfrm>
            <a:off x="1973063" y="3009984"/>
            <a:ext cx="8620246" cy="3528928"/>
            <a:chOff x="2733554" y="3033296"/>
            <a:chExt cx="8620246" cy="3528928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3A7FC2FD-5CE5-9279-AEF4-6985F6D915F2}"/>
                </a:ext>
              </a:extLst>
            </p:cNvPr>
            <p:cNvSpPr/>
            <p:nvPr/>
          </p:nvSpPr>
          <p:spPr>
            <a:xfrm>
              <a:off x="4865878" y="3396205"/>
              <a:ext cx="2427048" cy="1944232"/>
            </a:xfrm>
            <a:prstGeom prst="roundRect">
              <a:avLst>
                <a:gd name="adj" fmla="val 6888"/>
              </a:avLst>
            </a:prstGeom>
            <a:solidFill>
              <a:srgbClr val="57D3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A5E299D3-CA99-E351-55C0-5A787BAF7E7A}"/>
                </a:ext>
              </a:extLst>
            </p:cNvPr>
            <p:cNvSpPr txBox="1"/>
            <p:nvPr/>
          </p:nvSpPr>
          <p:spPr>
            <a:xfrm>
              <a:off x="5225202" y="3033296"/>
              <a:ext cx="179258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/>
                <a:t>Intérprete</a:t>
              </a:r>
              <a:endParaRPr lang="en-US"/>
            </a:p>
          </p:txBody>
        </p: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1605BE3F-18A1-55C4-0F02-3270EF50CFDC}"/>
                </a:ext>
              </a:extLst>
            </p:cNvPr>
            <p:cNvGrpSpPr/>
            <p:nvPr/>
          </p:nvGrpSpPr>
          <p:grpSpPr>
            <a:xfrm>
              <a:off x="3114675" y="3748699"/>
              <a:ext cx="1011891" cy="1239245"/>
              <a:chOff x="4627841" y="1853046"/>
              <a:chExt cx="1011891" cy="1239245"/>
            </a:xfrm>
          </p:grpSpPr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40550826-2A9D-B991-6CB8-A85A61204D3F}"/>
                  </a:ext>
                </a:extLst>
              </p:cNvPr>
              <p:cNvSpPr/>
              <p:nvPr/>
            </p:nvSpPr>
            <p:spPr>
              <a:xfrm>
                <a:off x="4627841" y="1853046"/>
                <a:ext cx="1011891" cy="1239245"/>
              </a:xfrm>
              <a:custGeom>
                <a:avLst/>
                <a:gdLst>
                  <a:gd name="connsiteX0" fmla="*/ 549430 w 1493823"/>
                  <a:gd name="connsiteY0" fmla="*/ 0 h 1829457"/>
                  <a:gd name="connsiteX1" fmla="*/ 1244848 w 1493823"/>
                  <a:gd name="connsiteY1" fmla="*/ 0 h 1829457"/>
                  <a:gd name="connsiteX2" fmla="*/ 1493823 w 1493823"/>
                  <a:gd name="connsiteY2" fmla="*/ 248975 h 1829457"/>
                  <a:gd name="connsiteX3" fmla="*/ 1493823 w 1493823"/>
                  <a:gd name="connsiteY3" fmla="*/ 1580482 h 1829457"/>
                  <a:gd name="connsiteX4" fmla="*/ 1244848 w 1493823"/>
                  <a:gd name="connsiteY4" fmla="*/ 1829457 h 1829457"/>
                  <a:gd name="connsiteX5" fmla="*/ 248975 w 1493823"/>
                  <a:gd name="connsiteY5" fmla="*/ 1829457 h 1829457"/>
                  <a:gd name="connsiteX6" fmla="*/ 0 w 1493823"/>
                  <a:gd name="connsiteY6" fmla="*/ 1580482 h 1829457"/>
                  <a:gd name="connsiteX7" fmla="*/ 0 w 1493823"/>
                  <a:gd name="connsiteY7" fmla="*/ 549430 h 18294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493823" h="1829457">
                    <a:moveTo>
                      <a:pt x="549430" y="0"/>
                    </a:moveTo>
                    <a:lnTo>
                      <a:pt x="1244848" y="0"/>
                    </a:lnTo>
                    <a:cubicBezTo>
                      <a:pt x="1382353" y="0"/>
                      <a:pt x="1493823" y="111470"/>
                      <a:pt x="1493823" y="248975"/>
                    </a:cubicBezTo>
                    <a:lnTo>
                      <a:pt x="1493823" y="1580482"/>
                    </a:lnTo>
                    <a:cubicBezTo>
                      <a:pt x="1493823" y="1717987"/>
                      <a:pt x="1382353" y="1829457"/>
                      <a:pt x="1244848" y="1829457"/>
                    </a:cubicBezTo>
                    <a:lnTo>
                      <a:pt x="248975" y="1829457"/>
                    </a:lnTo>
                    <a:cubicBezTo>
                      <a:pt x="111470" y="1829457"/>
                      <a:pt x="0" y="1717987"/>
                      <a:pt x="0" y="1580482"/>
                    </a:cubicBezTo>
                    <a:lnTo>
                      <a:pt x="0" y="549430"/>
                    </a:lnTo>
                    <a:close/>
                  </a:path>
                </a:pathLst>
              </a:cu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id="{461963DB-1505-5972-9DCC-39B616392C06}"/>
                  </a:ext>
                </a:extLst>
              </p:cNvPr>
              <p:cNvSpPr/>
              <p:nvPr/>
            </p:nvSpPr>
            <p:spPr>
              <a:xfrm rot="16200000">
                <a:off x="4633092" y="1853258"/>
                <a:ext cx="365733" cy="369436"/>
              </a:xfrm>
              <a:custGeom>
                <a:avLst/>
                <a:gdLst>
                  <a:gd name="connsiteX0" fmla="*/ 539919 w 539919"/>
                  <a:gd name="connsiteY0" fmla="*/ 532111 h 545387"/>
                  <a:gd name="connsiteX1" fmla="*/ 539919 w 539919"/>
                  <a:gd name="connsiteY1" fmla="*/ 545387 h 545387"/>
                  <a:gd name="connsiteX2" fmla="*/ 248975 w 539919"/>
                  <a:gd name="connsiteY2" fmla="*/ 545387 h 545387"/>
                  <a:gd name="connsiteX3" fmla="*/ 0 w 539919"/>
                  <a:gd name="connsiteY3" fmla="*/ 296412 h 545387"/>
                  <a:gd name="connsiteX4" fmla="*/ 0 w 539919"/>
                  <a:gd name="connsiteY4" fmla="*/ 0 h 545387"/>
                  <a:gd name="connsiteX5" fmla="*/ 7808 w 539919"/>
                  <a:gd name="connsiteY5" fmla="*/ 0 h 5453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539919" h="545387">
                    <a:moveTo>
                      <a:pt x="539919" y="532111"/>
                    </a:moveTo>
                    <a:lnTo>
                      <a:pt x="539919" y="545387"/>
                    </a:lnTo>
                    <a:lnTo>
                      <a:pt x="248975" y="545387"/>
                    </a:lnTo>
                    <a:cubicBezTo>
                      <a:pt x="111470" y="545387"/>
                      <a:pt x="0" y="433917"/>
                      <a:pt x="0" y="296412"/>
                    </a:cubicBezTo>
                    <a:lnTo>
                      <a:pt x="0" y="0"/>
                    </a:lnTo>
                    <a:lnTo>
                      <a:pt x="7808" y="0"/>
                    </a:lnTo>
                    <a:close/>
                  </a:path>
                </a:pathLst>
              </a:custGeom>
              <a:solidFill>
                <a:srgbClr val="00B0F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26" name="Rectangle: Rounded Corners 25">
                <a:extLst>
                  <a:ext uri="{FF2B5EF4-FFF2-40B4-BE49-F238E27FC236}">
                    <a16:creationId xmlns:a16="http://schemas.microsoft.com/office/drawing/2014/main" id="{772BC2CC-4FB8-CA09-1CBF-71421D425901}"/>
                  </a:ext>
                </a:extLst>
              </p:cNvPr>
              <p:cNvSpPr/>
              <p:nvPr/>
            </p:nvSpPr>
            <p:spPr>
              <a:xfrm>
                <a:off x="4818846" y="2316863"/>
                <a:ext cx="369436" cy="73988"/>
              </a:xfrm>
              <a:prstGeom prst="roundRect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" name="Rectangle: Rounded Corners 26">
                <a:extLst>
                  <a:ext uri="{FF2B5EF4-FFF2-40B4-BE49-F238E27FC236}">
                    <a16:creationId xmlns:a16="http://schemas.microsoft.com/office/drawing/2014/main" id="{28AAC3D0-C3F7-83AA-950B-BA671CB634B6}"/>
                  </a:ext>
                </a:extLst>
              </p:cNvPr>
              <p:cNvSpPr/>
              <p:nvPr/>
            </p:nvSpPr>
            <p:spPr>
              <a:xfrm>
                <a:off x="4952913" y="2445646"/>
                <a:ext cx="369436" cy="73988"/>
              </a:xfrm>
              <a:prstGeom prst="roundRect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" name="Rectangle: Rounded Corners 27">
                <a:extLst>
                  <a:ext uri="{FF2B5EF4-FFF2-40B4-BE49-F238E27FC236}">
                    <a16:creationId xmlns:a16="http://schemas.microsoft.com/office/drawing/2014/main" id="{EFEF859B-5FEE-D0B6-E7DC-109D06670FDD}"/>
                  </a:ext>
                </a:extLst>
              </p:cNvPr>
              <p:cNvSpPr/>
              <p:nvPr/>
            </p:nvSpPr>
            <p:spPr>
              <a:xfrm>
                <a:off x="4952913" y="2574430"/>
                <a:ext cx="369436" cy="73988"/>
              </a:xfrm>
              <a:prstGeom prst="roundRect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" name="Rectangle: Rounded Corners 28">
                <a:extLst>
                  <a:ext uri="{FF2B5EF4-FFF2-40B4-BE49-F238E27FC236}">
                    <a16:creationId xmlns:a16="http://schemas.microsoft.com/office/drawing/2014/main" id="{658F6F18-5B12-2C6F-0881-F679BB9EB5F2}"/>
                  </a:ext>
                </a:extLst>
              </p:cNvPr>
              <p:cNvSpPr/>
              <p:nvPr/>
            </p:nvSpPr>
            <p:spPr>
              <a:xfrm>
                <a:off x="4952912" y="2703214"/>
                <a:ext cx="494502" cy="73988"/>
              </a:xfrm>
              <a:prstGeom prst="roundRect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" name="Rectangle: Rounded Corners 29">
                <a:extLst>
                  <a:ext uri="{FF2B5EF4-FFF2-40B4-BE49-F238E27FC236}">
                    <a16:creationId xmlns:a16="http://schemas.microsoft.com/office/drawing/2014/main" id="{A6366FC5-1BA0-2F6F-0186-9BE1DD6A39CE}"/>
                  </a:ext>
                </a:extLst>
              </p:cNvPr>
              <p:cNvSpPr/>
              <p:nvPr/>
            </p:nvSpPr>
            <p:spPr>
              <a:xfrm>
                <a:off x="4858627" y="2831997"/>
                <a:ext cx="494502" cy="73988"/>
              </a:xfrm>
              <a:prstGeom prst="roundRect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BB3ADC5C-DD13-F8AE-0CD6-39754973E359}"/>
                </a:ext>
              </a:extLst>
            </p:cNvPr>
            <p:cNvGrpSpPr/>
            <p:nvPr/>
          </p:nvGrpSpPr>
          <p:grpSpPr>
            <a:xfrm>
              <a:off x="8075055" y="3748699"/>
              <a:ext cx="1011891" cy="1239245"/>
              <a:chOff x="6520301" y="4254261"/>
              <a:chExt cx="1011891" cy="1239245"/>
            </a:xfrm>
          </p:grpSpPr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6842A6D9-7CBA-E921-1242-0E94D6D7DE05}"/>
                  </a:ext>
                </a:extLst>
              </p:cNvPr>
              <p:cNvSpPr/>
              <p:nvPr/>
            </p:nvSpPr>
            <p:spPr>
              <a:xfrm>
                <a:off x="6520301" y="4254261"/>
                <a:ext cx="1011891" cy="1239245"/>
              </a:xfrm>
              <a:custGeom>
                <a:avLst/>
                <a:gdLst>
                  <a:gd name="connsiteX0" fmla="*/ 549430 w 1493823"/>
                  <a:gd name="connsiteY0" fmla="*/ 0 h 1829457"/>
                  <a:gd name="connsiteX1" fmla="*/ 1244848 w 1493823"/>
                  <a:gd name="connsiteY1" fmla="*/ 0 h 1829457"/>
                  <a:gd name="connsiteX2" fmla="*/ 1493823 w 1493823"/>
                  <a:gd name="connsiteY2" fmla="*/ 248975 h 1829457"/>
                  <a:gd name="connsiteX3" fmla="*/ 1493823 w 1493823"/>
                  <a:gd name="connsiteY3" fmla="*/ 1580482 h 1829457"/>
                  <a:gd name="connsiteX4" fmla="*/ 1244848 w 1493823"/>
                  <a:gd name="connsiteY4" fmla="*/ 1829457 h 1829457"/>
                  <a:gd name="connsiteX5" fmla="*/ 248975 w 1493823"/>
                  <a:gd name="connsiteY5" fmla="*/ 1829457 h 1829457"/>
                  <a:gd name="connsiteX6" fmla="*/ 0 w 1493823"/>
                  <a:gd name="connsiteY6" fmla="*/ 1580482 h 1829457"/>
                  <a:gd name="connsiteX7" fmla="*/ 0 w 1493823"/>
                  <a:gd name="connsiteY7" fmla="*/ 549430 h 18294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493823" h="1829457">
                    <a:moveTo>
                      <a:pt x="549430" y="0"/>
                    </a:moveTo>
                    <a:lnTo>
                      <a:pt x="1244848" y="0"/>
                    </a:lnTo>
                    <a:cubicBezTo>
                      <a:pt x="1382353" y="0"/>
                      <a:pt x="1493823" y="111470"/>
                      <a:pt x="1493823" y="248975"/>
                    </a:cubicBezTo>
                    <a:lnTo>
                      <a:pt x="1493823" y="1580482"/>
                    </a:lnTo>
                    <a:cubicBezTo>
                      <a:pt x="1493823" y="1717987"/>
                      <a:pt x="1382353" y="1829457"/>
                      <a:pt x="1244848" y="1829457"/>
                    </a:cubicBezTo>
                    <a:lnTo>
                      <a:pt x="248975" y="1829457"/>
                    </a:lnTo>
                    <a:cubicBezTo>
                      <a:pt x="111470" y="1829457"/>
                      <a:pt x="0" y="1717987"/>
                      <a:pt x="0" y="1580482"/>
                    </a:cubicBezTo>
                    <a:lnTo>
                      <a:pt x="0" y="549430"/>
                    </a:lnTo>
                    <a:close/>
                  </a:path>
                </a:pathLst>
              </a:cu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6FF0C1E5-1B22-6C33-16BB-40E93AA24C0A}"/>
                  </a:ext>
                </a:extLst>
              </p:cNvPr>
              <p:cNvSpPr/>
              <p:nvPr/>
            </p:nvSpPr>
            <p:spPr>
              <a:xfrm rot="16200000">
                <a:off x="6525552" y="4254473"/>
                <a:ext cx="365733" cy="369436"/>
              </a:xfrm>
              <a:custGeom>
                <a:avLst/>
                <a:gdLst>
                  <a:gd name="connsiteX0" fmla="*/ 539919 w 539919"/>
                  <a:gd name="connsiteY0" fmla="*/ 532111 h 545387"/>
                  <a:gd name="connsiteX1" fmla="*/ 539919 w 539919"/>
                  <a:gd name="connsiteY1" fmla="*/ 545387 h 545387"/>
                  <a:gd name="connsiteX2" fmla="*/ 248975 w 539919"/>
                  <a:gd name="connsiteY2" fmla="*/ 545387 h 545387"/>
                  <a:gd name="connsiteX3" fmla="*/ 0 w 539919"/>
                  <a:gd name="connsiteY3" fmla="*/ 296412 h 545387"/>
                  <a:gd name="connsiteX4" fmla="*/ 0 w 539919"/>
                  <a:gd name="connsiteY4" fmla="*/ 0 h 545387"/>
                  <a:gd name="connsiteX5" fmla="*/ 7808 w 539919"/>
                  <a:gd name="connsiteY5" fmla="*/ 0 h 5453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539919" h="545387">
                    <a:moveTo>
                      <a:pt x="539919" y="532111"/>
                    </a:moveTo>
                    <a:lnTo>
                      <a:pt x="539919" y="545387"/>
                    </a:lnTo>
                    <a:lnTo>
                      <a:pt x="248975" y="545387"/>
                    </a:lnTo>
                    <a:cubicBezTo>
                      <a:pt x="111470" y="545387"/>
                      <a:pt x="0" y="433917"/>
                      <a:pt x="0" y="296412"/>
                    </a:cubicBezTo>
                    <a:lnTo>
                      <a:pt x="0" y="0"/>
                    </a:lnTo>
                    <a:lnTo>
                      <a:pt x="7808" y="0"/>
                    </a:lnTo>
                    <a:close/>
                  </a:path>
                </a:pathLst>
              </a:custGeom>
              <a:solidFill>
                <a:srgbClr val="00B0F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B19D3D3C-3011-230B-61F5-B8BD7BB3DA15}"/>
                  </a:ext>
                </a:extLst>
              </p:cNvPr>
              <p:cNvSpPr txBox="1"/>
              <p:nvPr/>
            </p:nvSpPr>
            <p:spPr>
              <a:xfrm>
                <a:off x="6616186" y="4677083"/>
                <a:ext cx="824996" cy="6410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ES" sz="1200">
                    <a:solidFill>
                      <a:srgbClr val="00B0F0"/>
                    </a:solidFill>
                  </a:rPr>
                  <a:t>101000101011010101010</a:t>
                </a:r>
                <a:endParaRPr lang="en-US" sz="1200">
                  <a:solidFill>
                    <a:srgbClr val="00B0F0"/>
                  </a:solidFill>
                </a:endParaRPr>
              </a:p>
            </p:txBody>
          </p:sp>
        </p:grpSp>
        <p:sp>
          <p:nvSpPr>
            <p:cNvPr id="10" name="Arrow: Down 9">
              <a:extLst>
                <a:ext uri="{FF2B5EF4-FFF2-40B4-BE49-F238E27FC236}">
                  <a16:creationId xmlns:a16="http://schemas.microsoft.com/office/drawing/2014/main" id="{6FF65C0B-44A2-686A-6641-D5C2AFA2B91D}"/>
                </a:ext>
              </a:extLst>
            </p:cNvPr>
            <p:cNvSpPr/>
            <p:nvPr/>
          </p:nvSpPr>
          <p:spPr>
            <a:xfrm rot="16200000">
              <a:off x="4648217" y="4075663"/>
              <a:ext cx="259132" cy="585317"/>
            </a:xfrm>
            <a:prstGeom prst="downArrow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Arrow: Down 10">
              <a:extLst>
                <a:ext uri="{FF2B5EF4-FFF2-40B4-BE49-F238E27FC236}">
                  <a16:creationId xmlns:a16="http://schemas.microsoft.com/office/drawing/2014/main" id="{B2689E1A-214E-A3D4-9BBC-49F910DF5AAE}"/>
                </a:ext>
              </a:extLst>
            </p:cNvPr>
            <p:cNvSpPr/>
            <p:nvPr/>
          </p:nvSpPr>
          <p:spPr>
            <a:xfrm rot="16200000">
              <a:off x="7354065" y="4075663"/>
              <a:ext cx="259132" cy="585317"/>
            </a:xfrm>
            <a:prstGeom prst="downArrow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032C52C7-7A1B-FD62-D008-E80F8B84AC84}"/>
                </a:ext>
              </a:extLst>
            </p:cNvPr>
            <p:cNvGrpSpPr/>
            <p:nvPr/>
          </p:nvGrpSpPr>
          <p:grpSpPr>
            <a:xfrm>
              <a:off x="5264745" y="3502479"/>
              <a:ext cx="1753044" cy="1731684"/>
              <a:chOff x="5509281" y="4412291"/>
              <a:chExt cx="1236037" cy="1220977"/>
            </a:xfrm>
          </p:grpSpPr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11832342-EB61-71B9-9020-70311BF6A48B}"/>
                  </a:ext>
                </a:extLst>
              </p:cNvPr>
              <p:cNvSpPr/>
              <p:nvPr/>
            </p:nvSpPr>
            <p:spPr>
              <a:xfrm>
                <a:off x="5612005" y="4515015"/>
                <a:ext cx="1030591" cy="1015531"/>
              </a:xfrm>
              <a:prstGeom prst="ellipse">
                <a:avLst/>
              </a:prstGeom>
              <a:solidFill>
                <a:srgbClr val="00B0F0"/>
              </a:solidFill>
              <a:ln w="381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Arrow: Chevron 16">
                <a:extLst>
                  <a:ext uri="{FF2B5EF4-FFF2-40B4-BE49-F238E27FC236}">
                    <a16:creationId xmlns:a16="http://schemas.microsoft.com/office/drawing/2014/main" id="{9A35AF0B-1D42-434C-CD65-B48907FB5EEA}"/>
                  </a:ext>
                </a:extLst>
              </p:cNvPr>
              <p:cNvSpPr/>
              <p:nvPr/>
            </p:nvSpPr>
            <p:spPr>
              <a:xfrm>
                <a:off x="6076228" y="4412291"/>
                <a:ext cx="102142" cy="205446"/>
              </a:xfrm>
              <a:prstGeom prst="chevron">
                <a:avLst>
                  <a:gd name="adj" fmla="val 77907"/>
                </a:avLst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8" name="Arrow: Chevron 17">
                <a:extLst>
                  <a:ext uri="{FF2B5EF4-FFF2-40B4-BE49-F238E27FC236}">
                    <a16:creationId xmlns:a16="http://schemas.microsoft.com/office/drawing/2014/main" id="{4C1910B1-5452-A552-BF55-72F14126E1FF}"/>
                  </a:ext>
                </a:extLst>
              </p:cNvPr>
              <p:cNvSpPr/>
              <p:nvPr/>
            </p:nvSpPr>
            <p:spPr>
              <a:xfrm flipH="1">
                <a:off x="6076228" y="5427822"/>
                <a:ext cx="102142" cy="205446"/>
              </a:xfrm>
              <a:prstGeom prst="chevron">
                <a:avLst>
                  <a:gd name="adj" fmla="val 77907"/>
                </a:avLst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9" name="Arrow: Chevron 18">
                <a:extLst>
                  <a:ext uri="{FF2B5EF4-FFF2-40B4-BE49-F238E27FC236}">
                    <a16:creationId xmlns:a16="http://schemas.microsoft.com/office/drawing/2014/main" id="{8F20C11C-257D-04C4-81E1-2243E5C20EB3}"/>
                  </a:ext>
                </a:extLst>
              </p:cNvPr>
              <p:cNvSpPr/>
              <p:nvPr/>
            </p:nvSpPr>
            <p:spPr>
              <a:xfrm rot="5400000">
                <a:off x="6591524" y="4920057"/>
                <a:ext cx="102142" cy="205446"/>
              </a:xfrm>
              <a:prstGeom prst="chevron">
                <a:avLst>
                  <a:gd name="adj" fmla="val 77907"/>
                </a:avLst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0" name="Arrow: Chevron 19">
                <a:extLst>
                  <a:ext uri="{FF2B5EF4-FFF2-40B4-BE49-F238E27FC236}">
                    <a16:creationId xmlns:a16="http://schemas.microsoft.com/office/drawing/2014/main" id="{A43E5754-6A23-3A24-C5A7-DB6B9CDBAC58}"/>
                  </a:ext>
                </a:extLst>
              </p:cNvPr>
              <p:cNvSpPr/>
              <p:nvPr/>
            </p:nvSpPr>
            <p:spPr>
              <a:xfrm rot="5400000" flipH="1">
                <a:off x="5560933" y="4920056"/>
                <a:ext cx="102142" cy="205446"/>
              </a:xfrm>
              <a:prstGeom prst="chevron">
                <a:avLst>
                  <a:gd name="adj" fmla="val 77907"/>
                </a:avLst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85645058-DF53-49ED-1EEA-8D0EEFE7D5B1}"/>
                </a:ext>
              </a:extLst>
            </p:cNvPr>
            <p:cNvSpPr txBox="1"/>
            <p:nvPr/>
          </p:nvSpPr>
          <p:spPr>
            <a:xfrm>
              <a:off x="5451196" y="4024309"/>
              <a:ext cx="1395584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>
                  <a:solidFill>
                    <a:schemeClr val="bg1"/>
                  </a:solidFill>
                </a:rPr>
                <a:t>Traducción de una línea de código</a:t>
              </a:r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187E5081-F857-1560-887A-E137A0E88441}"/>
                </a:ext>
              </a:extLst>
            </p:cNvPr>
            <p:cNvSpPr txBox="1"/>
            <p:nvPr/>
          </p:nvSpPr>
          <p:spPr>
            <a:xfrm>
              <a:off x="2733554" y="5170804"/>
              <a:ext cx="1792586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/>
                <a:t>Programa fuente</a:t>
              </a:r>
            </a:p>
            <a:p>
              <a:pPr algn="ctr"/>
              <a:r>
                <a:rPr lang="es-ES"/>
                <a:t>(lenguaje de alto nivel)</a:t>
              </a:r>
              <a:endParaRPr lang="en-US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A30282EF-AF4F-4301-E3DD-3E395F1EAC7D}"/>
                </a:ext>
              </a:extLst>
            </p:cNvPr>
            <p:cNvSpPr txBox="1"/>
            <p:nvPr/>
          </p:nvSpPr>
          <p:spPr>
            <a:xfrm>
              <a:off x="7665860" y="5170804"/>
              <a:ext cx="1792586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/>
                <a:t>Código ejecutable (lenguaje de bajo nivel o máquina)</a:t>
              </a:r>
              <a:endParaRPr lang="en-US"/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74EBA492-20AC-ABD9-D321-A9CA54800C24}"/>
                </a:ext>
              </a:extLst>
            </p:cNvPr>
            <p:cNvSpPr txBox="1"/>
            <p:nvPr/>
          </p:nvSpPr>
          <p:spPr>
            <a:xfrm>
              <a:off x="5076323" y="6039004"/>
              <a:ext cx="201792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/>
                <a:t>Programa fuente</a:t>
              </a:r>
            </a:p>
            <a:p>
              <a:pPr algn="ctr"/>
              <a:r>
                <a:rPr lang="es-ES"/>
                <a:t>(lenguaje de alto nivel)</a:t>
              </a:r>
              <a:endParaRPr lang="en-US"/>
            </a:p>
          </p:txBody>
        </p:sp>
        <p:sp>
          <p:nvSpPr>
            <p:cNvPr id="33" name="Arrow: Bent 32">
              <a:extLst>
                <a:ext uri="{FF2B5EF4-FFF2-40B4-BE49-F238E27FC236}">
                  <a16:creationId xmlns:a16="http://schemas.microsoft.com/office/drawing/2014/main" id="{0FCE3782-109B-D10A-AF79-D026EDE6C4C0}"/>
                </a:ext>
              </a:extLst>
            </p:cNvPr>
            <p:cNvSpPr/>
            <p:nvPr/>
          </p:nvSpPr>
          <p:spPr>
            <a:xfrm rot="10800000">
              <a:off x="7116239" y="5234163"/>
              <a:ext cx="3666438" cy="1305260"/>
            </a:xfrm>
            <a:prstGeom prst="bentArrow">
              <a:avLst>
                <a:gd name="adj1" fmla="val 10434"/>
                <a:gd name="adj2" fmla="val 11128"/>
                <a:gd name="adj3" fmla="val 9741"/>
                <a:gd name="adj4" fmla="val 43750"/>
              </a:avLst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34" name="Arrow: Bent 33">
              <a:extLst>
                <a:ext uri="{FF2B5EF4-FFF2-40B4-BE49-F238E27FC236}">
                  <a16:creationId xmlns:a16="http://schemas.microsoft.com/office/drawing/2014/main" id="{A9FFBE18-A434-A4C6-3286-22E957227803}"/>
                </a:ext>
              </a:extLst>
            </p:cNvPr>
            <p:cNvSpPr/>
            <p:nvPr/>
          </p:nvSpPr>
          <p:spPr>
            <a:xfrm rot="16200000">
              <a:off x="4203877" y="5645303"/>
              <a:ext cx="562494" cy="1136020"/>
            </a:xfrm>
            <a:prstGeom prst="bentArrow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35" name="Rectangle: Rounded Corners 34">
              <a:extLst>
                <a:ext uri="{FF2B5EF4-FFF2-40B4-BE49-F238E27FC236}">
                  <a16:creationId xmlns:a16="http://schemas.microsoft.com/office/drawing/2014/main" id="{00CC264A-C2CE-61F8-C89B-07D1D7017EEC}"/>
                </a:ext>
              </a:extLst>
            </p:cNvPr>
            <p:cNvSpPr/>
            <p:nvPr/>
          </p:nvSpPr>
          <p:spPr>
            <a:xfrm>
              <a:off x="10114555" y="3772563"/>
              <a:ext cx="1239245" cy="1239245"/>
            </a:xfrm>
            <a:prstGeom prst="round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/>
                <a:t>Salida</a:t>
              </a:r>
              <a:endParaRPr lang="en-US"/>
            </a:p>
          </p:txBody>
        </p:sp>
        <p:sp>
          <p:nvSpPr>
            <p:cNvPr id="36" name="Arrow: Down 35">
              <a:extLst>
                <a:ext uri="{FF2B5EF4-FFF2-40B4-BE49-F238E27FC236}">
                  <a16:creationId xmlns:a16="http://schemas.microsoft.com/office/drawing/2014/main" id="{9203E50E-8346-3AD5-F33F-21FF93A6E778}"/>
                </a:ext>
              </a:extLst>
            </p:cNvPr>
            <p:cNvSpPr/>
            <p:nvPr/>
          </p:nvSpPr>
          <p:spPr>
            <a:xfrm rot="16200000">
              <a:off x="9544530" y="4072505"/>
              <a:ext cx="259132" cy="585317"/>
            </a:xfrm>
            <a:prstGeom prst="downArrow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3BF4EFFC-01F6-5245-581E-93CDEC3395EC}"/>
              </a:ext>
            </a:extLst>
          </p:cNvPr>
          <p:cNvGrpSpPr/>
          <p:nvPr/>
        </p:nvGrpSpPr>
        <p:grpSpPr>
          <a:xfrm>
            <a:off x="839367" y="-37141"/>
            <a:ext cx="4629752" cy="1015663"/>
            <a:chOff x="924025" y="1526961"/>
            <a:chExt cx="4629752" cy="1015663"/>
          </a:xfrm>
        </p:grpSpPr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D6F909A8-860D-EA21-E9AC-5F5B8F491D3C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0E7D7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83DC9545-2982-A894-6B14-8D86DCA0067C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>
                  <a:solidFill>
                    <a:schemeClr val="bg1"/>
                  </a:solidFill>
                  <a:latin typeface="Helvetica" pitchFamily="2" charset="0"/>
                </a:rPr>
                <a:t>Compiladores e</a:t>
              </a:r>
            </a:p>
            <a:p>
              <a:r>
                <a:rPr lang="es-ES">
                  <a:solidFill>
                    <a:schemeClr val="bg1"/>
                  </a:solidFill>
                  <a:latin typeface="Helvetica" pitchFamily="2" charset="0"/>
                </a:rPr>
                <a:t>Intérpretes</a:t>
              </a:r>
              <a:endParaRPr lang="en-US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5B6A78C5-6E90-D4F4-BD6D-FED300676D75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>
                  <a:solidFill>
                    <a:schemeClr val="bg1"/>
                  </a:solidFill>
                  <a:latin typeface="Helvetica" pitchFamily="2" charset="0"/>
                </a:rPr>
                <a:t>2</a:t>
              </a:r>
              <a:endParaRPr lang="en-US" sz="6000" b="1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9B7419F4-7D2D-6B4D-D0B0-82E35BD09829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0309952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" name="Group 39">
            <a:extLst>
              <a:ext uri="{FF2B5EF4-FFF2-40B4-BE49-F238E27FC236}">
                <a16:creationId xmlns:a16="http://schemas.microsoft.com/office/drawing/2014/main" id="{C0EBFC4B-97B9-EE23-54E6-35D0BD1A72B6}"/>
              </a:ext>
            </a:extLst>
          </p:cNvPr>
          <p:cNvGrpSpPr/>
          <p:nvPr/>
        </p:nvGrpSpPr>
        <p:grpSpPr>
          <a:xfrm>
            <a:off x="6724048" y="1782509"/>
            <a:ext cx="4629752" cy="1015663"/>
            <a:chOff x="924025" y="1526961"/>
            <a:chExt cx="4629752" cy="1015663"/>
          </a:xfrm>
        </p:grpSpPr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4FE8F910-E501-76FA-7ECF-5ADB916A9A3E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8F2A2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FE3C8125-0623-B6FF-9FE1-0715FE1439E0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rtlCol="0" anchor="t">
              <a:spAutoFit/>
            </a:bodyPr>
            <a:lstStyle/>
            <a:p>
              <a:r>
                <a:rPr lang="es-ES">
                  <a:solidFill>
                    <a:schemeClr val="bg1"/>
                  </a:solidFill>
                  <a:latin typeface="Helvetica"/>
                </a:rPr>
                <a:t>Práctica</a:t>
              </a:r>
              <a:endParaRPr lang="en-US"/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FB2CE88F-B9E6-8333-5227-9BC78AB02562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>
                  <a:solidFill>
                    <a:schemeClr val="bg1"/>
                  </a:solidFill>
                  <a:latin typeface="Helvetica" pitchFamily="2" charset="0"/>
                </a:rPr>
                <a:t>8</a:t>
              </a:r>
              <a:endParaRPr lang="en-US" sz="6000" b="1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0EA75671-C972-4E78-C608-76524A6F268E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6C6B983-D187-5021-011D-340D9A64632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17</a:t>
            </a:fld>
            <a:endParaRPr lang="es-PE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4C62550A-9487-0FB4-AEF5-18BF59D1D1BB}"/>
              </a:ext>
            </a:extLst>
          </p:cNvPr>
          <p:cNvGrpSpPr/>
          <p:nvPr/>
        </p:nvGrpSpPr>
        <p:grpSpPr>
          <a:xfrm>
            <a:off x="1955128" y="1782509"/>
            <a:ext cx="4629752" cy="1015663"/>
            <a:chOff x="924025" y="1526961"/>
            <a:chExt cx="4629752" cy="1015663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9EE3C4A-25E0-0661-5719-DFD8A408196E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0E7D7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8F03E694-3539-B74F-A7F9-A90BF4FC7172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>
                  <a:solidFill>
                    <a:schemeClr val="bg1"/>
                  </a:solidFill>
                  <a:latin typeface="Helvetica" pitchFamily="2" charset="0"/>
                </a:rPr>
                <a:t>Compiladores e</a:t>
              </a:r>
            </a:p>
            <a:p>
              <a:r>
                <a:rPr lang="es-ES">
                  <a:solidFill>
                    <a:schemeClr val="bg1"/>
                  </a:solidFill>
                  <a:latin typeface="Helvetica" pitchFamily="2" charset="0"/>
                </a:rPr>
                <a:t>Intérpretes</a:t>
              </a:r>
              <a:endParaRPr lang="en-US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0BD6589-A9C6-D2FD-D50D-C5AAC8113E8A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>
                  <a:solidFill>
                    <a:schemeClr val="bg1"/>
                  </a:solidFill>
                  <a:latin typeface="Helvetica" pitchFamily="2" charset="0"/>
                </a:rPr>
                <a:t>2</a:t>
              </a:r>
              <a:endParaRPr lang="en-US" sz="6000" b="1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FE0265B7-9BAF-D770-6E56-5AE1A9C41973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B25B4B5B-713C-2D58-C773-D4CFF9997391}"/>
              </a:ext>
            </a:extLst>
          </p:cNvPr>
          <p:cNvGrpSpPr/>
          <p:nvPr/>
        </p:nvGrpSpPr>
        <p:grpSpPr>
          <a:xfrm>
            <a:off x="1955128" y="3561599"/>
            <a:ext cx="4629752" cy="1015663"/>
            <a:chOff x="924025" y="1526961"/>
            <a:chExt cx="4629752" cy="1015663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D5F2FB8B-07D6-48FB-E370-38EA16365289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BA750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728AFDEB-1E73-3FEA-2DFF-DBAF08C0A2B6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>
                  <a:solidFill>
                    <a:schemeClr val="bg1"/>
                  </a:solidFill>
                  <a:latin typeface="Helvetica" pitchFamily="2" charset="0"/>
                </a:rPr>
                <a:t>Entorno de desarrollo y ejecución Java</a:t>
              </a:r>
              <a:endParaRPr lang="en-US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302F77E9-2E11-217F-40EC-8E3C7703B3BB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>
                  <a:solidFill>
                    <a:schemeClr val="bg1"/>
                  </a:solidFill>
                  <a:latin typeface="Helvetica" pitchFamily="2" charset="0"/>
                </a:rPr>
                <a:t>4</a:t>
              </a:r>
              <a:endParaRPr lang="en-US" sz="6000" b="1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369D5F82-C60A-5B84-5E19-A1B153065B8D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20E7D35A-999B-BEC3-A1FE-83D4A699084C}"/>
              </a:ext>
            </a:extLst>
          </p:cNvPr>
          <p:cNvGrpSpPr/>
          <p:nvPr/>
        </p:nvGrpSpPr>
        <p:grpSpPr>
          <a:xfrm>
            <a:off x="1955128" y="4451144"/>
            <a:ext cx="4629752" cy="1015663"/>
            <a:chOff x="924025" y="1526961"/>
            <a:chExt cx="4629752" cy="1015663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EDE43D48-A8F8-0DF2-1001-D5FDD5FF2C6B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8F2A2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C2BEA270-D0DD-E83C-8505-88C9D29A50BF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>
                  <a:solidFill>
                    <a:schemeClr val="bg1"/>
                  </a:solidFill>
                  <a:latin typeface="Helvetica" pitchFamily="2" charset="0"/>
                </a:rPr>
                <a:t>Compilación y </a:t>
              </a:r>
              <a:br>
                <a:rPr lang="es-ES">
                  <a:solidFill>
                    <a:schemeClr val="bg1"/>
                  </a:solidFill>
                  <a:latin typeface="Helvetica" pitchFamily="2" charset="0"/>
                </a:rPr>
              </a:br>
              <a:r>
                <a:rPr lang="es-ES">
                  <a:solidFill>
                    <a:schemeClr val="bg1"/>
                  </a:solidFill>
                  <a:latin typeface="Helvetica" pitchFamily="2" charset="0"/>
                </a:rPr>
                <a:t>ejecución</a:t>
              </a:r>
              <a:endParaRPr lang="en-US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650D84CE-F32A-1F88-1274-CAA8D6234924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>
                  <a:solidFill>
                    <a:schemeClr val="bg1"/>
                  </a:solidFill>
                  <a:latin typeface="Helvetica" pitchFamily="2" charset="0"/>
                </a:rPr>
                <a:t>5</a:t>
              </a:r>
              <a:endParaRPr lang="en-US" sz="6000" b="1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81D92532-6B25-E809-E479-70119D6AA69E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1EA7DF23-1534-8674-0364-FDC45E5DD81C}"/>
              </a:ext>
            </a:extLst>
          </p:cNvPr>
          <p:cNvGrpSpPr/>
          <p:nvPr/>
        </p:nvGrpSpPr>
        <p:grpSpPr>
          <a:xfrm>
            <a:off x="1955128" y="5340687"/>
            <a:ext cx="4629752" cy="1015663"/>
            <a:chOff x="924025" y="1526961"/>
            <a:chExt cx="4629752" cy="1015663"/>
          </a:xfrm>
        </p:grpSpPr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A13A47C2-3050-70BF-03DC-CCA7B4126952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AD94C077-B4AA-B319-24D7-C5B1DE74BBDB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>
                  <a:solidFill>
                    <a:schemeClr val="bg1"/>
                  </a:solidFill>
                  <a:latin typeface="Helvetica" pitchFamily="2" charset="0"/>
                </a:rPr>
                <a:t>Código intermedio y </a:t>
              </a:r>
              <a:br>
                <a:rPr lang="es-ES">
                  <a:solidFill>
                    <a:schemeClr val="bg1"/>
                  </a:solidFill>
                  <a:latin typeface="Helvetica" pitchFamily="2" charset="0"/>
                </a:rPr>
              </a:br>
              <a:r>
                <a:rPr lang="es-ES">
                  <a:solidFill>
                    <a:schemeClr val="bg1"/>
                  </a:solidFill>
                  <a:latin typeface="Helvetica" pitchFamily="2" charset="0"/>
                </a:rPr>
                <a:t>JVM</a:t>
              </a:r>
              <a:endParaRPr lang="en-US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739B75E7-C4E8-816E-FBEB-C8DC5FFDC85F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>
                  <a:solidFill>
                    <a:schemeClr val="bg1"/>
                  </a:solidFill>
                  <a:latin typeface="Helvetica" pitchFamily="2" charset="0"/>
                </a:rPr>
                <a:t>6</a:t>
              </a:r>
              <a:endParaRPr lang="en-US" sz="6000" b="1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ECF212AE-2B6A-DF71-7FC5-AE34B93BB598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4BEE2914-3C25-D19B-57C0-F6E598922A1E}"/>
              </a:ext>
            </a:extLst>
          </p:cNvPr>
          <p:cNvGrpSpPr/>
          <p:nvPr/>
        </p:nvGrpSpPr>
        <p:grpSpPr>
          <a:xfrm>
            <a:off x="6724048" y="892964"/>
            <a:ext cx="4629752" cy="1015663"/>
            <a:chOff x="924025" y="1526961"/>
            <a:chExt cx="4629752" cy="1015663"/>
          </a:xfrm>
        </p:grpSpPr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069C6825-69EA-8D72-4345-309D24E6D675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39F07254-1903-E065-8A8C-CBBABBCAA893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>
                  <a:solidFill>
                    <a:schemeClr val="bg1"/>
                  </a:solidFill>
                  <a:latin typeface="Helvetica" pitchFamily="2" charset="0"/>
                </a:rPr>
                <a:t>Clase principal y método </a:t>
              </a:r>
              <a:r>
                <a:rPr lang="es-ES" err="1">
                  <a:solidFill>
                    <a:schemeClr val="bg1"/>
                  </a:solidFill>
                  <a:latin typeface="Helvetica" pitchFamily="2" charset="0"/>
                </a:rPr>
                <a:t>main</a:t>
              </a:r>
              <a:endParaRPr lang="en-US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40F6FA04-8D92-0B29-3784-F4044CE9F110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>
                  <a:solidFill>
                    <a:schemeClr val="bg1"/>
                  </a:solidFill>
                  <a:latin typeface="Helvetica" pitchFamily="2" charset="0"/>
                </a:rPr>
                <a:t>7</a:t>
              </a:r>
              <a:endParaRPr lang="en-US" sz="6000" b="1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959003DD-D67B-3D2D-7CDF-D9E1CE9AA9B3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6B32F08B-E599-8764-EE5E-B3C48CE274CF}"/>
              </a:ext>
            </a:extLst>
          </p:cNvPr>
          <p:cNvSpPr txBox="1"/>
          <p:nvPr/>
        </p:nvSpPr>
        <p:spPr>
          <a:xfrm rot="16200000">
            <a:off x="-1552306" y="2760043"/>
            <a:ext cx="5599610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8800" b="1">
                <a:solidFill>
                  <a:schemeClr val="bg1">
                    <a:lumMod val="85000"/>
                  </a:schemeClr>
                </a:solidFill>
                <a:latin typeface="Helvetica" pitchFamily="2" charset="0"/>
              </a:rPr>
              <a:t>contenido</a:t>
            </a:r>
            <a:endParaRPr lang="en-US" sz="8800" b="1">
              <a:solidFill>
                <a:schemeClr val="bg1">
                  <a:lumMod val="85000"/>
                </a:schemeClr>
              </a:solidFill>
              <a:latin typeface="Helvetica" pitchFamily="2" charset="0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6D8EC2C4-D534-A87E-5305-9BD92B9838D9}"/>
              </a:ext>
            </a:extLst>
          </p:cNvPr>
          <p:cNvGrpSpPr/>
          <p:nvPr/>
        </p:nvGrpSpPr>
        <p:grpSpPr>
          <a:xfrm>
            <a:off x="1955128" y="892964"/>
            <a:ext cx="4629752" cy="1015663"/>
            <a:chOff x="924025" y="1526961"/>
            <a:chExt cx="4629752" cy="1015663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AFE41E11-2903-D4AD-BABB-046EDBE4AABD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1B5E8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AFB12F7A-F286-0B30-D30E-E9A916CC839B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>
                  <a:solidFill>
                    <a:schemeClr val="bg1"/>
                  </a:solidFill>
                  <a:latin typeface="Helvetica" pitchFamily="2" charset="0"/>
                </a:rPr>
                <a:t>Introducción a los lenguajes de programación</a:t>
              </a:r>
              <a:endParaRPr lang="en-US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93EEA1CE-79B2-915B-2C77-2F1212A1BF67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>
                  <a:solidFill>
                    <a:schemeClr val="bg1"/>
                  </a:solidFill>
                  <a:latin typeface="Helvetica" pitchFamily="2" charset="0"/>
                </a:rPr>
                <a:t>1</a:t>
              </a:r>
              <a:endParaRPr lang="en-US" sz="6000" b="1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830C6426-CF18-244B-D9EC-4576E393467C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" name="Rectangle 3">
            <a:extLst>
              <a:ext uri="{FF2B5EF4-FFF2-40B4-BE49-F238E27FC236}">
                <a16:creationId xmlns:a16="http://schemas.microsoft.com/office/drawing/2014/main" id="{5F0AD512-DC53-811E-0839-3807ECBC949B}"/>
              </a:ext>
            </a:extLst>
          </p:cNvPr>
          <p:cNvSpPr/>
          <p:nvPr/>
        </p:nvSpPr>
        <p:spPr>
          <a:xfrm>
            <a:off x="1801640" y="683513"/>
            <a:ext cx="9678154" cy="5599610"/>
          </a:xfrm>
          <a:prstGeom prst="rect">
            <a:avLst/>
          </a:prstGeom>
          <a:solidFill>
            <a:schemeClr val="bg1">
              <a:alpha val="8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5598A8C9-355C-B375-F419-53EB7FBA52CF}"/>
              </a:ext>
            </a:extLst>
          </p:cNvPr>
          <p:cNvGrpSpPr/>
          <p:nvPr/>
        </p:nvGrpSpPr>
        <p:grpSpPr>
          <a:xfrm>
            <a:off x="1955128" y="2672054"/>
            <a:ext cx="4629752" cy="1015663"/>
            <a:chOff x="924025" y="1526961"/>
            <a:chExt cx="4629752" cy="1015663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968C5937-AEC8-D4AC-1863-47EC6A0DD5D7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758F3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9B9DA0B8-3305-EA9B-D50C-133423FA16B6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>
                  <a:solidFill>
                    <a:schemeClr val="bg1"/>
                  </a:solidFill>
                  <a:latin typeface="Helvetica" pitchFamily="2" charset="0"/>
                </a:rPr>
                <a:t>Introducción al </a:t>
              </a:r>
              <a:br>
                <a:rPr lang="es-ES">
                  <a:solidFill>
                    <a:schemeClr val="bg1"/>
                  </a:solidFill>
                  <a:latin typeface="Helvetica" pitchFamily="2" charset="0"/>
                </a:rPr>
              </a:br>
              <a:r>
                <a:rPr lang="es-ES">
                  <a:solidFill>
                    <a:schemeClr val="bg1"/>
                  </a:solidFill>
                  <a:latin typeface="Helvetica" pitchFamily="2" charset="0"/>
                </a:rPr>
                <a:t>lenguaje Java</a:t>
              </a:r>
              <a:endParaRPr lang="en-US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E719D950-4EA4-CB17-5AF9-0E716D1D0C97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>
                  <a:solidFill>
                    <a:schemeClr val="bg1"/>
                  </a:solidFill>
                  <a:latin typeface="Helvetica" pitchFamily="2" charset="0"/>
                </a:rPr>
                <a:t>3</a:t>
              </a:r>
              <a:endParaRPr lang="en-US" sz="6000" b="1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5DB44CEB-5449-91C4-4D8C-947E50150B6A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5206914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C642A6-FCD0-4443-A79F-A1747EF8BB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El lenguaje Java</a:t>
            </a:r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327D6E1-2617-4ED0-A9F6-2EF7DFEC8D7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18</a:t>
            </a:fld>
            <a:endParaRPr lang="es-PE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8EF9CDF-B076-6389-15BB-6E5AC1255ADC}"/>
              </a:ext>
            </a:extLst>
          </p:cNvPr>
          <p:cNvSpPr txBox="1"/>
          <p:nvPr/>
        </p:nvSpPr>
        <p:spPr>
          <a:xfrm>
            <a:off x="106926" y="6294374"/>
            <a:ext cx="10583502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err="1">
                <a:solidFill>
                  <a:schemeClr val="accent3"/>
                </a:solidFill>
              </a:rPr>
              <a:t>Imágenes</a:t>
            </a:r>
            <a:r>
              <a:rPr lang="en-US" sz="900">
                <a:solidFill>
                  <a:schemeClr val="accent3"/>
                </a:solidFill>
              </a:rPr>
              <a:t> </a:t>
            </a:r>
            <a:r>
              <a:rPr lang="en-US" sz="900" err="1">
                <a:solidFill>
                  <a:schemeClr val="accent3"/>
                </a:solidFill>
              </a:rPr>
              <a:t>extraídas</a:t>
            </a:r>
            <a:r>
              <a:rPr lang="en-US" sz="900">
                <a:solidFill>
                  <a:schemeClr val="accent3"/>
                </a:solidFill>
              </a:rPr>
              <a:t> de:</a:t>
            </a:r>
            <a:br>
              <a:rPr lang="en-US" sz="900">
                <a:solidFill>
                  <a:schemeClr val="accent3"/>
                </a:solidFill>
              </a:rPr>
            </a:br>
            <a:r>
              <a:rPr lang="en-US" sz="900">
                <a:solidFill>
                  <a:schemeClr val="accent3"/>
                </a:solidFill>
              </a:rPr>
              <a:t>https://upload.wikimedia.org/wikipedia/commons/thumb/8/8b/Sun-Logo.svg/1200px-Sun-Logo.svg.png / https://1000logos.net/wp-content/uploads/2020/09/Java-Logo.png</a:t>
            </a:r>
            <a:br>
              <a:rPr lang="en-US" sz="900">
                <a:solidFill>
                  <a:schemeClr val="accent3"/>
                </a:solidFill>
              </a:rPr>
            </a:br>
            <a:r>
              <a:rPr lang="en-US" sz="900">
                <a:solidFill>
                  <a:schemeClr val="accent3"/>
                </a:solidFill>
              </a:rPr>
              <a:t>https://dri.es/files/images/blog/james-gosling.jpg / https://miro.medium.com/max/600/0*QCqRjzCc_QPux8C7.png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3174BB4-F3D2-F74D-2D58-5D1A279C60D9}"/>
              </a:ext>
            </a:extLst>
          </p:cNvPr>
          <p:cNvSpPr txBox="1"/>
          <p:nvPr/>
        </p:nvSpPr>
        <p:spPr>
          <a:xfrm>
            <a:off x="1046746" y="4230726"/>
            <a:ext cx="2976613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800" b="1" err="1"/>
              <a:t>Sun</a:t>
            </a:r>
            <a:r>
              <a:rPr lang="es-ES" sz="1800" b="1"/>
              <a:t> Microsystems</a:t>
            </a:r>
            <a:r>
              <a:rPr lang="es-ES" sz="1800"/>
              <a:t> patrocinó en </a:t>
            </a:r>
            <a:r>
              <a:rPr lang="es-ES" sz="1800" b="1"/>
              <a:t>1991</a:t>
            </a:r>
            <a:r>
              <a:rPr lang="es-ES" sz="1800"/>
              <a:t> un proyecto de investigación dirigido por </a:t>
            </a:r>
            <a:r>
              <a:rPr lang="es-ES" sz="1800" b="1"/>
              <a:t>James Gosling</a:t>
            </a:r>
            <a:r>
              <a:rPr lang="es-ES" sz="1800"/>
              <a:t>.</a:t>
            </a:r>
            <a:endParaRPr lang="en-US" sz="180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27F455A-11D7-48A4-7811-155FBCB0563F}"/>
              </a:ext>
            </a:extLst>
          </p:cNvPr>
          <p:cNvSpPr txBox="1"/>
          <p:nvPr/>
        </p:nvSpPr>
        <p:spPr>
          <a:xfrm>
            <a:off x="8389217" y="4230726"/>
            <a:ext cx="278410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800"/>
              <a:t>El resultado: un </a:t>
            </a:r>
            <a:r>
              <a:rPr lang="es-ES" sz="1800" b="1"/>
              <a:t>lenguaje de programación orientado a objetos</a:t>
            </a:r>
            <a:r>
              <a:rPr lang="es-ES" sz="1800"/>
              <a:t> llamado </a:t>
            </a:r>
            <a:r>
              <a:rPr lang="es-ES" sz="1800" b="1"/>
              <a:t>Java</a:t>
            </a:r>
            <a:r>
              <a:rPr lang="es-ES" sz="1800"/>
              <a:t>.</a:t>
            </a:r>
            <a:endParaRPr lang="en-US" sz="180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1CCD1B4-A461-99EE-7B08-9427B619CFAD}"/>
              </a:ext>
            </a:extLst>
          </p:cNvPr>
          <p:cNvSpPr txBox="1"/>
          <p:nvPr/>
        </p:nvSpPr>
        <p:spPr>
          <a:xfrm>
            <a:off x="4650604" y="4230726"/>
            <a:ext cx="3111367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800" dirty="0"/>
              <a:t>El objetivo: escribir programas que se ejecuten en diversos sistemas y dispositivos (</a:t>
            </a:r>
            <a:r>
              <a:rPr lang="es-ES" sz="1800" b="1" dirty="0"/>
              <a:t>multiplataforma</a:t>
            </a:r>
            <a:r>
              <a:rPr lang="es-ES" sz="1800" dirty="0"/>
              <a:t>).</a:t>
            </a:r>
            <a:endParaRPr lang="en-US" sz="18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9505F7D7-CA31-AE98-4E24-C49DE62001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6746" y="2091959"/>
            <a:ext cx="2662838" cy="1774357"/>
          </a:xfrm>
          <a:prstGeom prst="rect">
            <a:avLst/>
          </a:prstGeom>
        </p:spPr>
      </p:pic>
      <p:pic>
        <p:nvPicPr>
          <p:cNvPr id="2050" name="Picture 2" descr="Sun Microsystems - Wikipedia">
            <a:extLst>
              <a:ext uri="{FF2B5EF4-FFF2-40B4-BE49-F238E27FC236}">
                <a16:creationId xmlns:a16="http://schemas.microsoft.com/office/drawing/2014/main" id="{34B465D5-2D03-0C6D-8435-7B575EE336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1372" y="3434783"/>
            <a:ext cx="847319" cy="3721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E60E23C-376B-E7A4-C585-FB41AE14911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23132" y="2191706"/>
            <a:ext cx="3461235" cy="1574862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2245FC5C-8437-E79C-F807-49C93B72860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89217" y="2081782"/>
            <a:ext cx="2871537" cy="1794711"/>
          </a:xfrm>
          <a:prstGeom prst="rect">
            <a:avLst/>
          </a:prstGeom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5329DF3C-EADE-120E-73A1-7ABC44890390}"/>
              </a:ext>
            </a:extLst>
          </p:cNvPr>
          <p:cNvGrpSpPr/>
          <p:nvPr/>
        </p:nvGrpSpPr>
        <p:grpSpPr>
          <a:xfrm>
            <a:off x="839367" y="-36014"/>
            <a:ext cx="4629752" cy="1015663"/>
            <a:chOff x="924025" y="1526961"/>
            <a:chExt cx="4629752" cy="1015663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CA2F3C37-8F12-C5A6-C569-D07EA01E419C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758F3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99749735-3052-8970-E0C3-9D5EAB27CA3F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>
                  <a:solidFill>
                    <a:schemeClr val="bg1"/>
                  </a:solidFill>
                  <a:latin typeface="Helvetica" pitchFamily="2" charset="0"/>
                </a:rPr>
                <a:t>Introducción al </a:t>
              </a:r>
              <a:br>
                <a:rPr lang="es-ES">
                  <a:solidFill>
                    <a:schemeClr val="bg1"/>
                  </a:solidFill>
                  <a:latin typeface="Helvetica" pitchFamily="2" charset="0"/>
                </a:rPr>
              </a:br>
              <a:r>
                <a:rPr lang="es-ES">
                  <a:solidFill>
                    <a:schemeClr val="bg1"/>
                  </a:solidFill>
                  <a:latin typeface="Helvetica" pitchFamily="2" charset="0"/>
                </a:rPr>
                <a:t>lenguaje Java</a:t>
              </a:r>
              <a:endParaRPr lang="en-US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10B398F9-0590-57E1-E886-D68CC8BDA567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>
                  <a:solidFill>
                    <a:schemeClr val="bg1"/>
                  </a:solidFill>
                  <a:latin typeface="Helvetica" pitchFamily="2" charset="0"/>
                </a:rPr>
                <a:t>3</a:t>
              </a:r>
              <a:endParaRPr lang="en-US" sz="6000" b="1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062DA108-5D03-EF8C-0313-A8DD91948AB7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1093722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66C3EF-5D84-4CA1-A49C-42748C91DE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Características de Java</a:t>
            </a:r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DE662C6-2911-4CF7-8D3C-003C85D6C4D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19</a:t>
            </a:fld>
            <a:endParaRPr lang="es-P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0D0CCA-9621-45FB-B90D-6912048DB590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s-ES" dirty="0">
                <a:solidFill>
                  <a:schemeClr val="tx1"/>
                </a:solidFill>
              </a:rPr>
              <a:t>Lenguaje </a:t>
            </a:r>
            <a:r>
              <a:rPr lang="es-ES" b="1" dirty="0">
                <a:solidFill>
                  <a:schemeClr val="accent2"/>
                </a:solidFill>
              </a:rPr>
              <a:t>orientado a objetos</a:t>
            </a:r>
            <a:r>
              <a:rPr lang="es-ES" dirty="0">
                <a:solidFill>
                  <a:schemeClr val="tx1"/>
                </a:solidFill>
              </a:rPr>
              <a:t> (diseño basado en clases).</a:t>
            </a:r>
          </a:p>
          <a:p>
            <a:r>
              <a:rPr lang="es-ES" b="1" dirty="0">
                <a:solidFill>
                  <a:schemeClr val="accent2"/>
                </a:solidFill>
              </a:rPr>
              <a:t>Independiente</a:t>
            </a:r>
            <a:r>
              <a:rPr lang="es-ES" dirty="0">
                <a:solidFill>
                  <a:schemeClr val="tx1"/>
                </a:solidFill>
              </a:rPr>
              <a:t> de la </a:t>
            </a:r>
            <a:r>
              <a:rPr lang="es-ES" b="1" dirty="0">
                <a:solidFill>
                  <a:schemeClr val="accent2"/>
                </a:solidFill>
              </a:rPr>
              <a:t>plataforma</a:t>
            </a:r>
            <a:r>
              <a:rPr lang="es-ES" dirty="0">
                <a:solidFill>
                  <a:schemeClr val="tx1"/>
                </a:solidFill>
              </a:rPr>
              <a:t>.</a:t>
            </a:r>
          </a:p>
          <a:p>
            <a:r>
              <a:rPr lang="en-US" dirty="0">
                <a:solidFill>
                  <a:schemeClr val="tx1"/>
                </a:solidFill>
              </a:rPr>
              <a:t>Simple. </a:t>
            </a:r>
            <a:r>
              <a:rPr lang="en-US" dirty="0" err="1">
                <a:solidFill>
                  <a:schemeClr val="tx1"/>
                </a:solidFill>
              </a:rPr>
              <a:t>Sencillo</a:t>
            </a:r>
            <a:r>
              <a:rPr lang="en-US" dirty="0">
                <a:solidFill>
                  <a:schemeClr val="tx1"/>
                </a:solidFill>
              </a:rPr>
              <a:t> de </a:t>
            </a:r>
            <a:r>
              <a:rPr lang="en-US" dirty="0" err="1">
                <a:solidFill>
                  <a:schemeClr val="tx1"/>
                </a:solidFill>
              </a:rPr>
              <a:t>aprender</a:t>
            </a:r>
            <a:r>
              <a:rPr lang="en-US" dirty="0">
                <a:solidFill>
                  <a:schemeClr val="tx1"/>
                </a:solidFill>
              </a:rPr>
              <a:t>.</a:t>
            </a:r>
          </a:p>
          <a:p>
            <a:r>
              <a:rPr lang="en-US" dirty="0" err="1">
                <a:solidFill>
                  <a:schemeClr val="tx1"/>
                </a:solidFill>
              </a:rPr>
              <a:t>Fuertemente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tipado</a:t>
            </a:r>
            <a:r>
              <a:rPr lang="en-US" dirty="0">
                <a:solidFill>
                  <a:schemeClr val="tx1"/>
                </a:solidFill>
              </a:rPr>
              <a:t>.</a:t>
            </a:r>
          </a:p>
          <a:p>
            <a:r>
              <a:rPr lang="en-US" dirty="0">
                <a:solidFill>
                  <a:schemeClr val="tx1"/>
                </a:solidFill>
              </a:rPr>
              <a:t>Seguro y portable.</a:t>
            </a:r>
          </a:p>
          <a:p>
            <a:r>
              <a:rPr lang="en-US" dirty="0" err="1">
                <a:solidFill>
                  <a:schemeClr val="tx1"/>
                </a:solidFill>
              </a:rPr>
              <a:t>Robusto</a:t>
            </a:r>
            <a:r>
              <a:rPr lang="en-US" dirty="0">
                <a:solidFill>
                  <a:schemeClr val="tx1"/>
                </a:solidFill>
              </a:rPr>
              <a:t> y de alto </a:t>
            </a:r>
            <a:r>
              <a:rPr lang="en-US" dirty="0" err="1">
                <a:solidFill>
                  <a:schemeClr val="tx1"/>
                </a:solidFill>
              </a:rPr>
              <a:t>desempeño</a:t>
            </a:r>
            <a:r>
              <a:rPr lang="en-US" dirty="0">
                <a:solidFill>
                  <a:schemeClr val="tx1"/>
                </a:solidFill>
              </a:rPr>
              <a:t>.</a:t>
            </a:r>
          </a:p>
          <a:p>
            <a:r>
              <a:rPr lang="en-US" b="1" dirty="0" err="1">
                <a:solidFill>
                  <a:schemeClr val="accent2"/>
                </a:solidFill>
              </a:rPr>
              <a:t>Interpretado</a:t>
            </a:r>
            <a:r>
              <a:rPr lang="en-US" dirty="0">
                <a:solidFill>
                  <a:schemeClr val="tx1"/>
                </a:solidFill>
              </a:rPr>
              <a:t> (</a:t>
            </a:r>
            <a:r>
              <a:rPr lang="en-US" dirty="0" err="1">
                <a:solidFill>
                  <a:schemeClr val="tx1"/>
                </a:solidFill>
              </a:rPr>
              <a:t>el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b="1" dirty="0">
                <a:solidFill>
                  <a:schemeClr val="bg1">
                    <a:lumMod val="50000"/>
                  </a:schemeClr>
                </a:solidFill>
              </a:rPr>
              <a:t>bytecode</a:t>
            </a:r>
            <a:r>
              <a:rPr lang="en-US" dirty="0">
                <a:solidFill>
                  <a:schemeClr val="tx1"/>
                </a:solidFill>
              </a:rPr>
              <a:t> es </a:t>
            </a:r>
            <a:r>
              <a:rPr lang="en-US" dirty="0" err="1">
                <a:solidFill>
                  <a:schemeClr val="tx1"/>
                </a:solidFill>
              </a:rPr>
              <a:t>traducido</a:t>
            </a:r>
            <a:r>
              <a:rPr lang="en-US" dirty="0">
                <a:solidFill>
                  <a:schemeClr val="tx1"/>
                </a:solidFill>
              </a:rPr>
              <a:t> a </a:t>
            </a:r>
            <a:r>
              <a:rPr lang="en-US" dirty="0" err="1">
                <a:solidFill>
                  <a:schemeClr val="tx1"/>
                </a:solidFill>
              </a:rPr>
              <a:t>código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máquina</a:t>
            </a:r>
            <a:r>
              <a:rPr lang="en-US" dirty="0">
                <a:solidFill>
                  <a:schemeClr val="tx1"/>
                </a:solidFill>
              </a:rPr>
              <a:t>).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4C85C85-6E52-2042-A8B0-DC8C5BE06C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2679" y="2790678"/>
            <a:ext cx="3081121" cy="192570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BCC46B6-4536-CEB6-2C45-465A574BB43A}"/>
              </a:ext>
            </a:extLst>
          </p:cNvPr>
          <p:cNvSpPr txBox="1"/>
          <p:nvPr/>
        </p:nvSpPr>
        <p:spPr>
          <a:xfrm>
            <a:off x="126748" y="6376940"/>
            <a:ext cx="105835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>
                <a:solidFill>
                  <a:schemeClr val="accent3"/>
                </a:solidFill>
              </a:rPr>
              <a:t>Imagen </a:t>
            </a:r>
            <a:r>
              <a:rPr lang="en-US" sz="900" err="1">
                <a:solidFill>
                  <a:schemeClr val="accent3"/>
                </a:solidFill>
              </a:rPr>
              <a:t>extraída</a:t>
            </a:r>
            <a:r>
              <a:rPr lang="en-US" sz="900">
                <a:solidFill>
                  <a:schemeClr val="accent3"/>
                </a:solidFill>
              </a:rPr>
              <a:t> de:</a:t>
            </a:r>
            <a:br>
              <a:rPr lang="en-US" sz="900">
                <a:solidFill>
                  <a:schemeClr val="accent3"/>
                </a:solidFill>
              </a:rPr>
            </a:br>
            <a:r>
              <a:rPr lang="en-US" sz="900">
                <a:solidFill>
                  <a:schemeClr val="accent3"/>
                </a:solidFill>
              </a:rPr>
              <a:t>https://1000marcas.net/wp-content/uploads/2020/11/Java-logo.png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07150655-0F45-8D45-E3C6-DB52E4B906AD}"/>
              </a:ext>
            </a:extLst>
          </p:cNvPr>
          <p:cNvGrpSpPr/>
          <p:nvPr/>
        </p:nvGrpSpPr>
        <p:grpSpPr>
          <a:xfrm>
            <a:off x="839367" y="-36014"/>
            <a:ext cx="4629752" cy="1015663"/>
            <a:chOff x="924025" y="1526961"/>
            <a:chExt cx="4629752" cy="1015663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8D97C1F3-40DD-540F-1707-293A199730E0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758F3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DA1021EA-38A3-37B0-80EB-6FF2BD3388E0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>
                  <a:solidFill>
                    <a:schemeClr val="bg1"/>
                  </a:solidFill>
                  <a:latin typeface="Helvetica" pitchFamily="2" charset="0"/>
                </a:rPr>
                <a:t>Introducción al </a:t>
              </a:r>
              <a:br>
                <a:rPr lang="es-ES">
                  <a:solidFill>
                    <a:schemeClr val="bg1"/>
                  </a:solidFill>
                  <a:latin typeface="Helvetica" pitchFamily="2" charset="0"/>
                </a:rPr>
              </a:br>
              <a:r>
                <a:rPr lang="es-ES">
                  <a:solidFill>
                    <a:schemeClr val="bg1"/>
                  </a:solidFill>
                  <a:latin typeface="Helvetica" pitchFamily="2" charset="0"/>
                </a:rPr>
                <a:t>lenguaje Java</a:t>
              </a:r>
              <a:endParaRPr lang="en-US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88EAB27F-783A-7A6A-2F1C-9FBB45E7F81A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>
                  <a:solidFill>
                    <a:schemeClr val="bg1"/>
                  </a:solidFill>
                  <a:latin typeface="Helvetica" pitchFamily="2" charset="0"/>
                </a:rPr>
                <a:t>3</a:t>
              </a:r>
              <a:endParaRPr lang="en-US" sz="6000" b="1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9B7BAB9-18D9-0A3E-D9EF-1314EAE2CBB4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6044817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ontent Placeholder 18">
            <a:extLst>
              <a:ext uri="{FF2B5EF4-FFF2-40B4-BE49-F238E27FC236}">
                <a16:creationId xmlns:a16="http://schemas.microsoft.com/office/drawing/2014/main" id="{4AF85BB7-4751-17C0-D73A-AE8C9CC4B305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s-ES" dirty="0"/>
              <a:t>Existen 4 plataformas Java: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7E82A8C-1404-1754-38AC-038DB26662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Plataformas Java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7C14B42-7E50-48D6-BCD6-9874898299B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20</a:t>
            </a:fld>
            <a:endParaRPr lang="es-PE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38775967-5223-5AFE-7CF9-298BE9D4A01B}"/>
              </a:ext>
            </a:extLst>
          </p:cNvPr>
          <p:cNvGrpSpPr/>
          <p:nvPr/>
        </p:nvGrpSpPr>
        <p:grpSpPr>
          <a:xfrm>
            <a:off x="1187115" y="2879861"/>
            <a:ext cx="2261938" cy="3262964"/>
            <a:chOff x="901567" y="2296067"/>
            <a:chExt cx="2261938" cy="326296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1C122BFA-0BB6-2915-EA29-801CAC0DA0C7}"/>
                </a:ext>
              </a:extLst>
            </p:cNvPr>
            <p:cNvSpPr/>
            <p:nvPr/>
          </p:nvSpPr>
          <p:spPr>
            <a:xfrm>
              <a:off x="901568" y="2296067"/>
              <a:ext cx="2261937" cy="3262964"/>
            </a:xfrm>
            <a:prstGeom prst="roundRect">
              <a:avLst>
                <a:gd name="adj" fmla="val 5163"/>
              </a:avLst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sz="2400"/>
            </a:p>
            <a:p>
              <a:pPr algn="ctr"/>
              <a:r>
                <a:rPr lang="es-ES" sz="2400"/>
                <a:t>Java </a:t>
              </a:r>
              <a:br>
                <a:rPr lang="es-ES" sz="2400"/>
              </a:br>
              <a:r>
                <a:rPr lang="es-ES" sz="2400" err="1"/>
                <a:t>Platform</a:t>
              </a:r>
              <a:r>
                <a:rPr lang="es-ES" sz="2400"/>
                <a:t> Standard </a:t>
              </a:r>
              <a:r>
                <a:rPr lang="es-ES" sz="2400" err="1"/>
                <a:t>Edition</a:t>
              </a:r>
              <a:endParaRPr lang="en-US" sz="2400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18B28E98-F0C0-D6BA-9904-2ECF0BF106FB}"/>
                </a:ext>
              </a:extLst>
            </p:cNvPr>
            <p:cNvSpPr/>
            <p:nvPr/>
          </p:nvSpPr>
          <p:spPr>
            <a:xfrm>
              <a:off x="901567" y="2296068"/>
              <a:ext cx="2261937" cy="635267"/>
            </a:xfrm>
            <a:custGeom>
              <a:avLst/>
              <a:gdLst>
                <a:gd name="connsiteX0" fmla="*/ 116784 w 2261937"/>
                <a:gd name="connsiteY0" fmla="*/ 0 h 635267"/>
                <a:gd name="connsiteX1" fmla="*/ 2145153 w 2261937"/>
                <a:gd name="connsiteY1" fmla="*/ 0 h 635267"/>
                <a:gd name="connsiteX2" fmla="*/ 2261937 w 2261937"/>
                <a:gd name="connsiteY2" fmla="*/ 116784 h 635267"/>
                <a:gd name="connsiteX3" fmla="*/ 2261937 w 2261937"/>
                <a:gd name="connsiteY3" fmla="*/ 635267 h 635267"/>
                <a:gd name="connsiteX4" fmla="*/ 0 w 2261937"/>
                <a:gd name="connsiteY4" fmla="*/ 635267 h 635267"/>
                <a:gd name="connsiteX5" fmla="*/ 0 w 2261937"/>
                <a:gd name="connsiteY5" fmla="*/ 116784 h 635267"/>
                <a:gd name="connsiteX6" fmla="*/ 116784 w 2261937"/>
                <a:gd name="connsiteY6" fmla="*/ 0 h 635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261937" h="635267">
                  <a:moveTo>
                    <a:pt x="116784" y="0"/>
                  </a:moveTo>
                  <a:lnTo>
                    <a:pt x="2145153" y="0"/>
                  </a:lnTo>
                  <a:cubicBezTo>
                    <a:pt x="2209651" y="0"/>
                    <a:pt x="2261937" y="52286"/>
                    <a:pt x="2261937" y="116784"/>
                  </a:cubicBezTo>
                  <a:lnTo>
                    <a:pt x="2261937" y="635267"/>
                  </a:lnTo>
                  <a:lnTo>
                    <a:pt x="0" y="635267"/>
                  </a:lnTo>
                  <a:lnTo>
                    <a:pt x="0" y="116784"/>
                  </a:lnTo>
                  <a:cubicBezTo>
                    <a:pt x="0" y="52286"/>
                    <a:pt x="52286" y="0"/>
                    <a:pt x="116784" y="0"/>
                  </a:cubicBez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lang="es-ES" sz="2400"/>
                <a:t>Java SE</a:t>
              </a:r>
              <a:endParaRPr lang="en-US" sz="2400"/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A1FD3EA5-8912-6BD9-DEF0-DDC9D8EB91BE}"/>
              </a:ext>
            </a:extLst>
          </p:cNvPr>
          <p:cNvGrpSpPr/>
          <p:nvPr/>
        </p:nvGrpSpPr>
        <p:grpSpPr>
          <a:xfrm>
            <a:off x="3651183" y="2879861"/>
            <a:ext cx="2261938" cy="3262964"/>
            <a:chOff x="901567" y="2296067"/>
            <a:chExt cx="2261938" cy="326296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D256EBC1-B695-2028-C992-792FADD08A3C}"/>
                </a:ext>
              </a:extLst>
            </p:cNvPr>
            <p:cNvSpPr/>
            <p:nvPr/>
          </p:nvSpPr>
          <p:spPr>
            <a:xfrm>
              <a:off x="901568" y="2296067"/>
              <a:ext cx="2261937" cy="3262964"/>
            </a:xfrm>
            <a:prstGeom prst="roundRect">
              <a:avLst>
                <a:gd name="adj" fmla="val 5163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sz="2400"/>
            </a:p>
            <a:p>
              <a:pPr algn="ctr"/>
              <a:r>
                <a:rPr lang="es-ES" sz="2400"/>
                <a:t>Java </a:t>
              </a:r>
              <a:br>
                <a:rPr lang="es-ES" sz="2400"/>
              </a:br>
              <a:r>
                <a:rPr lang="es-ES" sz="2400" err="1"/>
                <a:t>Platform</a:t>
              </a:r>
              <a:r>
                <a:rPr lang="es-ES" sz="2400"/>
                <a:t> Enterprise </a:t>
              </a:r>
              <a:r>
                <a:rPr lang="es-ES" sz="2400" err="1"/>
                <a:t>Edition</a:t>
              </a:r>
              <a:endParaRPr lang="en-US" sz="2400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E40047C1-CD69-E0B8-D602-9BE642ABB912}"/>
                </a:ext>
              </a:extLst>
            </p:cNvPr>
            <p:cNvSpPr/>
            <p:nvPr/>
          </p:nvSpPr>
          <p:spPr>
            <a:xfrm>
              <a:off x="901567" y="2296068"/>
              <a:ext cx="2261937" cy="635267"/>
            </a:xfrm>
            <a:custGeom>
              <a:avLst/>
              <a:gdLst>
                <a:gd name="connsiteX0" fmla="*/ 116784 w 2261937"/>
                <a:gd name="connsiteY0" fmla="*/ 0 h 635267"/>
                <a:gd name="connsiteX1" fmla="*/ 2145153 w 2261937"/>
                <a:gd name="connsiteY1" fmla="*/ 0 h 635267"/>
                <a:gd name="connsiteX2" fmla="*/ 2261937 w 2261937"/>
                <a:gd name="connsiteY2" fmla="*/ 116784 h 635267"/>
                <a:gd name="connsiteX3" fmla="*/ 2261937 w 2261937"/>
                <a:gd name="connsiteY3" fmla="*/ 635267 h 635267"/>
                <a:gd name="connsiteX4" fmla="*/ 0 w 2261937"/>
                <a:gd name="connsiteY4" fmla="*/ 635267 h 635267"/>
                <a:gd name="connsiteX5" fmla="*/ 0 w 2261937"/>
                <a:gd name="connsiteY5" fmla="*/ 116784 h 635267"/>
                <a:gd name="connsiteX6" fmla="*/ 116784 w 2261937"/>
                <a:gd name="connsiteY6" fmla="*/ 0 h 635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261937" h="635267">
                  <a:moveTo>
                    <a:pt x="116784" y="0"/>
                  </a:moveTo>
                  <a:lnTo>
                    <a:pt x="2145153" y="0"/>
                  </a:lnTo>
                  <a:cubicBezTo>
                    <a:pt x="2209651" y="0"/>
                    <a:pt x="2261937" y="52286"/>
                    <a:pt x="2261937" y="116784"/>
                  </a:cubicBezTo>
                  <a:lnTo>
                    <a:pt x="2261937" y="635267"/>
                  </a:lnTo>
                  <a:lnTo>
                    <a:pt x="0" y="635267"/>
                  </a:lnTo>
                  <a:lnTo>
                    <a:pt x="0" y="116784"/>
                  </a:lnTo>
                  <a:cubicBezTo>
                    <a:pt x="0" y="52286"/>
                    <a:pt x="52286" y="0"/>
                    <a:pt x="116784" y="0"/>
                  </a:cubicBez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lang="es-ES" sz="2400"/>
                <a:t>Java EE</a:t>
              </a:r>
              <a:endParaRPr lang="en-US" sz="2400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85E19987-5F42-E0C5-F831-F2D4336D242D}"/>
              </a:ext>
            </a:extLst>
          </p:cNvPr>
          <p:cNvGrpSpPr/>
          <p:nvPr/>
        </p:nvGrpSpPr>
        <p:grpSpPr>
          <a:xfrm>
            <a:off x="6115251" y="2879861"/>
            <a:ext cx="2261938" cy="3262964"/>
            <a:chOff x="901567" y="2296067"/>
            <a:chExt cx="2261938" cy="326296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0BBBC9E2-BE2B-5809-ACE7-A2C5A8C5B585}"/>
                </a:ext>
              </a:extLst>
            </p:cNvPr>
            <p:cNvSpPr/>
            <p:nvPr/>
          </p:nvSpPr>
          <p:spPr>
            <a:xfrm>
              <a:off x="901568" y="2296067"/>
              <a:ext cx="2261937" cy="3262964"/>
            </a:xfrm>
            <a:prstGeom prst="roundRect">
              <a:avLst>
                <a:gd name="adj" fmla="val 5163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sz="2400"/>
            </a:p>
            <a:p>
              <a:pPr algn="ctr"/>
              <a:r>
                <a:rPr lang="es-ES" sz="2400"/>
                <a:t>Java </a:t>
              </a:r>
              <a:br>
                <a:rPr lang="es-ES" sz="2400"/>
              </a:br>
              <a:r>
                <a:rPr lang="es-ES" sz="2400" err="1"/>
                <a:t>Platform</a:t>
              </a:r>
              <a:r>
                <a:rPr lang="es-ES" sz="2400"/>
                <a:t> </a:t>
              </a:r>
              <a:br>
                <a:rPr lang="es-ES" sz="2400"/>
              </a:br>
              <a:r>
                <a:rPr lang="es-ES" sz="2400"/>
                <a:t>Micro </a:t>
              </a:r>
              <a:br>
                <a:rPr lang="es-ES" sz="2400"/>
              </a:br>
              <a:r>
                <a:rPr lang="es-ES" sz="2400" err="1"/>
                <a:t>Edition</a:t>
              </a:r>
              <a:endParaRPr lang="en-US" sz="240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082D94C3-1965-E2FF-5B1C-B46941C93737}"/>
                </a:ext>
              </a:extLst>
            </p:cNvPr>
            <p:cNvSpPr/>
            <p:nvPr/>
          </p:nvSpPr>
          <p:spPr>
            <a:xfrm>
              <a:off x="901567" y="2296068"/>
              <a:ext cx="2261937" cy="635267"/>
            </a:xfrm>
            <a:custGeom>
              <a:avLst/>
              <a:gdLst>
                <a:gd name="connsiteX0" fmla="*/ 116784 w 2261937"/>
                <a:gd name="connsiteY0" fmla="*/ 0 h 635267"/>
                <a:gd name="connsiteX1" fmla="*/ 2145153 w 2261937"/>
                <a:gd name="connsiteY1" fmla="*/ 0 h 635267"/>
                <a:gd name="connsiteX2" fmla="*/ 2261937 w 2261937"/>
                <a:gd name="connsiteY2" fmla="*/ 116784 h 635267"/>
                <a:gd name="connsiteX3" fmla="*/ 2261937 w 2261937"/>
                <a:gd name="connsiteY3" fmla="*/ 635267 h 635267"/>
                <a:gd name="connsiteX4" fmla="*/ 0 w 2261937"/>
                <a:gd name="connsiteY4" fmla="*/ 635267 h 635267"/>
                <a:gd name="connsiteX5" fmla="*/ 0 w 2261937"/>
                <a:gd name="connsiteY5" fmla="*/ 116784 h 635267"/>
                <a:gd name="connsiteX6" fmla="*/ 116784 w 2261937"/>
                <a:gd name="connsiteY6" fmla="*/ 0 h 635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261937" h="635267">
                  <a:moveTo>
                    <a:pt x="116784" y="0"/>
                  </a:moveTo>
                  <a:lnTo>
                    <a:pt x="2145153" y="0"/>
                  </a:lnTo>
                  <a:cubicBezTo>
                    <a:pt x="2209651" y="0"/>
                    <a:pt x="2261937" y="52286"/>
                    <a:pt x="2261937" y="116784"/>
                  </a:cubicBezTo>
                  <a:lnTo>
                    <a:pt x="2261937" y="635267"/>
                  </a:lnTo>
                  <a:lnTo>
                    <a:pt x="0" y="635267"/>
                  </a:lnTo>
                  <a:lnTo>
                    <a:pt x="0" y="116784"/>
                  </a:lnTo>
                  <a:cubicBezTo>
                    <a:pt x="0" y="52286"/>
                    <a:pt x="52286" y="0"/>
                    <a:pt x="116784" y="0"/>
                  </a:cubicBezTo>
                  <a:close/>
                </a:path>
              </a:pathLst>
            </a:cu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lang="es-ES" sz="2400"/>
                <a:t>Java ME</a:t>
              </a:r>
              <a:endParaRPr lang="en-US" sz="2400"/>
            </a:p>
          </p:txBody>
        </p:sp>
      </p:grp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71B4655B-4DFA-DD21-11A5-1AFC249CE919}"/>
              </a:ext>
            </a:extLst>
          </p:cNvPr>
          <p:cNvSpPr/>
          <p:nvPr/>
        </p:nvSpPr>
        <p:spPr>
          <a:xfrm>
            <a:off x="8579318" y="2879861"/>
            <a:ext cx="2261937" cy="3262964"/>
          </a:xfrm>
          <a:prstGeom prst="roundRect">
            <a:avLst>
              <a:gd name="adj" fmla="val 5163"/>
            </a:avLst>
          </a:prstGeom>
          <a:solidFill>
            <a:srgbClr val="7030A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400"/>
              <a:t>Java </a:t>
            </a:r>
            <a:br>
              <a:rPr lang="es-ES" sz="2400"/>
            </a:br>
            <a:r>
              <a:rPr lang="es-ES" sz="2400"/>
              <a:t>FX</a:t>
            </a:r>
            <a:endParaRPr lang="en-US" sz="2400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7887C234-D6B1-9E61-78AB-D39D763993AE}"/>
              </a:ext>
            </a:extLst>
          </p:cNvPr>
          <p:cNvGrpSpPr/>
          <p:nvPr/>
        </p:nvGrpSpPr>
        <p:grpSpPr>
          <a:xfrm>
            <a:off x="839367" y="-36014"/>
            <a:ext cx="4629752" cy="1015663"/>
            <a:chOff x="924025" y="1526961"/>
            <a:chExt cx="4629752" cy="1015663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591C934F-FC96-7859-AEF4-B8EA762137FE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758F3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8D89339B-7B99-CE9C-98F0-3A4D6F9598EF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>
                  <a:solidFill>
                    <a:schemeClr val="bg1"/>
                  </a:solidFill>
                  <a:latin typeface="Helvetica" pitchFamily="2" charset="0"/>
                </a:rPr>
                <a:t>Introducción al </a:t>
              </a:r>
              <a:br>
                <a:rPr lang="es-ES">
                  <a:solidFill>
                    <a:schemeClr val="bg1"/>
                  </a:solidFill>
                  <a:latin typeface="Helvetica" pitchFamily="2" charset="0"/>
                </a:rPr>
              </a:br>
              <a:r>
                <a:rPr lang="es-ES">
                  <a:solidFill>
                    <a:schemeClr val="bg1"/>
                  </a:solidFill>
                  <a:latin typeface="Helvetica" pitchFamily="2" charset="0"/>
                </a:rPr>
                <a:t>lenguaje Java</a:t>
              </a:r>
              <a:endParaRPr lang="en-US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4C230DD7-8AD8-75E1-8B3B-E0A0F08211BC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>
                  <a:solidFill>
                    <a:schemeClr val="bg1"/>
                  </a:solidFill>
                  <a:latin typeface="Helvetica" pitchFamily="2" charset="0"/>
                </a:rPr>
                <a:t>3</a:t>
              </a:r>
              <a:endParaRPr lang="en-US" sz="6000" b="1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CAA1CD79-184F-3458-5938-0F3A976C8B2D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403168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69B77E-F5CB-7EB2-89DB-5FB3439708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Edición Java SE</a:t>
            </a:r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F412BC9-2C09-BD23-5A24-923CF369440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21</a:t>
            </a:fld>
            <a:endParaRPr lang="es-P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6C9F3C-BA37-347D-CA80-77721F625F2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38200" y="1846263"/>
            <a:ext cx="8007417" cy="4373562"/>
          </a:xfrm>
        </p:spPr>
        <p:txBody>
          <a:bodyPr/>
          <a:lstStyle/>
          <a:p>
            <a:r>
              <a:rPr lang="es-ES"/>
              <a:t>Es la edición más utilizada.</a:t>
            </a:r>
          </a:p>
          <a:p>
            <a:r>
              <a:rPr lang="es-ES"/>
              <a:t>Incluye funcionalidad básica del lenguaje.</a:t>
            </a:r>
          </a:p>
          <a:p>
            <a:r>
              <a:rPr lang="es-ES"/>
              <a:t>Incluye desde tipos básicos hasta clases de alto nivel (GUI, bases de datos, seguridad, XML, etc.)</a:t>
            </a:r>
          </a:p>
          <a:p>
            <a:r>
              <a:rPr lang="es-ES"/>
              <a:t>Usado en aplicaciones de consola, </a:t>
            </a:r>
            <a:r>
              <a:rPr lang="es-ES" err="1"/>
              <a:t>GUIs</a:t>
            </a:r>
            <a:r>
              <a:rPr lang="es-ES"/>
              <a:t> o bibliotecas.</a:t>
            </a:r>
          </a:p>
          <a:p>
            <a:r>
              <a:rPr lang="es-ES"/>
              <a:t>Versión más reciente: </a:t>
            </a:r>
            <a:r>
              <a:rPr lang="es-ES">
                <a:hlinkClick r:id="rId2"/>
              </a:rPr>
              <a:t>Java SE 19</a:t>
            </a:r>
            <a:r>
              <a:rPr lang="es-ES"/>
              <a:t> (SET 2022)</a:t>
            </a:r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1EF1372-7AFA-6FC1-AA53-4AC815A062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0600" y="2389113"/>
            <a:ext cx="3429000" cy="261937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73D258F-FC2D-3179-5B26-7CFACB50A939}"/>
              </a:ext>
            </a:extLst>
          </p:cNvPr>
          <p:cNvSpPr txBox="1"/>
          <p:nvPr/>
        </p:nvSpPr>
        <p:spPr>
          <a:xfrm>
            <a:off x="126748" y="6376940"/>
            <a:ext cx="105835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>
                <a:solidFill>
                  <a:schemeClr val="accent3"/>
                </a:solidFill>
              </a:rPr>
              <a:t>Imagen </a:t>
            </a:r>
            <a:r>
              <a:rPr lang="en-US" sz="900" err="1">
                <a:solidFill>
                  <a:schemeClr val="accent3"/>
                </a:solidFill>
              </a:rPr>
              <a:t>extraída</a:t>
            </a:r>
            <a:r>
              <a:rPr lang="en-US" sz="900">
                <a:solidFill>
                  <a:schemeClr val="accent3"/>
                </a:solidFill>
              </a:rPr>
              <a:t> de:</a:t>
            </a:r>
            <a:br>
              <a:rPr lang="en-US" sz="900">
                <a:solidFill>
                  <a:schemeClr val="accent3"/>
                </a:solidFill>
              </a:rPr>
            </a:br>
            <a:r>
              <a:rPr lang="en-US" sz="900">
                <a:solidFill>
                  <a:schemeClr val="accent3"/>
                </a:solidFill>
              </a:rPr>
              <a:t>http://www.snapedu.in/wp-content/uploads/2016/11/java-se.png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B9035565-3319-AFC3-E60D-F6F2B93057E0}"/>
              </a:ext>
            </a:extLst>
          </p:cNvPr>
          <p:cNvGrpSpPr/>
          <p:nvPr/>
        </p:nvGrpSpPr>
        <p:grpSpPr>
          <a:xfrm>
            <a:off x="839367" y="-36014"/>
            <a:ext cx="4629752" cy="1015663"/>
            <a:chOff x="924025" y="1526961"/>
            <a:chExt cx="4629752" cy="1015663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10B3A1B1-2334-5DD4-27B1-E2894AA5C599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758F3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04EDAC83-F6C8-5FCF-0E6F-3CF5AD41FED0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>
                  <a:solidFill>
                    <a:schemeClr val="bg1"/>
                  </a:solidFill>
                  <a:latin typeface="Helvetica" pitchFamily="2" charset="0"/>
                </a:rPr>
                <a:t>Introducción al </a:t>
              </a:r>
              <a:br>
                <a:rPr lang="es-ES">
                  <a:solidFill>
                    <a:schemeClr val="bg1"/>
                  </a:solidFill>
                  <a:latin typeface="Helvetica" pitchFamily="2" charset="0"/>
                </a:rPr>
              </a:br>
              <a:r>
                <a:rPr lang="es-ES">
                  <a:solidFill>
                    <a:schemeClr val="bg1"/>
                  </a:solidFill>
                  <a:latin typeface="Helvetica" pitchFamily="2" charset="0"/>
                </a:rPr>
                <a:t>lenguaje Java</a:t>
              </a:r>
              <a:endParaRPr lang="en-US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D2D2D3D7-E228-C783-12B5-C1397E24BC46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>
                  <a:solidFill>
                    <a:schemeClr val="bg1"/>
                  </a:solidFill>
                  <a:latin typeface="Helvetica" pitchFamily="2" charset="0"/>
                </a:rPr>
                <a:t>3</a:t>
              </a:r>
              <a:endParaRPr lang="en-US" sz="6000" b="1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210A3315-C82B-43AF-A42E-F451BE67D117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0845051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E92D1A-A225-361A-3DA6-0EEEBA5F28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Componentes de Java SE</a:t>
            </a:r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CBDF2EB-0CB0-2430-9B73-CDF646DD03A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22</a:t>
            </a:fld>
            <a:endParaRPr lang="es-PE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62A0B5F-8840-C299-23E8-44A2DAF41C6E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2800423" y="1536807"/>
            <a:ext cx="6591154" cy="481954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DBB1482-D4E2-959C-4359-501BD51A9BCA}"/>
              </a:ext>
            </a:extLst>
          </p:cNvPr>
          <p:cNvSpPr txBox="1"/>
          <p:nvPr/>
        </p:nvSpPr>
        <p:spPr>
          <a:xfrm>
            <a:off x="122722" y="6466839"/>
            <a:ext cx="609760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>
                <a:solidFill>
                  <a:schemeClr val="bg1">
                    <a:lumMod val="50000"/>
                  </a:schemeClr>
                </a:solidFill>
              </a:rPr>
              <a:t>Imagen </a:t>
            </a:r>
            <a:r>
              <a:rPr lang="en-US" sz="900" err="1">
                <a:solidFill>
                  <a:schemeClr val="bg1">
                    <a:lumMod val="50000"/>
                  </a:schemeClr>
                </a:solidFill>
              </a:rPr>
              <a:t>obtenida</a:t>
            </a:r>
            <a:r>
              <a:rPr lang="en-US" sz="900">
                <a:solidFill>
                  <a:schemeClr val="bg1">
                    <a:lumMod val="50000"/>
                  </a:schemeClr>
                </a:solidFill>
              </a:rPr>
              <a:t> de: https://docs.oracle.com/javase/8/docs/index.html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49AFAD69-7089-F7D5-303E-1E4055E28897}"/>
              </a:ext>
            </a:extLst>
          </p:cNvPr>
          <p:cNvGrpSpPr/>
          <p:nvPr/>
        </p:nvGrpSpPr>
        <p:grpSpPr>
          <a:xfrm>
            <a:off x="839367" y="-36014"/>
            <a:ext cx="4629752" cy="1015663"/>
            <a:chOff x="924025" y="1526961"/>
            <a:chExt cx="4629752" cy="1015663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CA220E2B-CC70-1911-56AF-D46D656275A6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758F3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F766DB9F-978E-E768-B2B7-A86FCD67A1F4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>
                  <a:solidFill>
                    <a:schemeClr val="bg1"/>
                  </a:solidFill>
                  <a:latin typeface="Helvetica" pitchFamily="2" charset="0"/>
                </a:rPr>
                <a:t>Introducción al </a:t>
              </a:r>
              <a:br>
                <a:rPr lang="es-ES">
                  <a:solidFill>
                    <a:schemeClr val="bg1"/>
                  </a:solidFill>
                  <a:latin typeface="Helvetica" pitchFamily="2" charset="0"/>
                </a:rPr>
              </a:br>
              <a:r>
                <a:rPr lang="es-ES">
                  <a:solidFill>
                    <a:schemeClr val="bg1"/>
                  </a:solidFill>
                  <a:latin typeface="Helvetica" pitchFamily="2" charset="0"/>
                </a:rPr>
                <a:t>lenguaje Java</a:t>
              </a:r>
              <a:endParaRPr lang="en-US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4CD705DA-D49E-EE70-7C78-1F6927F163C9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>
                  <a:solidFill>
                    <a:schemeClr val="bg1"/>
                  </a:solidFill>
                  <a:latin typeface="Helvetica" pitchFamily="2" charset="0"/>
                </a:rPr>
                <a:t>3</a:t>
              </a:r>
              <a:endParaRPr lang="en-US" sz="6000" b="1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7A9087B2-5CF1-0B74-D30A-FBAB2EC6B797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7447554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" name="Group 39">
            <a:extLst>
              <a:ext uri="{FF2B5EF4-FFF2-40B4-BE49-F238E27FC236}">
                <a16:creationId xmlns:a16="http://schemas.microsoft.com/office/drawing/2014/main" id="{C0EBFC4B-97B9-EE23-54E6-35D0BD1A72B6}"/>
              </a:ext>
            </a:extLst>
          </p:cNvPr>
          <p:cNvGrpSpPr/>
          <p:nvPr/>
        </p:nvGrpSpPr>
        <p:grpSpPr>
          <a:xfrm>
            <a:off x="6724048" y="1782509"/>
            <a:ext cx="4629752" cy="1015663"/>
            <a:chOff x="924025" y="1526961"/>
            <a:chExt cx="4629752" cy="1015663"/>
          </a:xfrm>
        </p:grpSpPr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4FE8F910-E501-76FA-7ECF-5ADB916A9A3E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8F2A2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FE3C8125-0623-B6FF-9FE1-0715FE1439E0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rtlCol="0" anchor="t">
              <a:spAutoFit/>
            </a:bodyPr>
            <a:lstStyle/>
            <a:p>
              <a:r>
                <a:rPr lang="es-ES">
                  <a:solidFill>
                    <a:schemeClr val="bg1"/>
                  </a:solidFill>
                  <a:latin typeface="Helvetica"/>
                </a:rPr>
                <a:t>Práctica</a:t>
              </a:r>
              <a:endParaRPr lang="en-US"/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FB2CE88F-B9E6-8333-5227-9BC78AB02562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>
                  <a:solidFill>
                    <a:schemeClr val="bg1"/>
                  </a:solidFill>
                  <a:latin typeface="Helvetica" pitchFamily="2" charset="0"/>
                </a:rPr>
                <a:t>8</a:t>
              </a:r>
              <a:endParaRPr lang="en-US" sz="6000" b="1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0EA75671-C972-4E78-C608-76524A6F268E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6C6B983-D187-5021-011D-340D9A64632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23</a:t>
            </a:fld>
            <a:endParaRPr lang="es-PE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4C62550A-9487-0FB4-AEF5-18BF59D1D1BB}"/>
              </a:ext>
            </a:extLst>
          </p:cNvPr>
          <p:cNvGrpSpPr/>
          <p:nvPr/>
        </p:nvGrpSpPr>
        <p:grpSpPr>
          <a:xfrm>
            <a:off x="1955128" y="1782509"/>
            <a:ext cx="4629752" cy="1015663"/>
            <a:chOff x="924025" y="1526961"/>
            <a:chExt cx="4629752" cy="1015663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9EE3C4A-25E0-0661-5719-DFD8A408196E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0E7D7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8F03E694-3539-B74F-A7F9-A90BF4FC7172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>
                  <a:solidFill>
                    <a:schemeClr val="bg1"/>
                  </a:solidFill>
                  <a:latin typeface="Helvetica" pitchFamily="2" charset="0"/>
                </a:rPr>
                <a:t>Compiladores e</a:t>
              </a:r>
            </a:p>
            <a:p>
              <a:r>
                <a:rPr lang="es-ES">
                  <a:solidFill>
                    <a:schemeClr val="bg1"/>
                  </a:solidFill>
                  <a:latin typeface="Helvetica" pitchFamily="2" charset="0"/>
                </a:rPr>
                <a:t>Intérpretes</a:t>
              </a:r>
              <a:endParaRPr lang="en-US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0BD6589-A9C6-D2FD-D50D-C5AAC8113E8A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>
                  <a:solidFill>
                    <a:schemeClr val="bg1"/>
                  </a:solidFill>
                  <a:latin typeface="Helvetica" pitchFamily="2" charset="0"/>
                </a:rPr>
                <a:t>2</a:t>
              </a:r>
              <a:endParaRPr lang="en-US" sz="6000" b="1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FE0265B7-9BAF-D770-6E56-5AE1A9C41973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5598A8C9-355C-B375-F419-53EB7FBA52CF}"/>
              </a:ext>
            </a:extLst>
          </p:cNvPr>
          <p:cNvGrpSpPr/>
          <p:nvPr/>
        </p:nvGrpSpPr>
        <p:grpSpPr>
          <a:xfrm>
            <a:off x="1955128" y="2672054"/>
            <a:ext cx="4629752" cy="1015663"/>
            <a:chOff x="924025" y="1526961"/>
            <a:chExt cx="4629752" cy="1015663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968C5937-AEC8-D4AC-1863-47EC6A0DD5D7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758F3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9B9DA0B8-3305-EA9B-D50C-133423FA16B6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>
                  <a:solidFill>
                    <a:schemeClr val="bg1"/>
                  </a:solidFill>
                  <a:latin typeface="Helvetica" pitchFamily="2" charset="0"/>
                </a:rPr>
                <a:t>Introducción al </a:t>
              </a:r>
              <a:br>
                <a:rPr lang="es-ES">
                  <a:solidFill>
                    <a:schemeClr val="bg1"/>
                  </a:solidFill>
                  <a:latin typeface="Helvetica" pitchFamily="2" charset="0"/>
                </a:rPr>
              </a:br>
              <a:r>
                <a:rPr lang="es-ES">
                  <a:solidFill>
                    <a:schemeClr val="bg1"/>
                  </a:solidFill>
                  <a:latin typeface="Helvetica" pitchFamily="2" charset="0"/>
                </a:rPr>
                <a:t>lenguaje Java</a:t>
              </a:r>
              <a:endParaRPr lang="en-US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E719D950-4EA4-CB17-5AF9-0E716D1D0C97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>
                  <a:solidFill>
                    <a:schemeClr val="bg1"/>
                  </a:solidFill>
                  <a:latin typeface="Helvetica" pitchFamily="2" charset="0"/>
                </a:rPr>
                <a:t>3</a:t>
              </a:r>
              <a:endParaRPr lang="en-US" sz="6000" b="1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5DB44CEB-5449-91C4-4D8C-947E50150B6A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20E7D35A-999B-BEC3-A1FE-83D4A699084C}"/>
              </a:ext>
            </a:extLst>
          </p:cNvPr>
          <p:cNvGrpSpPr/>
          <p:nvPr/>
        </p:nvGrpSpPr>
        <p:grpSpPr>
          <a:xfrm>
            <a:off x="1955128" y="4451144"/>
            <a:ext cx="4629752" cy="1015663"/>
            <a:chOff x="924025" y="1526961"/>
            <a:chExt cx="4629752" cy="1015663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EDE43D48-A8F8-0DF2-1001-D5FDD5FF2C6B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8F2A2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C2BEA270-D0DD-E83C-8505-88C9D29A50BF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>
                  <a:solidFill>
                    <a:schemeClr val="bg1"/>
                  </a:solidFill>
                  <a:latin typeface="Helvetica" pitchFamily="2" charset="0"/>
                </a:rPr>
                <a:t>Compilación y </a:t>
              </a:r>
              <a:br>
                <a:rPr lang="es-ES">
                  <a:solidFill>
                    <a:schemeClr val="bg1"/>
                  </a:solidFill>
                  <a:latin typeface="Helvetica" pitchFamily="2" charset="0"/>
                </a:rPr>
              </a:br>
              <a:r>
                <a:rPr lang="es-ES">
                  <a:solidFill>
                    <a:schemeClr val="bg1"/>
                  </a:solidFill>
                  <a:latin typeface="Helvetica" pitchFamily="2" charset="0"/>
                </a:rPr>
                <a:t>ejecución</a:t>
              </a:r>
              <a:endParaRPr lang="en-US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650D84CE-F32A-1F88-1274-CAA8D6234924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>
                  <a:solidFill>
                    <a:schemeClr val="bg1"/>
                  </a:solidFill>
                  <a:latin typeface="Helvetica" pitchFamily="2" charset="0"/>
                </a:rPr>
                <a:t>5</a:t>
              </a:r>
              <a:endParaRPr lang="en-US" sz="6000" b="1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81D92532-6B25-E809-E479-70119D6AA69E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1EA7DF23-1534-8674-0364-FDC45E5DD81C}"/>
              </a:ext>
            </a:extLst>
          </p:cNvPr>
          <p:cNvGrpSpPr/>
          <p:nvPr/>
        </p:nvGrpSpPr>
        <p:grpSpPr>
          <a:xfrm>
            <a:off x="1955128" y="5340687"/>
            <a:ext cx="4629752" cy="1015663"/>
            <a:chOff x="924025" y="1526961"/>
            <a:chExt cx="4629752" cy="1015663"/>
          </a:xfrm>
        </p:grpSpPr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A13A47C2-3050-70BF-03DC-CCA7B4126952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AD94C077-B4AA-B319-24D7-C5B1DE74BBDB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>
                  <a:solidFill>
                    <a:schemeClr val="bg1"/>
                  </a:solidFill>
                  <a:latin typeface="Helvetica" pitchFamily="2" charset="0"/>
                </a:rPr>
                <a:t>Código intermedio y </a:t>
              </a:r>
              <a:br>
                <a:rPr lang="es-ES">
                  <a:solidFill>
                    <a:schemeClr val="bg1"/>
                  </a:solidFill>
                  <a:latin typeface="Helvetica" pitchFamily="2" charset="0"/>
                </a:rPr>
              </a:br>
              <a:r>
                <a:rPr lang="es-ES">
                  <a:solidFill>
                    <a:schemeClr val="bg1"/>
                  </a:solidFill>
                  <a:latin typeface="Helvetica" pitchFamily="2" charset="0"/>
                </a:rPr>
                <a:t>JVM</a:t>
              </a:r>
              <a:endParaRPr lang="en-US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739B75E7-C4E8-816E-FBEB-C8DC5FFDC85F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>
                  <a:solidFill>
                    <a:schemeClr val="bg1"/>
                  </a:solidFill>
                  <a:latin typeface="Helvetica" pitchFamily="2" charset="0"/>
                </a:rPr>
                <a:t>6</a:t>
              </a:r>
              <a:endParaRPr lang="en-US" sz="6000" b="1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ECF212AE-2B6A-DF71-7FC5-AE34B93BB598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4BEE2914-3C25-D19B-57C0-F6E598922A1E}"/>
              </a:ext>
            </a:extLst>
          </p:cNvPr>
          <p:cNvGrpSpPr/>
          <p:nvPr/>
        </p:nvGrpSpPr>
        <p:grpSpPr>
          <a:xfrm>
            <a:off x="6724048" y="892964"/>
            <a:ext cx="4629752" cy="1015663"/>
            <a:chOff x="924025" y="1526961"/>
            <a:chExt cx="4629752" cy="1015663"/>
          </a:xfrm>
        </p:grpSpPr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069C6825-69EA-8D72-4345-309D24E6D675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39F07254-1903-E065-8A8C-CBBABBCAA893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>
                  <a:solidFill>
                    <a:schemeClr val="bg1"/>
                  </a:solidFill>
                  <a:latin typeface="Helvetica" pitchFamily="2" charset="0"/>
                </a:rPr>
                <a:t>Clase principal y método </a:t>
              </a:r>
              <a:r>
                <a:rPr lang="es-ES" err="1">
                  <a:solidFill>
                    <a:schemeClr val="bg1"/>
                  </a:solidFill>
                  <a:latin typeface="Helvetica" pitchFamily="2" charset="0"/>
                </a:rPr>
                <a:t>main</a:t>
              </a:r>
              <a:endParaRPr lang="en-US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40F6FA04-8D92-0B29-3784-F4044CE9F110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>
                  <a:solidFill>
                    <a:schemeClr val="bg1"/>
                  </a:solidFill>
                  <a:latin typeface="Helvetica" pitchFamily="2" charset="0"/>
                </a:rPr>
                <a:t>7</a:t>
              </a:r>
              <a:endParaRPr lang="en-US" sz="6000" b="1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959003DD-D67B-3D2D-7CDF-D9E1CE9AA9B3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6B32F08B-E599-8764-EE5E-B3C48CE274CF}"/>
              </a:ext>
            </a:extLst>
          </p:cNvPr>
          <p:cNvSpPr txBox="1"/>
          <p:nvPr/>
        </p:nvSpPr>
        <p:spPr>
          <a:xfrm rot="16200000">
            <a:off x="-1552306" y="2760043"/>
            <a:ext cx="5599610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8800" b="1">
                <a:solidFill>
                  <a:schemeClr val="bg1">
                    <a:lumMod val="85000"/>
                  </a:schemeClr>
                </a:solidFill>
                <a:latin typeface="Helvetica" pitchFamily="2" charset="0"/>
              </a:rPr>
              <a:t>contenido</a:t>
            </a:r>
            <a:endParaRPr lang="en-US" sz="8800" b="1">
              <a:solidFill>
                <a:schemeClr val="bg1">
                  <a:lumMod val="85000"/>
                </a:schemeClr>
              </a:solidFill>
              <a:latin typeface="Helvetica" pitchFamily="2" charset="0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6D8EC2C4-D534-A87E-5305-9BD92B9838D9}"/>
              </a:ext>
            </a:extLst>
          </p:cNvPr>
          <p:cNvGrpSpPr/>
          <p:nvPr/>
        </p:nvGrpSpPr>
        <p:grpSpPr>
          <a:xfrm>
            <a:off x="1955128" y="892964"/>
            <a:ext cx="4629752" cy="1015663"/>
            <a:chOff x="924025" y="1526961"/>
            <a:chExt cx="4629752" cy="1015663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AFE41E11-2903-D4AD-BABB-046EDBE4AABD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1B5E8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AFB12F7A-F286-0B30-D30E-E9A916CC839B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>
                  <a:solidFill>
                    <a:schemeClr val="bg1"/>
                  </a:solidFill>
                  <a:latin typeface="Helvetica" pitchFamily="2" charset="0"/>
                </a:rPr>
                <a:t>Introducción a los lenguajes de programación</a:t>
              </a:r>
              <a:endParaRPr lang="en-US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93EEA1CE-79B2-915B-2C77-2F1212A1BF67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>
                  <a:solidFill>
                    <a:schemeClr val="bg1"/>
                  </a:solidFill>
                  <a:latin typeface="Helvetica" pitchFamily="2" charset="0"/>
                </a:rPr>
                <a:t>1</a:t>
              </a:r>
              <a:endParaRPr lang="en-US" sz="6000" b="1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830C6426-CF18-244B-D9EC-4576E393467C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" name="Rectangle 3">
            <a:extLst>
              <a:ext uri="{FF2B5EF4-FFF2-40B4-BE49-F238E27FC236}">
                <a16:creationId xmlns:a16="http://schemas.microsoft.com/office/drawing/2014/main" id="{5F0AD512-DC53-811E-0839-3807ECBC949B}"/>
              </a:ext>
            </a:extLst>
          </p:cNvPr>
          <p:cNvSpPr/>
          <p:nvPr/>
        </p:nvSpPr>
        <p:spPr>
          <a:xfrm>
            <a:off x="1801640" y="683513"/>
            <a:ext cx="9678154" cy="5599610"/>
          </a:xfrm>
          <a:prstGeom prst="rect">
            <a:avLst/>
          </a:prstGeom>
          <a:solidFill>
            <a:schemeClr val="bg1">
              <a:alpha val="8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B25B4B5B-713C-2D58-C773-D4CFF9997391}"/>
              </a:ext>
            </a:extLst>
          </p:cNvPr>
          <p:cNvGrpSpPr/>
          <p:nvPr/>
        </p:nvGrpSpPr>
        <p:grpSpPr>
          <a:xfrm>
            <a:off x="1955128" y="3561599"/>
            <a:ext cx="4629752" cy="1015663"/>
            <a:chOff x="924025" y="1526961"/>
            <a:chExt cx="4629752" cy="1015663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D5F2FB8B-07D6-48FB-E370-38EA16365289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BA750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728AFDEB-1E73-3FEA-2DFF-DBAF08C0A2B6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>
                  <a:solidFill>
                    <a:schemeClr val="bg1"/>
                  </a:solidFill>
                  <a:latin typeface="Helvetica" pitchFamily="2" charset="0"/>
                </a:rPr>
                <a:t>Entorno de desarrollo y ejecución Java</a:t>
              </a:r>
              <a:endParaRPr lang="en-US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302F77E9-2E11-217F-40EC-8E3C7703B3BB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>
                  <a:solidFill>
                    <a:schemeClr val="bg1"/>
                  </a:solidFill>
                  <a:latin typeface="Helvetica" pitchFamily="2" charset="0"/>
                </a:rPr>
                <a:t>4</a:t>
              </a:r>
              <a:endParaRPr lang="en-US" sz="6000" b="1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369D5F82-C60A-5B84-5E19-A1B153065B8D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0796252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E4E95C-DE9F-4853-E71A-829637C8ED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Requisitos para programar en Java</a:t>
            </a:r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D7D1E3E-9DF5-05F4-D276-06BDC2021AC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24</a:t>
            </a:fld>
            <a:endParaRPr lang="es-PE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4F3CB901-E83A-3E6C-6343-8B768835565C}"/>
              </a:ext>
            </a:extLst>
          </p:cNvPr>
          <p:cNvGrpSpPr/>
          <p:nvPr/>
        </p:nvGrpSpPr>
        <p:grpSpPr>
          <a:xfrm>
            <a:off x="1861523" y="1771469"/>
            <a:ext cx="1802752" cy="1723881"/>
            <a:chOff x="1645988" y="1343377"/>
            <a:chExt cx="1802752" cy="1723881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BA824B6A-E9C6-479A-F700-7BB0230D686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083733" y="1343377"/>
              <a:ext cx="691984" cy="758651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6EB1B4B5-CCF0-B48C-2FB4-03167405FD5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645988" y="2176375"/>
              <a:ext cx="832832" cy="827171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93DB46EA-5D6D-0317-25CF-F4A11E94E3F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494145" y="2112663"/>
              <a:ext cx="954595" cy="954595"/>
            </a:xfrm>
            <a:prstGeom prst="rect">
              <a:avLst/>
            </a:prstGeom>
          </p:spPr>
        </p:pic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B4F62976-3496-2AA0-29EB-F2AD212923E7}"/>
              </a:ext>
            </a:extLst>
          </p:cNvPr>
          <p:cNvGrpSpPr/>
          <p:nvPr/>
        </p:nvGrpSpPr>
        <p:grpSpPr>
          <a:xfrm>
            <a:off x="8672434" y="1771469"/>
            <a:ext cx="1186543" cy="1600200"/>
            <a:chOff x="2262197" y="3712863"/>
            <a:chExt cx="1186543" cy="1600200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C5BB2258-FD3A-4FCA-1636-B36A0BADDD7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262197" y="3712863"/>
              <a:ext cx="1186543" cy="1186543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B1AAE7EE-7AC7-861C-2A71-312D389530AA}"/>
                </a:ext>
              </a:extLst>
            </p:cNvPr>
            <p:cNvSpPr txBox="1"/>
            <p:nvPr/>
          </p:nvSpPr>
          <p:spPr>
            <a:xfrm>
              <a:off x="2262197" y="5005286"/>
              <a:ext cx="1150178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s-ES" sz="1400">
                  <a:solidFill>
                    <a:schemeClr val="bg1">
                      <a:lumMod val="50000"/>
                    </a:schemeClr>
                  </a:solidFill>
                  <a:latin typeface="Helvetica" pitchFamily="2" charset="0"/>
                </a:rPr>
                <a:t>32/64 bits</a:t>
              </a:r>
              <a:endParaRPr lang="en-US" sz="1400">
                <a:solidFill>
                  <a:schemeClr val="bg1">
                    <a:lumMod val="50000"/>
                  </a:schemeClr>
                </a:solidFill>
                <a:latin typeface="Helvetica" pitchFamily="2" charset="0"/>
              </a:endParaRP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1D93B2B4-8804-049D-99F5-DF7201A6E372}"/>
              </a:ext>
            </a:extLst>
          </p:cNvPr>
          <p:cNvGrpSpPr/>
          <p:nvPr/>
        </p:nvGrpSpPr>
        <p:grpSpPr>
          <a:xfrm>
            <a:off x="5120403" y="4740580"/>
            <a:ext cx="1447870" cy="1709480"/>
            <a:chOff x="4648130" y="4746425"/>
            <a:chExt cx="1447870" cy="1709480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4470FECB-9764-7646-4B09-11DDEB2F53C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648130" y="4746425"/>
              <a:ext cx="1447870" cy="1447870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8A90482F-5155-5C86-254A-56CF221A80DC}"/>
                </a:ext>
              </a:extLst>
            </p:cNvPr>
            <p:cNvSpPr txBox="1"/>
            <p:nvPr/>
          </p:nvSpPr>
          <p:spPr>
            <a:xfrm>
              <a:off x="4810829" y="5932685"/>
              <a:ext cx="1150178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s-ES" sz="1400">
                  <a:solidFill>
                    <a:schemeClr val="bg1">
                      <a:lumMod val="50000"/>
                    </a:schemeClr>
                  </a:solidFill>
                  <a:latin typeface="Helvetica" pitchFamily="2" charset="0"/>
                </a:rPr>
                <a:t>4 GB (mínimo)</a:t>
              </a:r>
              <a:endParaRPr lang="en-US" sz="1400">
                <a:solidFill>
                  <a:schemeClr val="bg1">
                    <a:lumMod val="50000"/>
                  </a:schemeClr>
                </a:solidFill>
                <a:latin typeface="Helvetica" pitchFamily="2" charset="0"/>
              </a:endParaRP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88DEE351-9A88-49FC-2894-79B0F3962FAF}"/>
              </a:ext>
            </a:extLst>
          </p:cNvPr>
          <p:cNvGrpSpPr/>
          <p:nvPr/>
        </p:nvGrpSpPr>
        <p:grpSpPr>
          <a:xfrm>
            <a:off x="2336517" y="4399862"/>
            <a:ext cx="1219200" cy="1526978"/>
            <a:chOff x="571003" y="4983260"/>
            <a:chExt cx="1219200" cy="1526978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3221F87A-710C-AE45-7533-AFDBFCD1C7B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71003" y="4983260"/>
              <a:ext cx="1219200" cy="1219200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BC277580-51E0-2D20-E1CB-A23D730DE8BB}"/>
                </a:ext>
              </a:extLst>
            </p:cNvPr>
            <p:cNvSpPr txBox="1"/>
            <p:nvPr/>
          </p:nvSpPr>
          <p:spPr>
            <a:xfrm>
              <a:off x="571003" y="6202461"/>
              <a:ext cx="1150178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s-ES" sz="1400">
                  <a:solidFill>
                    <a:schemeClr val="bg1">
                      <a:lumMod val="50000"/>
                    </a:schemeClr>
                  </a:solidFill>
                  <a:latin typeface="Helvetica" pitchFamily="2" charset="0"/>
                </a:rPr>
                <a:t>2 GB</a:t>
              </a:r>
              <a:endParaRPr lang="en-US" sz="1400">
                <a:solidFill>
                  <a:schemeClr val="bg1">
                    <a:lumMod val="50000"/>
                  </a:schemeClr>
                </a:solidFill>
                <a:latin typeface="Helvetica" pitchFamily="2" charset="0"/>
              </a:endParaRPr>
            </a:p>
          </p:txBody>
        </p:sp>
      </p:grpSp>
      <p:pic>
        <p:nvPicPr>
          <p:cNvPr id="15" name="Picture 14">
            <a:extLst>
              <a:ext uri="{FF2B5EF4-FFF2-40B4-BE49-F238E27FC236}">
                <a16:creationId xmlns:a16="http://schemas.microsoft.com/office/drawing/2014/main" id="{40F040A1-D3E5-BDB9-526E-051A02B61D6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95130" y="2241317"/>
            <a:ext cx="2447925" cy="1866900"/>
          </a:xfrm>
          <a:prstGeom prst="rect">
            <a:avLst/>
          </a:prstGeom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75622052-81E3-A80B-D6A3-D3C6F0AE0E57}"/>
              </a:ext>
            </a:extLst>
          </p:cNvPr>
          <p:cNvGrpSpPr/>
          <p:nvPr/>
        </p:nvGrpSpPr>
        <p:grpSpPr>
          <a:xfrm>
            <a:off x="8484429" y="4370275"/>
            <a:ext cx="1311149" cy="1818175"/>
            <a:chOff x="9004641" y="4376120"/>
            <a:chExt cx="1311149" cy="1818175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397F62DF-3451-13A5-270C-1C490D49E10E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9004641" y="4376120"/>
              <a:ext cx="1311149" cy="1311149"/>
            </a:xfrm>
            <a:prstGeom prst="rect">
              <a:avLst/>
            </a:prstGeom>
          </p:spPr>
        </p:pic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644E9ECB-F2DA-C404-C2EE-CDA541E9B70E}"/>
                </a:ext>
              </a:extLst>
            </p:cNvPr>
            <p:cNvSpPr txBox="1"/>
            <p:nvPr/>
          </p:nvSpPr>
          <p:spPr>
            <a:xfrm>
              <a:off x="9085126" y="5671075"/>
              <a:ext cx="1150178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s-ES" sz="1400">
                  <a:solidFill>
                    <a:schemeClr val="bg1">
                      <a:lumMod val="50000"/>
                    </a:schemeClr>
                  </a:solidFill>
                  <a:latin typeface="Helvetica" pitchFamily="2" charset="0"/>
                </a:rPr>
                <a:t>IDE o Editor de Código</a:t>
              </a:r>
              <a:endParaRPr lang="en-US" sz="1400">
                <a:solidFill>
                  <a:schemeClr val="bg1">
                    <a:lumMod val="50000"/>
                  </a:schemeClr>
                </a:solidFill>
                <a:latin typeface="Helvetica" pitchFamily="2" charset="0"/>
              </a:endParaRPr>
            </a:p>
          </p:txBody>
        </p:sp>
      </p:grpSp>
      <p:sp>
        <p:nvSpPr>
          <p:cNvPr id="23" name="Arrow: Right 22">
            <a:extLst>
              <a:ext uri="{FF2B5EF4-FFF2-40B4-BE49-F238E27FC236}">
                <a16:creationId xmlns:a16="http://schemas.microsoft.com/office/drawing/2014/main" id="{1A58BFC7-B0AE-7FF2-5906-AC0B16FCF103}"/>
              </a:ext>
            </a:extLst>
          </p:cNvPr>
          <p:cNvSpPr/>
          <p:nvPr/>
        </p:nvSpPr>
        <p:spPr>
          <a:xfrm rot="20565595">
            <a:off x="7162523" y="2974312"/>
            <a:ext cx="1197706" cy="400910"/>
          </a:xfrm>
          <a:prstGeom prst="rightArrow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Arrow: Right 23">
            <a:extLst>
              <a:ext uri="{FF2B5EF4-FFF2-40B4-BE49-F238E27FC236}">
                <a16:creationId xmlns:a16="http://schemas.microsoft.com/office/drawing/2014/main" id="{47F930BE-09EF-2068-E1AE-3F7584137418}"/>
              </a:ext>
            </a:extLst>
          </p:cNvPr>
          <p:cNvSpPr/>
          <p:nvPr/>
        </p:nvSpPr>
        <p:spPr>
          <a:xfrm rot="1555088">
            <a:off x="6973348" y="4316341"/>
            <a:ext cx="1197706" cy="400910"/>
          </a:xfrm>
          <a:prstGeom prst="rightArrow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Arrow: Right 24">
            <a:extLst>
              <a:ext uri="{FF2B5EF4-FFF2-40B4-BE49-F238E27FC236}">
                <a16:creationId xmlns:a16="http://schemas.microsoft.com/office/drawing/2014/main" id="{C23075F4-8E94-41FB-800B-D91EC13988A1}"/>
              </a:ext>
            </a:extLst>
          </p:cNvPr>
          <p:cNvSpPr/>
          <p:nvPr/>
        </p:nvSpPr>
        <p:spPr>
          <a:xfrm rot="20565595" flipH="1">
            <a:off x="3740596" y="4202558"/>
            <a:ext cx="1119968" cy="400910"/>
          </a:xfrm>
          <a:prstGeom prst="rightArrow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Arrow: Right 25">
            <a:extLst>
              <a:ext uri="{FF2B5EF4-FFF2-40B4-BE49-F238E27FC236}">
                <a16:creationId xmlns:a16="http://schemas.microsoft.com/office/drawing/2014/main" id="{8910CE40-073D-D314-156D-F63EE8BEFFD8}"/>
              </a:ext>
            </a:extLst>
          </p:cNvPr>
          <p:cNvSpPr/>
          <p:nvPr/>
        </p:nvSpPr>
        <p:spPr>
          <a:xfrm rot="1555088" flipH="1">
            <a:off x="3821878" y="2919850"/>
            <a:ext cx="1119968" cy="400910"/>
          </a:xfrm>
          <a:prstGeom prst="rightArrow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Arrow: Right 26">
            <a:extLst>
              <a:ext uri="{FF2B5EF4-FFF2-40B4-BE49-F238E27FC236}">
                <a16:creationId xmlns:a16="http://schemas.microsoft.com/office/drawing/2014/main" id="{E0BCF008-918A-D1C1-7BD5-FA80AB9EC551}"/>
              </a:ext>
            </a:extLst>
          </p:cNvPr>
          <p:cNvSpPr/>
          <p:nvPr/>
        </p:nvSpPr>
        <p:spPr>
          <a:xfrm rot="5400000">
            <a:off x="5585509" y="4448350"/>
            <a:ext cx="620071" cy="400910"/>
          </a:xfrm>
          <a:prstGeom prst="rightArrow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33BCC0EB-0247-12D1-88FA-7D79D7124832}"/>
              </a:ext>
            </a:extLst>
          </p:cNvPr>
          <p:cNvGrpSpPr/>
          <p:nvPr/>
        </p:nvGrpSpPr>
        <p:grpSpPr>
          <a:xfrm>
            <a:off x="844496" y="-30205"/>
            <a:ext cx="4629752" cy="1015663"/>
            <a:chOff x="924025" y="1526961"/>
            <a:chExt cx="4629752" cy="1015663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BF498FDD-F292-226D-1216-39F2B44258C9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BA750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910CBF9C-9AF1-721E-61F3-82D134B2FEA1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>
                  <a:solidFill>
                    <a:schemeClr val="bg1"/>
                  </a:solidFill>
                  <a:latin typeface="Helvetica" pitchFamily="2" charset="0"/>
                </a:rPr>
                <a:t>Entorno de desarrollo y ejecución Java</a:t>
              </a:r>
              <a:endParaRPr lang="en-US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84A56CB9-C37C-BC96-3104-9AA37E8615EC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>
                  <a:solidFill>
                    <a:schemeClr val="bg1"/>
                  </a:solidFill>
                  <a:latin typeface="Helvetica" pitchFamily="2" charset="0"/>
                </a:rPr>
                <a:t>4</a:t>
              </a:r>
              <a:endParaRPr lang="en-US" sz="6000" b="1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D0C71F04-9C7A-CE4B-5709-F1D97C253024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6845118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E0A416-2382-2800-5001-9C2909F1A1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Entorno de Desarrollo Integrado (IDE)</a:t>
            </a:r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86B7DAB-C5FD-2266-19D1-8FA13BE1EE2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25</a:t>
            </a:fld>
            <a:endParaRPr lang="es-P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83839A3-DDAA-480A-EFD3-3DF624E8F1EF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s-ES" b="1"/>
              <a:t>IDE = </a:t>
            </a:r>
            <a:r>
              <a:rPr lang="es-ES" b="1" err="1"/>
              <a:t>Integrated</a:t>
            </a:r>
            <a:r>
              <a:rPr lang="es-ES" b="1"/>
              <a:t> </a:t>
            </a:r>
            <a:r>
              <a:rPr lang="es-ES" b="1" err="1"/>
              <a:t>Development</a:t>
            </a:r>
            <a:r>
              <a:rPr lang="es-ES" b="1"/>
              <a:t> Environment.</a:t>
            </a:r>
          </a:p>
          <a:p>
            <a:r>
              <a:rPr lang="es-ES"/>
              <a:t>Software que provee herramientas y utilidades para escribir programas en </a:t>
            </a:r>
            <a:r>
              <a:rPr lang="en-US"/>
              <a:t>un </a:t>
            </a:r>
            <a:r>
              <a:rPr lang="en-US" err="1"/>
              <a:t>entorno</a:t>
            </a:r>
            <a:r>
              <a:rPr lang="en-US"/>
              <a:t> </a:t>
            </a:r>
            <a:r>
              <a:rPr lang="en-US" err="1"/>
              <a:t>sencillo</a:t>
            </a:r>
            <a:r>
              <a:rPr lang="en-US"/>
              <a:t> y </a:t>
            </a:r>
            <a:r>
              <a:rPr lang="en-US" err="1"/>
              <a:t>productivo</a:t>
            </a:r>
            <a:r>
              <a:rPr lang="en-US"/>
              <a:t>.</a:t>
            </a:r>
          </a:p>
          <a:p>
            <a:r>
              <a:rPr lang="en-US" err="1"/>
              <a:t>Consta</a:t>
            </a:r>
            <a:r>
              <a:rPr lang="en-US"/>
              <a:t> </a:t>
            </a:r>
            <a:r>
              <a:rPr lang="en-US" err="1"/>
              <a:t>mínimamente</a:t>
            </a:r>
            <a:r>
              <a:rPr lang="en-US"/>
              <a:t> de: un editor de </a:t>
            </a:r>
            <a:r>
              <a:rPr lang="en-US" err="1"/>
              <a:t>código</a:t>
            </a:r>
            <a:r>
              <a:rPr lang="en-US"/>
              <a:t>, </a:t>
            </a:r>
            <a:r>
              <a:rPr lang="en-US" err="1"/>
              <a:t>herramientas</a:t>
            </a:r>
            <a:r>
              <a:rPr lang="en-US"/>
              <a:t> de </a:t>
            </a:r>
            <a:r>
              <a:rPr lang="en-US" err="1"/>
              <a:t>construcción</a:t>
            </a:r>
            <a:r>
              <a:rPr lang="en-US"/>
              <a:t> y </a:t>
            </a:r>
            <a:r>
              <a:rPr lang="en-US" err="1"/>
              <a:t>depuración</a:t>
            </a:r>
            <a:r>
              <a:rPr lang="en-US"/>
              <a:t>, </a:t>
            </a:r>
            <a:r>
              <a:rPr lang="en-US" err="1"/>
              <a:t>compilador</a:t>
            </a:r>
            <a:r>
              <a:rPr lang="en-US"/>
              <a:t> o </a:t>
            </a:r>
            <a:r>
              <a:rPr lang="en-US" err="1"/>
              <a:t>intérprete</a:t>
            </a:r>
            <a:r>
              <a:rPr lang="en-US"/>
              <a:t>, etc.</a:t>
            </a:r>
          </a:p>
          <a:p>
            <a:r>
              <a:rPr lang="en-US"/>
              <a:t>Los IDEs para Java más </a:t>
            </a:r>
            <a:r>
              <a:rPr lang="en-US" err="1"/>
              <a:t>populares</a:t>
            </a:r>
            <a:r>
              <a:rPr lang="en-US"/>
              <a:t> son: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597034-42E6-218C-D14A-07D4914DEB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1576" y="5320345"/>
            <a:ext cx="2435370" cy="65694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F037480-469F-FA59-3120-A21247E44B21}"/>
              </a:ext>
            </a:extLst>
          </p:cNvPr>
          <p:cNvSpPr txBox="1"/>
          <p:nvPr/>
        </p:nvSpPr>
        <p:spPr>
          <a:xfrm>
            <a:off x="161223" y="6246149"/>
            <a:ext cx="10515600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err="1">
                <a:solidFill>
                  <a:schemeClr val="bg1">
                    <a:lumMod val="50000"/>
                  </a:schemeClr>
                </a:solidFill>
              </a:rPr>
              <a:t>Imágenes</a:t>
            </a:r>
            <a:r>
              <a:rPr lang="en-US" sz="90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sz="900" err="1">
                <a:solidFill>
                  <a:schemeClr val="bg1">
                    <a:lumMod val="50000"/>
                  </a:schemeClr>
                </a:solidFill>
              </a:rPr>
              <a:t>obtenidas</a:t>
            </a:r>
            <a:r>
              <a:rPr lang="en-US" sz="900">
                <a:solidFill>
                  <a:schemeClr val="bg1">
                    <a:lumMod val="50000"/>
                  </a:schemeClr>
                </a:solidFill>
              </a:rPr>
              <a:t> de: </a:t>
            </a:r>
            <a:br>
              <a:rPr lang="en-US" sz="900">
                <a:solidFill>
                  <a:schemeClr val="bg1">
                    <a:lumMod val="50000"/>
                  </a:schemeClr>
                </a:solidFill>
              </a:rPr>
            </a:br>
            <a:r>
              <a:rPr lang="en-US" sz="900">
                <a:solidFill>
                  <a:schemeClr val="bg1">
                    <a:lumMod val="50000"/>
                  </a:schemeClr>
                </a:solidFill>
              </a:rPr>
              <a:t>http://daviddelatorre.me/wp-content/uploads/2017/06/intellij.png / https://www.andreszsogon.com/wp-content/uploads/logo_apache_netbeans_cordova.png</a:t>
            </a:r>
            <a:br>
              <a:rPr lang="en-US" sz="900">
                <a:solidFill>
                  <a:schemeClr val="bg1">
                    <a:lumMod val="50000"/>
                  </a:schemeClr>
                </a:solidFill>
              </a:rPr>
            </a:br>
            <a:r>
              <a:rPr lang="en-US" sz="900">
                <a:solidFill>
                  <a:schemeClr val="bg1">
                    <a:lumMod val="50000"/>
                  </a:schemeClr>
                </a:solidFill>
              </a:rPr>
              <a:t>https://upload.wikimedia.org/wikipedia/commons/thumb/d/d0/Eclipse-Luna-Logo.svg/2560px-Eclipse-Luna-Logo.svg.png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511E720-A881-0FA5-AE61-E896C04EFA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270" y="5089221"/>
            <a:ext cx="3581400" cy="111918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909A203-55FE-325E-BBF2-365522F578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20993" y="5482160"/>
            <a:ext cx="2116060" cy="495125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0F9B20CE-2B8D-A307-7194-32D7ADAC4558}"/>
              </a:ext>
            </a:extLst>
          </p:cNvPr>
          <p:cNvGrpSpPr/>
          <p:nvPr/>
        </p:nvGrpSpPr>
        <p:grpSpPr>
          <a:xfrm>
            <a:off x="844496" y="-30205"/>
            <a:ext cx="4629752" cy="1015663"/>
            <a:chOff x="924025" y="1526961"/>
            <a:chExt cx="4629752" cy="1015663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995CDFCE-C95E-B98B-F436-A8D0BE3857B2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BA750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748E0ED1-79BE-9704-DE85-33C41D94A4D0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>
                  <a:solidFill>
                    <a:schemeClr val="bg1"/>
                  </a:solidFill>
                  <a:latin typeface="Helvetica" pitchFamily="2" charset="0"/>
                </a:rPr>
                <a:t>Entorno de desarrollo y ejecución Java</a:t>
              </a:r>
              <a:endParaRPr lang="en-US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F911074E-E410-1E8C-9873-7A42BBEA21F6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>
                  <a:solidFill>
                    <a:schemeClr val="bg1"/>
                  </a:solidFill>
                  <a:latin typeface="Helvetica" pitchFamily="2" charset="0"/>
                </a:rPr>
                <a:t>4</a:t>
              </a:r>
              <a:endParaRPr lang="en-US" sz="6000" b="1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217888B6-00B1-323D-0765-77FBC0261879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7559527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" name="Group 39">
            <a:extLst>
              <a:ext uri="{FF2B5EF4-FFF2-40B4-BE49-F238E27FC236}">
                <a16:creationId xmlns:a16="http://schemas.microsoft.com/office/drawing/2014/main" id="{C0EBFC4B-97B9-EE23-54E6-35D0BD1A72B6}"/>
              </a:ext>
            </a:extLst>
          </p:cNvPr>
          <p:cNvGrpSpPr/>
          <p:nvPr/>
        </p:nvGrpSpPr>
        <p:grpSpPr>
          <a:xfrm>
            <a:off x="6724048" y="1782509"/>
            <a:ext cx="4629752" cy="1015663"/>
            <a:chOff x="924025" y="1526961"/>
            <a:chExt cx="4629752" cy="1015663"/>
          </a:xfrm>
        </p:grpSpPr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4FE8F910-E501-76FA-7ECF-5ADB916A9A3E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8F2A2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FE3C8125-0623-B6FF-9FE1-0715FE1439E0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rtlCol="0" anchor="t">
              <a:spAutoFit/>
            </a:bodyPr>
            <a:lstStyle/>
            <a:p>
              <a:r>
                <a:rPr lang="es-ES">
                  <a:solidFill>
                    <a:schemeClr val="bg1"/>
                  </a:solidFill>
                  <a:latin typeface="Helvetica"/>
                </a:rPr>
                <a:t>Práctica</a:t>
              </a:r>
              <a:endParaRPr lang="en-US"/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FB2CE88F-B9E6-8333-5227-9BC78AB02562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>
                  <a:solidFill>
                    <a:schemeClr val="bg1"/>
                  </a:solidFill>
                  <a:latin typeface="Helvetica" pitchFamily="2" charset="0"/>
                </a:rPr>
                <a:t>8</a:t>
              </a:r>
              <a:endParaRPr lang="en-US" sz="6000" b="1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0EA75671-C972-4E78-C608-76524A6F268E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6C6B983-D187-5021-011D-340D9A64632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26</a:t>
            </a:fld>
            <a:endParaRPr lang="es-PE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4C62550A-9487-0FB4-AEF5-18BF59D1D1BB}"/>
              </a:ext>
            </a:extLst>
          </p:cNvPr>
          <p:cNvGrpSpPr/>
          <p:nvPr/>
        </p:nvGrpSpPr>
        <p:grpSpPr>
          <a:xfrm>
            <a:off x="1955128" y="1782509"/>
            <a:ext cx="4629752" cy="1015663"/>
            <a:chOff x="924025" y="1526961"/>
            <a:chExt cx="4629752" cy="1015663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9EE3C4A-25E0-0661-5719-DFD8A408196E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0E7D7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8F03E694-3539-B74F-A7F9-A90BF4FC7172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>
                  <a:solidFill>
                    <a:schemeClr val="bg1"/>
                  </a:solidFill>
                  <a:latin typeface="Helvetica" pitchFamily="2" charset="0"/>
                </a:rPr>
                <a:t>Compiladores e</a:t>
              </a:r>
            </a:p>
            <a:p>
              <a:r>
                <a:rPr lang="es-ES">
                  <a:solidFill>
                    <a:schemeClr val="bg1"/>
                  </a:solidFill>
                  <a:latin typeface="Helvetica" pitchFamily="2" charset="0"/>
                </a:rPr>
                <a:t>Intérpretes</a:t>
              </a:r>
              <a:endParaRPr lang="en-US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0BD6589-A9C6-D2FD-D50D-C5AAC8113E8A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>
                  <a:solidFill>
                    <a:schemeClr val="bg1"/>
                  </a:solidFill>
                  <a:latin typeface="Helvetica" pitchFamily="2" charset="0"/>
                </a:rPr>
                <a:t>2</a:t>
              </a:r>
              <a:endParaRPr lang="en-US" sz="6000" b="1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FE0265B7-9BAF-D770-6E56-5AE1A9C41973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5598A8C9-355C-B375-F419-53EB7FBA52CF}"/>
              </a:ext>
            </a:extLst>
          </p:cNvPr>
          <p:cNvGrpSpPr/>
          <p:nvPr/>
        </p:nvGrpSpPr>
        <p:grpSpPr>
          <a:xfrm>
            <a:off x="1955128" y="2672054"/>
            <a:ext cx="4629752" cy="1015663"/>
            <a:chOff x="924025" y="1526961"/>
            <a:chExt cx="4629752" cy="1015663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968C5937-AEC8-D4AC-1863-47EC6A0DD5D7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758F3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9B9DA0B8-3305-EA9B-D50C-133423FA16B6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>
                  <a:solidFill>
                    <a:schemeClr val="bg1"/>
                  </a:solidFill>
                  <a:latin typeface="Helvetica" pitchFamily="2" charset="0"/>
                </a:rPr>
                <a:t>Introducción al </a:t>
              </a:r>
              <a:br>
                <a:rPr lang="es-ES">
                  <a:solidFill>
                    <a:schemeClr val="bg1"/>
                  </a:solidFill>
                  <a:latin typeface="Helvetica" pitchFamily="2" charset="0"/>
                </a:rPr>
              </a:br>
              <a:r>
                <a:rPr lang="es-ES">
                  <a:solidFill>
                    <a:schemeClr val="bg1"/>
                  </a:solidFill>
                  <a:latin typeface="Helvetica" pitchFamily="2" charset="0"/>
                </a:rPr>
                <a:t>lenguaje Java</a:t>
              </a:r>
              <a:endParaRPr lang="en-US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E719D950-4EA4-CB17-5AF9-0E716D1D0C97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>
                  <a:solidFill>
                    <a:schemeClr val="bg1"/>
                  </a:solidFill>
                  <a:latin typeface="Helvetica" pitchFamily="2" charset="0"/>
                </a:rPr>
                <a:t>3</a:t>
              </a:r>
              <a:endParaRPr lang="en-US" sz="6000" b="1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5DB44CEB-5449-91C4-4D8C-947E50150B6A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B25B4B5B-713C-2D58-C773-D4CFF9997391}"/>
              </a:ext>
            </a:extLst>
          </p:cNvPr>
          <p:cNvGrpSpPr/>
          <p:nvPr/>
        </p:nvGrpSpPr>
        <p:grpSpPr>
          <a:xfrm>
            <a:off x="1955128" y="3561599"/>
            <a:ext cx="4629752" cy="1015663"/>
            <a:chOff x="924025" y="1526961"/>
            <a:chExt cx="4629752" cy="1015663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D5F2FB8B-07D6-48FB-E370-38EA16365289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BA750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728AFDEB-1E73-3FEA-2DFF-DBAF08C0A2B6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>
                  <a:solidFill>
                    <a:schemeClr val="bg1"/>
                  </a:solidFill>
                  <a:latin typeface="Helvetica" pitchFamily="2" charset="0"/>
                </a:rPr>
                <a:t>Entorno de desarrollo y ejecución Java</a:t>
              </a:r>
              <a:endParaRPr lang="en-US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302F77E9-2E11-217F-40EC-8E3C7703B3BB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>
                  <a:solidFill>
                    <a:schemeClr val="bg1"/>
                  </a:solidFill>
                  <a:latin typeface="Helvetica" pitchFamily="2" charset="0"/>
                </a:rPr>
                <a:t>4</a:t>
              </a:r>
              <a:endParaRPr lang="en-US" sz="6000" b="1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369D5F82-C60A-5B84-5E19-A1B153065B8D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1EA7DF23-1534-8674-0364-FDC45E5DD81C}"/>
              </a:ext>
            </a:extLst>
          </p:cNvPr>
          <p:cNvGrpSpPr/>
          <p:nvPr/>
        </p:nvGrpSpPr>
        <p:grpSpPr>
          <a:xfrm>
            <a:off x="1955128" y="5340687"/>
            <a:ext cx="4629752" cy="1015663"/>
            <a:chOff x="924025" y="1526961"/>
            <a:chExt cx="4629752" cy="1015663"/>
          </a:xfrm>
        </p:grpSpPr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A13A47C2-3050-70BF-03DC-CCA7B4126952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AD94C077-B4AA-B319-24D7-C5B1DE74BBDB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>
                  <a:solidFill>
                    <a:schemeClr val="bg1"/>
                  </a:solidFill>
                  <a:latin typeface="Helvetica" pitchFamily="2" charset="0"/>
                </a:rPr>
                <a:t>Código intermedio y </a:t>
              </a:r>
              <a:br>
                <a:rPr lang="es-ES">
                  <a:solidFill>
                    <a:schemeClr val="bg1"/>
                  </a:solidFill>
                  <a:latin typeface="Helvetica" pitchFamily="2" charset="0"/>
                </a:rPr>
              </a:br>
              <a:r>
                <a:rPr lang="es-ES">
                  <a:solidFill>
                    <a:schemeClr val="bg1"/>
                  </a:solidFill>
                  <a:latin typeface="Helvetica" pitchFamily="2" charset="0"/>
                </a:rPr>
                <a:t>JVM</a:t>
              </a:r>
              <a:endParaRPr lang="en-US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739B75E7-C4E8-816E-FBEB-C8DC5FFDC85F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>
                  <a:solidFill>
                    <a:schemeClr val="bg1"/>
                  </a:solidFill>
                  <a:latin typeface="Helvetica" pitchFamily="2" charset="0"/>
                </a:rPr>
                <a:t>6</a:t>
              </a:r>
              <a:endParaRPr lang="en-US" sz="6000" b="1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ECF212AE-2B6A-DF71-7FC5-AE34B93BB598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4BEE2914-3C25-D19B-57C0-F6E598922A1E}"/>
              </a:ext>
            </a:extLst>
          </p:cNvPr>
          <p:cNvGrpSpPr/>
          <p:nvPr/>
        </p:nvGrpSpPr>
        <p:grpSpPr>
          <a:xfrm>
            <a:off x="6724048" y="892964"/>
            <a:ext cx="4629752" cy="1015663"/>
            <a:chOff x="924025" y="1526961"/>
            <a:chExt cx="4629752" cy="1015663"/>
          </a:xfrm>
        </p:grpSpPr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069C6825-69EA-8D72-4345-309D24E6D675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39F07254-1903-E065-8A8C-CBBABBCAA893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>
                  <a:solidFill>
                    <a:schemeClr val="bg1"/>
                  </a:solidFill>
                  <a:latin typeface="Helvetica" pitchFamily="2" charset="0"/>
                </a:rPr>
                <a:t>Clase principal y método </a:t>
              </a:r>
              <a:r>
                <a:rPr lang="es-ES" err="1">
                  <a:solidFill>
                    <a:schemeClr val="bg1"/>
                  </a:solidFill>
                  <a:latin typeface="Helvetica" pitchFamily="2" charset="0"/>
                </a:rPr>
                <a:t>main</a:t>
              </a:r>
              <a:endParaRPr lang="en-US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40F6FA04-8D92-0B29-3784-F4044CE9F110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>
                  <a:solidFill>
                    <a:schemeClr val="bg1"/>
                  </a:solidFill>
                  <a:latin typeface="Helvetica" pitchFamily="2" charset="0"/>
                </a:rPr>
                <a:t>7</a:t>
              </a:r>
              <a:endParaRPr lang="en-US" sz="6000" b="1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959003DD-D67B-3D2D-7CDF-D9E1CE9AA9B3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6B32F08B-E599-8764-EE5E-B3C48CE274CF}"/>
              </a:ext>
            </a:extLst>
          </p:cNvPr>
          <p:cNvSpPr txBox="1"/>
          <p:nvPr/>
        </p:nvSpPr>
        <p:spPr>
          <a:xfrm rot="16200000">
            <a:off x="-1552306" y="2760043"/>
            <a:ext cx="5599610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8800" b="1">
                <a:solidFill>
                  <a:schemeClr val="bg1">
                    <a:lumMod val="85000"/>
                  </a:schemeClr>
                </a:solidFill>
                <a:latin typeface="Helvetica" pitchFamily="2" charset="0"/>
              </a:rPr>
              <a:t>contenido</a:t>
            </a:r>
            <a:endParaRPr lang="en-US" sz="8800" b="1">
              <a:solidFill>
                <a:schemeClr val="bg1">
                  <a:lumMod val="85000"/>
                </a:schemeClr>
              </a:solidFill>
              <a:latin typeface="Helvetica" pitchFamily="2" charset="0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6D8EC2C4-D534-A87E-5305-9BD92B9838D9}"/>
              </a:ext>
            </a:extLst>
          </p:cNvPr>
          <p:cNvGrpSpPr/>
          <p:nvPr/>
        </p:nvGrpSpPr>
        <p:grpSpPr>
          <a:xfrm>
            <a:off x="1955128" y="892964"/>
            <a:ext cx="4629752" cy="1015663"/>
            <a:chOff x="924025" y="1526961"/>
            <a:chExt cx="4629752" cy="1015663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AFE41E11-2903-D4AD-BABB-046EDBE4AABD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1B5E8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AFB12F7A-F286-0B30-D30E-E9A916CC839B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>
                  <a:solidFill>
                    <a:schemeClr val="bg1"/>
                  </a:solidFill>
                  <a:latin typeface="Helvetica" pitchFamily="2" charset="0"/>
                </a:rPr>
                <a:t>Introducción a los lenguajes de programación</a:t>
              </a:r>
              <a:endParaRPr lang="en-US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93EEA1CE-79B2-915B-2C77-2F1212A1BF67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>
                  <a:solidFill>
                    <a:schemeClr val="bg1"/>
                  </a:solidFill>
                  <a:latin typeface="Helvetica" pitchFamily="2" charset="0"/>
                </a:rPr>
                <a:t>1</a:t>
              </a:r>
              <a:endParaRPr lang="en-US" sz="6000" b="1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830C6426-CF18-244B-D9EC-4576E393467C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" name="Rectangle 3">
            <a:extLst>
              <a:ext uri="{FF2B5EF4-FFF2-40B4-BE49-F238E27FC236}">
                <a16:creationId xmlns:a16="http://schemas.microsoft.com/office/drawing/2014/main" id="{5F0AD512-DC53-811E-0839-3807ECBC949B}"/>
              </a:ext>
            </a:extLst>
          </p:cNvPr>
          <p:cNvSpPr/>
          <p:nvPr/>
        </p:nvSpPr>
        <p:spPr>
          <a:xfrm>
            <a:off x="1801640" y="683513"/>
            <a:ext cx="9678154" cy="5599610"/>
          </a:xfrm>
          <a:prstGeom prst="rect">
            <a:avLst/>
          </a:prstGeom>
          <a:solidFill>
            <a:schemeClr val="bg1">
              <a:alpha val="8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20E7D35A-999B-BEC3-A1FE-83D4A699084C}"/>
              </a:ext>
            </a:extLst>
          </p:cNvPr>
          <p:cNvGrpSpPr/>
          <p:nvPr/>
        </p:nvGrpSpPr>
        <p:grpSpPr>
          <a:xfrm>
            <a:off x="1955128" y="4451144"/>
            <a:ext cx="4629752" cy="1015663"/>
            <a:chOff x="924025" y="1526961"/>
            <a:chExt cx="4629752" cy="1015663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EDE43D48-A8F8-0DF2-1001-D5FDD5FF2C6B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8F2A2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C2BEA270-D0DD-E83C-8505-88C9D29A50BF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>
                  <a:solidFill>
                    <a:schemeClr val="bg1"/>
                  </a:solidFill>
                  <a:latin typeface="Helvetica" pitchFamily="2" charset="0"/>
                </a:rPr>
                <a:t>Compilación y </a:t>
              </a:r>
              <a:br>
                <a:rPr lang="es-ES">
                  <a:solidFill>
                    <a:schemeClr val="bg1"/>
                  </a:solidFill>
                  <a:latin typeface="Helvetica" pitchFamily="2" charset="0"/>
                </a:rPr>
              </a:br>
              <a:r>
                <a:rPr lang="es-ES">
                  <a:solidFill>
                    <a:schemeClr val="bg1"/>
                  </a:solidFill>
                  <a:latin typeface="Helvetica" pitchFamily="2" charset="0"/>
                </a:rPr>
                <a:t>ejecución</a:t>
              </a:r>
              <a:endParaRPr lang="en-US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650D84CE-F32A-1F88-1274-CAA8D6234924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>
                  <a:solidFill>
                    <a:schemeClr val="bg1"/>
                  </a:solidFill>
                  <a:latin typeface="Helvetica" pitchFamily="2" charset="0"/>
                </a:rPr>
                <a:t>5</a:t>
              </a:r>
              <a:endParaRPr lang="en-US" sz="6000" b="1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81D92532-6B25-E809-E479-70119D6AA69E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8534853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D06A8F-8650-99AA-8754-C208D11DB2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Compilación y Ejecución. Fases.</a:t>
            </a:r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4448647-AD43-4894-2655-3BF1951CA37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27</a:t>
            </a:fld>
            <a:endParaRPr lang="es-PE"/>
          </a:p>
        </p:txBody>
      </p:sp>
      <p:grpSp>
        <p:nvGrpSpPr>
          <p:cNvPr id="94" name="Group 93">
            <a:extLst>
              <a:ext uri="{FF2B5EF4-FFF2-40B4-BE49-F238E27FC236}">
                <a16:creationId xmlns:a16="http://schemas.microsoft.com/office/drawing/2014/main" id="{7D22D492-46A7-6B7D-B0F1-763405D535EF}"/>
              </a:ext>
            </a:extLst>
          </p:cNvPr>
          <p:cNvGrpSpPr/>
          <p:nvPr/>
        </p:nvGrpSpPr>
        <p:grpSpPr>
          <a:xfrm>
            <a:off x="2007971" y="1820447"/>
            <a:ext cx="8176057" cy="4313784"/>
            <a:chOff x="1023041" y="1548143"/>
            <a:chExt cx="9795633" cy="5168291"/>
          </a:xfrm>
        </p:grpSpPr>
        <p:sp>
          <p:nvSpPr>
            <p:cNvPr id="92" name="Rectangle: Rounded Corners 91">
              <a:extLst>
                <a:ext uri="{FF2B5EF4-FFF2-40B4-BE49-F238E27FC236}">
                  <a16:creationId xmlns:a16="http://schemas.microsoft.com/office/drawing/2014/main" id="{9976070C-7C4F-1449-4713-4427EBA617AE}"/>
                </a:ext>
              </a:extLst>
            </p:cNvPr>
            <p:cNvSpPr/>
            <p:nvPr/>
          </p:nvSpPr>
          <p:spPr>
            <a:xfrm>
              <a:off x="1023042" y="4266105"/>
              <a:ext cx="9795632" cy="2450329"/>
            </a:xfrm>
            <a:prstGeom prst="roundRect">
              <a:avLst>
                <a:gd name="adj" fmla="val 5161"/>
              </a:avLst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>
                  <a:lumMod val="60000"/>
                  <a:lumOff val="40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87436CCA-C834-E6B8-D42A-12C14E484BD7}"/>
                </a:ext>
              </a:extLst>
            </p:cNvPr>
            <p:cNvSpPr txBox="1"/>
            <p:nvPr/>
          </p:nvSpPr>
          <p:spPr>
            <a:xfrm>
              <a:off x="1317213" y="5111498"/>
              <a:ext cx="140235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>
                  <a:solidFill>
                    <a:schemeClr val="accent2">
                      <a:lumMod val="75000"/>
                    </a:schemeClr>
                  </a:solidFill>
                  <a:latin typeface="Helvetica" pitchFamily="2" charset="0"/>
                </a:rPr>
                <a:t>Fase 3. Carga y ejecución</a:t>
              </a:r>
              <a:endParaRPr lang="en-US">
                <a:solidFill>
                  <a:schemeClr val="accent2">
                    <a:lumMod val="75000"/>
                  </a:schemeClr>
                </a:solidFill>
                <a:latin typeface="Helvetica" pitchFamily="2" charset="0"/>
              </a:endParaRPr>
            </a:p>
          </p:txBody>
        </p:sp>
        <p:sp>
          <p:nvSpPr>
            <p:cNvPr id="90" name="Rectangle: Rounded Corners 89">
              <a:extLst>
                <a:ext uri="{FF2B5EF4-FFF2-40B4-BE49-F238E27FC236}">
                  <a16:creationId xmlns:a16="http://schemas.microsoft.com/office/drawing/2014/main" id="{7ED18994-24D7-56E3-0FF7-8E642E6B26E6}"/>
                </a:ext>
              </a:extLst>
            </p:cNvPr>
            <p:cNvSpPr/>
            <p:nvPr/>
          </p:nvSpPr>
          <p:spPr>
            <a:xfrm>
              <a:off x="6174743" y="1548143"/>
              <a:ext cx="4643930" cy="2450329"/>
            </a:xfrm>
            <a:prstGeom prst="roundRect">
              <a:avLst>
                <a:gd name="adj" fmla="val 5161"/>
              </a:avLst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09D5B34D-8D0B-144F-5AE5-A093B0D93766}"/>
                </a:ext>
              </a:extLst>
            </p:cNvPr>
            <p:cNvSpPr txBox="1"/>
            <p:nvPr/>
          </p:nvSpPr>
          <p:spPr>
            <a:xfrm>
              <a:off x="7446425" y="1639286"/>
              <a:ext cx="2213230" cy="35464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>
                  <a:solidFill>
                    <a:schemeClr val="accent6"/>
                  </a:solidFill>
                  <a:latin typeface="Helvetica" pitchFamily="2" charset="0"/>
                </a:rPr>
                <a:t>Fase 2. Compilación</a:t>
              </a:r>
              <a:endParaRPr lang="en-US">
                <a:solidFill>
                  <a:schemeClr val="accent6"/>
                </a:solidFill>
                <a:latin typeface="Helvetica" pitchFamily="2" charset="0"/>
              </a:endParaRPr>
            </a:p>
          </p:txBody>
        </p:sp>
        <p:sp>
          <p:nvSpPr>
            <p:cNvPr id="88" name="Rectangle: Rounded Corners 87">
              <a:extLst>
                <a:ext uri="{FF2B5EF4-FFF2-40B4-BE49-F238E27FC236}">
                  <a16:creationId xmlns:a16="http://schemas.microsoft.com/office/drawing/2014/main" id="{D8D03947-D03C-242C-3337-CA0661CC7E14}"/>
                </a:ext>
              </a:extLst>
            </p:cNvPr>
            <p:cNvSpPr/>
            <p:nvPr/>
          </p:nvSpPr>
          <p:spPr>
            <a:xfrm>
              <a:off x="1023041" y="1548143"/>
              <a:ext cx="4643930" cy="2450329"/>
            </a:xfrm>
            <a:prstGeom prst="roundRect">
              <a:avLst>
                <a:gd name="adj" fmla="val 5161"/>
              </a:avLst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accent4">
                  <a:lumMod val="60000"/>
                  <a:lumOff val="40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CA5E551F-F605-332F-ACA8-B48670AF952F}"/>
                </a:ext>
              </a:extLst>
            </p:cNvPr>
            <p:cNvGrpSpPr/>
            <p:nvPr/>
          </p:nvGrpSpPr>
          <p:grpSpPr>
            <a:xfrm>
              <a:off x="6466218" y="1836269"/>
              <a:ext cx="1424241" cy="1406888"/>
              <a:chOff x="5094923" y="1878695"/>
              <a:chExt cx="1424241" cy="1406888"/>
            </a:xfrm>
          </p:grpSpPr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56C41075-BD35-B5FC-581B-239827F05814}"/>
                  </a:ext>
                </a:extLst>
              </p:cNvPr>
              <p:cNvSpPr/>
              <p:nvPr/>
            </p:nvSpPr>
            <p:spPr>
              <a:xfrm>
                <a:off x="5213287" y="1997060"/>
                <a:ext cx="1187513" cy="1170160"/>
              </a:xfrm>
              <a:prstGeom prst="ellipse">
                <a:avLst/>
              </a:prstGeom>
              <a:solidFill>
                <a:srgbClr val="00B0F0"/>
              </a:solidFill>
              <a:ln w="381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" name="Arrow: Chevron 7">
                <a:extLst>
                  <a:ext uri="{FF2B5EF4-FFF2-40B4-BE49-F238E27FC236}">
                    <a16:creationId xmlns:a16="http://schemas.microsoft.com/office/drawing/2014/main" id="{F6477A75-9BDB-372D-D59F-896565D17E7B}"/>
                  </a:ext>
                </a:extLst>
              </p:cNvPr>
              <p:cNvSpPr/>
              <p:nvPr/>
            </p:nvSpPr>
            <p:spPr>
              <a:xfrm>
                <a:off x="5748195" y="1878695"/>
                <a:ext cx="117695" cy="236728"/>
              </a:xfrm>
              <a:prstGeom prst="chevron">
                <a:avLst>
                  <a:gd name="adj" fmla="val 77907"/>
                </a:avLst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9" name="Arrow: Chevron 8">
                <a:extLst>
                  <a:ext uri="{FF2B5EF4-FFF2-40B4-BE49-F238E27FC236}">
                    <a16:creationId xmlns:a16="http://schemas.microsoft.com/office/drawing/2014/main" id="{24139FD5-E30A-6AF9-3485-49F801F81540}"/>
                  </a:ext>
                </a:extLst>
              </p:cNvPr>
              <p:cNvSpPr/>
              <p:nvPr/>
            </p:nvSpPr>
            <p:spPr>
              <a:xfrm flipH="1">
                <a:off x="5748195" y="3048855"/>
                <a:ext cx="117695" cy="236728"/>
              </a:xfrm>
              <a:prstGeom prst="chevron">
                <a:avLst>
                  <a:gd name="adj" fmla="val 77907"/>
                </a:avLst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0" name="Arrow: Chevron 9">
                <a:extLst>
                  <a:ext uri="{FF2B5EF4-FFF2-40B4-BE49-F238E27FC236}">
                    <a16:creationId xmlns:a16="http://schemas.microsoft.com/office/drawing/2014/main" id="{640C0E25-FD37-CAED-2C01-1C66E73D80C9}"/>
                  </a:ext>
                </a:extLst>
              </p:cNvPr>
              <p:cNvSpPr/>
              <p:nvPr/>
            </p:nvSpPr>
            <p:spPr>
              <a:xfrm rot="5400000">
                <a:off x="6341952" y="2463775"/>
                <a:ext cx="117695" cy="236728"/>
              </a:xfrm>
              <a:prstGeom prst="chevron">
                <a:avLst>
                  <a:gd name="adj" fmla="val 77907"/>
                </a:avLst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1" name="Arrow: Chevron 10">
                <a:extLst>
                  <a:ext uri="{FF2B5EF4-FFF2-40B4-BE49-F238E27FC236}">
                    <a16:creationId xmlns:a16="http://schemas.microsoft.com/office/drawing/2014/main" id="{06C74EB8-83F1-F96C-589F-B29C4E6E1C87}"/>
                  </a:ext>
                </a:extLst>
              </p:cNvPr>
              <p:cNvSpPr/>
              <p:nvPr/>
            </p:nvSpPr>
            <p:spPr>
              <a:xfrm rot="5400000" flipH="1">
                <a:off x="5154439" y="2463774"/>
                <a:ext cx="117695" cy="236728"/>
              </a:xfrm>
              <a:prstGeom prst="chevron">
                <a:avLst>
                  <a:gd name="adj" fmla="val 77907"/>
                </a:avLst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E3619F95-F31D-C8BF-404F-040B88E999B4}"/>
                </a:ext>
              </a:extLst>
            </p:cNvPr>
            <p:cNvGrpSpPr/>
            <p:nvPr/>
          </p:nvGrpSpPr>
          <p:grpSpPr>
            <a:xfrm>
              <a:off x="1248192" y="1779340"/>
              <a:ext cx="1471371" cy="1605296"/>
              <a:chOff x="1119351" y="2010082"/>
              <a:chExt cx="1471371" cy="1605296"/>
            </a:xfrm>
          </p:grpSpPr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36CA91D7-1891-E59D-D5AC-DF9DB02CDF5E}"/>
                  </a:ext>
                </a:extLst>
              </p:cNvPr>
              <p:cNvSpPr/>
              <p:nvPr/>
            </p:nvSpPr>
            <p:spPr>
              <a:xfrm>
                <a:off x="1119351" y="2010082"/>
                <a:ext cx="1471371" cy="144987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9" name="Group 18">
                <a:extLst>
                  <a:ext uri="{FF2B5EF4-FFF2-40B4-BE49-F238E27FC236}">
                    <a16:creationId xmlns:a16="http://schemas.microsoft.com/office/drawing/2014/main" id="{12813B31-D555-711C-F3CC-DF250988ADCA}"/>
                  </a:ext>
                </a:extLst>
              </p:cNvPr>
              <p:cNvGrpSpPr/>
              <p:nvPr/>
            </p:nvGrpSpPr>
            <p:grpSpPr>
              <a:xfrm>
                <a:off x="1463975" y="2234893"/>
                <a:ext cx="782123" cy="1380485"/>
                <a:chOff x="1463975" y="2217906"/>
                <a:chExt cx="782123" cy="1380485"/>
              </a:xfrm>
            </p:grpSpPr>
            <p:sp>
              <p:nvSpPr>
                <p:cNvPr id="15" name="Oval 14">
                  <a:extLst>
                    <a:ext uri="{FF2B5EF4-FFF2-40B4-BE49-F238E27FC236}">
                      <a16:creationId xmlns:a16="http://schemas.microsoft.com/office/drawing/2014/main" id="{EFF4D0A9-AEEF-7014-2548-08C61DD3CB6A}"/>
                    </a:ext>
                  </a:extLst>
                </p:cNvPr>
                <p:cNvSpPr/>
                <p:nvPr/>
              </p:nvSpPr>
              <p:spPr>
                <a:xfrm>
                  <a:off x="1618722" y="2217906"/>
                  <a:ext cx="472628" cy="465722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" name="Partial Circle 16">
                  <a:extLst>
                    <a:ext uri="{FF2B5EF4-FFF2-40B4-BE49-F238E27FC236}">
                      <a16:creationId xmlns:a16="http://schemas.microsoft.com/office/drawing/2014/main" id="{009A4263-A286-4153-25AE-042E44B14332}"/>
                    </a:ext>
                  </a:extLst>
                </p:cNvPr>
                <p:cNvSpPr/>
                <p:nvPr/>
              </p:nvSpPr>
              <p:spPr>
                <a:xfrm flipV="1">
                  <a:off x="1463975" y="2703068"/>
                  <a:ext cx="782123" cy="895323"/>
                </a:xfrm>
                <a:prstGeom prst="pie">
                  <a:avLst>
                    <a:gd name="adj1" fmla="val 0"/>
                    <a:gd name="adj2" fmla="val 10739403"/>
                  </a:avLst>
                </a:prstGeom>
                <a:solidFill>
                  <a:srgbClr val="00B0F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tx1"/>
                    </a:solidFill>
                  </a:endParaRPr>
                </a:p>
              </p:txBody>
            </p:sp>
          </p:grpSp>
        </p:grpSp>
        <p:grpSp>
          <p:nvGrpSpPr>
            <p:cNvPr id="74" name="Group 73">
              <a:extLst>
                <a:ext uri="{FF2B5EF4-FFF2-40B4-BE49-F238E27FC236}">
                  <a16:creationId xmlns:a16="http://schemas.microsoft.com/office/drawing/2014/main" id="{7CA525A8-4771-DBED-7F17-4F05B9BB8E23}"/>
                </a:ext>
              </a:extLst>
            </p:cNvPr>
            <p:cNvGrpSpPr/>
            <p:nvPr/>
          </p:nvGrpSpPr>
          <p:grpSpPr>
            <a:xfrm>
              <a:off x="3450310" y="4619231"/>
              <a:ext cx="1709674" cy="1374632"/>
              <a:chOff x="2590722" y="4273236"/>
              <a:chExt cx="1709674" cy="1374632"/>
            </a:xfrm>
          </p:grpSpPr>
          <p:sp>
            <p:nvSpPr>
              <p:cNvPr id="21" name="Rectangle: Rounded Corners 20">
                <a:extLst>
                  <a:ext uri="{FF2B5EF4-FFF2-40B4-BE49-F238E27FC236}">
                    <a16:creationId xmlns:a16="http://schemas.microsoft.com/office/drawing/2014/main" id="{6345E20B-7F7B-29BA-089B-535725FB95B5}"/>
                  </a:ext>
                </a:extLst>
              </p:cNvPr>
              <p:cNvSpPr/>
              <p:nvPr/>
            </p:nvSpPr>
            <p:spPr>
              <a:xfrm>
                <a:off x="2590722" y="4273236"/>
                <a:ext cx="1709674" cy="1104522"/>
              </a:xfrm>
              <a:prstGeom prst="round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" name="Rectangle: Rounded Corners 21">
                <a:extLst>
                  <a:ext uri="{FF2B5EF4-FFF2-40B4-BE49-F238E27FC236}">
                    <a16:creationId xmlns:a16="http://schemas.microsoft.com/office/drawing/2014/main" id="{90BAEE09-1AB1-939B-5A7A-5CB01DD231D8}"/>
                  </a:ext>
                </a:extLst>
              </p:cNvPr>
              <p:cNvSpPr/>
              <p:nvPr/>
            </p:nvSpPr>
            <p:spPr>
              <a:xfrm>
                <a:off x="2694229" y="4372824"/>
                <a:ext cx="1501771" cy="905346"/>
              </a:xfrm>
              <a:prstGeom prst="roundRect">
                <a:avLst>
                  <a:gd name="adj" fmla="val 11667"/>
                </a:avLst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" name="Rectangle: Rounded Corners 22">
                <a:extLst>
                  <a:ext uri="{FF2B5EF4-FFF2-40B4-BE49-F238E27FC236}">
                    <a16:creationId xmlns:a16="http://schemas.microsoft.com/office/drawing/2014/main" id="{FC884411-D2D0-349D-D6D9-8C36F35C8706}"/>
                  </a:ext>
                </a:extLst>
              </p:cNvPr>
              <p:cNvSpPr/>
              <p:nvPr/>
            </p:nvSpPr>
            <p:spPr>
              <a:xfrm>
                <a:off x="2648964" y="5477346"/>
                <a:ext cx="1577900" cy="170522"/>
              </a:xfrm>
              <a:prstGeom prst="roundRect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73" name="Group 72">
              <a:extLst>
                <a:ext uri="{FF2B5EF4-FFF2-40B4-BE49-F238E27FC236}">
                  <a16:creationId xmlns:a16="http://schemas.microsoft.com/office/drawing/2014/main" id="{6289A6DD-C135-355E-FED8-0F5171E03F34}"/>
                </a:ext>
              </a:extLst>
            </p:cNvPr>
            <p:cNvGrpSpPr/>
            <p:nvPr/>
          </p:nvGrpSpPr>
          <p:grpSpPr>
            <a:xfrm>
              <a:off x="6409765" y="4592579"/>
              <a:ext cx="1165966" cy="1427937"/>
              <a:chOff x="5714667" y="4203229"/>
              <a:chExt cx="1165966" cy="1427937"/>
            </a:xfrm>
          </p:grpSpPr>
          <p:grpSp>
            <p:nvGrpSpPr>
              <p:cNvPr id="42" name="Group 41">
                <a:extLst>
                  <a:ext uri="{FF2B5EF4-FFF2-40B4-BE49-F238E27FC236}">
                    <a16:creationId xmlns:a16="http://schemas.microsoft.com/office/drawing/2014/main" id="{C144021C-2631-E4B2-97F9-A81C436741CB}"/>
                  </a:ext>
                </a:extLst>
              </p:cNvPr>
              <p:cNvGrpSpPr/>
              <p:nvPr/>
            </p:nvGrpSpPr>
            <p:grpSpPr>
              <a:xfrm>
                <a:off x="5714667" y="4203229"/>
                <a:ext cx="1165966" cy="1427937"/>
                <a:chOff x="9500031" y="1095353"/>
                <a:chExt cx="1493823" cy="1829457"/>
              </a:xfrm>
            </p:grpSpPr>
            <p:sp>
              <p:nvSpPr>
                <p:cNvPr id="43" name="Freeform: Shape 42">
                  <a:extLst>
                    <a:ext uri="{FF2B5EF4-FFF2-40B4-BE49-F238E27FC236}">
                      <a16:creationId xmlns:a16="http://schemas.microsoft.com/office/drawing/2014/main" id="{DC32245E-B8D7-025C-CE04-4B11A4330631}"/>
                    </a:ext>
                  </a:extLst>
                </p:cNvPr>
                <p:cNvSpPr/>
                <p:nvPr/>
              </p:nvSpPr>
              <p:spPr>
                <a:xfrm>
                  <a:off x="9500031" y="1095353"/>
                  <a:ext cx="1493823" cy="1829457"/>
                </a:xfrm>
                <a:custGeom>
                  <a:avLst/>
                  <a:gdLst>
                    <a:gd name="connsiteX0" fmla="*/ 549430 w 1493823"/>
                    <a:gd name="connsiteY0" fmla="*/ 0 h 1829457"/>
                    <a:gd name="connsiteX1" fmla="*/ 1244848 w 1493823"/>
                    <a:gd name="connsiteY1" fmla="*/ 0 h 1829457"/>
                    <a:gd name="connsiteX2" fmla="*/ 1493823 w 1493823"/>
                    <a:gd name="connsiteY2" fmla="*/ 248975 h 1829457"/>
                    <a:gd name="connsiteX3" fmla="*/ 1493823 w 1493823"/>
                    <a:gd name="connsiteY3" fmla="*/ 1580482 h 1829457"/>
                    <a:gd name="connsiteX4" fmla="*/ 1244848 w 1493823"/>
                    <a:gd name="connsiteY4" fmla="*/ 1829457 h 1829457"/>
                    <a:gd name="connsiteX5" fmla="*/ 248975 w 1493823"/>
                    <a:gd name="connsiteY5" fmla="*/ 1829457 h 1829457"/>
                    <a:gd name="connsiteX6" fmla="*/ 0 w 1493823"/>
                    <a:gd name="connsiteY6" fmla="*/ 1580482 h 1829457"/>
                    <a:gd name="connsiteX7" fmla="*/ 0 w 1493823"/>
                    <a:gd name="connsiteY7" fmla="*/ 549430 h 18294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1493823" h="1829457">
                      <a:moveTo>
                        <a:pt x="549430" y="0"/>
                      </a:moveTo>
                      <a:lnTo>
                        <a:pt x="1244848" y="0"/>
                      </a:lnTo>
                      <a:cubicBezTo>
                        <a:pt x="1382353" y="0"/>
                        <a:pt x="1493823" y="111470"/>
                        <a:pt x="1493823" y="248975"/>
                      </a:cubicBezTo>
                      <a:lnTo>
                        <a:pt x="1493823" y="1580482"/>
                      </a:lnTo>
                      <a:cubicBezTo>
                        <a:pt x="1493823" y="1717987"/>
                        <a:pt x="1382353" y="1829457"/>
                        <a:pt x="1244848" y="1829457"/>
                      </a:cubicBezTo>
                      <a:lnTo>
                        <a:pt x="248975" y="1829457"/>
                      </a:lnTo>
                      <a:cubicBezTo>
                        <a:pt x="111470" y="1829457"/>
                        <a:pt x="0" y="1717987"/>
                        <a:pt x="0" y="1580482"/>
                      </a:cubicBezTo>
                      <a:lnTo>
                        <a:pt x="0" y="549430"/>
                      </a:lnTo>
                      <a:close/>
                    </a:path>
                  </a:pathLst>
                </a:custGeom>
                <a:solidFill>
                  <a:schemeClr val="bg1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4" name="Freeform: Shape 43">
                  <a:extLst>
                    <a:ext uri="{FF2B5EF4-FFF2-40B4-BE49-F238E27FC236}">
                      <a16:creationId xmlns:a16="http://schemas.microsoft.com/office/drawing/2014/main" id="{D2DA13D8-A813-FDFB-E541-E1011E3EE649}"/>
                    </a:ext>
                  </a:extLst>
                </p:cNvPr>
                <p:cNvSpPr/>
                <p:nvPr/>
              </p:nvSpPr>
              <p:spPr>
                <a:xfrm rot="16200000">
                  <a:off x="9507783" y="1095665"/>
                  <a:ext cx="539919" cy="545387"/>
                </a:xfrm>
                <a:custGeom>
                  <a:avLst/>
                  <a:gdLst>
                    <a:gd name="connsiteX0" fmla="*/ 539919 w 539919"/>
                    <a:gd name="connsiteY0" fmla="*/ 532111 h 545387"/>
                    <a:gd name="connsiteX1" fmla="*/ 539919 w 539919"/>
                    <a:gd name="connsiteY1" fmla="*/ 545387 h 545387"/>
                    <a:gd name="connsiteX2" fmla="*/ 248975 w 539919"/>
                    <a:gd name="connsiteY2" fmla="*/ 545387 h 545387"/>
                    <a:gd name="connsiteX3" fmla="*/ 0 w 539919"/>
                    <a:gd name="connsiteY3" fmla="*/ 296412 h 545387"/>
                    <a:gd name="connsiteX4" fmla="*/ 0 w 539919"/>
                    <a:gd name="connsiteY4" fmla="*/ 0 h 545387"/>
                    <a:gd name="connsiteX5" fmla="*/ 7808 w 539919"/>
                    <a:gd name="connsiteY5" fmla="*/ 0 h 54538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539919" h="545387">
                      <a:moveTo>
                        <a:pt x="539919" y="532111"/>
                      </a:moveTo>
                      <a:lnTo>
                        <a:pt x="539919" y="545387"/>
                      </a:lnTo>
                      <a:lnTo>
                        <a:pt x="248975" y="545387"/>
                      </a:lnTo>
                      <a:cubicBezTo>
                        <a:pt x="111470" y="545387"/>
                        <a:pt x="0" y="433917"/>
                        <a:pt x="0" y="296412"/>
                      </a:cubicBezTo>
                      <a:lnTo>
                        <a:pt x="0" y="0"/>
                      </a:lnTo>
                      <a:lnTo>
                        <a:pt x="7808" y="0"/>
                      </a:lnTo>
                      <a:close/>
                    </a:path>
                  </a:pathLst>
                </a:custGeom>
                <a:solidFill>
                  <a:srgbClr val="00B0F0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A366EEF2-7C3C-87A1-4EA5-C856277D41C8}"/>
                  </a:ext>
                </a:extLst>
              </p:cNvPr>
              <p:cNvSpPr txBox="1"/>
              <p:nvPr/>
            </p:nvSpPr>
            <p:spPr>
              <a:xfrm>
                <a:off x="5825152" y="4690432"/>
                <a:ext cx="950614" cy="7386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ES" sz="1200">
                    <a:solidFill>
                      <a:srgbClr val="00B0F0"/>
                    </a:solidFill>
                  </a:rPr>
                  <a:t>101000101011010101010</a:t>
                </a:r>
                <a:endParaRPr lang="en-US" sz="1200">
                  <a:solidFill>
                    <a:srgbClr val="00B0F0"/>
                  </a:solidFill>
                </a:endParaRPr>
              </a:p>
            </p:txBody>
          </p:sp>
        </p:grpSp>
        <p:grpSp>
          <p:nvGrpSpPr>
            <p:cNvPr id="55" name="Group 54">
              <a:extLst>
                <a:ext uri="{FF2B5EF4-FFF2-40B4-BE49-F238E27FC236}">
                  <a16:creationId xmlns:a16="http://schemas.microsoft.com/office/drawing/2014/main" id="{13550025-F2AC-DB7D-19F3-C1A6269DC6B6}"/>
                </a:ext>
              </a:extLst>
            </p:cNvPr>
            <p:cNvGrpSpPr/>
            <p:nvPr/>
          </p:nvGrpSpPr>
          <p:grpSpPr>
            <a:xfrm>
              <a:off x="9341805" y="1825745"/>
              <a:ext cx="1165966" cy="1427937"/>
              <a:chOff x="7953346" y="1853906"/>
              <a:chExt cx="1165966" cy="1427937"/>
            </a:xfrm>
          </p:grpSpPr>
          <p:sp>
            <p:nvSpPr>
              <p:cNvPr id="40" name="Freeform: Shape 39">
                <a:extLst>
                  <a:ext uri="{FF2B5EF4-FFF2-40B4-BE49-F238E27FC236}">
                    <a16:creationId xmlns:a16="http://schemas.microsoft.com/office/drawing/2014/main" id="{A496375D-8300-DE80-E63E-315377F9D1DD}"/>
                  </a:ext>
                </a:extLst>
              </p:cNvPr>
              <p:cNvSpPr/>
              <p:nvPr/>
            </p:nvSpPr>
            <p:spPr>
              <a:xfrm>
                <a:off x="7953346" y="1853906"/>
                <a:ext cx="1165966" cy="1427937"/>
              </a:xfrm>
              <a:custGeom>
                <a:avLst/>
                <a:gdLst>
                  <a:gd name="connsiteX0" fmla="*/ 549430 w 1493823"/>
                  <a:gd name="connsiteY0" fmla="*/ 0 h 1829457"/>
                  <a:gd name="connsiteX1" fmla="*/ 1244848 w 1493823"/>
                  <a:gd name="connsiteY1" fmla="*/ 0 h 1829457"/>
                  <a:gd name="connsiteX2" fmla="*/ 1493823 w 1493823"/>
                  <a:gd name="connsiteY2" fmla="*/ 248975 h 1829457"/>
                  <a:gd name="connsiteX3" fmla="*/ 1493823 w 1493823"/>
                  <a:gd name="connsiteY3" fmla="*/ 1580482 h 1829457"/>
                  <a:gd name="connsiteX4" fmla="*/ 1244848 w 1493823"/>
                  <a:gd name="connsiteY4" fmla="*/ 1829457 h 1829457"/>
                  <a:gd name="connsiteX5" fmla="*/ 248975 w 1493823"/>
                  <a:gd name="connsiteY5" fmla="*/ 1829457 h 1829457"/>
                  <a:gd name="connsiteX6" fmla="*/ 0 w 1493823"/>
                  <a:gd name="connsiteY6" fmla="*/ 1580482 h 1829457"/>
                  <a:gd name="connsiteX7" fmla="*/ 0 w 1493823"/>
                  <a:gd name="connsiteY7" fmla="*/ 549430 h 18294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493823" h="1829457">
                    <a:moveTo>
                      <a:pt x="549430" y="0"/>
                    </a:moveTo>
                    <a:lnTo>
                      <a:pt x="1244848" y="0"/>
                    </a:lnTo>
                    <a:cubicBezTo>
                      <a:pt x="1382353" y="0"/>
                      <a:pt x="1493823" y="111470"/>
                      <a:pt x="1493823" y="248975"/>
                    </a:cubicBezTo>
                    <a:lnTo>
                      <a:pt x="1493823" y="1580482"/>
                    </a:lnTo>
                    <a:cubicBezTo>
                      <a:pt x="1493823" y="1717987"/>
                      <a:pt x="1382353" y="1829457"/>
                      <a:pt x="1244848" y="1829457"/>
                    </a:cubicBezTo>
                    <a:lnTo>
                      <a:pt x="248975" y="1829457"/>
                    </a:lnTo>
                    <a:cubicBezTo>
                      <a:pt x="111470" y="1829457"/>
                      <a:pt x="0" y="1717987"/>
                      <a:pt x="0" y="1580482"/>
                    </a:cubicBezTo>
                    <a:lnTo>
                      <a:pt x="0" y="549430"/>
                    </a:lnTo>
                    <a:close/>
                  </a:path>
                </a:pathLst>
              </a:cu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49" name="Rectangle: Rounded Corners 48">
                <a:extLst>
                  <a:ext uri="{FF2B5EF4-FFF2-40B4-BE49-F238E27FC236}">
                    <a16:creationId xmlns:a16="http://schemas.microsoft.com/office/drawing/2014/main" id="{FCE549A1-2235-0A12-B999-CF6512526A87}"/>
                  </a:ext>
                </a:extLst>
              </p:cNvPr>
              <p:cNvSpPr/>
              <p:nvPr/>
            </p:nvSpPr>
            <p:spPr>
              <a:xfrm>
                <a:off x="8111744" y="2071056"/>
                <a:ext cx="848878" cy="1025314"/>
              </a:xfrm>
              <a:prstGeom prst="roundRect">
                <a:avLst>
                  <a:gd name="adj" fmla="val 12401"/>
                </a:avLst>
              </a:prstGeom>
              <a:solidFill>
                <a:srgbClr val="57D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1" name="Freeform: Shape 40">
                <a:extLst>
                  <a:ext uri="{FF2B5EF4-FFF2-40B4-BE49-F238E27FC236}">
                    <a16:creationId xmlns:a16="http://schemas.microsoft.com/office/drawing/2014/main" id="{20377129-8420-3BE0-5EB5-5078E10069E9}"/>
                  </a:ext>
                </a:extLst>
              </p:cNvPr>
              <p:cNvSpPr/>
              <p:nvPr/>
            </p:nvSpPr>
            <p:spPr>
              <a:xfrm rot="16200000">
                <a:off x="7959397" y="1854150"/>
                <a:ext cx="421420" cy="425688"/>
              </a:xfrm>
              <a:custGeom>
                <a:avLst/>
                <a:gdLst>
                  <a:gd name="connsiteX0" fmla="*/ 539919 w 539919"/>
                  <a:gd name="connsiteY0" fmla="*/ 532111 h 545387"/>
                  <a:gd name="connsiteX1" fmla="*/ 539919 w 539919"/>
                  <a:gd name="connsiteY1" fmla="*/ 545387 h 545387"/>
                  <a:gd name="connsiteX2" fmla="*/ 248975 w 539919"/>
                  <a:gd name="connsiteY2" fmla="*/ 545387 h 545387"/>
                  <a:gd name="connsiteX3" fmla="*/ 0 w 539919"/>
                  <a:gd name="connsiteY3" fmla="*/ 296412 h 545387"/>
                  <a:gd name="connsiteX4" fmla="*/ 0 w 539919"/>
                  <a:gd name="connsiteY4" fmla="*/ 0 h 545387"/>
                  <a:gd name="connsiteX5" fmla="*/ 7808 w 539919"/>
                  <a:gd name="connsiteY5" fmla="*/ 0 h 5453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539919" h="545387">
                    <a:moveTo>
                      <a:pt x="539919" y="532111"/>
                    </a:moveTo>
                    <a:lnTo>
                      <a:pt x="539919" y="545387"/>
                    </a:lnTo>
                    <a:lnTo>
                      <a:pt x="248975" y="545387"/>
                    </a:lnTo>
                    <a:cubicBezTo>
                      <a:pt x="111470" y="545387"/>
                      <a:pt x="0" y="433917"/>
                      <a:pt x="0" y="296412"/>
                    </a:cubicBezTo>
                    <a:lnTo>
                      <a:pt x="0" y="0"/>
                    </a:lnTo>
                    <a:lnTo>
                      <a:pt x="7808" y="0"/>
                    </a:lnTo>
                    <a:close/>
                  </a:path>
                </a:pathLst>
              </a:custGeom>
              <a:solidFill>
                <a:srgbClr val="00B0F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074CFA95-8986-E662-EAD4-54C1016D8AC2}"/>
                </a:ext>
              </a:extLst>
            </p:cNvPr>
            <p:cNvGrpSpPr/>
            <p:nvPr/>
          </p:nvGrpSpPr>
          <p:grpSpPr>
            <a:xfrm>
              <a:off x="4229151" y="1825745"/>
              <a:ext cx="1165966" cy="1427937"/>
              <a:chOff x="3464672" y="1968540"/>
              <a:chExt cx="1165966" cy="1427937"/>
            </a:xfrm>
          </p:grpSpPr>
          <p:grpSp>
            <p:nvGrpSpPr>
              <p:cNvPr id="37" name="Group 36">
                <a:extLst>
                  <a:ext uri="{FF2B5EF4-FFF2-40B4-BE49-F238E27FC236}">
                    <a16:creationId xmlns:a16="http://schemas.microsoft.com/office/drawing/2014/main" id="{36A3E04C-FA9E-FB63-7E78-2835D1CEF97C}"/>
                  </a:ext>
                </a:extLst>
              </p:cNvPr>
              <p:cNvGrpSpPr/>
              <p:nvPr/>
            </p:nvGrpSpPr>
            <p:grpSpPr>
              <a:xfrm>
                <a:off x="3464672" y="1968540"/>
                <a:ext cx="1165966" cy="1427937"/>
                <a:chOff x="9500031" y="1095353"/>
                <a:chExt cx="1493823" cy="1829457"/>
              </a:xfrm>
            </p:grpSpPr>
            <p:sp>
              <p:nvSpPr>
                <p:cNvPr id="36" name="Freeform: Shape 35">
                  <a:extLst>
                    <a:ext uri="{FF2B5EF4-FFF2-40B4-BE49-F238E27FC236}">
                      <a16:creationId xmlns:a16="http://schemas.microsoft.com/office/drawing/2014/main" id="{9148B86B-69E1-8816-0202-8FE51045DD60}"/>
                    </a:ext>
                  </a:extLst>
                </p:cNvPr>
                <p:cNvSpPr/>
                <p:nvPr/>
              </p:nvSpPr>
              <p:spPr>
                <a:xfrm>
                  <a:off x="9500031" y="1095353"/>
                  <a:ext cx="1493823" cy="1829457"/>
                </a:xfrm>
                <a:custGeom>
                  <a:avLst/>
                  <a:gdLst>
                    <a:gd name="connsiteX0" fmla="*/ 549430 w 1493823"/>
                    <a:gd name="connsiteY0" fmla="*/ 0 h 1829457"/>
                    <a:gd name="connsiteX1" fmla="*/ 1244848 w 1493823"/>
                    <a:gd name="connsiteY1" fmla="*/ 0 h 1829457"/>
                    <a:gd name="connsiteX2" fmla="*/ 1493823 w 1493823"/>
                    <a:gd name="connsiteY2" fmla="*/ 248975 h 1829457"/>
                    <a:gd name="connsiteX3" fmla="*/ 1493823 w 1493823"/>
                    <a:gd name="connsiteY3" fmla="*/ 1580482 h 1829457"/>
                    <a:gd name="connsiteX4" fmla="*/ 1244848 w 1493823"/>
                    <a:gd name="connsiteY4" fmla="*/ 1829457 h 1829457"/>
                    <a:gd name="connsiteX5" fmla="*/ 248975 w 1493823"/>
                    <a:gd name="connsiteY5" fmla="*/ 1829457 h 1829457"/>
                    <a:gd name="connsiteX6" fmla="*/ 0 w 1493823"/>
                    <a:gd name="connsiteY6" fmla="*/ 1580482 h 1829457"/>
                    <a:gd name="connsiteX7" fmla="*/ 0 w 1493823"/>
                    <a:gd name="connsiteY7" fmla="*/ 549430 h 18294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1493823" h="1829457">
                      <a:moveTo>
                        <a:pt x="549430" y="0"/>
                      </a:moveTo>
                      <a:lnTo>
                        <a:pt x="1244848" y="0"/>
                      </a:lnTo>
                      <a:cubicBezTo>
                        <a:pt x="1382353" y="0"/>
                        <a:pt x="1493823" y="111470"/>
                        <a:pt x="1493823" y="248975"/>
                      </a:cubicBezTo>
                      <a:lnTo>
                        <a:pt x="1493823" y="1580482"/>
                      </a:lnTo>
                      <a:cubicBezTo>
                        <a:pt x="1493823" y="1717987"/>
                        <a:pt x="1382353" y="1829457"/>
                        <a:pt x="1244848" y="1829457"/>
                      </a:cubicBezTo>
                      <a:lnTo>
                        <a:pt x="248975" y="1829457"/>
                      </a:lnTo>
                      <a:cubicBezTo>
                        <a:pt x="111470" y="1829457"/>
                        <a:pt x="0" y="1717987"/>
                        <a:pt x="0" y="1580482"/>
                      </a:cubicBezTo>
                      <a:lnTo>
                        <a:pt x="0" y="549430"/>
                      </a:lnTo>
                      <a:close/>
                    </a:path>
                  </a:pathLst>
                </a:custGeom>
                <a:solidFill>
                  <a:schemeClr val="bg1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4" name="Freeform: Shape 33">
                  <a:extLst>
                    <a:ext uri="{FF2B5EF4-FFF2-40B4-BE49-F238E27FC236}">
                      <a16:creationId xmlns:a16="http://schemas.microsoft.com/office/drawing/2014/main" id="{FBD4F3F5-F71F-ACBF-05C7-F4A5DB6E2D46}"/>
                    </a:ext>
                  </a:extLst>
                </p:cNvPr>
                <p:cNvSpPr/>
                <p:nvPr/>
              </p:nvSpPr>
              <p:spPr>
                <a:xfrm rot="16200000">
                  <a:off x="9507783" y="1095665"/>
                  <a:ext cx="539919" cy="545387"/>
                </a:xfrm>
                <a:custGeom>
                  <a:avLst/>
                  <a:gdLst>
                    <a:gd name="connsiteX0" fmla="*/ 539919 w 539919"/>
                    <a:gd name="connsiteY0" fmla="*/ 532111 h 545387"/>
                    <a:gd name="connsiteX1" fmla="*/ 539919 w 539919"/>
                    <a:gd name="connsiteY1" fmla="*/ 545387 h 545387"/>
                    <a:gd name="connsiteX2" fmla="*/ 248975 w 539919"/>
                    <a:gd name="connsiteY2" fmla="*/ 545387 h 545387"/>
                    <a:gd name="connsiteX3" fmla="*/ 0 w 539919"/>
                    <a:gd name="connsiteY3" fmla="*/ 296412 h 545387"/>
                    <a:gd name="connsiteX4" fmla="*/ 0 w 539919"/>
                    <a:gd name="connsiteY4" fmla="*/ 0 h 545387"/>
                    <a:gd name="connsiteX5" fmla="*/ 7808 w 539919"/>
                    <a:gd name="connsiteY5" fmla="*/ 0 h 54538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539919" h="545387">
                      <a:moveTo>
                        <a:pt x="539919" y="532111"/>
                      </a:moveTo>
                      <a:lnTo>
                        <a:pt x="539919" y="545387"/>
                      </a:lnTo>
                      <a:lnTo>
                        <a:pt x="248975" y="545387"/>
                      </a:lnTo>
                      <a:cubicBezTo>
                        <a:pt x="111470" y="545387"/>
                        <a:pt x="0" y="433917"/>
                        <a:pt x="0" y="296412"/>
                      </a:cubicBezTo>
                      <a:lnTo>
                        <a:pt x="0" y="0"/>
                      </a:lnTo>
                      <a:lnTo>
                        <a:pt x="7808" y="0"/>
                      </a:lnTo>
                      <a:close/>
                    </a:path>
                  </a:pathLst>
                </a:custGeom>
                <a:solidFill>
                  <a:srgbClr val="00B0F0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50" name="Rectangle: Rounded Corners 49">
                <a:extLst>
                  <a:ext uri="{FF2B5EF4-FFF2-40B4-BE49-F238E27FC236}">
                    <a16:creationId xmlns:a16="http://schemas.microsoft.com/office/drawing/2014/main" id="{DBB72BCF-24F3-6197-9F3A-A5BC9B80BF6B}"/>
                  </a:ext>
                </a:extLst>
              </p:cNvPr>
              <p:cNvSpPr/>
              <p:nvPr/>
            </p:nvSpPr>
            <p:spPr>
              <a:xfrm>
                <a:off x="3684760" y="2502979"/>
                <a:ext cx="425688" cy="85254"/>
              </a:xfrm>
              <a:prstGeom prst="roundRect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1" name="Rectangle: Rounded Corners 50">
                <a:extLst>
                  <a:ext uri="{FF2B5EF4-FFF2-40B4-BE49-F238E27FC236}">
                    <a16:creationId xmlns:a16="http://schemas.microsoft.com/office/drawing/2014/main" id="{CA6987F6-A704-C183-5160-5965626BF6F4}"/>
                  </a:ext>
                </a:extLst>
              </p:cNvPr>
              <p:cNvSpPr/>
              <p:nvPr/>
            </p:nvSpPr>
            <p:spPr>
              <a:xfrm>
                <a:off x="3839241" y="2651372"/>
                <a:ext cx="425688" cy="85254"/>
              </a:xfrm>
              <a:prstGeom prst="roundRect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2" name="Rectangle: Rounded Corners 51">
                <a:extLst>
                  <a:ext uri="{FF2B5EF4-FFF2-40B4-BE49-F238E27FC236}">
                    <a16:creationId xmlns:a16="http://schemas.microsoft.com/office/drawing/2014/main" id="{F9885469-C8D4-3EB3-83CC-E356435EBA9B}"/>
                  </a:ext>
                </a:extLst>
              </p:cNvPr>
              <p:cNvSpPr/>
              <p:nvPr/>
            </p:nvSpPr>
            <p:spPr>
              <a:xfrm>
                <a:off x="3839241" y="2799765"/>
                <a:ext cx="425688" cy="85254"/>
              </a:xfrm>
              <a:prstGeom prst="roundRect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3" name="Rectangle: Rounded Corners 52">
                <a:extLst>
                  <a:ext uri="{FF2B5EF4-FFF2-40B4-BE49-F238E27FC236}">
                    <a16:creationId xmlns:a16="http://schemas.microsoft.com/office/drawing/2014/main" id="{7BA6C9BA-8113-67DA-D910-FE1115FEEC0D}"/>
                  </a:ext>
                </a:extLst>
              </p:cNvPr>
              <p:cNvSpPr/>
              <p:nvPr/>
            </p:nvSpPr>
            <p:spPr>
              <a:xfrm>
                <a:off x="3839240" y="2948158"/>
                <a:ext cx="569797" cy="85254"/>
              </a:xfrm>
              <a:prstGeom prst="roundRect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4" name="Rectangle: Rounded Corners 53">
                <a:extLst>
                  <a:ext uri="{FF2B5EF4-FFF2-40B4-BE49-F238E27FC236}">
                    <a16:creationId xmlns:a16="http://schemas.microsoft.com/office/drawing/2014/main" id="{AAA07CB2-3F62-135B-C25C-C43B2BEC83E1}"/>
                  </a:ext>
                </a:extLst>
              </p:cNvPr>
              <p:cNvSpPr/>
              <p:nvPr/>
            </p:nvSpPr>
            <p:spPr>
              <a:xfrm>
                <a:off x="3730599" y="3096550"/>
                <a:ext cx="569797" cy="85254"/>
              </a:xfrm>
              <a:prstGeom prst="roundRect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0232D56A-5C67-0B6D-0DA0-273C0E6CE81F}"/>
                </a:ext>
              </a:extLst>
            </p:cNvPr>
            <p:cNvSpPr/>
            <p:nvPr/>
          </p:nvSpPr>
          <p:spPr>
            <a:xfrm rot="16200000" flipV="1">
              <a:off x="9072683" y="4512122"/>
              <a:ext cx="1450727" cy="1588851"/>
            </a:xfrm>
            <a:custGeom>
              <a:avLst/>
              <a:gdLst>
                <a:gd name="connsiteX0" fmla="*/ 1450727 w 1450727"/>
                <a:gd name="connsiteY0" fmla="*/ 1052379 h 1588851"/>
                <a:gd name="connsiteX1" fmla="*/ 1450727 w 1450727"/>
                <a:gd name="connsiteY1" fmla="*/ 542488 h 1588851"/>
                <a:gd name="connsiteX2" fmla="*/ 1444986 w 1450727"/>
                <a:gd name="connsiteY2" fmla="*/ 485539 h 1588851"/>
                <a:gd name="connsiteX3" fmla="*/ 1438824 w 1450727"/>
                <a:gd name="connsiteY3" fmla="*/ 465687 h 1588851"/>
                <a:gd name="connsiteX4" fmla="*/ 1438551 w 1450727"/>
                <a:gd name="connsiteY4" fmla="*/ 464061 h 1588851"/>
                <a:gd name="connsiteX5" fmla="*/ 1437176 w 1450727"/>
                <a:gd name="connsiteY5" fmla="*/ 460378 h 1588851"/>
                <a:gd name="connsiteX6" fmla="*/ 1428521 w 1450727"/>
                <a:gd name="connsiteY6" fmla="*/ 432497 h 1588851"/>
                <a:gd name="connsiteX7" fmla="*/ 1422896 w 1450727"/>
                <a:gd name="connsiteY7" fmla="*/ 422133 h 1588851"/>
                <a:gd name="connsiteX8" fmla="*/ 1419586 w 1450727"/>
                <a:gd name="connsiteY8" fmla="*/ 413269 h 1588851"/>
                <a:gd name="connsiteX9" fmla="*/ 1406476 w 1450727"/>
                <a:gd name="connsiteY9" fmla="*/ 391881 h 1588851"/>
                <a:gd name="connsiteX10" fmla="*/ 1402468 w 1450727"/>
                <a:gd name="connsiteY10" fmla="*/ 384497 h 1588851"/>
                <a:gd name="connsiteX11" fmla="*/ 1400451 w 1450727"/>
                <a:gd name="connsiteY11" fmla="*/ 382053 h 1588851"/>
                <a:gd name="connsiteX12" fmla="*/ 1391044 w 1450727"/>
                <a:gd name="connsiteY12" fmla="*/ 366707 h 1588851"/>
                <a:gd name="connsiteX13" fmla="*/ 1306892 w 1450727"/>
                <a:gd name="connsiteY13" fmla="*/ 292480 h 1588851"/>
                <a:gd name="connsiteX14" fmla="*/ 882053 w 1450727"/>
                <a:gd name="connsiteY14" fmla="*/ 47199 h 1588851"/>
                <a:gd name="connsiteX15" fmla="*/ 850630 w 1450727"/>
                <a:gd name="connsiteY15" fmla="*/ 27937 h 1588851"/>
                <a:gd name="connsiteX16" fmla="*/ 799837 w 1450727"/>
                <a:gd name="connsiteY16" fmla="*/ 8972 h 1588851"/>
                <a:gd name="connsiteX17" fmla="*/ 764798 w 1450727"/>
                <a:gd name="connsiteY17" fmla="*/ 3092 h 1588851"/>
                <a:gd name="connsiteX18" fmla="*/ 758955 w 1450727"/>
                <a:gd name="connsiteY18" fmla="*/ 1770 h 1588851"/>
                <a:gd name="connsiteX19" fmla="*/ 756537 w 1450727"/>
                <a:gd name="connsiteY19" fmla="*/ 1706 h 1588851"/>
                <a:gd name="connsiteX20" fmla="*/ 746368 w 1450727"/>
                <a:gd name="connsiteY20" fmla="*/ 0 h 1588851"/>
                <a:gd name="connsiteX21" fmla="*/ 719038 w 1450727"/>
                <a:gd name="connsiteY21" fmla="*/ 719 h 1588851"/>
                <a:gd name="connsiteX22" fmla="*/ 704360 w 1450727"/>
                <a:gd name="connsiteY22" fmla="*/ 333 h 1588851"/>
                <a:gd name="connsiteX23" fmla="*/ 698899 w 1450727"/>
                <a:gd name="connsiteY23" fmla="*/ 1249 h 1588851"/>
                <a:gd name="connsiteX24" fmla="*/ 691772 w 1450727"/>
                <a:gd name="connsiteY24" fmla="*/ 1437 h 1588851"/>
                <a:gd name="connsiteX25" fmla="*/ 674558 w 1450727"/>
                <a:gd name="connsiteY25" fmla="*/ 5333 h 1588851"/>
                <a:gd name="connsiteX26" fmla="*/ 650890 w 1450727"/>
                <a:gd name="connsiteY26" fmla="*/ 9305 h 1588851"/>
                <a:gd name="connsiteX27" fmla="*/ 641461 w 1450727"/>
                <a:gd name="connsiteY27" fmla="*/ 12825 h 1588851"/>
                <a:gd name="connsiteX28" fmla="*/ 637604 w 1450727"/>
                <a:gd name="connsiteY28" fmla="*/ 13698 h 1588851"/>
                <a:gd name="connsiteX29" fmla="*/ 630234 w 1450727"/>
                <a:gd name="connsiteY29" fmla="*/ 17017 h 1588851"/>
                <a:gd name="connsiteX30" fmla="*/ 600098 w 1450727"/>
                <a:gd name="connsiteY30" fmla="*/ 28270 h 1588851"/>
                <a:gd name="connsiteX31" fmla="*/ 585841 w 1450727"/>
                <a:gd name="connsiteY31" fmla="*/ 37009 h 1588851"/>
                <a:gd name="connsiteX32" fmla="*/ 585414 w 1450727"/>
                <a:gd name="connsiteY32" fmla="*/ 37201 h 1588851"/>
                <a:gd name="connsiteX33" fmla="*/ 143835 w 1450727"/>
                <a:gd name="connsiteY33" fmla="*/ 292148 h 1588851"/>
                <a:gd name="connsiteX34" fmla="*/ 59683 w 1450727"/>
                <a:gd name="connsiteY34" fmla="*/ 366374 h 1588851"/>
                <a:gd name="connsiteX35" fmla="*/ 50276 w 1450727"/>
                <a:gd name="connsiteY35" fmla="*/ 381721 h 1588851"/>
                <a:gd name="connsiteX36" fmla="*/ 48260 w 1450727"/>
                <a:gd name="connsiteY36" fmla="*/ 384164 h 1588851"/>
                <a:gd name="connsiteX37" fmla="*/ 44253 w 1450727"/>
                <a:gd name="connsiteY37" fmla="*/ 391546 h 1588851"/>
                <a:gd name="connsiteX38" fmla="*/ 31141 w 1450727"/>
                <a:gd name="connsiteY38" fmla="*/ 412936 h 1588851"/>
                <a:gd name="connsiteX39" fmla="*/ 27831 w 1450727"/>
                <a:gd name="connsiteY39" fmla="*/ 421800 h 1588851"/>
                <a:gd name="connsiteX40" fmla="*/ 22206 w 1450727"/>
                <a:gd name="connsiteY40" fmla="*/ 432164 h 1588851"/>
                <a:gd name="connsiteX41" fmla="*/ 13552 w 1450727"/>
                <a:gd name="connsiteY41" fmla="*/ 460044 h 1588851"/>
                <a:gd name="connsiteX42" fmla="*/ 12176 w 1450727"/>
                <a:gd name="connsiteY42" fmla="*/ 463728 h 1588851"/>
                <a:gd name="connsiteX43" fmla="*/ 11903 w 1450727"/>
                <a:gd name="connsiteY43" fmla="*/ 465355 h 1588851"/>
                <a:gd name="connsiteX44" fmla="*/ 5741 w 1450727"/>
                <a:gd name="connsiteY44" fmla="*/ 485206 h 1588851"/>
                <a:gd name="connsiteX45" fmla="*/ 0 w 1450727"/>
                <a:gd name="connsiteY45" fmla="*/ 542155 h 1588851"/>
                <a:gd name="connsiteX46" fmla="*/ 0 w 1450727"/>
                <a:gd name="connsiteY46" fmla="*/ 1052046 h 1588851"/>
                <a:gd name="connsiteX47" fmla="*/ 124585 w 1450727"/>
                <a:gd name="connsiteY47" fmla="*/ 1286361 h 1588851"/>
                <a:gd name="connsiteX48" fmla="*/ 141826 w 1450727"/>
                <a:gd name="connsiteY48" fmla="*/ 1295720 h 1588851"/>
                <a:gd name="connsiteX49" fmla="*/ 142730 w 1450727"/>
                <a:gd name="connsiteY49" fmla="*/ 1296371 h 1588851"/>
                <a:gd name="connsiteX50" fmla="*/ 584309 w 1450727"/>
                <a:gd name="connsiteY50" fmla="*/ 1551316 h 1588851"/>
                <a:gd name="connsiteX51" fmla="*/ 588971 w 1450727"/>
                <a:gd name="connsiteY51" fmla="*/ 1553415 h 1588851"/>
                <a:gd name="connsiteX52" fmla="*/ 601203 w 1450727"/>
                <a:gd name="connsiteY52" fmla="*/ 1560914 h 1588851"/>
                <a:gd name="connsiteX53" fmla="*/ 627060 w 1450727"/>
                <a:gd name="connsiteY53" fmla="*/ 1570568 h 1588851"/>
                <a:gd name="connsiteX54" fmla="*/ 636499 w 1450727"/>
                <a:gd name="connsiteY54" fmla="*/ 1574819 h 1588851"/>
                <a:gd name="connsiteX55" fmla="*/ 641439 w 1450727"/>
                <a:gd name="connsiteY55" fmla="*/ 1575937 h 1588851"/>
                <a:gd name="connsiteX56" fmla="*/ 651995 w 1450727"/>
                <a:gd name="connsiteY56" fmla="*/ 1579879 h 1588851"/>
                <a:gd name="connsiteX57" fmla="*/ 678493 w 1450727"/>
                <a:gd name="connsiteY57" fmla="*/ 1584325 h 1588851"/>
                <a:gd name="connsiteX58" fmla="*/ 690667 w 1450727"/>
                <a:gd name="connsiteY58" fmla="*/ 1587081 h 1588851"/>
                <a:gd name="connsiteX59" fmla="*/ 695707 w 1450727"/>
                <a:gd name="connsiteY59" fmla="*/ 1587213 h 1588851"/>
                <a:gd name="connsiteX60" fmla="*/ 705465 w 1450727"/>
                <a:gd name="connsiteY60" fmla="*/ 1588851 h 1588851"/>
                <a:gd name="connsiteX61" fmla="*/ 731690 w 1450727"/>
                <a:gd name="connsiteY61" fmla="*/ 1588160 h 1588851"/>
                <a:gd name="connsiteX62" fmla="*/ 745263 w 1450727"/>
                <a:gd name="connsiteY62" fmla="*/ 1588518 h 1588851"/>
                <a:gd name="connsiteX63" fmla="*/ 750313 w 1450727"/>
                <a:gd name="connsiteY63" fmla="*/ 1587670 h 1588851"/>
                <a:gd name="connsiteX64" fmla="*/ 760060 w 1450727"/>
                <a:gd name="connsiteY64" fmla="*/ 1587414 h 1588851"/>
                <a:gd name="connsiteX65" fmla="*/ 783606 w 1450727"/>
                <a:gd name="connsiteY65" fmla="*/ 1582084 h 1588851"/>
                <a:gd name="connsiteX66" fmla="*/ 798732 w 1450727"/>
                <a:gd name="connsiteY66" fmla="*/ 1579546 h 1588851"/>
                <a:gd name="connsiteX67" fmla="*/ 804759 w 1450727"/>
                <a:gd name="connsiteY67" fmla="*/ 1577296 h 1588851"/>
                <a:gd name="connsiteX68" fmla="*/ 814229 w 1450727"/>
                <a:gd name="connsiteY68" fmla="*/ 1575152 h 1588851"/>
                <a:gd name="connsiteX69" fmla="*/ 832323 w 1450727"/>
                <a:gd name="connsiteY69" fmla="*/ 1567003 h 1588851"/>
                <a:gd name="connsiteX70" fmla="*/ 849525 w 1450727"/>
                <a:gd name="connsiteY70" fmla="*/ 1560581 h 1588851"/>
                <a:gd name="connsiteX71" fmla="*/ 857662 w 1450727"/>
                <a:gd name="connsiteY71" fmla="*/ 1555592 h 1588851"/>
                <a:gd name="connsiteX72" fmla="*/ 866418 w 1450727"/>
                <a:gd name="connsiteY72" fmla="*/ 1551649 h 1588851"/>
                <a:gd name="connsiteX73" fmla="*/ 1307997 w 1450727"/>
                <a:gd name="connsiteY73" fmla="*/ 1296704 h 1588851"/>
                <a:gd name="connsiteX74" fmla="*/ 1308740 w 1450727"/>
                <a:gd name="connsiteY74" fmla="*/ 1296140 h 1588851"/>
                <a:gd name="connsiteX75" fmla="*/ 1326143 w 1450727"/>
                <a:gd name="connsiteY75" fmla="*/ 1286694 h 1588851"/>
                <a:gd name="connsiteX76" fmla="*/ 1450727 w 1450727"/>
                <a:gd name="connsiteY76" fmla="*/ 1052379 h 15888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1450727" h="1588851">
                  <a:moveTo>
                    <a:pt x="1450727" y="1052379"/>
                  </a:moveTo>
                  <a:lnTo>
                    <a:pt x="1450727" y="542488"/>
                  </a:lnTo>
                  <a:cubicBezTo>
                    <a:pt x="1450727" y="522980"/>
                    <a:pt x="1448750" y="503934"/>
                    <a:pt x="1444986" y="485539"/>
                  </a:cubicBezTo>
                  <a:lnTo>
                    <a:pt x="1438824" y="465687"/>
                  </a:lnTo>
                  <a:lnTo>
                    <a:pt x="1438551" y="464061"/>
                  </a:lnTo>
                  <a:lnTo>
                    <a:pt x="1437176" y="460378"/>
                  </a:lnTo>
                  <a:lnTo>
                    <a:pt x="1428521" y="432497"/>
                  </a:lnTo>
                  <a:lnTo>
                    <a:pt x="1422896" y="422133"/>
                  </a:lnTo>
                  <a:lnTo>
                    <a:pt x="1419586" y="413269"/>
                  </a:lnTo>
                  <a:lnTo>
                    <a:pt x="1406476" y="391881"/>
                  </a:lnTo>
                  <a:lnTo>
                    <a:pt x="1402468" y="384497"/>
                  </a:lnTo>
                  <a:lnTo>
                    <a:pt x="1400451" y="382053"/>
                  </a:lnTo>
                  <a:lnTo>
                    <a:pt x="1391044" y="366707"/>
                  </a:lnTo>
                  <a:cubicBezTo>
                    <a:pt x="1368916" y="337420"/>
                    <a:pt x="1340681" y="311988"/>
                    <a:pt x="1306892" y="292480"/>
                  </a:cubicBezTo>
                  <a:lnTo>
                    <a:pt x="882053" y="47199"/>
                  </a:lnTo>
                  <a:lnTo>
                    <a:pt x="850630" y="27937"/>
                  </a:lnTo>
                  <a:cubicBezTo>
                    <a:pt x="834318" y="19996"/>
                    <a:pt x="817301" y="13651"/>
                    <a:pt x="799837" y="8972"/>
                  </a:cubicBezTo>
                  <a:lnTo>
                    <a:pt x="764798" y="3092"/>
                  </a:lnTo>
                  <a:lnTo>
                    <a:pt x="758955" y="1770"/>
                  </a:lnTo>
                  <a:lnTo>
                    <a:pt x="756537" y="1706"/>
                  </a:lnTo>
                  <a:lnTo>
                    <a:pt x="746368" y="0"/>
                  </a:lnTo>
                  <a:lnTo>
                    <a:pt x="719038" y="719"/>
                  </a:lnTo>
                  <a:lnTo>
                    <a:pt x="704360" y="333"/>
                  </a:lnTo>
                  <a:lnTo>
                    <a:pt x="698899" y="1249"/>
                  </a:lnTo>
                  <a:lnTo>
                    <a:pt x="691772" y="1437"/>
                  </a:lnTo>
                  <a:lnTo>
                    <a:pt x="674558" y="5333"/>
                  </a:lnTo>
                  <a:lnTo>
                    <a:pt x="650890" y="9305"/>
                  </a:lnTo>
                  <a:lnTo>
                    <a:pt x="641461" y="12825"/>
                  </a:lnTo>
                  <a:lnTo>
                    <a:pt x="637604" y="13698"/>
                  </a:lnTo>
                  <a:lnTo>
                    <a:pt x="630234" y="17017"/>
                  </a:lnTo>
                  <a:lnTo>
                    <a:pt x="600098" y="28270"/>
                  </a:lnTo>
                  <a:lnTo>
                    <a:pt x="585841" y="37009"/>
                  </a:lnTo>
                  <a:lnTo>
                    <a:pt x="585414" y="37201"/>
                  </a:lnTo>
                  <a:lnTo>
                    <a:pt x="143835" y="292148"/>
                  </a:lnTo>
                  <a:cubicBezTo>
                    <a:pt x="110047" y="311655"/>
                    <a:pt x="81811" y="337087"/>
                    <a:pt x="59683" y="366374"/>
                  </a:cubicBezTo>
                  <a:lnTo>
                    <a:pt x="50276" y="381721"/>
                  </a:lnTo>
                  <a:lnTo>
                    <a:pt x="48260" y="384164"/>
                  </a:lnTo>
                  <a:lnTo>
                    <a:pt x="44253" y="391546"/>
                  </a:lnTo>
                  <a:lnTo>
                    <a:pt x="31141" y="412936"/>
                  </a:lnTo>
                  <a:lnTo>
                    <a:pt x="27831" y="421800"/>
                  </a:lnTo>
                  <a:lnTo>
                    <a:pt x="22206" y="432164"/>
                  </a:lnTo>
                  <a:lnTo>
                    <a:pt x="13552" y="460044"/>
                  </a:lnTo>
                  <a:lnTo>
                    <a:pt x="12176" y="463728"/>
                  </a:lnTo>
                  <a:lnTo>
                    <a:pt x="11903" y="465355"/>
                  </a:lnTo>
                  <a:lnTo>
                    <a:pt x="5741" y="485206"/>
                  </a:lnTo>
                  <a:cubicBezTo>
                    <a:pt x="1977" y="503601"/>
                    <a:pt x="0" y="522647"/>
                    <a:pt x="0" y="542155"/>
                  </a:cubicBezTo>
                  <a:lnTo>
                    <a:pt x="0" y="1052046"/>
                  </a:lnTo>
                  <a:cubicBezTo>
                    <a:pt x="0" y="1149584"/>
                    <a:pt x="49419" y="1235581"/>
                    <a:pt x="124585" y="1286361"/>
                  </a:cubicBezTo>
                  <a:lnTo>
                    <a:pt x="141826" y="1295720"/>
                  </a:lnTo>
                  <a:lnTo>
                    <a:pt x="142730" y="1296371"/>
                  </a:lnTo>
                  <a:lnTo>
                    <a:pt x="584309" y="1551316"/>
                  </a:lnTo>
                  <a:lnTo>
                    <a:pt x="588971" y="1553415"/>
                  </a:lnTo>
                  <a:lnTo>
                    <a:pt x="601203" y="1560914"/>
                  </a:lnTo>
                  <a:lnTo>
                    <a:pt x="627060" y="1570568"/>
                  </a:lnTo>
                  <a:lnTo>
                    <a:pt x="636499" y="1574819"/>
                  </a:lnTo>
                  <a:lnTo>
                    <a:pt x="641439" y="1575937"/>
                  </a:lnTo>
                  <a:lnTo>
                    <a:pt x="651995" y="1579879"/>
                  </a:lnTo>
                  <a:lnTo>
                    <a:pt x="678493" y="1584325"/>
                  </a:lnTo>
                  <a:lnTo>
                    <a:pt x="690667" y="1587081"/>
                  </a:lnTo>
                  <a:lnTo>
                    <a:pt x="695707" y="1587213"/>
                  </a:lnTo>
                  <a:lnTo>
                    <a:pt x="705465" y="1588851"/>
                  </a:lnTo>
                  <a:lnTo>
                    <a:pt x="731690" y="1588160"/>
                  </a:lnTo>
                  <a:lnTo>
                    <a:pt x="745263" y="1588518"/>
                  </a:lnTo>
                  <a:lnTo>
                    <a:pt x="750313" y="1587670"/>
                  </a:lnTo>
                  <a:lnTo>
                    <a:pt x="760060" y="1587414"/>
                  </a:lnTo>
                  <a:lnTo>
                    <a:pt x="783606" y="1582084"/>
                  </a:lnTo>
                  <a:lnTo>
                    <a:pt x="798732" y="1579546"/>
                  </a:lnTo>
                  <a:lnTo>
                    <a:pt x="804759" y="1577296"/>
                  </a:lnTo>
                  <a:lnTo>
                    <a:pt x="814229" y="1575152"/>
                  </a:lnTo>
                  <a:lnTo>
                    <a:pt x="832323" y="1567003"/>
                  </a:lnTo>
                  <a:lnTo>
                    <a:pt x="849525" y="1560581"/>
                  </a:lnTo>
                  <a:lnTo>
                    <a:pt x="857662" y="1555592"/>
                  </a:lnTo>
                  <a:lnTo>
                    <a:pt x="866418" y="1551649"/>
                  </a:lnTo>
                  <a:lnTo>
                    <a:pt x="1307997" y="1296704"/>
                  </a:lnTo>
                  <a:lnTo>
                    <a:pt x="1308740" y="1296140"/>
                  </a:lnTo>
                  <a:lnTo>
                    <a:pt x="1326143" y="1286694"/>
                  </a:lnTo>
                  <a:cubicBezTo>
                    <a:pt x="1401308" y="1235914"/>
                    <a:pt x="1450727" y="1149917"/>
                    <a:pt x="1450727" y="1052379"/>
                  </a:cubicBezTo>
                  <a:close/>
                </a:path>
              </a:pathLst>
            </a:custGeom>
            <a:solidFill>
              <a:srgbClr val="00B0F0"/>
            </a:solidFill>
            <a:ln w="28575"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5" name="Arrow: Right 74">
              <a:extLst>
                <a:ext uri="{FF2B5EF4-FFF2-40B4-BE49-F238E27FC236}">
                  <a16:creationId xmlns:a16="http://schemas.microsoft.com/office/drawing/2014/main" id="{2592503E-0332-12CF-5739-3C1DE31C9B2B}"/>
                </a:ext>
              </a:extLst>
            </p:cNvPr>
            <p:cNvSpPr/>
            <p:nvPr/>
          </p:nvSpPr>
          <p:spPr>
            <a:xfrm>
              <a:off x="3102607" y="2402811"/>
              <a:ext cx="687294" cy="261360"/>
            </a:xfrm>
            <a:prstGeom prst="rightArrow">
              <a:avLst>
                <a:gd name="adj1" fmla="val 50000"/>
                <a:gd name="adj2" fmla="val 67320"/>
              </a:avLst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" name="Arrow: Right 75">
              <a:extLst>
                <a:ext uri="{FF2B5EF4-FFF2-40B4-BE49-F238E27FC236}">
                  <a16:creationId xmlns:a16="http://schemas.microsoft.com/office/drawing/2014/main" id="{ED79BEE3-19F3-E3BE-CC60-D68D06DA983F}"/>
                </a:ext>
              </a:extLst>
            </p:cNvPr>
            <p:cNvSpPr/>
            <p:nvPr/>
          </p:nvSpPr>
          <p:spPr>
            <a:xfrm>
              <a:off x="5615214" y="2402811"/>
              <a:ext cx="687294" cy="261360"/>
            </a:xfrm>
            <a:prstGeom prst="rightArrow">
              <a:avLst>
                <a:gd name="adj1" fmla="val 50000"/>
                <a:gd name="adj2" fmla="val 67320"/>
              </a:avLst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7" name="Arrow: Right 76">
              <a:extLst>
                <a:ext uri="{FF2B5EF4-FFF2-40B4-BE49-F238E27FC236}">
                  <a16:creationId xmlns:a16="http://schemas.microsoft.com/office/drawing/2014/main" id="{36469750-4936-5D5D-B164-FD27C2B50451}"/>
                </a:ext>
              </a:extLst>
            </p:cNvPr>
            <p:cNvSpPr/>
            <p:nvPr/>
          </p:nvSpPr>
          <p:spPr>
            <a:xfrm>
              <a:off x="8372249" y="2402811"/>
              <a:ext cx="687294" cy="261360"/>
            </a:xfrm>
            <a:prstGeom prst="rightArrow">
              <a:avLst>
                <a:gd name="adj1" fmla="val 50000"/>
                <a:gd name="adj2" fmla="val 67320"/>
              </a:avLst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8" name="Arrow: Right 77">
              <a:extLst>
                <a:ext uri="{FF2B5EF4-FFF2-40B4-BE49-F238E27FC236}">
                  <a16:creationId xmlns:a16="http://schemas.microsoft.com/office/drawing/2014/main" id="{AED04FF6-9BA5-9F1E-0CC0-E12CE8E59799}"/>
                </a:ext>
              </a:extLst>
            </p:cNvPr>
            <p:cNvSpPr/>
            <p:nvPr/>
          </p:nvSpPr>
          <p:spPr>
            <a:xfrm flipH="1">
              <a:off x="7959552" y="5219761"/>
              <a:ext cx="687294" cy="261360"/>
            </a:xfrm>
            <a:prstGeom prst="rightArrow">
              <a:avLst>
                <a:gd name="adj1" fmla="val 50000"/>
                <a:gd name="adj2" fmla="val 67320"/>
              </a:avLst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9" name="Arrow: Right 78">
              <a:extLst>
                <a:ext uri="{FF2B5EF4-FFF2-40B4-BE49-F238E27FC236}">
                  <a16:creationId xmlns:a16="http://schemas.microsoft.com/office/drawing/2014/main" id="{51DFAC7D-3011-145D-9DA1-DC03A0E3C129}"/>
                </a:ext>
              </a:extLst>
            </p:cNvPr>
            <p:cNvSpPr/>
            <p:nvPr/>
          </p:nvSpPr>
          <p:spPr>
            <a:xfrm flipH="1">
              <a:off x="5434067" y="5220980"/>
              <a:ext cx="687294" cy="261360"/>
            </a:xfrm>
            <a:prstGeom prst="rightArrow">
              <a:avLst>
                <a:gd name="adj1" fmla="val 50000"/>
                <a:gd name="adj2" fmla="val 67320"/>
              </a:avLst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0" name="Arrow: Right 79">
              <a:extLst>
                <a:ext uri="{FF2B5EF4-FFF2-40B4-BE49-F238E27FC236}">
                  <a16:creationId xmlns:a16="http://schemas.microsoft.com/office/drawing/2014/main" id="{2BC607D2-22C3-5258-61EB-BDDF36635FA1}"/>
                </a:ext>
              </a:extLst>
            </p:cNvPr>
            <p:cNvSpPr/>
            <p:nvPr/>
          </p:nvSpPr>
          <p:spPr>
            <a:xfrm rot="16200000" flipH="1">
              <a:off x="9690441" y="4025134"/>
              <a:ext cx="468400" cy="261360"/>
            </a:xfrm>
            <a:prstGeom prst="rightArrow">
              <a:avLst>
                <a:gd name="adj1" fmla="val 50000"/>
                <a:gd name="adj2" fmla="val 67320"/>
              </a:avLst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8482CE43-77BD-17EB-0BCD-5F5A32CBA5E7}"/>
                </a:ext>
              </a:extLst>
            </p:cNvPr>
            <p:cNvSpPr txBox="1"/>
            <p:nvPr/>
          </p:nvSpPr>
          <p:spPr>
            <a:xfrm>
              <a:off x="1092110" y="3355676"/>
              <a:ext cx="1783533" cy="4964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1100">
                  <a:latin typeface="Helvetica" pitchFamily="2" charset="0"/>
                </a:rPr>
                <a:t>Programador</a:t>
              </a:r>
              <a:br>
                <a:rPr lang="es-ES" sz="1100">
                  <a:latin typeface="Helvetica" pitchFamily="2" charset="0"/>
                </a:rPr>
              </a:br>
              <a:r>
                <a:rPr lang="es-ES" sz="1100">
                  <a:latin typeface="Helvetica" pitchFamily="2" charset="0"/>
                </a:rPr>
                <a:t>Java</a:t>
              </a:r>
              <a:endParaRPr lang="en-US" sz="1100">
                <a:latin typeface="Helvetica" pitchFamily="2" charset="0"/>
              </a:endParaRPr>
            </a:p>
          </p:txBody>
        </p: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58D2C9A3-446C-61C3-97F4-6822C7296DE2}"/>
                </a:ext>
              </a:extLst>
            </p:cNvPr>
            <p:cNvSpPr txBox="1"/>
            <p:nvPr/>
          </p:nvSpPr>
          <p:spPr>
            <a:xfrm>
              <a:off x="3912722" y="3355676"/>
              <a:ext cx="1783533" cy="4964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1100">
                  <a:latin typeface="Helvetica" pitchFamily="2" charset="0"/>
                </a:rPr>
                <a:t>.java</a:t>
              </a:r>
              <a:br>
                <a:rPr lang="es-ES" sz="1100">
                  <a:latin typeface="Helvetica" pitchFamily="2" charset="0"/>
                </a:rPr>
              </a:br>
              <a:r>
                <a:rPr lang="es-ES" sz="1100">
                  <a:latin typeface="Helvetica" pitchFamily="2" charset="0"/>
                </a:rPr>
                <a:t>(código fuente)</a:t>
              </a:r>
              <a:endParaRPr lang="en-US" sz="1100">
                <a:latin typeface="Helvetica" pitchFamily="2" charset="0"/>
              </a:endParaRPr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4277D4F0-61F3-ED9C-9A93-588BFB5E7FD1}"/>
                </a:ext>
              </a:extLst>
            </p:cNvPr>
            <p:cNvSpPr txBox="1"/>
            <p:nvPr/>
          </p:nvSpPr>
          <p:spPr>
            <a:xfrm>
              <a:off x="6345418" y="3355676"/>
              <a:ext cx="1783533" cy="313432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 algn="ctr"/>
              <a:r>
                <a:rPr lang="es-ES" sz="1100" dirty="0">
                  <a:latin typeface="Helvetica"/>
                </a:rPr>
                <a:t>Compilador </a:t>
              </a:r>
              <a:r>
                <a:rPr lang="es-ES" sz="1100" b="1" dirty="0" err="1">
                  <a:latin typeface="Helvetica"/>
                </a:rPr>
                <a:t>javac</a:t>
              </a:r>
              <a:endParaRPr lang="en-US" sz="1100" b="1" dirty="0" err="1">
                <a:latin typeface="Helvetica" pitchFamily="2" charset="0"/>
              </a:endParaRPr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803AC754-0A2A-B99B-95BD-C5994213DEFE}"/>
                </a:ext>
              </a:extLst>
            </p:cNvPr>
            <p:cNvSpPr txBox="1"/>
            <p:nvPr/>
          </p:nvSpPr>
          <p:spPr>
            <a:xfrm>
              <a:off x="9341804" y="3355676"/>
              <a:ext cx="1165967" cy="4964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1100">
                  <a:latin typeface="Helvetica" pitchFamily="2" charset="0"/>
                </a:rPr>
                <a:t>.</a:t>
              </a:r>
              <a:r>
                <a:rPr lang="es-ES" sz="1100" err="1">
                  <a:latin typeface="Helvetica" pitchFamily="2" charset="0"/>
                </a:rPr>
                <a:t>class</a:t>
              </a:r>
              <a:br>
                <a:rPr lang="es-ES" sz="1100">
                  <a:latin typeface="Helvetica" pitchFamily="2" charset="0"/>
                </a:rPr>
              </a:br>
              <a:r>
                <a:rPr lang="es-ES" sz="1100">
                  <a:latin typeface="Helvetica" pitchFamily="2" charset="0"/>
                </a:rPr>
                <a:t>(</a:t>
              </a:r>
              <a:r>
                <a:rPr lang="es-ES" sz="1100" err="1">
                  <a:latin typeface="Helvetica" pitchFamily="2" charset="0"/>
                </a:rPr>
                <a:t>bytecode</a:t>
              </a:r>
              <a:r>
                <a:rPr lang="es-ES" sz="1100">
                  <a:latin typeface="Helvetica" pitchFamily="2" charset="0"/>
                </a:rPr>
                <a:t>)</a:t>
              </a:r>
              <a:endParaRPr lang="en-US" sz="1100">
                <a:latin typeface="Helvetica" pitchFamily="2" charset="0"/>
              </a:endParaRPr>
            </a:p>
          </p:txBody>
        </p: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0FEBA4CD-10DD-B829-299E-C07FAAE4AB9E}"/>
                </a:ext>
              </a:extLst>
            </p:cNvPr>
            <p:cNvSpPr txBox="1"/>
            <p:nvPr/>
          </p:nvSpPr>
          <p:spPr>
            <a:xfrm>
              <a:off x="3508552" y="6097881"/>
              <a:ext cx="1557894" cy="301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1100">
                  <a:latin typeface="Helvetica" pitchFamily="2" charset="0"/>
                </a:rPr>
                <a:t>Computadora</a:t>
              </a:r>
              <a:endParaRPr lang="en-US" sz="1100">
                <a:latin typeface="Helvetica" pitchFamily="2" charset="0"/>
              </a:endParaRPr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80E3A1E3-7865-78F5-28EA-BA9EA2C8E4C3}"/>
                </a:ext>
              </a:extLst>
            </p:cNvPr>
            <p:cNvSpPr txBox="1"/>
            <p:nvPr/>
          </p:nvSpPr>
          <p:spPr>
            <a:xfrm>
              <a:off x="6095855" y="6097881"/>
              <a:ext cx="1783533" cy="4964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1100">
                  <a:latin typeface="Helvetica" pitchFamily="2" charset="0"/>
                </a:rPr>
                <a:t>Código de </a:t>
              </a:r>
              <a:br>
                <a:rPr lang="es-ES" sz="1100">
                  <a:latin typeface="Helvetica" pitchFamily="2" charset="0"/>
                </a:rPr>
              </a:br>
              <a:r>
                <a:rPr lang="es-ES" sz="1100">
                  <a:latin typeface="Helvetica" pitchFamily="2" charset="0"/>
                </a:rPr>
                <a:t>bajo nivel</a:t>
              </a:r>
              <a:endParaRPr lang="en-US" sz="1100">
                <a:latin typeface="Helvetica" pitchFamily="2" charset="0"/>
              </a:endParaRPr>
            </a:p>
          </p:txBody>
        </p: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99152450-8C56-3FDD-3E46-F0621CFF5AC4}"/>
                </a:ext>
              </a:extLst>
            </p:cNvPr>
            <p:cNvSpPr txBox="1"/>
            <p:nvPr/>
          </p:nvSpPr>
          <p:spPr>
            <a:xfrm>
              <a:off x="8913992" y="6097881"/>
              <a:ext cx="1783533" cy="4964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1100">
                  <a:latin typeface="Helvetica" pitchFamily="2" charset="0"/>
                </a:rPr>
                <a:t>Máquina </a:t>
              </a:r>
              <a:br>
                <a:rPr lang="es-ES" sz="1100">
                  <a:latin typeface="Helvetica" pitchFamily="2" charset="0"/>
                </a:rPr>
              </a:br>
              <a:r>
                <a:rPr lang="es-ES" sz="1100">
                  <a:latin typeface="Helvetica" pitchFamily="2" charset="0"/>
                </a:rPr>
                <a:t>Virtual Java</a:t>
              </a:r>
              <a:endParaRPr lang="en-US" sz="1100">
                <a:latin typeface="Helvetica" pitchFamily="2" charset="0"/>
              </a:endParaRPr>
            </a:p>
          </p:txBody>
        </p: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3ED57A01-ECC8-10AA-A7C1-9FCFECDD9E66}"/>
                </a:ext>
              </a:extLst>
            </p:cNvPr>
            <p:cNvSpPr txBox="1"/>
            <p:nvPr/>
          </p:nvSpPr>
          <p:spPr>
            <a:xfrm>
              <a:off x="2582591" y="1639286"/>
              <a:ext cx="178353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>
                  <a:solidFill>
                    <a:schemeClr val="accent4">
                      <a:lumMod val="75000"/>
                    </a:schemeClr>
                  </a:solidFill>
                  <a:latin typeface="Helvetica" pitchFamily="2" charset="0"/>
                </a:rPr>
                <a:t>Fase 1. Edición</a:t>
              </a:r>
              <a:endParaRPr lang="en-US">
                <a:solidFill>
                  <a:schemeClr val="accent4">
                    <a:lumMod val="75000"/>
                  </a:schemeClr>
                </a:solidFill>
                <a:latin typeface="Helvetica" pitchFamily="2" charset="0"/>
              </a:endParaRPr>
            </a:p>
          </p:txBody>
        </p:sp>
      </p:grpSp>
      <p:sp>
        <p:nvSpPr>
          <p:cNvPr id="96" name="TextBox 95">
            <a:extLst>
              <a:ext uri="{FF2B5EF4-FFF2-40B4-BE49-F238E27FC236}">
                <a16:creationId xmlns:a16="http://schemas.microsoft.com/office/drawing/2014/main" id="{82102628-9503-25C4-5D06-16B49BABEED5}"/>
              </a:ext>
            </a:extLst>
          </p:cNvPr>
          <p:cNvSpPr txBox="1"/>
          <p:nvPr/>
        </p:nvSpPr>
        <p:spPr>
          <a:xfrm>
            <a:off x="143572" y="6260947"/>
            <a:ext cx="6820489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err="1">
                <a:solidFill>
                  <a:schemeClr val="bg1">
                    <a:lumMod val="50000"/>
                  </a:schemeClr>
                </a:solidFill>
              </a:rPr>
              <a:t>Adaptado</a:t>
            </a:r>
            <a:r>
              <a:rPr lang="en-US" sz="900">
                <a:solidFill>
                  <a:schemeClr val="bg1">
                    <a:lumMod val="50000"/>
                  </a:schemeClr>
                </a:solidFill>
              </a:rPr>
              <a:t> de:</a:t>
            </a:r>
            <a:br>
              <a:rPr lang="en-US" sz="900">
                <a:solidFill>
                  <a:schemeClr val="bg1">
                    <a:lumMod val="50000"/>
                  </a:schemeClr>
                </a:solidFill>
              </a:rPr>
            </a:br>
            <a:r>
              <a:rPr lang="en-US" sz="900">
                <a:solidFill>
                  <a:schemeClr val="bg1">
                    <a:lumMod val="50000"/>
                  </a:schemeClr>
                </a:solidFill>
              </a:rPr>
              <a:t>https://ucarecdn.com/6d0cfa9e-67ab-4d27-a145-3f2a53603d52/</a:t>
            </a:r>
            <a:br>
              <a:rPr lang="en-US" sz="900">
                <a:solidFill>
                  <a:schemeClr val="bg1">
                    <a:lumMod val="50000"/>
                  </a:schemeClr>
                </a:solidFill>
              </a:rPr>
            </a:br>
            <a:r>
              <a:rPr lang="en-US" sz="900">
                <a:solidFill>
                  <a:schemeClr val="bg1">
                    <a:lumMod val="50000"/>
                  </a:schemeClr>
                </a:solidFill>
              </a:rPr>
              <a:t>https://sites.google.com/site/beginnerofcs/object-oriented-program/five-phases-in-java-programs-1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F0FFE672-802A-AF48-2073-78C73389114C}"/>
              </a:ext>
            </a:extLst>
          </p:cNvPr>
          <p:cNvGrpSpPr/>
          <p:nvPr/>
        </p:nvGrpSpPr>
        <p:grpSpPr>
          <a:xfrm>
            <a:off x="850746" y="-37285"/>
            <a:ext cx="4629752" cy="1015663"/>
            <a:chOff x="924025" y="1526961"/>
            <a:chExt cx="4629752" cy="1015663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2DB4E739-64A6-324C-5326-9B79E02BF49E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8F2A2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5913FFC2-3628-4081-A0AF-7DE684BC261C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>
                  <a:solidFill>
                    <a:schemeClr val="bg1"/>
                  </a:solidFill>
                  <a:latin typeface="Helvetica" pitchFamily="2" charset="0"/>
                </a:rPr>
                <a:t>Compilación y </a:t>
              </a:r>
              <a:br>
                <a:rPr lang="es-ES">
                  <a:solidFill>
                    <a:schemeClr val="bg1"/>
                  </a:solidFill>
                  <a:latin typeface="Helvetica" pitchFamily="2" charset="0"/>
                </a:rPr>
              </a:br>
              <a:r>
                <a:rPr lang="es-ES">
                  <a:solidFill>
                    <a:schemeClr val="bg1"/>
                  </a:solidFill>
                  <a:latin typeface="Helvetica" pitchFamily="2" charset="0"/>
                </a:rPr>
                <a:t>ejecución</a:t>
              </a:r>
              <a:endParaRPr lang="en-US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6D6CDB95-52C2-BE43-F415-9E3569EF816D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>
                  <a:solidFill>
                    <a:schemeClr val="bg1"/>
                  </a:solidFill>
                  <a:latin typeface="Helvetica" pitchFamily="2" charset="0"/>
                </a:rPr>
                <a:t>5</a:t>
              </a:r>
              <a:endParaRPr lang="en-US" sz="6000" b="1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F8933C29-E23D-A231-AF1A-942F180332D3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0930819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C17494-28D2-78EE-4353-A0546D4171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Máquina Virtual de Java (JVM)</a:t>
            </a:r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5D104CA-C492-FAEE-3C04-469639662BA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28</a:t>
            </a:fld>
            <a:endParaRPr lang="es-P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82AD3A-A54C-1F9A-EE91-6F7BF1B9C25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38200" y="1690688"/>
            <a:ext cx="7997687" cy="4802187"/>
          </a:xfrm>
        </p:spPr>
        <p:txBody>
          <a:bodyPr>
            <a:normAutofit fontScale="92500"/>
          </a:bodyPr>
          <a:lstStyle/>
          <a:p>
            <a:pPr>
              <a:lnSpc>
                <a:spcPct val="110000"/>
              </a:lnSpc>
            </a:pPr>
            <a:r>
              <a:rPr lang="es-ES" b="1" dirty="0"/>
              <a:t>JVM</a:t>
            </a:r>
            <a:r>
              <a:rPr lang="es-ES" dirty="0"/>
              <a:t> = </a:t>
            </a:r>
            <a:r>
              <a:rPr lang="es-ES" b="1" dirty="0"/>
              <a:t>Java Virtual Machine</a:t>
            </a:r>
            <a:r>
              <a:rPr lang="es-ES" dirty="0"/>
              <a:t>.</a:t>
            </a:r>
          </a:p>
          <a:p>
            <a:pPr>
              <a:lnSpc>
                <a:spcPct val="110000"/>
              </a:lnSpc>
            </a:pPr>
            <a:r>
              <a:rPr lang="es-ES" dirty="0"/>
              <a:t>Es una </a:t>
            </a:r>
            <a:r>
              <a:rPr lang="es-ES" b="1" dirty="0">
                <a:solidFill>
                  <a:schemeClr val="accent2"/>
                </a:solidFill>
              </a:rPr>
              <a:t>computadora abstracta</a:t>
            </a:r>
            <a:r>
              <a:rPr lang="es-ES" dirty="0"/>
              <a:t> responsable de la </a:t>
            </a:r>
            <a:r>
              <a:rPr lang="es-ES" b="1" dirty="0"/>
              <a:t>ejecución</a:t>
            </a:r>
            <a:r>
              <a:rPr lang="es-ES" dirty="0"/>
              <a:t> de los programas.</a:t>
            </a:r>
          </a:p>
          <a:p>
            <a:pPr>
              <a:lnSpc>
                <a:spcPct val="110000"/>
              </a:lnSpc>
            </a:pPr>
            <a:r>
              <a:rPr lang="es-ES" dirty="0"/>
              <a:t>Su principal tarea es </a:t>
            </a:r>
            <a:r>
              <a:rPr lang="es-ES" b="1" dirty="0">
                <a:solidFill>
                  <a:schemeClr val="accent2"/>
                </a:solidFill>
              </a:rPr>
              <a:t>convertir </a:t>
            </a:r>
            <a:r>
              <a:rPr lang="es-ES" b="1" dirty="0" err="1">
                <a:solidFill>
                  <a:schemeClr val="bg1">
                    <a:lumMod val="50000"/>
                  </a:schemeClr>
                </a:solidFill>
              </a:rPr>
              <a:t>bytecode</a:t>
            </a:r>
            <a:r>
              <a:rPr lang="es-ES" b="1" dirty="0">
                <a:solidFill>
                  <a:schemeClr val="accent2"/>
                </a:solidFill>
              </a:rPr>
              <a:t> en código máquina</a:t>
            </a:r>
            <a:r>
              <a:rPr lang="es-ES" dirty="0"/>
              <a:t>.</a:t>
            </a:r>
          </a:p>
          <a:p>
            <a:pPr>
              <a:lnSpc>
                <a:spcPct val="110000"/>
              </a:lnSpc>
            </a:pPr>
            <a:r>
              <a:rPr lang="es-ES" dirty="0"/>
              <a:t>Disponible para múltiples plataformas (Windows, Linux, macOS, etc.)</a:t>
            </a:r>
          </a:p>
          <a:p>
            <a:pPr>
              <a:lnSpc>
                <a:spcPct val="110000"/>
              </a:lnSpc>
            </a:pPr>
            <a:r>
              <a:rPr lang="es-ES" dirty="0"/>
              <a:t>Al ser virtual permite que los </a:t>
            </a:r>
            <a:r>
              <a:rPr lang="es-ES" b="1" dirty="0">
                <a:solidFill>
                  <a:schemeClr val="accent2"/>
                </a:solidFill>
              </a:rPr>
              <a:t>programas</a:t>
            </a:r>
            <a:r>
              <a:rPr lang="es-ES" dirty="0"/>
              <a:t> escritos en Java sean </a:t>
            </a:r>
            <a:r>
              <a:rPr lang="es-ES" b="1" dirty="0">
                <a:solidFill>
                  <a:schemeClr val="accent2"/>
                </a:solidFill>
              </a:rPr>
              <a:t>independientes de la plataforma</a:t>
            </a:r>
            <a:r>
              <a:rPr lang="es-ES" dirty="0"/>
              <a:t>.</a:t>
            </a:r>
            <a:endParaRPr lang="en-US" dirty="0"/>
          </a:p>
        </p:txBody>
      </p:sp>
      <p:pic>
        <p:nvPicPr>
          <p:cNvPr id="1026" name="Picture 2" descr="Processor PNG Transparent Image | PNG Mart">
            <a:extLst>
              <a:ext uri="{FF2B5EF4-FFF2-40B4-BE49-F238E27FC236}">
                <a16:creationId xmlns:a16="http://schemas.microsoft.com/office/drawing/2014/main" id="{B505433E-0C41-6EE5-9B9E-5584F147BE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94096" y="2049252"/>
            <a:ext cx="2760540" cy="4105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A177DE5-B4C3-9901-3FDB-4B90F2812762}"/>
              </a:ext>
            </a:extLst>
          </p:cNvPr>
          <p:cNvSpPr txBox="1"/>
          <p:nvPr/>
        </p:nvSpPr>
        <p:spPr>
          <a:xfrm>
            <a:off x="143572" y="6350398"/>
            <a:ext cx="682048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>
                <a:solidFill>
                  <a:schemeClr val="bg1">
                    <a:lumMod val="50000"/>
                  </a:schemeClr>
                </a:solidFill>
              </a:rPr>
              <a:t>Imagen </a:t>
            </a:r>
            <a:r>
              <a:rPr lang="en-US" sz="900" err="1">
                <a:solidFill>
                  <a:schemeClr val="bg1">
                    <a:lumMod val="50000"/>
                  </a:schemeClr>
                </a:solidFill>
              </a:rPr>
              <a:t>obtenida</a:t>
            </a:r>
            <a:r>
              <a:rPr lang="en-US" sz="900">
                <a:solidFill>
                  <a:schemeClr val="bg1">
                    <a:lumMod val="50000"/>
                  </a:schemeClr>
                </a:solidFill>
              </a:rPr>
              <a:t> de:</a:t>
            </a:r>
            <a:br>
              <a:rPr lang="en-US" sz="900">
                <a:solidFill>
                  <a:schemeClr val="bg1">
                    <a:lumMod val="50000"/>
                  </a:schemeClr>
                </a:solidFill>
              </a:rPr>
            </a:br>
            <a:r>
              <a:rPr lang="en-US" sz="900">
                <a:solidFill>
                  <a:schemeClr val="bg1">
                    <a:lumMod val="50000"/>
                  </a:schemeClr>
                </a:solidFill>
              </a:rPr>
              <a:t>https://www.pngmart.com/files/22/Processor-PNG-Transparent-Image.png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D60C5F82-A585-099C-D6B6-A8A5F96E8F10}"/>
              </a:ext>
            </a:extLst>
          </p:cNvPr>
          <p:cNvGrpSpPr/>
          <p:nvPr/>
        </p:nvGrpSpPr>
        <p:grpSpPr>
          <a:xfrm>
            <a:off x="850746" y="-37285"/>
            <a:ext cx="4629752" cy="1015663"/>
            <a:chOff x="924025" y="1526961"/>
            <a:chExt cx="4629752" cy="1015663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02F58695-372B-9903-3BE3-2E75D35F1E68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8F2A2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336086A1-041C-1F18-B96D-2349B2280361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>
                  <a:solidFill>
                    <a:schemeClr val="bg1"/>
                  </a:solidFill>
                  <a:latin typeface="Helvetica" pitchFamily="2" charset="0"/>
                </a:rPr>
                <a:t>Compilación y </a:t>
              </a:r>
              <a:br>
                <a:rPr lang="es-ES">
                  <a:solidFill>
                    <a:schemeClr val="bg1"/>
                  </a:solidFill>
                  <a:latin typeface="Helvetica" pitchFamily="2" charset="0"/>
                </a:rPr>
              </a:br>
              <a:r>
                <a:rPr lang="es-ES">
                  <a:solidFill>
                    <a:schemeClr val="bg1"/>
                  </a:solidFill>
                  <a:latin typeface="Helvetica" pitchFamily="2" charset="0"/>
                </a:rPr>
                <a:t>ejecución</a:t>
              </a:r>
              <a:endParaRPr lang="en-US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35E20BC1-CB83-02A8-24E8-E333546C125E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>
                  <a:solidFill>
                    <a:schemeClr val="bg1"/>
                  </a:solidFill>
                  <a:latin typeface="Helvetica" pitchFamily="2" charset="0"/>
                </a:rPr>
                <a:t>5</a:t>
              </a:r>
              <a:endParaRPr lang="en-US" sz="6000" b="1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E5233417-2527-40A9-FDB4-9C2B5CFB4B67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5815224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val 5">
            <a:extLst>
              <a:ext uri="{FF2B5EF4-FFF2-40B4-BE49-F238E27FC236}">
                <a16:creationId xmlns:a16="http://schemas.microsoft.com/office/drawing/2014/main" id="{16616D0D-84A8-795D-547E-98BA3D3F57DF}"/>
              </a:ext>
            </a:extLst>
          </p:cNvPr>
          <p:cNvSpPr/>
          <p:nvPr/>
        </p:nvSpPr>
        <p:spPr>
          <a:xfrm>
            <a:off x="8283921" y="2522025"/>
            <a:ext cx="3492749" cy="3492749"/>
          </a:xfrm>
          <a:prstGeom prst="ellipse">
            <a:avLst/>
          </a:prstGeom>
          <a:solidFill>
            <a:srgbClr val="0E7D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800" b="1">
                <a:solidFill>
                  <a:schemeClr val="bg1"/>
                </a:solidFill>
                <a:latin typeface="Helvetica" pitchFamily="2" charset="0"/>
              </a:rPr>
              <a:t>JRE</a:t>
            </a:r>
          </a:p>
          <a:p>
            <a:pPr algn="ctr"/>
            <a:endParaRPr lang="es-ES" sz="2800" b="1">
              <a:solidFill>
                <a:schemeClr val="bg1"/>
              </a:solidFill>
              <a:latin typeface="Helvetica" pitchFamily="2" charset="0"/>
            </a:endParaRPr>
          </a:p>
          <a:p>
            <a:pPr algn="ctr"/>
            <a:endParaRPr lang="es-ES" sz="2800" b="1">
              <a:solidFill>
                <a:schemeClr val="bg1"/>
              </a:solidFill>
              <a:latin typeface="Helvetica" pitchFamily="2" charset="0"/>
            </a:endParaRPr>
          </a:p>
          <a:p>
            <a:pPr algn="ctr"/>
            <a:endParaRPr lang="es-ES" sz="2800" b="1">
              <a:solidFill>
                <a:schemeClr val="bg1"/>
              </a:solidFill>
              <a:latin typeface="Helvetica" pitchFamily="2" charset="0"/>
            </a:endParaRPr>
          </a:p>
          <a:p>
            <a:pPr algn="ctr"/>
            <a:endParaRPr lang="es-ES" sz="2800" b="1">
              <a:solidFill>
                <a:schemeClr val="bg1"/>
              </a:solidFill>
              <a:latin typeface="Helvetica" pitchFamily="2" charset="0"/>
            </a:endParaRPr>
          </a:p>
          <a:p>
            <a:pPr algn="ctr"/>
            <a:endParaRPr lang="en-US" sz="2800" b="1">
              <a:solidFill>
                <a:schemeClr val="bg1"/>
              </a:solidFill>
              <a:latin typeface="Helvetica" pitchFamily="2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11B482A-037E-187B-7C38-245425B93E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Entorno de Ejecución Java (JRE)</a:t>
            </a:r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4E46519-97F9-D15C-633E-265F7C60C4F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29</a:t>
            </a:fld>
            <a:endParaRPr lang="es-P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986541-7332-066F-6DF2-C3D1F525AD9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38200" y="1846263"/>
            <a:ext cx="7572270" cy="4646612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s-ES" b="1"/>
              <a:t>JRE</a:t>
            </a:r>
            <a:r>
              <a:rPr lang="es-ES"/>
              <a:t> = </a:t>
            </a:r>
            <a:r>
              <a:rPr lang="es-ES" b="1"/>
              <a:t>Java </a:t>
            </a:r>
            <a:r>
              <a:rPr lang="es-ES" b="1" err="1"/>
              <a:t>Runtime</a:t>
            </a:r>
            <a:r>
              <a:rPr lang="es-ES" b="1"/>
              <a:t> Environment</a:t>
            </a:r>
            <a:r>
              <a:rPr lang="es-ES"/>
              <a:t>.</a:t>
            </a:r>
          </a:p>
          <a:p>
            <a:pPr>
              <a:lnSpc>
                <a:spcPct val="110000"/>
              </a:lnSpc>
            </a:pPr>
            <a:r>
              <a:rPr lang="es-ES"/>
              <a:t>Paquete instalable que </a:t>
            </a:r>
            <a:r>
              <a:rPr lang="es-ES" b="1">
                <a:solidFill>
                  <a:schemeClr val="accent2"/>
                </a:solidFill>
              </a:rPr>
              <a:t>provee un entorno de solo ejecución</a:t>
            </a:r>
            <a:r>
              <a:rPr lang="es-ES"/>
              <a:t> (no desarrollo) de un programa escrito en Java.</a:t>
            </a:r>
          </a:p>
          <a:p>
            <a:pPr>
              <a:lnSpc>
                <a:spcPct val="110000"/>
              </a:lnSpc>
            </a:pPr>
            <a:r>
              <a:rPr lang="es-ES"/>
              <a:t>Utilizado por aquellos que </a:t>
            </a:r>
            <a:r>
              <a:rPr lang="es-ES" b="1">
                <a:solidFill>
                  <a:schemeClr val="accent2"/>
                </a:solidFill>
              </a:rPr>
              <a:t>solo quieren ejecutar programas</a:t>
            </a:r>
            <a:r>
              <a:rPr lang="es-ES"/>
              <a:t>, esto es, usuarios finales.</a:t>
            </a:r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1638973B-1CAF-173C-D3E1-519E03EA48F5}"/>
              </a:ext>
            </a:extLst>
          </p:cNvPr>
          <p:cNvSpPr/>
          <p:nvPr/>
        </p:nvSpPr>
        <p:spPr>
          <a:xfrm>
            <a:off x="8446354" y="4013355"/>
            <a:ext cx="1308363" cy="1308363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800" b="1">
                <a:solidFill>
                  <a:schemeClr val="bg1"/>
                </a:solidFill>
                <a:latin typeface="Helvetica" pitchFamily="2" charset="0"/>
              </a:rPr>
              <a:t>JVM</a:t>
            </a:r>
            <a:endParaRPr lang="en-US" sz="2800" b="1">
              <a:solidFill>
                <a:schemeClr val="bg1"/>
              </a:solidFill>
              <a:latin typeface="Helvetica" pitchFamily="2" charset="0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FCFA1BD2-6025-5CAC-E071-130BCF650E33}"/>
              </a:ext>
            </a:extLst>
          </p:cNvPr>
          <p:cNvSpPr/>
          <p:nvPr/>
        </p:nvSpPr>
        <p:spPr>
          <a:xfrm>
            <a:off x="9820419" y="3482322"/>
            <a:ext cx="1864007" cy="1864007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>
                <a:solidFill>
                  <a:schemeClr val="bg1"/>
                </a:solidFill>
                <a:latin typeface="Helvetica" pitchFamily="2" charset="0"/>
              </a:rPr>
              <a:t>Biblioteca de clases</a:t>
            </a:r>
            <a:endParaRPr lang="en-US" sz="2000">
              <a:solidFill>
                <a:schemeClr val="bg1"/>
              </a:solidFill>
              <a:latin typeface="Helvetica" pitchFamily="2" charset="0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CB97D85E-3B83-9615-7ACE-70352BC07198}"/>
              </a:ext>
            </a:extLst>
          </p:cNvPr>
          <p:cNvGrpSpPr/>
          <p:nvPr/>
        </p:nvGrpSpPr>
        <p:grpSpPr>
          <a:xfrm>
            <a:off x="850746" y="-37285"/>
            <a:ext cx="4629752" cy="1015663"/>
            <a:chOff x="924025" y="1526961"/>
            <a:chExt cx="4629752" cy="1015663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A7C68E6-8A6D-93E8-DD77-E59BD043E1B9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8F2A2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45F036F8-9AA8-27B3-535A-533FB2ACB73F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>
                  <a:solidFill>
                    <a:schemeClr val="bg1"/>
                  </a:solidFill>
                  <a:latin typeface="Helvetica" pitchFamily="2" charset="0"/>
                </a:rPr>
                <a:t>Compilación y </a:t>
              </a:r>
              <a:br>
                <a:rPr lang="es-ES">
                  <a:solidFill>
                    <a:schemeClr val="bg1"/>
                  </a:solidFill>
                  <a:latin typeface="Helvetica" pitchFamily="2" charset="0"/>
                </a:rPr>
              </a:br>
              <a:r>
                <a:rPr lang="es-ES">
                  <a:solidFill>
                    <a:schemeClr val="bg1"/>
                  </a:solidFill>
                  <a:latin typeface="Helvetica" pitchFamily="2" charset="0"/>
                </a:rPr>
                <a:t>ejecución</a:t>
              </a:r>
              <a:endParaRPr lang="en-US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2286837D-CC99-C1E5-C319-8DA39DDD4DE3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>
                  <a:solidFill>
                    <a:schemeClr val="bg1"/>
                  </a:solidFill>
                  <a:latin typeface="Helvetica" pitchFamily="2" charset="0"/>
                </a:rPr>
                <a:t>5</a:t>
              </a:r>
              <a:endParaRPr lang="en-US" sz="6000" b="1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449A44B-0293-7C65-05B0-4FAAD8D484E4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9700240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CFE22E39-596F-4FE6-B5E2-FAF649E61B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60594" y="2168012"/>
            <a:ext cx="4257550" cy="281614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020E08D-83B0-24B7-9E4A-692F6FFC24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Kit de Desarrollo Java (JDK)</a:t>
            </a:r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FA78450-81C9-06E0-0B31-006DFBDBF37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30</a:t>
            </a:fld>
            <a:endParaRPr lang="es-P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D7E1D6-C9CB-4FF6-FB12-342C6E38607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38201" y="1846263"/>
            <a:ext cx="6722393" cy="3919270"/>
          </a:xfrm>
        </p:spPr>
        <p:txBody>
          <a:bodyPr/>
          <a:lstStyle/>
          <a:p>
            <a:r>
              <a:rPr lang="es-ES" b="1"/>
              <a:t>JDK</a:t>
            </a:r>
            <a:r>
              <a:rPr lang="es-ES"/>
              <a:t> = </a:t>
            </a:r>
            <a:r>
              <a:rPr lang="es-ES" b="1"/>
              <a:t>Java </a:t>
            </a:r>
            <a:r>
              <a:rPr lang="es-ES" b="1" err="1"/>
              <a:t>Development</a:t>
            </a:r>
            <a:r>
              <a:rPr lang="es-ES" b="1"/>
              <a:t> Kit</a:t>
            </a:r>
            <a:r>
              <a:rPr lang="es-ES"/>
              <a:t>.</a:t>
            </a:r>
          </a:p>
          <a:p>
            <a:r>
              <a:rPr lang="es-ES"/>
              <a:t>Paquete para desarrollar y ejecutar programas escritos en Java.​</a:t>
            </a:r>
          </a:p>
          <a:p>
            <a:r>
              <a:rPr lang="es-ES"/>
              <a:t>Contiene herramientas de desarrollo (compilador, depurador, etc.)</a:t>
            </a:r>
            <a:endParaRPr lang="en-US"/>
          </a:p>
          <a:p>
            <a:r>
              <a:rPr lang="es-ES" b="1">
                <a:solidFill>
                  <a:schemeClr val="accent2"/>
                </a:solidFill>
              </a:rPr>
              <a:t>Desde la versión 11, JRE no está incluido.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EA308A1-A5B9-F7A3-53BF-BC4627CA8DC8}"/>
              </a:ext>
            </a:extLst>
          </p:cNvPr>
          <p:cNvSpPr txBox="1"/>
          <p:nvPr/>
        </p:nvSpPr>
        <p:spPr>
          <a:xfrm>
            <a:off x="209349" y="6188518"/>
            <a:ext cx="10301438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err="1">
                <a:solidFill>
                  <a:schemeClr val="bg1">
                    <a:lumMod val="50000"/>
                  </a:schemeClr>
                </a:solidFill>
              </a:rPr>
              <a:t>Imágenes</a:t>
            </a:r>
            <a:r>
              <a:rPr lang="en-US" sz="90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sz="900" err="1">
                <a:solidFill>
                  <a:schemeClr val="bg1">
                    <a:lumMod val="50000"/>
                  </a:schemeClr>
                </a:solidFill>
              </a:rPr>
              <a:t>obtenidas</a:t>
            </a:r>
            <a:r>
              <a:rPr lang="en-US" sz="900">
                <a:solidFill>
                  <a:schemeClr val="bg1">
                    <a:lumMod val="50000"/>
                  </a:schemeClr>
                </a:solidFill>
              </a:rPr>
              <a:t> de:</a:t>
            </a:r>
            <a:br>
              <a:rPr lang="en-US" sz="900">
                <a:solidFill>
                  <a:schemeClr val="bg1">
                    <a:lumMod val="50000"/>
                  </a:schemeClr>
                </a:solidFill>
              </a:rPr>
            </a:br>
            <a:r>
              <a:rPr lang="en-US" sz="900">
                <a:solidFill>
                  <a:schemeClr val="bg1">
                    <a:lumMod val="50000"/>
                  </a:schemeClr>
                </a:solidFill>
              </a:rPr>
              <a:t>https://media.istockphoto.com/id/509114308/vector/programming-and-coding-icon-laptop.jpg?s=170667a&amp;w=0&amp;k=20&amp;c=Z0TIByo3J3FAhOO01TPRpJj1tfxpEabBpZnu5XFvIF0=</a:t>
            </a:r>
            <a:br>
              <a:rPr lang="en-US" sz="900">
                <a:solidFill>
                  <a:schemeClr val="bg1">
                    <a:lumMod val="50000"/>
                  </a:schemeClr>
                </a:solidFill>
              </a:rPr>
            </a:br>
            <a:r>
              <a:rPr lang="en-US" sz="900">
                <a:solidFill>
                  <a:schemeClr val="bg1">
                    <a:lumMod val="50000"/>
                  </a:schemeClr>
                </a:solidFill>
              </a:rPr>
              <a:t>https://cdn-icons-png.flaticon.com/512/8297/8297318.png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F8B3EC0-F4BE-0E2F-BBED-B1725F6B1E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58609" y="3668420"/>
            <a:ext cx="1795967" cy="179596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5475BE44-2F2D-249F-BEC1-9214511B5043}"/>
              </a:ext>
            </a:extLst>
          </p:cNvPr>
          <p:cNvSpPr txBox="1"/>
          <p:nvPr/>
        </p:nvSpPr>
        <p:spPr>
          <a:xfrm>
            <a:off x="10453035" y="3819560"/>
            <a:ext cx="1183907" cy="646331"/>
          </a:xfrm>
          <a:prstGeom prst="rect">
            <a:avLst/>
          </a:prstGeom>
          <a:solidFill>
            <a:srgbClr val="DAEEEF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ES" sz="3600" b="1">
                <a:solidFill>
                  <a:srgbClr val="1B5E8B"/>
                </a:solidFill>
                <a:latin typeface="Helvetica" pitchFamily="2" charset="0"/>
              </a:rPr>
              <a:t>JDK</a:t>
            </a:r>
            <a:endParaRPr lang="en-US" sz="3600" b="1">
              <a:solidFill>
                <a:srgbClr val="1B5E8B"/>
              </a:solidFill>
              <a:latin typeface="Helvetica" pitchFamily="2" charset="0"/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B0A4F04E-9194-C66E-9458-F6B597417432}"/>
              </a:ext>
            </a:extLst>
          </p:cNvPr>
          <p:cNvGrpSpPr/>
          <p:nvPr/>
        </p:nvGrpSpPr>
        <p:grpSpPr>
          <a:xfrm>
            <a:off x="850746" y="-37285"/>
            <a:ext cx="4629752" cy="1015663"/>
            <a:chOff x="924025" y="1526961"/>
            <a:chExt cx="4629752" cy="1015663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6DDAF790-B486-35F0-3AF7-C7254A71FEEB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8F2A2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E28F8C3A-B687-E624-C6B6-F9334505393E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>
                  <a:solidFill>
                    <a:schemeClr val="bg1"/>
                  </a:solidFill>
                  <a:latin typeface="Helvetica" pitchFamily="2" charset="0"/>
                </a:rPr>
                <a:t>Compilación y </a:t>
              </a:r>
              <a:br>
                <a:rPr lang="es-ES">
                  <a:solidFill>
                    <a:schemeClr val="bg1"/>
                  </a:solidFill>
                  <a:latin typeface="Helvetica" pitchFamily="2" charset="0"/>
                </a:rPr>
              </a:br>
              <a:r>
                <a:rPr lang="es-ES">
                  <a:solidFill>
                    <a:schemeClr val="bg1"/>
                  </a:solidFill>
                  <a:latin typeface="Helvetica" pitchFamily="2" charset="0"/>
                </a:rPr>
                <a:t>ejecución</a:t>
              </a:r>
              <a:endParaRPr lang="en-US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A4A0283F-067D-46B7-D49A-5962798CA245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>
                  <a:solidFill>
                    <a:schemeClr val="bg1"/>
                  </a:solidFill>
                  <a:latin typeface="Helvetica" pitchFamily="2" charset="0"/>
                </a:rPr>
                <a:t>5</a:t>
              </a:r>
              <a:endParaRPr lang="en-US" sz="6000" b="1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2CBCD272-CDA7-9805-CF3E-1F8E660E6A93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5983979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128A04-0337-368E-DECD-D21D56A469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JVM, JDK, JRE</a:t>
            </a:r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F59DC2F-0173-42E4-CF5E-240294FCA75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31</a:t>
            </a:fld>
            <a:endParaRPr lang="es-PE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E6457256-873B-1D5C-7875-79205552D701}"/>
              </a:ext>
            </a:extLst>
          </p:cNvPr>
          <p:cNvGrpSpPr/>
          <p:nvPr/>
        </p:nvGrpSpPr>
        <p:grpSpPr>
          <a:xfrm>
            <a:off x="2085314" y="1396361"/>
            <a:ext cx="8021371" cy="4524606"/>
            <a:chOff x="1656783" y="1495949"/>
            <a:chExt cx="8021371" cy="4524606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79E65F1D-5FB0-312F-6B29-EE73466ACE61}"/>
                </a:ext>
              </a:extLst>
            </p:cNvPr>
            <p:cNvSpPr/>
            <p:nvPr/>
          </p:nvSpPr>
          <p:spPr>
            <a:xfrm>
              <a:off x="1656783" y="2018923"/>
              <a:ext cx="8021371" cy="4001632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Helvetica" pitchFamily="2" charset="0"/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2F880C39-FBF0-8429-207B-CEB015079782}"/>
                </a:ext>
              </a:extLst>
            </p:cNvPr>
            <p:cNvSpPr txBox="1"/>
            <p:nvPr/>
          </p:nvSpPr>
          <p:spPr>
            <a:xfrm>
              <a:off x="3641112" y="1495949"/>
              <a:ext cx="405271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s-ES" sz="2400">
                  <a:solidFill>
                    <a:schemeClr val="bg1">
                      <a:lumMod val="50000"/>
                    </a:schemeClr>
                  </a:solidFill>
                  <a:latin typeface="Helvetica" pitchFamily="2" charset="0"/>
                </a:rPr>
                <a:t>Java </a:t>
              </a:r>
              <a:r>
                <a:rPr lang="es-ES" sz="2400" err="1">
                  <a:solidFill>
                    <a:schemeClr val="bg1">
                      <a:lumMod val="50000"/>
                    </a:schemeClr>
                  </a:solidFill>
                  <a:latin typeface="Helvetica" pitchFamily="2" charset="0"/>
                </a:rPr>
                <a:t>Development</a:t>
              </a:r>
              <a:r>
                <a:rPr lang="es-ES" sz="2400">
                  <a:solidFill>
                    <a:schemeClr val="bg1">
                      <a:lumMod val="50000"/>
                    </a:schemeClr>
                  </a:solidFill>
                  <a:latin typeface="Helvetica" pitchFamily="2" charset="0"/>
                </a:rPr>
                <a:t> Kit (JDK)</a:t>
              </a:r>
              <a:endParaRPr lang="en-US" sz="2400">
                <a:solidFill>
                  <a:schemeClr val="bg1">
                    <a:lumMod val="50000"/>
                  </a:schemeClr>
                </a:solidFill>
                <a:latin typeface="Helvetica" pitchFamily="2" charset="0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1DA63EA8-35C9-1849-07B3-316DF67BFAE9}"/>
                </a:ext>
              </a:extLst>
            </p:cNvPr>
            <p:cNvSpPr txBox="1"/>
            <p:nvPr/>
          </p:nvSpPr>
          <p:spPr>
            <a:xfrm>
              <a:off x="2679037" y="2379148"/>
              <a:ext cx="2350322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s-ES" sz="2000">
                  <a:solidFill>
                    <a:schemeClr val="bg1">
                      <a:lumMod val="50000"/>
                    </a:schemeClr>
                  </a:solidFill>
                  <a:latin typeface="Helvetica" pitchFamily="2" charset="0"/>
                </a:rPr>
                <a:t>Java </a:t>
              </a:r>
              <a:r>
                <a:rPr lang="es-ES" sz="2000" err="1">
                  <a:solidFill>
                    <a:schemeClr val="bg1">
                      <a:lumMod val="50000"/>
                    </a:schemeClr>
                  </a:solidFill>
                  <a:latin typeface="Helvetica" pitchFamily="2" charset="0"/>
                </a:rPr>
                <a:t>Runtime</a:t>
              </a:r>
              <a:r>
                <a:rPr lang="es-ES" sz="2000">
                  <a:solidFill>
                    <a:schemeClr val="bg1">
                      <a:lumMod val="50000"/>
                    </a:schemeClr>
                  </a:solidFill>
                  <a:latin typeface="Helvetica" pitchFamily="2" charset="0"/>
                </a:rPr>
                <a:t> </a:t>
              </a:r>
              <a:br>
                <a:rPr lang="es-ES" sz="2000">
                  <a:solidFill>
                    <a:schemeClr val="bg1">
                      <a:lumMod val="50000"/>
                    </a:schemeClr>
                  </a:solidFill>
                  <a:latin typeface="Helvetica" pitchFamily="2" charset="0"/>
                </a:rPr>
              </a:br>
              <a:r>
                <a:rPr lang="es-ES" sz="2000">
                  <a:solidFill>
                    <a:schemeClr val="bg1">
                      <a:lumMod val="50000"/>
                    </a:schemeClr>
                  </a:solidFill>
                  <a:latin typeface="Helvetica" pitchFamily="2" charset="0"/>
                </a:rPr>
                <a:t>Environment (JRE)</a:t>
              </a:r>
              <a:endParaRPr lang="en-US" sz="2000">
                <a:solidFill>
                  <a:schemeClr val="bg1">
                    <a:lumMod val="50000"/>
                  </a:schemeClr>
                </a:solidFill>
                <a:latin typeface="Helvetica" pitchFamily="2" charset="0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8E770E92-AFA2-C449-B1AD-78D2A1DAF8FC}"/>
                </a:ext>
              </a:extLst>
            </p:cNvPr>
            <p:cNvSpPr txBox="1"/>
            <p:nvPr/>
          </p:nvSpPr>
          <p:spPr>
            <a:xfrm>
              <a:off x="6268516" y="2501426"/>
              <a:ext cx="239520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s-ES" sz="2000" err="1">
                  <a:solidFill>
                    <a:schemeClr val="bg1">
                      <a:lumMod val="50000"/>
                    </a:schemeClr>
                  </a:solidFill>
                  <a:latin typeface="Helvetica" pitchFamily="2" charset="0"/>
                </a:rPr>
                <a:t>Development</a:t>
              </a:r>
              <a:r>
                <a:rPr lang="es-ES" sz="2000">
                  <a:solidFill>
                    <a:schemeClr val="bg1">
                      <a:lumMod val="50000"/>
                    </a:schemeClr>
                  </a:solidFill>
                  <a:latin typeface="Helvetica" pitchFamily="2" charset="0"/>
                </a:rPr>
                <a:t> Tools</a:t>
              </a:r>
              <a:endParaRPr lang="en-US" sz="2000">
                <a:solidFill>
                  <a:schemeClr val="bg1">
                    <a:lumMod val="50000"/>
                  </a:schemeClr>
                </a:solidFill>
                <a:latin typeface="Helvetica" pitchFamily="2" charset="0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4E700BC6-27EB-BC49-6548-B40B9FA8AD3D}"/>
                </a:ext>
              </a:extLst>
            </p:cNvPr>
            <p:cNvSpPr/>
            <p:nvPr/>
          </p:nvSpPr>
          <p:spPr>
            <a:xfrm>
              <a:off x="2215994" y="3186820"/>
              <a:ext cx="3279459" cy="2571184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Helvetica" pitchFamily="2" charset="0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6C266012-E804-B479-9668-13A74382A0BD}"/>
                </a:ext>
              </a:extLst>
            </p:cNvPr>
            <p:cNvSpPr/>
            <p:nvPr/>
          </p:nvSpPr>
          <p:spPr>
            <a:xfrm>
              <a:off x="5826387" y="3186820"/>
              <a:ext cx="3279459" cy="2571184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Helvetica" pitchFamily="2" charset="0"/>
              </a:endParaRPr>
            </a:p>
          </p:txBody>
        </p:sp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91396366-2F8C-1EFE-8B5E-36C2FA1668C6}"/>
                </a:ext>
              </a:extLst>
            </p:cNvPr>
            <p:cNvSpPr/>
            <p:nvPr/>
          </p:nvSpPr>
          <p:spPr>
            <a:xfrm>
              <a:off x="2582929" y="3582160"/>
              <a:ext cx="2525917" cy="784661"/>
            </a:xfrm>
            <a:prstGeom prst="round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2000">
                  <a:latin typeface="Helvetica" pitchFamily="2" charset="0"/>
                </a:rPr>
                <a:t>Java Virtual Machine (JVM)</a:t>
              </a:r>
              <a:endParaRPr lang="en-US" sz="2000">
                <a:latin typeface="Helvetica" pitchFamily="2" charset="0"/>
              </a:endParaRPr>
            </a:p>
          </p:txBody>
        </p:sp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9C4EDBA1-DF57-B147-DA56-553DD21E0757}"/>
                </a:ext>
              </a:extLst>
            </p:cNvPr>
            <p:cNvSpPr/>
            <p:nvPr/>
          </p:nvSpPr>
          <p:spPr>
            <a:xfrm>
              <a:off x="2592764" y="4611181"/>
              <a:ext cx="2525917" cy="784661"/>
            </a:xfrm>
            <a:prstGeom prst="round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2000" err="1">
                  <a:latin typeface="Helvetica" pitchFamily="2" charset="0"/>
                </a:rPr>
                <a:t>Libraries</a:t>
              </a:r>
              <a:endParaRPr lang="en-US" sz="2000">
                <a:latin typeface="Helvetica" pitchFamily="2" charset="0"/>
              </a:endParaRPr>
            </a:p>
          </p:txBody>
        </p:sp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A5CA39FD-082C-0EC8-7BF3-36D14ECEE8E1}"/>
                </a:ext>
              </a:extLst>
            </p:cNvPr>
            <p:cNvSpPr/>
            <p:nvPr/>
          </p:nvSpPr>
          <p:spPr>
            <a:xfrm>
              <a:off x="6203157" y="3582160"/>
              <a:ext cx="2525917" cy="784661"/>
            </a:xfrm>
            <a:prstGeom prst="round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2000">
                  <a:latin typeface="Helvetica" pitchFamily="2" charset="0"/>
                </a:rPr>
                <a:t>Java </a:t>
              </a:r>
              <a:r>
                <a:rPr lang="es-ES" sz="2000" err="1">
                  <a:latin typeface="Helvetica" pitchFamily="2" charset="0"/>
                </a:rPr>
                <a:t>compiler</a:t>
              </a:r>
              <a:endParaRPr lang="en-US" sz="2000">
                <a:latin typeface="Helvetica" pitchFamily="2" charset="0"/>
              </a:endParaRPr>
            </a:p>
          </p:txBody>
        </p:sp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27289CEC-ED58-FD15-9E95-E886291294A6}"/>
                </a:ext>
              </a:extLst>
            </p:cNvPr>
            <p:cNvSpPr/>
            <p:nvPr/>
          </p:nvSpPr>
          <p:spPr>
            <a:xfrm>
              <a:off x="6203157" y="4611181"/>
              <a:ext cx="2525917" cy="784661"/>
            </a:xfrm>
            <a:prstGeom prst="round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2000" err="1">
                  <a:latin typeface="Helvetica" pitchFamily="2" charset="0"/>
                </a:rPr>
                <a:t>Other</a:t>
              </a:r>
              <a:r>
                <a:rPr lang="es-ES" sz="2000">
                  <a:latin typeface="Helvetica" pitchFamily="2" charset="0"/>
                </a:rPr>
                <a:t> </a:t>
              </a:r>
              <a:r>
                <a:rPr lang="es-ES" sz="2000" err="1">
                  <a:latin typeface="Helvetica" pitchFamily="2" charset="0"/>
                </a:rPr>
                <a:t>tools</a:t>
              </a:r>
              <a:endParaRPr lang="en-US" sz="2000">
                <a:latin typeface="Helvetica" pitchFamily="2" charset="0"/>
              </a:endParaRPr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DA1FDC49-6C54-C5F7-3359-BBC1420150A4}"/>
              </a:ext>
            </a:extLst>
          </p:cNvPr>
          <p:cNvSpPr txBox="1"/>
          <p:nvPr/>
        </p:nvSpPr>
        <p:spPr>
          <a:xfrm>
            <a:off x="248376" y="6481246"/>
            <a:ext cx="609750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900" b="0" i="0">
                <a:solidFill>
                  <a:schemeClr val="bg1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Fuente: https://ucarecdn.com/33aad287-2450-4386-8639-42c7a7eac874/</a:t>
            </a:r>
            <a:endParaRPr lang="en-US" sz="90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9A2DDAA-D244-C481-044C-361C0158B239}"/>
              </a:ext>
            </a:extLst>
          </p:cNvPr>
          <p:cNvSpPr txBox="1"/>
          <p:nvPr/>
        </p:nvSpPr>
        <p:spPr>
          <a:xfrm>
            <a:off x="2015858" y="5966884"/>
            <a:ext cx="32624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i="1">
                <a:solidFill>
                  <a:srgbClr val="00B0F0"/>
                </a:solidFill>
                <a:latin typeface="Helvetica" pitchFamily="2" charset="0"/>
              </a:rPr>
              <a:t>Componentes del JDK antes de la versión 11</a:t>
            </a:r>
            <a:endParaRPr lang="en-US" sz="1200" i="1">
              <a:solidFill>
                <a:srgbClr val="00B0F0"/>
              </a:solidFill>
              <a:latin typeface="Helvetica" pitchFamily="2" charset="0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E8B49A1E-A5BB-8EC5-BF81-2AE8F773DA8D}"/>
              </a:ext>
            </a:extLst>
          </p:cNvPr>
          <p:cNvGrpSpPr/>
          <p:nvPr/>
        </p:nvGrpSpPr>
        <p:grpSpPr>
          <a:xfrm>
            <a:off x="850746" y="-37285"/>
            <a:ext cx="4629752" cy="1015663"/>
            <a:chOff x="924025" y="1526961"/>
            <a:chExt cx="4629752" cy="1015663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5A4F171D-0BB7-196A-94D8-9D0A82AA4748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8F2A2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669D6421-61BE-1CEC-E6BC-71C215E24DD7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>
                  <a:solidFill>
                    <a:schemeClr val="bg1"/>
                  </a:solidFill>
                  <a:latin typeface="Helvetica" pitchFamily="2" charset="0"/>
                </a:rPr>
                <a:t>Compilación y </a:t>
              </a:r>
              <a:br>
                <a:rPr lang="es-ES">
                  <a:solidFill>
                    <a:schemeClr val="bg1"/>
                  </a:solidFill>
                  <a:latin typeface="Helvetica" pitchFamily="2" charset="0"/>
                </a:rPr>
              </a:br>
              <a:r>
                <a:rPr lang="es-ES">
                  <a:solidFill>
                    <a:schemeClr val="bg1"/>
                  </a:solidFill>
                  <a:latin typeface="Helvetica" pitchFamily="2" charset="0"/>
                </a:rPr>
                <a:t>ejecución</a:t>
              </a:r>
              <a:endParaRPr lang="en-US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35F1E01F-8FDA-9E9C-CF10-83366610310F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>
                  <a:solidFill>
                    <a:schemeClr val="bg1"/>
                  </a:solidFill>
                  <a:latin typeface="Helvetica" pitchFamily="2" charset="0"/>
                </a:rPr>
                <a:t>5</a:t>
              </a:r>
              <a:endParaRPr lang="en-US" sz="6000" b="1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630A201B-59A2-237D-4875-15512409A1A4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5120354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26CA67-455D-382B-79C5-9E4397F014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err="1"/>
              <a:t>javac</a:t>
            </a:r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F208C6B-BD85-5B47-6FD9-21B2F717338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32</a:t>
            </a:fld>
            <a:endParaRPr lang="es-P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0D78FB-7828-61F5-B553-CA0E4392ED5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38200" y="1846263"/>
            <a:ext cx="8977912" cy="4373562"/>
          </a:xfrm>
        </p:spPr>
        <p:txBody>
          <a:bodyPr/>
          <a:lstStyle/>
          <a:p>
            <a:r>
              <a:rPr lang="es-ES" b="1" err="1">
                <a:solidFill>
                  <a:schemeClr val="accent2"/>
                </a:solidFill>
              </a:rPr>
              <a:t>javac</a:t>
            </a:r>
            <a:r>
              <a:rPr lang="es-ES"/>
              <a:t> es el </a:t>
            </a:r>
            <a:r>
              <a:rPr lang="es-ES" b="1">
                <a:solidFill>
                  <a:schemeClr val="accent2"/>
                </a:solidFill>
              </a:rPr>
              <a:t>compilador</a:t>
            </a:r>
            <a:r>
              <a:rPr lang="es-ES"/>
              <a:t> de Java.</a:t>
            </a:r>
          </a:p>
          <a:p>
            <a:r>
              <a:rPr lang="es-ES"/>
              <a:t>Traduce los archivos </a:t>
            </a:r>
            <a:r>
              <a:rPr lang="es-ES" b="1"/>
              <a:t>*.java</a:t>
            </a:r>
            <a:r>
              <a:rPr lang="es-ES"/>
              <a:t> en archivos </a:t>
            </a:r>
            <a:r>
              <a:rPr lang="es-ES" b="1"/>
              <a:t>*.</a:t>
            </a:r>
            <a:r>
              <a:rPr lang="es-ES" b="1" err="1"/>
              <a:t>class</a:t>
            </a:r>
            <a:endParaRPr lang="es-ES" b="1"/>
          </a:p>
          <a:p>
            <a:r>
              <a:rPr lang="es-ES"/>
              <a:t>Los archivos </a:t>
            </a:r>
            <a:r>
              <a:rPr lang="es-ES" b="1"/>
              <a:t>.</a:t>
            </a:r>
            <a:r>
              <a:rPr lang="es-ES" b="1" err="1"/>
              <a:t>class</a:t>
            </a:r>
            <a:r>
              <a:rPr lang="es-ES"/>
              <a:t> contienen el </a:t>
            </a:r>
            <a:r>
              <a:rPr lang="es-ES" b="1" err="1">
                <a:solidFill>
                  <a:schemeClr val="bg1">
                    <a:lumMod val="50000"/>
                  </a:schemeClr>
                </a:solidFill>
              </a:rPr>
              <a:t>bytecode</a:t>
            </a:r>
            <a:r>
              <a:rPr lang="es-ES"/>
              <a:t>.</a:t>
            </a:r>
          </a:p>
          <a:p>
            <a:r>
              <a:rPr lang="es-ES"/>
              <a:t>Los archivos </a:t>
            </a:r>
            <a:r>
              <a:rPr lang="es-ES" b="1"/>
              <a:t>.</a:t>
            </a:r>
            <a:r>
              <a:rPr lang="es-ES" b="1" err="1"/>
              <a:t>class</a:t>
            </a:r>
            <a:r>
              <a:rPr lang="es-ES"/>
              <a:t> pueden empaquetarse en un archivo </a:t>
            </a:r>
            <a:r>
              <a:rPr lang="es-ES" b="1"/>
              <a:t>.</a:t>
            </a:r>
            <a:r>
              <a:rPr lang="es-ES" b="1" err="1"/>
              <a:t>jar</a:t>
            </a:r>
            <a:r>
              <a:rPr lang="es-ES"/>
              <a:t> (java archive)</a:t>
            </a:r>
          </a:p>
          <a:p>
            <a:r>
              <a:rPr lang="es-ES"/>
              <a:t>Los archivos </a:t>
            </a:r>
            <a:r>
              <a:rPr lang="es-ES" b="1"/>
              <a:t>.</a:t>
            </a:r>
            <a:r>
              <a:rPr lang="es-ES" b="1" err="1"/>
              <a:t>class</a:t>
            </a:r>
            <a:r>
              <a:rPr lang="es-ES"/>
              <a:t> o </a:t>
            </a:r>
            <a:r>
              <a:rPr lang="es-ES" b="1"/>
              <a:t>.</a:t>
            </a:r>
            <a:r>
              <a:rPr lang="es-ES" b="1" err="1"/>
              <a:t>jar</a:t>
            </a:r>
            <a:r>
              <a:rPr lang="es-ES"/>
              <a:t> se ejecutan en el </a:t>
            </a:r>
            <a:r>
              <a:rPr lang="es-ES" b="1"/>
              <a:t>JRE</a:t>
            </a:r>
            <a:r>
              <a:rPr lang="es-ES"/>
              <a:t> usando </a:t>
            </a:r>
            <a:r>
              <a:rPr lang="es-ES" b="1">
                <a:solidFill>
                  <a:schemeClr val="accent2"/>
                </a:solidFill>
              </a:rPr>
              <a:t>java.exe</a:t>
            </a:r>
            <a:r>
              <a:rPr lang="es-ES"/>
              <a:t> (Windows)</a:t>
            </a:r>
          </a:p>
          <a:p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6A6BC1F6-147A-10A0-F8E7-CF1B64136328}"/>
              </a:ext>
            </a:extLst>
          </p:cNvPr>
          <p:cNvGrpSpPr/>
          <p:nvPr/>
        </p:nvGrpSpPr>
        <p:grpSpPr>
          <a:xfrm>
            <a:off x="10052306" y="1771798"/>
            <a:ext cx="1011891" cy="1239245"/>
            <a:chOff x="4627841" y="1853046"/>
            <a:chExt cx="1011891" cy="1239245"/>
          </a:xfrm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CF5714B8-8BB4-8F43-C1C6-B684F3BBD934}"/>
                </a:ext>
              </a:extLst>
            </p:cNvPr>
            <p:cNvSpPr/>
            <p:nvPr/>
          </p:nvSpPr>
          <p:spPr>
            <a:xfrm>
              <a:off x="4627841" y="1853046"/>
              <a:ext cx="1011891" cy="1239245"/>
            </a:xfrm>
            <a:custGeom>
              <a:avLst/>
              <a:gdLst>
                <a:gd name="connsiteX0" fmla="*/ 549430 w 1493823"/>
                <a:gd name="connsiteY0" fmla="*/ 0 h 1829457"/>
                <a:gd name="connsiteX1" fmla="*/ 1244848 w 1493823"/>
                <a:gd name="connsiteY1" fmla="*/ 0 h 1829457"/>
                <a:gd name="connsiteX2" fmla="*/ 1493823 w 1493823"/>
                <a:gd name="connsiteY2" fmla="*/ 248975 h 1829457"/>
                <a:gd name="connsiteX3" fmla="*/ 1493823 w 1493823"/>
                <a:gd name="connsiteY3" fmla="*/ 1580482 h 1829457"/>
                <a:gd name="connsiteX4" fmla="*/ 1244848 w 1493823"/>
                <a:gd name="connsiteY4" fmla="*/ 1829457 h 1829457"/>
                <a:gd name="connsiteX5" fmla="*/ 248975 w 1493823"/>
                <a:gd name="connsiteY5" fmla="*/ 1829457 h 1829457"/>
                <a:gd name="connsiteX6" fmla="*/ 0 w 1493823"/>
                <a:gd name="connsiteY6" fmla="*/ 1580482 h 1829457"/>
                <a:gd name="connsiteX7" fmla="*/ 0 w 1493823"/>
                <a:gd name="connsiteY7" fmla="*/ 549430 h 18294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93823" h="1829457">
                  <a:moveTo>
                    <a:pt x="549430" y="0"/>
                  </a:moveTo>
                  <a:lnTo>
                    <a:pt x="1244848" y="0"/>
                  </a:lnTo>
                  <a:cubicBezTo>
                    <a:pt x="1382353" y="0"/>
                    <a:pt x="1493823" y="111470"/>
                    <a:pt x="1493823" y="248975"/>
                  </a:cubicBezTo>
                  <a:lnTo>
                    <a:pt x="1493823" y="1580482"/>
                  </a:lnTo>
                  <a:cubicBezTo>
                    <a:pt x="1493823" y="1717987"/>
                    <a:pt x="1382353" y="1829457"/>
                    <a:pt x="1244848" y="1829457"/>
                  </a:cubicBezTo>
                  <a:lnTo>
                    <a:pt x="248975" y="1829457"/>
                  </a:lnTo>
                  <a:cubicBezTo>
                    <a:pt x="111470" y="1829457"/>
                    <a:pt x="0" y="1717987"/>
                    <a:pt x="0" y="1580482"/>
                  </a:cubicBezTo>
                  <a:lnTo>
                    <a:pt x="0" y="549430"/>
                  </a:lnTo>
                  <a:close/>
                </a:path>
              </a:pathLst>
            </a:cu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0A07D65A-292A-C896-7866-558BDECCFB11}"/>
                </a:ext>
              </a:extLst>
            </p:cNvPr>
            <p:cNvSpPr/>
            <p:nvPr/>
          </p:nvSpPr>
          <p:spPr>
            <a:xfrm rot="16200000">
              <a:off x="4633092" y="1853258"/>
              <a:ext cx="365733" cy="369436"/>
            </a:xfrm>
            <a:custGeom>
              <a:avLst/>
              <a:gdLst>
                <a:gd name="connsiteX0" fmla="*/ 539919 w 539919"/>
                <a:gd name="connsiteY0" fmla="*/ 532111 h 545387"/>
                <a:gd name="connsiteX1" fmla="*/ 539919 w 539919"/>
                <a:gd name="connsiteY1" fmla="*/ 545387 h 545387"/>
                <a:gd name="connsiteX2" fmla="*/ 248975 w 539919"/>
                <a:gd name="connsiteY2" fmla="*/ 545387 h 545387"/>
                <a:gd name="connsiteX3" fmla="*/ 0 w 539919"/>
                <a:gd name="connsiteY3" fmla="*/ 296412 h 545387"/>
                <a:gd name="connsiteX4" fmla="*/ 0 w 539919"/>
                <a:gd name="connsiteY4" fmla="*/ 0 h 545387"/>
                <a:gd name="connsiteX5" fmla="*/ 7808 w 539919"/>
                <a:gd name="connsiteY5" fmla="*/ 0 h 5453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39919" h="545387">
                  <a:moveTo>
                    <a:pt x="539919" y="532111"/>
                  </a:moveTo>
                  <a:lnTo>
                    <a:pt x="539919" y="545387"/>
                  </a:lnTo>
                  <a:lnTo>
                    <a:pt x="248975" y="545387"/>
                  </a:lnTo>
                  <a:cubicBezTo>
                    <a:pt x="111470" y="545387"/>
                    <a:pt x="0" y="433917"/>
                    <a:pt x="0" y="296412"/>
                  </a:cubicBezTo>
                  <a:lnTo>
                    <a:pt x="0" y="0"/>
                  </a:lnTo>
                  <a:lnTo>
                    <a:pt x="7808" y="0"/>
                  </a:lnTo>
                  <a:close/>
                </a:path>
              </a:pathLst>
            </a:custGeom>
            <a:solidFill>
              <a:srgbClr val="00B0F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098340E6-3E3B-4811-0603-DAB23A73C992}"/>
                </a:ext>
              </a:extLst>
            </p:cNvPr>
            <p:cNvSpPr/>
            <p:nvPr/>
          </p:nvSpPr>
          <p:spPr>
            <a:xfrm>
              <a:off x="4818846" y="2316863"/>
              <a:ext cx="369436" cy="73988"/>
            </a:xfrm>
            <a:prstGeom prst="round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13AB29B1-D3D1-1C56-223E-1E605FBCC76C}"/>
                </a:ext>
              </a:extLst>
            </p:cNvPr>
            <p:cNvSpPr/>
            <p:nvPr/>
          </p:nvSpPr>
          <p:spPr>
            <a:xfrm>
              <a:off x="4952913" y="2445646"/>
              <a:ext cx="369436" cy="73988"/>
            </a:xfrm>
            <a:prstGeom prst="round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B05ED8F2-B76B-22DB-143E-8A5C96B846C1}"/>
                </a:ext>
              </a:extLst>
            </p:cNvPr>
            <p:cNvSpPr/>
            <p:nvPr/>
          </p:nvSpPr>
          <p:spPr>
            <a:xfrm>
              <a:off x="4952913" y="2574430"/>
              <a:ext cx="369436" cy="73988"/>
            </a:xfrm>
            <a:prstGeom prst="round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E5E2AA76-4C51-04D0-DB82-55B5AE4F8EAC}"/>
                </a:ext>
              </a:extLst>
            </p:cNvPr>
            <p:cNvSpPr/>
            <p:nvPr/>
          </p:nvSpPr>
          <p:spPr>
            <a:xfrm>
              <a:off x="4952912" y="2703214"/>
              <a:ext cx="494502" cy="73988"/>
            </a:xfrm>
            <a:prstGeom prst="round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3D639573-E981-27E8-2719-0B1C43CBC8B9}"/>
                </a:ext>
              </a:extLst>
            </p:cNvPr>
            <p:cNvSpPr/>
            <p:nvPr/>
          </p:nvSpPr>
          <p:spPr>
            <a:xfrm>
              <a:off x="4858627" y="2831997"/>
              <a:ext cx="494502" cy="73988"/>
            </a:xfrm>
            <a:prstGeom prst="round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8" name="Arrow: Down 17">
            <a:extLst>
              <a:ext uri="{FF2B5EF4-FFF2-40B4-BE49-F238E27FC236}">
                <a16:creationId xmlns:a16="http://schemas.microsoft.com/office/drawing/2014/main" id="{04AFAAA6-6834-8452-E4A4-33E9C4E60B84}"/>
              </a:ext>
            </a:extLst>
          </p:cNvPr>
          <p:cNvSpPr/>
          <p:nvPr/>
        </p:nvSpPr>
        <p:spPr>
          <a:xfrm>
            <a:off x="10428659" y="3298410"/>
            <a:ext cx="259132" cy="585317"/>
          </a:xfrm>
          <a:prstGeom prst="downArrow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9E8FF850-AF8F-0F18-3759-782D313C0734}"/>
              </a:ext>
            </a:extLst>
          </p:cNvPr>
          <p:cNvGrpSpPr/>
          <p:nvPr/>
        </p:nvGrpSpPr>
        <p:grpSpPr>
          <a:xfrm>
            <a:off x="850746" y="-37285"/>
            <a:ext cx="4629752" cy="1015663"/>
            <a:chOff x="924025" y="1526961"/>
            <a:chExt cx="4629752" cy="1015663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9EAA955C-EDC5-C7DB-20F9-32B273AB2299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8F2A2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CBDD70E8-A933-8475-17B1-66DE2EB324A3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>
                  <a:solidFill>
                    <a:schemeClr val="bg1"/>
                  </a:solidFill>
                  <a:latin typeface="Helvetica" pitchFamily="2" charset="0"/>
                </a:rPr>
                <a:t>Compilación y </a:t>
              </a:r>
              <a:br>
                <a:rPr lang="es-ES">
                  <a:solidFill>
                    <a:schemeClr val="bg1"/>
                  </a:solidFill>
                  <a:latin typeface="Helvetica" pitchFamily="2" charset="0"/>
                </a:rPr>
              </a:br>
              <a:r>
                <a:rPr lang="es-ES">
                  <a:solidFill>
                    <a:schemeClr val="bg1"/>
                  </a:solidFill>
                  <a:latin typeface="Helvetica" pitchFamily="2" charset="0"/>
                </a:rPr>
                <a:t>ejecución</a:t>
              </a:r>
              <a:endParaRPr lang="en-US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51EB9C15-3093-ABBA-7BF0-DEEE13C573AB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>
                  <a:solidFill>
                    <a:schemeClr val="bg1"/>
                  </a:solidFill>
                  <a:latin typeface="Helvetica" pitchFamily="2" charset="0"/>
                </a:rPr>
                <a:t>5</a:t>
              </a:r>
              <a:endParaRPr lang="en-US" sz="6000" b="1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B8CA14E8-E337-0CE7-CFDF-995E20607AE1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A22D8E9A-B829-AD32-8010-09B4A69DCF23}"/>
              </a:ext>
            </a:extLst>
          </p:cNvPr>
          <p:cNvGrpSpPr/>
          <p:nvPr/>
        </p:nvGrpSpPr>
        <p:grpSpPr>
          <a:xfrm>
            <a:off x="10070891" y="4124530"/>
            <a:ext cx="973189" cy="1191847"/>
            <a:chOff x="8951339" y="2052151"/>
            <a:chExt cx="973189" cy="1191847"/>
          </a:xfrm>
        </p:grpSpPr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64E18397-A9F6-7536-877B-1C7A09DA9096}"/>
                </a:ext>
              </a:extLst>
            </p:cNvPr>
            <p:cNvSpPr/>
            <p:nvPr/>
          </p:nvSpPr>
          <p:spPr>
            <a:xfrm>
              <a:off x="8951339" y="2052151"/>
              <a:ext cx="973189" cy="1191847"/>
            </a:xfrm>
            <a:custGeom>
              <a:avLst/>
              <a:gdLst>
                <a:gd name="connsiteX0" fmla="*/ 549430 w 1493823"/>
                <a:gd name="connsiteY0" fmla="*/ 0 h 1829457"/>
                <a:gd name="connsiteX1" fmla="*/ 1244848 w 1493823"/>
                <a:gd name="connsiteY1" fmla="*/ 0 h 1829457"/>
                <a:gd name="connsiteX2" fmla="*/ 1493823 w 1493823"/>
                <a:gd name="connsiteY2" fmla="*/ 248975 h 1829457"/>
                <a:gd name="connsiteX3" fmla="*/ 1493823 w 1493823"/>
                <a:gd name="connsiteY3" fmla="*/ 1580482 h 1829457"/>
                <a:gd name="connsiteX4" fmla="*/ 1244848 w 1493823"/>
                <a:gd name="connsiteY4" fmla="*/ 1829457 h 1829457"/>
                <a:gd name="connsiteX5" fmla="*/ 248975 w 1493823"/>
                <a:gd name="connsiteY5" fmla="*/ 1829457 h 1829457"/>
                <a:gd name="connsiteX6" fmla="*/ 0 w 1493823"/>
                <a:gd name="connsiteY6" fmla="*/ 1580482 h 1829457"/>
                <a:gd name="connsiteX7" fmla="*/ 0 w 1493823"/>
                <a:gd name="connsiteY7" fmla="*/ 549430 h 18294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93823" h="1829457">
                  <a:moveTo>
                    <a:pt x="549430" y="0"/>
                  </a:moveTo>
                  <a:lnTo>
                    <a:pt x="1244848" y="0"/>
                  </a:lnTo>
                  <a:cubicBezTo>
                    <a:pt x="1382353" y="0"/>
                    <a:pt x="1493823" y="111470"/>
                    <a:pt x="1493823" y="248975"/>
                  </a:cubicBezTo>
                  <a:lnTo>
                    <a:pt x="1493823" y="1580482"/>
                  </a:lnTo>
                  <a:cubicBezTo>
                    <a:pt x="1493823" y="1717987"/>
                    <a:pt x="1382353" y="1829457"/>
                    <a:pt x="1244848" y="1829457"/>
                  </a:cubicBezTo>
                  <a:lnTo>
                    <a:pt x="248975" y="1829457"/>
                  </a:lnTo>
                  <a:cubicBezTo>
                    <a:pt x="111470" y="1829457"/>
                    <a:pt x="0" y="1717987"/>
                    <a:pt x="0" y="1580482"/>
                  </a:cubicBezTo>
                  <a:lnTo>
                    <a:pt x="0" y="549430"/>
                  </a:lnTo>
                  <a:close/>
                </a:path>
              </a:pathLst>
            </a:cu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5" name="Rectangle: Rounded Corners 24">
              <a:extLst>
                <a:ext uri="{FF2B5EF4-FFF2-40B4-BE49-F238E27FC236}">
                  <a16:creationId xmlns:a16="http://schemas.microsoft.com/office/drawing/2014/main" id="{0B59AF01-D838-B4AC-F623-2050D87EF559}"/>
                </a:ext>
              </a:extLst>
            </p:cNvPr>
            <p:cNvSpPr/>
            <p:nvPr/>
          </p:nvSpPr>
          <p:spPr>
            <a:xfrm>
              <a:off x="9083548" y="2233398"/>
              <a:ext cx="708527" cy="855792"/>
            </a:xfrm>
            <a:prstGeom prst="roundRect">
              <a:avLst>
                <a:gd name="adj" fmla="val 12401"/>
              </a:avLst>
            </a:prstGeom>
            <a:solidFill>
              <a:srgbClr val="57D3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7B95041F-9EAF-5E52-5479-BEC40BDACD6B}"/>
                </a:ext>
              </a:extLst>
            </p:cNvPr>
            <p:cNvSpPr/>
            <p:nvPr/>
          </p:nvSpPr>
          <p:spPr>
            <a:xfrm rot="16200000">
              <a:off x="8956389" y="2052355"/>
              <a:ext cx="351744" cy="355306"/>
            </a:xfrm>
            <a:custGeom>
              <a:avLst/>
              <a:gdLst>
                <a:gd name="connsiteX0" fmla="*/ 539919 w 539919"/>
                <a:gd name="connsiteY0" fmla="*/ 532111 h 545387"/>
                <a:gd name="connsiteX1" fmla="*/ 539919 w 539919"/>
                <a:gd name="connsiteY1" fmla="*/ 545387 h 545387"/>
                <a:gd name="connsiteX2" fmla="*/ 248975 w 539919"/>
                <a:gd name="connsiteY2" fmla="*/ 545387 h 545387"/>
                <a:gd name="connsiteX3" fmla="*/ 0 w 539919"/>
                <a:gd name="connsiteY3" fmla="*/ 296412 h 545387"/>
                <a:gd name="connsiteX4" fmla="*/ 0 w 539919"/>
                <a:gd name="connsiteY4" fmla="*/ 0 h 545387"/>
                <a:gd name="connsiteX5" fmla="*/ 7808 w 539919"/>
                <a:gd name="connsiteY5" fmla="*/ 0 h 5453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39919" h="545387">
                  <a:moveTo>
                    <a:pt x="539919" y="532111"/>
                  </a:moveTo>
                  <a:lnTo>
                    <a:pt x="539919" y="545387"/>
                  </a:lnTo>
                  <a:lnTo>
                    <a:pt x="248975" y="545387"/>
                  </a:lnTo>
                  <a:cubicBezTo>
                    <a:pt x="111470" y="545387"/>
                    <a:pt x="0" y="433917"/>
                    <a:pt x="0" y="296412"/>
                  </a:cubicBezTo>
                  <a:lnTo>
                    <a:pt x="0" y="0"/>
                  </a:lnTo>
                  <a:lnTo>
                    <a:pt x="7808" y="0"/>
                  </a:lnTo>
                  <a:close/>
                </a:path>
              </a:pathLst>
            </a:custGeom>
            <a:solidFill>
              <a:srgbClr val="00B0F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7389517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ACAD04-743F-FBDC-8B4C-8517885BB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Compilación y ejecución manual</a:t>
            </a:r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0EBD4BB-657B-BBD2-D6D2-F76D8C28CCC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33</a:t>
            </a:fld>
            <a:endParaRPr lang="es-PE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0FB69112-3415-AE84-4694-E1D7ED0FCCD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38200" y="3570973"/>
            <a:ext cx="10515600" cy="2648852"/>
          </a:xfrm>
        </p:spPr>
        <p:txBody>
          <a:bodyPr>
            <a:normAutofit/>
          </a:bodyPr>
          <a:lstStyle/>
          <a:p>
            <a:pPr marL="50800" indent="0">
              <a:buNone/>
            </a:pPr>
            <a:r>
              <a:rPr lang="es-ES"/>
              <a:t>Requisitos:</a:t>
            </a:r>
          </a:p>
          <a:p>
            <a:r>
              <a:rPr lang="es-ES"/>
              <a:t>La clase está compilada en un archivo </a:t>
            </a:r>
            <a:r>
              <a:rPr lang="es-ES" b="1"/>
              <a:t>.</a:t>
            </a:r>
            <a:r>
              <a:rPr lang="es-ES" b="1" err="1"/>
              <a:t>class</a:t>
            </a:r>
            <a:endParaRPr lang="es-ES" b="1"/>
          </a:p>
          <a:p>
            <a:r>
              <a:rPr lang="es-ES"/>
              <a:t>El </a:t>
            </a:r>
            <a:r>
              <a:rPr lang="es-ES" i="1" err="1"/>
              <a:t>prompt</a:t>
            </a:r>
            <a:r>
              <a:rPr lang="es-ES"/>
              <a:t> se encuentra en la ruta base que contiene al paquete, de lo contrario aparecerá una excepción </a:t>
            </a:r>
            <a:r>
              <a:rPr lang="es-ES" b="1" err="1">
                <a:solidFill>
                  <a:schemeClr val="accent2"/>
                </a:solidFill>
              </a:rPr>
              <a:t>ClassNotFoundException</a:t>
            </a:r>
            <a:r>
              <a:rPr lang="es-ES"/>
              <a:t>.</a:t>
            </a:r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A5FEE241-5421-621A-9FE9-144591883809}"/>
              </a:ext>
            </a:extLst>
          </p:cNvPr>
          <p:cNvSpPr/>
          <p:nvPr/>
        </p:nvSpPr>
        <p:spPr>
          <a:xfrm>
            <a:off x="1527211" y="2686471"/>
            <a:ext cx="8852834" cy="721895"/>
          </a:xfrm>
          <a:prstGeom prst="round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800">
                <a:solidFill>
                  <a:srgbClr val="00B0F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java</a:t>
            </a:r>
            <a:r>
              <a:rPr lang="es-ES" sz="280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es-ES" sz="280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pe.edu.utp.miapp.</a:t>
            </a:r>
            <a:r>
              <a:rPr lang="es-ES" sz="2800" err="1">
                <a:solidFill>
                  <a:schemeClr val="accent4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Aplicacion</a:t>
            </a:r>
            <a:endParaRPr lang="en-US" sz="2800">
              <a:solidFill>
                <a:schemeClr val="accent4"/>
              </a:solidFill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EBC04D3-45DC-AAAD-8214-6B1AB2717BE9}"/>
              </a:ext>
            </a:extLst>
          </p:cNvPr>
          <p:cNvSpPr txBox="1"/>
          <p:nvPr/>
        </p:nvSpPr>
        <p:spPr>
          <a:xfrm>
            <a:off x="7141948" y="1575599"/>
            <a:ext cx="22908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/>
              <a:t>Clase con método </a:t>
            </a:r>
            <a:r>
              <a:rPr lang="es-ES" b="1" err="1"/>
              <a:t>main</a:t>
            </a:r>
            <a:r>
              <a:rPr lang="es-ES"/>
              <a:t> (compilada)</a:t>
            </a:r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71814D1-5FC1-D614-0991-9F83613B2C77}"/>
              </a:ext>
            </a:extLst>
          </p:cNvPr>
          <p:cNvSpPr txBox="1"/>
          <p:nvPr/>
        </p:nvSpPr>
        <p:spPr>
          <a:xfrm>
            <a:off x="4138865" y="1681474"/>
            <a:ext cx="22908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/>
              <a:t>paquete</a:t>
            </a:r>
            <a:endParaRPr lang="en-US"/>
          </a:p>
        </p:txBody>
      </p:sp>
      <p:sp>
        <p:nvSpPr>
          <p:cNvPr id="8" name="Right Brace 7">
            <a:extLst>
              <a:ext uri="{FF2B5EF4-FFF2-40B4-BE49-F238E27FC236}">
                <a16:creationId xmlns:a16="http://schemas.microsoft.com/office/drawing/2014/main" id="{715B7203-2ECB-291E-DF5A-72C5430CA7B1}"/>
              </a:ext>
            </a:extLst>
          </p:cNvPr>
          <p:cNvSpPr/>
          <p:nvPr/>
        </p:nvSpPr>
        <p:spPr>
          <a:xfrm rot="16200000">
            <a:off x="5041667" y="730316"/>
            <a:ext cx="485206" cy="3349591"/>
          </a:xfrm>
          <a:prstGeom prst="rightBrace">
            <a:avLst>
              <a:gd name="adj1" fmla="val 0"/>
              <a:gd name="adj2" fmla="val 50000"/>
            </a:avLst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ight Brace 8">
            <a:extLst>
              <a:ext uri="{FF2B5EF4-FFF2-40B4-BE49-F238E27FC236}">
                <a16:creationId xmlns:a16="http://schemas.microsoft.com/office/drawing/2014/main" id="{C9CAE73A-7BD7-77E0-F7A5-EB74905AA179}"/>
              </a:ext>
            </a:extLst>
          </p:cNvPr>
          <p:cNvSpPr/>
          <p:nvPr/>
        </p:nvSpPr>
        <p:spPr>
          <a:xfrm rot="16200000">
            <a:off x="8044752" y="1346330"/>
            <a:ext cx="485206" cy="2117561"/>
          </a:xfrm>
          <a:prstGeom prst="rightBrace">
            <a:avLst>
              <a:gd name="adj1" fmla="val 0"/>
              <a:gd name="adj2" fmla="val 50000"/>
            </a:avLst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21863D14-71F8-7FA1-2DDD-D652084801F5}"/>
              </a:ext>
            </a:extLst>
          </p:cNvPr>
          <p:cNvGrpSpPr/>
          <p:nvPr/>
        </p:nvGrpSpPr>
        <p:grpSpPr>
          <a:xfrm>
            <a:off x="850746" y="-37285"/>
            <a:ext cx="4629752" cy="1015663"/>
            <a:chOff x="924025" y="1526961"/>
            <a:chExt cx="4629752" cy="1015663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8862193E-4C83-FC80-BE69-CFA02A0D37EF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8F2A2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066279E3-AA43-3A9A-E156-FF127DE8FA9C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>
                  <a:solidFill>
                    <a:schemeClr val="bg1"/>
                  </a:solidFill>
                  <a:latin typeface="Helvetica" pitchFamily="2" charset="0"/>
                </a:rPr>
                <a:t>Compilación y </a:t>
              </a:r>
              <a:br>
                <a:rPr lang="es-ES">
                  <a:solidFill>
                    <a:schemeClr val="bg1"/>
                  </a:solidFill>
                  <a:latin typeface="Helvetica" pitchFamily="2" charset="0"/>
                </a:rPr>
              </a:br>
              <a:r>
                <a:rPr lang="es-ES">
                  <a:solidFill>
                    <a:schemeClr val="bg1"/>
                  </a:solidFill>
                  <a:latin typeface="Helvetica" pitchFamily="2" charset="0"/>
                </a:rPr>
                <a:t>ejecución</a:t>
              </a:r>
              <a:endParaRPr lang="en-US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22B1E65-0277-AC7D-8F27-67C7591B838B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>
                  <a:solidFill>
                    <a:schemeClr val="bg1"/>
                  </a:solidFill>
                  <a:latin typeface="Helvetica" pitchFamily="2" charset="0"/>
                </a:rPr>
                <a:t>5</a:t>
              </a:r>
              <a:endParaRPr lang="en-US" sz="6000" b="1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4040FC49-0998-60F1-02CF-DA7F67281F17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0704966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ACAD04-743F-FBDC-8B4C-8517885BB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Compilación y ejecución manual</a:t>
            </a:r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0EBD4BB-657B-BBD2-D6D2-F76D8C28CCC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34</a:t>
            </a:fld>
            <a:endParaRPr lang="es-PE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0FB69112-3415-AE84-4694-E1D7ED0FCCD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38200" y="3275398"/>
            <a:ext cx="10515600" cy="3163903"/>
          </a:xfrm>
        </p:spPr>
        <p:txBody>
          <a:bodyPr>
            <a:normAutofit fontScale="92500" lnSpcReduction="10000"/>
          </a:bodyPr>
          <a:lstStyle/>
          <a:p>
            <a:pPr marL="50800" indent="0">
              <a:lnSpc>
                <a:spcPct val="110000"/>
              </a:lnSpc>
              <a:buNone/>
            </a:pPr>
            <a:r>
              <a:rPr lang="es-ES"/>
              <a:t>Requisitos:</a:t>
            </a:r>
          </a:p>
          <a:p>
            <a:pPr>
              <a:lnSpc>
                <a:spcPct val="110000"/>
              </a:lnSpc>
            </a:pPr>
            <a:r>
              <a:rPr lang="es-ES"/>
              <a:t>La clase está compilada en un archivo </a:t>
            </a:r>
            <a:r>
              <a:rPr lang="es-ES" b="1"/>
              <a:t>.</a:t>
            </a:r>
            <a:r>
              <a:rPr lang="es-ES" b="1" err="1"/>
              <a:t>class</a:t>
            </a:r>
            <a:endParaRPr lang="es-ES" b="1"/>
          </a:p>
          <a:p>
            <a:pPr>
              <a:lnSpc>
                <a:spcPct val="110000"/>
              </a:lnSpc>
            </a:pPr>
            <a:r>
              <a:rPr lang="es-ES"/>
              <a:t>La ruta base apunta a la carpeta donde inicia el paquete.</a:t>
            </a:r>
          </a:p>
          <a:p>
            <a:pPr>
              <a:lnSpc>
                <a:spcPct val="110000"/>
              </a:lnSpc>
            </a:pPr>
            <a:r>
              <a:rPr lang="es-ES"/>
              <a:t>El </a:t>
            </a:r>
            <a:r>
              <a:rPr lang="es-ES" i="1" err="1"/>
              <a:t>prompt</a:t>
            </a:r>
            <a:r>
              <a:rPr lang="es-ES"/>
              <a:t> se encuentra en cualquier carpeta.</a:t>
            </a:r>
          </a:p>
          <a:p>
            <a:pPr>
              <a:lnSpc>
                <a:spcPct val="110000"/>
              </a:lnSpc>
            </a:pPr>
            <a:r>
              <a:rPr lang="es-ES"/>
              <a:t>Si esto no se cumple, aparecerá una excepción </a:t>
            </a:r>
            <a:r>
              <a:rPr lang="es-ES" b="1" err="1">
                <a:solidFill>
                  <a:schemeClr val="accent2"/>
                </a:solidFill>
              </a:rPr>
              <a:t>ClassNotFoundException</a:t>
            </a:r>
            <a:r>
              <a:rPr lang="es-ES"/>
              <a:t>.</a:t>
            </a:r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A5FEE241-5421-621A-9FE9-144591883809}"/>
              </a:ext>
            </a:extLst>
          </p:cNvPr>
          <p:cNvSpPr/>
          <p:nvPr/>
        </p:nvSpPr>
        <p:spPr>
          <a:xfrm>
            <a:off x="639281" y="2474714"/>
            <a:ext cx="10628694" cy="721895"/>
          </a:xfrm>
          <a:prstGeom prst="round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400">
                <a:solidFill>
                  <a:srgbClr val="00B0F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java </a:t>
            </a:r>
            <a:r>
              <a:rPr lang="es-ES" sz="2400">
                <a:solidFill>
                  <a:srgbClr val="92D05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–</a:t>
            </a:r>
            <a:r>
              <a:rPr lang="es-ES" sz="2400" err="1">
                <a:solidFill>
                  <a:srgbClr val="92D05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classpath</a:t>
            </a:r>
            <a:r>
              <a:rPr lang="es-ES" sz="2400">
                <a:solidFill>
                  <a:srgbClr val="00B0F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es-ES" sz="2400">
                <a:solidFill>
                  <a:srgbClr val="FFFF0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ruta\base</a:t>
            </a:r>
            <a:r>
              <a:rPr lang="es-ES" sz="240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es-ES" sz="240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pe.edu.utp.miapp.</a:t>
            </a:r>
            <a:r>
              <a:rPr lang="es-ES" sz="2400" err="1">
                <a:solidFill>
                  <a:schemeClr val="accent4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Aplicacion</a:t>
            </a:r>
            <a:endParaRPr lang="en-US" sz="2400">
              <a:solidFill>
                <a:schemeClr val="accent4"/>
              </a:solidFill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EBC04D3-45DC-AAAD-8214-6B1AB2717BE9}"/>
              </a:ext>
            </a:extLst>
          </p:cNvPr>
          <p:cNvSpPr txBox="1"/>
          <p:nvPr/>
        </p:nvSpPr>
        <p:spPr>
          <a:xfrm>
            <a:off x="8474329" y="1603978"/>
            <a:ext cx="305265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/>
              <a:t>Clase con método </a:t>
            </a:r>
            <a:r>
              <a:rPr lang="es-ES" b="1" err="1"/>
              <a:t>main</a:t>
            </a:r>
            <a:r>
              <a:rPr lang="es-ES"/>
              <a:t> (compilada)</a:t>
            </a:r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71814D1-5FC1-D614-0991-9F83613B2C77}"/>
              </a:ext>
            </a:extLst>
          </p:cNvPr>
          <p:cNvSpPr txBox="1"/>
          <p:nvPr/>
        </p:nvSpPr>
        <p:spPr>
          <a:xfrm>
            <a:off x="6189053" y="1603978"/>
            <a:ext cx="22908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/>
              <a:t>paquete</a:t>
            </a:r>
            <a:endParaRPr lang="en-US"/>
          </a:p>
        </p:txBody>
      </p:sp>
      <p:sp>
        <p:nvSpPr>
          <p:cNvPr id="8" name="Right Brace 7">
            <a:extLst>
              <a:ext uri="{FF2B5EF4-FFF2-40B4-BE49-F238E27FC236}">
                <a16:creationId xmlns:a16="http://schemas.microsoft.com/office/drawing/2014/main" id="{715B7203-2ECB-291E-DF5A-72C5430CA7B1}"/>
              </a:ext>
            </a:extLst>
          </p:cNvPr>
          <p:cNvSpPr/>
          <p:nvPr/>
        </p:nvSpPr>
        <p:spPr>
          <a:xfrm rot="16200000">
            <a:off x="7091856" y="788075"/>
            <a:ext cx="485206" cy="2810560"/>
          </a:xfrm>
          <a:prstGeom prst="rightBrace">
            <a:avLst>
              <a:gd name="adj1" fmla="val 0"/>
              <a:gd name="adj2" fmla="val 50000"/>
            </a:avLst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ight Brace 8">
            <a:extLst>
              <a:ext uri="{FF2B5EF4-FFF2-40B4-BE49-F238E27FC236}">
                <a16:creationId xmlns:a16="http://schemas.microsoft.com/office/drawing/2014/main" id="{C9CAE73A-7BD7-77E0-F7A5-EB74905AA179}"/>
              </a:ext>
            </a:extLst>
          </p:cNvPr>
          <p:cNvSpPr/>
          <p:nvPr/>
        </p:nvSpPr>
        <p:spPr>
          <a:xfrm rot="16200000">
            <a:off x="9758053" y="1134573"/>
            <a:ext cx="485206" cy="2117561"/>
          </a:xfrm>
          <a:prstGeom prst="rightBrace">
            <a:avLst>
              <a:gd name="adj1" fmla="val 0"/>
              <a:gd name="adj2" fmla="val 50000"/>
            </a:avLst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54E4602B-9C84-D8A2-E821-C76F6C253E4E}"/>
              </a:ext>
            </a:extLst>
          </p:cNvPr>
          <p:cNvGrpSpPr/>
          <p:nvPr/>
        </p:nvGrpSpPr>
        <p:grpSpPr>
          <a:xfrm>
            <a:off x="850746" y="-37285"/>
            <a:ext cx="4629752" cy="1015663"/>
            <a:chOff x="924025" y="1526961"/>
            <a:chExt cx="4629752" cy="1015663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59D696B0-B4DC-3EF6-ECA6-A785E47A2915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8F2A2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2A4FCA2F-26EC-2088-45F3-496DF831E43B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>
                  <a:solidFill>
                    <a:schemeClr val="bg1"/>
                  </a:solidFill>
                  <a:latin typeface="Helvetica" pitchFamily="2" charset="0"/>
                </a:rPr>
                <a:t>Compilación y </a:t>
              </a:r>
              <a:br>
                <a:rPr lang="es-ES">
                  <a:solidFill>
                    <a:schemeClr val="bg1"/>
                  </a:solidFill>
                  <a:latin typeface="Helvetica" pitchFamily="2" charset="0"/>
                </a:rPr>
              </a:br>
              <a:r>
                <a:rPr lang="es-ES">
                  <a:solidFill>
                    <a:schemeClr val="bg1"/>
                  </a:solidFill>
                  <a:latin typeface="Helvetica" pitchFamily="2" charset="0"/>
                </a:rPr>
                <a:t>ejecución</a:t>
              </a:r>
              <a:endParaRPr lang="en-US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2159A24D-4927-34FF-799C-77337C5FC66B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>
                  <a:solidFill>
                    <a:schemeClr val="bg1"/>
                  </a:solidFill>
                  <a:latin typeface="Helvetica" pitchFamily="2" charset="0"/>
                </a:rPr>
                <a:t>5</a:t>
              </a:r>
              <a:endParaRPr lang="en-US" sz="6000" b="1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6AB4865A-F0CC-57E0-8D8D-6F8504FF6EF5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6052877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" name="Group 39">
            <a:extLst>
              <a:ext uri="{FF2B5EF4-FFF2-40B4-BE49-F238E27FC236}">
                <a16:creationId xmlns:a16="http://schemas.microsoft.com/office/drawing/2014/main" id="{C0EBFC4B-97B9-EE23-54E6-35D0BD1A72B6}"/>
              </a:ext>
            </a:extLst>
          </p:cNvPr>
          <p:cNvGrpSpPr/>
          <p:nvPr/>
        </p:nvGrpSpPr>
        <p:grpSpPr>
          <a:xfrm>
            <a:off x="6724048" y="1782509"/>
            <a:ext cx="4629752" cy="1015663"/>
            <a:chOff x="924025" y="1526961"/>
            <a:chExt cx="4629752" cy="1015663"/>
          </a:xfrm>
        </p:grpSpPr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4FE8F910-E501-76FA-7ECF-5ADB916A9A3E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8F2A2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FE3C8125-0623-B6FF-9FE1-0715FE1439E0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rtlCol="0" anchor="t">
              <a:spAutoFit/>
            </a:bodyPr>
            <a:lstStyle/>
            <a:p>
              <a:r>
                <a:rPr lang="es-ES">
                  <a:solidFill>
                    <a:schemeClr val="bg1"/>
                  </a:solidFill>
                  <a:latin typeface="Helvetica"/>
                </a:rPr>
                <a:t>Práctica</a:t>
              </a:r>
              <a:endParaRPr lang="en-US"/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FB2CE88F-B9E6-8333-5227-9BC78AB02562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>
                  <a:solidFill>
                    <a:schemeClr val="bg1"/>
                  </a:solidFill>
                  <a:latin typeface="Helvetica" pitchFamily="2" charset="0"/>
                </a:rPr>
                <a:t>8</a:t>
              </a:r>
              <a:endParaRPr lang="en-US" sz="6000" b="1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0EA75671-C972-4E78-C608-76524A6F268E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6C6B983-D187-5021-011D-340D9A64632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35</a:t>
            </a:fld>
            <a:endParaRPr lang="es-PE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4C62550A-9487-0FB4-AEF5-18BF59D1D1BB}"/>
              </a:ext>
            </a:extLst>
          </p:cNvPr>
          <p:cNvGrpSpPr/>
          <p:nvPr/>
        </p:nvGrpSpPr>
        <p:grpSpPr>
          <a:xfrm>
            <a:off x="1955128" y="1782509"/>
            <a:ext cx="4629752" cy="1015663"/>
            <a:chOff x="924025" y="1526961"/>
            <a:chExt cx="4629752" cy="1015663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9EE3C4A-25E0-0661-5719-DFD8A408196E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0E7D7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8F03E694-3539-B74F-A7F9-A90BF4FC7172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>
                  <a:solidFill>
                    <a:schemeClr val="bg1"/>
                  </a:solidFill>
                  <a:latin typeface="Helvetica" pitchFamily="2" charset="0"/>
                </a:rPr>
                <a:t>Compiladores e</a:t>
              </a:r>
            </a:p>
            <a:p>
              <a:r>
                <a:rPr lang="es-ES">
                  <a:solidFill>
                    <a:schemeClr val="bg1"/>
                  </a:solidFill>
                  <a:latin typeface="Helvetica" pitchFamily="2" charset="0"/>
                </a:rPr>
                <a:t>Intérpretes</a:t>
              </a:r>
              <a:endParaRPr lang="en-US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0BD6589-A9C6-D2FD-D50D-C5AAC8113E8A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>
                  <a:solidFill>
                    <a:schemeClr val="bg1"/>
                  </a:solidFill>
                  <a:latin typeface="Helvetica" pitchFamily="2" charset="0"/>
                </a:rPr>
                <a:t>2</a:t>
              </a:r>
              <a:endParaRPr lang="en-US" sz="6000" b="1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FE0265B7-9BAF-D770-6E56-5AE1A9C41973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5598A8C9-355C-B375-F419-53EB7FBA52CF}"/>
              </a:ext>
            </a:extLst>
          </p:cNvPr>
          <p:cNvGrpSpPr/>
          <p:nvPr/>
        </p:nvGrpSpPr>
        <p:grpSpPr>
          <a:xfrm>
            <a:off x="1955128" y="2672054"/>
            <a:ext cx="4629752" cy="1015663"/>
            <a:chOff x="924025" y="1526961"/>
            <a:chExt cx="4629752" cy="1015663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968C5937-AEC8-D4AC-1863-47EC6A0DD5D7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758F3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9B9DA0B8-3305-EA9B-D50C-133423FA16B6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>
                  <a:solidFill>
                    <a:schemeClr val="bg1"/>
                  </a:solidFill>
                  <a:latin typeface="Helvetica" pitchFamily="2" charset="0"/>
                </a:rPr>
                <a:t>Introducción al </a:t>
              </a:r>
              <a:br>
                <a:rPr lang="es-ES">
                  <a:solidFill>
                    <a:schemeClr val="bg1"/>
                  </a:solidFill>
                  <a:latin typeface="Helvetica" pitchFamily="2" charset="0"/>
                </a:rPr>
              </a:br>
              <a:r>
                <a:rPr lang="es-ES">
                  <a:solidFill>
                    <a:schemeClr val="bg1"/>
                  </a:solidFill>
                  <a:latin typeface="Helvetica" pitchFamily="2" charset="0"/>
                </a:rPr>
                <a:t>lenguaje Java</a:t>
              </a:r>
              <a:endParaRPr lang="en-US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E719D950-4EA4-CB17-5AF9-0E716D1D0C97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>
                  <a:solidFill>
                    <a:schemeClr val="bg1"/>
                  </a:solidFill>
                  <a:latin typeface="Helvetica" pitchFamily="2" charset="0"/>
                </a:rPr>
                <a:t>3</a:t>
              </a:r>
              <a:endParaRPr lang="en-US" sz="6000" b="1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5DB44CEB-5449-91C4-4D8C-947E50150B6A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B25B4B5B-713C-2D58-C773-D4CFF9997391}"/>
              </a:ext>
            </a:extLst>
          </p:cNvPr>
          <p:cNvGrpSpPr/>
          <p:nvPr/>
        </p:nvGrpSpPr>
        <p:grpSpPr>
          <a:xfrm>
            <a:off x="1955128" y="3561599"/>
            <a:ext cx="4629752" cy="1015663"/>
            <a:chOff x="924025" y="1526961"/>
            <a:chExt cx="4629752" cy="1015663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D5F2FB8B-07D6-48FB-E370-38EA16365289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BA750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728AFDEB-1E73-3FEA-2DFF-DBAF08C0A2B6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>
                  <a:solidFill>
                    <a:schemeClr val="bg1"/>
                  </a:solidFill>
                  <a:latin typeface="Helvetica" pitchFamily="2" charset="0"/>
                </a:rPr>
                <a:t>Entorno de desarrollo y ejecución Java</a:t>
              </a:r>
              <a:endParaRPr lang="en-US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302F77E9-2E11-217F-40EC-8E3C7703B3BB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>
                  <a:solidFill>
                    <a:schemeClr val="bg1"/>
                  </a:solidFill>
                  <a:latin typeface="Helvetica" pitchFamily="2" charset="0"/>
                </a:rPr>
                <a:t>4</a:t>
              </a:r>
              <a:endParaRPr lang="en-US" sz="6000" b="1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369D5F82-C60A-5B84-5E19-A1B153065B8D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20E7D35A-999B-BEC3-A1FE-83D4A699084C}"/>
              </a:ext>
            </a:extLst>
          </p:cNvPr>
          <p:cNvGrpSpPr/>
          <p:nvPr/>
        </p:nvGrpSpPr>
        <p:grpSpPr>
          <a:xfrm>
            <a:off x="1955128" y="4451144"/>
            <a:ext cx="4629752" cy="1015663"/>
            <a:chOff x="924025" y="1526961"/>
            <a:chExt cx="4629752" cy="1015663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EDE43D48-A8F8-0DF2-1001-D5FDD5FF2C6B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8F2A2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C2BEA270-D0DD-E83C-8505-88C9D29A50BF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>
                  <a:solidFill>
                    <a:schemeClr val="bg1"/>
                  </a:solidFill>
                  <a:latin typeface="Helvetica" pitchFamily="2" charset="0"/>
                </a:rPr>
                <a:t>Compilación y </a:t>
              </a:r>
              <a:br>
                <a:rPr lang="es-ES">
                  <a:solidFill>
                    <a:schemeClr val="bg1"/>
                  </a:solidFill>
                  <a:latin typeface="Helvetica" pitchFamily="2" charset="0"/>
                </a:rPr>
              </a:br>
              <a:r>
                <a:rPr lang="es-ES">
                  <a:solidFill>
                    <a:schemeClr val="bg1"/>
                  </a:solidFill>
                  <a:latin typeface="Helvetica" pitchFamily="2" charset="0"/>
                </a:rPr>
                <a:t>ejecución</a:t>
              </a:r>
              <a:endParaRPr lang="en-US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650D84CE-F32A-1F88-1274-CAA8D6234924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>
                  <a:solidFill>
                    <a:schemeClr val="bg1"/>
                  </a:solidFill>
                  <a:latin typeface="Helvetica" pitchFamily="2" charset="0"/>
                </a:rPr>
                <a:t>5</a:t>
              </a:r>
              <a:endParaRPr lang="en-US" sz="6000" b="1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81D92532-6B25-E809-E479-70119D6AA69E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4BEE2914-3C25-D19B-57C0-F6E598922A1E}"/>
              </a:ext>
            </a:extLst>
          </p:cNvPr>
          <p:cNvGrpSpPr/>
          <p:nvPr/>
        </p:nvGrpSpPr>
        <p:grpSpPr>
          <a:xfrm>
            <a:off x="6724048" y="892964"/>
            <a:ext cx="4629752" cy="1015663"/>
            <a:chOff x="924025" y="1526961"/>
            <a:chExt cx="4629752" cy="1015663"/>
          </a:xfrm>
        </p:grpSpPr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069C6825-69EA-8D72-4345-309D24E6D675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39F07254-1903-E065-8A8C-CBBABBCAA893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>
                  <a:solidFill>
                    <a:schemeClr val="bg1"/>
                  </a:solidFill>
                  <a:latin typeface="Helvetica" pitchFamily="2" charset="0"/>
                </a:rPr>
                <a:t>Clase principal y método </a:t>
              </a:r>
              <a:r>
                <a:rPr lang="es-ES" err="1">
                  <a:solidFill>
                    <a:schemeClr val="bg1"/>
                  </a:solidFill>
                  <a:latin typeface="Helvetica" pitchFamily="2" charset="0"/>
                </a:rPr>
                <a:t>main</a:t>
              </a:r>
              <a:endParaRPr lang="en-US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40F6FA04-8D92-0B29-3784-F4044CE9F110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>
                  <a:solidFill>
                    <a:schemeClr val="bg1"/>
                  </a:solidFill>
                  <a:latin typeface="Helvetica" pitchFamily="2" charset="0"/>
                </a:rPr>
                <a:t>7</a:t>
              </a:r>
              <a:endParaRPr lang="en-US" sz="6000" b="1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959003DD-D67B-3D2D-7CDF-D9E1CE9AA9B3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6B32F08B-E599-8764-EE5E-B3C48CE274CF}"/>
              </a:ext>
            </a:extLst>
          </p:cNvPr>
          <p:cNvSpPr txBox="1"/>
          <p:nvPr/>
        </p:nvSpPr>
        <p:spPr>
          <a:xfrm rot="16200000">
            <a:off x="-1552306" y="2760043"/>
            <a:ext cx="5599610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8800" b="1">
                <a:solidFill>
                  <a:schemeClr val="bg1">
                    <a:lumMod val="85000"/>
                  </a:schemeClr>
                </a:solidFill>
                <a:latin typeface="Helvetica" pitchFamily="2" charset="0"/>
              </a:rPr>
              <a:t>contenido</a:t>
            </a:r>
            <a:endParaRPr lang="en-US" sz="8800" b="1">
              <a:solidFill>
                <a:schemeClr val="bg1">
                  <a:lumMod val="85000"/>
                </a:schemeClr>
              </a:solidFill>
              <a:latin typeface="Helvetica" pitchFamily="2" charset="0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6D8EC2C4-D534-A87E-5305-9BD92B9838D9}"/>
              </a:ext>
            </a:extLst>
          </p:cNvPr>
          <p:cNvGrpSpPr/>
          <p:nvPr/>
        </p:nvGrpSpPr>
        <p:grpSpPr>
          <a:xfrm>
            <a:off x="1955128" y="892964"/>
            <a:ext cx="4629752" cy="1015663"/>
            <a:chOff x="924025" y="1526961"/>
            <a:chExt cx="4629752" cy="1015663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AFE41E11-2903-D4AD-BABB-046EDBE4AABD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1B5E8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AFB12F7A-F286-0B30-D30E-E9A916CC839B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>
                  <a:solidFill>
                    <a:schemeClr val="bg1"/>
                  </a:solidFill>
                  <a:latin typeface="Helvetica" pitchFamily="2" charset="0"/>
                </a:rPr>
                <a:t>Introducción a los lenguajes de programación</a:t>
              </a:r>
              <a:endParaRPr lang="en-US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93EEA1CE-79B2-915B-2C77-2F1212A1BF67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>
                  <a:solidFill>
                    <a:schemeClr val="bg1"/>
                  </a:solidFill>
                  <a:latin typeface="Helvetica" pitchFamily="2" charset="0"/>
                </a:rPr>
                <a:t>1</a:t>
              </a:r>
              <a:endParaRPr lang="en-US" sz="6000" b="1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830C6426-CF18-244B-D9EC-4576E393467C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" name="Rectangle 3">
            <a:extLst>
              <a:ext uri="{FF2B5EF4-FFF2-40B4-BE49-F238E27FC236}">
                <a16:creationId xmlns:a16="http://schemas.microsoft.com/office/drawing/2014/main" id="{5F0AD512-DC53-811E-0839-3807ECBC949B}"/>
              </a:ext>
            </a:extLst>
          </p:cNvPr>
          <p:cNvSpPr/>
          <p:nvPr/>
        </p:nvSpPr>
        <p:spPr>
          <a:xfrm>
            <a:off x="1801640" y="683513"/>
            <a:ext cx="9678154" cy="5599610"/>
          </a:xfrm>
          <a:prstGeom prst="rect">
            <a:avLst/>
          </a:prstGeom>
          <a:solidFill>
            <a:schemeClr val="bg1">
              <a:alpha val="8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1EA7DF23-1534-8674-0364-FDC45E5DD81C}"/>
              </a:ext>
            </a:extLst>
          </p:cNvPr>
          <p:cNvGrpSpPr/>
          <p:nvPr/>
        </p:nvGrpSpPr>
        <p:grpSpPr>
          <a:xfrm>
            <a:off x="1955128" y="5340687"/>
            <a:ext cx="4629752" cy="1015663"/>
            <a:chOff x="924025" y="1526961"/>
            <a:chExt cx="4629752" cy="1015663"/>
          </a:xfrm>
        </p:grpSpPr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A13A47C2-3050-70BF-03DC-CCA7B4126952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AD94C077-B4AA-B319-24D7-C5B1DE74BBDB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>
                  <a:solidFill>
                    <a:schemeClr val="bg1"/>
                  </a:solidFill>
                  <a:latin typeface="Helvetica" pitchFamily="2" charset="0"/>
                </a:rPr>
                <a:t>Código intermedio y </a:t>
              </a:r>
              <a:br>
                <a:rPr lang="es-ES">
                  <a:solidFill>
                    <a:schemeClr val="bg1"/>
                  </a:solidFill>
                  <a:latin typeface="Helvetica" pitchFamily="2" charset="0"/>
                </a:rPr>
              </a:br>
              <a:r>
                <a:rPr lang="es-ES">
                  <a:solidFill>
                    <a:schemeClr val="bg1"/>
                  </a:solidFill>
                  <a:latin typeface="Helvetica" pitchFamily="2" charset="0"/>
                </a:rPr>
                <a:t>JVM</a:t>
              </a:r>
              <a:endParaRPr lang="en-US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739B75E7-C4E8-816E-FBEB-C8DC5FFDC85F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>
                  <a:solidFill>
                    <a:schemeClr val="bg1"/>
                  </a:solidFill>
                  <a:latin typeface="Helvetica" pitchFamily="2" charset="0"/>
                </a:rPr>
                <a:t>6</a:t>
              </a:r>
              <a:endParaRPr lang="en-US" sz="6000" b="1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ECF212AE-2B6A-DF71-7FC5-AE34B93BB598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9944466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04AC27-BF40-22FA-DC03-BDA52B6736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err="1"/>
              <a:t>Bytecode</a:t>
            </a:r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B4CE486-AC0C-6A1A-196A-5072146F2E8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36</a:t>
            </a:fld>
            <a:endParaRPr lang="es-P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9C2857-077D-893F-0202-DEB492C231E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38200" y="1635273"/>
            <a:ext cx="7231473" cy="4857602"/>
          </a:xfrm>
        </p:spPr>
        <p:txBody>
          <a:bodyPr>
            <a:normAutofit fontScale="85000" lnSpcReduction="10000"/>
          </a:bodyPr>
          <a:lstStyle/>
          <a:p>
            <a:pPr>
              <a:lnSpc>
                <a:spcPct val="120000"/>
              </a:lnSpc>
            </a:pPr>
            <a:r>
              <a:rPr lang="es-ES" dirty="0">
                <a:latin typeface="Helvetica"/>
              </a:rPr>
              <a:t>Tradicionalmente, la </a:t>
            </a:r>
            <a:r>
              <a:rPr lang="es-ES" b="1" dirty="0">
                <a:solidFill>
                  <a:schemeClr val="accent2"/>
                </a:solidFill>
                <a:latin typeface="Helvetica"/>
              </a:rPr>
              <a:t>compilación</a:t>
            </a:r>
            <a:r>
              <a:rPr lang="es-ES" dirty="0">
                <a:latin typeface="Helvetica"/>
              </a:rPr>
              <a:t> es el proceso de </a:t>
            </a:r>
            <a:r>
              <a:rPr lang="es-ES" b="1" dirty="0">
                <a:solidFill>
                  <a:schemeClr val="accent2"/>
                </a:solidFill>
                <a:latin typeface="Helvetica"/>
              </a:rPr>
              <a:t>traducir</a:t>
            </a:r>
            <a:r>
              <a:rPr lang="es-ES" dirty="0">
                <a:solidFill>
                  <a:schemeClr val="accent2"/>
                </a:solidFill>
                <a:latin typeface="Helvetica"/>
              </a:rPr>
              <a:t> </a:t>
            </a:r>
            <a:r>
              <a:rPr lang="es-ES" b="1" dirty="0">
                <a:solidFill>
                  <a:schemeClr val="accent2"/>
                </a:solidFill>
                <a:latin typeface="Helvetica"/>
              </a:rPr>
              <a:t>código fuente</a:t>
            </a:r>
            <a:r>
              <a:rPr lang="es-ES" dirty="0">
                <a:latin typeface="Helvetica"/>
              </a:rPr>
              <a:t> en </a:t>
            </a:r>
            <a:r>
              <a:rPr lang="es-ES" b="1" dirty="0">
                <a:solidFill>
                  <a:schemeClr val="accent2"/>
                </a:solidFill>
                <a:latin typeface="Helvetica"/>
              </a:rPr>
              <a:t>código objeto</a:t>
            </a:r>
            <a:r>
              <a:rPr lang="es-ES" dirty="0">
                <a:latin typeface="Helvetica"/>
              </a:rPr>
              <a:t> utilizando un compilador.</a:t>
            </a:r>
          </a:p>
          <a:p>
            <a:pPr>
              <a:lnSpc>
                <a:spcPct val="120000"/>
              </a:lnSpc>
            </a:pPr>
            <a:r>
              <a:rPr lang="es-ES" dirty="0">
                <a:latin typeface="Helvetica"/>
              </a:rPr>
              <a:t>JVM, en cambio, genera </a:t>
            </a:r>
            <a:r>
              <a:rPr lang="es-ES" b="1" dirty="0" err="1">
                <a:solidFill>
                  <a:schemeClr val="bg1">
                    <a:lumMod val="50000"/>
                  </a:schemeClr>
                </a:solidFill>
                <a:latin typeface="Helvetica"/>
              </a:rPr>
              <a:t>bytecode</a:t>
            </a:r>
            <a:r>
              <a:rPr lang="es-ES" dirty="0">
                <a:latin typeface="Helvetica"/>
              </a:rPr>
              <a:t> como resultado del proceso de compilación (herramienta </a:t>
            </a:r>
            <a:r>
              <a:rPr lang="es-ES" b="1" dirty="0" err="1">
                <a:latin typeface="Helvetica"/>
              </a:rPr>
              <a:t>javac</a:t>
            </a:r>
            <a:r>
              <a:rPr lang="es-ES" dirty="0">
                <a:latin typeface="Helvetica"/>
              </a:rPr>
              <a:t>).</a:t>
            </a:r>
          </a:p>
          <a:p>
            <a:pPr>
              <a:lnSpc>
                <a:spcPct val="120000"/>
              </a:lnSpc>
            </a:pPr>
            <a:r>
              <a:rPr lang="es-ES" dirty="0">
                <a:latin typeface="Helvetica"/>
              </a:rPr>
              <a:t>El nombre </a:t>
            </a:r>
            <a:r>
              <a:rPr lang="es-ES" b="1" dirty="0" err="1">
                <a:solidFill>
                  <a:schemeClr val="bg1">
                    <a:lumMod val="50000"/>
                  </a:schemeClr>
                </a:solidFill>
                <a:latin typeface="Helvetica"/>
              </a:rPr>
              <a:t>bytecode</a:t>
            </a:r>
            <a:r>
              <a:rPr lang="es-ES" dirty="0">
                <a:latin typeface="Helvetica"/>
              </a:rPr>
              <a:t> viene del hecho que cada operando ocupa solo 1 byte.</a:t>
            </a:r>
          </a:p>
          <a:p>
            <a:pPr>
              <a:lnSpc>
                <a:spcPct val="120000"/>
              </a:lnSpc>
            </a:pPr>
            <a:r>
              <a:rPr lang="es-ES" dirty="0">
                <a:latin typeface="Helvetica"/>
              </a:rPr>
              <a:t>Java cumple el principio </a:t>
            </a:r>
            <a:r>
              <a:rPr lang="es-ES" b="1" dirty="0">
                <a:latin typeface="Helvetica"/>
              </a:rPr>
              <a:t>WORA</a:t>
            </a:r>
            <a:r>
              <a:rPr lang="es-ES" dirty="0">
                <a:latin typeface="Helvetica"/>
              </a:rPr>
              <a:t>: "</a:t>
            </a:r>
            <a:r>
              <a:rPr lang="es-ES" b="1" dirty="0" err="1">
                <a:latin typeface="Helvetica"/>
              </a:rPr>
              <a:t>W</a:t>
            </a:r>
            <a:r>
              <a:rPr lang="es-ES" dirty="0" err="1">
                <a:latin typeface="Helvetica"/>
              </a:rPr>
              <a:t>rite</a:t>
            </a:r>
            <a:r>
              <a:rPr lang="es-ES" dirty="0">
                <a:latin typeface="Helvetica"/>
              </a:rPr>
              <a:t> </a:t>
            </a:r>
            <a:r>
              <a:rPr lang="es-ES" b="1" dirty="0">
                <a:latin typeface="Helvetica"/>
              </a:rPr>
              <a:t>O</a:t>
            </a:r>
            <a:r>
              <a:rPr lang="es-ES" dirty="0">
                <a:latin typeface="Helvetica"/>
              </a:rPr>
              <a:t>nce </a:t>
            </a:r>
            <a:r>
              <a:rPr lang="es-ES" b="1" dirty="0">
                <a:latin typeface="Helvetica"/>
              </a:rPr>
              <a:t>R</a:t>
            </a:r>
            <a:r>
              <a:rPr lang="es-ES" dirty="0">
                <a:latin typeface="Helvetica"/>
              </a:rPr>
              <a:t>un </a:t>
            </a:r>
            <a:r>
              <a:rPr lang="es-ES" b="1" dirty="0" err="1">
                <a:latin typeface="Helvetica"/>
              </a:rPr>
              <a:t>A</a:t>
            </a:r>
            <a:r>
              <a:rPr lang="es-ES" dirty="0" err="1">
                <a:latin typeface="Helvetica"/>
              </a:rPr>
              <a:t>nywhere</a:t>
            </a:r>
            <a:r>
              <a:rPr lang="es-ES" dirty="0">
                <a:latin typeface="Helvetica"/>
              </a:rPr>
              <a:t>", al ser multiplataforma.</a:t>
            </a:r>
            <a:endParaRPr lang="es-ES" dirty="0"/>
          </a:p>
          <a:p>
            <a:pPr>
              <a:lnSpc>
                <a:spcPct val="120000"/>
              </a:lnSpc>
            </a:pPr>
            <a:endParaRPr lang="es-ES" dirty="0"/>
          </a:p>
          <a:p>
            <a:pPr>
              <a:lnSpc>
                <a:spcPct val="120000"/>
              </a:lnSpc>
            </a:pPr>
            <a:endParaRPr lang="en-US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348BA43D-1893-323A-97E1-29BA0CF3BEEB}"/>
              </a:ext>
            </a:extLst>
          </p:cNvPr>
          <p:cNvGrpSpPr/>
          <p:nvPr/>
        </p:nvGrpSpPr>
        <p:grpSpPr>
          <a:xfrm>
            <a:off x="8521123" y="1936198"/>
            <a:ext cx="1011891" cy="1239245"/>
            <a:chOff x="4627841" y="1853046"/>
            <a:chExt cx="1011891" cy="1239245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FDCF9D9C-1979-82C6-63BE-4666D8F2A7AC}"/>
                </a:ext>
              </a:extLst>
            </p:cNvPr>
            <p:cNvSpPr/>
            <p:nvPr/>
          </p:nvSpPr>
          <p:spPr>
            <a:xfrm>
              <a:off x="4627841" y="1853046"/>
              <a:ext cx="1011891" cy="1239245"/>
            </a:xfrm>
            <a:custGeom>
              <a:avLst/>
              <a:gdLst>
                <a:gd name="connsiteX0" fmla="*/ 549430 w 1493823"/>
                <a:gd name="connsiteY0" fmla="*/ 0 h 1829457"/>
                <a:gd name="connsiteX1" fmla="*/ 1244848 w 1493823"/>
                <a:gd name="connsiteY1" fmla="*/ 0 h 1829457"/>
                <a:gd name="connsiteX2" fmla="*/ 1493823 w 1493823"/>
                <a:gd name="connsiteY2" fmla="*/ 248975 h 1829457"/>
                <a:gd name="connsiteX3" fmla="*/ 1493823 w 1493823"/>
                <a:gd name="connsiteY3" fmla="*/ 1580482 h 1829457"/>
                <a:gd name="connsiteX4" fmla="*/ 1244848 w 1493823"/>
                <a:gd name="connsiteY4" fmla="*/ 1829457 h 1829457"/>
                <a:gd name="connsiteX5" fmla="*/ 248975 w 1493823"/>
                <a:gd name="connsiteY5" fmla="*/ 1829457 h 1829457"/>
                <a:gd name="connsiteX6" fmla="*/ 0 w 1493823"/>
                <a:gd name="connsiteY6" fmla="*/ 1580482 h 1829457"/>
                <a:gd name="connsiteX7" fmla="*/ 0 w 1493823"/>
                <a:gd name="connsiteY7" fmla="*/ 549430 h 18294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93823" h="1829457">
                  <a:moveTo>
                    <a:pt x="549430" y="0"/>
                  </a:moveTo>
                  <a:lnTo>
                    <a:pt x="1244848" y="0"/>
                  </a:lnTo>
                  <a:cubicBezTo>
                    <a:pt x="1382353" y="0"/>
                    <a:pt x="1493823" y="111470"/>
                    <a:pt x="1493823" y="248975"/>
                  </a:cubicBezTo>
                  <a:lnTo>
                    <a:pt x="1493823" y="1580482"/>
                  </a:lnTo>
                  <a:cubicBezTo>
                    <a:pt x="1493823" y="1717987"/>
                    <a:pt x="1382353" y="1829457"/>
                    <a:pt x="1244848" y="1829457"/>
                  </a:cubicBezTo>
                  <a:lnTo>
                    <a:pt x="248975" y="1829457"/>
                  </a:lnTo>
                  <a:cubicBezTo>
                    <a:pt x="111470" y="1829457"/>
                    <a:pt x="0" y="1717987"/>
                    <a:pt x="0" y="1580482"/>
                  </a:cubicBezTo>
                  <a:lnTo>
                    <a:pt x="0" y="549430"/>
                  </a:lnTo>
                  <a:close/>
                </a:path>
              </a:pathLst>
            </a:cu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F9680BEA-39E4-DC83-3283-BB79F8BB6927}"/>
                </a:ext>
              </a:extLst>
            </p:cNvPr>
            <p:cNvSpPr/>
            <p:nvPr/>
          </p:nvSpPr>
          <p:spPr>
            <a:xfrm rot="16200000">
              <a:off x="4633092" y="1853258"/>
              <a:ext cx="365733" cy="369436"/>
            </a:xfrm>
            <a:custGeom>
              <a:avLst/>
              <a:gdLst>
                <a:gd name="connsiteX0" fmla="*/ 539919 w 539919"/>
                <a:gd name="connsiteY0" fmla="*/ 532111 h 545387"/>
                <a:gd name="connsiteX1" fmla="*/ 539919 w 539919"/>
                <a:gd name="connsiteY1" fmla="*/ 545387 h 545387"/>
                <a:gd name="connsiteX2" fmla="*/ 248975 w 539919"/>
                <a:gd name="connsiteY2" fmla="*/ 545387 h 545387"/>
                <a:gd name="connsiteX3" fmla="*/ 0 w 539919"/>
                <a:gd name="connsiteY3" fmla="*/ 296412 h 545387"/>
                <a:gd name="connsiteX4" fmla="*/ 0 w 539919"/>
                <a:gd name="connsiteY4" fmla="*/ 0 h 545387"/>
                <a:gd name="connsiteX5" fmla="*/ 7808 w 539919"/>
                <a:gd name="connsiteY5" fmla="*/ 0 h 5453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39919" h="545387">
                  <a:moveTo>
                    <a:pt x="539919" y="532111"/>
                  </a:moveTo>
                  <a:lnTo>
                    <a:pt x="539919" y="545387"/>
                  </a:lnTo>
                  <a:lnTo>
                    <a:pt x="248975" y="545387"/>
                  </a:lnTo>
                  <a:cubicBezTo>
                    <a:pt x="111470" y="545387"/>
                    <a:pt x="0" y="433917"/>
                    <a:pt x="0" y="296412"/>
                  </a:cubicBezTo>
                  <a:lnTo>
                    <a:pt x="0" y="0"/>
                  </a:lnTo>
                  <a:lnTo>
                    <a:pt x="7808" y="0"/>
                  </a:lnTo>
                  <a:close/>
                </a:path>
              </a:pathLst>
            </a:custGeom>
            <a:solidFill>
              <a:srgbClr val="00B0F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69E50E78-9A3F-7D69-562A-BB65B56B2DFA}"/>
                </a:ext>
              </a:extLst>
            </p:cNvPr>
            <p:cNvSpPr/>
            <p:nvPr/>
          </p:nvSpPr>
          <p:spPr>
            <a:xfrm>
              <a:off x="4818846" y="2316863"/>
              <a:ext cx="369436" cy="73988"/>
            </a:xfrm>
            <a:prstGeom prst="round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4174A750-7C28-4125-D249-D373A40B078C}"/>
                </a:ext>
              </a:extLst>
            </p:cNvPr>
            <p:cNvSpPr/>
            <p:nvPr/>
          </p:nvSpPr>
          <p:spPr>
            <a:xfrm>
              <a:off x="4952913" y="2445646"/>
              <a:ext cx="369436" cy="73988"/>
            </a:xfrm>
            <a:prstGeom prst="round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AD79277C-E36C-ED4F-A559-AF7AB5333D74}"/>
                </a:ext>
              </a:extLst>
            </p:cNvPr>
            <p:cNvSpPr/>
            <p:nvPr/>
          </p:nvSpPr>
          <p:spPr>
            <a:xfrm>
              <a:off x="4952913" y="2574430"/>
              <a:ext cx="369436" cy="73988"/>
            </a:xfrm>
            <a:prstGeom prst="round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CBD7949D-45F8-7CCC-C4AA-A351AB01A40D}"/>
                </a:ext>
              </a:extLst>
            </p:cNvPr>
            <p:cNvSpPr/>
            <p:nvPr/>
          </p:nvSpPr>
          <p:spPr>
            <a:xfrm>
              <a:off x="4952912" y="2703214"/>
              <a:ext cx="494502" cy="73988"/>
            </a:xfrm>
            <a:prstGeom prst="round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01008BAE-B742-CADC-AAE0-3434E814CE6D}"/>
                </a:ext>
              </a:extLst>
            </p:cNvPr>
            <p:cNvSpPr/>
            <p:nvPr/>
          </p:nvSpPr>
          <p:spPr>
            <a:xfrm>
              <a:off x="4858627" y="2831997"/>
              <a:ext cx="494502" cy="73988"/>
            </a:xfrm>
            <a:prstGeom prst="round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C0910CCC-2305-5ED2-451F-95523986F0B2}"/>
              </a:ext>
            </a:extLst>
          </p:cNvPr>
          <p:cNvGrpSpPr/>
          <p:nvPr/>
        </p:nvGrpSpPr>
        <p:grpSpPr>
          <a:xfrm>
            <a:off x="10431386" y="1936198"/>
            <a:ext cx="1011891" cy="1239245"/>
            <a:chOff x="6520301" y="4254261"/>
            <a:chExt cx="1011891" cy="1239245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9E8F30A6-15F5-D1AE-E24F-9791E2453575}"/>
                </a:ext>
              </a:extLst>
            </p:cNvPr>
            <p:cNvSpPr/>
            <p:nvPr/>
          </p:nvSpPr>
          <p:spPr>
            <a:xfrm>
              <a:off x="6520301" y="4254261"/>
              <a:ext cx="1011891" cy="1239245"/>
            </a:xfrm>
            <a:custGeom>
              <a:avLst/>
              <a:gdLst>
                <a:gd name="connsiteX0" fmla="*/ 549430 w 1493823"/>
                <a:gd name="connsiteY0" fmla="*/ 0 h 1829457"/>
                <a:gd name="connsiteX1" fmla="*/ 1244848 w 1493823"/>
                <a:gd name="connsiteY1" fmla="*/ 0 h 1829457"/>
                <a:gd name="connsiteX2" fmla="*/ 1493823 w 1493823"/>
                <a:gd name="connsiteY2" fmla="*/ 248975 h 1829457"/>
                <a:gd name="connsiteX3" fmla="*/ 1493823 w 1493823"/>
                <a:gd name="connsiteY3" fmla="*/ 1580482 h 1829457"/>
                <a:gd name="connsiteX4" fmla="*/ 1244848 w 1493823"/>
                <a:gd name="connsiteY4" fmla="*/ 1829457 h 1829457"/>
                <a:gd name="connsiteX5" fmla="*/ 248975 w 1493823"/>
                <a:gd name="connsiteY5" fmla="*/ 1829457 h 1829457"/>
                <a:gd name="connsiteX6" fmla="*/ 0 w 1493823"/>
                <a:gd name="connsiteY6" fmla="*/ 1580482 h 1829457"/>
                <a:gd name="connsiteX7" fmla="*/ 0 w 1493823"/>
                <a:gd name="connsiteY7" fmla="*/ 549430 h 18294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93823" h="1829457">
                  <a:moveTo>
                    <a:pt x="549430" y="0"/>
                  </a:moveTo>
                  <a:lnTo>
                    <a:pt x="1244848" y="0"/>
                  </a:lnTo>
                  <a:cubicBezTo>
                    <a:pt x="1382353" y="0"/>
                    <a:pt x="1493823" y="111470"/>
                    <a:pt x="1493823" y="248975"/>
                  </a:cubicBezTo>
                  <a:lnTo>
                    <a:pt x="1493823" y="1580482"/>
                  </a:lnTo>
                  <a:cubicBezTo>
                    <a:pt x="1493823" y="1717987"/>
                    <a:pt x="1382353" y="1829457"/>
                    <a:pt x="1244848" y="1829457"/>
                  </a:cubicBezTo>
                  <a:lnTo>
                    <a:pt x="248975" y="1829457"/>
                  </a:lnTo>
                  <a:cubicBezTo>
                    <a:pt x="111470" y="1829457"/>
                    <a:pt x="0" y="1717987"/>
                    <a:pt x="0" y="1580482"/>
                  </a:cubicBezTo>
                  <a:lnTo>
                    <a:pt x="0" y="549430"/>
                  </a:lnTo>
                  <a:close/>
                </a:path>
              </a:pathLst>
            </a:cu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A74D9B5F-61F0-3DB0-1CDB-EA19C76B1DDA}"/>
                </a:ext>
              </a:extLst>
            </p:cNvPr>
            <p:cNvSpPr/>
            <p:nvPr/>
          </p:nvSpPr>
          <p:spPr>
            <a:xfrm rot="16200000">
              <a:off x="6525552" y="4254473"/>
              <a:ext cx="365733" cy="369436"/>
            </a:xfrm>
            <a:custGeom>
              <a:avLst/>
              <a:gdLst>
                <a:gd name="connsiteX0" fmla="*/ 539919 w 539919"/>
                <a:gd name="connsiteY0" fmla="*/ 532111 h 545387"/>
                <a:gd name="connsiteX1" fmla="*/ 539919 w 539919"/>
                <a:gd name="connsiteY1" fmla="*/ 545387 h 545387"/>
                <a:gd name="connsiteX2" fmla="*/ 248975 w 539919"/>
                <a:gd name="connsiteY2" fmla="*/ 545387 h 545387"/>
                <a:gd name="connsiteX3" fmla="*/ 0 w 539919"/>
                <a:gd name="connsiteY3" fmla="*/ 296412 h 545387"/>
                <a:gd name="connsiteX4" fmla="*/ 0 w 539919"/>
                <a:gd name="connsiteY4" fmla="*/ 0 h 545387"/>
                <a:gd name="connsiteX5" fmla="*/ 7808 w 539919"/>
                <a:gd name="connsiteY5" fmla="*/ 0 h 5453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39919" h="545387">
                  <a:moveTo>
                    <a:pt x="539919" y="532111"/>
                  </a:moveTo>
                  <a:lnTo>
                    <a:pt x="539919" y="545387"/>
                  </a:lnTo>
                  <a:lnTo>
                    <a:pt x="248975" y="545387"/>
                  </a:lnTo>
                  <a:cubicBezTo>
                    <a:pt x="111470" y="545387"/>
                    <a:pt x="0" y="433917"/>
                    <a:pt x="0" y="296412"/>
                  </a:cubicBezTo>
                  <a:lnTo>
                    <a:pt x="0" y="0"/>
                  </a:lnTo>
                  <a:lnTo>
                    <a:pt x="7808" y="0"/>
                  </a:lnTo>
                  <a:close/>
                </a:path>
              </a:pathLst>
            </a:custGeom>
            <a:solidFill>
              <a:srgbClr val="00B0F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EDEB9BB6-AF86-0D6F-1E4C-571A2C781B17}"/>
                </a:ext>
              </a:extLst>
            </p:cNvPr>
            <p:cNvSpPr txBox="1"/>
            <p:nvPr/>
          </p:nvSpPr>
          <p:spPr>
            <a:xfrm>
              <a:off x="6616186" y="4677083"/>
              <a:ext cx="824996" cy="641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1200">
                  <a:solidFill>
                    <a:srgbClr val="00B0F0"/>
                  </a:solidFill>
                </a:rPr>
                <a:t>101000101011010101010</a:t>
              </a:r>
              <a:endParaRPr lang="en-US" sz="1200">
                <a:solidFill>
                  <a:srgbClr val="00B0F0"/>
                </a:solidFill>
              </a:endParaRPr>
            </a:p>
          </p:txBody>
        </p:sp>
      </p:grpSp>
      <p:sp>
        <p:nvSpPr>
          <p:cNvPr id="20" name="Arrow: Down 19">
            <a:extLst>
              <a:ext uri="{FF2B5EF4-FFF2-40B4-BE49-F238E27FC236}">
                <a16:creationId xmlns:a16="http://schemas.microsoft.com/office/drawing/2014/main" id="{BA5E0BC1-7F30-E856-F6CB-5668D7538818}"/>
              </a:ext>
            </a:extLst>
          </p:cNvPr>
          <p:cNvSpPr/>
          <p:nvPr/>
        </p:nvSpPr>
        <p:spPr>
          <a:xfrm rot="16200000">
            <a:off x="9852635" y="2263162"/>
            <a:ext cx="259132" cy="585317"/>
          </a:xfrm>
          <a:prstGeom prst="downArrow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D0CC5CA8-85B0-94ED-DEAF-5B056A67483A}"/>
              </a:ext>
            </a:extLst>
          </p:cNvPr>
          <p:cNvGrpSpPr/>
          <p:nvPr/>
        </p:nvGrpSpPr>
        <p:grpSpPr>
          <a:xfrm>
            <a:off x="10431386" y="3697014"/>
            <a:ext cx="1011891" cy="1239245"/>
            <a:chOff x="9064891" y="1853046"/>
            <a:chExt cx="1011891" cy="1239245"/>
          </a:xfrm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0F3935DF-23CD-7E31-7614-241D5019331A}"/>
                </a:ext>
              </a:extLst>
            </p:cNvPr>
            <p:cNvSpPr/>
            <p:nvPr/>
          </p:nvSpPr>
          <p:spPr>
            <a:xfrm>
              <a:off x="9064891" y="1853046"/>
              <a:ext cx="1011891" cy="1239245"/>
            </a:xfrm>
            <a:custGeom>
              <a:avLst/>
              <a:gdLst>
                <a:gd name="connsiteX0" fmla="*/ 549430 w 1493823"/>
                <a:gd name="connsiteY0" fmla="*/ 0 h 1829457"/>
                <a:gd name="connsiteX1" fmla="*/ 1244848 w 1493823"/>
                <a:gd name="connsiteY1" fmla="*/ 0 h 1829457"/>
                <a:gd name="connsiteX2" fmla="*/ 1493823 w 1493823"/>
                <a:gd name="connsiteY2" fmla="*/ 248975 h 1829457"/>
                <a:gd name="connsiteX3" fmla="*/ 1493823 w 1493823"/>
                <a:gd name="connsiteY3" fmla="*/ 1580482 h 1829457"/>
                <a:gd name="connsiteX4" fmla="*/ 1244848 w 1493823"/>
                <a:gd name="connsiteY4" fmla="*/ 1829457 h 1829457"/>
                <a:gd name="connsiteX5" fmla="*/ 248975 w 1493823"/>
                <a:gd name="connsiteY5" fmla="*/ 1829457 h 1829457"/>
                <a:gd name="connsiteX6" fmla="*/ 0 w 1493823"/>
                <a:gd name="connsiteY6" fmla="*/ 1580482 h 1829457"/>
                <a:gd name="connsiteX7" fmla="*/ 0 w 1493823"/>
                <a:gd name="connsiteY7" fmla="*/ 549430 h 18294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93823" h="1829457">
                  <a:moveTo>
                    <a:pt x="549430" y="0"/>
                  </a:moveTo>
                  <a:lnTo>
                    <a:pt x="1244848" y="0"/>
                  </a:lnTo>
                  <a:cubicBezTo>
                    <a:pt x="1382353" y="0"/>
                    <a:pt x="1493823" y="111470"/>
                    <a:pt x="1493823" y="248975"/>
                  </a:cubicBezTo>
                  <a:lnTo>
                    <a:pt x="1493823" y="1580482"/>
                  </a:lnTo>
                  <a:cubicBezTo>
                    <a:pt x="1493823" y="1717987"/>
                    <a:pt x="1382353" y="1829457"/>
                    <a:pt x="1244848" y="1829457"/>
                  </a:cubicBezTo>
                  <a:lnTo>
                    <a:pt x="248975" y="1829457"/>
                  </a:lnTo>
                  <a:cubicBezTo>
                    <a:pt x="111470" y="1829457"/>
                    <a:pt x="0" y="1717987"/>
                    <a:pt x="0" y="1580482"/>
                  </a:cubicBezTo>
                  <a:lnTo>
                    <a:pt x="0" y="549430"/>
                  </a:lnTo>
                  <a:close/>
                </a:path>
              </a:pathLst>
            </a:cu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2" name="Rectangle: Rounded Corners 21">
              <a:extLst>
                <a:ext uri="{FF2B5EF4-FFF2-40B4-BE49-F238E27FC236}">
                  <a16:creationId xmlns:a16="http://schemas.microsoft.com/office/drawing/2014/main" id="{AA9BC662-74F9-7FE5-284E-7A2062740620}"/>
                </a:ext>
              </a:extLst>
            </p:cNvPr>
            <p:cNvSpPr/>
            <p:nvPr/>
          </p:nvSpPr>
          <p:spPr>
            <a:xfrm>
              <a:off x="9202358" y="2041501"/>
              <a:ext cx="736704" cy="889826"/>
            </a:xfrm>
            <a:prstGeom prst="roundRect">
              <a:avLst>
                <a:gd name="adj" fmla="val 12401"/>
              </a:avLst>
            </a:prstGeom>
            <a:solidFill>
              <a:srgbClr val="57D3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r>
                <a:rPr lang="en-US" sz="900" dirty="0">
                  <a:cs typeface="Arial"/>
                </a:rPr>
                <a:t>bytecode</a:t>
              </a:r>
              <a:endParaRPr lang="en-US" sz="900">
                <a:cs typeface="Arial"/>
              </a:endParaRPr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DC640C33-F2F6-A084-FD3B-CD6451742B0D}"/>
                </a:ext>
              </a:extLst>
            </p:cNvPr>
            <p:cNvSpPr/>
            <p:nvPr/>
          </p:nvSpPr>
          <p:spPr>
            <a:xfrm rot="16200000">
              <a:off x="9070142" y="1853258"/>
              <a:ext cx="365732" cy="369436"/>
            </a:xfrm>
            <a:custGeom>
              <a:avLst/>
              <a:gdLst>
                <a:gd name="connsiteX0" fmla="*/ 539919 w 539919"/>
                <a:gd name="connsiteY0" fmla="*/ 532111 h 545387"/>
                <a:gd name="connsiteX1" fmla="*/ 539919 w 539919"/>
                <a:gd name="connsiteY1" fmla="*/ 545387 h 545387"/>
                <a:gd name="connsiteX2" fmla="*/ 248975 w 539919"/>
                <a:gd name="connsiteY2" fmla="*/ 545387 h 545387"/>
                <a:gd name="connsiteX3" fmla="*/ 0 w 539919"/>
                <a:gd name="connsiteY3" fmla="*/ 296412 h 545387"/>
                <a:gd name="connsiteX4" fmla="*/ 0 w 539919"/>
                <a:gd name="connsiteY4" fmla="*/ 0 h 545387"/>
                <a:gd name="connsiteX5" fmla="*/ 7808 w 539919"/>
                <a:gd name="connsiteY5" fmla="*/ 0 h 5453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39919" h="545387">
                  <a:moveTo>
                    <a:pt x="539919" y="532111"/>
                  </a:moveTo>
                  <a:lnTo>
                    <a:pt x="539919" y="545387"/>
                  </a:lnTo>
                  <a:lnTo>
                    <a:pt x="248975" y="545387"/>
                  </a:lnTo>
                  <a:cubicBezTo>
                    <a:pt x="111470" y="545387"/>
                    <a:pt x="0" y="433917"/>
                    <a:pt x="0" y="296412"/>
                  </a:cubicBezTo>
                  <a:lnTo>
                    <a:pt x="0" y="0"/>
                  </a:lnTo>
                  <a:lnTo>
                    <a:pt x="7808" y="0"/>
                  </a:lnTo>
                  <a:close/>
                </a:path>
              </a:pathLst>
            </a:custGeom>
            <a:solidFill>
              <a:srgbClr val="00B0F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CE83B6C9-4DA5-35F8-98C9-B255C15C0549}"/>
              </a:ext>
            </a:extLst>
          </p:cNvPr>
          <p:cNvGrpSpPr/>
          <p:nvPr/>
        </p:nvGrpSpPr>
        <p:grpSpPr>
          <a:xfrm>
            <a:off x="8521123" y="3697014"/>
            <a:ext cx="1011891" cy="1239245"/>
            <a:chOff x="4627841" y="1853046"/>
            <a:chExt cx="1011891" cy="1239245"/>
          </a:xfrm>
        </p:grpSpPr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4797794C-A59D-6CC9-BD62-1C7E54108322}"/>
                </a:ext>
              </a:extLst>
            </p:cNvPr>
            <p:cNvSpPr/>
            <p:nvPr/>
          </p:nvSpPr>
          <p:spPr>
            <a:xfrm>
              <a:off x="4627841" y="1853046"/>
              <a:ext cx="1011891" cy="1239245"/>
            </a:xfrm>
            <a:custGeom>
              <a:avLst/>
              <a:gdLst>
                <a:gd name="connsiteX0" fmla="*/ 549430 w 1493823"/>
                <a:gd name="connsiteY0" fmla="*/ 0 h 1829457"/>
                <a:gd name="connsiteX1" fmla="*/ 1244848 w 1493823"/>
                <a:gd name="connsiteY1" fmla="*/ 0 h 1829457"/>
                <a:gd name="connsiteX2" fmla="*/ 1493823 w 1493823"/>
                <a:gd name="connsiteY2" fmla="*/ 248975 h 1829457"/>
                <a:gd name="connsiteX3" fmla="*/ 1493823 w 1493823"/>
                <a:gd name="connsiteY3" fmla="*/ 1580482 h 1829457"/>
                <a:gd name="connsiteX4" fmla="*/ 1244848 w 1493823"/>
                <a:gd name="connsiteY4" fmla="*/ 1829457 h 1829457"/>
                <a:gd name="connsiteX5" fmla="*/ 248975 w 1493823"/>
                <a:gd name="connsiteY5" fmla="*/ 1829457 h 1829457"/>
                <a:gd name="connsiteX6" fmla="*/ 0 w 1493823"/>
                <a:gd name="connsiteY6" fmla="*/ 1580482 h 1829457"/>
                <a:gd name="connsiteX7" fmla="*/ 0 w 1493823"/>
                <a:gd name="connsiteY7" fmla="*/ 549430 h 18294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93823" h="1829457">
                  <a:moveTo>
                    <a:pt x="549430" y="0"/>
                  </a:moveTo>
                  <a:lnTo>
                    <a:pt x="1244848" y="0"/>
                  </a:lnTo>
                  <a:cubicBezTo>
                    <a:pt x="1382353" y="0"/>
                    <a:pt x="1493823" y="111470"/>
                    <a:pt x="1493823" y="248975"/>
                  </a:cubicBezTo>
                  <a:lnTo>
                    <a:pt x="1493823" y="1580482"/>
                  </a:lnTo>
                  <a:cubicBezTo>
                    <a:pt x="1493823" y="1717987"/>
                    <a:pt x="1382353" y="1829457"/>
                    <a:pt x="1244848" y="1829457"/>
                  </a:cubicBezTo>
                  <a:lnTo>
                    <a:pt x="248975" y="1829457"/>
                  </a:lnTo>
                  <a:cubicBezTo>
                    <a:pt x="111470" y="1829457"/>
                    <a:pt x="0" y="1717987"/>
                    <a:pt x="0" y="1580482"/>
                  </a:cubicBezTo>
                  <a:lnTo>
                    <a:pt x="0" y="549430"/>
                  </a:lnTo>
                  <a:close/>
                </a:path>
              </a:pathLst>
            </a:cu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AA0C201C-B0DE-E97F-358F-9CD80D86D4F4}"/>
                </a:ext>
              </a:extLst>
            </p:cNvPr>
            <p:cNvSpPr/>
            <p:nvPr/>
          </p:nvSpPr>
          <p:spPr>
            <a:xfrm rot="16200000">
              <a:off x="4633092" y="1853258"/>
              <a:ext cx="365733" cy="369436"/>
            </a:xfrm>
            <a:custGeom>
              <a:avLst/>
              <a:gdLst>
                <a:gd name="connsiteX0" fmla="*/ 539919 w 539919"/>
                <a:gd name="connsiteY0" fmla="*/ 532111 h 545387"/>
                <a:gd name="connsiteX1" fmla="*/ 539919 w 539919"/>
                <a:gd name="connsiteY1" fmla="*/ 545387 h 545387"/>
                <a:gd name="connsiteX2" fmla="*/ 248975 w 539919"/>
                <a:gd name="connsiteY2" fmla="*/ 545387 h 545387"/>
                <a:gd name="connsiteX3" fmla="*/ 0 w 539919"/>
                <a:gd name="connsiteY3" fmla="*/ 296412 h 545387"/>
                <a:gd name="connsiteX4" fmla="*/ 0 w 539919"/>
                <a:gd name="connsiteY4" fmla="*/ 0 h 545387"/>
                <a:gd name="connsiteX5" fmla="*/ 7808 w 539919"/>
                <a:gd name="connsiteY5" fmla="*/ 0 h 5453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39919" h="545387">
                  <a:moveTo>
                    <a:pt x="539919" y="532111"/>
                  </a:moveTo>
                  <a:lnTo>
                    <a:pt x="539919" y="545387"/>
                  </a:lnTo>
                  <a:lnTo>
                    <a:pt x="248975" y="545387"/>
                  </a:lnTo>
                  <a:cubicBezTo>
                    <a:pt x="111470" y="545387"/>
                    <a:pt x="0" y="433917"/>
                    <a:pt x="0" y="296412"/>
                  </a:cubicBezTo>
                  <a:lnTo>
                    <a:pt x="0" y="0"/>
                  </a:lnTo>
                  <a:lnTo>
                    <a:pt x="7808" y="0"/>
                  </a:lnTo>
                  <a:close/>
                </a:path>
              </a:pathLst>
            </a:custGeom>
            <a:solidFill>
              <a:srgbClr val="00B0F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8" name="Rectangle: Rounded Corners 27">
              <a:extLst>
                <a:ext uri="{FF2B5EF4-FFF2-40B4-BE49-F238E27FC236}">
                  <a16:creationId xmlns:a16="http://schemas.microsoft.com/office/drawing/2014/main" id="{00F880D4-5D91-244E-651E-5CAAB33C2FA1}"/>
                </a:ext>
              </a:extLst>
            </p:cNvPr>
            <p:cNvSpPr/>
            <p:nvPr/>
          </p:nvSpPr>
          <p:spPr>
            <a:xfrm>
              <a:off x="4818846" y="2316863"/>
              <a:ext cx="369436" cy="73988"/>
            </a:xfrm>
            <a:prstGeom prst="round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: Rounded Corners 28">
              <a:extLst>
                <a:ext uri="{FF2B5EF4-FFF2-40B4-BE49-F238E27FC236}">
                  <a16:creationId xmlns:a16="http://schemas.microsoft.com/office/drawing/2014/main" id="{15A1D2C2-08B5-F1CD-A7CE-6FF85BBF2E97}"/>
                </a:ext>
              </a:extLst>
            </p:cNvPr>
            <p:cNvSpPr/>
            <p:nvPr/>
          </p:nvSpPr>
          <p:spPr>
            <a:xfrm>
              <a:off x="4952913" y="2445646"/>
              <a:ext cx="369436" cy="73988"/>
            </a:xfrm>
            <a:prstGeom prst="round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ectangle: Rounded Corners 29">
              <a:extLst>
                <a:ext uri="{FF2B5EF4-FFF2-40B4-BE49-F238E27FC236}">
                  <a16:creationId xmlns:a16="http://schemas.microsoft.com/office/drawing/2014/main" id="{BF24598B-2B5E-0005-E05D-E1925491FCA9}"/>
                </a:ext>
              </a:extLst>
            </p:cNvPr>
            <p:cNvSpPr/>
            <p:nvPr/>
          </p:nvSpPr>
          <p:spPr>
            <a:xfrm>
              <a:off x="4952913" y="2574430"/>
              <a:ext cx="369436" cy="73988"/>
            </a:xfrm>
            <a:prstGeom prst="round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: Rounded Corners 30">
              <a:extLst>
                <a:ext uri="{FF2B5EF4-FFF2-40B4-BE49-F238E27FC236}">
                  <a16:creationId xmlns:a16="http://schemas.microsoft.com/office/drawing/2014/main" id="{4AE3502F-5063-B0BB-94BC-6BAD52F1D37B}"/>
                </a:ext>
              </a:extLst>
            </p:cNvPr>
            <p:cNvSpPr/>
            <p:nvPr/>
          </p:nvSpPr>
          <p:spPr>
            <a:xfrm>
              <a:off x="4952912" y="2703214"/>
              <a:ext cx="494502" cy="73988"/>
            </a:xfrm>
            <a:prstGeom prst="round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: Rounded Corners 31">
              <a:extLst>
                <a:ext uri="{FF2B5EF4-FFF2-40B4-BE49-F238E27FC236}">
                  <a16:creationId xmlns:a16="http://schemas.microsoft.com/office/drawing/2014/main" id="{0AE28FD1-15E4-1C04-9821-EBFD68A2BBDD}"/>
                </a:ext>
              </a:extLst>
            </p:cNvPr>
            <p:cNvSpPr/>
            <p:nvPr/>
          </p:nvSpPr>
          <p:spPr>
            <a:xfrm>
              <a:off x="4858627" y="2831997"/>
              <a:ext cx="494502" cy="73988"/>
            </a:xfrm>
            <a:prstGeom prst="round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3" name="Arrow: Down 32">
            <a:extLst>
              <a:ext uri="{FF2B5EF4-FFF2-40B4-BE49-F238E27FC236}">
                <a16:creationId xmlns:a16="http://schemas.microsoft.com/office/drawing/2014/main" id="{57F5A024-DA72-879B-7533-AACB841EEE51}"/>
              </a:ext>
            </a:extLst>
          </p:cNvPr>
          <p:cNvSpPr/>
          <p:nvPr/>
        </p:nvSpPr>
        <p:spPr>
          <a:xfrm rot="16200000">
            <a:off x="9852635" y="4023978"/>
            <a:ext cx="259132" cy="585317"/>
          </a:xfrm>
          <a:prstGeom prst="downArrow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CAABA24C-8C73-DA8A-1528-7BD975593D4A}"/>
              </a:ext>
            </a:extLst>
          </p:cNvPr>
          <p:cNvGrpSpPr/>
          <p:nvPr/>
        </p:nvGrpSpPr>
        <p:grpSpPr>
          <a:xfrm>
            <a:off x="857839" y="-29178"/>
            <a:ext cx="4629752" cy="1015663"/>
            <a:chOff x="924025" y="1526961"/>
            <a:chExt cx="4629752" cy="1015663"/>
          </a:xfrm>
        </p:grpSpPr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464AC4D9-AB75-46DF-AEE9-9CC9456E7D81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3E9D3543-0353-268A-E9E5-FA22AEE3187C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>
                  <a:solidFill>
                    <a:schemeClr val="bg1"/>
                  </a:solidFill>
                  <a:latin typeface="Helvetica" pitchFamily="2" charset="0"/>
                </a:rPr>
                <a:t>Código intermedio y </a:t>
              </a:r>
              <a:br>
                <a:rPr lang="es-ES">
                  <a:solidFill>
                    <a:schemeClr val="bg1"/>
                  </a:solidFill>
                  <a:latin typeface="Helvetica" pitchFamily="2" charset="0"/>
                </a:rPr>
              </a:br>
              <a:r>
                <a:rPr lang="es-ES">
                  <a:solidFill>
                    <a:schemeClr val="bg1"/>
                  </a:solidFill>
                  <a:latin typeface="Helvetica" pitchFamily="2" charset="0"/>
                </a:rPr>
                <a:t>JVM</a:t>
              </a:r>
              <a:endParaRPr lang="en-US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668A357B-11FA-E916-AAB7-BC525C940D8B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>
                  <a:solidFill>
                    <a:schemeClr val="bg1"/>
                  </a:solidFill>
                  <a:latin typeface="Helvetica" pitchFamily="2" charset="0"/>
                </a:rPr>
                <a:t>6</a:t>
              </a:r>
              <a:endParaRPr lang="en-US" sz="6000" b="1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23A6502D-7E58-6FB3-7CE4-32E3FF167FB3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6360624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C1F11F-3055-6E44-D554-E66E8D7DA9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err="1"/>
              <a:t>Bytecode</a:t>
            </a:r>
            <a:r>
              <a:rPr lang="es-ES"/>
              <a:t> y JVM</a:t>
            </a:r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B0BA593-DC81-C6F4-B5AE-93BC41BC794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37</a:t>
            </a:fld>
            <a:endParaRPr lang="es-PE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56505EE3-4CCB-5388-F2A4-AB6669A93D5C}"/>
              </a:ext>
            </a:extLst>
          </p:cNvPr>
          <p:cNvGrpSpPr/>
          <p:nvPr/>
        </p:nvGrpSpPr>
        <p:grpSpPr>
          <a:xfrm>
            <a:off x="857839" y="-29178"/>
            <a:ext cx="4629752" cy="1015663"/>
            <a:chOff x="924025" y="1526961"/>
            <a:chExt cx="4629752" cy="1015663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E6DADF11-485E-819F-DC0F-78EC94FEC808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747E6045-4A4E-6B05-37EA-5B479C8FC6A4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>
                  <a:solidFill>
                    <a:schemeClr val="bg1"/>
                  </a:solidFill>
                  <a:latin typeface="Helvetica" pitchFamily="2" charset="0"/>
                </a:rPr>
                <a:t>Código intermedio y </a:t>
              </a:r>
              <a:br>
                <a:rPr lang="es-ES">
                  <a:solidFill>
                    <a:schemeClr val="bg1"/>
                  </a:solidFill>
                  <a:latin typeface="Helvetica" pitchFamily="2" charset="0"/>
                </a:rPr>
              </a:br>
              <a:r>
                <a:rPr lang="es-ES">
                  <a:solidFill>
                    <a:schemeClr val="bg1"/>
                  </a:solidFill>
                  <a:latin typeface="Helvetica" pitchFamily="2" charset="0"/>
                </a:rPr>
                <a:t>JVM</a:t>
              </a:r>
              <a:endParaRPr lang="en-US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679EE799-F5E2-F1F4-BEC7-8A54A1E30786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>
                  <a:solidFill>
                    <a:schemeClr val="bg1"/>
                  </a:solidFill>
                  <a:latin typeface="Helvetica" pitchFamily="2" charset="0"/>
                </a:rPr>
                <a:t>6</a:t>
              </a:r>
              <a:endParaRPr lang="en-US" sz="6000" b="1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8DF7D46A-6085-0539-EA8E-6232ED4C399A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A4B1FB23-CE0B-6B16-1695-4DB4FD5CACE0}"/>
              </a:ext>
            </a:extLst>
          </p:cNvPr>
          <p:cNvGrpSpPr/>
          <p:nvPr/>
        </p:nvGrpSpPr>
        <p:grpSpPr>
          <a:xfrm>
            <a:off x="828453" y="1625812"/>
            <a:ext cx="10566378" cy="4839628"/>
            <a:chOff x="828453" y="1625812"/>
            <a:chExt cx="10566378" cy="4839628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BC1DF711-06B3-344A-7BE1-3E5E6CE5A53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711007" y="1983574"/>
              <a:ext cx="4267570" cy="1066892"/>
            </a:xfrm>
            <a:prstGeom prst="rect">
              <a:avLst/>
            </a:prstGeom>
          </p:spPr>
        </p:pic>
        <p:pic>
          <p:nvPicPr>
            <p:cNvPr id="1026" name="Picture 2" descr="And, applications, code, compile, compiler, programming, script">
              <a:extLst>
                <a:ext uri="{FF2B5EF4-FFF2-40B4-BE49-F238E27FC236}">
                  <a16:creationId xmlns:a16="http://schemas.microsoft.com/office/drawing/2014/main" id="{4B9E28C1-0710-E703-27EC-B0D32AC5B35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766997" y="1983574"/>
              <a:ext cx="1219200" cy="1219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B9522EE2-80C9-ABC1-0DC7-B811235E3C4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358363" y="4265026"/>
              <a:ext cx="2036468" cy="1357646"/>
            </a:xfrm>
            <a:prstGeom prst="rect">
              <a:avLst/>
            </a:prstGeom>
          </p:spPr>
        </p:pic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A9DFF664-F900-F7A6-DC60-53C6DAE5DAAF}"/>
                </a:ext>
              </a:extLst>
            </p:cNvPr>
            <p:cNvSpPr/>
            <p:nvPr/>
          </p:nvSpPr>
          <p:spPr>
            <a:xfrm>
              <a:off x="6096000" y="3772589"/>
              <a:ext cx="2133785" cy="743578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/>
                <a:t>JVM</a:t>
              </a:r>
            </a:p>
            <a:p>
              <a:pPr algn="ctr"/>
              <a:r>
                <a:rPr lang="es-ES"/>
                <a:t>(Windows)</a:t>
              </a:r>
              <a:endParaRPr lang="en-US"/>
            </a:p>
          </p:txBody>
        </p:sp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D2F8DD8C-A746-0C28-018A-E72C15F1B9AC}"/>
                </a:ext>
              </a:extLst>
            </p:cNvPr>
            <p:cNvSpPr/>
            <p:nvPr/>
          </p:nvSpPr>
          <p:spPr>
            <a:xfrm>
              <a:off x="6096000" y="4715526"/>
              <a:ext cx="2133785" cy="743578"/>
            </a:xfrm>
            <a:prstGeom prst="roundRect">
              <a:avLst/>
            </a:prstGeom>
            <a:solidFill>
              <a:srgbClr val="CC783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/>
                <a:t>JVM</a:t>
              </a:r>
            </a:p>
            <a:p>
              <a:pPr algn="ctr"/>
              <a:r>
                <a:rPr lang="es-ES"/>
                <a:t>(Linux)</a:t>
              </a:r>
              <a:endParaRPr lang="en-US"/>
            </a:p>
          </p:txBody>
        </p:sp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06FC930A-E69E-5100-FC52-3D90ED9E6B72}"/>
                </a:ext>
              </a:extLst>
            </p:cNvPr>
            <p:cNvSpPr/>
            <p:nvPr/>
          </p:nvSpPr>
          <p:spPr>
            <a:xfrm>
              <a:off x="6095999" y="5639878"/>
              <a:ext cx="2133785" cy="743578"/>
            </a:xfrm>
            <a:prstGeom prst="roundRect">
              <a:avLst/>
            </a:prstGeom>
            <a:solidFill>
              <a:srgbClr val="D3052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/>
                <a:t>JVM</a:t>
              </a:r>
            </a:p>
            <a:p>
              <a:pPr algn="ctr"/>
              <a:r>
                <a:rPr lang="es-ES"/>
                <a:t>(macOS)</a:t>
              </a:r>
              <a:endParaRPr lang="en-US"/>
            </a:p>
          </p:txBody>
        </p:sp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A7170D0F-F269-8836-B284-BAC8DF710E0D}"/>
                </a:ext>
              </a:extLst>
            </p:cNvPr>
            <p:cNvSpPr/>
            <p:nvPr/>
          </p:nvSpPr>
          <p:spPr>
            <a:xfrm>
              <a:off x="3151833" y="3772589"/>
              <a:ext cx="2133785" cy="743578"/>
            </a:xfrm>
            <a:prstGeom prst="round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/>
                <a:t>Código máquina</a:t>
              </a:r>
              <a:endParaRPr lang="en-US"/>
            </a:p>
          </p:txBody>
        </p:sp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CD506325-23E7-CA8F-F8EA-8F6300A94BA3}"/>
                </a:ext>
              </a:extLst>
            </p:cNvPr>
            <p:cNvSpPr/>
            <p:nvPr/>
          </p:nvSpPr>
          <p:spPr>
            <a:xfrm>
              <a:off x="3151833" y="4715526"/>
              <a:ext cx="2133785" cy="743578"/>
            </a:xfrm>
            <a:prstGeom prst="round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/>
                <a:t>Código máquina</a:t>
              </a:r>
              <a:endParaRPr lang="en-US"/>
            </a:p>
          </p:txBody>
        </p:sp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666A6C79-357F-A16F-7138-F9FF128F2F6D}"/>
                </a:ext>
              </a:extLst>
            </p:cNvPr>
            <p:cNvSpPr/>
            <p:nvPr/>
          </p:nvSpPr>
          <p:spPr>
            <a:xfrm>
              <a:off x="3151832" y="5639878"/>
              <a:ext cx="2133785" cy="743578"/>
            </a:xfrm>
            <a:prstGeom prst="round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/>
                <a:t>Código máquina</a:t>
              </a:r>
              <a:endParaRPr lang="en-US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97DACA4B-A454-4E4A-74DD-BC99030B197C}"/>
                </a:ext>
              </a:extLst>
            </p:cNvPr>
            <p:cNvSpPr txBox="1"/>
            <p:nvPr/>
          </p:nvSpPr>
          <p:spPr>
            <a:xfrm>
              <a:off x="9533258" y="3148860"/>
              <a:ext cx="168668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s-ES">
                  <a:solidFill>
                    <a:schemeClr val="tx1">
                      <a:lumMod val="50000"/>
                      <a:lumOff val="50000"/>
                    </a:schemeClr>
                  </a:solidFill>
                  <a:latin typeface="Helvetica" pitchFamily="2" charset="0"/>
                </a:rPr>
                <a:t>Compilador (</a:t>
              </a:r>
              <a:r>
                <a:rPr lang="es-ES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Helvetica" pitchFamily="2" charset="0"/>
                </a:rPr>
                <a:t>javac</a:t>
              </a:r>
              <a:r>
                <a:rPr lang="es-ES">
                  <a:solidFill>
                    <a:schemeClr val="tx1">
                      <a:lumMod val="50000"/>
                      <a:lumOff val="50000"/>
                    </a:schemeClr>
                  </a:solidFill>
                  <a:latin typeface="Helvetica" pitchFamily="2" charset="0"/>
                </a:rPr>
                <a:t>)</a:t>
              </a:r>
              <a:endParaRPr lang="en-US">
                <a:solidFill>
                  <a:schemeClr val="tx1">
                    <a:lumMod val="50000"/>
                    <a:lumOff val="50000"/>
                  </a:schemeClr>
                </a:solidFill>
                <a:latin typeface="Helvetica" pitchFamily="2" charset="0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6B3DE9FB-69F8-A15F-BD2F-F81AB1678511}"/>
                </a:ext>
              </a:extLst>
            </p:cNvPr>
            <p:cNvSpPr txBox="1"/>
            <p:nvPr/>
          </p:nvSpPr>
          <p:spPr>
            <a:xfrm>
              <a:off x="9597381" y="5812595"/>
              <a:ext cx="155844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s-ES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Helvetica" pitchFamily="2" charset="0"/>
                </a:rPr>
                <a:t>Bytecode</a:t>
              </a:r>
              <a:r>
                <a:rPr lang="es-ES">
                  <a:solidFill>
                    <a:schemeClr val="tx1">
                      <a:lumMod val="50000"/>
                      <a:lumOff val="50000"/>
                    </a:schemeClr>
                  </a:solidFill>
                  <a:latin typeface="Helvetica" pitchFamily="2" charset="0"/>
                </a:rPr>
                <a:t> (.</a:t>
              </a:r>
              <a:r>
                <a:rPr lang="es-ES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Helvetica" pitchFamily="2" charset="0"/>
                </a:rPr>
                <a:t>class</a:t>
              </a:r>
              <a:r>
                <a:rPr lang="es-ES">
                  <a:solidFill>
                    <a:schemeClr val="tx1">
                      <a:lumMod val="50000"/>
                      <a:lumOff val="50000"/>
                    </a:schemeClr>
                  </a:solidFill>
                  <a:latin typeface="Helvetica" pitchFamily="2" charset="0"/>
                </a:rPr>
                <a:t>)</a:t>
              </a:r>
              <a:endParaRPr lang="en-US">
                <a:solidFill>
                  <a:schemeClr val="tx1">
                    <a:lumMod val="50000"/>
                    <a:lumOff val="50000"/>
                  </a:schemeClr>
                </a:solidFill>
                <a:latin typeface="Helvetica" pitchFamily="2" charset="0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0F0D7AD8-AD59-A42D-17EF-E9C9286EEFD3}"/>
                </a:ext>
              </a:extLst>
            </p:cNvPr>
            <p:cNvSpPr txBox="1"/>
            <p:nvPr/>
          </p:nvSpPr>
          <p:spPr>
            <a:xfrm>
              <a:off x="4717901" y="1625812"/>
              <a:ext cx="184537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s-ES">
                  <a:solidFill>
                    <a:schemeClr val="tx1">
                      <a:lumMod val="50000"/>
                      <a:lumOff val="50000"/>
                    </a:schemeClr>
                  </a:solidFill>
                  <a:latin typeface="Helvetica" pitchFamily="2" charset="0"/>
                </a:rPr>
                <a:t>Código fuente (.java)</a:t>
              </a:r>
              <a:endParaRPr lang="en-US">
                <a:solidFill>
                  <a:schemeClr val="tx1">
                    <a:lumMod val="50000"/>
                    <a:lumOff val="50000"/>
                  </a:schemeClr>
                </a:solidFill>
                <a:latin typeface="Helvetica" pitchFamily="2" charset="0"/>
              </a:endParaRPr>
            </a:p>
          </p:txBody>
        </p:sp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65901345-B06D-96C6-AD38-30F9EC1437F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94354" y="3698041"/>
              <a:ext cx="1180131" cy="907546"/>
            </a:xfrm>
            <a:prstGeom prst="rect">
              <a:avLst/>
            </a:prstGeom>
          </p:spPr>
        </p:pic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7C182ED5-8355-0E13-1A94-D36C6F56379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94354" y="4633542"/>
              <a:ext cx="1180131" cy="907546"/>
            </a:xfrm>
            <a:prstGeom prst="rect">
              <a:avLst/>
            </a:prstGeom>
          </p:spPr>
        </p:pic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22EDFB68-B1B7-3663-E0FF-740EC240C9D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94354" y="5557894"/>
              <a:ext cx="1180131" cy="907546"/>
            </a:xfrm>
            <a:prstGeom prst="rect">
              <a:avLst/>
            </a:prstGeom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DE77C696-5AB3-2BF9-5A83-542DD543669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506902" y="3794858"/>
              <a:ext cx="358909" cy="393487"/>
            </a:xfrm>
            <a:prstGeom prst="rect">
              <a:avLst/>
            </a:prstGeom>
          </p:spPr>
        </p:pic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676E8CCE-E13C-79F9-EFB4-37E108538AC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470375" y="5635815"/>
              <a:ext cx="431962" cy="429026"/>
            </a:xfrm>
            <a:prstGeom prst="rect">
              <a:avLst/>
            </a:prstGeom>
          </p:spPr>
        </p:pic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827370D8-36E4-7062-A543-6E989E69467C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447096" y="4688091"/>
              <a:ext cx="495117" cy="495117"/>
            </a:xfrm>
            <a:prstGeom prst="rect">
              <a:avLst/>
            </a:prstGeom>
          </p:spPr>
        </p:pic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7E104397-CEC4-FD96-6255-F0655C7C5CB6}"/>
                </a:ext>
              </a:extLst>
            </p:cNvPr>
            <p:cNvCxnSpPr>
              <a:cxnSpLocks/>
            </p:cNvCxnSpPr>
            <p:nvPr/>
          </p:nvCxnSpPr>
          <p:spPr>
            <a:xfrm>
              <a:off x="8229784" y="2517020"/>
              <a:ext cx="1362784" cy="0"/>
            </a:xfrm>
            <a:prstGeom prst="straightConnector1">
              <a:avLst/>
            </a:prstGeom>
            <a:ln w="38100">
              <a:solidFill>
                <a:srgbClr val="FF4164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6B97DD21-5F1A-B8D1-B3E1-9A2B3B447C6C}"/>
                </a:ext>
              </a:extLst>
            </p:cNvPr>
            <p:cNvCxnSpPr>
              <a:cxnSpLocks/>
            </p:cNvCxnSpPr>
            <p:nvPr/>
          </p:nvCxnSpPr>
          <p:spPr>
            <a:xfrm>
              <a:off x="10346451" y="3527902"/>
              <a:ext cx="0" cy="632121"/>
            </a:xfrm>
            <a:prstGeom prst="straightConnector1">
              <a:avLst/>
            </a:prstGeom>
            <a:ln w="38100">
              <a:solidFill>
                <a:srgbClr val="FF4164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A756AE97-5CA2-2C34-33E5-641508CA8A8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343814" y="4144378"/>
              <a:ext cx="681849" cy="0"/>
            </a:xfrm>
            <a:prstGeom prst="straightConnector1">
              <a:avLst/>
            </a:prstGeom>
            <a:ln w="38100">
              <a:solidFill>
                <a:srgbClr val="FF4164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B3D3FE4F-FB92-9E77-939E-1C4EA8FCCFF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343814" y="5101825"/>
              <a:ext cx="681849" cy="0"/>
            </a:xfrm>
            <a:prstGeom prst="straightConnector1">
              <a:avLst/>
            </a:prstGeom>
            <a:ln w="38100">
              <a:solidFill>
                <a:srgbClr val="FF4164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9E0CD2D7-853F-8895-3056-599515B3454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343814" y="6011667"/>
              <a:ext cx="681849" cy="0"/>
            </a:xfrm>
            <a:prstGeom prst="straightConnector1">
              <a:avLst/>
            </a:prstGeom>
            <a:ln w="38100">
              <a:solidFill>
                <a:srgbClr val="FF4164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00641B60-2361-8D08-B32C-F5BAED44758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309212" y="4134334"/>
              <a:ext cx="681849" cy="0"/>
            </a:xfrm>
            <a:prstGeom prst="straightConnector1">
              <a:avLst/>
            </a:prstGeom>
            <a:ln w="38100">
              <a:solidFill>
                <a:srgbClr val="FF4164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ABB7B992-8023-F60B-DB88-9B5C5DAFF47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309212" y="5091781"/>
              <a:ext cx="681849" cy="0"/>
            </a:xfrm>
            <a:prstGeom prst="straightConnector1">
              <a:avLst/>
            </a:prstGeom>
            <a:ln w="38100">
              <a:solidFill>
                <a:srgbClr val="FF4164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B3A53D4C-3504-6057-4E58-43036C63F8F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309212" y="6001623"/>
              <a:ext cx="681849" cy="0"/>
            </a:xfrm>
            <a:prstGeom prst="straightConnector1">
              <a:avLst/>
            </a:prstGeom>
            <a:ln w="38100">
              <a:solidFill>
                <a:srgbClr val="FF4164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752B107A-3CF5-E2D3-F68D-0AC9B6BF650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338500" y="4079329"/>
              <a:ext cx="811947" cy="994617"/>
            </a:xfrm>
            <a:prstGeom prst="straightConnector1">
              <a:avLst/>
            </a:prstGeom>
            <a:ln w="38100">
              <a:solidFill>
                <a:srgbClr val="FF4164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9BC01626-710B-E72B-4DC4-D092AB8E95C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360114" y="5083239"/>
              <a:ext cx="807337" cy="0"/>
            </a:xfrm>
            <a:prstGeom prst="straightConnector1">
              <a:avLst/>
            </a:prstGeom>
            <a:ln w="38100">
              <a:solidFill>
                <a:srgbClr val="FF4164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BDB560F9-3C9A-0DC7-9056-88492051577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319915" y="5064653"/>
              <a:ext cx="849116" cy="965599"/>
            </a:xfrm>
            <a:prstGeom prst="straightConnector1">
              <a:avLst/>
            </a:prstGeom>
            <a:ln w="38100">
              <a:solidFill>
                <a:srgbClr val="FF4164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Arrow Connector 43">
              <a:extLst>
                <a:ext uri="{FF2B5EF4-FFF2-40B4-BE49-F238E27FC236}">
                  <a16:creationId xmlns:a16="http://schemas.microsoft.com/office/drawing/2014/main" id="{E2B39438-8F75-DF9B-DF1D-2774DBADE112}"/>
                </a:ext>
              </a:extLst>
            </p:cNvPr>
            <p:cNvCxnSpPr>
              <a:cxnSpLocks/>
            </p:cNvCxnSpPr>
            <p:nvPr/>
          </p:nvCxnSpPr>
          <p:spPr>
            <a:xfrm>
              <a:off x="2100289" y="2517020"/>
              <a:ext cx="1362784" cy="0"/>
            </a:xfrm>
            <a:prstGeom prst="straightConnector1">
              <a:avLst/>
            </a:prstGeom>
            <a:ln w="38100">
              <a:solidFill>
                <a:srgbClr val="FF4164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43" name="Picture 42">
              <a:extLst>
                <a:ext uri="{FF2B5EF4-FFF2-40B4-BE49-F238E27FC236}">
                  <a16:creationId xmlns:a16="http://schemas.microsoft.com/office/drawing/2014/main" id="{C3AC6F0C-80D2-6ABA-65D4-FC0A8B6C400D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828453" y="1713625"/>
              <a:ext cx="1325563" cy="1325563"/>
            </a:xfrm>
            <a:prstGeom prst="rect">
              <a:avLst/>
            </a:prstGeom>
          </p:spPr>
        </p:pic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E7CF0C8E-DBB6-1F36-731B-67C1BEF74AB8}"/>
                </a:ext>
              </a:extLst>
            </p:cNvPr>
            <p:cNvSpPr txBox="1"/>
            <p:nvPr/>
          </p:nvSpPr>
          <p:spPr>
            <a:xfrm>
              <a:off x="3711499" y="3228278"/>
              <a:ext cx="3951247" cy="307777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s-ES" b="1" dirty="0">
                  <a:solidFill>
                    <a:srgbClr val="00B0F0"/>
                  </a:solidFill>
                  <a:latin typeface="Helvetica"/>
                </a:rPr>
                <a:t>"</a:t>
              </a:r>
              <a:r>
                <a:rPr lang="es-ES" b="1" dirty="0" err="1">
                  <a:solidFill>
                    <a:srgbClr val="00B0F0"/>
                  </a:solidFill>
                  <a:latin typeface="Helvetica"/>
                </a:rPr>
                <a:t>Write</a:t>
              </a:r>
              <a:r>
                <a:rPr lang="es-ES" b="1" dirty="0">
                  <a:solidFill>
                    <a:srgbClr val="00B0F0"/>
                  </a:solidFill>
                  <a:latin typeface="Helvetica"/>
                </a:rPr>
                <a:t> Once Run </a:t>
              </a:r>
              <a:r>
                <a:rPr lang="es-ES" b="1" dirty="0" err="1">
                  <a:solidFill>
                    <a:srgbClr val="00B0F0"/>
                  </a:solidFill>
                  <a:latin typeface="Helvetica"/>
                </a:rPr>
                <a:t>Anywhere</a:t>
              </a:r>
              <a:r>
                <a:rPr lang="es-ES" b="1" dirty="0">
                  <a:solidFill>
                    <a:srgbClr val="00B0F0"/>
                  </a:solidFill>
                  <a:latin typeface="Helvetica"/>
                </a:rPr>
                <a:t>"</a:t>
              </a:r>
              <a:endParaRPr lang="en-US" b="1" dirty="0">
                <a:solidFill>
                  <a:srgbClr val="00B0F0"/>
                </a:solidFill>
                <a:latin typeface="Helvetic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290226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" name="Group 39">
            <a:extLst>
              <a:ext uri="{FF2B5EF4-FFF2-40B4-BE49-F238E27FC236}">
                <a16:creationId xmlns:a16="http://schemas.microsoft.com/office/drawing/2014/main" id="{C0EBFC4B-97B9-EE23-54E6-35D0BD1A72B6}"/>
              </a:ext>
            </a:extLst>
          </p:cNvPr>
          <p:cNvGrpSpPr/>
          <p:nvPr/>
        </p:nvGrpSpPr>
        <p:grpSpPr>
          <a:xfrm>
            <a:off x="6724048" y="1782509"/>
            <a:ext cx="4629752" cy="1015663"/>
            <a:chOff x="924025" y="1526961"/>
            <a:chExt cx="4629752" cy="1015663"/>
          </a:xfrm>
        </p:grpSpPr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4FE8F910-E501-76FA-7ECF-5ADB916A9A3E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8F2A2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FE3C8125-0623-B6FF-9FE1-0715FE1439E0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rtlCol="0" anchor="t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  <a:latin typeface="Helvetica"/>
                </a:rPr>
                <a:t>Práctica</a:t>
              </a:r>
              <a:endParaRPr lang="en-US" dirty="0"/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FB2CE88F-B9E6-8333-5227-9BC78AB02562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>
                  <a:solidFill>
                    <a:schemeClr val="bg1"/>
                  </a:solidFill>
                  <a:latin typeface="Helvetica" pitchFamily="2" charset="0"/>
                </a:rPr>
                <a:t>8</a:t>
              </a:r>
              <a:endParaRPr lang="en-US" sz="6000" b="1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0EA75671-C972-4E78-C608-76524A6F268E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6C6B983-D187-5021-011D-340D9A64632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38</a:t>
            </a:fld>
            <a:endParaRPr lang="es-PE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4C62550A-9487-0FB4-AEF5-18BF59D1D1BB}"/>
              </a:ext>
            </a:extLst>
          </p:cNvPr>
          <p:cNvGrpSpPr/>
          <p:nvPr/>
        </p:nvGrpSpPr>
        <p:grpSpPr>
          <a:xfrm>
            <a:off x="1955128" y="1782509"/>
            <a:ext cx="4629752" cy="1015663"/>
            <a:chOff x="924025" y="1526961"/>
            <a:chExt cx="4629752" cy="1015663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9EE3C4A-25E0-0661-5719-DFD8A408196E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0E7D7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8F03E694-3539-B74F-A7F9-A90BF4FC7172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>
                  <a:solidFill>
                    <a:schemeClr val="bg1"/>
                  </a:solidFill>
                  <a:latin typeface="Helvetica" pitchFamily="2" charset="0"/>
                </a:rPr>
                <a:t>Compiladores e</a:t>
              </a:r>
            </a:p>
            <a:p>
              <a:r>
                <a:rPr lang="es-ES">
                  <a:solidFill>
                    <a:schemeClr val="bg1"/>
                  </a:solidFill>
                  <a:latin typeface="Helvetica" pitchFamily="2" charset="0"/>
                </a:rPr>
                <a:t>Intérpretes</a:t>
              </a:r>
              <a:endParaRPr lang="en-US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0BD6589-A9C6-D2FD-D50D-C5AAC8113E8A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>
                  <a:solidFill>
                    <a:schemeClr val="bg1"/>
                  </a:solidFill>
                  <a:latin typeface="Helvetica" pitchFamily="2" charset="0"/>
                </a:rPr>
                <a:t>2</a:t>
              </a:r>
              <a:endParaRPr lang="en-US" sz="6000" b="1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FE0265B7-9BAF-D770-6E56-5AE1A9C41973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5598A8C9-355C-B375-F419-53EB7FBA52CF}"/>
              </a:ext>
            </a:extLst>
          </p:cNvPr>
          <p:cNvGrpSpPr/>
          <p:nvPr/>
        </p:nvGrpSpPr>
        <p:grpSpPr>
          <a:xfrm>
            <a:off x="1955128" y="2672054"/>
            <a:ext cx="4629752" cy="1015663"/>
            <a:chOff x="924025" y="1526961"/>
            <a:chExt cx="4629752" cy="1015663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968C5937-AEC8-D4AC-1863-47EC6A0DD5D7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758F3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9B9DA0B8-3305-EA9B-D50C-133423FA16B6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>
                  <a:solidFill>
                    <a:schemeClr val="bg1"/>
                  </a:solidFill>
                  <a:latin typeface="Helvetica" pitchFamily="2" charset="0"/>
                </a:rPr>
                <a:t>Introducción al </a:t>
              </a:r>
              <a:br>
                <a:rPr lang="es-ES">
                  <a:solidFill>
                    <a:schemeClr val="bg1"/>
                  </a:solidFill>
                  <a:latin typeface="Helvetica" pitchFamily="2" charset="0"/>
                </a:rPr>
              </a:br>
              <a:r>
                <a:rPr lang="es-ES">
                  <a:solidFill>
                    <a:schemeClr val="bg1"/>
                  </a:solidFill>
                  <a:latin typeface="Helvetica" pitchFamily="2" charset="0"/>
                </a:rPr>
                <a:t>lenguaje Java</a:t>
              </a:r>
              <a:endParaRPr lang="en-US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E719D950-4EA4-CB17-5AF9-0E716D1D0C97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>
                  <a:solidFill>
                    <a:schemeClr val="bg1"/>
                  </a:solidFill>
                  <a:latin typeface="Helvetica" pitchFamily="2" charset="0"/>
                </a:rPr>
                <a:t>3</a:t>
              </a:r>
              <a:endParaRPr lang="en-US" sz="6000" b="1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5DB44CEB-5449-91C4-4D8C-947E50150B6A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B25B4B5B-713C-2D58-C773-D4CFF9997391}"/>
              </a:ext>
            </a:extLst>
          </p:cNvPr>
          <p:cNvGrpSpPr/>
          <p:nvPr/>
        </p:nvGrpSpPr>
        <p:grpSpPr>
          <a:xfrm>
            <a:off x="1955128" y="3561599"/>
            <a:ext cx="4629752" cy="1015663"/>
            <a:chOff x="924025" y="1526961"/>
            <a:chExt cx="4629752" cy="1015663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D5F2FB8B-07D6-48FB-E370-38EA16365289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BA750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728AFDEB-1E73-3FEA-2DFF-DBAF08C0A2B6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>
                  <a:solidFill>
                    <a:schemeClr val="bg1"/>
                  </a:solidFill>
                  <a:latin typeface="Helvetica" pitchFamily="2" charset="0"/>
                </a:rPr>
                <a:t>Entorno de desarrollo y ejecución Java</a:t>
              </a:r>
              <a:endParaRPr lang="en-US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302F77E9-2E11-217F-40EC-8E3C7703B3BB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>
                  <a:solidFill>
                    <a:schemeClr val="bg1"/>
                  </a:solidFill>
                  <a:latin typeface="Helvetica" pitchFamily="2" charset="0"/>
                </a:rPr>
                <a:t>4</a:t>
              </a:r>
              <a:endParaRPr lang="en-US" sz="6000" b="1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369D5F82-C60A-5B84-5E19-A1B153065B8D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20E7D35A-999B-BEC3-A1FE-83D4A699084C}"/>
              </a:ext>
            </a:extLst>
          </p:cNvPr>
          <p:cNvGrpSpPr/>
          <p:nvPr/>
        </p:nvGrpSpPr>
        <p:grpSpPr>
          <a:xfrm>
            <a:off x="1955128" y="4451144"/>
            <a:ext cx="4629752" cy="1015663"/>
            <a:chOff x="924025" y="1526961"/>
            <a:chExt cx="4629752" cy="1015663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EDE43D48-A8F8-0DF2-1001-D5FDD5FF2C6B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8F2A2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C2BEA270-D0DD-E83C-8505-88C9D29A50BF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>
                  <a:solidFill>
                    <a:schemeClr val="bg1"/>
                  </a:solidFill>
                  <a:latin typeface="Helvetica" pitchFamily="2" charset="0"/>
                </a:rPr>
                <a:t>Compilación y </a:t>
              </a:r>
              <a:br>
                <a:rPr lang="es-ES">
                  <a:solidFill>
                    <a:schemeClr val="bg1"/>
                  </a:solidFill>
                  <a:latin typeface="Helvetica" pitchFamily="2" charset="0"/>
                </a:rPr>
              </a:br>
              <a:r>
                <a:rPr lang="es-ES">
                  <a:solidFill>
                    <a:schemeClr val="bg1"/>
                  </a:solidFill>
                  <a:latin typeface="Helvetica" pitchFamily="2" charset="0"/>
                </a:rPr>
                <a:t>ejecución</a:t>
              </a:r>
              <a:endParaRPr lang="en-US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650D84CE-F32A-1F88-1274-CAA8D6234924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>
                  <a:solidFill>
                    <a:schemeClr val="bg1"/>
                  </a:solidFill>
                  <a:latin typeface="Helvetica" pitchFamily="2" charset="0"/>
                </a:rPr>
                <a:t>5</a:t>
              </a:r>
              <a:endParaRPr lang="en-US" sz="6000" b="1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81D92532-6B25-E809-E479-70119D6AA69E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1EA7DF23-1534-8674-0364-FDC45E5DD81C}"/>
              </a:ext>
            </a:extLst>
          </p:cNvPr>
          <p:cNvGrpSpPr/>
          <p:nvPr/>
        </p:nvGrpSpPr>
        <p:grpSpPr>
          <a:xfrm>
            <a:off x="1955128" y="5340687"/>
            <a:ext cx="4629752" cy="1015663"/>
            <a:chOff x="924025" y="1526961"/>
            <a:chExt cx="4629752" cy="1015663"/>
          </a:xfrm>
        </p:grpSpPr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A13A47C2-3050-70BF-03DC-CCA7B4126952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AD94C077-B4AA-B319-24D7-C5B1DE74BBDB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>
                  <a:solidFill>
                    <a:schemeClr val="bg1"/>
                  </a:solidFill>
                  <a:latin typeface="Helvetica" pitchFamily="2" charset="0"/>
                </a:rPr>
                <a:t>Código intermedio y </a:t>
              </a:r>
              <a:br>
                <a:rPr lang="es-ES">
                  <a:solidFill>
                    <a:schemeClr val="bg1"/>
                  </a:solidFill>
                  <a:latin typeface="Helvetica" pitchFamily="2" charset="0"/>
                </a:rPr>
              </a:br>
              <a:r>
                <a:rPr lang="es-ES">
                  <a:solidFill>
                    <a:schemeClr val="bg1"/>
                  </a:solidFill>
                  <a:latin typeface="Helvetica" pitchFamily="2" charset="0"/>
                </a:rPr>
                <a:t>JVM</a:t>
              </a:r>
              <a:endParaRPr lang="en-US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739B75E7-C4E8-816E-FBEB-C8DC5FFDC85F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>
                  <a:solidFill>
                    <a:schemeClr val="bg1"/>
                  </a:solidFill>
                  <a:latin typeface="Helvetica" pitchFamily="2" charset="0"/>
                </a:rPr>
                <a:t>6</a:t>
              </a:r>
              <a:endParaRPr lang="en-US" sz="6000" b="1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ECF212AE-2B6A-DF71-7FC5-AE34B93BB598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6B32F08B-E599-8764-EE5E-B3C48CE274CF}"/>
              </a:ext>
            </a:extLst>
          </p:cNvPr>
          <p:cNvSpPr txBox="1"/>
          <p:nvPr/>
        </p:nvSpPr>
        <p:spPr>
          <a:xfrm rot="16200000">
            <a:off x="-1552306" y="2760043"/>
            <a:ext cx="5599610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8800" b="1">
                <a:solidFill>
                  <a:schemeClr val="bg1">
                    <a:lumMod val="85000"/>
                  </a:schemeClr>
                </a:solidFill>
                <a:latin typeface="Helvetica" pitchFamily="2" charset="0"/>
              </a:rPr>
              <a:t>contenido</a:t>
            </a:r>
            <a:endParaRPr lang="en-US" sz="8800" b="1">
              <a:solidFill>
                <a:schemeClr val="bg1">
                  <a:lumMod val="85000"/>
                </a:schemeClr>
              </a:solidFill>
              <a:latin typeface="Helvetica" pitchFamily="2" charset="0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6D8EC2C4-D534-A87E-5305-9BD92B9838D9}"/>
              </a:ext>
            </a:extLst>
          </p:cNvPr>
          <p:cNvGrpSpPr/>
          <p:nvPr/>
        </p:nvGrpSpPr>
        <p:grpSpPr>
          <a:xfrm>
            <a:off x="1955128" y="892964"/>
            <a:ext cx="4629752" cy="1015663"/>
            <a:chOff x="924025" y="1526961"/>
            <a:chExt cx="4629752" cy="1015663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AFE41E11-2903-D4AD-BABB-046EDBE4AABD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1B5E8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AFB12F7A-F286-0B30-D30E-E9A916CC839B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>
                  <a:solidFill>
                    <a:schemeClr val="bg1"/>
                  </a:solidFill>
                  <a:latin typeface="Helvetica" pitchFamily="2" charset="0"/>
                </a:rPr>
                <a:t>Introducción a los lenguajes de programación</a:t>
              </a:r>
              <a:endParaRPr lang="en-US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93EEA1CE-79B2-915B-2C77-2F1212A1BF67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>
                  <a:solidFill>
                    <a:schemeClr val="bg1"/>
                  </a:solidFill>
                  <a:latin typeface="Helvetica" pitchFamily="2" charset="0"/>
                </a:rPr>
                <a:t>1</a:t>
              </a:r>
              <a:endParaRPr lang="en-US" sz="6000" b="1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830C6426-CF18-244B-D9EC-4576E393467C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" name="Rectangle 3">
            <a:extLst>
              <a:ext uri="{FF2B5EF4-FFF2-40B4-BE49-F238E27FC236}">
                <a16:creationId xmlns:a16="http://schemas.microsoft.com/office/drawing/2014/main" id="{5F0AD512-DC53-811E-0839-3807ECBC949B}"/>
              </a:ext>
            </a:extLst>
          </p:cNvPr>
          <p:cNvSpPr/>
          <p:nvPr/>
        </p:nvSpPr>
        <p:spPr>
          <a:xfrm>
            <a:off x="1801640" y="683513"/>
            <a:ext cx="9678154" cy="5599610"/>
          </a:xfrm>
          <a:prstGeom prst="rect">
            <a:avLst/>
          </a:prstGeom>
          <a:solidFill>
            <a:schemeClr val="bg1">
              <a:alpha val="8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4BEE2914-3C25-D19B-57C0-F6E598922A1E}"/>
              </a:ext>
            </a:extLst>
          </p:cNvPr>
          <p:cNvGrpSpPr/>
          <p:nvPr/>
        </p:nvGrpSpPr>
        <p:grpSpPr>
          <a:xfrm>
            <a:off x="6724048" y="892964"/>
            <a:ext cx="4629752" cy="1015663"/>
            <a:chOff x="924025" y="1526961"/>
            <a:chExt cx="4629752" cy="1015663"/>
          </a:xfrm>
        </p:grpSpPr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069C6825-69EA-8D72-4345-309D24E6D675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39F07254-1903-E065-8A8C-CBBABBCAA893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>
                  <a:solidFill>
                    <a:schemeClr val="bg1"/>
                  </a:solidFill>
                  <a:latin typeface="Helvetica" pitchFamily="2" charset="0"/>
                </a:rPr>
                <a:t>Clase principal y método </a:t>
              </a:r>
              <a:r>
                <a:rPr lang="es-ES" err="1">
                  <a:solidFill>
                    <a:schemeClr val="bg1"/>
                  </a:solidFill>
                  <a:latin typeface="Helvetica" pitchFamily="2" charset="0"/>
                </a:rPr>
                <a:t>main</a:t>
              </a:r>
              <a:endParaRPr lang="en-US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40F6FA04-8D92-0B29-3784-F4044CE9F110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>
                  <a:solidFill>
                    <a:schemeClr val="bg1"/>
                  </a:solidFill>
                  <a:latin typeface="Helvetica" pitchFamily="2" charset="0"/>
                </a:rPr>
                <a:t>7</a:t>
              </a:r>
              <a:endParaRPr lang="en-US" sz="6000" b="1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959003DD-D67B-3D2D-7CDF-D9E1CE9AA9B3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4659155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D72690-26D2-1F87-171A-81E48D1748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Estructura de un programa Java</a:t>
            </a:r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027F819-73E6-537A-65E1-451F3A594E6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39</a:t>
            </a:fld>
            <a:endParaRPr lang="es-PE"/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31C67E60-2AA4-6993-B147-518CC9B1AE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26830" y="2813754"/>
            <a:ext cx="6921231" cy="2973050"/>
          </a:xfrm>
          <a:prstGeom prst="roundRect">
            <a:avLst>
              <a:gd name="adj" fmla="val 6833"/>
            </a:avLst>
          </a:prstGeom>
          <a:solidFill>
            <a:srgbClr val="1E1F2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14400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package </a:t>
            </a:r>
            <a:r>
              <a:rPr kumimoji="0" lang="en-US" altLang="en-US" sz="2000" b="0" i="0" u="none" strike="noStrike" cap="none" normalizeH="0" baseline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pe.edu.utp.miapp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public class 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Demo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{</a:t>
            </a:r>
            <a:b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public static void 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DEBC7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main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(String[] </a:t>
            </a:r>
            <a:r>
              <a:rPr kumimoji="0" lang="en-US" altLang="en-US" sz="2000" b="0" i="0" u="none" strike="noStrike" cap="none" normalizeH="0" baseline="0" err="1">
                <a:ln>
                  <a:noFill/>
                </a:ln>
                <a:solidFill>
                  <a:srgbClr val="B189F5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args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000">
                <a:solidFill>
                  <a:srgbClr val="CED0D6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{</a:t>
            </a:r>
            <a:b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en-US" altLang="en-US" sz="2000" b="0" i="0" u="none" strike="noStrike" cap="none" normalizeH="0" baseline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System.</a:t>
            </a:r>
            <a:r>
              <a:rPr kumimoji="0" lang="en-US" altLang="en-US" sz="2000" b="0" i="1" u="none" strike="noStrike" cap="none" normalizeH="0" baseline="0" err="1">
                <a:ln>
                  <a:noFill/>
                </a:ln>
                <a:solidFill>
                  <a:srgbClr val="72CF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out</a:t>
            </a:r>
            <a:r>
              <a:rPr kumimoji="0" lang="en-US" altLang="en-US" sz="2000" b="0" i="0" u="none" strike="noStrike" cap="none" normalizeH="0" baseline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</a:t>
            </a:r>
            <a:r>
              <a:rPr kumimoji="0" lang="en-US" altLang="en-US" sz="2000" b="0" i="0" u="none" strike="noStrike" cap="none" normalizeH="0" baseline="0" err="1">
                <a:ln>
                  <a:noFill/>
                </a:ln>
                <a:solidFill>
                  <a:srgbClr val="DEBC7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println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"Hola Mundo!"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);</a:t>
            </a:r>
            <a:b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}</a:t>
            </a:r>
            <a:b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}</a:t>
            </a:r>
            <a:endParaRPr kumimoji="0" lang="en-US" altLang="en-US" sz="4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ABD840B-2C60-4D23-35AE-C1DE3D7F2423}"/>
              </a:ext>
            </a:extLst>
          </p:cNvPr>
          <p:cNvSpPr txBox="1"/>
          <p:nvPr/>
        </p:nvSpPr>
        <p:spPr>
          <a:xfrm>
            <a:off x="848531" y="2552144"/>
            <a:ext cx="160997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Palabras clave (keywords)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49F07952-6609-04D6-05DA-BDDC8C3BCCF2}"/>
              </a:ext>
            </a:extLst>
          </p:cNvPr>
          <p:cNvCxnSpPr>
            <a:cxnSpLocks/>
          </p:cNvCxnSpPr>
          <p:nvPr/>
        </p:nvCxnSpPr>
        <p:spPr>
          <a:xfrm>
            <a:off x="2292717" y="2767247"/>
            <a:ext cx="570368" cy="308117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882A2901-0E4B-F185-54CF-3E171765F1D9}"/>
              </a:ext>
            </a:extLst>
          </p:cNvPr>
          <p:cNvSpPr txBox="1"/>
          <p:nvPr/>
        </p:nvSpPr>
        <p:spPr>
          <a:xfrm>
            <a:off x="4169659" y="2079699"/>
            <a:ext cx="242479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err="1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Paquete</a:t>
            </a:r>
            <a:endParaRPr lang="en-US">
              <a:solidFill>
                <a:schemeClr val="bg1">
                  <a:lumMod val="50000"/>
                </a:schemeClr>
              </a:solidFill>
              <a:latin typeface="Helvetica" pitchFamily="2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F7BCC0F-8BEA-51FA-F2EA-8488799D9CDE}"/>
              </a:ext>
            </a:extLst>
          </p:cNvPr>
          <p:cNvSpPr txBox="1"/>
          <p:nvPr/>
        </p:nvSpPr>
        <p:spPr>
          <a:xfrm>
            <a:off x="9960089" y="2813754"/>
            <a:ext cx="115203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err="1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Nombre</a:t>
            </a:r>
            <a:r>
              <a:rPr lang="en-US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 de la </a:t>
            </a:r>
            <a:r>
              <a:rPr lang="en-US" err="1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clase</a:t>
            </a:r>
            <a:endParaRPr lang="en-US">
              <a:solidFill>
                <a:schemeClr val="bg1">
                  <a:lumMod val="50000"/>
                </a:schemeClr>
              </a:solidFill>
              <a:latin typeface="Helvetica" pitchFamily="2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BC8E9D7-5A5D-4173-CF6A-2B0337B4D1C8}"/>
              </a:ext>
            </a:extLst>
          </p:cNvPr>
          <p:cNvSpPr txBox="1"/>
          <p:nvPr/>
        </p:nvSpPr>
        <p:spPr>
          <a:xfrm>
            <a:off x="774611" y="4300279"/>
            <a:ext cx="1471926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err="1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Bloque</a:t>
            </a:r>
            <a:r>
              <a:rPr lang="en-US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 de </a:t>
            </a:r>
            <a:r>
              <a:rPr lang="en-US" err="1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código</a:t>
            </a:r>
            <a:r>
              <a:rPr lang="en-US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 de </a:t>
            </a:r>
            <a:br>
              <a:rPr lang="en-US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</a:br>
            <a:r>
              <a:rPr lang="en-US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la </a:t>
            </a:r>
            <a:r>
              <a:rPr lang="en-US" err="1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clase</a:t>
            </a:r>
            <a:endParaRPr lang="en-US">
              <a:solidFill>
                <a:schemeClr val="bg1">
                  <a:lumMod val="50000"/>
                </a:schemeClr>
              </a:solidFill>
              <a:latin typeface="Helvetica" pitchFamily="2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808ABA5-4E5B-FF93-8ACE-9D8CCAC6D4D4}"/>
              </a:ext>
            </a:extLst>
          </p:cNvPr>
          <p:cNvSpPr txBox="1"/>
          <p:nvPr/>
        </p:nvSpPr>
        <p:spPr>
          <a:xfrm>
            <a:off x="8189015" y="5833311"/>
            <a:ext cx="147192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i="1">
                <a:solidFill>
                  <a:srgbClr val="00B0F0"/>
                </a:solidFill>
                <a:latin typeface="Helvetica" pitchFamily="2" charset="0"/>
              </a:rPr>
              <a:t>Código </a:t>
            </a:r>
            <a:r>
              <a:rPr lang="en-US" i="1" err="1">
                <a:solidFill>
                  <a:srgbClr val="00B0F0"/>
                </a:solidFill>
                <a:latin typeface="Helvetica" pitchFamily="2" charset="0"/>
              </a:rPr>
              <a:t>fuente</a:t>
            </a:r>
            <a:endParaRPr lang="en-US" i="1">
              <a:solidFill>
                <a:srgbClr val="00B0F0"/>
              </a:solidFill>
              <a:latin typeface="Helvetica" pitchFamily="2" charset="0"/>
            </a:endParaRP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7CC7CBC3-8066-34BF-6408-57CC665850EC}"/>
              </a:ext>
            </a:extLst>
          </p:cNvPr>
          <p:cNvCxnSpPr>
            <a:cxnSpLocks/>
          </p:cNvCxnSpPr>
          <p:nvPr/>
        </p:nvCxnSpPr>
        <p:spPr>
          <a:xfrm>
            <a:off x="2176435" y="2856555"/>
            <a:ext cx="686650" cy="839135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Left Brace 21">
            <a:extLst>
              <a:ext uri="{FF2B5EF4-FFF2-40B4-BE49-F238E27FC236}">
                <a16:creationId xmlns:a16="http://schemas.microsoft.com/office/drawing/2014/main" id="{B7E406BF-750E-61C3-220F-8171DA8ECD07}"/>
              </a:ext>
            </a:extLst>
          </p:cNvPr>
          <p:cNvSpPr/>
          <p:nvPr/>
        </p:nvSpPr>
        <p:spPr>
          <a:xfrm>
            <a:off x="2105888" y="3879271"/>
            <a:ext cx="472013" cy="1764145"/>
          </a:xfrm>
          <a:prstGeom prst="leftBrace">
            <a:avLst>
              <a:gd name="adj1" fmla="val 0"/>
              <a:gd name="adj2" fmla="val 50000"/>
            </a:avLst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Left Brace 22">
            <a:extLst>
              <a:ext uri="{FF2B5EF4-FFF2-40B4-BE49-F238E27FC236}">
                <a16:creationId xmlns:a16="http://schemas.microsoft.com/office/drawing/2014/main" id="{5434CE0D-4D6E-B1B9-096B-4FBAF400A39C}"/>
              </a:ext>
            </a:extLst>
          </p:cNvPr>
          <p:cNvSpPr/>
          <p:nvPr/>
        </p:nvSpPr>
        <p:spPr>
          <a:xfrm rot="5400000">
            <a:off x="5174786" y="1344704"/>
            <a:ext cx="472013" cy="2574627"/>
          </a:xfrm>
          <a:prstGeom prst="leftBrace">
            <a:avLst>
              <a:gd name="adj1" fmla="val 0"/>
              <a:gd name="adj2" fmla="val 50000"/>
            </a:avLst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EB18A1E6-C22C-C0F8-E7DE-1C56985EB3AD}"/>
              </a:ext>
            </a:extLst>
          </p:cNvPr>
          <p:cNvCxnSpPr>
            <a:cxnSpLocks/>
          </p:cNvCxnSpPr>
          <p:nvPr/>
        </p:nvCxnSpPr>
        <p:spPr>
          <a:xfrm flipH="1">
            <a:off x="5627064" y="3075364"/>
            <a:ext cx="4358969" cy="523220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3">
            <a:extLst>
              <a:ext uri="{FF2B5EF4-FFF2-40B4-BE49-F238E27FC236}">
                <a16:creationId xmlns:a16="http://schemas.microsoft.com/office/drawing/2014/main" id="{DF56E580-1290-318C-BD36-B2362A93B0C4}"/>
              </a:ext>
            </a:extLst>
          </p:cNvPr>
          <p:cNvGrpSpPr/>
          <p:nvPr/>
        </p:nvGrpSpPr>
        <p:grpSpPr>
          <a:xfrm>
            <a:off x="857313" y="-30737"/>
            <a:ext cx="4629752" cy="1015663"/>
            <a:chOff x="924025" y="1526961"/>
            <a:chExt cx="4629752" cy="1015663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D5D4C665-AB00-6F0D-8690-2AC08F80B56D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491E8895-8D87-60D8-22FD-455C3C28E703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>
                  <a:solidFill>
                    <a:schemeClr val="bg1"/>
                  </a:solidFill>
                  <a:latin typeface="Helvetica" pitchFamily="2" charset="0"/>
                </a:rPr>
                <a:t>Clase principal y método </a:t>
              </a:r>
              <a:r>
                <a:rPr lang="es-ES" err="1">
                  <a:solidFill>
                    <a:schemeClr val="bg1"/>
                  </a:solidFill>
                  <a:latin typeface="Helvetica" pitchFamily="2" charset="0"/>
                </a:rPr>
                <a:t>main</a:t>
              </a:r>
              <a:endParaRPr lang="en-US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E9C334B5-75A6-3041-CE41-302D8F68D508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>
                  <a:solidFill>
                    <a:schemeClr val="bg1"/>
                  </a:solidFill>
                  <a:latin typeface="Helvetica" pitchFamily="2" charset="0"/>
                </a:rPr>
                <a:t>7</a:t>
              </a:r>
              <a:endParaRPr lang="en-US" sz="6000" b="1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1812EA51-86E3-1AD4-6D26-51AAD43EA500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50449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BD8758-2137-F601-7BF6-4B695F18A6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Paquetes</a:t>
            </a:r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F3B3D14-A297-6FB1-4885-DA3F243C9DE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40</a:t>
            </a:fld>
            <a:endParaRPr lang="es-P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7615FE-9144-A8FD-AFE1-9FF88CC6B24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38200" y="1846263"/>
            <a:ext cx="10216081" cy="4373562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s-ES"/>
              <a:t>Un </a:t>
            </a:r>
            <a:r>
              <a:rPr lang="es-ES" b="1">
                <a:solidFill>
                  <a:schemeClr val="accent2"/>
                </a:solidFill>
              </a:rPr>
              <a:t>paquete</a:t>
            </a:r>
            <a:r>
              <a:rPr lang="es-ES"/>
              <a:t> es un </a:t>
            </a:r>
            <a:r>
              <a:rPr lang="es-ES" b="1">
                <a:solidFill>
                  <a:schemeClr val="accent2"/>
                </a:solidFill>
              </a:rPr>
              <a:t>contenedor</a:t>
            </a:r>
            <a:r>
              <a:rPr lang="es-ES"/>
              <a:t> de recursos.</a:t>
            </a:r>
          </a:p>
          <a:p>
            <a:pPr>
              <a:lnSpc>
                <a:spcPct val="110000"/>
              </a:lnSpc>
            </a:pPr>
            <a:r>
              <a:rPr lang="es-ES"/>
              <a:t>Utilizado para </a:t>
            </a:r>
            <a:r>
              <a:rPr lang="es-ES" b="1">
                <a:solidFill>
                  <a:schemeClr val="accent2"/>
                </a:solidFill>
              </a:rPr>
              <a:t>agrupar</a:t>
            </a:r>
            <a:r>
              <a:rPr lang="es-ES"/>
              <a:t> y </a:t>
            </a:r>
            <a:r>
              <a:rPr lang="es-ES" b="1">
                <a:solidFill>
                  <a:schemeClr val="accent2"/>
                </a:solidFill>
              </a:rPr>
              <a:t>organizar</a:t>
            </a:r>
            <a:r>
              <a:rPr lang="es-ES"/>
              <a:t> clases.</a:t>
            </a:r>
          </a:p>
          <a:p>
            <a:pPr>
              <a:lnSpc>
                <a:spcPct val="110000"/>
              </a:lnSpc>
            </a:pPr>
            <a:r>
              <a:rPr lang="es-ES"/>
              <a:t>Pueden contener sub paquetes.</a:t>
            </a:r>
          </a:p>
          <a:p>
            <a:pPr>
              <a:lnSpc>
                <a:spcPct val="110000"/>
              </a:lnSpc>
            </a:pPr>
            <a:r>
              <a:rPr lang="es-ES"/>
              <a:t>Convenciones:</a:t>
            </a:r>
          </a:p>
          <a:p>
            <a:pPr lvl="1">
              <a:lnSpc>
                <a:spcPct val="110000"/>
              </a:lnSpc>
            </a:pPr>
            <a:r>
              <a:rPr lang="es-ES"/>
              <a:t>Utilizar sólo minúsculas.</a:t>
            </a:r>
          </a:p>
          <a:p>
            <a:pPr lvl="1">
              <a:lnSpc>
                <a:spcPct val="110000"/>
              </a:lnSpc>
            </a:pPr>
            <a:r>
              <a:rPr lang="es-ES"/>
              <a:t>Nombrarlos utilizando una jerarquía DNS inversa.</a:t>
            </a:r>
          </a:p>
          <a:p>
            <a:pPr>
              <a:lnSpc>
                <a:spcPct val="110000"/>
              </a:lnSpc>
            </a:pPr>
            <a:r>
              <a:rPr lang="es-ES"/>
              <a:t>Todas las clases en Java están organizadas en paquetes.</a:t>
            </a:r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066FC0F-BAE4-8A6F-98AB-51EFA64E0F0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26056" b="52269"/>
          <a:stretch/>
        </p:blipFill>
        <p:spPr>
          <a:xfrm>
            <a:off x="8610600" y="1510561"/>
            <a:ext cx="3113504" cy="293739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7B2CAA13-E371-7A68-1997-7CB8F2C5A43B}"/>
              </a:ext>
            </a:extLst>
          </p:cNvPr>
          <p:cNvGrpSpPr/>
          <p:nvPr/>
        </p:nvGrpSpPr>
        <p:grpSpPr>
          <a:xfrm>
            <a:off x="857313" y="-30737"/>
            <a:ext cx="4629752" cy="1015663"/>
            <a:chOff x="924025" y="1526961"/>
            <a:chExt cx="4629752" cy="1015663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2EFE405F-4920-9C2E-3B63-398BB98FECC7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72FFA132-1A5C-9D30-5DA3-A2C2BA0DA31C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>
                  <a:solidFill>
                    <a:schemeClr val="bg1"/>
                  </a:solidFill>
                  <a:latin typeface="Helvetica" pitchFamily="2" charset="0"/>
                </a:rPr>
                <a:t>Clase principal y método </a:t>
              </a:r>
              <a:r>
                <a:rPr lang="es-ES" err="1">
                  <a:solidFill>
                    <a:schemeClr val="bg1"/>
                  </a:solidFill>
                  <a:latin typeface="Helvetica" pitchFamily="2" charset="0"/>
                </a:rPr>
                <a:t>main</a:t>
              </a:r>
              <a:endParaRPr lang="en-US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D7B2CD62-8325-2F1B-75DA-C84E96D12B56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>
                  <a:solidFill>
                    <a:schemeClr val="bg1"/>
                  </a:solidFill>
                  <a:latin typeface="Helvetica" pitchFamily="2" charset="0"/>
                </a:rPr>
                <a:t>7</a:t>
              </a:r>
              <a:endParaRPr lang="en-US" sz="6000" b="1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1DDEF8C-3E69-178E-6853-E54AAA1733FB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7694066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351345-6B44-4D76-F3FB-D09D927FE9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¿Qué es “</a:t>
            </a:r>
            <a:r>
              <a:rPr lang="es-ES" err="1"/>
              <a:t>public</a:t>
            </a:r>
            <a:r>
              <a:rPr lang="es-ES"/>
              <a:t> </a:t>
            </a:r>
            <a:r>
              <a:rPr lang="es-ES" err="1"/>
              <a:t>class</a:t>
            </a:r>
            <a:r>
              <a:rPr lang="es-ES"/>
              <a:t>”?</a:t>
            </a:r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C451D3A-1B75-A5FF-4E56-74163D216FF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41</a:t>
            </a:fld>
            <a:endParaRPr lang="es-P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C900AE8-7B0C-C4B0-F8BB-287BC14B5E38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s-ES"/>
              <a:t>Es la </a:t>
            </a:r>
            <a:r>
              <a:rPr lang="es-ES" b="1">
                <a:solidFill>
                  <a:schemeClr val="accent2"/>
                </a:solidFill>
              </a:rPr>
              <a:t>declaración</a:t>
            </a:r>
            <a:r>
              <a:rPr lang="es-ES"/>
              <a:t> de una </a:t>
            </a:r>
            <a:r>
              <a:rPr lang="es-ES" b="1">
                <a:solidFill>
                  <a:schemeClr val="accent2"/>
                </a:solidFill>
              </a:rPr>
              <a:t>clase</a:t>
            </a:r>
            <a:r>
              <a:rPr lang="es-ES"/>
              <a:t>.</a:t>
            </a:r>
          </a:p>
          <a:p>
            <a:r>
              <a:rPr lang="es-ES"/>
              <a:t>Cada programa Java tiene al menos </a:t>
            </a:r>
            <a:br>
              <a:rPr lang="es-ES"/>
            </a:br>
            <a:r>
              <a:rPr lang="es-ES"/>
              <a:t>una clase.</a:t>
            </a:r>
          </a:p>
          <a:p>
            <a:r>
              <a:rPr lang="es-ES"/>
              <a:t>El nombre de la clase no puede empezar con un dígito.</a:t>
            </a:r>
          </a:p>
          <a:p>
            <a:r>
              <a:rPr lang="es-ES"/>
              <a:t>Por convención, la primera letra del nombre de la clase va en mayúsculas.</a:t>
            </a:r>
          </a:p>
          <a:p>
            <a:r>
              <a:rPr lang="es-ES"/>
              <a:t>El código fuente de la clase está delimitado por llaves </a:t>
            </a:r>
            <a:r>
              <a:rPr lang="es-ES" b="1"/>
              <a:t>{…}</a:t>
            </a:r>
            <a:endParaRPr lang="en-US" b="1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C6CD093D-63B1-E322-8022-A80CE770B9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22393" y="1801051"/>
            <a:ext cx="3550770" cy="1374636"/>
          </a:xfrm>
          <a:prstGeom prst="roundRect">
            <a:avLst>
              <a:gd name="adj" fmla="val 6833"/>
            </a:avLst>
          </a:prstGeom>
          <a:solidFill>
            <a:srgbClr val="1E1F2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4400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public class 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Demo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{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000">
                <a:solidFill>
                  <a:srgbClr val="CED0D6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lang="en-US" altLang="en-US" sz="2000">
                <a:solidFill>
                  <a:schemeClr val="bg1">
                    <a:lumMod val="50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// </a:t>
            </a:r>
            <a:r>
              <a:rPr lang="en-US" altLang="en-US" sz="2000" err="1">
                <a:solidFill>
                  <a:schemeClr val="bg1">
                    <a:lumMod val="50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código</a:t>
            </a:r>
            <a:r>
              <a:rPr lang="en-US" altLang="en-US" sz="2000">
                <a:solidFill>
                  <a:schemeClr val="bg1">
                    <a:lumMod val="50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en-US" altLang="en-US" sz="2000" err="1">
                <a:solidFill>
                  <a:schemeClr val="bg1">
                    <a:lumMod val="50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fuente</a:t>
            </a:r>
            <a:b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}</a:t>
            </a:r>
            <a:endParaRPr kumimoji="0" lang="en-US" altLang="en-US" sz="4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62AE8DD4-33F2-9BBE-B997-3E152ECB8426}"/>
              </a:ext>
            </a:extLst>
          </p:cNvPr>
          <p:cNvGrpSpPr/>
          <p:nvPr/>
        </p:nvGrpSpPr>
        <p:grpSpPr>
          <a:xfrm>
            <a:off x="857313" y="-30737"/>
            <a:ext cx="4629752" cy="1015663"/>
            <a:chOff x="924025" y="1526961"/>
            <a:chExt cx="4629752" cy="1015663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37FA9642-6D56-73DF-EDB3-CCD1AD184E29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45A64004-7DD6-197F-6B54-553ACE288514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>
                  <a:solidFill>
                    <a:schemeClr val="bg1"/>
                  </a:solidFill>
                  <a:latin typeface="Helvetica" pitchFamily="2" charset="0"/>
                </a:rPr>
                <a:t>Clase principal y método </a:t>
              </a:r>
              <a:r>
                <a:rPr lang="es-ES" err="1">
                  <a:solidFill>
                    <a:schemeClr val="bg1"/>
                  </a:solidFill>
                  <a:latin typeface="Helvetica" pitchFamily="2" charset="0"/>
                </a:rPr>
                <a:t>main</a:t>
              </a:r>
              <a:endParaRPr lang="en-US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310FFE85-A171-9728-55CD-63A3224B290D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>
                  <a:solidFill>
                    <a:schemeClr val="bg1"/>
                  </a:solidFill>
                  <a:latin typeface="Helvetica" pitchFamily="2" charset="0"/>
                </a:rPr>
                <a:t>7</a:t>
              </a:r>
              <a:endParaRPr lang="en-US" sz="6000" b="1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1682C515-CFB4-766A-9E4C-F3A3E572DAAD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6986976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09D046-5B7B-1B49-51CE-955A24A2C3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Método </a:t>
            </a:r>
            <a:r>
              <a:rPr lang="es-ES" err="1"/>
              <a:t>main</a:t>
            </a:r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BB7FA8D-3B93-00C8-33DC-6A1BFD5B097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42</a:t>
            </a:fld>
            <a:endParaRPr lang="es-P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0B0D06-1ADD-EB97-7A4C-511C8799F5F8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s-ES"/>
              <a:t>Convierte a una clase en </a:t>
            </a:r>
            <a:r>
              <a:rPr lang="es-ES" b="1">
                <a:solidFill>
                  <a:schemeClr val="accent2"/>
                </a:solidFill>
              </a:rPr>
              <a:t>clase ejecutable</a:t>
            </a:r>
            <a:r>
              <a:rPr lang="es-ES"/>
              <a:t>.</a:t>
            </a:r>
          </a:p>
          <a:p>
            <a:r>
              <a:rPr lang="es-ES"/>
              <a:t>Es el </a:t>
            </a:r>
            <a:r>
              <a:rPr lang="es-ES" b="1">
                <a:solidFill>
                  <a:schemeClr val="accent2"/>
                </a:solidFill>
              </a:rPr>
              <a:t>punto de entrada</a:t>
            </a:r>
            <a:r>
              <a:rPr lang="es-ES"/>
              <a:t> de un programa Java.</a:t>
            </a:r>
            <a:endParaRPr lang="en-US"/>
          </a:p>
        </p:txBody>
      </p:sp>
      <p:sp>
        <p:nvSpPr>
          <p:cNvPr id="23" name="Rectangle 1">
            <a:extLst>
              <a:ext uri="{FF2B5EF4-FFF2-40B4-BE49-F238E27FC236}">
                <a16:creationId xmlns:a16="http://schemas.microsoft.com/office/drawing/2014/main" id="{38E1B6AD-2D26-13F1-1689-130440096A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5950" y="5096113"/>
            <a:ext cx="6913790" cy="1123712"/>
          </a:xfrm>
          <a:prstGeom prst="roundRect">
            <a:avLst/>
          </a:prstGeom>
          <a:solidFill>
            <a:srgbClr val="2B2B2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public static void </a:t>
            </a:r>
            <a:r>
              <a:rPr kumimoji="0" lang="en-US" altLang="en-US" sz="2000" i="0" u="none" strike="noStrike" cap="none" normalizeH="0" baseline="0">
                <a:ln>
                  <a:noFill/>
                </a:ln>
                <a:solidFill>
                  <a:srgbClr val="FFC66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main</a:t>
            </a:r>
            <a:r>
              <a:rPr kumimoji="0" lang="en-US" altLang="en-US" sz="200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(String[] </a:t>
            </a:r>
            <a:r>
              <a:rPr kumimoji="0" lang="en-US" altLang="en-US" sz="2000" i="0" u="none" strike="noStrike" cap="none" normalizeH="0" baseline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args</a:t>
            </a:r>
            <a:r>
              <a:rPr kumimoji="0" lang="en-US" altLang="en-US" sz="200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 { 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000">
                <a:solidFill>
                  <a:schemeClr val="bg1">
                    <a:lumMod val="50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// </a:t>
            </a:r>
            <a:r>
              <a:rPr lang="en-US" altLang="en-US" sz="2000" err="1">
                <a:solidFill>
                  <a:schemeClr val="bg1">
                    <a:lumMod val="50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sentencias</a:t>
            </a:r>
            <a:endParaRPr kumimoji="0" lang="en-US" altLang="en-US" sz="2000" i="0" u="none" strike="noStrike" cap="none" normalizeH="0" baseline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}</a:t>
            </a:r>
            <a:endParaRPr kumimoji="0" lang="en-US" altLang="en-US" sz="200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EE31009-91D0-9405-E096-F5D8CCB862FA}"/>
              </a:ext>
            </a:extLst>
          </p:cNvPr>
          <p:cNvSpPr txBox="1"/>
          <p:nvPr/>
        </p:nvSpPr>
        <p:spPr>
          <a:xfrm>
            <a:off x="8293220" y="4340906"/>
            <a:ext cx="261394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err="1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Recibe</a:t>
            </a:r>
            <a:r>
              <a:rPr lang="en-US" sz="160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 un </a:t>
            </a:r>
            <a:r>
              <a:rPr lang="en-US" sz="1600" err="1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arreglo</a:t>
            </a:r>
            <a:r>
              <a:rPr lang="en-US" sz="160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 de </a:t>
            </a:r>
            <a:r>
              <a:rPr lang="en-US" sz="1600" err="1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cadenas</a:t>
            </a:r>
            <a:r>
              <a:rPr lang="en-US" sz="160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 </a:t>
            </a:r>
            <a:r>
              <a:rPr lang="en-US" sz="1600" err="1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como</a:t>
            </a:r>
            <a:r>
              <a:rPr lang="en-US" sz="160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 </a:t>
            </a:r>
            <a:r>
              <a:rPr lang="en-US" sz="1600" err="1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argumento</a:t>
            </a:r>
            <a:endParaRPr lang="en-US" sz="1600">
              <a:solidFill>
                <a:schemeClr val="bg1">
                  <a:lumMod val="50000"/>
                </a:schemeClr>
              </a:solidFill>
              <a:latin typeface="Helvetica" pitchFamily="2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E8E403F-D166-F11D-BE0E-70B2A8526FD3}"/>
              </a:ext>
            </a:extLst>
          </p:cNvPr>
          <p:cNvSpPr txBox="1"/>
          <p:nvPr/>
        </p:nvSpPr>
        <p:spPr>
          <a:xfrm>
            <a:off x="2210843" y="3299263"/>
            <a:ext cx="588944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err="1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Accesible</a:t>
            </a:r>
            <a:r>
              <a:rPr lang="en-US" sz="160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 </a:t>
            </a:r>
            <a:r>
              <a:rPr lang="en-US" sz="1600" err="1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desde</a:t>
            </a:r>
            <a:r>
              <a:rPr lang="en-US" sz="160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 </a:t>
            </a:r>
            <a:r>
              <a:rPr lang="en-US" sz="1600" err="1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fuera</a:t>
            </a:r>
            <a:r>
              <a:rPr lang="en-US" sz="160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 del </a:t>
            </a:r>
            <a:r>
              <a:rPr lang="en-US" sz="1600" err="1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paquete</a:t>
            </a:r>
            <a:endParaRPr lang="en-US" sz="1600">
              <a:solidFill>
                <a:schemeClr val="bg1">
                  <a:lumMod val="50000"/>
                </a:schemeClr>
              </a:solidFill>
              <a:latin typeface="Helvetica" pitchFamily="2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6000EE8-0E51-A899-DF67-9BE53FE36963}"/>
              </a:ext>
            </a:extLst>
          </p:cNvPr>
          <p:cNvSpPr txBox="1"/>
          <p:nvPr/>
        </p:nvSpPr>
        <p:spPr>
          <a:xfrm>
            <a:off x="4380017" y="4278181"/>
            <a:ext cx="388554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El </a:t>
            </a:r>
            <a:r>
              <a:rPr lang="en-US" sz="1600" err="1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método</a:t>
            </a:r>
            <a:r>
              <a:rPr lang="en-US" sz="160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 no </a:t>
            </a:r>
            <a:r>
              <a:rPr lang="en-US" sz="1600" err="1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retorna</a:t>
            </a:r>
            <a:r>
              <a:rPr lang="en-US" sz="160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 un valor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3DA7FA9-042E-EE5F-9145-F9D9EF9F8EC1}"/>
              </a:ext>
            </a:extLst>
          </p:cNvPr>
          <p:cNvSpPr txBox="1"/>
          <p:nvPr/>
        </p:nvSpPr>
        <p:spPr>
          <a:xfrm>
            <a:off x="3271617" y="3818030"/>
            <a:ext cx="588944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err="1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Puede</a:t>
            </a:r>
            <a:r>
              <a:rPr lang="en-US" sz="160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 </a:t>
            </a:r>
            <a:r>
              <a:rPr lang="en-US" sz="1600" err="1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invocarse</a:t>
            </a:r>
            <a:r>
              <a:rPr lang="en-US" sz="160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 sin </a:t>
            </a:r>
            <a:r>
              <a:rPr lang="en-US" sz="1600" err="1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crear</a:t>
            </a:r>
            <a:r>
              <a:rPr lang="en-US" sz="160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 </a:t>
            </a:r>
            <a:r>
              <a:rPr lang="en-US" sz="1600" err="1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una</a:t>
            </a:r>
            <a:r>
              <a:rPr lang="en-US" sz="160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 </a:t>
            </a:r>
            <a:r>
              <a:rPr lang="en-US" sz="1600" err="1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instancia</a:t>
            </a:r>
            <a:r>
              <a:rPr lang="en-US" sz="160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 de </a:t>
            </a:r>
            <a:r>
              <a:rPr lang="en-US" sz="1600" err="1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clase</a:t>
            </a:r>
            <a:r>
              <a:rPr lang="en-US" sz="160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 (</a:t>
            </a:r>
            <a:r>
              <a:rPr lang="en-US" sz="1600" err="1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objeto</a:t>
            </a:r>
            <a:r>
              <a:rPr lang="en-US" sz="160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)</a:t>
            </a: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1E6CCD79-0BFA-B3DD-F6CB-DE457956074F}"/>
              </a:ext>
            </a:extLst>
          </p:cNvPr>
          <p:cNvCxnSpPr>
            <a:cxnSpLocks/>
          </p:cNvCxnSpPr>
          <p:nvPr/>
        </p:nvCxnSpPr>
        <p:spPr>
          <a:xfrm>
            <a:off x="2521528" y="3723129"/>
            <a:ext cx="157018" cy="1419164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2015E8D9-2E9A-EE50-EBB5-C6E5F41D9160}"/>
              </a:ext>
            </a:extLst>
          </p:cNvPr>
          <p:cNvCxnSpPr>
            <a:cxnSpLocks/>
          </p:cNvCxnSpPr>
          <p:nvPr/>
        </p:nvCxnSpPr>
        <p:spPr>
          <a:xfrm>
            <a:off x="3500582" y="4278181"/>
            <a:ext cx="110836" cy="864112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31A9DD98-61E4-2BF1-0984-1CFDE68072B1}"/>
              </a:ext>
            </a:extLst>
          </p:cNvPr>
          <p:cNvCxnSpPr>
            <a:cxnSpLocks/>
          </p:cNvCxnSpPr>
          <p:nvPr/>
        </p:nvCxnSpPr>
        <p:spPr>
          <a:xfrm>
            <a:off x="4587555" y="4666870"/>
            <a:ext cx="76809" cy="475423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BE25C5CB-A960-E4E8-5BED-6A1CF61D143B}"/>
              </a:ext>
            </a:extLst>
          </p:cNvPr>
          <p:cNvCxnSpPr>
            <a:cxnSpLocks/>
          </p:cNvCxnSpPr>
          <p:nvPr/>
        </p:nvCxnSpPr>
        <p:spPr>
          <a:xfrm flipH="1">
            <a:off x="7305964" y="4602516"/>
            <a:ext cx="943066" cy="539777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Group 4">
            <a:extLst>
              <a:ext uri="{FF2B5EF4-FFF2-40B4-BE49-F238E27FC236}">
                <a16:creationId xmlns:a16="http://schemas.microsoft.com/office/drawing/2014/main" id="{2FF81D0A-8AC6-7196-154D-A873C75D345E}"/>
              </a:ext>
            </a:extLst>
          </p:cNvPr>
          <p:cNvGrpSpPr/>
          <p:nvPr/>
        </p:nvGrpSpPr>
        <p:grpSpPr>
          <a:xfrm>
            <a:off x="857313" y="-30737"/>
            <a:ext cx="4629752" cy="1015663"/>
            <a:chOff x="924025" y="1526961"/>
            <a:chExt cx="4629752" cy="1015663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4BA03EC3-20DF-8705-EADF-D0CCCA4A3EEF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2F6016AD-213F-E422-5BB5-BDC147A4B85E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>
                  <a:solidFill>
                    <a:schemeClr val="bg1"/>
                  </a:solidFill>
                  <a:latin typeface="Helvetica" pitchFamily="2" charset="0"/>
                </a:rPr>
                <a:t>Clase principal y método </a:t>
              </a:r>
              <a:r>
                <a:rPr lang="es-ES" err="1">
                  <a:solidFill>
                    <a:schemeClr val="bg1"/>
                  </a:solidFill>
                  <a:latin typeface="Helvetica" pitchFamily="2" charset="0"/>
                </a:rPr>
                <a:t>main</a:t>
              </a:r>
              <a:endParaRPr lang="en-US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10F9C3B1-1DE1-C851-62DD-07B8575A82B2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>
                  <a:solidFill>
                    <a:schemeClr val="bg1"/>
                  </a:solidFill>
                  <a:latin typeface="Helvetica" pitchFamily="2" charset="0"/>
                </a:rPr>
                <a:t>7</a:t>
              </a:r>
              <a:endParaRPr lang="en-US" sz="6000" b="1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4F7E2715-E74E-263E-2E1A-673289F5269A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5726246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6C6B983-D187-5021-011D-340D9A64632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43</a:t>
            </a:fld>
            <a:endParaRPr lang="es-PE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4C62550A-9487-0FB4-AEF5-18BF59D1D1BB}"/>
              </a:ext>
            </a:extLst>
          </p:cNvPr>
          <p:cNvGrpSpPr/>
          <p:nvPr/>
        </p:nvGrpSpPr>
        <p:grpSpPr>
          <a:xfrm>
            <a:off x="1955128" y="1782509"/>
            <a:ext cx="4629752" cy="1015663"/>
            <a:chOff x="924025" y="1526961"/>
            <a:chExt cx="4629752" cy="1015663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9EE3C4A-25E0-0661-5719-DFD8A408196E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0E7D7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8F03E694-3539-B74F-A7F9-A90BF4FC7172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>
                  <a:solidFill>
                    <a:schemeClr val="bg1"/>
                  </a:solidFill>
                  <a:latin typeface="Helvetica" pitchFamily="2" charset="0"/>
                </a:rPr>
                <a:t>Compiladores e</a:t>
              </a:r>
            </a:p>
            <a:p>
              <a:r>
                <a:rPr lang="es-ES">
                  <a:solidFill>
                    <a:schemeClr val="bg1"/>
                  </a:solidFill>
                  <a:latin typeface="Helvetica" pitchFamily="2" charset="0"/>
                </a:rPr>
                <a:t>Intérpretes</a:t>
              </a:r>
              <a:endParaRPr lang="en-US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0BD6589-A9C6-D2FD-D50D-C5AAC8113E8A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>
                  <a:solidFill>
                    <a:schemeClr val="bg1"/>
                  </a:solidFill>
                  <a:latin typeface="Helvetica" pitchFamily="2" charset="0"/>
                </a:rPr>
                <a:t>2</a:t>
              </a:r>
              <a:endParaRPr lang="en-US" sz="6000" b="1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FE0265B7-9BAF-D770-6E56-5AE1A9C41973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5598A8C9-355C-B375-F419-53EB7FBA52CF}"/>
              </a:ext>
            </a:extLst>
          </p:cNvPr>
          <p:cNvGrpSpPr/>
          <p:nvPr/>
        </p:nvGrpSpPr>
        <p:grpSpPr>
          <a:xfrm>
            <a:off x="1955128" y="2672054"/>
            <a:ext cx="4629752" cy="1015663"/>
            <a:chOff x="924025" y="1526961"/>
            <a:chExt cx="4629752" cy="1015663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968C5937-AEC8-D4AC-1863-47EC6A0DD5D7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758F3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9B9DA0B8-3305-EA9B-D50C-133423FA16B6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>
                  <a:solidFill>
                    <a:schemeClr val="bg1"/>
                  </a:solidFill>
                  <a:latin typeface="Helvetica" pitchFamily="2" charset="0"/>
                </a:rPr>
                <a:t>Introducción al </a:t>
              </a:r>
              <a:br>
                <a:rPr lang="es-ES">
                  <a:solidFill>
                    <a:schemeClr val="bg1"/>
                  </a:solidFill>
                  <a:latin typeface="Helvetica" pitchFamily="2" charset="0"/>
                </a:rPr>
              </a:br>
              <a:r>
                <a:rPr lang="es-ES">
                  <a:solidFill>
                    <a:schemeClr val="bg1"/>
                  </a:solidFill>
                  <a:latin typeface="Helvetica" pitchFamily="2" charset="0"/>
                </a:rPr>
                <a:t>lenguaje Java</a:t>
              </a:r>
              <a:endParaRPr lang="en-US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E719D950-4EA4-CB17-5AF9-0E716D1D0C97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>
                  <a:solidFill>
                    <a:schemeClr val="bg1"/>
                  </a:solidFill>
                  <a:latin typeface="Helvetica" pitchFamily="2" charset="0"/>
                </a:rPr>
                <a:t>3</a:t>
              </a:r>
              <a:endParaRPr lang="en-US" sz="6000" b="1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5DB44CEB-5449-91C4-4D8C-947E50150B6A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B25B4B5B-713C-2D58-C773-D4CFF9997391}"/>
              </a:ext>
            </a:extLst>
          </p:cNvPr>
          <p:cNvGrpSpPr/>
          <p:nvPr/>
        </p:nvGrpSpPr>
        <p:grpSpPr>
          <a:xfrm>
            <a:off x="1955128" y="3561599"/>
            <a:ext cx="4629752" cy="1015663"/>
            <a:chOff x="924025" y="1526961"/>
            <a:chExt cx="4629752" cy="1015663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D5F2FB8B-07D6-48FB-E370-38EA16365289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BA750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728AFDEB-1E73-3FEA-2DFF-DBAF08C0A2B6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>
                  <a:solidFill>
                    <a:schemeClr val="bg1"/>
                  </a:solidFill>
                  <a:latin typeface="Helvetica" pitchFamily="2" charset="0"/>
                </a:rPr>
                <a:t>Entorno de desarrollo y ejecución Java</a:t>
              </a:r>
              <a:endParaRPr lang="en-US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302F77E9-2E11-217F-40EC-8E3C7703B3BB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>
                  <a:solidFill>
                    <a:schemeClr val="bg1"/>
                  </a:solidFill>
                  <a:latin typeface="Helvetica" pitchFamily="2" charset="0"/>
                </a:rPr>
                <a:t>4</a:t>
              </a:r>
              <a:endParaRPr lang="en-US" sz="6000" b="1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369D5F82-C60A-5B84-5E19-A1B153065B8D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20E7D35A-999B-BEC3-A1FE-83D4A699084C}"/>
              </a:ext>
            </a:extLst>
          </p:cNvPr>
          <p:cNvGrpSpPr/>
          <p:nvPr/>
        </p:nvGrpSpPr>
        <p:grpSpPr>
          <a:xfrm>
            <a:off x="1955128" y="4451144"/>
            <a:ext cx="4629752" cy="1015663"/>
            <a:chOff x="924025" y="1526961"/>
            <a:chExt cx="4629752" cy="1015663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EDE43D48-A8F8-0DF2-1001-D5FDD5FF2C6B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8F2A2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C2BEA270-D0DD-E83C-8505-88C9D29A50BF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>
                  <a:solidFill>
                    <a:schemeClr val="bg1"/>
                  </a:solidFill>
                  <a:latin typeface="Helvetica" pitchFamily="2" charset="0"/>
                </a:rPr>
                <a:t>Compilación y </a:t>
              </a:r>
              <a:br>
                <a:rPr lang="es-ES">
                  <a:solidFill>
                    <a:schemeClr val="bg1"/>
                  </a:solidFill>
                  <a:latin typeface="Helvetica" pitchFamily="2" charset="0"/>
                </a:rPr>
              </a:br>
              <a:r>
                <a:rPr lang="es-ES">
                  <a:solidFill>
                    <a:schemeClr val="bg1"/>
                  </a:solidFill>
                  <a:latin typeface="Helvetica" pitchFamily="2" charset="0"/>
                </a:rPr>
                <a:t>ejecución</a:t>
              </a:r>
              <a:endParaRPr lang="en-US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650D84CE-F32A-1F88-1274-CAA8D6234924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>
                  <a:solidFill>
                    <a:schemeClr val="bg1"/>
                  </a:solidFill>
                  <a:latin typeface="Helvetica" pitchFamily="2" charset="0"/>
                </a:rPr>
                <a:t>5</a:t>
              </a:r>
              <a:endParaRPr lang="en-US" sz="6000" b="1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81D92532-6B25-E809-E479-70119D6AA69E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1EA7DF23-1534-8674-0364-FDC45E5DD81C}"/>
              </a:ext>
            </a:extLst>
          </p:cNvPr>
          <p:cNvGrpSpPr/>
          <p:nvPr/>
        </p:nvGrpSpPr>
        <p:grpSpPr>
          <a:xfrm>
            <a:off x="1955128" y="5340687"/>
            <a:ext cx="4629752" cy="1015663"/>
            <a:chOff x="924025" y="1526961"/>
            <a:chExt cx="4629752" cy="1015663"/>
          </a:xfrm>
        </p:grpSpPr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A13A47C2-3050-70BF-03DC-CCA7B4126952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AD94C077-B4AA-B319-24D7-C5B1DE74BBDB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>
                  <a:solidFill>
                    <a:schemeClr val="bg1"/>
                  </a:solidFill>
                  <a:latin typeface="Helvetica" pitchFamily="2" charset="0"/>
                </a:rPr>
                <a:t>Código intermedio y </a:t>
              </a:r>
              <a:br>
                <a:rPr lang="es-ES">
                  <a:solidFill>
                    <a:schemeClr val="bg1"/>
                  </a:solidFill>
                  <a:latin typeface="Helvetica" pitchFamily="2" charset="0"/>
                </a:rPr>
              </a:br>
              <a:r>
                <a:rPr lang="es-ES">
                  <a:solidFill>
                    <a:schemeClr val="bg1"/>
                  </a:solidFill>
                  <a:latin typeface="Helvetica" pitchFamily="2" charset="0"/>
                </a:rPr>
                <a:t>JVM</a:t>
              </a:r>
              <a:endParaRPr lang="en-US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739B75E7-C4E8-816E-FBEB-C8DC5FFDC85F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>
                  <a:solidFill>
                    <a:schemeClr val="bg1"/>
                  </a:solidFill>
                  <a:latin typeface="Helvetica" pitchFamily="2" charset="0"/>
                </a:rPr>
                <a:t>6</a:t>
              </a:r>
              <a:endParaRPr lang="en-US" sz="6000" b="1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ECF212AE-2B6A-DF71-7FC5-AE34B93BB598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4BEE2914-3C25-D19B-57C0-F6E598922A1E}"/>
              </a:ext>
            </a:extLst>
          </p:cNvPr>
          <p:cNvGrpSpPr/>
          <p:nvPr/>
        </p:nvGrpSpPr>
        <p:grpSpPr>
          <a:xfrm>
            <a:off x="6724048" y="892964"/>
            <a:ext cx="4629752" cy="1015663"/>
            <a:chOff x="924025" y="1526961"/>
            <a:chExt cx="4629752" cy="1015663"/>
          </a:xfrm>
        </p:grpSpPr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069C6825-69EA-8D72-4345-309D24E6D675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39F07254-1903-E065-8A8C-CBBABBCAA893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>
                  <a:solidFill>
                    <a:schemeClr val="bg1"/>
                  </a:solidFill>
                  <a:latin typeface="Helvetica" pitchFamily="2" charset="0"/>
                </a:rPr>
                <a:t>Clase principal y método </a:t>
              </a:r>
              <a:r>
                <a:rPr lang="es-ES" err="1">
                  <a:solidFill>
                    <a:schemeClr val="bg1"/>
                  </a:solidFill>
                  <a:latin typeface="Helvetica" pitchFamily="2" charset="0"/>
                </a:rPr>
                <a:t>main</a:t>
              </a:r>
              <a:endParaRPr lang="en-US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40F6FA04-8D92-0B29-3784-F4044CE9F110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>
                  <a:solidFill>
                    <a:schemeClr val="bg1"/>
                  </a:solidFill>
                  <a:latin typeface="Helvetica" pitchFamily="2" charset="0"/>
                </a:rPr>
                <a:t>7</a:t>
              </a:r>
              <a:endParaRPr lang="en-US" sz="6000" b="1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959003DD-D67B-3D2D-7CDF-D9E1CE9AA9B3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6B32F08B-E599-8764-EE5E-B3C48CE274CF}"/>
              </a:ext>
            </a:extLst>
          </p:cNvPr>
          <p:cNvSpPr txBox="1"/>
          <p:nvPr/>
        </p:nvSpPr>
        <p:spPr>
          <a:xfrm rot="16200000">
            <a:off x="-1552306" y="2760043"/>
            <a:ext cx="5599610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8800" b="1">
                <a:solidFill>
                  <a:schemeClr val="bg1">
                    <a:lumMod val="85000"/>
                  </a:schemeClr>
                </a:solidFill>
                <a:latin typeface="Helvetica" pitchFamily="2" charset="0"/>
              </a:rPr>
              <a:t>contenido</a:t>
            </a:r>
            <a:endParaRPr lang="en-US" sz="8800" b="1">
              <a:solidFill>
                <a:schemeClr val="bg1">
                  <a:lumMod val="85000"/>
                </a:schemeClr>
              </a:solidFill>
              <a:latin typeface="Helvetica" pitchFamily="2" charset="0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6D8EC2C4-D534-A87E-5305-9BD92B9838D9}"/>
              </a:ext>
            </a:extLst>
          </p:cNvPr>
          <p:cNvGrpSpPr/>
          <p:nvPr/>
        </p:nvGrpSpPr>
        <p:grpSpPr>
          <a:xfrm>
            <a:off x="1955128" y="892964"/>
            <a:ext cx="4629752" cy="1015663"/>
            <a:chOff x="924025" y="1526961"/>
            <a:chExt cx="4629752" cy="1015663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AFE41E11-2903-D4AD-BABB-046EDBE4AABD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1B5E8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AFB12F7A-F286-0B30-D30E-E9A916CC839B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>
                  <a:solidFill>
                    <a:schemeClr val="bg1"/>
                  </a:solidFill>
                  <a:latin typeface="Helvetica" pitchFamily="2" charset="0"/>
                </a:rPr>
                <a:t>Introducción a los lenguajes de programación</a:t>
              </a:r>
              <a:endParaRPr lang="en-US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93EEA1CE-79B2-915B-2C77-2F1212A1BF67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>
                  <a:solidFill>
                    <a:schemeClr val="bg1"/>
                  </a:solidFill>
                  <a:latin typeface="Helvetica" pitchFamily="2" charset="0"/>
                </a:rPr>
                <a:t>1</a:t>
              </a:r>
              <a:endParaRPr lang="en-US" sz="6000" b="1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830C6426-CF18-244B-D9EC-4576E393467C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" name="Rectangle 3">
            <a:extLst>
              <a:ext uri="{FF2B5EF4-FFF2-40B4-BE49-F238E27FC236}">
                <a16:creationId xmlns:a16="http://schemas.microsoft.com/office/drawing/2014/main" id="{5F0AD512-DC53-811E-0839-3807ECBC949B}"/>
              </a:ext>
            </a:extLst>
          </p:cNvPr>
          <p:cNvSpPr/>
          <p:nvPr/>
        </p:nvSpPr>
        <p:spPr>
          <a:xfrm>
            <a:off x="1801640" y="683513"/>
            <a:ext cx="9678154" cy="5599610"/>
          </a:xfrm>
          <a:prstGeom prst="rect">
            <a:avLst/>
          </a:prstGeom>
          <a:solidFill>
            <a:schemeClr val="bg1">
              <a:alpha val="8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C0EBFC4B-97B9-EE23-54E6-35D0BD1A72B6}"/>
              </a:ext>
            </a:extLst>
          </p:cNvPr>
          <p:cNvGrpSpPr/>
          <p:nvPr/>
        </p:nvGrpSpPr>
        <p:grpSpPr>
          <a:xfrm>
            <a:off x="6724048" y="1782509"/>
            <a:ext cx="4629752" cy="1015663"/>
            <a:chOff x="924025" y="1526961"/>
            <a:chExt cx="4629752" cy="1015663"/>
          </a:xfrm>
        </p:grpSpPr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4FE8F910-E501-76FA-7ECF-5ADB916A9A3E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8F2A2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FE3C8125-0623-B6FF-9FE1-0715FE1439E0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rtlCol="0" anchor="t">
              <a:spAutoFit/>
            </a:bodyPr>
            <a:lstStyle/>
            <a:p>
              <a:r>
                <a:rPr lang="es-ES">
                  <a:solidFill>
                    <a:schemeClr val="bg1"/>
                  </a:solidFill>
                  <a:latin typeface="Helvetica"/>
                </a:rPr>
                <a:t>Práctica</a:t>
              </a:r>
              <a:endParaRPr lang="en-US"/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FB2CE88F-B9E6-8333-5227-9BC78AB02562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>
                  <a:solidFill>
                    <a:schemeClr val="bg1"/>
                  </a:solidFill>
                  <a:latin typeface="Helvetica" pitchFamily="2" charset="0"/>
                </a:rPr>
                <a:t>8</a:t>
              </a:r>
              <a:endParaRPr lang="en-US" sz="6000" b="1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0EA75671-C972-4E78-C608-76524A6F268E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1183522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211FA7E6-87D0-98C3-EA8D-B869B98CF280}"/>
              </a:ext>
            </a:extLst>
          </p:cNvPr>
          <p:cNvGrpSpPr/>
          <p:nvPr/>
        </p:nvGrpSpPr>
        <p:grpSpPr>
          <a:xfrm>
            <a:off x="878950" y="-38857"/>
            <a:ext cx="4629752" cy="1015663"/>
            <a:chOff x="924025" y="1526961"/>
            <a:chExt cx="4629752" cy="1015663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4C1F2C16-6331-CEBE-F186-F896B9ABCDBE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8F2A2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5D3DD17-1A07-0B82-056A-C3B1C7035B4C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rtlCol="0" anchor="t">
              <a:spAutoFit/>
            </a:bodyPr>
            <a:lstStyle/>
            <a:p>
              <a:r>
                <a:rPr lang="es-ES">
                  <a:solidFill>
                    <a:schemeClr val="bg1"/>
                  </a:solidFill>
                  <a:latin typeface="Helvetica"/>
                </a:rPr>
                <a:t>Práctica</a:t>
              </a:r>
              <a:endParaRPr lang="en-US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F74A10CC-BCCA-2D99-0760-5418505C5B5A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>
                  <a:solidFill>
                    <a:schemeClr val="bg1"/>
                  </a:solidFill>
                  <a:latin typeface="Helvetica" pitchFamily="2" charset="0"/>
                </a:rPr>
                <a:t>8</a:t>
              </a:r>
              <a:endParaRPr lang="en-US" sz="6000" b="1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261C844A-E183-6323-D5E5-01FA8F1DFDDA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0" name="Picture 9">
            <a:extLst>
              <a:ext uri="{FF2B5EF4-FFF2-40B4-BE49-F238E27FC236}">
                <a16:creationId xmlns:a16="http://schemas.microsoft.com/office/drawing/2014/main" id="{FF6F7B79-AF6D-3AF6-4281-8D5B2E0B789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7349" r="50758"/>
          <a:stretch/>
        </p:blipFill>
        <p:spPr>
          <a:xfrm>
            <a:off x="8303514" y="0"/>
            <a:ext cx="3888486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E9EFC21-FF26-4391-5D72-49D1C967FB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Cuestionario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3338E3B-0880-9677-9EFA-0DD1D1BD11D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44</a:t>
            </a:fld>
            <a:endParaRPr lang="es-P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AA9507-CCBF-0944-F977-CEA7149A5ED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38200" y="1846263"/>
            <a:ext cx="7299036" cy="4373562"/>
          </a:xfrm>
        </p:spPr>
        <p:txBody>
          <a:bodyPr>
            <a:normAutofit/>
          </a:bodyPr>
          <a:lstStyle/>
          <a:p>
            <a:pPr marL="50800" indent="0">
              <a:lnSpc>
                <a:spcPct val="120000"/>
              </a:lnSpc>
              <a:buNone/>
            </a:pPr>
            <a:r>
              <a:rPr lang="es-ES" dirty="0">
                <a:latin typeface="Helvetica"/>
              </a:rPr>
              <a:t>1. Conjunto de instrucciones en forma de secuencia de pasos con el objetivo de resolver un problema.</a:t>
            </a:r>
          </a:p>
          <a:p>
            <a:pPr marL="1022350" lvl="1" indent="-514350">
              <a:lnSpc>
                <a:spcPct val="120000"/>
              </a:lnSpc>
              <a:buFont typeface="+mj-lt"/>
              <a:buAutoNum type="alphaUcPeriod"/>
            </a:pPr>
            <a:r>
              <a:rPr lang="es-ES" dirty="0">
                <a:latin typeface="Helvetica"/>
              </a:rPr>
              <a:t>Guía.</a:t>
            </a:r>
          </a:p>
          <a:p>
            <a:pPr marL="1022350" lvl="1" indent="-514350">
              <a:lnSpc>
                <a:spcPct val="120000"/>
              </a:lnSpc>
              <a:buFont typeface="+mj-lt"/>
              <a:buAutoNum type="alphaUcPeriod"/>
            </a:pPr>
            <a:r>
              <a:rPr lang="es-ES" dirty="0">
                <a:latin typeface="Helvetica"/>
              </a:rPr>
              <a:t>Algoritmo.</a:t>
            </a:r>
          </a:p>
          <a:p>
            <a:pPr marL="1022350" lvl="1" indent="-514350">
              <a:lnSpc>
                <a:spcPct val="120000"/>
              </a:lnSpc>
              <a:buFont typeface="+mj-lt"/>
              <a:buAutoNum type="alphaUcPeriod"/>
            </a:pPr>
            <a:r>
              <a:rPr lang="es-ES" dirty="0">
                <a:latin typeface="Helvetica"/>
              </a:rPr>
              <a:t>Programación.</a:t>
            </a:r>
          </a:p>
          <a:p>
            <a:pPr marL="1022350" lvl="1" indent="-514350">
              <a:lnSpc>
                <a:spcPct val="120000"/>
              </a:lnSpc>
              <a:buFont typeface="+mj-lt"/>
              <a:buAutoNum type="alphaUcPeriod"/>
            </a:pPr>
            <a:r>
              <a:rPr lang="es-ES" dirty="0">
                <a:latin typeface="Helvetica"/>
              </a:rPr>
              <a:t>Seudocódigo.</a:t>
            </a:r>
          </a:p>
        </p:txBody>
      </p:sp>
    </p:spTree>
    <p:extLst>
      <p:ext uri="{BB962C8B-B14F-4D97-AF65-F5344CB8AC3E}">
        <p14:creationId xmlns:p14="http://schemas.microsoft.com/office/powerpoint/2010/main" val="17755412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211FA7E6-87D0-98C3-EA8D-B869B98CF280}"/>
              </a:ext>
            </a:extLst>
          </p:cNvPr>
          <p:cNvGrpSpPr/>
          <p:nvPr/>
        </p:nvGrpSpPr>
        <p:grpSpPr>
          <a:xfrm>
            <a:off x="878950" y="-38857"/>
            <a:ext cx="4629752" cy="1015663"/>
            <a:chOff x="924025" y="1526961"/>
            <a:chExt cx="4629752" cy="1015663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4C1F2C16-6331-CEBE-F186-F896B9ABCDBE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8F2A2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5D3DD17-1A07-0B82-056A-C3B1C7035B4C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rtlCol="0" anchor="t">
              <a:spAutoFit/>
            </a:bodyPr>
            <a:lstStyle/>
            <a:p>
              <a:r>
                <a:rPr lang="es-ES">
                  <a:solidFill>
                    <a:schemeClr val="bg1"/>
                  </a:solidFill>
                  <a:latin typeface="Helvetica"/>
                </a:rPr>
                <a:t>Práctica</a:t>
              </a:r>
              <a:endParaRPr lang="en-US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F74A10CC-BCCA-2D99-0760-5418505C5B5A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>
                  <a:solidFill>
                    <a:schemeClr val="bg1"/>
                  </a:solidFill>
                  <a:latin typeface="Helvetica" pitchFamily="2" charset="0"/>
                </a:rPr>
                <a:t>8</a:t>
              </a:r>
              <a:endParaRPr lang="en-US" sz="6000" b="1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261C844A-E183-6323-D5E5-01FA8F1DFDDA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0" name="Picture 9">
            <a:extLst>
              <a:ext uri="{FF2B5EF4-FFF2-40B4-BE49-F238E27FC236}">
                <a16:creationId xmlns:a16="http://schemas.microsoft.com/office/drawing/2014/main" id="{FF6F7B79-AF6D-3AF6-4281-8D5B2E0B789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7349" r="50758"/>
          <a:stretch/>
        </p:blipFill>
        <p:spPr>
          <a:xfrm>
            <a:off x="8303514" y="0"/>
            <a:ext cx="3888486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E9EFC21-FF26-4391-5D72-49D1C967FB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Cuestionario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3338E3B-0880-9677-9EFA-0DD1D1BD11D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45</a:t>
            </a:fld>
            <a:endParaRPr lang="es-P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AA9507-CCBF-0944-F977-CEA7149A5ED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38200" y="1846263"/>
            <a:ext cx="7299036" cy="4373562"/>
          </a:xfrm>
        </p:spPr>
        <p:txBody>
          <a:bodyPr>
            <a:normAutofit/>
          </a:bodyPr>
          <a:lstStyle/>
          <a:p>
            <a:pPr marL="50800" indent="0">
              <a:lnSpc>
                <a:spcPct val="120000"/>
              </a:lnSpc>
              <a:buNone/>
            </a:pPr>
            <a:r>
              <a:rPr lang="es-ES" dirty="0">
                <a:latin typeface="Helvetica"/>
              </a:rPr>
              <a:t>2. Conjunto de instrucciones que son interpretadas y ejecutadas por una computadora.</a:t>
            </a:r>
          </a:p>
          <a:p>
            <a:pPr marL="1022350" lvl="1" indent="-514350">
              <a:lnSpc>
                <a:spcPct val="120000"/>
              </a:lnSpc>
              <a:buFont typeface="+mj-lt"/>
              <a:buAutoNum type="alphaUcPeriod"/>
            </a:pPr>
            <a:r>
              <a:rPr lang="es-ES" dirty="0">
                <a:latin typeface="Helvetica"/>
              </a:rPr>
              <a:t>Algoritmo.</a:t>
            </a:r>
          </a:p>
          <a:p>
            <a:pPr marL="1022350" lvl="1" indent="-514350">
              <a:lnSpc>
                <a:spcPct val="120000"/>
              </a:lnSpc>
              <a:buFont typeface="+mj-lt"/>
              <a:buAutoNum type="alphaUcPeriod"/>
            </a:pPr>
            <a:r>
              <a:rPr lang="es-ES" dirty="0">
                <a:latin typeface="Helvetica"/>
              </a:rPr>
              <a:t>Compilador.</a:t>
            </a:r>
          </a:p>
          <a:p>
            <a:pPr marL="1022350" lvl="1" indent="-514350">
              <a:lnSpc>
                <a:spcPct val="120000"/>
              </a:lnSpc>
              <a:buFont typeface="+mj-lt"/>
              <a:buAutoNum type="alphaUcPeriod"/>
            </a:pPr>
            <a:r>
              <a:rPr lang="es-ES" dirty="0">
                <a:latin typeface="Helvetica"/>
              </a:rPr>
              <a:t>Ejecutable.</a:t>
            </a:r>
          </a:p>
          <a:p>
            <a:pPr marL="1022350" lvl="1" indent="-514350">
              <a:lnSpc>
                <a:spcPct val="120000"/>
              </a:lnSpc>
              <a:buFont typeface="+mj-lt"/>
              <a:buAutoNum type="alphaUcPeriod"/>
            </a:pPr>
            <a:r>
              <a:rPr lang="es-ES" dirty="0">
                <a:latin typeface="Helvetica"/>
              </a:rPr>
              <a:t>Programa.</a:t>
            </a:r>
          </a:p>
        </p:txBody>
      </p:sp>
    </p:spTree>
    <p:extLst>
      <p:ext uri="{BB962C8B-B14F-4D97-AF65-F5344CB8AC3E}">
        <p14:creationId xmlns:p14="http://schemas.microsoft.com/office/powerpoint/2010/main" val="1599461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211FA7E6-87D0-98C3-EA8D-B869B98CF280}"/>
              </a:ext>
            </a:extLst>
          </p:cNvPr>
          <p:cNvGrpSpPr/>
          <p:nvPr/>
        </p:nvGrpSpPr>
        <p:grpSpPr>
          <a:xfrm>
            <a:off x="878950" y="-38857"/>
            <a:ext cx="4629752" cy="1015663"/>
            <a:chOff x="924025" y="1526961"/>
            <a:chExt cx="4629752" cy="1015663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4C1F2C16-6331-CEBE-F186-F896B9ABCDBE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8F2A2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5D3DD17-1A07-0B82-056A-C3B1C7035B4C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rtlCol="0" anchor="t">
              <a:spAutoFit/>
            </a:bodyPr>
            <a:lstStyle/>
            <a:p>
              <a:r>
                <a:rPr lang="es-ES">
                  <a:solidFill>
                    <a:schemeClr val="bg1"/>
                  </a:solidFill>
                  <a:latin typeface="Helvetica"/>
                </a:rPr>
                <a:t>Práctica</a:t>
              </a:r>
              <a:endParaRPr lang="en-US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F74A10CC-BCCA-2D99-0760-5418505C5B5A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>
                  <a:solidFill>
                    <a:schemeClr val="bg1"/>
                  </a:solidFill>
                  <a:latin typeface="Helvetica" pitchFamily="2" charset="0"/>
                </a:rPr>
                <a:t>8</a:t>
              </a:r>
              <a:endParaRPr lang="en-US" sz="6000" b="1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261C844A-E183-6323-D5E5-01FA8F1DFDDA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0" name="Picture 9">
            <a:extLst>
              <a:ext uri="{FF2B5EF4-FFF2-40B4-BE49-F238E27FC236}">
                <a16:creationId xmlns:a16="http://schemas.microsoft.com/office/drawing/2014/main" id="{FF6F7B79-AF6D-3AF6-4281-8D5B2E0B789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7349" r="50758"/>
          <a:stretch/>
        </p:blipFill>
        <p:spPr>
          <a:xfrm>
            <a:off x="8303514" y="0"/>
            <a:ext cx="3888486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E9EFC21-FF26-4391-5D72-49D1C967FB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Cuestionario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3338E3B-0880-9677-9EFA-0DD1D1BD11D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46</a:t>
            </a:fld>
            <a:endParaRPr lang="es-P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AA9507-CCBF-0944-F977-CEA7149A5ED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38200" y="1846263"/>
            <a:ext cx="7299036" cy="4373562"/>
          </a:xfrm>
        </p:spPr>
        <p:txBody>
          <a:bodyPr>
            <a:normAutofit/>
          </a:bodyPr>
          <a:lstStyle/>
          <a:p>
            <a:pPr marL="50800" indent="0">
              <a:lnSpc>
                <a:spcPct val="120000"/>
              </a:lnSpc>
              <a:buNone/>
            </a:pPr>
            <a:r>
              <a:rPr lang="es-ES" dirty="0">
                <a:latin typeface="Helvetica"/>
              </a:rPr>
              <a:t>3. Un _______________ escribe _______________ usando un __________________ para crear un _________________.</a:t>
            </a:r>
          </a:p>
        </p:txBody>
      </p:sp>
    </p:spTree>
    <p:extLst>
      <p:ext uri="{BB962C8B-B14F-4D97-AF65-F5344CB8AC3E}">
        <p14:creationId xmlns:p14="http://schemas.microsoft.com/office/powerpoint/2010/main" val="18191756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211FA7E6-87D0-98C3-EA8D-B869B98CF280}"/>
              </a:ext>
            </a:extLst>
          </p:cNvPr>
          <p:cNvGrpSpPr/>
          <p:nvPr/>
        </p:nvGrpSpPr>
        <p:grpSpPr>
          <a:xfrm>
            <a:off x="878950" y="-38857"/>
            <a:ext cx="4629752" cy="1015663"/>
            <a:chOff x="924025" y="1526961"/>
            <a:chExt cx="4629752" cy="1015663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4C1F2C16-6331-CEBE-F186-F896B9ABCDBE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8F2A2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5D3DD17-1A07-0B82-056A-C3B1C7035B4C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rtlCol="0" anchor="t">
              <a:spAutoFit/>
            </a:bodyPr>
            <a:lstStyle/>
            <a:p>
              <a:r>
                <a:rPr lang="es-ES">
                  <a:solidFill>
                    <a:schemeClr val="bg1"/>
                  </a:solidFill>
                  <a:latin typeface="Helvetica"/>
                </a:rPr>
                <a:t>Práctica</a:t>
              </a:r>
              <a:endParaRPr lang="en-US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F74A10CC-BCCA-2D99-0760-5418505C5B5A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>
                  <a:solidFill>
                    <a:schemeClr val="bg1"/>
                  </a:solidFill>
                  <a:latin typeface="Helvetica" pitchFamily="2" charset="0"/>
                </a:rPr>
                <a:t>8</a:t>
              </a:r>
              <a:endParaRPr lang="en-US" sz="6000" b="1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261C844A-E183-6323-D5E5-01FA8F1DFDDA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0" name="Picture 9">
            <a:extLst>
              <a:ext uri="{FF2B5EF4-FFF2-40B4-BE49-F238E27FC236}">
                <a16:creationId xmlns:a16="http://schemas.microsoft.com/office/drawing/2014/main" id="{FF6F7B79-AF6D-3AF6-4281-8D5B2E0B789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7349" r="50758"/>
          <a:stretch/>
        </p:blipFill>
        <p:spPr>
          <a:xfrm>
            <a:off x="8303514" y="0"/>
            <a:ext cx="3888486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E9EFC21-FF26-4391-5D72-49D1C967FB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Cuestionario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3338E3B-0880-9677-9EFA-0DD1D1BD11D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47</a:t>
            </a:fld>
            <a:endParaRPr lang="es-P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AA9507-CCBF-0944-F977-CEA7149A5ED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38200" y="1846263"/>
            <a:ext cx="7299036" cy="4373562"/>
          </a:xfrm>
        </p:spPr>
        <p:txBody>
          <a:bodyPr>
            <a:normAutofit/>
          </a:bodyPr>
          <a:lstStyle/>
          <a:p>
            <a:pPr marL="50800" indent="0">
              <a:lnSpc>
                <a:spcPct val="120000"/>
              </a:lnSpc>
              <a:buNone/>
            </a:pPr>
            <a:r>
              <a:rPr lang="es-ES" dirty="0">
                <a:latin typeface="Helvetica"/>
              </a:rPr>
              <a:t>4. Traduce el código fuente a lenguaje máquina línea por línea.</a:t>
            </a:r>
          </a:p>
          <a:p>
            <a:pPr marL="1022350" lvl="1" indent="-514350">
              <a:lnSpc>
                <a:spcPct val="120000"/>
              </a:lnSpc>
              <a:buFont typeface="+mj-lt"/>
              <a:buAutoNum type="alphaUcPeriod"/>
            </a:pPr>
            <a:r>
              <a:rPr lang="es-ES" dirty="0">
                <a:latin typeface="Helvetica"/>
              </a:rPr>
              <a:t>Intérprete.</a:t>
            </a:r>
          </a:p>
          <a:p>
            <a:pPr marL="1022350" lvl="1" indent="-514350">
              <a:lnSpc>
                <a:spcPct val="120000"/>
              </a:lnSpc>
              <a:buFont typeface="+mj-lt"/>
              <a:buAutoNum type="alphaUcPeriod"/>
            </a:pPr>
            <a:r>
              <a:rPr lang="es-ES" dirty="0">
                <a:latin typeface="Helvetica"/>
              </a:rPr>
              <a:t>Compilador.</a:t>
            </a:r>
          </a:p>
          <a:p>
            <a:pPr marL="1022350" lvl="1" indent="-514350">
              <a:lnSpc>
                <a:spcPct val="120000"/>
              </a:lnSpc>
              <a:buFont typeface="+mj-lt"/>
              <a:buAutoNum type="alphaUcPeriod"/>
            </a:pPr>
            <a:r>
              <a:rPr lang="es-ES" dirty="0">
                <a:latin typeface="Helvetica"/>
              </a:rPr>
              <a:t>IDE.</a:t>
            </a:r>
          </a:p>
          <a:p>
            <a:pPr marL="1022350" lvl="1" indent="-514350">
              <a:lnSpc>
                <a:spcPct val="120000"/>
              </a:lnSpc>
              <a:buFont typeface="+mj-lt"/>
              <a:buAutoNum type="alphaUcPeriod"/>
            </a:pPr>
            <a:r>
              <a:rPr lang="es-ES" dirty="0">
                <a:latin typeface="Helvetica"/>
              </a:rPr>
              <a:t>Programador.</a:t>
            </a:r>
          </a:p>
        </p:txBody>
      </p:sp>
    </p:spTree>
    <p:extLst>
      <p:ext uri="{BB962C8B-B14F-4D97-AF65-F5344CB8AC3E}">
        <p14:creationId xmlns:p14="http://schemas.microsoft.com/office/powerpoint/2010/main" val="34204310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211FA7E6-87D0-98C3-EA8D-B869B98CF280}"/>
              </a:ext>
            </a:extLst>
          </p:cNvPr>
          <p:cNvGrpSpPr/>
          <p:nvPr/>
        </p:nvGrpSpPr>
        <p:grpSpPr>
          <a:xfrm>
            <a:off x="878950" y="-38857"/>
            <a:ext cx="4629752" cy="1015663"/>
            <a:chOff x="924025" y="1526961"/>
            <a:chExt cx="4629752" cy="1015663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4C1F2C16-6331-CEBE-F186-F896B9ABCDBE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8F2A2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5D3DD17-1A07-0B82-056A-C3B1C7035B4C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rtlCol="0" anchor="t">
              <a:spAutoFit/>
            </a:bodyPr>
            <a:lstStyle/>
            <a:p>
              <a:r>
                <a:rPr lang="es-ES">
                  <a:solidFill>
                    <a:schemeClr val="bg1"/>
                  </a:solidFill>
                  <a:latin typeface="Helvetica"/>
                </a:rPr>
                <a:t>Práctica</a:t>
              </a:r>
              <a:endParaRPr lang="en-US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F74A10CC-BCCA-2D99-0760-5418505C5B5A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>
                  <a:solidFill>
                    <a:schemeClr val="bg1"/>
                  </a:solidFill>
                  <a:latin typeface="Helvetica" pitchFamily="2" charset="0"/>
                </a:rPr>
                <a:t>8</a:t>
              </a:r>
              <a:endParaRPr lang="en-US" sz="6000" b="1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261C844A-E183-6323-D5E5-01FA8F1DFDDA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0" name="Picture 9">
            <a:extLst>
              <a:ext uri="{FF2B5EF4-FFF2-40B4-BE49-F238E27FC236}">
                <a16:creationId xmlns:a16="http://schemas.microsoft.com/office/drawing/2014/main" id="{FF6F7B79-AF6D-3AF6-4281-8D5B2E0B789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7349" r="50758"/>
          <a:stretch/>
        </p:blipFill>
        <p:spPr>
          <a:xfrm>
            <a:off x="8303514" y="0"/>
            <a:ext cx="3888486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E9EFC21-FF26-4391-5D72-49D1C967FB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Cuestionario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3338E3B-0880-9677-9EFA-0DD1D1BD11D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48</a:t>
            </a:fld>
            <a:endParaRPr lang="es-P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AA9507-CCBF-0944-F977-CEA7149A5ED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38200" y="1846263"/>
            <a:ext cx="7299036" cy="4373562"/>
          </a:xfrm>
        </p:spPr>
        <p:txBody>
          <a:bodyPr>
            <a:normAutofit/>
          </a:bodyPr>
          <a:lstStyle/>
          <a:p>
            <a:pPr marL="50800" indent="0">
              <a:lnSpc>
                <a:spcPct val="120000"/>
              </a:lnSpc>
              <a:buNone/>
            </a:pPr>
            <a:r>
              <a:rPr lang="es-ES" dirty="0">
                <a:latin typeface="Helvetica"/>
              </a:rPr>
              <a:t>5. ____________ lideró un proyecto con el objetivo de escribir programas ______________. Como resultado se creó el ____________________.</a:t>
            </a:r>
          </a:p>
        </p:txBody>
      </p:sp>
    </p:spTree>
    <p:extLst>
      <p:ext uri="{BB962C8B-B14F-4D97-AF65-F5344CB8AC3E}">
        <p14:creationId xmlns:p14="http://schemas.microsoft.com/office/powerpoint/2010/main" val="21317530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211FA7E6-87D0-98C3-EA8D-B869B98CF280}"/>
              </a:ext>
            </a:extLst>
          </p:cNvPr>
          <p:cNvGrpSpPr/>
          <p:nvPr/>
        </p:nvGrpSpPr>
        <p:grpSpPr>
          <a:xfrm>
            <a:off x="878950" y="-38857"/>
            <a:ext cx="4629752" cy="1015663"/>
            <a:chOff x="924025" y="1526961"/>
            <a:chExt cx="4629752" cy="1015663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4C1F2C16-6331-CEBE-F186-F896B9ABCDBE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8F2A2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5D3DD17-1A07-0B82-056A-C3B1C7035B4C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rtlCol="0" anchor="t">
              <a:spAutoFit/>
            </a:bodyPr>
            <a:lstStyle/>
            <a:p>
              <a:r>
                <a:rPr lang="es-ES">
                  <a:solidFill>
                    <a:schemeClr val="bg1"/>
                  </a:solidFill>
                  <a:latin typeface="Helvetica"/>
                </a:rPr>
                <a:t>Práctica</a:t>
              </a:r>
              <a:endParaRPr lang="en-US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F74A10CC-BCCA-2D99-0760-5418505C5B5A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>
                  <a:solidFill>
                    <a:schemeClr val="bg1"/>
                  </a:solidFill>
                  <a:latin typeface="Helvetica" pitchFamily="2" charset="0"/>
                </a:rPr>
                <a:t>8</a:t>
              </a:r>
              <a:endParaRPr lang="en-US" sz="6000" b="1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261C844A-E183-6323-D5E5-01FA8F1DFDDA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0" name="Picture 9">
            <a:extLst>
              <a:ext uri="{FF2B5EF4-FFF2-40B4-BE49-F238E27FC236}">
                <a16:creationId xmlns:a16="http://schemas.microsoft.com/office/drawing/2014/main" id="{FF6F7B79-AF6D-3AF6-4281-8D5B2E0B789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7349" r="50758"/>
          <a:stretch/>
        </p:blipFill>
        <p:spPr>
          <a:xfrm>
            <a:off x="8303514" y="0"/>
            <a:ext cx="3888486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E9EFC21-FF26-4391-5D72-49D1C967FB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Cuestionario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3338E3B-0880-9677-9EFA-0DD1D1BD11D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49</a:t>
            </a:fld>
            <a:endParaRPr lang="es-P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AA9507-CCBF-0944-F977-CEA7149A5ED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38200" y="1846263"/>
            <a:ext cx="7299036" cy="4373562"/>
          </a:xfrm>
        </p:spPr>
        <p:txBody>
          <a:bodyPr>
            <a:normAutofit/>
          </a:bodyPr>
          <a:lstStyle/>
          <a:p>
            <a:pPr marL="50800" indent="0">
              <a:lnSpc>
                <a:spcPct val="120000"/>
              </a:lnSpc>
              <a:buNone/>
            </a:pPr>
            <a:r>
              <a:rPr lang="es-ES" dirty="0">
                <a:latin typeface="Helvetica"/>
              </a:rPr>
              <a:t>6. Programa que provee herramientas y utilidades para escribir programas en un entorno sencillo y amigable.</a:t>
            </a:r>
          </a:p>
          <a:p>
            <a:pPr marL="1022350" lvl="1" indent="-514350">
              <a:lnSpc>
                <a:spcPct val="120000"/>
              </a:lnSpc>
              <a:buFont typeface="+mj-lt"/>
              <a:buAutoNum type="alphaUcPeriod"/>
            </a:pPr>
            <a:r>
              <a:rPr lang="es-ES" dirty="0">
                <a:latin typeface="Helvetica"/>
              </a:rPr>
              <a:t>JVM.</a:t>
            </a:r>
          </a:p>
          <a:p>
            <a:pPr marL="1022350" lvl="1" indent="-514350">
              <a:lnSpc>
                <a:spcPct val="120000"/>
              </a:lnSpc>
              <a:buFont typeface="+mj-lt"/>
              <a:buAutoNum type="alphaUcPeriod"/>
            </a:pPr>
            <a:r>
              <a:rPr lang="es-ES" dirty="0">
                <a:latin typeface="Helvetica"/>
              </a:rPr>
              <a:t>IDE.</a:t>
            </a:r>
          </a:p>
          <a:p>
            <a:pPr marL="1022350" lvl="1" indent="-514350">
              <a:lnSpc>
                <a:spcPct val="120000"/>
              </a:lnSpc>
              <a:buFont typeface="+mj-lt"/>
              <a:buAutoNum type="alphaUcPeriod"/>
            </a:pPr>
            <a:r>
              <a:rPr lang="es-ES" dirty="0">
                <a:latin typeface="Helvetica"/>
              </a:rPr>
              <a:t>JDK.</a:t>
            </a:r>
          </a:p>
          <a:p>
            <a:pPr marL="1022350" lvl="1" indent="-514350">
              <a:lnSpc>
                <a:spcPct val="120000"/>
              </a:lnSpc>
              <a:buFont typeface="+mj-lt"/>
              <a:buAutoNum type="alphaUcPeriod"/>
            </a:pPr>
            <a:r>
              <a:rPr lang="es-ES" dirty="0">
                <a:latin typeface="Helvetica"/>
              </a:rPr>
              <a:t>Java SE.</a:t>
            </a:r>
          </a:p>
        </p:txBody>
      </p:sp>
    </p:spTree>
    <p:extLst>
      <p:ext uri="{BB962C8B-B14F-4D97-AF65-F5344CB8AC3E}">
        <p14:creationId xmlns:p14="http://schemas.microsoft.com/office/powerpoint/2010/main" val="41778577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211FA7E6-87D0-98C3-EA8D-B869B98CF280}"/>
              </a:ext>
            </a:extLst>
          </p:cNvPr>
          <p:cNvGrpSpPr/>
          <p:nvPr/>
        </p:nvGrpSpPr>
        <p:grpSpPr>
          <a:xfrm>
            <a:off x="878950" y="-38857"/>
            <a:ext cx="4629752" cy="1015663"/>
            <a:chOff x="924025" y="1526961"/>
            <a:chExt cx="4629752" cy="1015663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4C1F2C16-6331-CEBE-F186-F896B9ABCDBE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8F2A2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5D3DD17-1A07-0B82-056A-C3B1C7035B4C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rtlCol="0" anchor="t">
              <a:spAutoFit/>
            </a:bodyPr>
            <a:lstStyle/>
            <a:p>
              <a:r>
                <a:rPr lang="es-ES">
                  <a:solidFill>
                    <a:schemeClr val="bg1"/>
                  </a:solidFill>
                  <a:latin typeface="Helvetica"/>
                </a:rPr>
                <a:t>Práctica</a:t>
              </a:r>
              <a:endParaRPr lang="en-US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F74A10CC-BCCA-2D99-0760-5418505C5B5A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>
                  <a:solidFill>
                    <a:schemeClr val="bg1"/>
                  </a:solidFill>
                  <a:latin typeface="Helvetica" pitchFamily="2" charset="0"/>
                </a:rPr>
                <a:t>8</a:t>
              </a:r>
              <a:endParaRPr lang="en-US" sz="6000" b="1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261C844A-E183-6323-D5E5-01FA8F1DFDDA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E9EFC21-FF26-4391-5D72-49D1C967FB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Completa el esquema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3338E3B-0880-9677-9EFA-0DD1D1BD11D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50</a:t>
            </a:fld>
            <a:endParaRPr lang="es-PE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AC8AAD8D-DD41-7CC3-D153-AD6FF870B82B}"/>
              </a:ext>
            </a:extLst>
          </p:cNvPr>
          <p:cNvGrpSpPr/>
          <p:nvPr/>
        </p:nvGrpSpPr>
        <p:grpSpPr>
          <a:xfrm>
            <a:off x="2007971" y="2258597"/>
            <a:ext cx="8176057" cy="4313784"/>
            <a:chOff x="1023041" y="1548143"/>
            <a:chExt cx="9795633" cy="5168291"/>
          </a:xfrm>
        </p:grpSpPr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A4966CBD-A32C-EB23-FCC8-1AC791E099F9}"/>
                </a:ext>
              </a:extLst>
            </p:cNvPr>
            <p:cNvSpPr/>
            <p:nvPr/>
          </p:nvSpPr>
          <p:spPr>
            <a:xfrm>
              <a:off x="1023042" y="4266105"/>
              <a:ext cx="9795632" cy="2450329"/>
            </a:xfrm>
            <a:prstGeom prst="roundRect">
              <a:avLst>
                <a:gd name="adj" fmla="val 5161"/>
              </a:avLst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>
                  <a:lumMod val="60000"/>
                  <a:lumOff val="40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3D949EA7-29EA-9543-F3C7-42879502C071}"/>
                </a:ext>
              </a:extLst>
            </p:cNvPr>
            <p:cNvSpPr txBox="1"/>
            <p:nvPr/>
          </p:nvSpPr>
          <p:spPr>
            <a:xfrm>
              <a:off x="1317213" y="5111497"/>
              <a:ext cx="1402350" cy="88498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accent2">
                      <a:lumMod val="75000"/>
                    </a:schemeClr>
                  </a:solidFill>
                  <a:latin typeface="Helvetica" pitchFamily="2" charset="0"/>
                </a:rPr>
                <a:t>Fase 3. ____________________</a:t>
              </a:r>
              <a:endParaRPr lang="en-US" dirty="0">
                <a:solidFill>
                  <a:schemeClr val="accent2">
                    <a:lumMod val="75000"/>
                  </a:schemeClr>
                </a:solidFill>
                <a:latin typeface="Helvetica" pitchFamily="2" charset="0"/>
              </a:endParaRPr>
            </a:p>
          </p:txBody>
        </p:sp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332D4D69-7C81-D3E3-1B4E-F1DC53078106}"/>
                </a:ext>
              </a:extLst>
            </p:cNvPr>
            <p:cNvSpPr/>
            <p:nvPr/>
          </p:nvSpPr>
          <p:spPr>
            <a:xfrm>
              <a:off x="6174743" y="1548143"/>
              <a:ext cx="4643930" cy="2450329"/>
            </a:xfrm>
            <a:prstGeom prst="roundRect">
              <a:avLst>
                <a:gd name="adj" fmla="val 5161"/>
              </a:avLst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78D15403-2A6D-EBE4-0CBB-B32DB4F29AB5}"/>
                </a:ext>
              </a:extLst>
            </p:cNvPr>
            <p:cNvSpPr txBox="1"/>
            <p:nvPr/>
          </p:nvSpPr>
          <p:spPr>
            <a:xfrm>
              <a:off x="7446425" y="1639286"/>
              <a:ext cx="2213230" cy="3687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dirty="0">
                  <a:solidFill>
                    <a:schemeClr val="accent6"/>
                  </a:solidFill>
                  <a:latin typeface="Helvetica" pitchFamily="2" charset="0"/>
                </a:rPr>
                <a:t>Fase 2. __________</a:t>
              </a:r>
              <a:endParaRPr lang="en-US" dirty="0">
                <a:solidFill>
                  <a:schemeClr val="accent6"/>
                </a:solidFill>
                <a:latin typeface="Helvetica" pitchFamily="2" charset="0"/>
              </a:endParaRPr>
            </a:p>
          </p:txBody>
        </p:sp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42776204-F9BA-6A77-7C53-C673A148FA47}"/>
                </a:ext>
              </a:extLst>
            </p:cNvPr>
            <p:cNvSpPr/>
            <p:nvPr/>
          </p:nvSpPr>
          <p:spPr>
            <a:xfrm>
              <a:off x="1023041" y="1548143"/>
              <a:ext cx="4643930" cy="2450329"/>
            </a:xfrm>
            <a:prstGeom prst="roundRect">
              <a:avLst>
                <a:gd name="adj" fmla="val 5161"/>
              </a:avLst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accent4">
                  <a:lumMod val="60000"/>
                  <a:lumOff val="40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ED0AF51C-395C-5506-A315-0C0539AE8D03}"/>
                </a:ext>
              </a:extLst>
            </p:cNvPr>
            <p:cNvGrpSpPr/>
            <p:nvPr/>
          </p:nvGrpSpPr>
          <p:grpSpPr>
            <a:xfrm>
              <a:off x="6466218" y="1836269"/>
              <a:ext cx="1424241" cy="1406888"/>
              <a:chOff x="5094923" y="1878695"/>
              <a:chExt cx="1424241" cy="1406888"/>
            </a:xfrm>
          </p:grpSpPr>
          <p:sp>
            <p:nvSpPr>
              <p:cNvPr id="62" name="Oval 61">
                <a:extLst>
                  <a:ext uri="{FF2B5EF4-FFF2-40B4-BE49-F238E27FC236}">
                    <a16:creationId xmlns:a16="http://schemas.microsoft.com/office/drawing/2014/main" id="{8EFF9320-9496-1C0C-8399-8D37CC8613E5}"/>
                  </a:ext>
                </a:extLst>
              </p:cNvPr>
              <p:cNvSpPr/>
              <p:nvPr/>
            </p:nvSpPr>
            <p:spPr>
              <a:xfrm>
                <a:off x="5213287" y="1997060"/>
                <a:ext cx="1187513" cy="1170160"/>
              </a:xfrm>
              <a:prstGeom prst="ellipse">
                <a:avLst/>
              </a:prstGeom>
              <a:solidFill>
                <a:srgbClr val="00B0F0"/>
              </a:solidFill>
              <a:ln w="381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3" name="Arrow: Chevron 62">
                <a:extLst>
                  <a:ext uri="{FF2B5EF4-FFF2-40B4-BE49-F238E27FC236}">
                    <a16:creationId xmlns:a16="http://schemas.microsoft.com/office/drawing/2014/main" id="{D288A230-20E4-FD54-724F-DF746B845B49}"/>
                  </a:ext>
                </a:extLst>
              </p:cNvPr>
              <p:cNvSpPr/>
              <p:nvPr/>
            </p:nvSpPr>
            <p:spPr>
              <a:xfrm>
                <a:off x="5748195" y="1878695"/>
                <a:ext cx="117695" cy="236728"/>
              </a:xfrm>
              <a:prstGeom prst="chevron">
                <a:avLst>
                  <a:gd name="adj" fmla="val 77907"/>
                </a:avLst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64" name="Arrow: Chevron 63">
                <a:extLst>
                  <a:ext uri="{FF2B5EF4-FFF2-40B4-BE49-F238E27FC236}">
                    <a16:creationId xmlns:a16="http://schemas.microsoft.com/office/drawing/2014/main" id="{1EFCFE41-2B66-FF48-9DE9-A6793593809E}"/>
                  </a:ext>
                </a:extLst>
              </p:cNvPr>
              <p:cNvSpPr/>
              <p:nvPr/>
            </p:nvSpPr>
            <p:spPr>
              <a:xfrm flipH="1">
                <a:off x="5748195" y="3048855"/>
                <a:ext cx="117695" cy="236728"/>
              </a:xfrm>
              <a:prstGeom prst="chevron">
                <a:avLst>
                  <a:gd name="adj" fmla="val 77907"/>
                </a:avLst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65" name="Arrow: Chevron 64">
                <a:extLst>
                  <a:ext uri="{FF2B5EF4-FFF2-40B4-BE49-F238E27FC236}">
                    <a16:creationId xmlns:a16="http://schemas.microsoft.com/office/drawing/2014/main" id="{7964D614-0842-5B0F-A181-CEDA50EFDA74}"/>
                  </a:ext>
                </a:extLst>
              </p:cNvPr>
              <p:cNvSpPr/>
              <p:nvPr/>
            </p:nvSpPr>
            <p:spPr>
              <a:xfrm rot="5400000">
                <a:off x="6341952" y="2463775"/>
                <a:ext cx="117695" cy="236728"/>
              </a:xfrm>
              <a:prstGeom prst="chevron">
                <a:avLst>
                  <a:gd name="adj" fmla="val 77907"/>
                </a:avLst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66" name="Arrow: Chevron 65">
                <a:extLst>
                  <a:ext uri="{FF2B5EF4-FFF2-40B4-BE49-F238E27FC236}">
                    <a16:creationId xmlns:a16="http://schemas.microsoft.com/office/drawing/2014/main" id="{890DE946-F317-69FA-850F-BE49496D4520}"/>
                  </a:ext>
                </a:extLst>
              </p:cNvPr>
              <p:cNvSpPr/>
              <p:nvPr/>
            </p:nvSpPr>
            <p:spPr>
              <a:xfrm rot="5400000" flipH="1">
                <a:off x="5154439" y="2463774"/>
                <a:ext cx="117695" cy="236728"/>
              </a:xfrm>
              <a:prstGeom prst="chevron">
                <a:avLst>
                  <a:gd name="adj" fmla="val 77907"/>
                </a:avLst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FF2E2DE2-F5EB-97B9-B7DD-990CCDDEEDC8}"/>
                </a:ext>
              </a:extLst>
            </p:cNvPr>
            <p:cNvGrpSpPr/>
            <p:nvPr/>
          </p:nvGrpSpPr>
          <p:grpSpPr>
            <a:xfrm>
              <a:off x="1248192" y="1779340"/>
              <a:ext cx="1471371" cy="1605296"/>
              <a:chOff x="1119351" y="2010082"/>
              <a:chExt cx="1471371" cy="1605296"/>
            </a:xfrm>
          </p:grpSpPr>
          <p:sp>
            <p:nvSpPr>
              <p:cNvPr id="58" name="Oval 57">
                <a:extLst>
                  <a:ext uri="{FF2B5EF4-FFF2-40B4-BE49-F238E27FC236}">
                    <a16:creationId xmlns:a16="http://schemas.microsoft.com/office/drawing/2014/main" id="{24B3A8EE-3D04-DD84-5825-98AD75FE5553}"/>
                  </a:ext>
                </a:extLst>
              </p:cNvPr>
              <p:cNvSpPr/>
              <p:nvPr/>
            </p:nvSpPr>
            <p:spPr>
              <a:xfrm>
                <a:off x="1119351" y="2010082"/>
                <a:ext cx="1471371" cy="144987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59" name="Group 58">
                <a:extLst>
                  <a:ext uri="{FF2B5EF4-FFF2-40B4-BE49-F238E27FC236}">
                    <a16:creationId xmlns:a16="http://schemas.microsoft.com/office/drawing/2014/main" id="{654C9DB9-FE6D-3328-06F4-49EB96873DFE}"/>
                  </a:ext>
                </a:extLst>
              </p:cNvPr>
              <p:cNvGrpSpPr/>
              <p:nvPr/>
            </p:nvGrpSpPr>
            <p:grpSpPr>
              <a:xfrm>
                <a:off x="1463975" y="2234893"/>
                <a:ext cx="782123" cy="1380485"/>
                <a:chOff x="1463975" y="2217906"/>
                <a:chExt cx="782123" cy="1380485"/>
              </a:xfrm>
            </p:grpSpPr>
            <p:sp>
              <p:nvSpPr>
                <p:cNvPr id="60" name="Oval 59">
                  <a:extLst>
                    <a:ext uri="{FF2B5EF4-FFF2-40B4-BE49-F238E27FC236}">
                      <a16:creationId xmlns:a16="http://schemas.microsoft.com/office/drawing/2014/main" id="{A620EC99-A869-7D2D-F708-86C978A7CB13}"/>
                    </a:ext>
                  </a:extLst>
                </p:cNvPr>
                <p:cNvSpPr/>
                <p:nvPr/>
              </p:nvSpPr>
              <p:spPr>
                <a:xfrm>
                  <a:off x="1618722" y="2217906"/>
                  <a:ext cx="472628" cy="465722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1" name="Partial Circle 60">
                  <a:extLst>
                    <a:ext uri="{FF2B5EF4-FFF2-40B4-BE49-F238E27FC236}">
                      <a16:creationId xmlns:a16="http://schemas.microsoft.com/office/drawing/2014/main" id="{F1DEEBC5-D814-1F24-58E8-EDC4C756AF47}"/>
                    </a:ext>
                  </a:extLst>
                </p:cNvPr>
                <p:cNvSpPr/>
                <p:nvPr/>
              </p:nvSpPr>
              <p:spPr>
                <a:xfrm flipV="1">
                  <a:off x="1463975" y="2703068"/>
                  <a:ext cx="782123" cy="895323"/>
                </a:xfrm>
                <a:prstGeom prst="pie">
                  <a:avLst>
                    <a:gd name="adj1" fmla="val 0"/>
                    <a:gd name="adj2" fmla="val 10739403"/>
                  </a:avLst>
                </a:prstGeom>
                <a:solidFill>
                  <a:srgbClr val="00B0F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tx1"/>
                    </a:solidFill>
                  </a:endParaRPr>
                </a:p>
              </p:txBody>
            </p:sp>
          </p:grp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FB7331FD-A710-7DDC-35C3-EDEFC2C4C44A}"/>
                </a:ext>
              </a:extLst>
            </p:cNvPr>
            <p:cNvGrpSpPr/>
            <p:nvPr/>
          </p:nvGrpSpPr>
          <p:grpSpPr>
            <a:xfrm>
              <a:off x="3450310" y="4619231"/>
              <a:ext cx="1709674" cy="1374632"/>
              <a:chOff x="2590722" y="4273236"/>
              <a:chExt cx="1709674" cy="1374632"/>
            </a:xfrm>
          </p:grpSpPr>
          <p:sp>
            <p:nvSpPr>
              <p:cNvPr id="55" name="Rectangle: Rounded Corners 54">
                <a:extLst>
                  <a:ext uri="{FF2B5EF4-FFF2-40B4-BE49-F238E27FC236}">
                    <a16:creationId xmlns:a16="http://schemas.microsoft.com/office/drawing/2014/main" id="{839F6AC5-62C6-8436-455C-7780860C5746}"/>
                  </a:ext>
                </a:extLst>
              </p:cNvPr>
              <p:cNvSpPr/>
              <p:nvPr/>
            </p:nvSpPr>
            <p:spPr>
              <a:xfrm>
                <a:off x="2590722" y="4273236"/>
                <a:ext cx="1709674" cy="1104522"/>
              </a:xfrm>
              <a:prstGeom prst="round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6" name="Rectangle: Rounded Corners 55">
                <a:extLst>
                  <a:ext uri="{FF2B5EF4-FFF2-40B4-BE49-F238E27FC236}">
                    <a16:creationId xmlns:a16="http://schemas.microsoft.com/office/drawing/2014/main" id="{6E5E7168-2661-73C7-0FB7-D9A874A1F4F3}"/>
                  </a:ext>
                </a:extLst>
              </p:cNvPr>
              <p:cNvSpPr/>
              <p:nvPr/>
            </p:nvSpPr>
            <p:spPr>
              <a:xfrm>
                <a:off x="2694229" y="4372824"/>
                <a:ext cx="1501771" cy="905346"/>
              </a:xfrm>
              <a:prstGeom prst="roundRect">
                <a:avLst>
                  <a:gd name="adj" fmla="val 11667"/>
                </a:avLst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7" name="Rectangle: Rounded Corners 56">
                <a:extLst>
                  <a:ext uri="{FF2B5EF4-FFF2-40B4-BE49-F238E27FC236}">
                    <a16:creationId xmlns:a16="http://schemas.microsoft.com/office/drawing/2014/main" id="{0BDDAC00-45F5-C75F-72B9-7916BC9E7190}"/>
                  </a:ext>
                </a:extLst>
              </p:cNvPr>
              <p:cNvSpPr/>
              <p:nvPr/>
            </p:nvSpPr>
            <p:spPr>
              <a:xfrm>
                <a:off x="2648964" y="5477346"/>
                <a:ext cx="1577900" cy="170522"/>
              </a:xfrm>
              <a:prstGeom prst="roundRect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EA0F5C93-5F40-3E64-B229-6545C8DCAE13}"/>
                </a:ext>
              </a:extLst>
            </p:cNvPr>
            <p:cNvGrpSpPr/>
            <p:nvPr/>
          </p:nvGrpSpPr>
          <p:grpSpPr>
            <a:xfrm>
              <a:off x="6409765" y="4592579"/>
              <a:ext cx="1165966" cy="1427937"/>
              <a:chOff x="5714667" y="4203229"/>
              <a:chExt cx="1165966" cy="1427937"/>
            </a:xfrm>
          </p:grpSpPr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3FE622C2-4BFD-A383-E425-87D67B8D7049}"/>
                  </a:ext>
                </a:extLst>
              </p:cNvPr>
              <p:cNvGrpSpPr/>
              <p:nvPr/>
            </p:nvGrpSpPr>
            <p:grpSpPr>
              <a:xfrm>
                <a:off x="5714667" y="4203229"/>
                <a:ext cx="1165966" cy="1427937"/>
                <a:chOff x="9500031" y="1095353"/>
                <a:chExt cx="1493823" cy="1829457"/>
              </a:xfrm>
            </p:grpSpPr>
            <p:sp>
              <p:nvSpPr>
                <p:cNvPr id="53" name="Freeform: Shape 52">
                  <a:extLst>
                    <a:ext uri="{FF2B5EF4-FFF2-40B4-BE49-F238E27FC236}">
                      <a16:creationId xmlns:a16="http://schemas.microsoft.com/office/drawing/2014/main" id="{093B7DA5-F9FA-F786-5732-C33C4D91CE1B}"/>
                    </a:ext>
                  </a:extLst>
                </p:cNvPr>
                <p:cNvSpPr/>
                <p:nvPr/>
              </p:nvSpPr>
              <p:spPr>
                <a:xfrm>
                  <a:off x="9500031" y="1095353"/>
                  <a:ext cx="1493823" cy="1829457"/>
                </a:xfrm>
                <a:custGeom>
                  <a:avLst/>
                  <a:gdLst>
                    <a:gd name="connsiteX0" fmla="*/ 549430 w 1493823"/>
                    <a:gd name="connsiteY0" fmla="*/ 0 h 1829457"/>
                    <a:gd name="connsiteX1" fmla="*/ 1244848 w 1493823"/>
                    <a:gd name="connsiteY1" fmla="*/ 0 h 1829457"/>
                    <a:gd name="connsiteX2" fmla="*/ 1493823 w 1493823"/>
                    <a:gd name="connsiteY2" fmla="*/ 248975 h 1829457"/>
                    <a:gd name="connsiteX3" fmla="*/ 1493823 w 1493823"/>
                    <a:gd name="connsiteY3" fmla="*/ 1580482 h 1829457"/>
                    <a:gd name="connsiteX4" fmla="*/ 1244848 w 1493823"/>
                    <a:gd name="connsiteY4" fmla="*/ 1829457 h 1829457"/>
                    <a:gd name="connsiteX5" fmla="*/ 248975 w 1493823"/>
                    <a:gd name="connsiteY5" fmla="*/ 1829457 h 1829457"/>
                    <a:gd name="connsiteX6" fmla="*/ 0 w 1493823"/>
                    <a:gd name="connsiteY6" fmla="*/ 1580482 h 1829457"/>
                    <a:gd name="connsiteX7" fmla="*/ 0 w 1493823"/>
                    <a:gd name="connsiteY7" fmla="*/ 549430 h 18294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1493823" h="1829457">
                      <a:moveTo>
                        <a:pt x="549430" y="0"/>
                      </a:moveTo>
                      <a:lnTo>
                        <a:pt x="1244848" y="0"/>
                      </a:lnTo>
                      <a:cubicBezTo>
                        <a:pt x="1382353" y="0"/>
                        <a:pt x="1493823" y="111470"/>
                        <a:pt x="1493823" y="248975"/>
                      </a:cubicBezTo>
                      <a:lnTo>
                        <a:pt x="1493823" y="1580482"/>
                      </a:lnTo>
                      <a:cubicBezTo>
                        <a:pt x="1493823" y="1717987"/>
                        <a:pt x="1382353" y="1829457"/>
                        <a:pt x="1244848" y="1829457"/>
                      </a:cubicBezTo>
                      <a:lnTo>
                        <a:pt x="248975" y="1829457"/>
                      </a:lnTo>
                      <a:cubicBezTo>
                        <a:pt x="111470" y="1829457"/>
                        <a:pt x="0" y="1717987"/>
                        <a:pt x="0" y="1580482"/>
                      </a:cubicBezTo>
                      <a:lnTo>
                        <a:pt x="0" y="549430"/>
                      </a:lnTo>
                      <a:close/>
                    </a:path>
                  </a:pathLst>
                </a:custGeom>
                <a:solidFill>
                  <a:schemeClr val="bg1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4" name="Freeform: Shape 53">
                  <a:extLst>
                    <a:ext uri="{FF2B5EF4-FFF2-40B4-BE49-F238E27FC236}">
                      <a16:creationId xmlns:a16="http://schemas.microsoft.com/office/drawing/2014/main" id="{5456204F-3532-12AD-D8DD-AC81B56776CF}"/>
                    </a:ext>
                  </a:extLst>
                </p:cNvPr>
                <p:cNvSpPr/>
                <p:nvPr/>
              </p:nvSpPr>
              <p:spPr>
                <a:xfrm rot="16200000">
                  <a:off x="9507783" y="1095665"/>
                  <a:ext cx="539919" cy="545387"/>
                </a:xfrm>
                <a:custGeom>
                  <a:avLst/>
                  <a:gdLst>
                    <a:gd name="connsiteX0" fmla="*/ 539919 w 539919"/>
                    <a:gd name="connsiteY0" fmla="*/ 532111 h 545387"/>
                    <a:gd name="connsiteX1" fmla="*/ 539919 w 539919"/>
                    <a:gd name="connsiteY1" fmla="*/ 545387 h 545387"/>
                    <a:gd name="connsiteX2" fmla="*/ 248975 w 539919"/>
                    <a:gd name="connsiteY2" fmla="*/ 545387 h 545387"/>
                    <a:gd name="connsiteX3" fmla="*/ 0 w 539919"/>
                    <a:gd name="connsiteY3" fmla="*/ 296412 h 545387"/>
                    <a:gd name="connsiteX4" fmla="*/ 0 w 539919"/>
                    <a:gd name="connsiteY4" fmla="*/ 0 h 545387"/>
                    <a:gd name="connsiteX5" fmla="*/ 7808 w 539919"/>
                    <a:gd name="connsiteY5" fmla="*/ 0 h 54538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539919" h="545387">
                      <a:moveTo>
                        <a:pt x="539919" y="532111"/>
                      </a:moveTo>
                      <a:lnTo>
                        <a:pt x="539919" y="545387"/>
                      </a:lnTo>
                      <a:lnTo>
                        <a:pt x="248975" y="545387"/>
                      </a:lnTo>
                      <a:cubicBezTo>
                        <a:pt x="111470" y="545387"/>
                        <a:pt x="0" y="433917"/>
                        <a:pt x="0" y="296412"/>
                      </a:cubicBezTo>
                      <a:lnTo>
                        <a:pt x="0" y="0"/>
                      </a:lnTo>
                      <a:lnTo>
                        <a:pt x="7808" y="0"/>
                      </a:lnTo>
                      <a:close/>
                    </a:path>
                  </a:pathLst>
                </a:custGeom>
                <a:solidFill>
                  <a:srgbClr val="00B0F0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ABA739B8-E718-5576-9B5F-ED3E2ECB61FA}"/>
                  </a:ext>
                </a:extLst>
              </p:cNvPr>
              <p:cNvSpPr txBox="1"/>
              <p:nvPr/>
            </p:nvSpPr>
            <p:spPr>
              <a:xfrm>
                <a:off x="5825152" y="4690432"/>
                <a:ext cx="950614" cy="7386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ES" sz="1200">
                    <a:solidFill>
                      <a:srgbClr val="00B0F0"/>
                    </a:solidFill>
                  </a:rPr>
                  <a:t>101000101011010101010</a:t>
                </a:r>
                <a:endParaRPr lang="en-US" sz="1200">
                  <a:solidFill>
                    <a:srgbClr val="00B0F0"/>
                  </a:solidFill>
                </a:endParaRPr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1D525CC0-7011-9474-ACD7-AF60E4FFE33F}"/>
                </a:ext>
              </a:extLst>
            </p:cNvPr>
            <p:cNvGrpSpPr/>
            <p:nvPr/>
          </p:nvGrpSpPr>
          <p:grpSpPr>
            <a:xfrm>
              <a:off x="9341805" y="1825745"/>
              <a:ext cx="1165966" cy="1427937"/>
              <a:chOff x="7953346" y="1853906"/>
              <a:chExt cx="1165966" cy="1427937"/>
            </a:xfrm>
          </p:grpSpPr>
          <p:sp>
            <p:nvSpPr>
              <p:cNvPr id="48" name="Freeform: Shape 47">
                <a:extLst>
                  <a:ext uri="{FF2B5EF4-FFF2-40B4-BE49-F238E27FC236}">
                    <a16:creationId xmlns:a16="http://schemas.microsoft.com/office/drawing/2014/main" id="{6DA2C665-A85D-B547-2E6B-CF30EF3EA2FF}"/>
                  </a:ext>
                </a:extLst>
              </p:cNvPr>
              <p:cNvSpPr/>
              <p:nvPr/>
            </p:nvSpPr>
            <p:spPr>
              <a:xfrm>
                <a:off x="7953346" y="1853906"/>
                <a:ext cx="1165966" cy="1427937"/>
              </a:xfrm>
              <a:custGeom>
                <a:avLst/>
                <a:gdLst>
                  <a:gd name="connsiteX0" fmla="*/ 549430 w 1493823"/>
                  <a:gd name="connsiteY0" fmla="*/ 0 h 1829457"/>
                  <a:gd name="connsiteX1" fmla="*/ 1244848 w 1493823"/>
                  <a:gd name="connsiteY1" fmla="*/ 0 h 1829457"/>
                  <a:gd name="connsiteX2" fmla="*/ 1493823 w 1493823"/>
                  <a:gd name="connsiteY2" fmla="*/ 248975 h 1829457"/>
                  <a:gd name="connsiteX3" fmla="*/ 1493823 w 1493823"/>
                  <a:gd name="connsiteY3" fmla="*/ 1580482 h 1829457"/>
                  <a:gd name="connsiteX4" fmla="*/ 1244848 w 1493823"/>
                  <a:gd name="connsiteY4" fmla="*/ 1829457 h 1829457"/>
                  <a:gd name="connsiteX5" fmla="*/ 248975 w 1493823"/>
                  <a:gd name="connsiteY5" fmla="*/ 1829457 h 1829457"/>
                  <a:gd name="connsiteX6" fmla="*/ 0 w 1493823"/>
                  <a:gd name="connsiteY6" fmla="*/ 1580482 h 1829457"/>
                  <a:gd name="connsiteX7" fmla="*/ 0 w 1493823"/>
                  <a:gd name="connsiteY7" fmla="*/ 549430 h 18294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493823" h="1829457">
                    <a:moveTo>
                      <a:pt x="549430" y="0"/>
                    </a:moveTo>
                    <a:lnTo>
                      <a:pt x="1244848" y="0"/>
                    </a:lnTo>
                    <a:cubicBezTo>
                      <a:pt x="1382353" y="0"/>
                      <a:pt x="1493823" y="111470"/>
                      <a:pt x="1493823" y="248975"/>
                    </a:cubicBezTo>
                    <a:lnTo>
                      <a:pt x="1493823" y="1580482"/>
                    </a:lnTo>
                    <a:cubicBezTo>
                      <a:pt x="1493823" y="1717987"/>
                      <a:pt x="1382353" y="1829457"/>
                      <a:pt x="1244848" y="1829457"/>
                    </a:cubicBezTo>
                    <a:lnTo>
                      <a:pt x="248975" y="1829457"/>
                    </a:lnTo>
                    <a:cubicBezTo>
                      <a:pt x="111470" y="1829457"/>
                      <a:pt x="0" y="1717987"/>
                      <a:pt x="0" y="1580482"/>
                    </a:cubicBezTo>
                    <a:lnTo>
                      <a:pt x="0" y="549430"/>
                    </a:lnTo>
                    <a:close/>
                  </a:path>
                </a:pathLst>
              </a:cu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49" name="Rectangle: Rounded Corners 48">
                <a:extLst>
                  <a:ext uri="{FF2B5EF4-FFF2-40B4-BE49-F238E27FC236}">
                    <a16:creationId xmlns:a16="http://schemas.microsoft.com/office/drawing/2014/main" id="{701DC9F8-899C-C83B-E808-7FE7E8C6FA67}"/>
                  </a:ext>
                </a:extLst>
              </p:cNvPr>
              <p:cNvSpPr/>
              <p:nvPr/>
            </p:nvSpPr>
            <p:spPr>
              <a:xfrm>
                <a:off x="8111744" y="2071056"/>
                <a:ext cx="848878" cy="1025314"/>
              </a:xfrm>
              <a:prstGeom prst="roundRect">
                <a:avLst>
                  <a:gd name="adj" fmla="val 12401"/>
                </a:avLst>
              </a:prstGeom>
              <a:solidFill>
                <a:srgbClr val="57D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0" name="Freeform: Shape 49">
                <a:extLst>
                  <a:ext uri="{FF2B5EF4-FFF2-40B4-BE49-F238E27FC236}">
                    <a16:creationId xmlns:a16="http://schemas.microsoft.com/office/drawing/2014/main" id="{1DAD952A-B6BB-329C-9AB3-CC4DD0141A09}"/>
                  </a:ext>
                </a:extLst>
              </p:cNvPr>
              <p:cNvSpPr/>
              <p:nvPr/>
            </p:nvSpPr>
            <p:spPr>
              <a:xfrm rot="16200000">
                <a:off x="7959397" y="1854150"/>
                <a:ext cx="421420" cy="425688"/>
              </a:xfrm>
              <a:custGeom>
                <a:avLst/>
                <a:gdLst>
                  <a:gd name="connsiteX0" fmla="*/ 539919 w 539919"/>
                  <a:gd name="connsiteY0" fmla="*/ 532111 h 545387"/>
                  <a:gd name="connsiteX1" fmla="*/ 539919 w 539919"/>
                  <a:gd name="connsiteY1" fmla="*/ 545387 h 545387"/>
                  <a:gd name="connsiteX2" fmla="*/ 248975 w 539919"/>
                  <a:gd name="connsiteY2" fmla="*/ 545387 h 545387"/>
                  <a:gd name="connsiteX3" fmla="*/ 0 w 539919"/>
                  <a:gd name="connsiteY3" fmla="*/ 296412 h 545387"/>
                  <a:gd name="connsiteX4" fmla="*/ 0 w 539919"/>
                  <a:gd name="connsiteY4" fmla="*/ 0 h 545387"/>
                  <a:gd name="connsiteX5" fmla="*/ 7808 w 539919"/>
                  <a:gd name="connsiteY5" fmla="*/ 0 h 5453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539919" h="545387">
                    <a:moveTo>
                      <a:pt x="539919" y="532111"/>
                    </a:moveTo>
                    <a:lnTo>
                      <a:pt x="539919" y="545387"/>
                    </a:lnTo>
                    <a:lnTo>
                      <a:pt x="248975" y="545387"/>
                    </a:lnTo>
                    <a:cubicBezTo>
                      <a:pt x="111470" y="545387"/>
                      <a:pt x="0" y="433917"/>
                      <a:pt x="0" y="296412"/>
                    </a:cubicBezTo>
                    <a:lnTo>
                      <a:pt x="0" y="0"/>
                    </a:lnTo>
                    <a:lnTo>
                      <a:pt x="7808" y="0"/>
                    </a:lnTo>
                    <a:close/>
                  </a:path>
                </a:pathLst>
              </a:custGeom>
              <a:solidFill>
                <a:srgbClr val="00B0F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A3C9473E-8A7F-FD33-F98C-CAEF241A29AE}"/>
                </a:ext>
              </a:extLst>
            </p:cNvPr>
            <p:cNvGrpSpPr/>
            <p:nvPr/>
          </p:nvGrpSpPr>
          <p:grpSpPr>
            <a:xfrm>
              <a:off x="4229151" y="1825745"/>
              <a:ext cx="1165966" cy="1427937"/>
              <a:chOff x="3464672" y="1968540"/>
              <a:chExt cx="1165966" cy="1427937"/>
            </a:xfrm>
          </p:grpSpPr>
          <p:grpSp>
            <p:nvGrpSpPr>
              <p:cNvPr id="40" name="Group 39">
                <a:extLst>
                  <a:ext uri="{FF2B5EF4-FFF2-40B4-BE49-F238E27FC236}">
                    <a16:creationId xmlns:a16="http://schemas.microsoft.com/office/drawing/2014/main" id="{CE83331B-7765-0366-A137-77FEA51E634F}"/>
                  </a:ext>
                </a:extLst>
              </p:cNvPr>
              <p:cNvGrpSpPr/>
              <p:nvPr/>
            </p:nvGrpSpPr>
            <p:grpSpPr>
              <a:xfrm>
                <a:off x="3464672" y="1968540"/>
                <a:ext cx="1165966" cy="1427937"/>
                <a:chOff x="9500031" y="1095353"/>
                <a:chExt cx="1493823" cy="1829457"/>
              </a:xfrm>
            </p:grpSpPr>
            <p:sp>
              <p:nvSpPr>
                <p:cNvPr id="46" name="Freeform: Shape 45">
                  <a:extLst>
                    <a:ext uri="{FF2B5EF4-FFF2-40B4-BE49-F238E27FC236}">
                      <a16:creationId xmlns:a16="http://schemas.microsoft.com/office/drawing/2014/main" id="{EBADFF47-FA8B-C7DF-2D60-DCF3F2672B83}"/>
                    </a:ext>
                  </a:extLst>
                </p:cNvPr>
                <p:cNvSpPr/>
                <p:nvPr/>
              </p:nvSpPr>
              <p:spPr>
                <a:xfrm>
                  <a:off x="9500031" y="1095353"/>
                  <a:ext cx="1493823" cy="1829457"/>
                </a:xfrm>
                <a:custGeom>
                  <a:avLst/>
                  <a:gdLst>
                    <a:gd name="connsiteX0" fmla="*/ 549430 w 1493823"/>
                    <a:gd name="connsiteY0" fmla="*/ 0 h 1829457"/>
                    <a:gd name="connsiteX1" fmla="*/ 1244848 w 1493823"/>
                    <a:gd name="connsiteY1" fmla="*/ 0 h 1829457"/>
                    <a:gd name="connsiteX2" fmla="*/ 1493823 w 1493823"/>
                    <a:gd name="connsiteY2" fmla="*/ 248975 h 1829457"/>
                    <a:gd name="connsiteX3" fmla="*/ 1493823 w 1493823"/>
                    <a:gd name="connsiteY3" fmla="*/ 1580482 h 1829457"/>
                    <a:gd name="connsiteX4" fmla="*/ 1244848 w 1493823"/>
                    <a:gd name="connsiteY4" fmla="*/ 1829457 h 1829457"/>
                    <a:gd name="connsiteX5" fmla="*/ 248975 w 1493823"/>
                    <a:gd name="connsiteY5" fmla="*/ 1829457 h 1829457"/>
                    <a:gd name="connsiteX6" fmla="*/ 0 w 1493823"/>
                    <a:gd name="connsiteY6" fmla="*/ 1580482 h 1829457"/>
                    <a:gd name="connsiteX7" fmla="*/ 0 w 1493823"/>
                    <a:gd name="connsiteY7" fmla="*/ 549430 h 18294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1493823" h="1829457">
                      <a:moveTo>
                        <a:pt x="549430" y="0"/>
                      </a:moveTo>
                      <a:lnTo>
                        <a:pt x="1244848" y="0"/>
                      </a:lnTo>
                      <a:cubicBezTo>
                        <a:pt x="1382353" y="0"/>
                        <a:pt x="1493823" y="111470"/>
                        <a:pt x="1493823" y="248975"/>
                      </a:cubicBezTo>
                      <a:lnTo>
                        <a:pt x="1493823" y="1580482"/>
                      </a:lnTo>
                      <a:cubicBezTo>
                        <a:pt x="1493823" y="1717987"/>
                        <a:pt x="1382353" y="1829457"/>
                        <a:pt x="1244848" y="1829457"/>
                      </a:cubicBezTo>
                      <a:lnTo>
                        <a:pt x="248975" y="1829457"/>
                      </a:lnTo>
                      <a:cubicBezTo>
                        <a:pt x="111470" y="1829457"/>
                        <a:pt x="0" y="1717987"/>
                        <a:pt x="0" y="1580482"/>
                      </a:cubicBezTo>
                      <a:lnTo>
                        <a:pt x="0" y="549430"/>
                      </a:lnTo>
                      <a:close/>
                    </a:path>
                  </a:pathLst>
                </a:custGeom>
                <a:solidFill>
                  <a:schemeClr val="bg1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7" name="Freeform: Shape 46">
                  <a:extLst>
                    <a:ext uri="{FF2B5EF4-FFF2-40B4-BE49-F238E27FC236}">
                      <a16:creationId xmlns:a16="http://schemas.microsoft.com/office/drawing/2014/main" id="{D5726399-D9E0-AEA4-D8A8-639496295C80}"/>
                    </a:ext>
                  </a:extLst>
                </p:cNvPr>
                <p:cNvSpPr/>
                <p:nvPr/>
              </p:nvSpPr>
              <p:spPr>
                <a:xfrm rot="16200000">
                  <a:off x="9507783" y="1095665"/>
                  <a:ext cx="539919" cy="545387"/>
                </a:xfrm>
                <a:custGeom>
                  <a:avLst/>
                  <a:gdLst>
                    <a:gd name="connsiteX0" fmla="*/ 539919 w 539919"/>
                    <a:gd name="connsiteY0" fmla="*/ 532111 h 545387"/>
                    <a:gd name="connsiteX1" fmla="*/ 539919 w 539919"/>
                    <a:gd name="connsiteY1" fmla="*/ 545387 h 545387"/>
                    <a:gd name="connsiteX2" fmla="*/ 248975 w 539919"/>
                    <a:gd name="connsiteY2" fmla="*/ 545387 h 545387"/>
                    <a:gd name="connsiteX3" fmla="*/ 0 w 539919"/>
                    <a:gd name="connsiteY3" fmla="*/ 296412 h 545387"/>
                    <a:gd name="connsiteX4" fmla="*/ 0 w 539919"/>
                    <a:gd name="connsiteY4" fmla="*/ 0 h 545387"/>
                    <a:gd name="connsiteX5" fmla="*/ 7808 w 539919"/>
                    <a:gd name="connsiteY5" fmla="*/ 0 h 54538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539919" h="545387">
                      <a:moveTo>
                        <a:pt x="539919" y="532111"/>
                      </a:moveTo>
                      <a:lnTo>
                        <a:pt x="539919" y="545387"/>
                      </a:lnTo>
                      <a:lnTo>
                        <a:pt x="248975" y="545387"/>
                      </a:lnTo>
                      <a:cubicBezTo>
                        <a:pt x="111470" y="545387"/>
                        <a:pt x="0" y="433917"/>
                        <a:pt x="0" y="296412"/>
                      </a:cubicBezTo>
                      <a:lnTo>
                        <a:pt x="0" y="0"/>
                      </a:lnTo>
                      <a:lnTo>
                        <a:pt x="7808" y="0"/>
                      </a:lnTo>
                      <a:close/>
                    </a:path>
                  </a:pathLst>
                </a:custGeom>
                <a:solidFill>
                  <a:srgbClr val="00B0F0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41" name="Rectangle: Rounded Corners 40">
                <a:extLst>
                  <a:ext uri="{FF2B5EF4-FFF2-40B4-BE49-F238E27FC236}">
                    <a16:creationId xmlns:a16="http://schemas.microsoft.com/office/drawing/2014/main" id="{415B88F1-AAAB-3982-138C-6EB965A74E78}"/>
                  </a:ext>
                </a:extLst>
              </p:cNvPr>
              <p:cNvSpPr/>
              <p:nvPr/>
            </p:nvSpPr>
            <p:spPr>
              <a:xfrm>
                <a:off x="3684760" y="2502979"/>
                <a:ext cx="425688" cy="85254"/>
              </a:xfrm>
              <a:prstGeom prst="roundRect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2" name="Rectangle: Rounded Corners 41">
                <a:extLst>
                  <a:ext uri="{FF2B5EF4-FFF2-40B4-BE49-F238E27FC236}">
                    <a16:creationId xmlns:a16="http://schemas.microsoft.com/office/drawing/2014/main" id="{95142957-D260-382E-4A32-CF16E6CC2D5F}"/>
                  </a:ext>
                </a:extLst>
              </p:cNvPr>
              <p:cNvSpPr/>
              <p:nvPr/>
            </p:nvSpPr>
            <p:spPr>
              <a:xfrm>
                <a:off x="3839241" y="2651372"/>
                <a:ext cx="425688" cy="85254"/>
              </a:xfrm>
              <a:prstGeom prst="roundRect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3" name="Rectangle: Rounded Corners 42">
                <a:extLst>
                  <a:ext uri="{FF2B5EF4-FFF2-40B4-BE49-F238E27FC236}">
                    <a16:creationId xmlns:a16="http://schemas.microsoft.com/office/drawing/2014/main" id="{C4AC6445-59E6-D61C-599C-486B84CCE721}"/>
                  </a:ext>
                </a:extLst>
              </p:cNvPr>
              <p:cNvSpPr/>
              <p:nvPr/>
            </p:nvSpPr>
            <p:spPr>
              <a:xfrm>
                <a:off x="3839241" y="2799765"/>
                <a:ext cx="425688" cy="85254"/>
              </a:xfrm>
              <a:prstGeom prst="roundRect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4" name="Rectangle: Rounded Corners 43">
                <a:extLst>
                  <a:ext uri="{FF2B5EF4-FFF2-40B4-BE49-F238E27FC236}">
                    <a16:creationId xmlns:a16="http://schemas.microsoft.com/office/drawing/2014/main" id="{F7D0B107-4B01-D285-2402-389A4317D7FB}"/>
                  </a:ext>
                </a:extLst>
              </p:cNvPr>
              <p:cNvSpPr/>
              <p:nvPr/>
            </p:nvSpPr>
            <p:spPr>
              <a:xfrm>
                <a:off x="3839240" y="2948158"/>
                <a:ext cx="569797" cy="85254"/>
              </a:xfrm>
              <a:prstGeom prst="roundRect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5" name="Rectangle: Rounded Corners 44">
                <a:extLst>
                  <a:ext uri="{FF2B5EF4-FFF2-40B4-BE49-F238E27FC236}">
                    <a16:creationId xmlns:a16="http://schemas.microsoft.com/office/drawing/2014/main" id="{55179557-74FB-35A0-3EDE-575A0E8AE645}"/>
                  </a:ext>
                </a:extLst>
              </p:cNvPr>
              <p:cNvSpPr/>
              <p:nvPr/>
            </p:nvSpPr>
            <p:spPr>
              <a:xfrm>
                <a:off x="3730599" y="3096550"/>
                <a:ext cx="569797" cy="85254"/>
              </a:xfrm>
              <a:prstGeom prst="roundRect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2FCB01DD-2D6A-6F94-1CEC-ECA61261700B}"/>
                </a:ext>
              </a:extLst>
            </p:cNvPr>
            <p:cNvSpPr/>
            <p:nvPr/>
          </p:nvSpPr>
          <p:spPr>
            <a:xfrm rot="16200000" flipV="1">
              <a:off x="9072683" y="4512122"/>
              <a:ext cx="1450727" cy="1588851"/>
            </a:xfrm>
            <a:custGeom>
              <a:avLst/>
              <a:gdLst>
                <a:gd name="connsiteX0" fmla="*/ 1450727 w 1450727"/>
                <a:gd name="connsiteY0" fmla="*/ 1052379 h 1588851"/>
                <a:gd name="connsiteX1" fmla="*/ 1450727 w 1450727"/>
                <a:gd name="connsiteY1" fmla="*/ 542488 h 1588851"/>
                <a:gd name="connsiteX2" fmla="*/ 1444986 w 1450727"/>
                <a:gd name="connsiteY2" fmla="*/ 485539 h 1588851"/>
                <a:gd name="connsiteX3" fmla="*/ 1438824 w 1450727"/>
                <a:gd name="connsiteY3" fmla="*/ 465687 h 1588851"/>
                <a:gd name="connsiteX4" fmla="*/ 1438551 w 1450727"/>
                <a:gd name="connsiteY4" fmla="*/ 464061 h 1588851"/>
                <a:gd name="connsiteX5" fmla="*/ 1437176 w 1450727"/>
                <a:gd name="connsiteY5" fmla="*/ 460378 h 1588851"/>
                <a:gd name="connsiteX6" fmla="*/ 1428521 w 1450727"/>
                <a:gd name="connsiteY6" fmla="*/ 432497 h 1588851"/>
                <a:gd name="connsiteX7" fmla="*/ 1422896 w 1450727"/>
                <a:gd name="connsiteY7" fmla="*/ 422133 h 1588851"/>
                <a:gd name="connsiteX8" fmla="*/ 1419586 w 1450727"/>
                <a:gd name="connsiteY8" fmla="*/ 413269 h 1588851"/>
                <a:gd name="connsiteX9" fmla="*/ 1406476 w 1450727"/>
                <a:gd name="connsiteY9" fmla="*/ 391881 h 1588851"/>
                <a:gd name="connsiteX10" fmla="*/ 1402468 w 1450727"/>
                <a:gd name="connsiteY10" fmla="*/ 384497 h 1588851"/>
                <a:gd name="connsiteX11" fmla="*/ 1400451 w 1450727"/>
                <a:gd name="connsiteY11" fmla="*/ 382053 h 1588851"/>
                <a:gd name="connsiteX12" fmla="*/ 1391044 w 1450727"/>
                <a:gd name="connsiteY12" fmla="*/ 366707 h 1588851"/>
                <a:gd name="connsiteX13" fmla="*/ 1306892 w 1450727"/>
                <a:gd name="connsiteY13" fmla="*/ 292480 h 1588851"/>
                <a:gd name="connsiteX14" fmla="*/ 882053 w 1450727"/>
                <a:gd name="connsiteY14" fmla="*/ 47199 h 1588851"/>
                <a:gd name="connsiteX15" fmla="*/ 850630 w 1450727"/>
                <a:gd name="connsiteY15" fmla="*/ 27937 h 1588851"/>
                <a:gd name="connsiteX16" fmla="*/ 799837 w 1450727"/>
                <a:gd name="connsiteY16" fmla="*/ 8972 h 1588851"/>
                <a:gd name="connsiteX17" fmla="*/ 764798 w 1450727"/>
                <a:gd name="connsiteY17" fmla="*/ 3092 h 1588851"/>
                <a:gd name="connsiteX18" fmla="*/ 758955 w 1450727"/>
                <a:gd name="connsiteY18" fmla="*/ 1770 h 1588851"/>
                <a:gd name="connsiteX19" fmla="*/ 756537 w 1450727"/>
                <a:gd name="connsiteY19" fmla="*/ 1706 h 1588851"/>
                <a:gd name="connsiteX20" fmla="*/ 746368 w 1450727"/>
                <a:gd name="connsiteY20" fmla="*/ 0 h 1588851"/>
                <a:gd name="connsiteX21" fmla="*/ 719038 w 1450727"/>
                <a:gd name="connsiteY21" fmla="*/ 719 h 1588851"/>
                <a:gd name="connsiteX22" fmla="*/ 704360 w 1450727"/>
                <a:gd name="connsiteY22" fmla="*/ 333 h 1588851"/>
                <a:gd name="connsiteX23" fmla="*/ 698899 w 1450727"/>
                <a:gd name="connsiteY23" fmla="*/ 1249 h 1588851"/>
                <a:gd name="connsiteX24" fmla="*/ 691772 w 1450727"/>
                <a:gd name="connsiteY24" fmla="*/ 1437 h 1588851"/>
                <a:gd name="connsiteX25" fmla="*/ 674558 w 1450727"/>
                <a:gd name="connsiteY25" fmla="*/ 5333 h 1588851"/>
                <a:gd name="connsiteX26" fmla="*/ 650890 w 1450727"/>
                <a:gd name="connsiteY26" fmla="*/ 9305 h 1588851"/>
                <a:gd name="connsiteX27" fmla="*/ 641461 w 1450727"/>
                <a:gd name="connsiteY27" fmla="*/ 12825 h 1588851"/>
                <a:gd name="connsiteX28" fmla="*/ 637604 w 1450727"/>
                <a:gd name="connsiteY28" fmla="*/ 13698 h 1588851"/>
                <a:gd name="connsiteX29" fmla="*/ 630234 w 1450727"/>
                <a:gd name="connsiteY29" fmla="*/ 17017 h 1588851"/>
                <a:gd name="connsiteX30" fmla="*/ 600098 w 1450727"/>
                <a:gd name="connsiteY30" fmla="*/ 28270 h 1588851"/>
                <a:gd name="connsiteX31" fmla="*/ 585841 w 1450727"/>
                <a:gd name="connsiteY31" fmla="*/ 37009 h 1588851"/>
                <a:gd name="connsiteX32" fmla="*/ 585414 w 1450727"/>
                <a:gd name="connsiteY32" fmla="*/ 37201 h 1588851"/>
                <a:gd name="connsiteX33" fmla="*/ 143835 w 1450727"/>
                <a:gd name="connsiteY33" fmla="*/ 292148 h 1588851"/>
                <a:gd name="connsiteX34" fmla="*/ 59683 w 1450727"/>
                <a:gd name="connsiteY34" fmla="*/ 366374 h 1588851"/>
                <a:gd name="connsiteX35" fmla="*/ 50276 w 1450727"/>
                <a:gd name="connsiteY35" fmla="*/ 381721 h 1588851"/>
                <a:gd name="connsiteX36" fmla="*/ 48260 w 1450727"/>
                <a:gd name="connsiteY36" fmla="*/ 384164 h 1588851"/>
                <a:gd name="connsiteX37" fmla="*/ 44253 w 1450727"/>
                <a:gd name="connsiteY37" fmla="*/ 391546 h 1588851"/>
                <a:gd name="connsiteX38" fmla="*/ 31141 w 1450727"/>
                <a:gd name="connsiteY38" fmla="*/ 412936 h 1588851"/>
                <a:gd name="connsiteX39" fmla="*/ 27831 w 1450727"/>
                <a:gd name="connsiteY39" fmla="*/ 421800 h 1588851"/>
                <a:gd name="connsiteX40" fmla="*/ 22206 w 1450727"/>
                <a:gd name="connsiteY40" fmla="*/ 432164 h 1588851"/>
                <a:gd name="connsiteX41" fmla="*/ 13552 w 1450727"/>
                <a:gd name="connsiteY41" fmla="*/ 460044 h 1588851"/>
                <a:gd name="connsiteX42" fmla="*/ 12176 w 1450727"/>
                <a:gd name="connsiteY42" fmla="*/ 463728 h 1588851"/>
                <a:gd name="connsiteX43" fmla="*/ 11903 w 1450727"/>
                <a:gd name="connsiteY43" fmla="*/ 465355 h 1588851"/>
                <a:gd name="connsiteX44" fmla="*/ 5741 w 1450727"/>
                <a:gd name="connsiteY44" fmla="*/ 485206 h 1588851"/>
                <a:gd name="connsiteX45" fmla="*/ 0 w 1450727"/>
                <a:gd name="connsiteY45" fmla="*/ 542155 h 1588851"/>
                <a:gd name="connsiteX46" fmla="*/ 0 w 1450727"/>
                <a:gd name="connsiteY46" fmla="*/ 1052046 h 1588851"/>
                <a:gd name="connsiteX47" fmla="*/ 124585 w 1450727"/>
                <a:gd name="connsiteY47" fmla="*/ 1286361 h 1588851"/>
                <a:gd name="connsiteX48" fmla="*/ 141826 w 1450727"/>
                <a:gd name="connsiteY48" fmla="*/ 1295720 h 1588851"/>
                <a:gd name="connsiteX49" fmla="*/ 142730 w 1450727"/>
                <a:gd name="connsiteY49" fmla="*/ 1296371 h 1588851"/>
                <a:gd name="connsiteX50" fmla="*/ 584309 w 1450727"/>
                <a:gd name="connsiteY50" fmla="*/ 1551316 h 1588851"/>
                <a:gd name="connsiteX51" fmla="*/ 588971 w 1450727"/>
                <a:gd name="connsiteY51" fmla="*/ 1553415 h 1588851"/>
                <a:gd name="connsiteX52" fmla="*/ 601203 w 1450727"/>
                <a:gd name="connsiteY52" fmla="*/ 1560914 h 1588851"/>
                <a:gd name="connsiteX53" fmla="*/ 627060 w 1450727"/>
                <a:gd name="connsiteY53" fmla="*/ 1570568 h 1588851"/>
                <a:gd name="connsiteX54" fmla="*/ 636499 w 1450727"/>
                <a:gd name="connsiteY54" fmla="*/ 1574819 h 1588851"/>
                <a:gd name="connsiteX55" fmla="*/ 641439 w 1450727"/>
                <a:gd name="connsiteY55" fmla="*/ 1575937 h 1588851"/>
                <a:gd name="connsiteX56" fmla="*/ 651995 w 1450727"/>
                <a:gd name="connsiteY56" fmla="*/ 1579879 h 1588851"/>
                <a:gd name="connsiteX57" fmla="*/ 678493 w 1450727"/>
                <a:gd name="connsiteY57" fmla="*/ 1584325 h 1588851"/>
                <a:gd name="connsiteX58" fmla="*/ 690667 w 1450727"/>
                <a:gd name="connsiteY58" fmla="*/ 1587081 h 1588851"/>
                <a:gd name="connsiteX59" fmla="*/ 695707 w 1450727"/>
                <a:gd name="connsiteY59" fmla="*/ 1587213 h 1588851"/>
                <a:gd name="connsiteX60" fmla="*/ 705465 w 1450727"/>
                <a:gd name="connsiteY60" fmla="*/ 1588851 h 1588851"/>
                <a:gd name="connsiteX61" fmla="*/ 731690 w 1450727"/>
                <a:gd name="connsiteY61" fmla="*/ 1588160 h 1588851"/>
                <a:gd name="connsiteX62" fmla="*/ 745263 w 1450727"/>
                <a:gd name="connsiteY62" fmla="*/ 1588518 h 1588851"/>
                <a:gd name="connsiteX63" fmla="*/ 750313 w 1450727"/>
                <a:gd name="connsiteY63" fmla="*/ 1587670 h 1588851"/>
                <a:gd name="connsiteX64" fmla="*/ 760060 w 1450727"/>
                <a:gd name="connsiteY64" fmla="*/ 1587414 h 1588851"/>
                <a:gd name="connsiteX65" fmla="*/ 783606 w 1450727"/>
                <a:gd name="connsiteY65" fmla="*/ 1582084 h 1588851"/>
                <a:gd name="connsiteX66" fmla="*/ 798732 w 1450727"/>
                <a:gd name="connsiteY66" fmla="*/ 1579546 h 1588851"/>
                <a:gd name="connsiteX67" fmla="*/ 804759 w 1450727"/>
                <a:gd name="connsiteY67" fmla="*/ 1577296 h 1588851"/>
                <a:gd name="connsiteX68" fmla="*/ 814229 w 1450727"/>
                <a:gd name="connsiteY68" fmla="*/ 1575152 h 1588851"/>
                <a:gd name="connsiteX69" fmla="*/ 832323 w 1450727"/>
                <a:gd name="connsiteY69" fmla="*/ 1567003 h 1588851"/>
                <a:gd name="connsiteX70" fmla="*/ 849525 w 1450727"/>
                <a:gd name="connsiteY70" fmla="*/ 1560581 h 1588851"/>
                <a:gd name="connsiteX71" fmla="*/ 857662 w 1450727"/>
                <a:gd name="connsiteY71" fmla="*/ 1555592 h 1588851"/>
                <a:gd name="connsiteX72" fmla="*/ 866418 w 1450727"/>
                <a:gd name="connsiteY72" fmla="*/ 1551649 h 1588851"/>
                <a:gd name="connsiteX73" fmla="*/ 1307997 w 1450727"/>
                <a:gd name="connsiteY73" fmla="*/ 1296704 h 1588851"/>
                <a:gd name="connsiteX74" fmla="*/ 1308740 w 1450727"/>
                <a:gd name="connsiteY74" fmla="*/ 1296140 h 1588851"/>
                <a:gd name="connsiteX75" fmla="*/ 1326143 w 1450727"/>
                <a:gd name="connsiteY75" fmla="*/ 1286694 h 1588851"/>
                <a:gd name="connsiteX76" fmla="*/ 1450727 w 1450727"/>
                <a:gd name="connsiteY76" fmla="*/ 1052379 h 15888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1450727" h="1588851">
                  <a:moveTo>
                    <a:pt x="1450727" y="1052379"/>
                  </a:moveTo>
                  <a:lnTo>
                    <a:pt x="1450727" y="542488"/>
                  </a:lnTo>
                  <a:cubicBezTo>
                    <a:pt x="1450727" y="522980"/>
                    <a:pt x="1448750" y="503934"/>
                    <a:pt x="1444986" y="485539"/>
                  </a:cubicBezTo>
                  <a:lnTo>
                    <a:pt x="1438824" y="465687"/>
                  </a:lnTo>
                  <a:lnTo>
                    <a:pt x="1438551" y="464061"/>
                  </a:lnTo>
                  <a:lnTo>
                    <a:pt x="1437176" y="460378"/>
                  </a:lnTo>
                  <a:lnTo>
                    <a:pt x="1428521" y="432497"/>
                  </a:lnTo>
                  <a:lnTo>
                    <a:pt x="1422896" y="422133"/>
                  </a:lnTo>
                  <a:lnTo>
                    <a:pt x="1419586" y="413269"/>
                  </a:lnTo>
                  <a:lnTo>
                    <a:pt x="1406476" y="391881"/>
                  </a:lnTo>
                  <a:lnTo>
                    <a:pt x="1402468" y="384497"/>
                  </a:lnTo>
                  <a:lnTo>
                    <a:pt x="1400451" y="382053"/>
                  </a:lnTo>
                  <a:lnTo>
                    <a:pt x="1391044" y="366707"/>
                  </a:lnTo>
                  <a:cubicBezTo>
                    <a:pt x="1368916" y="337420"/>
                    <a:pt x="1340681" y="311988"/>
                    <a:pt x="1306892" y="292480"/>
                  </a:cubicBezTo>
                  <a:lnTo>
                    <a:pt x="882053" y="47199"/>
                  </a:lnTo>
                  <a:lnTo>
                    <a:pt x="850630" y="27937"/>
                  </a:lnTo>
                  <a:cubicBezTo>
                    <a:pt x="834318" y="19996"/>
                    <a:pt x="817301" y="13651"/>
                    <a:pt x="799837" y="8972"/>
                  </a:cubicBezTo>
                  <a:lnTo>
                    <a:pt x="764798" y="3092"/>
                  </a:lnTo>
                  <a:lnTo>
                    <a:pt x="758955" y="1770"/>
                  </a:lnTo>
                  <a:lnTo>
                    <a:pt x="756537" y="1706"/>
                  </a:lnTo>
                  <a:lnTo>
                    <a:pt x="746368" y="0"/>
                  </a:lnTo>
                  <a:lnTo>
                    <a:pt x="719038" y="719"/>
                  </a:lnTo>
                  <a:lnTo>
                    <a:pt x="704360" y="333"/>
                  </a:lnTo>
                  <a:lnTo>
                    <a:pt x="698899" y="1249"/>
                  </a:lnTo>
                  <a:lnTo>
                    <a:pt x="691772" y="1437"/>
                  </a:lnTo>
                  <a:lnTo>
                    <a:pt x="674558" y="5333"/>
                  </a:lnTo>
                  <a:lnTo>
                    <a:pt x="650890" y="9305"/>
                  </a:lnTo>
                  <a:lnTo>
                    <a:pt x="641461" y="12825"/>
                  </a:lnTo>
                  <a:lnTo>
                    <a:pt x="637604" y="13698"/>
                  </a:lnTo>
                  <a:lnTo>
                    <a:pt x="630234" y="17017"/>
                  </a:lnTo>
                  <a:lnTo>
                    <a:pt x="600098" y="28270"/>
                  </a:lnTo>
                  <a:lnTo>
                    <a:pt x="585841" y="37009"/>
                  </a:lnTo>
                  <a:lnTo>
                    <a:pt x="585414" y="37201"/>
                  </a:lnTo>
                  <a:lnTo>
                    <a:pt x="143835" y="292148"/>
                  </a:lnTo>
                  <a:cubicBezTo>
                    <a:pt x="110047" y="311655"/>
                    <a:pt x="81811" y="337087"/>
                    <a:pt x="59683" y="366374"/>
                  </a:cubicBezTo>
                  <a:lnTo>
                    <a:pt x="50276" y="381721"/>
                  </a:lnTo>
                  <a:lnTo>
                    <a:pt x="48260" y="384164"/>
                  </a:lnTo>
                  <a:lnTo>
                    <a:pt x="44253" y="391546"/>
                  </a:lnTo>
                  <a:lnTo>
                    <a:pt x="31141" y="412936"/>
                  </a:lnTo>
                  <a:lnTo>
                    <a:pt x="27831" y="421800"/>
                  </a:lnTo>
                  <a:lnTo>
                    <a:pt x="22206" y="432164"/>
                  </a:lnTo>
                  <a:lnTo>
                    <a:pt x="13552" y="460044"/>
                  </a:lnTo>
                  <a:lnTo>
                    <a:pt x="12176" y="463728"/>
                  </a:lnTo>
                  <a:lnTo>
                    <a:pt x="11903" y="465355"/>
                  </a:lnTo>
                  <a:lnTo>
                    <a:pt x="5741" y="485206"/>
                  </a:lnTo>
                  <a:cubicBezTo>
                    <a:pt x="1977" y="503601"/>
                    <a:pt x="0" y="522647"/>
                    <a:pt x="0" y="542155"/>
                  </a:cubicBezTo>
                  <a:lnTo>
                    <a:pt x="0" y="1052046"/>
                  </a:lnTo>
                  <a:cubicBezTo>
                    <a:pt x="0" y="1149584"/>
                    <a:pt x="49419" y="1235581"/>
                    <a:pt x="124585" y="1286361"/>
                  </a:cubicBezTo>
                  <a:lnTo>
                    <a:pt x="141826" y="1295720"/>
                  </a:lnTo>
                  <a:lnTo>
                    <a:pt x="142730" y="1296371"/>
                  </a:lnTo>
                  <a:lnTo>
                    <a:pt x="584309" y="1551316"/>
                  </a:lnTo>
                  <a:lnTo>
                    <a:pt x="588971" y="1553415"/>
                  </a:lnTo>
                  <a:lnTo>
                    <a:pt x="601203" y="1560914"/>
                  </a:lnTo>
                  <a:lnTo>
                    <a:pt x="627060" y="1570568"/>
                  </a:lnTo>
                  <a:lnTo>
                    <a:pt x="636499" y="1574819"/>
                  </a:lnTo>
                  <a:lnTo>
                    <a:pt x="641439" y="1575937"/>
                  </a:lnTo>
                  <a:lnTo>
                    <a:pt x="651995" y="1579879"/>
                  </a:lnTo>
                  <a:lnTo>
                    <a:pt x="678493" y="1584325"/>
                  </a:lnTo>
                  <a:lnTo>
                    <a:pt x="690667" y="1587081"/>
                  </a:lnTo>
                  <a:lnTo>
                    <a:pt x="695707" y="1587213"/>
                  </a:lnTo>
                  <a:lnTo>
                    <a:pt x="705465" y="1588851"/>
                  </a:lnTo>
                  <a:lnTo>
                    <a:pt x="731690" y="1588160"/>
                  </a:lnTo>
                  <a:lnTo>
                    <a:pt x="745263" y="1588518"/>
                  </a:lnTo>
                  <a:lnTo>
                    <a:pt x="750313" y="1587670"/>
                  </a:lnTo>
                  <a:lnTo>
                    <a:pt x="760060" y="1587414"/>
                  </a:lnTo>
                  <a:lnTo>
                    <a:pt x="783606" y="1582084"/>
                  </a:lnTo>
                  <a:lnTo>
                    <a:pt x="798732" y="1579546"/>
                  </a:lnTo>
                  <a:lnTo>
                    <a:pt x="804759" y="1577296"/>
                  </a:lnTo>
                  <a:lnTo>
                    <a:pt x="814229" y="1575152"/>
                  </a:lnTo>
                  <a:lnTo>
                    <a:pt x="832323" y="1567003"/>
                  </a:lnTo>
                  <a:lnTo>
                    <a:pt x="849525" y="1560581"/>
                  </a:lnTo>
                  <a:lnTo>
                    <a:pt x="857662" y="1555592"/>
                  </a:lnTo>
                  <a:lnTo>
                    <a:pt x="866418" y="1551649"/>
                  </a:lnTo>
                  <a:lnTo>
                    <a:pt x="1307997" y="1296704"/>
                  </a:lnTo>
                  <a:lnTo>
                    <a:pt x="1308740" y="1296140"/>
                  </a:lnTo>
                  <a:lnTo>
                    <a:pt x="1326143" y="1286694"/>
                  </a:lnTo>
                  <a:cubicBezTo>
                    <a:pt x="1401308" y="1235914"/>
                    <a:pt x="1450727" y="1149917"/>
                    <a:pt x="1450727" y="1052379"/>
                  </a:cubicBezTo>
                  <a:close/>
                </a:path>
              </a:pathLst>
            </a:custGeom>
            <a:solidFill>
              <a:srgbClr val="00B0F0"/>
            </a:solidFill>
            <a:ln w="28575"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6" name="Arrow: Right 25">
              <a:extLst>
                <a:ext uri="{FF2B5EF4-FFF2-40B4-BE49-F238E27FC236}">
                  <a16:creationId xmlns:a16="http://schemas.microsoft.com/office/drawing/2014/main" id="{AF39A5EB-0EC5-2054-5AD2-4C24312D925B}"/>
                </a:ext>
              </a:extLst>
            </p:cNvPr>
            <p:cNvSpPr/>
            <p:nvPr/>
          </p:nvSpPr>
          <p:spPr>
            <a:xfrm>
              <a:off x="3102607" y="2402811"/>
              <a:ext cx="687294" cy="261360"/>
            </a:xfrm>
            <a:prstGeom prst="rightArrow">
              <a:avLst>
                <a:gd name="adj1" fmla="val 50000"/>
                <a:gd name="adj2" fmla="val 67320"/>
              </a:avLst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Arrow: Right 26">
              <a:extLst>
                <a:ext uri="{FF2B5EF4-FFF2-40B4-BE49-F238E27FC236}">
                  <a16:creationId xmlns:a16="http://schemas.microsoft.com/office/drawing/2014/main" id="{1A693CC1-9EB8-68B4-76AD-EA3238CDECA6}"/>
                </a:ext>
              </a:extLst>
            </p:cNvPr>
            <p:cNvSpPr/>
            <p:nvPr/>
          </p:nvSpPr>
          <p:spPr>
            <a:xfrm>
              <a:off x="5615214" y="2402811"/>
              <a:ext cx="687294" cy="261360"/>
            </a:xfrm>
            <a:prstGeom prst="rightArrow">
              <a:avLst>
                <a:gd name="adj1" fmla="val 50000"/>
                <a:gd name="adj2" fmla="val 67320"/>
              </a:avLst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Arrow: Right 27">
              <a:extLst>
                <a:ext uri="{FF2B5EF4-FFF2-40B4-BE49-F238E27FC236}">
                  <a16:creationId xmlns:a16="http://schemas.microsoft.com/office/drawing/2014/main" id="{27F5F9B5-D79A-0981-3454-0E19ACB88B01}"/>
                </a:ext>
              </a:extLst>
            </p:cNvPr>
            <p:cNvSpPr/>
            <p:nvPr/>
          </p:nvSpPr>
          <p:spPr>
            <a:xfrm>
              <a:off x="8372249" y="2402811"/>
              <a:ext cx="687294" cy="261360"/>
            </a:xfrm>
            <a:prstGeom prst="rightArrow">
              <a:avLst>
                <a:gd name="adj1" fmla="val 50000"/>
                <a:gd name="adj2" fmla="val 67320"/>
              </a:avLst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Arrow: Right 28">
              <a:extLst>
                <a:ext uri="{FF2B5EF4-FFF2-40B4-BE49-F238E27FC236}">
                  <a16:creationId xmlns:a16="http://schemas.microsoft.com/office/drawing/2014/main" id="{259E86BB-FFF7-657F-D078-04642C519877}"/>
                </a:ext>
              </a:extLst>
            </p:cNvPr>
            <p:cNvSpPr/>
            <p:nvPr/>
          </p:nvSpPr>
          <p:spPr>
            <a:xfrm flipH="1">
              <a:off x="7959552" y="5219761"/>
              <a:ext cx="687294" cy="261360"/>
            </a:xfrm>
            <a:prstGeom prst="rightArrow">
              <a:avLst>
                <a:gd name="adj1" fmla="val 50000"/>
                <a:gd name="adj2" fmla="val 67320"/>
              </a:avLst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Arrow: Right 29">
              <a:extLst>
                <a:ext uri="{FF2B5EF4-FFF2-40B4-BE49-F238E27FC236}">
                  <a16:creationId xmlns:a16="http://schemas.microsoft.com/office/drawing/2014/main" id="{8210002C-5D40-3ED4-8043-5F677EB8A67F}"/>
                </a:ext>
              </a:extLst>
            </p:cNvPr>
            <p:cNvSpPr/>
            <p:nvPr/>
          </p:nvSpPr>
          <p:spPr>
            <a:xfrm flipH="1">
              <a:off x="5434067" y="5220980"/>
              <a:ext cx="687294" cy="261360"/>
            </a:xfrm>
            <a:prstGeom prst="rightArrow">
              <a:avLst>
                <a:gd name="adj1" fmla="val 50000"/>
                <a:gd name="adj2" fmla="val 67320"/>
              </a:avLst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Arrow: Right 30">
              <a:extLst>
                <a:ext uri="{FF2B5EF4-FFF2-40B4-BE49-F238E27FC236}">
                  <a16:creationId xmlns:a16="http://schemas.microsoft.com/office/drawing/2014/main" id="{6AD18993-472B-EE53-9155-20E0B89C3156}"/>
                </a:ext>
              </a:extLst>
            </p:cNvPr>
            <p:cNvSpPr/>
            <p:nvPr/>
          </p:nvSpPr>
          <p:spPr>
            <a:xfrm rot="16200000" flipH="1">
              <a:off x="9690441" y="4025134"/>
              <a:ext cx="468400" cy="261360"/>
            </a:xfrm>
            <a:prstGeom prst="rightArrow">
              <a:avLst>
                <a:gd name="adj1" fmla="val 50000"/>
                <a:gd name="adj2" fmla="val 67320"/>
              </a:avLst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281D45C5-F071-1EFE-073F-193E69C8E193}"/>
                </a:ext>
              </a:extLst>
            </p:cNvPr>
            <p:cNvSpPr txBox="1"/>
            <p:nvPr/>
          </p:nvSpPr>
          <p:spPr>
            <a:xfrm>
              <a:off x="1092110" y="3355676"/>
              <a:ext cx="1783533" cy="51624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1100" dirty="0">
                  <a:latin typeface="Helvetica" pitchFamily="2" charset="0"/>
                </a:rPr>
                <a:t>______________</a:t>
              </a:r>
              <a:br>
                <a:rPr lang="es-ES" sz="1100" dirty="0">
                  <a:latin typeface="Helvetica" pitchFamily="2" charset="0"/>
                </a:rPr>
              </a:br>
              <a:r>
                <a:rPr lang="es-ES" sz="1100" dirty="0">
                  <a:latin typeface="Helvetica" pitchFamily="2" charset="0"/>
                </a:rPr>
                <a:t>______________</a:t>
              </a:r>
              <a:endParaRPr lang="en-US" sz="1100" dirty="0">
                <a:latin typeface="Helvetica" pitchFamily="2" charset="0"/>
              </a:endParaRP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64E1ADC9-4C22-79E2-1BC4-00BDE3A9D866}"/>
                </a:ext>
              </a:extLst>
            </p:cNvPr>
            <p:cNvSpPr txBox="1"/>
            <p:nvPr/>
          </p:nvSpPr>
          <p:spPr>
            <a:xfrm>
              <a:off x="3912722" y="3355676"/>
              <a:ext cx="1783533" cy="51624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1100" dirty="0">
                  <a:latin typeface="Helvetica" pitchFamily="2" charset="0"/>
                </a:rPr>
                <a:t>______________</a:t>
              </a:r>
            </a:p>
            <a:p>
              <a:pPr algn="ctr"/>
              <a:r>
                <a:rPr lang="es-ES" sz="1100" dirty="0">
                  <a:latin typeface="Helvetica" pitchFamily="2" charset="0"/>
                </a:rPr>
                <a:t>______________</a:t>
              </a:r>
              <a:endParaRPr lang="en-US" sz="1100" dirty="0">
                <a:latin typeface="Helvetica" pitchFamily="2" charset="0"/>
              </a:endParaRP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699429E9-EBAE-7C56-6651-8D66F0D94359}"/>
                </a:ext>
              </a:extLst>
            </p:cNvPr>
            <p:cNvSpPr txBox="1"/>
            <p:nvPr/>
          </p:nvSpPr>
          <p:spPr>
            <a:xfrm>
              <a:off x="6345418" y="3355676"/>
              <a:ext cx="1783533" cy="516240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 algn="ctr"/>
              <a:r>
                <a:rPr lang="es-ES" sz="1100" dirty="0">
                  <a:latin typeface="Helvetica"/>
                </a:rPr>
                <a:t>_______________</a:t>
              </a:r>
            </a:p>
            <a:p>
              <a:pPr algn="ctr"/>
              <a:r>
                <a:rPr lang="es-ES" sz="1100" b="1" dirty="0">
                  <a:latin typeface="Helvetica"/>
                </a:rPr>
                <a:t>_______________</a:t>
              </a:r>
              <a:endParaRPr lang="en-US" sz="1100" b="1" dirty="0" err="1">
                <a:latin typeface="Helvetica" pitchFamily="2" charset="0"/>
              </a:endParaRP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1E4D59D7-DED4-DAB2-812D-01670E658D5B}"/>
                </a:ext>
              </a:extLst>
            </p:cNvPr>
            <p:cNvSpPr txBox="1"/>
            <p:nvPr/>
          </p:nvSpPr>
          <p:spPr>
            <a:xfrm>
              <a:off x="9341805" y="3355676"/>
              <a:ext cx="1165967" cy="51624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1100" dirty="0">
                  <a:latin typeface="Helvetica" pitchFamily="2" charset="0"/>
                </a:rPr>
                <a:t>____________________</a:t>
              </a:r>
              <a:endParaRPr lang="en-US" sz="1100" dirty="0">
                <a:latin typeface="Helvetica" pitchFamily="2" charset="0"/>
              </a:endParaRP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802D6614-2FAF-C0FE-671E-ACBA22E8D92F}"/>
                </a:ext>
              </a:extLst>
            </p:cNvPr>
            <p:cNvSpPr txBox="1"/>
            <p:nvPr/>
          </p:nvSpPr>
          <p:spPr>
            <a:xfrm>
              <a:off x="3508552" y="6097881"/>
              <a:ext cx="1557894" cy="301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1100">
                  <a:latin typeface="Helvetica" pitchFamily="2" charset="0"/>
                </a:rPr>
                <a:t>Computadora</a:t>
              </a:r>
              <a:endParaRPr lang="en-US" sz="1100">
                <a:latin typeface="Helvetica" pitchFamily="2" charset="0"/>
              </a:endParaRP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4FFB389A-D3FE-4F45-7CD0-8617A0F28458}"/>
                </a:ext>
              </a:extLst>
            </p:cNvPr>
            <p:cNvSpPr txBox="1"/>
            <p:nvPr/>
          </p:nvSpPr>
          <p:spPr>
            <a:xfrm>
              <a:off x="6095856" y="6097881"/>
              <a:ext cx="1783533" cy="51624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1100" dirty="0">
                  <a:latin typeface="Helvetica" pitchFamily="2" charset="0"/>
                </a:rPr>
                <a:t>________________________________</a:t>
              </a:r>
              <a:endParaRPr lang="en-US" sz="1100" dirty="0">
                <a:latin typeface="Helvetica" pitchFamily="2" charset="0"/>
              </a:endParaRP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1A471706-7974-E5B6-3D42-220F99B30946}"/>
                </a:ext>
              </a:extLst>
            </p:cNvPr>
            <p:cNvSpPr txBox="1"/>
            <p:nvPr/>
          </p:nvSpPr>
          <p:spPr>
            <a:xfrm>
              <a:off x="8913993" y="6097881"/>
              <a:ext cx="1783533" cy="51624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1100" dirty="0">
                  <a:latin typeface="Helvetica" pitchFamily="2" charset="0"/>
                </a:rPr>
                <a:t>________________________________</a:t>
              </a:r>
              <a:endParaRPr lang="en-US" sz="1100" dirty="0">
                <a:latin typeface="Helvetica" pitchFamily="2" charset="0"/>
              </a:endParaRP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6EC9F114-C522-72F0-51CF-870A4BF0B9ED}"/>
                </a:ext>
              </a:extLst>
            </p:cNvPr>
            <p:cNvSpPr txBox="1"/>
            <p:nvPr/>
          </p:nvSpPr>
          <p:spPr>
            <a:xfrm>
              <a:off x="2582591" y="1639286"/>
              <a:ext cx="1783533" cy="3687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dirty="0">
                  <a:solidFill>
                    <a:schemeClr val="accent4">
                      <a:lumMod val="75000"/>
                    </a:schemeClr>
                  </a:solidFill>
                  <a:latin typeface="Helvetica" pitchFamily="2" charset="0"/>
                </a:rPr>
                <a:t>Fase 1. ______</a:t>
              </a:r>
              <a:endParaRPr lang="en-US" dirty="0">
                <a:solidFill>
                  <a:schemeClr val="accent4">
                    <a:lumMod val="75000"/>
                  </a:schemeClr>
                </a:solidFill>
                <a:latin typeface="Helvetica" pitchFamily="2" charset="0"/>
              </a:endParaRPr>
            </a:p>
          </p:txBody>
        </p:sp>
      </p:grpSp>
      <p:sp>
        <p:nvSpPr>
          <p:cNvPr id="67" name="TextBox 66">
            <a:extLst>
              <a:ext uri="{FF2B5EF4-FFF2-40B4-BE49-F238E27FC236}">
                <a16:creationId xmlns:a16="http://schemas.microsoft.com/office/drawing/2014/main" id="{2E7803C5-B7C1-644D-5B7A-AD485C5A3A76}"/>
              </a:ext>
            </a:extLst>
          </p:cNvPr>
          <p:cNvSpPr txBox="1"/>
          <p:nvPr/>
        </p:nvSpPr>
        <p:spPr>
          <a:xfrm>
            <a:off x="2581275" y="1639382"/>
            <a:ext cx="705831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dirty="0">
                <a:solidFill>
                  <a:schemeClr val="accent4">
                    <a:lumMod val="75000"/>
                  </a:schemeClr>
                </a:solidFill>
                <a:latin typeface="Helvetica" pitchFamily="2" charset="0"/>
              </a:rPr>
              <a:t>Compilación y Ejecución de un programa en Java</a:t>
            </a:r>
            <a:endParaRPr lang="en-US" sz="2000" dirty="0">
              <a:solidFill>
                <a:schemeClr val="accent4">
                  <a:lumMod val="75000"/>
                </a:schemeClr>
              </a:solidFill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61039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66BB5845-9A47-FEDC-A85E-2D014CA2F3DA}"/>
              </a:ext>
            </a:extLst>
          </p:cNvPr>
          <p:cNvSpPr/>
          <p:nvPr/>
        </p:nvSpPr>
        <p:spPr>
          <a:xfrm>
            <a:off x="0" y="6356350"/>
            <a:ext cx="7320380" cy="501650"/>
          </a:xfrm>
          <a:prstGeom prst="rect">
            <a:avLst/>
          </a:prstGeom>
          <a:solidFill>
            <a:srgbClr val="E5E5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B03D496-97CF-4B26-B9D0-D39676049E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Resumen de la sesión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A7D7EB-E94C-4379-ADE6-A12EB7C4CBC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38200" y="1846263"/>
            <a:ext cx="7160491" cy="4373562"/>
          </a:xfrm>
        </p:spPr>
        <p:txBody>
          <a:bodyPr>
            <a:normAutofit/>
          </a:bodyPr>
          <a:lstStyle/>
          <a:p>
            <a:r>
              <a:rPr lang="es-ES" dirty="0">
                <a:latin typeface="Helvetica"/>
              </a:rPr>
              <a:t>¿Qué </a:t>
            </a:r>
            <a:r>
              <a:rPr lang="es-ES" b="1" dirty="0">
                <a:latin typeface="Helvetica"/>
              </a:rPr>
              <a:t>ventajas</a:t>
            </a:r>
            <a:r>
              <a:rPr lang="es-ES" dirty="0">
                <a:latin typeface="Helvetica"/>
              </a:rPr>
              <a:t> ofrece el lenguaje </a:t>
            </a:r>
            <a:r>
              <a:rPr lang="es-ES" b="1" dirty="0">
                <a:latin typeface="Helvetica"/>
              </a:rPr>
              <a:t>Java</a:t>
            </a:r>
            <a:r>
              <a:rPr lang="es-ES" dirty="0">
                <a:latin typeface="Helvetica"/>
              </a:rPr>
              <a:t>?</a:t>
            </a:r>
          </a:p>
          <a:p>
            <a:r>
              <a:rPr lang="es-ES" dirty="0">
                <a:latin typeface="Helvetica"/>
              </a:rPr>
              <a:t>¿Qué es </a:t>
            </a:r>
            <a:r>
              <a:rPr lang="es-ES" b="1" dirty="0">
                <a:latin typeface="Helvetica"/>
              </a:rPr>
              <a:t>JDK</a:t>
            </a:r>
            <a:r>
              <a:rPr lang="es-ES" dirty="0">
                <a:latin typeface="Helvetica"/>
              </a:rPr>
              <a:t>?</a:t>
            </a:r>
          </a:p>
          <a:p>
            <a:r>
              <a:rPr lang="es-ES" dirty="0">
                <a:latin typeface="Helvetica"/>
              </a:rPr>
              <a:t>¿Qué </a:t>
            </a:r>
            <a:r>
              <a:rPr lang="es-ES" b="1" dirty="0">
                <a:latin typeface="Helvetica"/>
              </a:rPr>
              <a:t>estructura</a:t>
            </a:r>
            <a:r>
              <a:rPr lang="es-ES" dirty="0">
                <a:latin typeface="Helvetica"/>
              </a:rPr>
              <a:t> tiene un </a:t>
            </a:r>
            <a:r>
              <a:rPr lang="es-ES" b="1" dirty="0">
                <a:latin typeface="Helvetica"/>
              </a:rPr>
              <a:t>programa</a:t>
            </a:r>
            <a:r>
              <a:rPr lang="es-ES" dirty="0">
                <a:latin typeface="Helvetica"/>
              </a:rPr>
              <a:t> en </a:t>
            </a:r>
            <a:r>
              <a:rPr lang="es-ES" b="1" dirty="0">
                <a:latin typeface="Helvetica"/>
              </a:rPr>
              <a:t>Java</a:t>
            </a:r>
            <a:r>
              <a:rPr lang="es-ES" dirty="0">
                <a:latin typeface="Helvetica"/>
              </a:rPr>
              <a:t>?</a:t>
            </a:r>
          </a:p>
          <a:p>
            <a:r>
              <a:rPr lang="es-ES" dirty="0">
                <a:latin typeface="Helvetica"/>
              </a:rPr>
              <a:t>¿Para qué sirve el </a:t>
            </a:r>
            <a:r>
              <a:rPr lang="es-ES" b="1" dirty="0">
                <a:latin typeface="Helvetica"/>
              </a:rPr>
              <a:t>método</a:t>
            </a:r>
            <a:r>
              <a:rPr lang="es-ES" dirty="0">
                <a:latin typeface="Helvetica"/>
              </a:rPr>
              <a:t> </a:t>
            </a:r>
            <a:r>
              <a:rPr lang="es-ES" b="1" dirty="0" err="1">
                <a:latin typeface="Helvetica"/>
              </a:rPr>
              <a:t>main</a:t>
            </a:r>
            <a:r>
              <a:rPr lang="es-ES" dirty="0">
                <a:latin typeface="Helvetica"/>
              </a:rPr>
              <a:t>?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C714D7F-9F45-47C5-88DE-53E493F191F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906163" y="6356350"/>
            <a:ext cx="2743200" cy="365125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51</a:t>
            </a:fld>
            <a:endParaRPr lang="es-PE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2EC220F-3C2B-B243-4B55-66FDD2674876}"/>
              </a:ext>
            </a:extLst>
          </p:cNvPr>
          <p:cNvSpPr txBox="1"/>
          <p:nvPr/>
        </p:nvSpPr>
        <p:spPr>
          <a:xfrm>
            <a:off x="101605" y="6421002"/>
            <a:ext cx="97351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>
                <a:solidFill>
                  <a:schemeClr val="bg1">
                    <a:lumMod val="50000"/>
                  </a:schemeClr>
                </a:solidFill>
              </a:rPr>
              <a:t>Imagen </a:t>
            </a:r>
            <a:r>
              <a:rPr lang="en-US" sz="900" err="1">
                <a:solidFill>
                  <a:schemeClr val="bg1">
                    <a:lumMod val="50000"/>
                  </a:schemeClr>
                </a:solidFill>
              </a:rPr>
              <a:t>obtenida</a:t>
            </a:r>
            <a:r>
              <a:rPr lang="en-US" sz="900">
                <a:solidFill>
                  <a:schemeClr val="bg1">
                    <a:lumMod val="50000"/>
                  </a:schemeClr>
                </a:solidFill>
              </a:rPr>
              <a:t> de:</a:t>
            </a:r>
          </a:p>
          <a:p>
            <a:r>
              <a:rPr lang="en-US" sz="900">
                <a:solidFill>
                  <a:schemeClr val="bg1">
                    <a:lumMod val="50000"/>
                  </a:schemeClr>
                </a:solidFill>
              </a:rPr>
              <a:t>https://dpemfoco.com.br/wp-content/uploads/2019/08/Departamento-de-Pessoal-em-Foco-Checklist-Check-list-Checklists.png</a:t>
            </a:r>
          </a:p>
        </p:txBody>
      </p:sp>
      <p:pic>
        <p:nvPicPr>
          <p:cNvPr id="4098" name="Picture 2" descr="Departamento de Pessoal em Foco - Checklist, Check list, Checklists |  Departamento de Pessoal em Foco">
            <a:extLst>
              <a:ext uri="{FF2B5EF4-FFF2-40B4-BE49-F238E27FC236}">
                <a16:creationId xmlns:a16="http://schemas.microsoft.com/office/drawing/2014/main" id="{F8CB8AA5-99DD-1396-1A63-3757190305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20380" y="2484438"/>
            <a:ext cx="4871619" cy="43735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057058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72AAE1-A89A-796E-F861-8B102D4BD0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Bibliografía</a:t>
            </a:r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E7596FB-30E1-8EAC-F179-F56EE7A8D81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52</a:t>
            </a:fld>
            <a:endParaRPr lang="es-P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93BD92-8F52-2949-7992-63F50DB2ABB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38200" y="1846263"/>
            <a:ext cx="8370455" cy="4373562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120000"/>
              </a:lnSpc>
            </a:pPr>
            <a:r>
              <a:rPr lang="es-ES"/>
              <a:t>Tanenbaum &amp; Van </a:t>
            </a:r>
            <a:r>
              <a:rPr lang="es-ES" err="1"/>
              <a:t>Steen</a:t>
            </a:r>
            <a:r>
              <a:rPr lang="es-ES"/>
              <a:t> (2008). </a:t>
            </a:r>
            <a:r>
              <a:rPr lang="es-ES" i="1">
                <a:solidFill>
                  <a:schemeClr val="bg1">
                    <a:lumMod val="50000"/>
                  </a:schemeClr>
                </a:solidFill>
              </a:rPr>
              <a:t>Algoritmos y Estructuras de Datos - Principios y Paradigmas, 2da Edición</a:t>
            </a:r>
            <a:r>
              <a:rPr lang="es-ES"/>
              <a:t>. Pearson </a:t>
            </a:r>
            <a:r>
              <a:rPr lang="es-ES" err="1"/>
              <a:t>Education</a:t>
            </a:r>
            <a:r>
              <a:rPr lang="es-ES"/>
              <a:t>​.</a:t>
            </a:r>
          </a:p>
          <a:p>
            <a:pPr>
              <a:lnSpc>
                <a:spcPct val="120000"/>
              </a:lnSpc>
            </a:pPr>
            <a:r>
              <a:rPr lang="en-US"/>
              <a:t>Khalid A. Mughal &amp; Rolf W. Rasmussen (2017). A </a:t>
            </a:r>
            <a:r>
              <a:rPr lang="en-US" i="1">
                <a:solidFill>
                  <a:schemeClr val="bg1">
                    <a:lumMod val="50000"/>
                  </a:schemeClr>
                </a:solidFill>
              </a:rPr>
              <a:t>Programmer’s guide to Java SE 8 Oracle Certified Associate</a:t>
            </a:r>
            <a:r>
              <a:rPr lang="es-ES"/>
              <a:t>.</a:t>
            </a:r>
          </a:p>
          <a:p>
            <a:pPr>
              <a:lnSpc>
                <a:spcPct val="120000"/>
              </a:lnSpc>
            </a:pPr>
            <a:r>
              <a:rPr lang="es-ES" err="1"/>
              <a:t>Schildt</a:t>
            </a:r>
            <a:r>
              <a:rPr lang="es-ES"/>
              <a:t>, Herbert (2019). </a:t>
            </a:r>
            <a:r>
              <a:rPr lang="es-ES" i="1">
                <a:solidFill>
                  <a:schemeClr val="bg1">
                    <a:lumMod val="50000"/>
                  </a:schemeClr>
                </a:solidFill>
              </a:rPr>
              <a:t>A Java </a:t>
            </a:r>
            <a:r>
              <a:rPr lang="es-ES" i="1" err="1">
                <a:solidFill>
                  <a:schemeClr val="bg1">
                    <a:lumMod val="50000"/>
                  </a:schemeClr>
                </a:solidFill>
              </a:rPr>
              <a:t>Beginner’s</a:t>
            </a:r>
            <a:r>
              <a:rPr lang="es-ES" i="1">
                <a:solidFill>
                  <a:schemeClr val="bg1">
                    <a:lumMod val="50000"/>
                  </a:schemeClr>
                </a:solidFill>
              </a:rPr>
              <a:t> Guide </a:t>
            </a:r>
            <a:r>
              <a:rPr lang="es-ES" i="1" err="1">
                <a:solidFill>
                  <a:schemeClr val="bg1">
                    <a:lumMod val="50000"/>
                  </a:schemeClr>
                </a:solidFill>
              </a:rPr>
              <a:t>Eighth</a:t>
            </a:r>
            <a:r>
              <a:rPr lang="es-ES" i="1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s-ES" i="1" err="1">
                <a:solidFill>
                  <a:schemeClr val="bg1">
                    <a:lumMod val="50000"/>
                  </a:schemeClr>
                </a:solidFill>
              </a:rPr>
              <a:t>Edition</a:t>
            </a:r>
            <a:r>
              <a:rPr lang="es-ES"/>
              <a:t>. Oracle </a:t>
            </a:r>
            <a:r>
              <a:rPr lang="es-ES" err="1"/>
              <a:t>Press</a:t>
            </a:r>
            <a:r>
              <a:rPr lang="es-ES"/>
              <a:t>.</a:t>
            </a:r>
          </a:p>
          <a:p>
            <a:pPr>
              <a:lnSpc>
                <a:spcPct val="120000"/>
              </a:lnSpc>
            </a:pPr>
            <a:r>
              <a:rPr lang="es-ES" err="1"/>
              <a:t>Schildt</a:t>
            </a:r>
            <a:r>
              <a:rPr lang="es-ES"/>
              <a:t>, Herbert (2019). </a:t>
            </a:r>
            <a:r>
              <a:rPr lang="es-ES" i="1">
                <a:solidFill>
                  <a:schemeClr val="bg1">
                    <a:lumMod val="50000"/>
                  </a:schemeClr>
                </a:solidFill>
              </a:rPr>
              <a:t>Java </a:t>
            </a:r>
            <a:r>
              <a:rPr lang="es-ES" i="1" err="1">
                <a:solidFill>
                  <a:schemeClr val="bg1">
                    <a:lumMod val="50000"/>
                  </a:schemeClr>
                </a:solidFill>
              </a:rPr>
              <a:t>The</a:t>
            </a:r>
            <a:r>
              <a:rPr lang="es-ES" i="1">
                <a:solidFill>
                  <a:schemeClr val="bg1">
                    <a:lumMod val="50000"/>
                  </a:schemeClr>
                </a:solidFill>
              </a:rPr>
              <a:t> Complete Reference </a:t>
            </a:r>
            <a:r>
              <a:rPr lang="es-ES" i="1" err="1">
                <a:solidFill>
                  <a:schemeClr val="bg1">
                    <a:lumMod val="50000"/>
                  </a:schemeClr>
                </a:solidFill>
              </a:rPr>
              <a:t>Eleventh</a:t>
            </a:r>
            <a:r>
              <a:rPr lang="es-ES" i="1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s-ES" i="1" err="1">
                <a:solidFill>
                  <a:schemeClr val="bg1">
                    <a:lumMod val="50000"/>
                  </a:schemeClr>
                </a:solidFill>
              </a:rPr>
              <a:t>Edition</a:t>
            </a:r>
            <a:r>
              <a:rPr lang="es-ES"/>
              <a:t>. Oracle </a:t>
            </a:r>
            <a:r>
              <a:rPr lang="es-ES" err="1"/>
              <a:t>Press</a:t>
            </a:r>
            <a:r>
              <a:rPr lang="es-ES"/>
              <a:t>.</a:t>
            </a:r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2021AEC-CD51-7E5F-26CB-5CDC143BC84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29118"/>
          <a:stretch/>
        </p:blipFill>
        <p:spPr>
          <a:xfrm>
            <a:off x="9208655" y="1057997"/>
            <a:ext cx="2983345" cy="5168601"/>
          </a:xfrm>
          <a:prstGeom prst="rect">
            <a:avLst/>
          </a:prstGeom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4B7CE11-3AE4-2A5E-0825-C0E9DFAB006E}"/>
              </a:ext>
            </a:extLst>
          </p:cNvPr>
          <p:cNvSpPr txBox="1"/>
          <p:nvPr/>
        </p:nvSpPr>
        <p:spPr>
          <a:xfrm>
            <a:off x="101605" y="6421002"/>
            <a:ext cx="97351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>
                <a:solidFill>
                  <a:schemeClr val="bg1">
                    <a:lumMod val="50000"/>
                  </a:schemeClr>
                </a:solidFill>
              </a:rPr>
              <a:t>Imagen </a:t>
            </a:r>
            <a:r>
              <a:rPr lang="en-US" sz="900" err="1">
                <a:solidFill>
                  <a:schemeClr val="bg1">
                    <a:lumMod val="50000"/>
                  </a:schemeClr>
                </a:solidFill>
              </a:rPr>
              <a:t>obtenida</a:t>
            </a:r>
            <a:r>
              <a:rPr lang="en-US" sz="900">
                <a:solidFill>
                  <a:schemeClr val="bg1">
                    <a:lumMod val="50000"/>
                  </a:schemeClr>
                </a:solidFill>
              </a:rPr>
              <a:t> de:</a:t>
            </a:r>
          </a:p>
          <a:p>
            <a:r>
              <a:rPr lang="en-US" sz="900">
                <a:solidFill>
                  <a:schemeClr val="bg1">
                    <a:lumMod val="50000"/>
                  </a:schemeClr>
                </a:solidFill>
              </a:rPr>
              <a:t>https://pngimg.com/d/book_PNG51088.png</a:t>
            </a:r>
          </a:p>
        </p:txBody>
      </p:sp>
    </p:spTree>
    <p:extLst>
      <p:ext uri="{BB962C8B-B14F-4D97-AF65-F5344CB8AC3E}">
        <p14:creationId xmlns:p14="http://schemas.microsoft.com/office/powerpoint/2010/main" val="35981088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TemaUTP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</TotalTime>
  <Words>3100</Words>
  <Application>Microsoft Office PowerPoint</Application>
  <PresentationFormat>Panorámica</PresentationFormat>
  <Paragraphs>598</Paragraphs>
  <Slides>53</Slides>
  <Notes>13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53</vt:i4>
      </vt:variant>
    </vt:vector>
  </HeadingPairs>
  <TitlesOfParts>
    <vt:vector size="58" baseType="lpstr">
      <vt:lpstr>Arial</vt:lpstr>
      <vt:lpstr>Calibri</vt:lpstr>
      <vt:lpstr>Helvetica</vt:lpstr>
      <vt:lpstr>JetBrains Mono</vt:lpstr>
      <vt:lpstr>TemaUTP</vt:lpstr>
      <vt:lpstr>Taller de Programación</vt:lpstr>
      <vt:lpstr>Introducción al Lenguaje de Programación Java (I)</vt:lpstr>
      <vt:lpstr>Conocimientos previos</vt:lpstr>
      <vt:lpstr>Logro de aprendizaje</vt:lpstr>
      <vt:lpstr>Utilidad</vt:lpstr>
      <vt:lpstr>Prueba de entrada</vt:lpstr>
      <vt:lpstr>Presentación de PowerPoint</vt:lpstr>
      <vt:lpstr>Presentación de PowerPoint</vt:lpstr>
      <vt:lpstr>Algoritmo</vt:lpstr>
      <vt:lpstr>Algoritmo. Ejemplo.</vt:lpstr>
      <vt:lpstr>Programa</vt:lpstr>
      <vt:lpstr>Lenguaje de programación</vt:lpstr>
      <vt:lpstr>Programación</vt:lpstr>
      <vt:lpstr>Presentación de PowerPoint</vt:lpstr>
      <vt:lpstr>Compilador</vt:lpstr>
      <vt:lpstr>Intérprete</vt:lpstr>
      <vt:lpstr>Presentación de PowerPoint</vt:lpstr>
      <vt:lpstr>El lenguaje Java</vt:lpstr>
      <vt:lpstr>Características de Java</vt:lpstr>
      <vt:lpstr>Plataformas Java</vt:lpstr>
      <vt:lpstr>Edición Java SE</vt:lpstr>
      <vt:lpstr>Componentes de Java SE</vt:lpstr>
      <vt:lpstr>Presentación de PowerPoint</vt:lpstr>
      <vt:lpstr>Requisitos para programar en Java</vt:lpstr>
      <vt:lpstr>Entorno de Desarrollo Integrado (IDE)</vt:lpstr>
      <vt:lpstr>Presentación de PowerPoint</vt:lpstr>
      <vt:lpstr>Compilación y Ejecución. Fases.</vt:lpstr>
      <vt:lpstr>Máquina Virtual de Java (JVM)</vt:lpstr>
      <vt:lpstr>Entorno de Ejecución Java (JRE)</vt:lpstr>
      <vt:lpstr>Kit de Desarrollo Java (JDK)</vt:lpstr>
      <vt:lpstr>JVM, JDK, JRE</vt:lpstr>
      <vt:lpstr>javac</vt:lpstr>
      <vt:lpstr>Compilación y ejecución manual</vt:lpstr>
      <vt:lpstr>Compilación y ejecución manual</vt:lpstr>
      <vt:lpstr>Presentación de PowerPoint</vt:lpstr>
      <vt:lpstr>Bytecode</vt:lpstr>
      <vt:lpstr>Bytecode y JVM</vt:lpstr>
      <vt:lpstr>Presentación de PowerPoint</vt:lpstr>
      <vt:lpstr>Estructura de un programa Java</vt:lpstr>
      <vt:lpstr>Paquetes</vt:lpstr>
      <vt:lpstr>¿Qué es “public class”?</vt:lpstr>
      <vt:lpstr>Método main</vt:lpstr>
      <vt:lpstr>Presentación de PowerPoint</vt:lpstr>
      <vt:lpstr>Cuestionario</vt:lpstr>
      <vt:lpstr>Cuestionario</vt:lpstr>
      <vt:lpstr>Cuestionario</vt:lpstr>
      <vt:lpstr>Cuestionario</vt:lpstr>
      <vt:lpstr>Cuestionario</vt:lpstr>
      <vt:lpstr>Cuestionario</vt:lpstr>
      <vt:lpstr>Completa el esquema</vt:lpstr>
      <vt:lpstr>Resumen de la sesión</vt:lpstr>
      <vt:lpstr>Bibliografía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UTP - Taller Programación - Semana 01-Sesión 01</dc:title>
  <dc:creator>jorgerodcas@hotmail.com</dc:creator>
  <cp:lastModifiedBy>Juan Carlos García</cp:lastModifiedBy>
  <cp:revision>70</cp:revision>
  <dcterms:modified xsi:type="dcterms:W3CDTF">2023-10-20T20:53:21Z</dcterms:modified>
</cp:coreProperties>
</file>