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39"/>
  </p:notesMasterIdLst>
  <p:sldIdLst>
    <p:sldId id="256" r:id="rId2"/>
    <p:sldId id="377" r:id="rId3"/>
    <p:sldId id="388" r:id="rId4"/>
    <p:sldId id="389" r:id="rId5"/>
    <p:sldId id="390" r:id="rId6"/>
    <p:sldId id="258" r:id="rId7"/>
    <p:sldId id="257" r:id="rId8"/>
    <p:sldId id="263" r:id="rId9"/>
    <p:sldId id="264" r:id="rId10"/>
    <p:sldId id="330" r:id="rId11"/>
    <p:sldId id="382" r:id="rId12"/>
    <p:sldId id="352" r:id="rId13"/>
    <p:sldId id="353" r:id="rId14"/>
    <p:sldId id="354" r:id="rId15"/>
    <p:sldId id="391" r:id="rId16"/>
    <p:sldId id="393" r:id="rId17"/>
    <p:sldId id="345" r:id="rId18"/>
    <p:sldId id="355" r:id="rId19"/>
    <p:sldId id="356" r:id="rId20"/>
    <p:sldId id="346" r:id="rId21"/>
    <p:sldId id="357" r:id="rId22"/>
    <p:sldId id="358" r:id="rId23"/>
    <p:sldId id="359" r:id="rId24"/>
    <p:sldId id="360" r:id="rId25"/>
    <p:sldId id="392" r:id="rId26"/>
    <p:sldId id="347" r:id="rId27"/>
    <p:sldId id="361" r:id="rId28"/>
    <p:sldId id="362" r:id="rId29"/>
    <p:sldId id="348" r:id="rId30"/>
    <p:sldId id="394" r:id="rId31"/>
    <p:sldId id="395" r:id="rId32"/>
    <p:sldId id="396" r:id="rId33"/>
    <p:sldId id="397" r:id="rId34"/>
    <p:sldId id="399" r:id="rId35"/>
    <p:sldId id="261" r:id="rId36"/>
    <p:sldId id="329" r:id="rId37"/>
    <p:sldId id="259" r:id="rId38"/>
  </p:sldIdLst>
  <p:sldSz cx="12192000" cy="6858000"/>
  <p:notesSz cx="6858000" cy="9144000"/>
  <p:embeddedFontLst>
    <p:embeddedFont>
      <p:font typeface="Helvetica" panose="020B0604020202020204" pitchFamily="34" charset="0"/>
      <p:regular r:id="rId40"/>
      <p:bold r:id="rId41"/>
      <p:italic r:id="rId42"/>
      <p:boldItalic r:id="rId43"/>
    </p:embeddedFont>
    <p:embeddedFont>
      <p:font typeface="JetBrains Mono" panose="02000009000000000000" pitchFamily="49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h2+CB7AwAKHevBYi6hg66TyKQ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A4C064"/>
    <a:srgbClr val="8FE2FF"/>
    <a:srgbClr val="8E927B"/>
    <a:srgbClr val="1B5E8B"/>
    <a:srgbClr val="C5E0F3"/>
    <a:srgbClr val="AFD5EF"/>
    <a:srgbClr val="8FC5E9"/>
    <a:srgbClr val="68B1E2"/>
    <a:srgbClr val="429C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2668" autoAdjust="0"/>
  </p:normalViewPr>
  <p:slideViewPr>
    <p:cSldViewPr snapToGrid="0">
      <p:cViewPr varScale="1">
        <p:scale>
          <a:sx n="115" d="100"/>
          <a:sy n="115" d="100"/>
        </p:scale>
        <p:origin x="72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D. </a:t>
            </a:r>
            <a:r>
              <a:rPr lang="es-ES" dirty="0" err="1"/>
              <a:t>int</a:t>
            </a:r>
            <a:r>
              <a:rPr lang="es-ES" dirty="0"/>
              <a:t>, </a:t>
            </a:r>
            <a:r>
              <a:rPr lang="es-ES" dirty="0" err="1"/>
              <a:t>double</a:t>
            </a:r>
            <a:r>
              <a:rPr lang="es-ES" dirty="0"/>
              <a:t>, </a:t>
            </a:r>
            <a:r>
              <a:rPr lang="es-ES" dirty="0" err="1"/>
              <a:t>float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022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A. Interfases y clases</a:t>
            </a:r>
          </a:p>
          <a:p>
            <a:r>
              <a:rPr lang="es-ES" dirty="0"/>
              <a:t>C. </a:t>
            </a:r>
            <a:r>
              <a:rPr lang="en-US" dirty="0">
                <a:latin typeface="+mj-lt"/>
              </a:rPr>
              <a:t>Array, Enum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347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Todas las formas son válidas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973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Respuesta:</a:t>
            </a:r>
          </a:p>
          <a:p>
            <a:pPr>
              <a:buAutoNum type="alphaUcPeriod"/>
            </a:pPr>
            <a:r>
              <a:rPr lang="en-US" dirty="0">
                <a:latin typeface="+mj-lt"/>
              </a:rPr>
              <a:t>Los </a:t>
            </a:r>
            <a:r>
              <a:rPr lang="en-US" dirty="0" err="1">
                <a:latin typeface="+mj-lt"/>
              </a:rPr>
              <a:t>datos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leidos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necesitan</a:t>
            </a:r>
            <a:r>
              <a:rPr lang="en-US" dirty="0">
                <a:latin typeface="+mj-lt"/>
              </a:rPr>
              <a:t> ser </a:t>
            </a:r>
            <a:r>
              <a:rPr lang="en-US" dirty="0" err="1">
                <a:latin typeface="+mj-lt"/>
              </a:rPr>
              <a:t>convertidos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explícitamente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aplicando</a:t>
            </a:r>
            <a:r>
              <a:rPr lang="en-US" dirty="0">
                <a:latin typeface="+mj-lt"/>
              </a:rPr>
              <a:t> </a:t>
            </a:r>
            <a:r>
              <a:rPr lang="en-US" b="1" i="1" dirty="0">
                <a:latin typeface="+mj-lt"/>
              </a:rPr>
              <a:t>cast</a:t>
            </a:r>
            <a:r>
              <a:rPr lang="en-US" dirty="0">
                <a:latin typeface="+mj-lt"/>
              </a:rPr>
              <a:t> de </a:t>
            </a:r>
            <a:r>
              <a:rPr lang="en-US" dirty="0" err="1">
                <a:latin typeface="+mj-lt"/>
              </a:rPr>
              <a:t>tipos</a:t>
            </a:r>
            <a:r>
              <a:rPr lang="en-US" dirty="0">
                <a:latin typeface="+mj-lt"/>
              </a:rPr>
              <a:t>.</a:t>
            </a:r>
          </a:p>
          <a:p>
            <a:pPr marL="228600" indent="0">
              <a:buNone/>
            </a:pPr>
            <a:endParaRPr lang="en-US" dirty="0">
              <a:latin typeface="+mj-lt"/>
            </a:endParaRPr>
          </a:p>
          <a:p>
            <a:pPr marL="228600" indent="0">
              <a:buNone/>
            </a:pPr>
            <a:r>
              <a:rPr lang="en-US" dirty="0">
                <a:latin typeface="+mj-lt"/>
              </a:rPr>
              <a:t>La </a:t>
            </a:r>
            <a:r>
              <a:rPr lang="en-US" dirty="0" err="1">
                <a:latin typeface="+mj-lt"/>
              </a:rPr>
              <a:t>clase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incluye</a:t>
            </a:r>
            <a:r>
              <a:rPr lang="en-US" dirty="0">
                <a:latin typeface="+mj-lt"/>
              </a:rPr>
              <a:t> sus </a:t>
            </a:r>
            <a:r>
              <a:rPr lang="en-US" dirty="0" err="1">
                <a:latin typeface="+mj-lt"/>
              </a:rPr>
              <a:t>propios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métodos</a:t>
            </a:r>
            <a:r>
              <a:rPr lang="en-US" dirty="0">
                <a:latin typeface="+mj-lt"/>
              </a:rPr>
              <a:t> para </a:t>
            </a:r>
            <a:r>
              <a:rPr lang="en-US" dirty="0" err="1">
                <a:latin typeface="+mj-lt"/>
              </a:rPr>
              <a:t>retornar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tipo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requerido</a:t>
            </a:r>
            <a:r>
              <a:rPr lang="en-US" dirty="0">
                <a:latin typeface="+mj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56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</a:t>
            </a:r>
          </a:p>
          <a:p>
            <a:r>
              <a:rPr lang="es-ES" dirty="0"/>
              <a:t>D.</a:t>
            </a:r>
          </a:p>
          <a:p>
            <a:r>
              <a:rPr lang="es-ES" dirty="0"/>
              <a:t>Se requiere un </a:t>
            </a:r>
            <a:r>
              <a:rPr lang="es-ES" dirty="0" err="1"/>
              <a:t>cast</a:t>
            </a:r>
            <a:r>
              <a:rPr lang="es-ES" dirty="0"/>
              <a:t> explícito o agregar el sufijo f a 10.0</a:t>
            </a:r>
          </a:p>
          <a:p>
            <a:endParaRPr lang="es-ES" dirty="0"/>
          </a:p>
          <a:p>
            <a:r>
              <a:rPr lang="es-ES" dirty="0"/>
              <a:t>Formas correctas: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float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p = (</a:t>
            </a:r>
            <a:r>
              <a:rPr lang="en-US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float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 (x /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10.0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800" dirty="0">
                <a:solidFill>
                  <a:srgbClr val="749DED"/>
                </a:solidFill>
                <a:effectLst/>
                <a:latin typeface="JetBrains Mono" panose="02000009000000000000" pitchFamily="49" charset="0"/>
              </a:rPr>
              <a:t>float 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p = x / </a:t>
            </a:r>
            <a:r>
              <a:rPr lang="en-US" sz="1800" dirty="0">
                <a:solidFill>
                  <a:srgbClr val="D981DE"/>
                </a:solidFill>
                <a:effectLst/>
                <a:latin typeface="JetBrains Mono" panose="02000009000000000000" pitchFamily="49" charset="0"/>
              </a:rPr>
              <a:t>10.0f</a:t>
            </a:r>
            <a:r>
              <a:rPr lang="en-US" sz="1800" dirty="0">
                <a:solidFill>
                  <a:srgbClr val="CED0D6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746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2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A052D14D-003D-E122-16E3-33BF8FEDC1A9}"/>
              </a:ext>
            </a:extLst>
          </p:cNvPr>
          <p:cNvSpPr/>
          <p:nvPr/>
        </p:nvSpPr>
        <p:spPr>
          <a:xfrm>
            <a:off x="1800000" y="1892777"/>
            <a:ext cx="5884752" cy="612690"/>
          </a:xfrm>
          <a:prstGeom prst="chevron">
            <a:avLst>
              <a:gd name="adj" fmla="val 31197"/>
            </a:avLst>
          </a:prstGeom>
          <a:solidFill>
            <a:srgbClr val="1B5E8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Palabras reservadas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78A2A773-7820-CE10-A368-B026EBDD0965}"/>
              </a:ext>
            </a:extLst>
          </p:cNvPr>
          <p:cNvSpPr/>
          <p:nvPr/>
        </p:nvSpPr>
        <p:spPr>
          <a:xfrm>
            <a:off x="1059255" y="2733073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 err="1">
                <a:solidFill>
                  <a:schemeClr val="bg1"/>
                </a:solidFill>
              </a:rPr>
              <a:t>println</a:t>
            </a:r>
            <a:r>
              <a:rPr lang="es-ES" sz="1800" dirty="0">
                <a:solidFill>
                  <a:schemeClr val="bg1"/>
                </a:solidFill>
              </a:rPr>
              <a:t>() y </a:t>
            </a:r>
            <a:r>
              <a:rPr lang="es-ES" sz="1800" dirty="0" err="1">
                <a:solidFill>
                  <a:schemeClr val="bg1"/>
                </a:solidFill>
              </a:rPr>
              <a:t>printf</a:t>
            </a:r>
            <a:r>
              <a:rPr lang="es-ES" sz="1800" dirty="0">
                <a:solidFill>
                  <a:schemeClr val="bg1"/>
                </a:solidFill>
              </a:rPr>
              <a:t>()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7BB09D0-D98F-3A4B-B26B-C388674E9FFF}"/>
              </a:ext>
            </a:extLst>
          </p:cNvPr>
          <p:cNvSpPr/>
          <p:nvPr/>
        </p:nvSpPr>
        <p:spPr>
          <a:xfrm>
            <a:off x="1059255" y="3573369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Identificadores. Reglas.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DFF87899-D014-21A1-0547-CF54F141B6B8}"/>
              </a:ext>
            </a:extLst>
          </p:cNvPr>
          <p:cNvSpPr/>
          <p:nvPr/>
        </p:nvSpPr>
        <p:spPr>
          <a:xfrm>
            <a:off x="1059255" y="4413665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Variable y Constante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BC31A85-ADEF-141F-D9D1-23803073F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80" y="977774"/>
            <a:ext cx="5154433" cy="58802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993BA52-C53D-4D6F-F1C6-BC129A68EAB9}"/>
              </a:ext>
            </a:extLst>
          </p:cNvPr>
          <p:cNvSpPr txBox="1"/>
          <p:nvPr/>
        </p:nvSpPr>
        <p:spPr>
          <a:xfrm>
            <a:off x="101859" y="635635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https://www.pngall.com/wp-content/uploads/4/Thinking-Man-Transparent.png</a:t>
            </a:r>
          </a:p>
        </p:txBody>
      </p:sp>
    </p:spTree>
    <p:extLst>
      <p:ext uri="{BB962C8B-B14F-4D97-AF65-F5344CB8AC3E}">
        <p14:creationId xmlns:p14="http://schemas.microsoft.com/office/powerpoint/2010/main" val="371929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3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A052D14D-003D-E122-16E3-33BF8FEDC1A9}"/>
              </a:ext>
            </a:extLst>
          </p:cNvPr>
          <p:cNvSpPr/>
          <p:nvPr/>
        </p:nvSpPr>
        <p:spPr>
          <a:xfrm>
            <a:off x="1059255" y="1892777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Palabras reservadas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78A2A773-7820-CE10-A368-B026EBDD0965}"/>
              </a:ext>
            </a:extLst>
          </p:cNvPr>
          <p:cNvSpPr/>
          <p:nvPr/>
        </p:nvSpPr>
        <p:spPr>
          <a:xfrm>
            <a:off x="1800000" y="2733073"/>
            <a:ext cx="5884752" cy="612690"/>
          </a:xfrm>
          <a:prstGeom prst="chevron">
            <a:avLst>
              <a:gd name="adj" fmla="val 31197"/>
            </a:avLst>
          </a:prstGeom>
          <a:solidFill>
            <a:srgbClr val="1B5E8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 err="1">
                <a:solidFill>
                  <a:schemeClr val="bg1"/>
                </a:solidFill>
              </a:rPr>
              <a:t>println</a:t>
            </a:r>
            <a:r>
              <a:rPr lang="es-ES" sz="1800" dirty="0">
                <a:solidFill>
                  <a:schemeClr val="bg1"/>
                </a:solidFill>
              </a:rPr>
              <a:t>() y </a:t>
            </a:r>
            <a:r>
              <a:rPr lang="es-ES" sz="1800" dirty="0" err="1">
                <a:solidFill>
                  <a:schemeClr val="bg1"/>
                </a:solidFill>
              </a:rPr>
              <a:t>printf</a:t>
            </a:r>
            <a:r>
              <a:rPr lang="es-ES" sz="1800" dirty="0">
                <a:solidFill>
                  <a:schemeClr val="bg1"/>
                </a:solidFill>
              </a:rPr>
              <a:t>()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7BB09D0-D98F-3A4B-B26B-C388674E9FFF}"/>
              </a:ext>
            </a:extLst>
          </p:cNvPr>
          <p:cNvSpPr/>
          <p:nvPr/>
        </p:nvSpPr>
        <p:spPr>
          <a:xfrm>
            <a:off x="1059255" y="3573369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Identificadores. Reglas.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DFF87899-D014-21A1-0547-CF54F141B6B8}"/>
              </a:ext>
            </a:extLst>
          </p:cNvPr>
          <p:cNvSpPr/>
          <p:nvPr/>
        </p:nvSpPr>
        <p:spPr>
          <a:xfrm>
            <a:off x="1059255" y="4413665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Variable y Constante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BC31A85-ADEF-141F-D9D1-23803073F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80" y="977774"/>
            <a:ext cx="5154433" cy="58802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993BA52-C53D-4D6F-F1C6-BC129A68EAB9}"/>
              </a:ext>
            </a:extLst>
          </p:cNvPr>
          <p:cNvSpPr txBox="1"/>
          <p:nvPr/>
        </p:nvSpPr>
        <p:spPr>
          <a:xfrm>
            <a:off x="101859" y="635635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https://www.pngall.com/wp-content/uploads/4/Thinking-Man-Transparent.png</a:t>
            </a:r>
          </a:p>
        </p:txBody>
      </p:sp>
    </p:spTree>
    <p:extLst>
      <p:ext uri="{BB962C8B-B14F-4D97-AF65-F5344CB8AC3E}">
        <p14:creationId xmlns:p14="http://schemas.microsoft.com/office/powerpoint/2010/main" val="336125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4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A052D14D-003D-E122-16E3-33BF8FEDC1A9}"/>
              </a:ext>
            </a:extLst>
          </p:cNvPr>
          <p:cNvSpPr/>
          <p:nvPr/>
        </p:nvSpPr>
        <p:spPr>
          <a:xfrm>
            <a:off x="1059255" y="1892777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Palabras reservadas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78A2A773-7820-CE10-A368-B026EBDD0965}"/>
              </a:ext>
            </a:extLst>
          </p:cNvPr>
          <p:cNvSpPr/>
          <p:nvPr/>
        </p:nvSpPr>
        <p:spPr>
          <a:xfrm>
            <a:off x="1059255" y="2733073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 err="1">
                <a:solidFill>
                  <a:schemeClr val="bg1"/>
                </a:solidFill>
              </a:rPr>
              <a:t>println</a:t>
            </a:r>
            <a:r>
              <a:rPr lang="es-ES" sz="1800" dirty="0">
                <a:solidFill>
                  <a:schemeClr val="bg1"/>
                </a:solidFill>
              </a:rPr>
              <a:t>() y </a:t>
            </a:r>
            <a:r>
              <a:rPr lang="es-ES" sz="1800" dirty="0" err="1">
                <a:solidFill>
                  <a:schemeClr val="bg1"/>
                </a:solidFill>
              </a:rPr>
              <a:t>printf</a:t>
            </a:r>
            <a:r>
              <a:rPr lang="es-ES" sz="1800" dirty="0">
                <a:solidFill>
                  <a:schemeClr val="bg1"/>
                </a:solidFill>
              </a:rPr>
              <a:t>()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DFF87899-D014-21A1-0547-CF54F141B6B8}"/>
              </a:ext>
            </a:extLst>
          </p:cNvPr>
          <p:cNvSpPr/>
          <p:nvPr/>
        </p:nvSpPr>
        <p:spPr>
          <a:xfrm>
            <a:off x="1059255" y="4413665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Variable y Constante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BC31A85-ADEF-141F-D9D1-23803073F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80" y="977774"/>
            <a:ext cx="5154433" cy="58802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993BA52-C53D-4D6F-F1C6-BC129A68EAB9}"/>
              </a:ext>
            </a:extLst>
          </p:cNvPr>
          <p:cNvSpPr txBox="1"/>
          <p:nvPr/>
        </p:nvSpPr>
        <p:spPr>
          <a:xfrm>
            <a:off x="101859" y="635635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https://www.pngall.com/wp-content/uploads/4/Thinking-Man-Transparent.png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7BB09D0-D98F-3A4B-B26B-C388674E9FFF}"/>
              </a:ext>
            </a:extLst>
          </p:cNvPr>
          <p:cNvSpPr/>
          <p:nvPr/>
        </p:nvSpPr>
        <p:spPr>
          <a:xfrm>
            <a:off x="1800000" y="3573369"/>
            <a:ext cx="5884752" cy="612690"/>
          </a:xfrm>
          <a:prstGeom prst="chevron">
            <a:avLst>
              <a:gd name="adj" fmla="val 31197"/>
            </a:avLst>
          </a:prstGeom>
          <a:solidFill>
            <a:srgbClr val="1B5E8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Identificadores. Reglas.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52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C4FC0-94CB-C0F6-8A83-2E9D719AA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ACFEC-C1D6-EF0F-1C00-676A5733C9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75000"/>
                  </a:schemeClr>
                </a:solidFill>
              </a:rPr>
              <a:t>5</a:t>
            </a:fld>
            <a:endParaRPr lang="es-P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A052D14D-003D-E122-16E3-33BF8FEDC1A9}"/>
              </a:ext>
            </a:extLst>
          </p:cNvPr>
          <p:cNvSpPr/>
          <p:nvPr/>
        </p:nvSpPr>
        <p:spPr>
          <a:xfrm>
            <a:off x="1059255" y="1892777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Palabras reservadas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78A2A773-7820-CE10-A368-B026EBDD0965}"/>
              </a:ext>
            </a:extLst>
          </p:cNvPr>
          <p:cNvSpPr/>
          <p:nvPr/>
        </p:nvSpPr>
        <p:spPr>
          <a:xfrm>
            <a:off x="1059255" y="2733073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 err="1">
                <a:solidFill>
                  <a:schemeClr val="bg1"/>
                </a:solidFill>
              </a:rPr>
              <a:t>println</a:t>
            </a:r>
            <a:r>
              <a:rPr lang="es-ES" sz="1800" dirty="0">
                <a:solidFill>
                  <a:schemeClr val="bg1"/>
                </a:solidFill>
              </a:rPr>
              <a:t>() y </a:t>
            </a:r>
            <a:r>
              <a:rPr lang="es-ES" sz="1800" dirty="0" err="1">
                <a:solidFill>
                  <a:schemeClr val="bg1"/>
                </a:solidFill>
              </a:rPr>
              <a:t>printf</a:t>
            </a:r>
            <a:r>
              <a:rPr lang="es-ES" sz="1800" dirty="0">
                <a:solidFill>
                  <a:schemeClr val="bg1"/>
                </a:solidFill>
              </a:rPr>
              <a:t>()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47BB09D0-D98F-3A4B-B26B-C388674E9FFF}"/>
              </a:ext>
            </a:extLst>
          </p:cNvPr>
          <p:cNvSpPr/>
          <p:nvPr/>
        </p:nvSpPr>
        <p:spPr>
          <a:xfrm>
            <a:off x="1059255" y="3573369"/>
            <a:ext cx="5884752" cy="612690"/>
          </a:xfrm>
          <a:prstGeom prst="chevron">
            <a:avLst>
              <a:gd name="adj" fmla="val 3119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Identificadores. Reglas.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BC31A85-ADEF-141F-D9D1-23803073F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580" y="977774"/>
            <a:ext cx="5154433" cy="58802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993BA52-C53D-4D6F-F1C6-BC129A68EAB9}"/>
              </a:ext>
            </a:extLst>
          </p:cNvPr>
          <p:cNvSpPr txBox="1"/>
          <p:nvPr/>
        </p:nvSpPr>
        <p:spPr>
          <a:xfrm>
            <a:off x="101859" y="635635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https://www.pngall.com/wp-content/uploads/4/Thinking-Man-Transparent.png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DFF87899-D014-21A1-0547-CF54F141B6B8}"/>
              </a:ext>
            </a:extLst>
          </p:cNvPr>
          <p:cNvSpPr/>
          <p:nvPr/>
        </p:nvSpPr>
        <p:spPr>
          <a:xfrm>
            <a:off x="1800000" y="4413665"/>
            <a:ext cx="5884752" cy="612690"/>
          </a:xfrm>
          <a:prstGeom prst="chevron">
            <a:avLst>
              <a:gd name="adj" fmla="val 31197"/>
            </a:avLst>
          </a:prstGeom>
          <a:solidFill>
            <a:srgbClr val="1B5E8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>
                <a:solidFill>
                  <a:schemeClr val="bg1"/>
                </a:solidFill>
              </a:rPr>
              <a:t>Variable y Constante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93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/>
              <a:t>Tipos de Datos, Operadores y Entrada de Datos (I)</a:t>
            </a:r>
            <a:endParaRPr lang="en-US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3AE8302F-9912-433F-8D84-F9EDD2EB12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381531" cy="4373562"/>
          </a:xfrm>
        </p:spPr>
        <p:txBody>
          <a:bodyPr>
            <a:noAutofit/>
          </a:bodyPr>
          <a:lstStyle/>
          <a:p>
            <a:pPr marL="50800" indent="0">
              <a:buNone/>
            </a:pPr>
            <a:r>
              <a:rPr lang="es-ES" dirty="0"/>
              <a:t>Observa y responde:</a:t>
            </a:r>
          </a:p>
          <a:p>
            <a:r>
              <a:rPr lang="es-ES" dirty="0"/>
              <a:t>¿Qué muestra la imagen?</a:t>
            </a:r>
          </a:p>
          <a:p>
            <a:r>
              <a:rPr lang="es-ES" dirty="0"/>
              <a:t>¿Qué información identificas?</a:t>
            </a:r>
          </a:p>
          <a:p>
            <a:r>
              <a:rPr lang="es-ES" dirty="0"/>
              <a:t>¿Qué tipos de datos identificas?</a:t>
            </a:r>
          </a:p>
          <a:p>
            <a:r>
              <a:rPr lang="es-ES" dirty="0"/>
              <a:t>¿Cómo podemos guardar esta información en Java?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21506A-4C7E-3945-2411-6ED68D766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639" y="1985086"/>
            <a:ext cx="5564298" cy="351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1"/>
                </a:solidFill>
              </a:rPr>
              <a:t>conoce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4"/>
                </a:solidFill>
              </a:rPr>
              <a:t>los tipos de datos primitivos y su tratamiento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C00000"/>
                </a:solidFill>
              </a:rPr>
              <a:t>mediante la observación, lectura y desarrollo de actividades prácticas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7030A0"/>
                </a:solidFill>
              </a:rPr>
              <a:t>para saber cómo crear, leer, convertir y presentar datos en un programa Java.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2272"/>
            <a:ext cx="10515600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378254-1DCE-E852-BEB1-333FE86E81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486336"/>
            <a:ext cx="6457545" cy="279383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Determina, para cada caso, el tipo más conveniente que podría utilizarse (sólo uno) para almacenar cada dato indicado.</a:t>
            </a:r>
          </a:p>
          <a:p>
            <a:pPr>
              <a:lnSpc>
                <a:spcPct val="110000"/>
              </a:lnSpc>
            </a:pPr>
            <a:r>
              <a:rPr lang="es-ES" dirty="0"/>
              <a:t>Ahora, determina qué otros tipos de datos podrías utilizar en cada caso.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A9BBA-17E0-A72D-51DD-816280634240}"/>
              </a:ext>
            </a:extLst>
          </p:cNvPr>
          <p:cNvSpPr txBox="1"/>
          <p:nvPr/>
        </p:nvSpPr>
        <p:spPr>
          <a:xfrm>
            <a:off x="1185906" y="4702824"/>
            <a:ext cx="71346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indent="0">
              <a:buNone/>
            </a:pP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Identificar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los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diversos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tipos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de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datos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y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su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tratamiento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para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utilizarlos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en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un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programa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Java.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7AE83-36D1-4D1B-8BD8-6241159EE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575" y="1667943"/>
            <a:ext cx="542743" cy="7587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7128E2-27DF-E4E0-A63D-5246C0C6ED89}"/>
              </a:ext>
            </a:extLst>
          </p:cNvPr>
          <p:cNvSpPr txBox="1"/>
          <p:nvPr/>
        </p:nvSpPr>
        <p:spPr>
          <a:xfrm>
            <a:off x="8650318" y="1816489"/>
            <a:ext cx="127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Edad de una persona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0AB2CF-E095-208E-3479-4BF5FB0607D6}"/>
              </a:ext>
            </a:extLst>
          </p:cNvPr>
          <p:cNvSpPr txBox="1"/>
          <p:nvPr/>
        </p:nvSpPr>
        <p:spPr>
          <a:xfrm>
            <a:off x="145102" y="6226218"/>
            <a:ext cx="973819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Imágenes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obtenidas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https://static.vecteezy.com/system/resources/previews/001/196/558/non_2x/person-png.png / https://png.pngtree.com/png-vector/20220919/ourmid/pngtree-smart-box-cell-phone-png-image_6200825.png /  https://www.newneuromarketing.com/media/zoo/images/Price-01_256x256_a6125463599e305ec1c23e77f62db2a4.png / https://pngimg.com/d/book_PNG2118.png / https://static.vecteezy.com/system/resources/previews/009/408/673/original/light-bulb-transparent-free-png.png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6912BD-6F07-4895-CCEC-2D8180201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412" y="1541728"/>
            <a:ext cx="1011187" cy="10111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A9EF1B-EC46-EEED-3047-2D1531F08909}"/>
              </a:ext>
            </a:extLst>
          </p:cNvPr>
          <p:cNvSpPr txBox="1"/>
          <p:nvPr/>
        </p:nvSpPr>
        <p:spPr>
          <a:xfrm>
            <a:off x="10345190" y="1816489"/>
            <a:ext cx="127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Número telefónico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C117DF-2DCB-5A91-8BE1-A6FEB658D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575" y="2839875"/>
            <a:ext cx="658238" cy="65823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CF09493-1B9E-A5DD-3C2A-97CE41E84023}"/>
              </a:ext>
            </a:extLst>
          </p:cNvPr>
          <p:cNvSpPr txBox="1"/>
          <p:nvPr/>
        </p:nvSpPr>
        <p:spPr>
          <a:xfrm>
            <a:off x="8765813" y="2938162"/>
            <a:ext cx="127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 err="1">
                <a:solidFill>
                  <a:schemeClr val="bg1">
                    <a:lumMod val="50000"/>
                  </a:schemeClr>
                </a:solidFill>
              </a:rPr>
              <a:t>P`recio</a:t>
            </a:r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 de un producto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F366C8-7872-A2EF-1712-A28E163E8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2896" y="2873905"/>
            <a:ext cx="701202" cy="5901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99A43C-10D0-3E41-A0D8-A7D43D470F3D}"/>
              </a:ext>
            </a:extLst>
          </p:cNvPr>
          <p:cNvSpPr txBox="1"/>
          <p:nvPr/>
        </p:nvSpPr>
        <p:spPr>
          <a:xfrm>
            <a:off x="10695945" y="2938162"/>
            <a:ext cx="792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Título de un libro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5AEF53-A442-E95E-FB01-0632B14585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1813" y="3590036"/>
            <a:ext cx="1088620" cy="10886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52995D0-B9F0-8C9E-1B10-42710066B65F}"/>
              </a:ext>
            </a:extLst>
          </p:cNvPr>
          <p:cNvSpPr txBox="1"/>
          <p:nvPr/>
        </p:nvSpPr>
        <p:spPr>
          <a:xfrm>
            <a:off x="8812839" y="3903514"/>
            <a:ext cx="2502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Estado de un foco </a:t>
            </a:r>
            <a:br>
              <a:rPr lang="es-ES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(encendido / apagado)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Sentencias de asignación e inicialización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Conversión entre tipos de datos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Sentencias de asignación e inicialización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Conversión entre tipos de datos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BA0E3-4AFE-DB68-BCEE-9413B03735D5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013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ight Brace 14">
            <a:extLst>
              <a:ext uri="{FF2B5EF4-FFF2-40B4-BE49-F238E27FC236}">
                <a16:creationId xmlns:a16="http://schemas.microsoft.com/office/drawing/2014/main" id="{70EE0875-153F-C704-7CB9-105BA7A64908}"/>
              </a:ext>
            </a:extLst>
          </p:cNvPr>
          <p:cNvSpPr/>
          <p:nvPr/>
        </p:nvSpPr>
        <p:spPr>
          <a:xfrm rot="16200000">
            <a:off x="5684067" y="1183922"/>
            <a:ext cx="823865" cy="5516580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datos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E17FAC-5AE9-6C49-F2A8-1161E99F61B2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7F824F-897C-F84A-6430-3B12247E215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C87EB1-280A-FDC8-EDD7-FDF646E1F596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532A42-BC2E-2A33-8CFA-6E5AB349642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CB216C-2C5C-75F6-43D6-6FA3BCBA931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92FE8C-519D-E29C-0EB3-A9C1C8AD39C6}"/>
              </a:ext>
            </a:extLst>
          </p:cNvPr>
          <p:cNvSpPr/>
          <p:nvPr/>
        </p:nvSpPr>
        <p:spPr>
          <a:xfrm>
            <a:off x="4596143" y="2548214"/>
            <a:ext cx="2999714" cy="991402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Helvetica" pitchFamily="2" charset="0"/>
              </a:rPr>
              <a:t>Tipos de datos </a:t>
            </a:r>
            <a:br>
              <a:rPr lang="es-ES" sz="2000" dirty="0">
                <a:latin typeface="Helvetica" pitchFamily="2" charset="0"/>
              </a:rPr>
            </a:br>
            <a:r>
              <a:rPr lang="es-ES" sz="2000" dirty="0">
                <a:latin typeface="Helvetica" pitchFamily="2" charset="0"/>
              </a:rPr>
              <a:t>en Java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7A644A-480B-5361-41F6-0A5FCAD37DFB}"/>
              </a:ext>
            </a:extLst>
          </p:cNvPr>
          <p:cNvSpPr/>
          <p:nvPr/>
        </p:nvSpPr>
        <p:spPr>
          <a:xfrm>
            <a:off x="1862692" y="4368252"/>
            <a:ext cx="2968944" cy="991402"/>
          </a:xfrm>
          <a:prstGeom prst="round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Helvetica" pitchFamily="2" charset="0"/>
              </a:rPr>
              <a:t>Tipos de datos primitivos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45553C-1CEC-9098-E830-C1187B497FA0}"/>
              </a:ext>
            </a:extLst>
          </p:cNvPr>
          <p:cNvSpPr/>
          <p:nvPr/>
        </p:nvSpPr>
        <p:spPr>
          <a:xfrm>
            <a:off x="7387628" y="4368252"/>
            <a:ext cx="2968944" cy="991402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latin typeface="Helvetica" pitchFamily="2" charset="0"/>
              </a:rPr>
              <a:t>Tipos de datos referenciados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71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datos primitivos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E17FAC-5AE9-6C49-F2A8-1161E99F61B2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7F824F-897C-F84A-6430-3B12247E215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C87EB1-280A-FDC8-EDD7-FDF646E1F596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532A42-BC2E-2A33-8CFA-6E5AB349642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CB216C-2C5C-75F6-43D6-6FA3BCBA931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CFDE710-8463-B99C-78EA-E0476EBEE712}"/>
              </a:ext>
            </a:extLst>
          </p:cNvPr>
          <p:cNvGrpSpPr/>
          <p:nvPr/>
        </p:nvGrpSpPr>
        <p:grpSpPr>
          <a:xfrm>
            <a:off x="603000" y="1997245"/>
            <a:ext cx="10962430" cy="3942966"/>
            <a:chOff x="693533" y="1888608"/>
            <a:chExt cx="10962430" cy="3942966"/>
          </a:xfrm>
        </p:grpSpPr>
        <p:sp>
          <p:nvSpPr>
            <p:cNvPr id="23" name="Right Brace 22">
              <a:extLst>
                <a:ext uri="{FF2B5EF4-FFF2-40B4-BE49-F238E27FC236}">
                  <a16:creationId xmlns:a16="http://schemas.microsoft.com/office/drawing/2014/main" id="{171DCFA8-624A-327F-C93A-19A875A2AFFC}"/>
                </a:ext>
              </a:extLst>
            </p:cNvPr>
            <p:cNvSpPr/>
            <p:nvPr/>
          </p:nvSpPr>
          <p:spPr>
            <a:xfrm rot="10800000">
              <a:off x="5348360" y="2236957"/>
              <a:ext cx="572607" cy="1051760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ight Brace 23">
              <a:extLst>
                <a:ext uri="{FF2B5EF4-FFF2-40B4-BE49-F238E27FC236}">
                  <a16:creationId xmlns:a16="http://schemas.microsoft.com/office/drawing/2014/main" id="{0DBBABC7-FED1-1627-0072-79843E41FD76}"/>
                </a:ext>
              </a:extLst>
            </p:cNvPr>
            <p:cNvSpPr/>
            <p:nvPr/>
          </p:nvSpPr>
          <p:spPr>
            <a:xfrm rot="10800000">
              <a:off x="2565742" y="2752252"/>
              <a:ext cx="572607" cy="2680781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CCBF124-1C46-053F-E02D-9B6300B1C268}"/>
                </a:ext>
              </a:extLst>
            </p:cNvPr>
            <p:cNvCxnSpPr/>
            <p:nvPr/>
          </p:nvCxnSpPr>
          <p:spPr>
            <a:xfrm>
              <a:off x="2842788" y="4418091"/>
              <a:ext cx="295561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75A7262-CD41-8489-EFD9-9A68B1118F74}"/>
                </a:ext>
              </a:extLst>
            </p:cNvPr>
            <p:cNvCxnSpPr>
              <a:cxnSpLocks/>
            </p:cNvCxnSpPr>
            <p:nvPr/>
          </p:nvCxnSpPr>
          <p:spPr>
            <a:xfrm>
              <a:off x="7846974" y="2284652"/>
              <a:ext cx="761246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9402B31-3CB9-AC92-F0FA-55605D0EA226}"/>
                </a:ext>
              </a:extLst>
            </p:cNvPr>
            <p:cNvCxnSpPr>
              <a:cxnSpLocks/>
            </p:cNvCxnSpPr>
            <p:nvPr/>
          </p:nvCxnSpPr>
          <p:spPr>
            <a:xfrm>
              <a:off x="7837921" y="3330077"/>
              <a:ext cx="761246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C73E500-E058-E1E3-B05B-00155DBBA459}"/>
                </a:ext>
              </a:extLst>
            </p:cNvPr>
            <p:cNvCxnSpPr>
              <a:cxnSpLocks/>
            </p:cNvCxnSpPr>
            <p:nvPr/>
          </p:nvCxnSpPr>
          <p:spPr>
            <a:xfrm>
              <a:off x="5133967" y="4383017"/>
              <a:ext cx="3474253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C7B028-2E4E-DC5A-755C-3E33FF82C31D}"/>
                </a:ext>
              </a:extLst>
            </p:cNvPr>
            <p:cNvCxnSpPr>
              <a:cxnSpLocks/>
            </p:cNvCxnSpPr>
            <p:nvPr/>
          </p:nvCxnSpPr>
          <p:spPr>
            <a:xfrm>
              <a:off x="5133967" y="5434173"/>
              <a:ext cx="3474253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ángulo: esquinas redondeadas 24">
              <a:extLst>
                <a:ext uri="{FF2B5EF4-FFF2-40B4-BE49-F238E27FC236}">
                  <a16:creationId xmlns:a16="http://schemas.microsoft.com/office/drawing/2014/main" id="{42BC82E6-34C5-B486-7C9A-A939EC2E5D45}"/>
                </a:ext>
              </a:extLst>
            </p:cNvPr>
            <p:cNvSpPr/>
            <p:nvPr/>
          </p:nvSpPr>
          <p:spPr>
            <a:xfrm>
              <a:off x="8610600" y="1888608"/>
              <a:ext cx="3045363" cy="792088"/>
            </a:xfrm>
            <a:prstGeom prst="roundRect">
              <a:avLst/>
            </a:prstGeom>
            <a:solidFill>
              <a:srgbClr val="257FB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byte, short,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int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,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long</a:t>
              </a:r>
              <a:endParaRPr lang="es-E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0" name="Rectángulo: esquinas redondeadas 25">
              <a:extLst>
                <a:ext uri="{FF2B5EF4-FFF2-40B4-BE49-F238E27FC236}">
                  <a16:creationId xmlns:a16="http://schemas.microsoft.com/office/drawing/2014/main" id="{3F067524-6BDB-F680-00E1-9D03A1847DC1}"/>
                </a:ext>
              </a:extLst>
            </p:cNvPr>
            <p:cNvSpPr/>
            <p:nvPr/>
          </p:nvSpPr>
          <p:spPr>
            <a:xfrm>
              <a:off x="8610600" y="2934033"/>
              <a:ext cx="3045362" cy="792088"/>
            </a:xfrm>
            <a:prstGeom prst="roundRect">
              <a:avLst/>
            </a:prstGeom>
            <a:solidFill>
              <a:srgbClr val="12A29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float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,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double</a:t>
              </a:r>
              <a:endParaRPr lang="es-E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Rectángulo: esquinas redondeadas 26">
              <a:extLst>
                <a:ext uri="{FF2B5EF4-FFF2-40B4-BE49-F238E27FC236}">
                  <a16:creationId xmlns:a16="http://schemas.microsoft.com/office/drawing/2014/main" id="{48E4274C-9048-E768-8337-BF5AF42E846F}"/>
                </a:ext>
              </a:extLst>
            </p:cNvPr>
            <p:cNvSpPr/>
            <p:nvPr/>
          </p:nvSpPr>
          <p:spPr>
            <a:xfrm>
              <a:off x="8610600" y="3986973"/>
              <a:ext cx="3045361" cy="79208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char</a:t>
              </a:r>
              <a:endParaRPr lang="es-E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2" name="Rectángulo: esquinas redondeadas 27">
              <a:extLst>
                <a:ext uri="{FF2B5EF4-FFF2-40B4-BE49-F238E27FC236}">
                  <a16:creationId xmlns:a16="http://schemas.microsoft.com/office/drawing/2014/main" id="{361BEF3E-4BAA-B52E-2BA7-5317ABD75959}"/>
                </a:ext>
              </a:extLst>
            </p:cNvPr>
            <p:cNvSpPr/>
            <p:nvPr/>
          </p:nvSpPr>
          <p:spPr>
            <a:xfrm>
              <a:off x="8610600" y="5039486"/>
              <a:ext cx="3045360" cy="792088"/>
            </a:xfrm>
            <a:prstGeom prst="roundRect">
              <a:avLst/>
            </a:prstGeom>
            <a:solidFill>
              <a:srgbClr val="9148C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boolean</a:t>
              </a:r>
              <a:endParaRPr lang="es-E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ángulo: esquinas redondeadas 20">
              <a:extLst>
                <a:ext uri="{FF2B5EF4-FFF2-40B4-BE49-F238E27FC236}">
                  <a16:creationId xmlns:a16="http://schemas.microsoft.com/office/drawing/2014/main" id="{64A191D2-DCF0-42BC-474F-A8C1A851E7A1}"/>
                </a:ext>
              </a:extLst>
            </p:cNvPr>
            <p:cNvSpPr/>
            <p:nvPr/>
          </p:nvSpPr>
          <p:spPr>
            <a:xfrm>
              <a:off x="5860499" y="1888608"/>
              <a:ext cx="2232248" cy="792088"/>
            </a:xfrm>
            <a:prstGeom prst="roundRect">
              <a:avLst/>
            </a:prstGeom>
            <a:solidFill>
              <a:srgbClr val="1B5E8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Entero</a:t>
              </a:r>
            </a:p>
          </p:txBody>
        </p:sp>
        <p:sp>
          <p:nvSpPr>
            <p:cNvPr id="18" name="Rectángulo: esquinas redondeadas 21">
              <a:extLst>
                <a:ext uri="{FF2B5EF4-FFF2-40B4-BE49-F238E27FC236}">
                  <a16:creationId xmlns:a16="http://schemas.microsoft.com/office/drawing/2014/main" id="{4BC0788F-F23D-7348-B464-CDD67242782F}"/>
                </a:ext>
              </a:extLst>
            </p:cNvPr>
            <p:cNvSpPr/>
            <p:nvPr/>
          </p:nvSpPr>
          <p:spPr>
            <a:xfrm>
              <a:off x="5860499" y="2934033"/>
              <a:ext cx="2232248" cy="792088"/>
            </a:xfrm>
            <a:prstGeom prst="roundRect">
              <a:avLst/>
            </a:prstGeom>
            <a:solidFill>
              <a:srgbClr val="0E7D7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Real</a:t>
              </a:r>
            </a:p>
          </p:txBody>
        </p:sp>
        <p:sp>
          <p:nvSpPr>
            <p:cNvPr id="13" name="Rectángulo: esquinas redondeadas 13">
              <a:extLst>
                <a:ext uri="{FF2B5EF4-FFF2-40B4-BE49-F238E27FC236}">
                  <a16:creationId xmlns:a16="http://schemas.microsoft.com/office/drawing/2014/main" id="{55583F65-B0F0-C44B-A6F9-F3931B570B34}"/>
                </a:ext>
              </a:extLst>
            </p:cNvPr>
            <p:cNvSpPr/>
            <p:nvPr/>
          </p:nvSpPr>
          <p:spPr>
            <a:xfrm>
              <a:off x="3112363" y="2366793"/>
              <a:ext cx="2232248" cy="792088"/>
            </a:xfrm>
            <a:prstGeom prst="roundRect">
              <a:avLst/>
            </a:prstGeom>
            <a:solidFill>
              <a:srgbClr val="758F3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Numérico</a:t>
              </a:r>
            </a:p>
          </p:txBody>
        </p:sp>
        <p:sp>
          <p:nvSpPr>
            <p:cNvPr id="14" name="Rectángulo: esquinas redondeadas 14">
              <a:extLst>
                <a:ext uri="{FF2B5EF4-FFF2-40B4-BE49-F238E27FC236}">
                  <a16:creationId xmlns:a16="http://schemas.microsoft.com/office/drawing/2014/main" id="{642233A7-347C-BE49-8D8F-8A26D8586372}"/>
                </a:ext>
              </a:extLst>
            </p:cNvPr>
            <p:cNvSpPr/>
            <p:nvPr/>
          </p:nvSpPr>
          <p:spPr>
            <a:xfrm>
              <a:off x="3112363" y="3986973"/>
              <a:ext cx="2232248" cy="792088"/>
            </a:xfrm>
            <a:prstGeom prst="roundRect">
              <a:avLst/>
            </a:prstGeom>
            <a:solidFill>
              <a:srgbClr val="CC783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Caracter</a:t>
              </a:r>
              <a:endParaRPr lang="es-E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B0EC2E1D-9424-6A74-491D-6BBFC69277DA}"/>
                </a:ext>
              </a:extLst>
            </p:cNvPr>
            <p:cNvSpPr/>
            <p:nvPr/>
          </p:nvSpPr>
          <p:spPr>
            <a:xfrm>
              <a:off x="3112363" y="5039486"/>
              <a:ext cx="2232248" cy="7920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Lógico</a:t>
              </a:r>
            </a:p>
          </p:txBody>
        </p:sp>
        <p:sp>
          <p:nvSpPr>
            <p:cNvPr id="4" name="Rectángulo: esquinas redondeadas 8">
              <a:extLst>
                <a:ext uri="{FF2B5EF4-FFF2-40B4-BE49-F238E27FC236}">
                  <a16:creationId xmlns:a16="http://schemas.microsoft.com/office/drawing/2014/main" id="{7F2A6758-88FB-A2B0-4854-250A7CEC66B0}"/>
                </a:ext>
              </a:extLst>
            </p:cNvPr>
            <p:cNvSpPr/>
            <p:nvPr/>
          </p:nvSpPr>
          <p:spPr>
            <a:xfrm>
              <a:off x="693533" y="3696598"/>
              <a:ext cx="1872208" cy="7920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9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datos primitivos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E17FAC-5AE9-6C49-F2A8-1161E99F61B2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7F824F-897C-F84A-6430-3B12247E215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C87EB1-280A-FDC8-EDD7-FDF646E1F596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532A42-BC2E-2A33-8CFA-6E5AB349642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CB216C-2C5C-75F6-43D6-6FA3BCBA931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2EED30-4837-725B-F9E7-1FB1916D7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154232"/>
              </p:ext>
            </p:extLst>
          </p:nvPr>
        </p:nvGraphicFramePr>
        <p:xfrm>
          <a:off x="1480420" y="1900580"/>
          <a:ext cx="9231160" cy="4190463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934067">
                  <a:extLst>
                    <a:ext uri="{9D8B030D-6E8A-4147-A177-3AD203B41FA5}">
                      <a16:colId xmlns:a16="http://schemas.microsoft.com/office/drawing/2014/main" val="413963121"/>
                    </a:ext>
                  </a:extLst>
                </a:gridCol>
                <a:gridCol w="4151043">
                  <a:extLst>
                    <a:ext uri="{9D8B030D-6E8A-4147-A177-3AD203B41FA5}">
                      <a16:colId xmlns:a16="http://schemas.microsoft.com/office/drawing/2014/main" val="1249356320"/>
                    </a:ext>
                  </a:extLst>
                </a:gridCol>
                <a:gridCol w="3146050">
                  <a:extLst>
                    <a:ext uri="{9D8B030D-6E8A-4147-A177-3AD203B41FA5}">
                      <a16:colId xmlns:a16="http://schemas.microsoft.com/office/drawing/2014/main" val="2913513062"/>
                    </a:ext>
                  </a:extLst>
                </a:gridCol>
              </a:tblGrid>
              <a:tr h="35297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Tipo de dato</a:t>
                      </a:r>
                      <a:endParaRPr lang="es-419" sz="14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Descripción​</a:t>
                      </a:r>
                      <a:endParaRPr lang="es-419" sz="14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Rango de valores​</a:t>
                      </a:r>
                      <a:endParaRPr lang="es-419" sz="14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extLst>
                  <a:ext uri="{0D108BD9-81ED-4DB2-BD59-A6C34878D82A}">
                    <a16:rowId xmlns:a16="http://schemas.microsoft.com/office/drawing/2014/main" val="3426136800"/>
                  </a:ext>
                </a:extLst>
              </a:tr>
              <a:tr h="35297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byte​</a:t>
                      </a:r>
                      <a:endParaRPr lang="es-419" sz="14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Tipo de dato entero de 8 bits​</a:t>
                      </a:r>
                      <a:endParaRPr lang="es-419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-128 hasta 127​</a:t>
                      </a:r>
                      <a:endParaRPr lang="es-419" sz="14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extLst>
                  <a:ext uri="{0D108BD9-81ED-4DB2-BD59-A6C34878D82A}">
                    <a16:rowId xmlns:a16="http://schemas.microsoft.com/office/drawing/2014/main" val="2126321907"/>
                  </a:ext>
                </a:extLst>
              </a:tr>
              <a:tr h="35297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short​</a:t>
                      </a:r>
                      <a:endParaRPr lang="es-419" sz="14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Tipo de dato entero de 16 bits​ </a:t>
                      </a:r>
                      <a:b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(entero corto)</a:t>
                      </a:r>
                      <a:endParaRPr lang="es-419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-32,768 hasta 32,767​</a:t>
                      </a:r>
                      <a:endParaRPr lang="es-419" sz="14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extLst>
                  <a:ext uri="{0D108BD9-81ED-4DB2-BD59-A6C34878D82A}">
                    <a16:rowId xmlns:a16="http://schemas.microsoft.com/office/drawing/2014/main" val="339356947"/>
                  </a:ext>
                </a:extLst>
              </a:tr>
              <a:tr h="35297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int</a:t>
                      </a:r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4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Tipo de dato entero de 32 bits​</a:t>
                      </a:r>
                      <a:endParaRPr lang="es-419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 -2</a:t>
                      </a:r>
                      <a:r>
                        <a:rPr lang="en-US" sz="1200" b="0" baseline="300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31</a:t>
                      </a:r>
                      <a:r>
                        <a:rPr lang="en-US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 hasta 2</a:t>
                      </a:r>
                      <a:r>
                        <a:rPr lang="en-US" sz="1200" b="0" baseline="300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31</a:t>
                      </a:r>
                      <a:r>
                        <a:rPr lang="en-US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-1​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extLst>
                  <a:ext uri="{0D108BD9-81ED-4DB2-BD59-A6C34878D82A}">
                    <a16:rowId xmlns:a16="http://schemas.microsoft.com/office/drawing/2014/main" val="1431203227"/>
                  </a:ext>
                </a:extLst>
              </a:tr>
              <a:tr h="35297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long</a:t>
                      </a:r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4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Tipo de dato entero de 64 bits​ </a:t>
                      </a:r>
                      <a:b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(entero largo)</a:t>
                      </a:r>
                      <a:endParaRPr lang="es-419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 -2</a:t>
                      </a:r>
                      <a:r>
                        <a:rPr lang="en-US" sz="1200" b="0" baseline="300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US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 hasta 2</a:t>
                      </a:r>
                      <a:r>
                        <a:rPr lang="en-US" sz="1200" b="0" baseline="3000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US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-1​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extLst>
                  <a:ext uri="{0D108BD9-81ED-4DB2-BD59-A6C34878D82A}">
                    <a16:rowId xmlns:a16="http://schemas.microsoft.com/office/drawing/2014/main" val="3510541103"/>
                  </a:ext>
                </a:extLst>
              </a:tr>
              <a:tr h="35297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float</a:t>
                      </a:r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4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Tipo de dato real de 32 bits​ </a:t>
                      </a:r>
                      <a:b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(punto flotante de simple precisión)</a:t>
                      </a:r>
                      <a:endParaRPr lang="es-419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 -2</a:t>
                      </a:r>
                      <a:r>
                        <a:rPr lang="en-US" sz="1200" b="0" baseline="300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US" sz="17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 hasta 2</a:t>
                      </a:r>
                      <a:r>
                        <a:rPr lang="en-US" sz="1200" b="0" baseline="300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US" sz="17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-1​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extLst>
                  <a:ext uri="{0D108BD9-81ED-4DB2-BD59-A6C34878D82A}">
                    <a16:rowId xmlns:a16="http://schemas.microsoft.com/office/drawing/2014/main" val="1115444965"/>
                  </a:ext>
                </a:extLst>
              </a:tr>
              <a:tr h="35297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double</a:t>
                      </a:r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4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Tipo de dato real de 64 bits </a:t>
                      </a:r>
                      <a:b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</a:br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(punto flotante de doble precisión)​</a:t>
                      </a:r>
                      <a:endParaRPr lang="es-419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7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 -2</a:t>
                      </a:r>
                      <a:r>
                        <a:rPr lang="en-US" sz="1200" b="0" baseline="300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511</a:t>
                      </a:r>
                      <a:r>
                        <a:rPr lang="en-US" sz="17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 hasta 2</a:t>
                      </a:r>
                      <a:r>
                        <a:rPr lang="en-US" sz="1200" b="0" baseline="3000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511</a:t>
                      </a:r>
                      <a:r>
                        <a:rPr lang="en-US" sz="17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-1​</a:t>
                      </a:r>
                      <a:endParaRPr lang="en-US" sz="14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extLst>
                  <a:ext uri="{0D108BD9-81ED-4DB2-BD59-A6C34878D82A}">
                    <a16:rowId xmlns:a16="http://schemas.microsoft.com/office/drawing/2014/main" val="91332718"/>
                  </a:ext>
                </a:extLst>
              </a:tr>
              <a:tr h="35297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char</a:t>
                      </a:r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4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Tipo de dato </a:t>
                      </a:r>
                      <a:r>
                        <a:rPr lang="es-419" sz="1700" b="0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caracter</a:t>
                      </a:r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 de 16 bits​</a:t>
                      </a:r>
                      <a:endParaRPr lang="es-419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0 hasta 65535 (Unicode)​</a:t>
                      </a:r>
                      <a:endParaRPr lang="es-419" sz="14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extLst>
                  <a:ext uri="{0D108BD9-81ED-4DB2-BD59-A6C34878D82A}">
                    <a16:rowId xmlns:a16="http://schemas.microsoft.com/office/drawing/2014/main" val="2535322896"/>
                  </a:ext>
                </a:extLst>
              </a:tr>
              <a:tr h="352971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boolean</a:t>
                      </a:r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4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Tipo de dato lógico de 1 bit​</a:t>
                      </a:r>
                      <a:endParaRPr lang="es-419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true, false​</a:t>
                      </a:r>
                      <a:endParaRPr lang="es-419" sz="14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8243" marR="88243" marT="44121" marB="44121"/>
                </a:tc>
                <a:extLst>
                  <a:ext uri="{0D108BD9-81ED-4DB2-BD59-A6C34878D82A}">
                    <a16:rowId xmlns:a16="http://schemas.microsoft.com/office/drawing/2014/main" val="518459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89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65A4-D10D-3AC1-3786-C046C72F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datos referenciados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C9584-6F38-1795-C81F-C117E0FD3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A5139-B4BF-1E99-CD4A-D3CA6D9F7A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s-ES" dirty="0"/>
              <a:t>Conocidos también como </a:t>
            </a:r>
            <a:r>
              <a:rPr lang="es-ES" b="1" dirty="0"/>
              <a:t>no-primitivos</a:t>
            </a:r>
            <a:r>
              <a:rPr lang="es-ES" dirty="0"/>
              <a:t>.</a:t>
            </a:r>
          </a:p>
          <a:p>
            <a:r>
              <a:rPr lang="en-US" dirty="0"/>
              <a:t>Son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referenciados</a:t>
            </a:r>
            <a:r>
              <a:rPr lang="en-US" dirty="0"/>
              <a:t>: </a:t>
            </a:r>
            <a:r>
              <a:rPr lang="en-US" dirty="0" err="1"/>
              <a:t>clases</a:t>
            </a:r>
            <a:r>
              <a:rPr lang="en-US" dirty="0"/>
              <a:t>, </a:t>
            </a:r>
            <a:r>
              <a:rPr lang="en-US" dirty="0" err="1"/>
              <a:t>interfases</a:t>
            </a:r>
            <a:r>
              <a:rPr lang="en-US" dirty="0"/>
              <a:t>, </a:t>
            </a:r>
            <a:r>
              <a:rPr lang="en-US" dirty="0" err="1"/>
              <a:t>arreglos</a:t>
            </a:r>
            <a:r>
              <a:rPr lang="en-US" dirty="0"/>
              <a:t>, </a:t>
            </a:r>
            <a:r>
              <a:rPr lang="en-US" dirty="0" err="1"/>
              <a:t>enumeraciones</a:t>
            </a:r>
            <a:r>
              <a:rPr lang="en-US" dirty="0"/>
              <a:t>.</a:t>
            </a:r>
          </a:p>
          <a:p>
            <a:r>
              <a:rPr lang="en-US" dirty="0"/>
              <a:t>No </a:t>
            </a:r>
            <a:r>
              <a:rPr lang="en-US" dirty="0" err="1"/>
              <a:t>almacenan</a:t>
            </a:r>
            <a:r>
              <a:rPr lang="en-US" dirty="0"/>
              <a:t> </a:t>
            </a:r>
            <a:r>
              <a:rPr lang="en-US" dirty="0" err="1"/>
              <a:t>directamente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valor de la variable.</a:t>
            </a:r>
          </a:p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lugar</a:t>
            </a:r>
            <a:r>
              <a:rPr lang="en-US" dirty="0"/>
              <a:t> </a:t>
            </a:r>
            <a:r>
              <a:rPr lang="en-US" dirty="0" err="1"/>
              <a:t>almacena</a:t>
            </a:r>
            <a:r>
              <a:rPr lang="en-US" dirty="0"/>
              <a:t> la </a:t>
            </a:r>
            <a:r>
              <a:rPr lang="en-US" dirty="0" err="1"/>
              <a:t>dirección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de la variable que </a:t>
            </a:r>
            <a:r>
              <a:rPr lang="en-US" dirty="0" err="1"/>
              <a:t>contiene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valor.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08B947-E8EA-7A62-0EE2-741B39AAAB4A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9AB51F-AB83-BA48-574F-E0E09409EC7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4E110E-9216-54B4-E260-85215CCBAAAE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C0108A-06A3-1E43-0917-52C096EE6E2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5DC150-5BAB-C9C4-DFFE-E49E1F6BA29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692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65A4-D10D-3AC1-3786-C046C72F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datos referenciados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C9584-6F38-1795-C81F-C117E0FD3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08B947-E8EA-7A62-0EE2-741B39AAAB4A}"/>
              </a:ext>
            </a:extLst>
          </p:cNvPr>
          <p:cNvGrpSpPr/>
          <p:nvPr/>
        </p:nvGrpSpPr>
        <p:grpSpPr>
          <a:xfrm>
            <a:off x="838200" y="-45063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9AB51F-AB83-BA48-574F-E0E09409EC7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4E110E-9216-54B4-E260-85215CCBAAAE}"/>
                </a:ext>
              </a:extLst>
            </p:cNvPr>
            <p:cNvSpPr txBox="1"/>
            <p:nvPr/>
          </p:nvSpPr>
          <p:spPr>
            <a:xfrm>
              <a:off x="1501540" y="1663444"/>
              <a:ext cx="32377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C0108A-06A3-1E43-0917-52C096EE6E2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5DC150-5BAB-C9C4-DFFE-E49E1F6BA29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235CBB2-06EC-2FA9-EA3A-C5C679D3B8AA}"/>
              </a:ext>
            </a:extLst>
          </p:cNvPr>
          <p:cNvGrpSpPr/>
          <p:nvPr/>
        </p:nvGrpSpPr>
        <p:grpSpPr>
          <a:xfrm>
            <a:off x="2142150" y="1918807"/>
            <a:ext cx="7907700" cy="4507028"/>
            <a:chOff x="2725823" y="1801112"/>
            <a:chExt cx="7907700" cy="4507028"/>
          </a:xfrm>
        </p:grpSpPr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A8BC5278-A973-A486-074D-C30E137789CA}"/>
                </a:ext>
              </a:extLst>
            </p:cNvPr>
            <p:cNvSpPr/>
            <p:nvPr/>
          </p:nvSpPr>
          <p:spPr>
            <a:xfrm rot="10800000">
              <a:off x="7406216" y="3285378"/>
              <a:ext cx="1204384" cy="565543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1D4AF206-5D12-9619-4E1F-B830479F256E}"/>
                </a:ext>
              </a:extLst>
            </p:cNvPr>
            <p:cNvSpPr/>
            <p:nvPr/>
          </p:nvSpPr>
          <p:spPr>
            <a:xfrm rot="10800000">
              <a:off x="7448546" y="2039249"/>
              <a:ext cx="1204384" cy="565543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73695305-0867-E411-951A-C184E72D3E1B}"/>
                </a:ext>
              </a:extLst>
            </p:cNvPr>
            <p:cNvSpPr/>
            <p:nvPr/>
          </p:nvSpPr>
          <p:spPr>
            <a:xfrm rot="10800000">
              <a:off x="4526459" y="2290529"/>
              <a:ext cx="1204384" cy="3638736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1DA953D-E484-31C1-7757-5FAC83F80802}"/>
                </a:ext>
              </a:extLst>
            </p:cNvPr>
            <p:cNvCxnSpPr>
              <a:cxnSpLocks/>
            </p:cNvCxnSpPr>
            <p:nvPr/>
          </p:nvCxnSpPr>
          <p:spPr>
            <a:xfrm>
              <a:off x="5127126" y="3499322"/>
              <a:ext cx="676146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ángulo: esquinas redondeadas 13">
              <a:extLst>
                <a:ext uri="{FF2B5EF4-FFF2-40B4-BE49-F238E27FC236}">
                  <a16:creationId xmlns:a16="http://schemas.microsoft.com/office/drawing/2014/main" id="{56943A13-A103-CC9C-3B65-441DFFBC0621}"/>
                </a:ext>
              </a:extLst>
            </p:cNvPr>
            <p:cNvSpPr/>
            <p:nvPr/>
          </p:nvSpPr>
          <p:spPr>
            <a:xfrm>
              <a:off x="5467952" y="1927858"/>
              <a:ext cx="2232248" cy="792088"/>
            </a:xfrm>
            <a:prstGeom prst="roundRect">
              <a:avLst/>
            </a:prstGeom>
            <a:solidFill>
              <a:srgbClr val="758F3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Class</a:t>
              </a:r>
              <a:endParaRPr lang="es-E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7" name="Rectángulo: esquinas redondeadas 14">
              <a:extLst>
                <a:ext uri="{FF2B5EF4-FFF2-40B4-BE49-F238E27FC236}">
                  <a16:creationId xmlns:a16="http://schemas.microsoft.com/office/drawing/2014/main" id="{11FEF704-655E-9C3D-DB87-99BC29706761}"/>
                </a:ext>
              </a:extLst>
            </p:cNvPr>
            <p:cNvSpPr/>
            <p:nvPr/>
          </p:nvSpPr>
          <p:spPr>
            <a:xfrm>
              <a:off x="5493938" y="3123923"/>
              <a:ext cx="2232248" cy="792088"/>
            </a:xfrm>
            <a:prstGeom prst="roundRect">
              <a:avLst/>
            </a:prstGeom>
            <a:solidFill>
              <a:srgbClr val="CC783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Interface</a:t>
              </a:r>
            </a:p>
          </p:txBody>
        </p:sp>
        <p:sp>
          <p:nvSpPr>
            <p:cNvPr id="29" name="Rectángulo: esquinas redondeadas 8">
              <a:extLst>
                <a:ext uri="{FF2B5EF4-FFF2-40B4-BE49-F238E27FC236}">
                  <a16:creationId xmlns:a16="http://schemas.microsoft.com/office/drawing/2014/main" id="{6FF6804C-AD70-6593-0800-C7D79FB861A4}"/>
                </a:ext>
              </a:extLst>
            </p:cNvPr>
            <p:cNvSpPr/>
            <p:nvPr/>
          </p:nvSpPr>
          <p:spPr>
            <a:xfrm>
              <a:off x="2725823" y="3674666"/>
              <a:ext cx="1872208" cy="79208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Referenciados</a:t>
              </a:r>
            </a:p>
          </p:txBody>
        </p:sp>
        <p:sp>
          <p:nvSpPr>
            <p:cNvPr id="30" name="Rectángulo: esquinas redondeadas 21">
              <a:extLst>
                <a:ext uri="{FF2B5EF4-FFF2-40B4-BE49-F238E27FC236}">
                  <a16:creationId xmlns:a16="http://schemas.microsoft.com/office/drawing/2014/main" id="{D5B69CDE-4F80-14B6-182D-A29BC390DD67}"/>
                </a:ext>
              </a:extLst>
            </p:cNvPr>
            <p:cNvSpPr/>
            <p:nvPr/>
          </p:nvSpPr>
          <p:spPr>
            <a:xfrm>
              <a:off x="5467952" y="5516052"/>
              <a:ext cx="2232248" cy="792088"/>
            </a:xfrm>
            <a:prstGeom prst="roundRect">
              <a:avLst/>
            </a:prstGeom>
            <a:solidFill>
              <a:srgbClr val="0E7D7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Enum</a:t>
              </a:r>
              <a:endParaRPr lang="es-E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3C53B31-F10E-A5B5-4EEF-DCADF1D5075E}"/>
                </a:ext>
              </a:extLst>
            </p:cNvPr>
            <p:cNvCxnSpPr>
              <a:cxnSpLocks/>
            </p:cNvCxnSpPr>
            <p:nvPr/>
          </p:nvCxnSpPr>
          <p:spPr>
            <a:xfrm>
              <a:off x="5128706" y="4721540"/>
              <a:ext cx="676146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ángulo: esquinas redondeadas 15">
              <a:extLst>
                <a:ext uri="{FF2B5EF4-FFF2-40B4-BE49-F238E27FC236}">
                  <a16:creationId xmlns:a16="http://schemas.microsoft.com/office/drawing/2014/main" id="{A50501A0-4C35-8780-0D4D-F443984E6102}"/>
                </a:ext>
              </a:extLst>
            </p:cNvPr>
            <p:cNvSpPr/>
            <p:nvPr/>
          </p:nvSpPr>
          <p:spPr>
            <a:xfrm>
              <a:off x="5467952" y="4319988"/>
              <a:ext cx="2232248" cy="7920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Array</a:t>
              </a:r>
            </a:p>
          </p:txBody>
        </p:sp>
        <p:sp>
          <p:nvSpPr>
            <p:cNvPr id="33" name="Rectángulo: esquinas redondeadas 13">
              <a:extLst>
                <a:ext uri="{FF2B5EF4-FFF2-40B4-BE49-F238E27FC236}">
                  <a16:creationId xmlns:a16="http://schemas.microsoft.com/office/drawing/2014/main" id="{D91BF7D1-DCB9-07EE-DB35-45B6CAD5D5B2}"/>
                </a:ext>
              </a:extLst>
            </p:cNvPr>
            <p:cNvSpPr/>
            <p:nvPr/>
          </p:nvSpPr>
          <p:spPr>
            <a:xfrm>
              <a:off x="8401275" y="1801112"/>
              <a:ext cx="2232248" cy="458151"/>
            </a:xfrm>
            <a:prstGeom prst="roundRect">
              <a:avLst/>
            </a:prstGeom>
            <a:solidFill>
              <a:srgbClr val="A4C06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400" dirty="0">
                  <a:solidFill>
                    <a:schemeClr val="bg1"/>
                  </a:solidFill>
                  <a:latin typeface="Helvetica" pitchFamily="2" charset="0"/>
                </a:rPr>
                <a:t>Predefinidas</a:t>
              </a:r>
            </a:p>
          </p:txBody>
        </p:sp>
        <p:sp>
          <p:nvSpPr>
            <p:cNvPr id="34" name="Rectángulo: esquinas redondeadas 13">
              <a:extLst>
                <a:ext uri="{FF2B5EF4-FFF2-40B4-BE49-F238E27FC236}">
                  <a16:creationId xmlns:a16="http://schemas.microsoft.com/office/drawing/2014/main" id="{01A0A867-0419-0D78-32D4-5FFC7D8DEA3C}"/>
                </a:ext>
              </a:extLst>
            </p:cNvPr>
            <p:cNvSpPr/>
            <p:nvPr/>
          </p:nvSpPr>
          <p:spPr>
            <a:xfrm>
              <a:off x="8401275" y="2364124"/>
              <a:ext cx="2232248" cy="458151"/>
            </a:xfrm>
            <a:prstGeom prst="roundRect">
              <a:avLst/>
            </a:prstGeom>
            <a:solidFill>
              <a:srgbClr val="A4C06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400" dirty="0">
                  <a:solidFill>
                    <a:schemeClr val="bg1"/>
                  </a:solidFill>
                  <a:latin typeface="Helvetica" pitchFamily="2" charset="0"/>
                </a:rPr>
                <a:t>Definidas por el usuario</a:t>
              </a:r>
            </a:p>
          </p:txBody>
        </p:sp>
        <p:sp>
          <p:nvSpPr>
            <p:cNvPr id="35" name="Rectángulo: esquinas redondeadas 13">
              <a:extLst>
                <a:ext uri="{FF2B5EF4-FFF2-40B4-BE49-F238E27FC236}">
                  <a16:creationId xmlns:a16="http://schemas.microsoft.com/office/drawing/2014/main" id="{D0DA0FF7-554C-4208-CEE8-DB8D315905C6}"/>
                </a:ext>
              </a:extLst>
            </p:cNvPr>
            <p:cNvSpPr/>
            <p:nvPr/>
          </p:nvSpPr>
          <p:spPr>
            <a:xfrm>
              <a:off x="8401275" y="3057568"/>
              <a:ext cx="2232248" cy="4581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400" dirty="0">
                  <a:solidFill>
                    <a:schemeClr val="bg1"/>
                  </a:solidFill>
                  <a:latin typeface="Helvetica" pitchFamily="2" charset="0"/>
                </a:rPr>
                <a:t>Predefinidas</a:t>
              </a:r>
            </a:p>
          </p:txBody>
        </p:sp>
        <p:sp>
          <p:nvSpPr>
            <p:cNvPr id="36" name="Rectángulo: esquinas redondeadas 13">
              <a:extLst>
                <a:ext uri="{FF2B5EF4-FFF2-40B4-BE49-F238E27FC236}">
                  <a16:creationId xmlns:a16="http://schemas.microsoft.com/office/drawing/2014/main" id="{E03233B7-6355-BF90-B320-54081A92A24A}"/>
                </a:ext>
              </a:extLst>
            </p:cNvPr>
            <p:cNvSpPr/>
            <p:nvPr/>
          </p:nvSpPr>
          <p:spPr>
            <a:xfrm>
              <a:off x="8401275" y="3620580"/>
              <a:ext cx="2232248" cy="4581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419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400" dirty="0">
                  <a:solidFill>
                    <a:schemeClr val="bg1"/>
                  </a:solidFill>
                  <a:latin typeface="Helvetica" pitchFamily="2" charset="0"/>
                </a:rPr>
                <a:t>Definidas por el usuario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112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Conversión entre tipos de datos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E5777-2557-0820-9368-066F78F7A697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Sentencias de asignación e inicialización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015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C7970C8-5667-D1AE-035B-CCFA71894E7E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BB84AA-B50B-B937-D056-06FFE47FB24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058747-F594-8123-91B3-544DDB1F28C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Sentencias de asignación e inicialización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8B41FF-62B4-596A-87E9-4C32F7DA555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97022DE-2AD1-0711-D7DB-A6519706BA9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Asignación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En general, debes dar un valor a una variable antes de usarla.</a:t>
            </a:r>
          </a:p>
          <a:p>
            <a:r>
              <a:rPr lang="es-ES" dirty="0"/>
              <a:t>Una forma de darle valor a una variable es la </a:t>
            </a:r>
            <a:r>
              <a:rPr lang="es-ES" b="1" dirty="0"/>
              <a:t>asignación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5E6179F8-25E5-DCF6-22F4-D1606FBA2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716" y="3539880"/>
            <a:ext cx="5224253" cy="2748207"/>
          </a:xfrm>
          <a:prstGeom prst="roundRect">
            <a:avLst>
              <a:gd name="adj" fmla="val 567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total;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25.99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total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"Total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pagar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total);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544A6F70-5545-72FA-3525-E928FC801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2658" y="3539880"/>
            <a:ext cx="1976705" cy="782058"/>
          </a:xfrm>
          <a:prstGeom prst="roundRect">
            <a:avLst>
              <a:gd name="adj" fmla="val 7406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x, y, z;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y = z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1570889B-AECA-66BA-AA3B-C65E16B29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2658" y="4879852"/>
            <a:ext cx="1432138" cy="782058"/>
          </a:xfrm>
          <a:prstGeom prst="roundRect">
            <a:avLst>
              <a:gd name="adj" fmla="val 1087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x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+=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6DC4E16-67B0-414D-2187-6198362FF8E8}"/>
              </a:ext>
            </a:extLst>
          </p:cNvPr>
          <p:cNvSpPr/>
          <p:nvPr/>
        </p:nvSpPr>
        <p:spPr>
          <a:xfrm>
            <a:off x="1484768" y="4562947"/>
            <a:ext cx="3410722" cy="1098963"/>
          </a:xfrm>
          <a:prstGeom prst="roundRect">
            <a:avLst>
              <a:gd name="adj" fmla="val 9886"/>
            </a:avLst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832606-DFE4-DB6A-9183-C9BF2FB506E5}"/>
              </a:ext>
            </a:extLst>
          </p:cNvPr>
          <p:cNvSpPr txBox="1"/>
          <p:nvPr/>
        </p:nvSpPr>
        <p:spPr>
          <a:xfrm>
            <a:off x="9243937" y="3539880"/>
            <a:ext cx="19767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Cadena de asignaciones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D5C464-378C-B2B6-7FEE-61E2CCE93F48}"/>
              </a:ext>
            </a:extLst>
          </p:cNvPr>
          <p:cNvSpPr txBox="1"/>
          <p:nvPr/>
        </p:nvSpPr>
        <p:spPr>
          <a:xfrm>
            <a:off x="8676277" y="4850818"/>
            <a:ext cx="2743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Asignaciones equivalentes. </a:t>
            </a:r>
            <a:br>
              <a:rPr lang="es-ES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La segunda línea muestra una asignación abreviada, cuando la misma variable actúa como emisora.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57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A0492AB1-694F-E881-C431-3A39B48A1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488" y="3962475"/>
            <a:ext cx="4381434" cy="1287800"/>
          </a:xfrm>
          <a:prstGeom prst="roundRect">
            <a:avLst>
              <a:gd name="adj" fmla="val 893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 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 =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25.99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total = unidades * precio;</a:t>
            </a: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7970C8-5667-D1AE-035B-CCFA71894E7E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BB84AA-B50B-B937-D056-06FFE47FB24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058747-F594-8123-91B3-544DDB1F28C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Sentencias de asignación e inicialización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8B41FF-62B4-596A-87E9-4C32F7DA555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97022DE-2AD1-0711-D7DB-A6519706BA99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Inicialización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Otra forma de darle valor a una variable es la </a:t>
            </a:r>
            <a:r>
              <a:rPr lang="es-ES" b="1" dirty="0"/>
              <a:t>inicialización</a:t>
            </a:r>
            <a:r>
              <a:rPr lang="es-ES" dirty="0"/>
              <a:t>.</a:t>
            </a:r>
          </a:p>
          <a:p>
            <a:r>
              <a:rPr lang="es-ES" dirty="0"/>
              <a:t>Inicializar una variable significa darle un valor cuando ésta es declarada.</a:t>
            </a:r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6DC4E16-67B0-414D-2187-6198362FF8E8}"/>
              </a:ext>
            </a:extLst>
          </p:cNvPr>
          <p:cNvSpPr/>
          <p:nvPr/>
        </p:nvSpPr>
        <p:spPr>
          <a:xfrm>
            <a:off x="4997512" y="4805269"/>
            <a:ext cx="3410722" cy="391420"/>
          </a:xfrm>
          <a:prstGeom prst="roundRect">
            <a:avLst>
              <a:gd name="adj" fmla="val 9886"/>
            </a:avLst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832606-DFE4-DB6A-9183-C9BF2FB506E5}"/>
              </a:ext>
            </a:extLst>
          </p:cNvPr>
          <p:cNvSpPr txBox="1"/>
          <p:nvPr/>
        </p:nvSpPr>
        <p:spPr>
          <a:xfrm>
            <a:off x="4898274" y="5694423"/>
            <a:ext cx="4091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Inicialización dinámica (en tiempo de ejecución)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1E68BB-E690-6365-B8D4-F14DB79A830E}"/>
              </a:ext>
            </a:extLst>
          </p:cNvPr>
          <p:cNvCxnSpPr>
            <a:cxnSpLocks/>
          </p:cNvCxnSpPr>
          <p:nvPr/>
        </p:nvCxnSpPr>
        <p:spPr>
          <a:xfrm>
            <a:off x="6702873" y="5185925"/>
            <a:ext cx="0" cy="491124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62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Sentencias de asignación e inicialización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Conversión entre tipos de datos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E5777-2557-0820-9368-066F78F7A697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585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B5BCAB5-C040-644F-A904-0BBCCB8D6631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6778F-2CA2-3A55-B395-176ED8C4F04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BEDF-E6BD-C10B-D660-1680609A537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DE63-768B-EDC5-7250-2DD90FE33D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D0E52-BE02-3208-ED7F-96A0A279C38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Scanner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>
                <a:solidFill>
                  <a:schemeClr val="accent2"/>
                </a:solidFill>
              </a:rPr>
              <a:t>Scanner</a:t>
            </a:r>
            <a:r>
              <a:rPr lang="es-ES" dirty="0"/>
              <a:t> es una clase para </a:t>
            </a:r>
            <a:r>
              <a:rPr lang="es-ES" b="1" dirty="0">
                <a:solidFill>
                  <a:schemeClr val="accent2"/>
                </a:solidFill>
              </a:rPr>
              <a:t>leer datos</a:t>
            </a:r>
            <a:r>
              <a:rPr lang="es-ES" dirty="0"/>
              <a:t> desde diversas fuentes, entre ellas, el teclado.</a:t>
            </a:r>
          </a:p>
          <a:p>
            <a:r>
              <a:rPr lang="es-ES" b="1" dirty="0">
                <a:solidFill>
                  <a:schemeClr val="accent2"/>
                </a:solidFill>
              </a:rPr>
              <a:t>Scanner</a:t>
            </a:r>
            <a:r>
              <a:rPr lang="es-ES" dirty="0"/>
              <a:t> fragmenta datos en </a:t>
            </a:r>
            <a:r>
              <a:rPr lang="es-ES" b="1" dirty="0">
                <a:solidFill>
                  <a:schemeClr val="accent2"/>
                </a:solidFill>
              </a:rPr>
              <a:t>tokens</a:t>
            </a:r>
            <a:r>
              <a:rPr lang="es-ES" dirty="0"/>
              <a:t> usando un delimitador (por defecto espacio en blanco)</a:t>
            </a:r>
          </a:p>
          <a:p>
            <a:r>
              <a:rPr lang="es-ES" dirty="0"/>
              <a:t>Estos tokens pueden ser convertidos en diferentes tipos de datos.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CC5AFC6-96DA-19B9-F7AA-FAD8E04E5729}"/>
              </a:ext>
            </a:extLst>
          </p:cNvPr>
          <p:cNvGrpSpPr/>
          <p:nvPr/>
        </p:nvGrpSpPr>
        <p:grpSpPr>
          <a:xfrm>
            <a:off x="1714477" y="5142721"/>
            <a:ext cx="8597420" cy="824242"/>
            <a:chOff x="1714477" y="5504851"/>
            <a:chExt cx="8597420" cy="82424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D3C6E9D-ABD3-9997-5A81-D53FCEF3FAA4}"/>
                </a:ext>
              </a:extLst>
            </p:cNvPr>
            <p:cNvSpPr/>
            <p:nvPr/>
          </p:nvSpPr>
          <p:spPr>
            <a:xfrm>
              <a:off x="1714477" y="5504851"/>
              <a:ext cx="2024601" cy="824242"/>
            </a:xfrm>
            <a:prstGeom prst="round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Aplicación Java</a:t>
              </a:r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5354BC7-B3D5-D34C-79F0-17941223EDDE}"/>
                </a:ext>
              </a:extLst>
            </p:cNvPr>
            <p:cNvSpPr/>
            <p:nvPr/>
          </p:nvSpPr>
          <p:spPr>
            <a:xfrm>
              <a:off x="4901308" y="5504851"/>
              <a:ext cx="2024601" cy="824242"/>
            </a:xfrm>
            <a:prstGeom prst="round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Scanner</a:t>
              </a:r>
              <a:endParaRPr lang="en-US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B762A51-DB7C-DFE1-2F51-BB494F5FA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8139" y="5504851"/>
              <a:ext cx="2223758" cy="824242"/>
            </a:xfrm>
            <a:prstGeom prst="rect">
              <a:avLst/>
            </a:prstGeom>
          </p:spPr>
        </p:pic>
        <p:sp>
          <p:nvSpPr>
            <p:cNvPr id="21" name="Arrow: Left 20">
              <a:extLst>
                <a:ext uri="{FF2B5EF4-FFF2-40B4-BE49-F238E27FC236}">
                  <a16:creationId xmlns:a16="http://schemas.microsoft.com/office/drawing/2014/main" id="{02E1275D-CA94-A41A-6C8B-6219AFC983F0}"/>
                </a:ext>
              </a:extLst>
            </p:cNvPr>
            <p:cNvSpPr/>
            <p:nvPr/>
          </p:nvSpPr>
          <p:spPr>
            <a:xfrm>
              <a:off x="3959011" y="5782793"/>
              <a:ext cx="722363" cy="268358"/>
            </a:xfrm>
            <a:prstGeom prst="lef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row: Left 23">
              <a:extLst>
                <a:ext uri="{FF2B5EF4-FFF2-40B4-BE49-F238E27FC236}">
                  <a16:creationId xmlns:a16="http://schemas.microsoft.com/office/drawing/2014/main" id="{D5E155B0-FDE3-906E-C231-5B4E2B7528F4}"/>
                </a:ext>
              </a:extLst>
            </p:cNvPr>
            <p:cNvSpPr/>
            <p:nvPr/>
          </p:nvSpPr>
          <p:spPr>
            <a:xfrm>
              <a:off x="7145843" y="5782793"/>
              <a:ext cx="722363" cy="268358"/>
            </a:xfrm>
            <a:prstGeom prst="leftArrow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1E59917-D32B-CAF4-2A83-530DEDEA34B0}"/>
              </a:ext>
            </a:extLst>
          </p:cNvPr>
          <p:cNvSpPr txBox="1"/>
          <p:nvPr/>
        </p:nvSpPr>
        <p:spPr>
          <a:xfrm>
            <a:off x="104322" y="6388405"/>
            <a:ext cx="8840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https://w7.pngwing.com/pngs/237/738/png-transparent-black-computer-keyboard-computer-keyboard-computer-mouse-computer-hardware-keyboard-shortcut-keyboard-electronics-computer-electronic-device.png</a:t>
            </a:r>
          </a:p>
        </p:txBody>
      </p:sp>
    </p:spTree>
    <p:extLst>
      <p:ext uri="{BB962C8B-B14F-4D97-AF65-F5344CB8AC3E}">
        <p14:creationId xmlns:p14="http://schemas.microsoft.com/office/powerpoint/2010/main" val="113885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B5BCAB5-C040-644F-A904-0BBCCB8D6631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A6778F-2CA2-3A55-B395-176ED8C4F04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3BEDF-E6BD-C10B-D660-1680609A537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EC1DE63-768B-EDC5-7250-2DD90FE33DB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D0E52-BE02-3208-ED7F-96A0A279C38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Scanner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4BADA09-F75D-A2CA-47AC-9517967714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/>
              <a:t>Scanner</a:t>
            </a:r>
            <a:r>
              <a:rPr lang="es-ES" dirty="0"/>
              <a:t> está definida en el paquete </a:t>
            </a:r>
            <a:r>
              <a:rPr lang="es-ES" b="1" dirty="0" err="1">
                <a:solidFill>
                  <a:schemeClr val="accent2"/>
                </a:solidFill>
              </a:rPr>
              <a:t>java.util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tanto, para </a:t>
            </a:r>
            <a:r>
              <a:rPr lang="en-US" dirty="0" err="1"/>
              <a:t>utilizarla</a:t>
            </a:r>
            <a:r>
              <a:rPr lang="en-US" dirty="0"/>
              <a:t> </a:t>
            </a:r>
            <a:r>
              <a:rPr lang="en-US" dirty="0" err="1"/>
              <a:t>debemos</a:t>
            </a:r>
            <a:r>
              <a:rPr lang="en-US" dirty="0"/>
              <a:t> </a:t>
            </a:r>
            <a:r>
              <a:rPr lang="en-US" dirty="0" err="1"/>
              <a:t>importar</a:t>
            </a:r>
            <a:r>
              <a:rPr lang="en-US" dirty="0"/>
              <a:t> </a:t>
            </a:r>
            <a:r>
              <a:rPr lang="en-US" dirty="0" err="1"/>
              <a:t>dicha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Para </a:t>
            </a:r>
            <a:r>
              <a:rPr lang="en-US" dirty="0" err="1"/>
              <a:t>crear</a:t>
            </a:r>
            <a:r>
              <a:rPr lang="en-US" dirty="0"/>
              <a:t> un </a:t>
            </a:r>
            <a:r>
              <a:rPr lang="en-US" b="1" dirty="0"/>
              <a:t>Scanner</a:t>
            </a:r>
            <a:r>
              <a:rPr lang="en-US" dirty="0"/>
              <a:t> </a:t>
            </a:r>
            <a:r>
              <a:rPr lang="en-US" dirty="0" err="1"/>
              <a:t>utilizamos</a:t>
            </a:r>
            <a:r>
              <a:rPr lang="en-US" dirty="0"/>
              <a:t> la </a:t>
            </a:r>
            <a:r>
              <a:rPr lang="en-US" dirty="0" err="1"/>
              <a:t>siguiente</a:t>
            </a:r>
            <a:r>
              <a:rPr lang="en-US" dirty="0"/>
              <a:t> </a:t>
            </a:r>
            <a:r>
              <a:rPr lang="en-US" dirty="0" err="1"/>
              <a:t>instrucción</a:t>
            </a:r>
            <a:r>
              <a:rPr lang="en-US" dirty="0"/>
              <a:t>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56D959-4B61-18AE-2F84-5D4695399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716" y="4725811"/>
            <a:ext cx="8776762" cy="578882"/>
          </a:xfrm>
          <a:prstGeom prst="round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4E01C5-E7DD-C32E-8D2E-C85A67A8E17D}"/>
              </a:ext>
            </a:extLst>
          </p:cNvPr>
          <p:cNvSpPr txBox="1"/>
          <p:nvPr/>
        </p:nvSpPr>
        <p:spPr>
          <a:xfrm>
            <a:off x="7566254" y="5416098"/>
            <a:ext cx="32454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System.in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se usa para leer desde la entrada estándar (teclado, consola, archivo, etc.)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61B80D0-024B-1D45-FB56-82A07571B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716" y="3217998"/>
            <a:ext cx="5608447" cy="578882"/>
          </a:xfrm>
          <a:prstGeom prst="round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solidFill>
                  <a:srgbClr val="749DED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java.util.Scanner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7A177-B9DA-4F12-AD81-36D18345213F}"/>
              </a:ext>
            </a:extLst>
          </p:cNvPr>
          <p:cNvSpPr txBox="1"/>
          <p:nvPr/>
        </p:nvSpPr>
        <p:spPr>
          <a:xfrm>
            <a:off x="7566255" y="3217998"/>
            <a:ext cx="32454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Las instrucciones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import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se colocan al inicio del archivo, luego de la declaración del paquete (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package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807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02E9-785A-9B3A-1295-092A67B0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de la clase Scanner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58343-E4A4-50F1-3325-A6614C2C1F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BE130B-87E0-190C-E6D4-328A8C8DEFB5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B88EBB-D6DF-F737-933A-0CEABB2B052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2B84117-78BA-AB0F-4944-CA40443A77C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99FC19-F743-16E1-4D03-9FBF9CFA0393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DB89CF-6A0B-0F3F-63D3-296AC6FC4F4F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D400A176-C66F-258A-E654-0A3BFBFD2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433361"/>
              </p:ext>
            </p:extLst>
          </p:nvPr>
        </p:nvGraphicFramePr>
        <p:xfrm>
          <a:off x="1225685" y="1729064"/>
          <a:ext cx="9740630" cy="407334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605619">
                  <a:extLst>
                    <a:ext uri="{9D8B030D-6E8A-4147-A177-3AD203B41FA5}">
                      <a16:colId xmlns:a16="http://schemas.microsoft.com/office/drawing/2014/main" val="4150418632"/>
                    </a:ext>
                  </a:extLst>
                </a:gridCol>
                <a:gridCol w="7135011">
                  <a:extLst>
                    <a:ext uri="{9D8B030D-6E8A-4147-A177-3AD203B41FA5}">
                      <a16:colId xmlns:a16="http://schemas.microsoft.com/office/drawing/2014/main" val="3776409620"/>
                    </a:ext>
                  </a:extLst>
                </a:gridCol>
              </a:tblGrid>
              <a:tr h="394868">
                <a:tc>
                  <a:txBody>
                    <a:bodyPr/>
                    <a:lstStyle/>
                    <a:p>
                      <a:r>
                        <a:rPr lang="es-ES" sz="1800" b="0" dirty="0"/>
                        <a:t>Método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dirty="0"/>
                        <a:t>Descripción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012587"/>
                  </a:ext>
                </a:extLst>
              </a:tr>
              <a:tr h="394868">
                <a:tc>
                  <a:txBody>
                    <a:bodyPr/>
                    <a:lstStyle/>
                    <a:p>
                      <a:r>
                        <a:rPr lang="es-ES" sz="1800" b="1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nextInt</a:t>
                      </a:r>
                      <a:r>
                        <a:rPr lang="es-ES" sz="1800" b="1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n-US" sz="1800" b="1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dirty="0"/>
                        <a:t>Lee el siguiente token como un </a:t>
                      </a:r>
                      <a:r>
                        <a:rPr lang="es-ES" sz="1800" b="0" dirty="0" err="1"/>
                        <a:t>int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043374"/>
                  </a:ext>
                </a:extLst>
              </a:tr>
              <a:tr h="394868">
                <a:tc>
                  <a:txBody>
                    <a:bodyPr/>
                    <a:lstStyle/>
                    <a:p>
                      <a:r>
                        <a:rPr lang="es-ES" sz="1800" b="1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nextByte</a:t>
                      </a:r>
                      <a:r>
                        <a:rPr lang="es-ES" sz="1800" b="1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n-US" sz="1800" b="1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800" b="0" dirty="0"/>
                        <a:t>Lee el siguiente token como un byte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890116"/>
                  </a:ext>
                </a:extLst>
              </a:tr>
              <a:tr h="394868">
                <a:tc>
                  <a:txBody>
                    <a:bodyPr/>
                    <a:lstStyle/>
                    <a:p>
                      <a:r>
                        <a:rPr lang="es-ES" sz="1800" b="1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nextBoolean</a:t>
                      </a:r>
                      <a:r>
                        <a:rPr lang="es-ES" sz="1800" b="1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n-US" sz="1800" b="1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dirty="0"/>
                        <a:t>Lee el siguiente token como un </a:t>
                      </a:r>
                      <a:r>
                        <a:rPr lang="es-ES" sz="1800" b="0" dirty="0" err="1"/>
                        <a:t>boolean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646943"/>
                  </a:ext>
                </a:extLst>
              </a:tr>
              <a:tr h="394868">
                <a:tc>
                  <a:txBody>
                    <a:bodyPr/>
                    <a:lstStyle/>
                    <a:p>
                      <a:r>
                        <a:rPr lang="es-ES" sz="1800" b="1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nextFloat</a:t>
                      </a:r>
                      <a:r>
                        <a:rPr lang="es-ES" sz="1800" b="1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n-US" sz="1800" b="1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dirty="0"/>
                        <a:t>Lee el siguiente token como un </a:t>
                      </a:r>
                      <a:r>
                        <a:rPr lang="es-ES" sz="1800" b="0" dirty="0" err="1"/>
                        <a:t>float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798093"/>
                  </a:ext>
                </a:extLst>
              </a:tr>
              <a:tr h="394868">
                <a:tc>
                  <a:txBody>
                    <a:bodyPr/>
                    <a:lstStyle/>
                    <a:p>
                      <a:r>
                        <a:rPr lang="es-ES" sz="1800" b="1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nextDouble</a:t>
                      </a:r>
                      <a:r>
                        <a:rPr lang="es-ES" sz="1800" b="1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n-US" sz="1800" b="1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dirty="0"/>
                        <a:t>Lee el siguiente token como un </a:t>
                      </a:r>
                      <a:r>
                        <a:rPr lang="es-ES" sz="1800" b="0" dirty="0" err="1"/>
                        <a:t>double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760337"/>
                  </a:ext>
                </a:extLst>
              </a:tr>
              <a:tr h="394868">
                <a:tc>
                  <a:txBody>
                    <a:bodyPr/>
                    <a:lstStyle/>
                    <a:p>
                      <a:r>
                        <a:rPr lang="es-ES" sz="1800" b="1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nextLong</a:t>
                      </a:r>
                      <a:r>
                        <a:rPr lang="es-ES" sz="1800" b="1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n-US" sz="1800" b="1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dirty="0"/>
                        <a:t>Lee el siguiente token como un </a:t>
                      </a:r>
                      <a:r>
                        <a:rPr lang="es-ES" sz="1800" b="0" dirty="0" err="1"/>
                        <a:t>long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957801"/>
                  </a:ext>
                </a:extLst>
              </a:tr>
              <a:tr h="394868">
                <a:tc>
                  <a:txBody>
                    <a:bodyPr/>
                    <a:lstStyle/>
                    <a:p>
                      <a:r>
                        <a:rPr lang="es-ES" sz="1800" b="1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nextLine</a:t>
                      </a:r>
                      <a:r>
                        <a:rPr lang="es-ES" sz="1800" b="1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endParaRPr lang="en-US" sz="1800" b="1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Lee la </a:t>
                      </a:r>
                      <a:r>
                        <a:rPr lang="en-US" sz="1800" b="0" dirty="0" err="1"/>
                        <a:t>línea</a:t>
                      </a:r>
                      <a:r>
                        <a:rPr lang="en-US" sz="1800" b="0" dirty="0"/>
                        <a:t> actual, </a:t>
                      </a:r>
                      <a:r>
                        <a:rPr lang="en-US" sz="1800" b="0" dirty="0" err="1"/>
                        <a:t>incluyendo</a:t>
                      </a:r>
                      <a:r>
                        <a:rPr lang="en-US" sz="1800" b="0" dirty="0"/>
                        <a:t> </a:t>
                      </a:r>
                      <a:r>
                        <a:rPr lang="en-US" sz="1800" b="0" dirty="0" err="1"/>
                        <a:t>el</a:t>
                      </a:r>
                      <a:r>
                        <a:rPr lang="en-US" sz="1800" b="0" dirty="0"/>
                        <a:t> </a:t>
                      </a:r>
                      <a:r>
                        <a:rPr lang="en-US" sz="1800" b="0" dirty="0" err="1"/>
                        <a:t>salto</a:t>
                      </a:r>
                      <a:r>
                        <a:rPr lang="en-US" sz="1800" b="0" dirty="0"/>
                        <a:t> de </a:t>
                      </a:r>
                      <a:r>
                        <a:rPr lang="en-US" sz="1800" b="0" dirty="0" err="1"/>
                        <a:t>línea</a:t>
                      </a:r>
                      <a:r>
                        <a:rPr lang="en-US" sz="1800" b="0" dirty="0"/>
                        <a:t> \n (Enter)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80145"/>
                  </a:ext>
                </a:extLst>
              </a:tr>
              <a:tr h="394868">
                <a:tc>
                  <a:txBody>
                    <a:bodyPr/>
                    <a:lstStyle/>
                    <a:p>
                      <a:r>
                        <a:rPr lang="es-ES" sz="1800" b="1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next</a:t>
                      </a:r>
                      <a:r>
                        <a:rPr lang="es-ES" sz="1800" b="1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().</a:t>
                      </a:r>
                      <a:r>
                        <a:rPr lang="es-ES" sz="1800" b="1" dirty="0" err="1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charAt</a:t>
                      </a:r>
                      <a:r>
                        <a:rPr lang="es-ES" sz="1800" b="1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(0)</a:t>
                      </a:r>
                      <a:endParaRPr lang="en-US" sz="1800" b="1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dirty="0">
                          <a:latin typeface="Helvetica" pitchFamily="2" charset="0"/>
                        </a:rPr>
                        <a:t>Para leer un solo </a:t>
                      </a:r>
                      <a:r>
                        <a:rPr lang="es-ES" sz="1800" b="0" dirty="0" err="1">
                          <a:latin typeface="Helvetica" pitchFamily="2" charset="0"/>
                        </a:rPr>
                        <a:t>caracter</a:t>
                      </a:r>
                      <a:r>
                        <a:rPr lang="es-ES" sz="1800" b="0" dirty="0">
                          <a:latin typeface="Helvetica" pitchFamily="2" charset="0"/>
                        </a:rPr>
                        <a:t>. </a:t>
                      </a:r>
                      <a:r>
                        <a:rPr lang="es-ES" sz="1600" b="1" dirty="0" err="1">
                          <a:solidFill>
                            <a:schemeClr val="accent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next</a:t>
                      </a:r>
                      <a:r>
                        <a:rPr lang="es-ES" sz="1600" b="1" dirty="0">
                          <a:solidFill>
                            <a:schemeClr val="accent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r>
                        <a:rPr lang="es-ES" sz="1800" b="0" dirty="0">
                          <a:latin typeface="Helvetica" pitchFamily="2" charset="0"/>
                        </a:rPr>
                        <a:t> retorna el siguiente token, mientras que </a:t>
                      </a:r>
                      <a:r>
                        <a:rPr lang="es-ES" sz="1600" b="1" dirty="0" err="1">
                          <a:solidFill>
                            <a:schemeClr val="accent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charAt</a:t>
                      </a:r>
                      <a:r>
                        <a:rPr lang="es-ES" sz="1600" b="1" dirty="0">
                          <a:solidFill>
                            <a:schemeClr val="accent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(0)</a:t>
                      </a:r>
                      <a:r>
                        <a:rPr lang="es-ES" sz="1800" b="0" dirty="0">
                          <a:latin typeface="Helvetica" pitchFamily="2" charset="0"/>
                        </a:rPr>
                        <a:t> retorna el primer </a:t>
                      </a:r>
                      <a:r>
                        <a:rPr lang="es-ES" sz="1800" b="0" dirty="0" err="1">
                          <a:latin typeface="Helvetica" pitchFamily="2" charset="0"/>
                        </a:rPr>
                        <a:t>caracter</a:t>
                      </a:r>
                      <a:r>
                        <a:rPr lang="es-ES" sz="1800" b="0" dirty="0">
                          <a:latin typeface="Helvetica" pitchFamily="2" charset="0"/>
                        </a:rPr>
                        <a:t> del token devuelto.</a:t>
                      </a:r>
                      <a:endParaRPr lang="en-US" sz="1800" b="0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71194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F711EDA-E278-5F95-B3B8-9AB99C3EFF84}"/>
              </a:ext>
            </a:extLst>
          </p:cNvPr>
          <p:cNvSpPr txBox="1"/>
          <p:nvPr/>
        </p:nvSpPr>
        <p:spPr>
          <a:xfrm>
            <a:off x="2023353" y="5708222"/>
            <a:ext cx="8942962" cy="5062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144000" tIns="144000" rIns="144000" bIns="144000">
            <a:spAutoFit/>
          </a:bodyPr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Después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de leer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algún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tipo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de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dato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primitivo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, use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nextLine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()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para leer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\n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dejado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en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cada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lectura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numérica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824EC5-5380-7C4A-276D-223E48CD671C}"/>
              </a:ext>
            </a:extLst>
          </p:cNvPr>
          <p:cNvSpPr txBox="1"/>
          <p:nvPr/>
        </p:nvSpPr>
        <p:spPr>
          <a:xfrm>
            <a:off x="104322" y="6388405"/>
            <a:ext cx="8840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https://media.istockphoto.com/id/891806884/vector/important-red-rubber-stamp-icon-on-transparent-background.jpg?s=170667a&amp;w=0&amp;k=20&amp;c=vFVhpwQaWLpGYTJTuc7Qya78aI2WMK_0WaGEWzRjgQc=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59BF7D-D4E2-60A3-202B-98DDA919E9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77045" y="5726168"/>
            <a:ext cx="957676" cy="52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5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0F21A-EABB-682D-6AB6-679E1ED61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Scanner. Ejemplo 1.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451B13-124A-84C8-B8E3-80687403CE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761C9-4FC3-9434-E9EF-277C8233E87C}"/>
              </a:ext>
            </a:extLst>
          </p:cNvPr>
          <p:cNvSpPr txBox="1"/>
          <p:nvPr/>
        </p:nvSpPr>
        <p:spPr>
          <a:xfrm>
            <a:off x="7530221" y="5084755"/>
            <a:ext cx="3234349" cy="636344"/>
          </a:xfrm>
          <a:prstGeom prst="round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lang="en-US" sz="11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Usted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tiene</a:t>
            </a:r>
            <a:r>
              <a:rPr lang="en-U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25 </a:t>
            </a:r>
            <a:r>
              <a:rPr lang="en-US" sz="11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años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2790C3-5EAD-71CA-0953-1BD1626428C4}"/>
              </a:ext>
            </a:extLst>
          </p:cNvPr>
          <p:cNvSpPr txBox="1"/>
          <p:nvPr/>
        </p:nvSpPr>
        <p:spPr>
          <a:xfrm>
            <a:off x="7530221" y="4605477"/>
            <a:ext cx="202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57FCFF-63A4-FE64-1C71-8887D42683D7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1539C2-189E-DBF7-838C-47F718302E1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35AD40-0CF9-A819-26B4-941FB628FA2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A5CE8C-7F59-7B0A-BBB1-BFB7739B2FC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F5088F-5A7E-59B2-39AC-3DC88B94E431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26E38393-1C9D-5F2B-AA9D-CD37F70FA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576" y="1743758"/>
            <a:ext cx="6264769" cy="4727514"/>
          </a:xfrm>
          <a:prstGeom prst="roundRect">
            <a:avLst>
              <a:gd name="adj" fmla="val 3883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java.util.Scanner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Prueba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Scanner lector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hasNextInt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Usted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tiene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años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07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0F21A-EABB-682D-6AB6-679E1ED61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2937095" cy="2898390"/>
          </a:xfrm>
        </p:spPr>
        <p:txBody>
          <a:bodyPr>
            <a:normAutofit/>
          </a:bodyPr>
          <a:lstStyle/>
          <a:p>
            <a:r>
              <a:rPr lang="es-ES" dirty="0"/>
              <a:t>Clase Scanner. Ejemplo 2.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451B13-124A-84C8-B8E3-80687403CE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57FCFF-63A4-FE64-1C71-8887D42683D7}"/>
              </a:ext>
            </a:extLst>
          </p:cNvPr>
          <p:cNvGrpSpPr/>
          <p:nvPr/>
        </p:nvGrpSpPr>
        <p:grpSpPr>
          <a:xfrm>
            <a:off x="838200" y="-36377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1539C2-189E-DBF7-838C-47F718302E1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35AD40-0CF9-A819-26B4-941FB628FA2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1A5CE8C-7F59-7B0A-BBB1-BFB7739B2FC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F5088F-5A7E-59B2-39AC-3DC88B94E431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86493F2E-8F65-BCDA-03CF-85F9855AE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118" y="988145"/>
            <a:ext cx="7898394" cy="5686782"/>
          </a:xfrm>
          <a:prstGeom prst="roundRect">
            <a:avLst>
              <a:gd name="adj" fmla="val 1993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java.util.Scanner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Prueba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Scanner lector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numeroHijos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talla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ingresoAnual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tieneSeguro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Solicitud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número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hijos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numeroHijos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nextByte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talla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(metros): 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talla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nextFloat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económico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anual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ingresoAnual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nextDouble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"¿Tiene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seguro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?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true|false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 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tieneSeguro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nextBoolean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nextLine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Resumen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ingresados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Número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hijos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Talla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%f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%f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seguro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%b"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numeroHijos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talla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ingresoAnual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tieneSeguro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23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Sentencias de asignación e inicialización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E5777-2557-0820-9368-066F78F7A697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Conversión entre tipos de datos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151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¿Cómo funciona la conversión de tipos?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C368AE-7D19-EFA4-D63C-A2DF3CFEB504}"/>
              </a:ext>
            </a:extLst>
          </p:cNvPr>
          <p:cNvGrpSpPr/>
          <p:nvPr/>
        </p:nvGrpSpPr>
        <p:grpSpPr>
          <a:xfrm>
            <a:off x="838200" y="-36378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A3FE5D-EAB1-F41C-1AE0-1D4BDBACEFE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3854B9-913F-8BA6-32DD-9A0825EF3AC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Conversión entre tipos de datos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78760DE-7A42-EE41-9F64-A2A17A7B569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263EE1-965A-C197-C66F-452C112342B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D51D59-D513-54EB-BD08-DB2FA5030F27}"/>
              </a:ext>
            </a:extLst>
          </p:cNvPr>
          <p:cNvGrpSpPr/>
          <p:nvPr/>
        </p:nvGrpSpPr>
        <p:grpSpPr>
          <a:xfrm>
            <a:off x="4150449" y="1864720"/>
            <a:ext cx="3856777" cy="4434214"/>
            <a:chOff x="4068023" y="1922136"/>
            <a:chExt cx="3856777" cy="443421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3129FE-F5DD-8E41-C43E-2BA81DCFFC7F}"/>
                </a:ext>
              </a:extLst>
            </p:cNvPr>
            <p:cNvSpPr/>
            <p:nvPr/>
          </p:nvSpPr>
          <p:spPr>
            <a:xfrm>
              <a:off x="4068024" y="5849356"/>
              <a:ext cx="3856776" cy="506994"/>
            </a:xfrm>
            <a:prstGeom prst="rect">
              <a:avLst/>
            </a:prstGeom>
            <a:solidFill>
              <a:srgbClr val="257F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err="1"/>
                <a:t>double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E8B097-B393-D829-7326-FF8A0C8CB49C}"/>
                </a:ext>
              </a:extLst>
            </p:cNvPr>
            <p:cNvSpPr/>
            <p:nvPr/>
          </p:nvSpPr>
          <p:spPr>
            <a:xfrm>
              <a:off x="4068023" y="5194818"/>
              <a:ext cx="3238123" cy="506994"/>
            </a:xfrm>
            <a:prstGeom prst="rect">
              <a:avLst/>
            </a:prstGeom>
            <a:solidFill>
              <a:srgbClr val="2E92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err="1"/>
                <a:t>float</a:t>
              </a:r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7818A11-751F-C6BC-5E77-A4B5C50F32D5}"/>
                </a:ext>
              </a:extLst>
            </p:cNvPr>
            <p:cNvSpPr/>
            <p:nvPr/>
          </p:nvSpPr>
          <p:spPr>
            <a:xfrm>
              <a:off x="4068023" y="4540280"/>
              <a:ext cx="2640595" cy="506994"/>
            </a:xfrm>
            <a:prstGeom prst="rect">
              <a:avLst/>
            </a:prstGeom>
            <a:solidFill>
              <a:srgbClr val="429C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err="1"/>
                <a:t>long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310EFEA-A706-14F8-BBE5-06A76D24388F}"/>
                </a:ext>
              </a:extLst>
            </p:cNvPr>
            <p:cNvSpPr/>
            <p:nvPr/>
          </p:nvSpPr>
          <p:spPr>
            <a:xfrm>
              <a:off x="4068024" y="3885744"/>
              <a:ext cx="2027976" cy="506994"/>
            </a:xfrm>
            <a:prstGeom prst="rect">
              <a:avLst/>
            </a:prstGeom>
            <a:solidFill>
              <a:srgbClr val="68B1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err="1"/>
                <a:t>int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CC49534-BA3C-3B47-249A-EFD6BAFE1854}"/>
                </a:ext>
              </a:extLst>
            </p:cNvPr>
            <p:cNvSpPr/>
            <p:nvPr/>
          </p:nvSpPr>
          <p:spPr>
            <a:xfrm>
              <a:off x="4068024" y="3231208"/>
              <a:ext cx="1010970" cy="506994"/>
            </a:xfrm>
            <a:prstGeom prst="rect">
              <a:avLst/>
            </a:prstGeom>
            <a:solidFill>
              <a:srgbClr val="8FC5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err="1">
                  <a:solidFill>
                    <a:srgbClr val="1B5E8B"/>
                  </a:solidFill>
                </a:rPr>
                <a:t>char</a:t>
              </a:r>
              <a:endParaRPr lang="en-US" dirty="0">
                <a:solidFill>
                  <a:srgbClr val="1B5E8B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6825-7FDC-9CC1-6FD0-6E36C3B00F00}"/>
                </a:ext>
              </a:extLst>
            </p:cNvPr>
            <p:cNvSpPr/>
            <p:nvPr/>
          </p:nvSpPr>
          <p:spPr>
            <a:xfrm>
              <a:off x="4068024" y="2576672"/>
              <a:ext cx="1010970" cy="506994"/>
            </a:xfrm>
            <a:prstGeom prst="rect">
              <a:avLst/>
            </a:prstGeom>
            <a:solidFill>
              <a:srgbClr val="AFD5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rgbClr val="1B5E8B"/>
                  </a:solidFill>
                </a:rPr>
                <a:t>short</a:t>
              </a:r>
              <a:endParaRPr lang="en-US" dirty="0">
                <a:solidFill>
                  <a:srgbClr val="1B5E8B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6D8A415-FBD5-9AD5-3020-78C67FB4E7D9}"/>
                </a:ext>
              </a:extLst>
            </p:cNvPr>
            <p:cNvSpPr/>
            <p:nvPr/>
          </p:nvSpPr>
          <p:spPr>
            <a:xfrm>
              <a:off x="4068024" y="1922136"/>
              <a:ext cx="585457" cy="506994"/>
            </a:xfrm>
            <a:prstGeom prst="rect">
              <a:avLst/>
            </a:prstGeom>
            <a:solidFill>
              <a:srgbClr val="C5E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rgbClr val="1B5E8B"/>
                  </a:solidFill>
                </a:rPr>
                <a:t>byte</a:t>
              </a:r>
              <a:endParaRPr lang="en-US" dirty="0">
                <a:solidFill>
                  <a:srgbClr val="1B5E8B"/>
                </a:solidFill>
              </a:endParaRPr>
            </a:p>
          </p:txBody>
        </p:sp>
      </p:grpSp>
      <p:sp>
        <p:nvSpPr>
          <p:cNvPr id="22" name="Arrow: Down 21">
            <a:extLst>
              <a:ext uri="{FF2B5EF4-FFF2-40B4-BE49-F238E27FC236}">
                <a16:creationId xmlns:a16="http://schemas.microsoft.com/office/drawing/2014/main" id="{D2AFC39B-9F6D-51E1-141B-6F6BE2B82815}"/>
              </a:ext>
            </a:extLst>
          </p:cNvPr>
          <p:cNvSpPr/>
          <p:nvPr/>
        </p:nvSpPr>
        <p:spPr>
          <a:xfrm>
            <a:off x="3524345" y="1864720"/>
            <a:ext cx="280658" cy="4434214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93EEB85-4E7A-FC88-8B8F-969ED67A11CA}"/>
              </a:ext>
            </a:extLst>
          </p:cNvPr>
          <p:cNvSpPr/>
          <p:nvPr/>
        </p:nvSpPr>
        <p:spPr>
          <a:xfrm flipV="1">
            <a:off x="8352672" y="1864720"/>
            <a:ext cx="280658" cy="4434214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FFA201-C833-44BB-81FA-AF021A88BEA8}"/>
              </a:ext>
            </a:extLst>
          </p:cNvPr>
          <p:cNvSpPr txBox="1"/>
          <p:nvPr/>
        </p:nvSpPr>
        <p:spPr>
          <a:xfrm>
            <a:off x="1155665" y="3497052"/>
            <a:ext cx="20232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Conversión automática.</a:t>
            </a:r>
          </a:p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Excepto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byte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/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short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a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char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(requiere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cast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tipos)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D73712-B84C-6FD8-F883-C81F74934D43}"/>
              </a:ext>
            </a:extLst>
          </p:cNvPr>
          <p:cNvSpPr txBox="1"/>
          <p:nvPr/>
        </p:nvSpPr>
        <p:spPr>
          <a:xfrm>
            <a:off x="8978774" y="3497052"/>
            <a:ext cx="20232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Conversión no es automática. Se requiere hacer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cast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tipos.</a:t>
            </a:r>
          </a:p>
        </p:txBody>
      </p:sp>
    </p:spTree>
    <p:extLst>
      <p:ext uri="{BB962C8B-B14F-4D97-AF65-F5344CB8AC3E}">
        <p14:creationId xmlns:p14="http://schemas.microsoft.com/office/powerpoint/2010/main" val="62672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Conversión de tipos. Ejemplos.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C368AE-7D19-EFA4-D63C-A2DF3CFEB504}"/>
              </a:ext>
            </a:extLst>
          </p:cNvPr>
          <p:cNvGrpSpPr/>
          <p:nvPr/>
        </p:nvGrpSpPr>
        <p:grpSpPr>
          <a:xfrm>
            <a:off x="838200" y="-36378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A3FE5D-EAB1-F41C-1AE0-1D4BDBACEFE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3854B9-913F-8BA6-32DD-9A0825EF3AC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Conversión entre tipos de datos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78760DE-7A42-EE41-9F64-A2A17A7B569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263EE1-965A-C197-C66F-452C112342B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F81F7D2-CE12-275E-9D27-51CE543E4CB6}"/>
              </a:ext>
            </a:extLst>
          </p:cNvPr>
          <p:cNvSpPr txBox="1"/>
          <p:nvPr/>
        </p:nvSpPr>
        <p:spPr>
          <a:xfrm>
            <a:off x="1484996" y="5479002"/>
            <a:ext cx="3946551" cy="964898"/>
          </a:xfrm>
          <a:prstGeom prst="roundRect">
            <a:avLst>
              <a:gd name="adj" fmla="val 6387"/>
            </a:avLst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Nota: 16 - Nota final: 16.0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Cociente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real: 5.666078517865019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Cociente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entero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E5D6D8-07CC-2057-FD73-284E8AEB8B55}"/>
              </a:ext>
            </a:extLst>
          </p:cNvPr>
          <p:cNvSpPr txBox="1"/>
          <p:nvPr/>
        </p:nvSpPr>
        <p:spPr>
          <a:xfrm>
            <a:off x="1484996" y="5168194"/>
            <a:ext cx="202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3194EF3A-CC96-A800-81C9-823928B40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5669" y="1842867"/>
            <a:ext cx="6569839" cy="3172265"/>
          </a:xfrm>
          <a:prstGeom prst="roundRect">
            <a:avLst>
              <a:gd name="adj" fmla="val 474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conversión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automática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notaFinal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nota;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"Nota: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nota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- Nota final: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notaFinal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conversion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requiere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cast de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128.45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y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22.67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cocienteReal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x / y;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cocienteEntero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cocienteReal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Cociente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real: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cocienteReal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Cociente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entero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cocienteEntero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F0F37-EFC4-33B8-61FA-04D3A2C8100D}"/>
              </a:ext>
            </a:extLst>
          </p:cNvPr>
          <p:cNvSpPr/>
          <p:nvPr/>
        </p:nvSpPr>
        <p:spPr>
          <a:xfrm>
            <a:off x="1575034" y="2464175"/>
            <a:ext cx="2312406" cy="331756"/>
          </a:xfrm>
          <a:prstGeom prst="roundRect">
            <a:avLst>
              <a:gd name="adj" fmla="val 9886"/>
            </a:avLst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9167348-57BD-9E0C-A2E4-9988CC00DCEC}"/>
              </a:ext>
            </a:extLst>
          </p:cNvPr>
          <p:cNvSpPr/>
          <p:nvPr/>
        </p:nvSpPr>
        <p:spPr>
          <a:xfrm>
            <a:off x="1586783" y="4110386"/>
            <a:ext cx="3876857" cy="331756"/>
          </a:xfrm>
          <a:prstGeom prst="roundRect">
            <a:avLst>
              <a:gd name="adj" fmla="val 9886"/>
            </a:avLst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CA1F49-9B38-3E49-933B-C6B20A787BA4}"/>
              </a:ext>
            </a:extLst>
          </p:cNvPr>
          <p:cNvSpPr txBox="1"/>
          <p:nvPr/>
        </p:nvSpPr>
        <p:spPr>
          <a:xfrm>
            <a:off x="8331943" y="2464175"/>
            <a:ext cx="2023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Conversión automática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3607B0-1874-9B18-7DE7-FF867A552990}"/>
              </a:ext>
            </a:extLst>
          </p:cNvPr>
          <p:cNvSpPr txBox="1"/>
          <p:nvPr/>
        </p:nvSpPr>
        <p:spPr>
          <a:xfrm>
            <a:off x="8331943" y="3979871"/>
            <a:ext cx="2023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Conversión requiere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cast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tipos</a:t>
            </a:r>
            <a:endParaRPr lang="en-US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50A898-FBBD-525E-F19D-B98FBC8E7B2B}"/>
              </a:ext>
            </a:extLst>
          </p:cNvPr>
          <p:cNvCxnSpPr/>
          <p:nvPr/>
        </p:nvCxnSpPr>
        <p:spPr>
          <a:xfrm flipH="1">
            <a:off x="3887440" y="2618063"/>
            <a:ext cx="434215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218995D-F5DA-BF44-2F14-1F64889CFAED}"/>
              </a:ext>
            </a:extLst>
          </p:cNvPr>
          <p:cNvCxnSpPr>
            <a:cxnSpLocks/>
          </p:cNvCxnSpPr>
          <p:nvPr/>
        </p:nvCxnSpPr>
        <p:spPr>
          <a:xfrm flipH="1">
            <a:off x="5459787" y="4259769"/>
            <a:ext cx="276981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5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Tipos de datos primitivos: numéricos, caracteres y booleanos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Sentencias de asignación e inicialización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Entrada de datos: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la clase Scanner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Conversión entre tipos de datos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E5777-2557-0820-9368-066F78F7A697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D35A-999B-BEC3-A1FE-83D4A699084C}"/>
              </a:ext>
            </a:extLst>
          </p:cNvPr>
          <p:cNvGrpSpPr/>
          <p:nvPr/>
        </p:nvGrpSpPr>
        <p:grpSpPr>
          <a:xfrm>
            <a:off x="1955128" y="4451144"/>
            <a:ext cx="4629752" cy="1015663"/>
            <a:chOff x="924025" y="1526961"/>
            <a:chExt cx="4629752" cy="101566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E43D48-A8F8-0DF2-1001-D5FDD5FF2C6B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BEA270-D0DD-E83C-8505-88C9D29A50B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0D84CE-F32A-1F88-1274-CAA8D623492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D92532-6B25-E809-E479-70119D6AA69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770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E8CE391-5805-938D-34B4-605274FD4C69}"/>
              </a:ext>
            </a:extLst>
          </p:cNvPr>
          <p:cNvGrpSpPr/>
          <p:nvPr/>
        </p:nvGrpSpPr>
        <p:grpSpPr>
          <a:xfrm>
            <a:off x="867075" y="-3779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97FF90-69C1-2CD1-096B-0C4FD85719E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C951EC-939D-3B5E-83D7-27CBCEBC894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1228BA8-75C4-2A5B-02FF-C6FBE6D6C67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7818CB-2DC0-04A9-A00D-B4561A0CC1D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477000" cy="4608858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1. Son tipos de datos primitivos: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class, interface.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Int, Double, Float.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Array, Enum.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int, double y float.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8C4C53-4446-CBA1-483C-024CF46D06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97" r="48010"/>
          <a:stretch/>
        </p:blipFill>
        <p:spPr>
          <a:xfrm>
            <a:off x="7574623" y="-5462"/>
            <a:ext cx="4629751" cy="68580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A739F9-FD98-A268-0B2C-5442DACBC604}"/>
              </a:ext>
            </a:extLst>
          </p:cNvPr>
          <p:cNvSpPr txBox="1"/>
          <p:nvPr/>
        </p:nvSpPr>
        <p:spPr>
          <a:xfrm>
            <a:off x="133196" y="6520806"/>
            <a:ext cx="87663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https://img.freepik.com/premium-photo/background-texture-printed-question-marks_124595-213.jpg?w=2000</a:t>
            </a:r>
          </a:p>
        </p:txBody>
      </p:sp>
    </p:spTree>
    <p:extLst>
      <p:ext uri="{BB962C8B-B14F-4D97-AF65-F5344CB8AC3E}">
        <p14:creationId xmlns:p14="http://schemas.microsoft.com/office/powerpoint/2010/main" val="28438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E8CE391-5805-938D-34B4-605274FD4C69}"/>
              </a:ext>
            </a:extLst>
          </p:cNvPr>
          <p:cNvGrpSpPr/>
          <p:nvPr/>
        </p:nvGrpSpPr>
        <p:grpSpPr>
          <a:xfrm>
            <a:off x="867075" y="-3779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97FF90-69C1-2CD1-096B-0C4FD85719E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C951EC-939D-3B5E-83D7-27CBCEBC894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1228BA8-75C4-2A5B-02FF-C6FBE6D6C67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7818CB-2DC0-04A9-A00D-B4561A0CC1D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477000" cy="4608858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2. Son tipos de datos no primitivos: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class, interface.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Int, Double, Float.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Array, Enum.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int, double y float.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1BECB5-1B85-5DAB-D10C-267ED6C434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97" r="48010"/>
          <a:stretch/>
        </p:blipFill>
        <p:spPr>
          <a:xfrm>
            <a:off x="7574623" y="-5462"/>
            <a:ext cx="4629751" cy="68580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6CF247-5582-B6F5-8292-D682128F85CE}"/>
              </a:ext>
            </a:extLst>
          </p:cNvPr>
          <p:cNvSpPr txBox="1"/>
          <p:nvPr/>
        </p:nvSpPr>
        <p:spPr>
          <a:xfrm>
            <a:off x="133196" y="6520806"/>
            <a:ext cx="87663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https://img.freepik.com/premium-photo/background-texture-printed-question-marks_124595-213.jpg?w=2000</a:t>
            </a:r>
          </a:p>
        </p:txBody>
      </p:sp>
    </p:spTree>
    <p:extLst>
      <p:ext uri="{BB962C8B-B14F-4D97-AF65-F5344CB8AC3E}">
        <p14:creationId xmlns:p14="http://schemas.microsoft.com/office/powerpoint/2010/main" val="191336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E8CE391-5805-938D-34B4-605274FD4C69}"/>
              </a:ext>
            </a:extLst>
          </p:cNvPr>
          <p:cNvGrpSpPr/>
          <p:nvPr/>
        </p:nvGrpSpPr>
        <p:grpSpPr>
          <a:xfrm>
            <a:off x="867075" y="-3779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97FF90-69C1-2CD1-096B-0C4FD85719E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C951EC-939D-3B5E-83D7-27CBCEBC894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1228BA8-75C4-2A5B-02FF-C6FBE6D6C67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7818CB-2DC0-04A9-A00D-B4561A0CC1D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477000" cy="4608858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3. Son formas válidas de inicializar variables en Java: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000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US" sz="20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000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contador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US" sz="20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total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US" sz="20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2000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subtotal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US" sz="20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0f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sz="2000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total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subtotal</a:t>
            </a:r>
            <a:r>
              <a:rPr lang="en-U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s-ES" sz="2000" dirty="0" err="1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s-E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lang="es-E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s-ES" sz="20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numeroDeHijos</a:t>
            </a:r>
            <a:r>
              <a:rPr lang="es-E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lang="es-E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lang="es-E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s-ES" sz="20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numeroDeHijos</a:t>
            </a:r>
            <a:r>
              <a:rPr lang="es-E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s-ES" sz="20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s-ES" sz="20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lang="en-US" sz="20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E93D8-8404-3C9C-22A8-DDF4DF8293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97" r="48010"/>
          <a:stretch/>
        </p:blipFill>
        <p:spPr>
          <a:xfrm>
            <a:off x="7574623" y="-5462"/>
            <a:ext cx="4629751" cy="68580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83BC54-CA4F-3F52-0B53-CB5862402037}"/>
              </a:ext>
            </a:extLst>
          </p:cNvPr>
          <p:cNvSpPr txBox="1"/>
          <p:nvPr/>
        </p:nvSpPr>
        <p:spPr>
          <a:xfrm>
            <a:off x="133196" y="6520806"/>
            <a:ext cx="87663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https://img.freepik.com/premium-photo/background-texture-printed-question-marks_124595-213.jpg?w=2000</a:t>
            </a:r>
          </a:p>
        </p:txBody>
      </p:sp>
    </p:spTree>
    <p:extLst>
      <p:ext uri="{BB962C8B-B14F-4D97-AF65-F5344CB8AC3E}">
        <p14:creationId xmlns:p14="http://schemas.microsoft.com/office/powerpoint/2010/main" val="95798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E8CE391-5805-938D-34B4-605274FD4C69}"/>
              </a:ext>
            </a:extLst>
          </p:cNvPr>
          <p:cNvGrpSpPr/>
          <p:nvPr/>
        </p:nvGrpSpPr>
        <p:grpSpPr>
          <a:xfrm>
            <a:off x="867075" y="-3779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97FF90-69C1-2CD1-096B-0C4FD85719E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C951EC-939D-3B5E-83D7-27CBCEBC894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1228BA8-75C4-2A5B-02FF-C6FBE6D6C67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7818CB-2DC0-04A9-A00D-B4561A0CC1D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477000" cy="4608858"/>
          </a:xfrm>
        </p:spPr>
        <p:txBody>
          <a:bodyPr>
            <a:normAutofit fontScale="925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4. No es correcto, acerca de la clase Scanner: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Los </a:t>
            </a:r>
            <a:r>
              <a:rPr lang="en-US" dirty="0" err="1">
                <a:latin typeface="+mj-lt"/>
              </a:rPr>
              <a:t>datos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leidos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necesitan</a:t>
            </a:r>
            <a:r>
              <a:rPr lang="en-US" dirty="0">
                <a:latin typeface="+mj-lt"/>
              </a:rPr>
              <a:t> ser </a:t>
            </a:r>
            <a:r>
              <a:rPr lang="en-US" dirty="0" err="1">
                <a:latin typeface="+mj-lt"/>
              </a:rPr>
              <a:t>convertidos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explícitamente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aplicando</a:t>
            </a:r>
            <a:r>
              <a:rPr lang="en-US" dirty="0">
                <a:latin typeface="+mj-lt"/>
              </a:rPr>
              <a:t> </a:t>
            </a:r>
            <a:r>
              <a:rPr lang="en-US" b="1" i="1" dirty="0">
                <a:latin typeface="+mj-lt"/>
              </a:rPr>
              <a:t>cast</a:t>
            </a:r>
            <a:r>
              <a:rPr lang="en-US" dirty="0">
                <a:latin typeface="+mj-lt"/>
              </a:rPr>
              <a:t> de </a:t>
            </a:r>
            <a:r>
              <a:rPr lang="en-US" dirty="0" err="1">
                <a:latin typeface="+mj-lt"/>
              </a:rPr>
              <a:t>tipos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Es un </a:t>
            </a:r>
            <a:r>
              <a:rPr lang="en-US" dirty="0" err="1">
                <a:latin typeface="+mj-lt"/>
              </a:rPr>
              <a:t>tipo</a:t>
            </a:r>
            <a:r>
              <a:rPr lang="en-US" dirty="0">
                <a:latin typeface="+mj-lt"/>
              </a:rPr>
              <a:t> de </a:t>
            </a:r>
            <a:r>
              <a:rPr lang="en-US" dirty="0" err="1">
                <a:latin typeface="+mj-lt"/>
              </a:rPr>
              <a:t>dato</a:t>
            </a:r>
            <a:r>
              <a:rPr lang="en-US" dirty="0">
                <a:latin typeface="+mj-lt"/>
              </a:rPr>
              <a:t> no </a:t>
            </a:r>
            <a:r>
              <a:rPr lang="en-US" dirty="0" err="1">
                <a:latin typeface="+mj-lt"/>
              </a:rPr>
              <a:t>primitivo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latin typeface="+mj-lt"/>
              </a:rPr>
              <a:t>Para </a:t>
            </a:r>
            <a:r>
              <a:rPr lang="en-US" dirty="0" err="1">
                <a:latin typeface="+mj-lt"/>
              </a:rPr>
              <a:t>utilizarse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debe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crearse</a:t>
            </a:r>
            <a:r>
              <a:rPr lang="en-US" dirty="0">
                <a:latin typeface="+mj-lt"/>
              </a:rPr>
              <a:t> primero </a:t>
            </a:r>
            <a:r>
              <a:rPr lang="en-US" dirty="0" err="1">
                <a:latin typeface="+mj-lt"/>
              </a:rPr>
              <a:t>una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instancia</a:t>
            </a:r>
            <a:r>
              <a:rPr lang="en-US" dirty="0">
                <a:latin typeface="+mj-lt"/>
              </a:rPr>
              <a:t> u </a:t>
            </a:r>
            <a:r>
              <a:rPr lang="en-US" dirty="0" err="1">
                <a:latin typeface="+mj-lt"/>
              </a:rPr>
              <a:t>objeto</a:t>
            </a:r>
            <a:r>
              <a:rPr lang="en-US" dirty="0">
                <a:latin typeface="+mj-lt"/>
              </a:rPr>
              <a:t> de la </a:t>
            </a:r>
            <a:r>
              <a:rPr lang="en-US" dirty="0" err="1">
                <a:latin typeface="+mj-lt"/>
              </a:rPr>
              <a:t>clase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 err="1">
                <a:latin typeface="+mj-lt"/>
              </a:rPr>
              <a:t>Incluye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método</a:t>
            </a:r>
            <a:r>
              <a:rPr lang="en-US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nextDouble</a:t>
            </a:r>
            <a:r>
              <a:rPr lang="en-US" b="1" dirty="0">
                <a:latin typeface="+mj-lt"/>
              </a:rPr>
              <a:t>()</a:t>
            </a:r>
            <a:r>
              <a:rPr lang="en-US" dirty="0">
                <a:latin typeface="+mj-lt"/>
              </a:rPr>
              <a:t> para leer </a:t>
            </a:r>
            <a:r>
              <a:rPr lang="en-US" dirty="0" err="1">
                <a:latin typeface="+mj-lt"/>
              </a:rPr>
              <a:t>datos</a:t>
            </a:r>
            <a:r>
              <a:rPr lang="en-US" dirty="0">
                <a:latin typeface="+mj-lt"/>
              </a:rPr>
              <a:t> de coma </a:t>
            </a:r>
            <a:r>
              <a:rPr lang="en-US" dirty="0" err="1">
                <a:latin typeface="+mj-lt"/>
              </a:rPr>
              <a:t>flotante</a:t>
            </a:r>
            <a:r>
              <a:rPr lang="en-US" dirty="0">
                <a:latin typeface="+mj-lt"/>
              </a:rPr>
              <a:t> de doble </a:t>
            </a:r>
            <a:r>
              <a:rPr lang="en-US" dirty="0" err="1">
                <a:latin typeface="+mj-lt"/>
              </a:rPr>
              <a:t>precisión</a:t>
            </a:r>
            <a:r>
              <a:rPr lang="en-US" dirty="0">
                <a:latin typeface="+mj-lt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154676-B613-72BB-8AF7-8F8B2AD72B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97" r="48010"/>
          <a:stretch/>
        </p:blipFill>
        <p:spPr>
          <a:xfrm>
            <a:off x="7574623" y="-5462"/>
            <a:ext cx="4629751" cy="68580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83CBF9-95AB-D4C9-AC79-9A7FE3BB1686}"/>
              </a:ext>
            </a:extLst>
          </p:cNvPr>
          <p:cNvSpPr txBox="1"/>
          <p:nvPr/>
        </p:nvSpPr>
        <p:spPr>
          <a:xfrm>
            <a:off x="133196" y="6520806"/>
            <a:ext cx="87663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https://img.freepik.com/premium-photo/background-texture-printed-question-marks_124595-213.jpg?w=2000</a:t>
            </a:r>
          </a:p>
        </p:txBody>
      </p:sp>
    </p:spTree>
    <p:extLst>
      <p:ext uri="{BB962C8B-B14F-4D97-AF65-F5344CB8AC3E}">
        <p14:creationId xmlns:p14="http://schemas.microsoft.com/office/powerpoint/2010/main" val="340839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E8CE391-5805-938D-34B4-605274FD4C69}"/>
              </a:ext>
            </a:extLst>
          </p:cNvPr>
          <p:cNvGrpSpPr/>
          <p:nvPr/>
        </p:nvGrpSpPr>
        <p:grpSpPr>
          <a:xfrm>
            <a:off x="867075" y="-37795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97FF90-69C1-2CD1-096B-0C4FD85719E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C951EC-939D-3B5E-83D7-27CBCEBC8944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1228BA8-75C4-2A5B-02FF-C6FBE6D6C67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7818CB-2DC0-04A9-A00D-B4561A0CC1D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477000" cy="4608858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5. Sea </a:t>
            </a:r>
            <a:r>
              <a:rPr lang="es-ES" sz="2400" dirty="0" err="1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</a:t>
            </a:r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s-ES" sz="2400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1250.45f</a:t>
            </a:r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lang="es-ES" dirty="0">
                <a:latin typeface="+mj-lt"/>
              </a:rPr>
            </a:br>
            <a:r>
              <a:rPr lang="es-ES" dirty="0">
                <a:latin typeface="+mj-lt"/>
              </a:rPr>
              <a:t>Son conversiones inválidas: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lang="en-US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lang="en-US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lang="en-US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10223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dirty="0">
                <a:solidFill>
                  <a:schemeClr val="accent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/ </a:t>
            </a:r>
            <a:r>
              <a:rPr lang="en-US" dirty="0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10.0</a:t>
            </a:r>
            <a:r>
              <a:rPr lang="en-U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A97E72-9FD4-EDDD-E885-D0E409997D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97" r="48010"/>
          <a:stretch/>
        </p:blipFill>
        <p:spPr>
          <a:xfrm>
            <a:off x="7574623" y="-5462"/>
            <a:ext cx="4629751" cy="68580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3B3DF3-FF4E-FF0C-D00F-EB55CB0A1F6F}"/>
              </a:ext>
            </a:extLst>
          </p:cNvPr>
          <p:cNvSpPr txBox="1"/>
          <p:nvPr/>
        </p:nvSpPr>
        <p:spPr>
          <a:xfrm>
            <a:off x="133196" y="6520806"/>
            <a:ext cx="87663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https://img.freepik.com/premium-photo/background-texture-printed-question-marks_124595-213.jpg?w=2000</a:t>
            </a:r>
          </a:p>
        </p:txBody>
      </p:sp>
    </p:spTree>
    <p:extLst>
      <p:ext uri="{BB962C8B-B14F-4D97-AF65-F5344CB8AC3E}">
        <p14:creationId xmlns:p14="http://schemas.microsoft.com/office/powerpoint/2010/main" val="24988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160491" cy="4373562"/>
          </a:xfrm>
        </p:spPr>
        <p:txBody>
          <a:bodyPr>
            <a:normAutofit/>
          </a:bodyPr>
          <a:lstStyle/>
          <a:p>
            <a:r>
              <a:rPr lang="es-ES" dirty="0"/>
              <a:t>Menciona y describe tres tipos de datos primitivos.</a:t>
            </a:r>
          </a:p>
          <a:p>
            <a:r>
              <a:rPr lang="es-ES" dirty="0"/>
              <a:t>¿En qué consisten la asignación e inicialización de variables?</a:t>
            </a:r>
          </a:p>
          <a:p>
            <a:r>
              <a:rPr lang="es-ES" dirty="0"/>
              <a:t>¿Qué es un </a:t>
            </a:r>
            <a:r>
              <a:rPr lang="es-ES" i="1" dirty="0" err="1"/>
              <a:t>cast</a:t>
            </a:r>
            <a:r>
              <a:rPr lang="es-ES" dirty="0"/>
              <a:t> de tipos?</a:t>
            </a:r>
          </a:p>
          <a:p>
            <a:r>
              <a:rPr lang="es-ES" dirty="0"/>
              <a:t>¿Qué es Scanner y para qué sirve?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35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A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6365</TotalTime>
  <Words>2775</Words>
  <Application>Microsoft Office PowerPoint</Application>
  <PresentationFormat>Panorámica</PresentationFormat>
  <Paragraphs>382</Paragraphs>
  <Slides>37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Helvetica</vt:lpstr>
      <vt:lpstr>Arial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Tipos de Datos, Operadores y Entrada de Datos (I)</vt:lpstr>
      <vt:lpstr>Conocimientos previos</vt:lpstr>
      <vt:lpstr>Logro de aprendizaje</vt:lpstr>
      <vt:lpstr>Utilidad</vt:lpstr>
      <vt:lpstr>Presentación de PowerPoint</vt:lpstr>
      <vt:lpstr>Presentación de PowerPoint</vt:lpstr>
      <vt:lpstr>Tipos de datos en Java</vt:lpstr>
      <vt:lpstr>Tipos de datos primitivos</vt:lpstr>
      <vt:lpstr>Tipos de datos primitivos</vt:lpstr>
      <vt:lpstr>Tipos de datos referenciados</vt:lpstr>
      <vt:lpstr>Tipos de datos referenciados</vt:lpstr>
      <vt:lpstr>Presentación de PowerPoint</vt:lpstr>
      <vt:lpstr>Asignación</vt:lpstr>
      <vt:lpstr>Inicialización</vt:lpstr>
      <vt:lpstr>Presentación de PowerPoint</vt:lpstr>
      <vt:lpstr>Clase Scanner</vt:lpstr>
      <vt:lpstr>Clase Scanner</vt:lpstr>
      <vt:lpstr>Métodos de la clase Scanner</vt:lpstr>
      <vt:lpstr>Clase Scanner. Ejemplo 1.</vt:lpstr>
      <vt:lpstr>Clase Scanner. Ejemplo 2.</vt:lpstr>
      <vt:lpstr>Presentación de PowerPoint</vt:lpstr>
      <vt:lpstr>¿Cómo funciona la conversión de tipos?</vt:lpstr>
      <vt:lpstr>Conversión de tipos. Ejemplos.</vt:lpstr>
      <vt:lpstr>Presentación de PowerPoint</vt:lpstr>
      <vt:lpstr>Cuestionario</vt:lpstr>
      <vt:lpstr>Cuestionario</vt:lpstr>
      <vt:lpstr>Cuestionario</vt:lpstr>
      <vt:lpstr>Cuestionario</vt:lpstr>
      <vt:lpstr>Cuestionario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02 - Sesión 03</dc:title>
  <dc:creator>jorgerodcas@hotmail.com</dc:creator>
  <cp:lastModifiedBy>Juan Carlos García</cp:lastModifiedBy>
  <cp:revision>258</cp:revision>
  <dcterms:modified xsi:type="dcterms:W3CDTF">2023-10-20T20:57:05Z</dcterms:modified>
</cp:coreProperties>
</file>