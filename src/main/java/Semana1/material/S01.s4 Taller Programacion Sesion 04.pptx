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48" r:id="rId1"/>
  </p:sldMasterIdLst>
  <p:notesMasterIdLst>
    <p:notesMasterId r:id="rId33"/>
  </p:notesMasterIdLst>
  <p:sldIdLst>
    <p:sldId id="256" r:id="rId2"/>
    <p:sldId id="390" r:id="rId3"/>
    <p:sldId id="391" r:id="rId4"/>
    <p:sldId id="392" r:id="rId5"/>
    <p:sldId id="393" r:id="rId6"/>
    <p:sldId id="258" r:id="rId7"/>
    <p:sldId id="257" r:id="rId8"/>
    <p:sldId id="263" r:id="rId9"/>
    <p:sldId id="264" r:id="rId10"/>
    <p:sldId id="330" r:id="rId11"/>
    <p:sldId id="382" r:id="rId12"/>
    <p:sldId id="364" r:id="rId13"/>
    <p:sldId id="366" r:id="rId14"/>
    <p:sldId id="367" r:id="rId15"/>
    <p:sldId id="369" r:id="rId16"/>
    <p:sldId id="395" r:id="rId17"/>
    <p:sldId id="370" r:id="rId18"/>
    <p:sldId id="383" r:id="rId19"/>
    <p:sldId id="371" r:id="rId20"/>
    <p:sldId id="372" r:id="rId21"/>
    <p:sldId id="384" r:id="rId22"/>
    <p:sldId id="373" r:id="rId23"/>
    <p:sldId id="374" r:id="rId24"/>
    <p:sldId id="376" r:id="rId25"/>
    <p:sldId id="385" r:id="rId26"/>
    <p:sldId id="326" r:id="rId27"/>
    <p:sldId id="394" r:id="rId28"/>
    <p:sldId id="327" r:id="rId29"/>
    <p:sldId id="261" r:id="rId30"/>
    <p:sldId id="329" r:id="rId31"/>
    <p:sldId id="259" r:id="rId32"/>
  </p:sldIdLst>
  <p:sldSz cx="12192000" cy="6858000"/>
  <p:notesSz cx="6858000" cy="9144000"/>
  <p:embeddedFontLst>
    <p:embeddedFont>
      <p:font typeface="Helvetica" panose="020B0604020202020204" pitchFamily="34" charset="0"/>
      <p:regular r:id="rId34"/>
      <p:bold r:id="rId35"/>
      <p:italic r:id="rId36"/>
      <p:boldItalic r:id="rId37"/>
    </p:embeddedFont>
    <p:embeddedFont>
      <p:font typeface="JetBrains Mono" panose="02000009000000000000" pitchFamily="49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8" roundtripDataSignature="AMtx7mh2+CB7AwAKHevBYi6hg66TyKQM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B6C6"/>
    <a:srgbClr val="FF66FF"/>
    <a:srgbClr val="8FC5E9"/>
    <a:srgbClr val="AFD5EF"/>
    <a:srgbClr val="FF8BFF"/>
    <a:srgbClr val="8FE2FF"/>
    <a:srgbClr val="8E927B"/>
    <a:srgbClr val="CC00CC"/>
    <a:srgbClr val="1B5E8B"/>
    <a:srgbClr val="C5E0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61" autoAdjust="0"/>
    <p:restoredTop sz="83944" autoAdjust="0"/>
  </p:normalViewPr>
  <p:slideViewPr>
    <p:cSldViewPr snapToGrid="0">
      <p:cViewPr varScale="1">
        <p:scale>
          <a:sx n="124" d="100"/>
          <a:sy n="124" d="100"/>
        </p:scale>
        <p:origin x="403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8" Type="http://schemas.openxmlformats.org/officeDocument/2006/relationships/slide" Target="slides/slide7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819eedc2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7819eedc2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Respuestas: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s-ES" dirty="0"/>
              <a:t>Comentario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s-ES" dirty="0"/>
              <a:t>Operador relacional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s-ES" dirty="0"/>
              <a:t>Operador lógico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s-ES" dirty="0"/>
              <a:t>Operador aritmético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s-ES" dirty="0"/>
              <a:t>Función matemática</a:t>
            </a:r>
            <a:endParaRPr dirty="0"/>
          </a:p>
        </p:txBody>
      </p:sp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r>
              <a:rPr lang="es-ES" dirty="0"/>
              <a:t>Respuestas que deben buscarse:</a:t>
            </a:r>
          </a:p>
          <a:p>
            <a:pPr marL="228600" indent="0">
              <a:buNone/>
            </a:pPr>
            <a:endParaRPr lang="es-ES" dirty="0"/>
          </a:p>
          <a:p>
            <a:pPr>
              <a:buAutoNum type="arabicPeriod"/>
            </a:pPr>
            <a:r>
              <a:rPr lang="es-ES" dirty="0"/>
              <a:t>Elaborar un plan de solución.</a:t>
            </a:r>
          </a:p>
          <a:p>
            <a:pPr>
              <a:buAutoNum type="arabicPeriod"/>
            </a:pPr>
            <a:r>
              <a:rPr lang="es-ES" dirty="0"/>
              <a:t>En una secuencia de instrucciones o algoritmo.</a:t>
            </a:r>
          </a:p>
          <a:p>
            <a:pPr>
              <a:buAutoNum type="arabicPeriod"/>
            </a:pPr>
            <a:r>
              <a:rPr lang="es-ES" dirty="0"/>
              <a:t>Solucionar el problema.</a:t>
            </a:r>
          </a:p>
          <a:p>
            <a:pPr>
              <a:buAutoNum type="arabicPeriod"/>
            </a:pPr>
            <a:r>
              <a:rPr lang="es-ES" dirty="0"/>
              <a:t>Java</a:t>
            </a:r>
          </a:p>
          <a:p>
            <a:pPr marL="228600" indent="0">
              <a:buNone/>
            </a:pPr>
            <a:endParaRPr lang="en-US" dirty="0"/>
          </a:p>
          <a:p>
            <a:pPr marL="228600" indent="0">
              <a:buNone/>
            </a:pPr>
            <a:r>
              <a:rPr lang="en-US" dirty="0" err="1"/>
              <a:t>Utilidad</a:t>
            </a:r>
            <a:r>
              <a:rPr lang="en-US" dirty="0"/>
              <a:t>: </a:t>
            </a:r>
            <a:r>
              <a:rPr lang="en-US" dirty="0" err="1"/>
              <a:t>Programar</a:t>
            </a:r>
            <a:r>
              <a:rPr lang="en-US" dirty="0"/>
              <a:t> </a:t>
            </a:r>
            <a:r>
              <a:rPr lang="en-US" dirty="0" err="1"/>
              <a:t>instrucciones</a:t>
            </a:r>
            <a:r>
              <a:rPr lang="en-US" dirty="0"/>
              <a:t> </a:t>
            </a:r>
            <a:r>
              <a:rPr lang="en-US" dirty="0" err="1"/>
              <a:t>utilizando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lenguaje</a:t>
            </a:r>
            <a:r>
              <a:rPr lang="en-US" dirty="0"/>
              <a:t> Java para resolver un </a:t>
            </a:r>
            <a:r>
              <a:rPr lang="en-US" dirty="0" err="1"/>
              <a:t>problema</a:t>
            </a:r>
            <a:r>
              <a:rPr lang="en-US" dirty="0"/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656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93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7"/>
          <p:cNvSpPr txBox="1">
            <a:spLocks noGrp="1"/>
          </p:cNvSpPr>
          <p:nvPr>
            <p:ph type="subTitle" idx="1"/>
          </p:nvPr>
        </p:nvSpPr>
        <p:spPr>
          <a:xfrm>
            <a:off x="1524000" y="3178688"/>
            <a:ext cx="9144000" cy="50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22F04-4BC9-41E2-B353-830397417302}"/>
              </a:ext>
            </a:extLst>
          </p:cNvPr>
          <p:cNvSpPr/>
          <p:nvPr userDrawn="1"/>
        </p:nvSpPr>
        <p:spPr>
          <a:xfrm>
            <a:off x="4058520" y="5231177"/>
            <a:ext cx="4063504" cy="936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4E2C1613-F647-4454-932D-F9B6B9380A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555" y="5135036"/>
            <a:ext cx="4173573" cy="1092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9555-3685-4E25-8B53-D766AA06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9745"/>
            <a:ext cx="10515600" cy="785528"/>
          </a:xfrm>
        </p:spPr>
        <p:txBody>
          <a:bodyPr>
            <a:normAutofit/>
          </a:bodyPr>
          <a:lstStyle>
            <a:lvl1pPr>
              <a:defRPr sz="4400" b="1">
                <a:solidFill>
                  <a:srgbClr val="D3052C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8F942-990C-4C84-A1C3-F5F0BCBF93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8538E7-9E81-474C-AD3B-32C2198C15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10515600" cy="4373562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Helvetica" pitchFamily="2" charset="0"/>
              </a:defRPr>
            </a:lvl1pPr>
            <a:lvl2pPr>
              <a:lnSpc>
                <a:spcPct val="100000"/>
              </a:lnSpc>
              <a:defRPr>
                <a:latin typeface="Helvetica" pitchFamily="2" charset="0"/>
              </a:defRPr>
            </a:lvl2pPr>
            <a:lvl3pPr>
              <a:lnSpc>
                <a:spcPct val="100000"/>
              </a:lnSpc>
              <a:defRPr>
                <a:latin typeface="Helvetica" pitchFamily="2" charset="0"/>
              </a:defRPr>
            </a:lvl3pPr>
            <a:lvl4pPr>
              <a:lnSpc>
                <a:spcPct val="100000"/>
              </a:lnSpc>
              <a:defRPr>
                <a:latin typeface="Helvetica" pitchFamily="2" charset="0"/>
              </a:defRPr>
            </a:lvl4pPr>
            <a:lvl5pPr>
              <a:lnSpc>
                <a:spcPct val="100000"/>
              </a:lnSpc>
              <a:defRPr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322DE48A-2D4F-4873-8D66-AF7F3593CA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428" y="136525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3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preserve="1" userDrawn="1">
  <p:cSld name="2_Solo el título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240F2624-FBFA-46AE-9892-D42C673614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41009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35F4D67-4966-C21F-A09E-7658BEBF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8217"/>
            <a:ext cx="10515600" cy="4959927"/>
          </a:xfrm>
        </p:spPr>
        <p:txBody>
          <a:bodyPr/>
          <a:lstStyle>
            <a:lvl1pPr algn="ctr">
              <a:defRPr b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667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cabezado de sección">
  <p:cSld name="1_Encabezado de secció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22FCA6-0FCB-4C91-BEC5-A93A5D856507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20;p9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9"/>
          <p:cNvSpPr txBox="1"/>
          <p:nvPr/>
        </p:nvSpPr>
        <p:spPr>
          <a:xfrm>
            <a:off x="831850" y="6457444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Datos/Observaciones</a:t>
            </a:r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1B93EADB-A85F-4945-BEEA-1073EED296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5ECD6E-A13D-41C4-A8AA-AC936BA167FF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24;p10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2"/>
          </p:nvPr>
        </p:nvSpPr>
        <p:spPr>
          <a:xfrm>
            <a:off x="831850" y="6382418"/>
            <a:ext cx="10515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E630A3B5-109D-4437-9425-DCBCCE7F66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39" y="0"/>
            <a:ext cx="121807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ido con título">
  <p:cSld name="1_Contenido con títu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ido con título">
  <p:cSld name="2_Contenido con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ido con título">
  <p:cSld name="3_Contenido con títul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ido con título">
  <p:cSld name="4_Contenido con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ido con título">
  <p:cSld name="5_Contenido con títul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ido con título">
  <p:cSld name="6_Contenido con títul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ido con título">
  <p:cSld name="7_Contenido con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ontenido con título">
  <p:cSld name="8_Contenido con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ontenido con título">
  <p:cSld name="9_Contenido con títul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ido con título">
  <p:cSld name="10_Contenido con títul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5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D3052C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996C790-6468-2096-DC96-223AAF4804CF}"/>
              </a:ext>
            </a:extLst>
          </p:cNvPr>
          <p:cNvSpPr/>
          <p:nvPr/>
        </p:nvSpPr>
        <p:spPr>
          <a:xfrm>
            <a:off x="-9236" y="-13581"/>
            <a:ext cx="12210289" cy="6871581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94652"/>
              <a:gd name="connsiteY0" fmla="*/ 3543837 h 6871580"/>
              <a:gd name="connsiteX1" fmla="*/ 18565 w 12394652"/>
              <a:gd name="connsiteY1" fmla="*/ 6871580 h 6871580"/>
              <a:gd name="connsiteX2" fmla="*/ 9597131 w 12394652"/>
              <a:gd name="connsiteY2" fmla="*/ 6871580 h 6871580"/>
              <a:gd name="connsiteX3" fmla="*/ 12394652 w 12394652"/>
              <a:gd name="connsiteY3" fmla="*/ 2236205 h 6871580"/>
              <a:gd name="connsiteX4" fmla="*/ 12394652 w 12394652"/>
              <a:gd name="connsiteY4" fmla="*/ 0 h 6871580"/>
              <a:gd name="connsiteX5" fmla="*/ 8275325 w 12394652"/>
              <a:gd name="connsiteY5" fmla="*/ 0 h 6871580"/>
              <a:gd name="connsiteX6" fmla="*/ 0 w 12394652"/>
              <a:gd name="connsiteY6" fmla="*/ 3543837 h 6871580"/>
              <a:gd name="connsiteX0" fmla="*/ 0 w 12394652"/>
              <a:gd name="connsiteY0" fmla="*/ 3543837 h 6899290"/>
              <a:gd name="connsiteX1" fmla="*/ 18565 w 12394652"/>
              <a:gd name="connsiteY1" fmla="*/ 6871580 h 6899290"/>
              <a:gd name="connsiteX2" fmla="*/ 10412828 w 12394652"/>
              <a:gd name="connsiteY2" fmla="*/ 6899290 h 6899290"/>
              <a:gd name="connsiteX3" fmla="*/ 12394652 w 12394652"/>
              <a:gd name="connsiteY3" fmla="*/ 2236205 h 6899290"/>
              <a:gd name="connsiteX4" fmla="*/ 12394652 w 12394652"/>
              <a:gd name="connsiteY4" fmla="*/ 0 h 6899290"/>
              <a:gd name="connsiteX5" fmla="*/ 8275325 w 12394652"/>
              <a:gd name="connsiteY5" fmla="*/ 0 h 6899290"/>
              <a:gd name="connsiteX6" fmla="*/ 0 w 12394652"/>
              <a:gd name="connsiteY6" fmla="*/ 3543837 h 6899290"/>
              <a:gd name="connsiteX0" fmla="*/ 0 w 12394652"/>
              <a:gd name="connsiteY0" fmla="*/ 3543837 h 6871581"/>
              <a:gd name="connsiteX1" fmla="*/ 18565 w 12394652"/>
              <a:gd name="connsiteY1" fmla="*/ 6871580 h 6871581"/>
              <a:gd name="connsiteX2" fmla="*/ 10028419 w 12394652"/>
              <a:gd name="connsiteY2" fmla="*/ 6871581 h 6871581"/>
              <a:gd name="connsiteX3" fmla="*/ 12394652 w 12394652"/>
              <a:gd name="connsiteY3" fmla="*/ 2236205 h 6871581"/>
              <a:gd name="connsiteX4" fmla="*/ 12394652 w 12394652"/>
              <a:gd name="connsiteY4" fmla="*/ 0 h 6871581"/>
              <a:gd name="connsiteX5" fmla="*/ 8275325 w 12394652"/>
              <a:gd name="connsiteY5" fmla="*/ 0 h 6871581"/>
              <a:gd name="connsiteX6" fmla="*/ 0 w 12394652"/>
              <a:gd name="connsiteY6" fmla="*/ 3543837 h 687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94652" h="6871581">
                <a:moveTo>
                  <a:pt x="0" y="3543837"/>
                </a:moveTo>
                <a:cubicBezTo>
                  <a:pt x="3063" y="4566879"/>
                  <a:pt x="15502" y="5848538"/>
                  <a:pt x="18565" y="6871580"/>
                </a:cubicBezTo>
                <a:lnTo>
                  <a:pt x="10028419" y="6871581"/>
                </a:lnTo>
                <a:cubicBezTo>
                  <a:pt x="11310153" y="5444150"/>
                  <a:pt x="11985983" y="4197789"/>
                  <a:pt x="12394652" y="2236205"/>
                </a:cubicBezTo>
                <a:lnTo>
                  <a:pt x="12394652" y="0"/>
                </a:lnTo>
                <a:lnTo>
                  <a:pt x="8275325" y="0"/>
                </a:lnTo>
                <a:cubicBezTo>
                  <a:pt x="8666108" y="4324539"/>
                  <a:pt x="2283555" y="4597057"/>
                  <a:pt x="0" y="3543837"/>
                </a:cubicBezTo>
                <a:close/>
              </a:path>
            </a:pathLst>
          </a:custGeom>
          <a:solidFill>
            <a:schemeClr val="tx2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FDE1541-A8F6-99CE-A61B-085CFF7C2FE8}"/>
              </a:ext>
            </a:extLst>
          </p:cNvPr>
          <p:cNvSpPr/>
          <p:nvPr/>
        </p:nvSpPr>
        <p:spPr>
          <a:xfrm>
            <a:off x="-9053" y="-13580"/>
            <a:ext cx="12201053" cy="6871580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85277" h="6871580">
                <a:moveTo>
                  <a:pt x="0" y="3802455"/>
                </a:moveTo>
                <a:cubicBezTo>
                  <a:pt x="3063" y="4825497"/>
                  <a:pt x="6127" y="5848538"/>
                  <a:pt x="9190" y="6871580"/>
                </a:cubicBezTo>
                <a:lnTo>
                  <a:pt x="9587756" y="6871580"/>
                </a:lnTo>
                <a:cubicBezTo>
                  <a:pt x="10869490" y="5444149"/>
                  <a:pt x="11976608" y="4197789"/>
                  <a:pt x="12385277" y="2236205"/>
                </a:cubicBezTo>
                <a:lnTo>
                  <a:pt x="12385277" y="0"/>
                </a:lnTo>
                <a:lnTo>
                  <a:pt x="8265950" y="0"/>
                </a:lnTo>
                <a:cubicBezTo>
                  <a:pt x="8656733" y="4324539"/>
                  <a:pt x="2283555" y="4855675"/>
                  <a:pt x="0" y="3802455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F66C8B-894E-49C8-97F0-0500C46A7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361" y="420110"/>
            <a:ext cx="7361383" cy="1936426"/>
          </a:xfrm>
        </p:spPr>
        <p:txBody>
          <a:bodyPr/>
          <a:lstStyle/>
          <a:p>
            <a:pPr algn="l"/>
            <a:r>
              <a:rPr lang="es-ES" dirty="0"/>
              <a:t>Taller de Programación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4B3F2A-9181-449D-AA57-948B7B8CEB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068577"/>
            <a:ext cx="9144000" cy="500624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7311F-912E-F29A-7CC2-5367F66BE2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114"/>
          <a:stretch/>
        </p:blipFill>
        <p:spPr>
          <a:xfrm>
            <a:off x="4177256" y="5291778"/>
            <a:ext cx="2528344" cy="839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EBC89A-FF84-877C-D866-0A9D5D51CC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</a:blip>
          <a:srcRect l="66576"/>
          <a:stretch/>
        </p:blipFill>
        <p:spPr>
          <a:xfrm>
            <a:off x="6732099" y="5291777"/>
            <a:ext cx="1282645" cy="8399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B98E4C-CEFA-1581-AF50-FEF751C6337A}"/>
              </a:ext>
            </a:extLst>
          </p:cNvPr>
          <p:cNvSpPr/>
          <p:nvPr/>
        </p:nvSpPr>
        <p:spPr>
          <a:xfrm>
            <a:off x="803564" y="2576945"/>
            <a:ext cx="720435" cy="1477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10DC5-E042-6864-A9C7-29E21EDB9714}"/>
              </a:ext>
            </a:extLst>
          </p:cNvPr>
          <p:cNvSpPr txBox="1"/>
          <p:nvPr/>
        </p:nvSpPr>
        <p:spPr>
          <a:xfrm>
            <a:off x="-4618" y="6627169"/>
            <a:ext cx="77354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7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 de: https://www.pixelstalk.net/wp-content/uploads/images6/Abstract-Wallpaper-HD-Free-download.png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6D788E-1E21-04A9-A5BC-097299739E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816" r="21859"/>
          <a:stretch/>
        </p:blipFill>
        <p:spPr>
          <a:xfrm flipH="1">
            <a:off x="0" y="0"/>
            <a:ext cx="3429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EA1DE5-DBBE-C61C-4E57-547B67A1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3402" y="849745"/>
            <a:ext cx="7560398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4D7BE1-2A46-3C0D-481D-858C144E9A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</a:t>
            </a:fld>
            <a:endParaRPr lang="es-PE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E43AFB5-70FF-5449-06B0-3D076E86ABDE}"/>
              </a:ext>
            </a:extLst>
          </p:cNvPr>
          <p:cNvGrpSpPr/>
          <p:nvPr/>
        </p:nvGrpSpPr>
        <p:grpSpPr>
          <a:xfrm>
            <a:off x="6420427" y="2970964"/>
            <a:ext cx="1444516" cy="2178087"/>
            <a:chOff x="6090637" y="2970964"/>
            <a:chExt cx="1444516" cy="217808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1EE433D-0296-1BD1-7F30-30EEA7E8421B}"/>
                </a:ext>
              </a:extLst>
            </p:cNvPr>
            <p:cNvSpPr/>
            <p:nvPr/>
          </p:nvSpPr>
          <p:spPr>
            <a:xfrm>
              <a:off x="6090637" y="4400211"/>
              <a:ext cx="1444516" cy="7488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 err="1">
                  <a:solidFill>
                    <a:schemeClr val="bg1">
                      <a:lumMod val="50000"/>
                    </a:schemeClr>
                  </a:solidFill>
                </a:rPr>
                <a:t>Cast</a:t>
              </a:r>
              <a:r>
                <a:rPr lang="es-ES" sz="2000" dirty="0">
                  <a:solidFill>
                    <a:schemeClr val="bg1">
                      <a:lumMod val="50000"/>
                    </a:schemeClr>
                  </a:solidFill>
                </a:rPr>
                <a:t> de tipos</a:t>
              </a:r>
              <a:endParaRPr lang="en-US" sz="2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A8A0D49-BF77-13F3-836D-A5C58B3E7159}"/>
                </a:ext>
              </a:extLst>
            </p:cNvPr>
            <p:cNvGrpSpPr/>
            <p:nvPr/>
          </p:nvGrpSpPr>
          <p:grpSpPr>
            <a:xfrm>
              <a:off x="6369087" y="2970964"/>
              <a:ext cx="869133" cy="869133"/>
              <a:chOff x="5355315" y="2598344"/>
              <a:chExt cx="869133" cy="869133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3755BFAA-EF2D-62FD-D4C5-7C5CE53FC0B8}"/>
                  </a:ext>
                </a:extLst>
              </p:cNvPr>
              <p:cNvSpPr/>
              <p:nvPr/>
            </p:nvSpPr>
            <p:spPr>
              <a:xfrm>
                <a:off x="5355315" y="2598344"/>
                <a:ext cx="869133" cy="869133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dirty="0"/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D90E1D0-97F6-4497-5BF0-DD926EAE5D17}"/>
                  </a:ext>
                </a:extLst>
              </p:cNvPr>
              <p:cNvGrpSpPr/>
              <p:nvPr/>
            </p:nvGrpSpPr>
            <p:grpSpPr>
              <a:xfrm>
                <a:off x="5500170" y="2756298"/>
                <a:ext cx="579422" cy="553223"/>
                <a:chOff x="3838669" y="3150606"/>
                <a:chExt cx="733713" cy="700537"/>
              </a:xfrm>
              <a:solidFill>
                <a:schemeClr val="bg1"/>
              </a:solidFill>
            </p:grpSpPr>
            <p:sp>
              <p:nvSpPr>
                <p:cNvPr id="14" name="Arrow: Up 13">
                  <a:extLst>
                    <a:ext uri="{FF2B5EF4-FFF2-40B4-BE49-F238E27FC236}">
                      <a16:creationId xmlns:a16="http://schemas.microsoft.com/office/drawing/2014/main" id="{61E88F85-6EA2-B59E-1BCC-BC00A4895157}"/>
                    </a:ext>
                  </a:extLst>
                </p:cNvPr>
                <p:cNvSpPr/>
                <p:nvPr/>
              </p:nvSpPr>
              <p:spPr>
                <a:xfrm>
                  <a:off x="3838669" y="3150606"/>
                  <a:ext cx="317253" cy="688063"/>
                </a:xfrm>
                <a:prstGeom prst="upArrow">
                  <a:avLst>
                    <a:gd name="adj1" fmla="val 50000"/>
                    <a:gd name="adj2" fmla="val 7853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Arrow: Up 14">
                  <a:extLst>
                    <a:ext uri="{FF2B5EF4-FFF2-40B4-BE49-F238E27FC236}">
                      <a16:creationId xmlns:a16="http://schemas.microsoft.com/office/drawing/2014/main" id="{7B79007E-3AD6-BF2E-B111-492471FF179F}"/>
                    </a:ext>
                  </a:extLst>
                </p:cNvPr>
                <p:cNvSpPr/>
                <p:nvPr/>
              </p:nvSpPr>
              <p:spPr>
                <a:xfrm flipV="1">
                  <a:off x="4255129" y="3163080"/>
                  <a:ext cx="317253" cy="688063"/>
                </a:xfrm>
                <a:prstGeom prst="upArrow">
                  <a:avLst>
                    <a:gd name="adj1" fmla="val 50000"/>
                    <a:gd name="adj2" fmla="val 7853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1496651-659E-D721-2C15-5DBB9EF0A4F4}"/>
              </a:ext>
            </a:extLst>
          </p:cNvPr>
          <p:cNvGrpSpPr/>
          <p:nvPr/>
        </p:nvGrpSpPr>
        <p:grpSpPr>
          <a:xfrm>
            <a:off x="4711502" y="1887394"/>
            <a:ext cx="1520972" cy="4970606"/>
            <a:chOff x="3766026" y="1887394"/>
            <a:chExt cx="1520972" cy="4970606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40003CC-E03E-3A1C-0388-C093CF59882A}"/>
                </a:ext>
              </a:extLst>
            </p:cNvPr>
            <p:cNvSpPr/>
            <p:nvPr/>
          </p:nvSpPr>
          <p:spPr>
            <a:xfrm>
              <a:off x="3793402" y="1887394"/>
              <a:ext cx="1475491" cy="4970606"/>
            </a:xfrm>
            <a:custGeom>
              <a:avLst/>
              <a:gdLst>
                <a:gd name="connsiteX0" fmla="*/ 737746 w 1475491"/>
                <a:gd name="connsiteY0" fmla="*/ 0 h 4970606"/>
                <a:gd name="connsiteX1" fmla="*/ 1475491 w 1475491"/>
                <a:gd name="connsiteY1" fmla="*/ 737745 h 4970606"/>
                <a:gd name="connsiteX2" fmla="*/ 1475490 w 1475491"/>
                <a:gd name="connsiteY2" fmla="*/ 1475490 h 4970606"/>
                <a:gd name="connsiteX3" fmla="*/ 1475489 w 1475491"/>
                <a:gd name="connsiteY3" fmla="*/ 1475490 h 4970606"/>
                <a:gd name="connsiteX4" fmla="*/ 1475489 w 1475491"/>
                <a:gd name="connsiteY4" fmla="*/ 4970606 h 4970606"/>
                <a:gd name="connsiteX5" fmla="*/ 0 w 1475491"/>
                <a:gd name="connsiteY5" fmla="*/ 4970606 h 4970606"/>
                <a:gd name="connsiteX6" fmla="*/ 0 w 1475491"/>
                <a:gd name="connsiteY6" fmla="*/ 1083569 h 4970606"/>
                <a:gd name="connsiteX7" fmla="*/ 1 w 1475491"/>
                <a:gd name="connsiteY7" fmla="*/ 1083569 h 4970606"/>
                <a:gd name="connsiteX8" fmla="*/ 1 w 1475491"/>
                <a:gd name="connsiteY8" fmla="*/ 737745 h 4970606"/>
                <a:gd name="connsiteX9" fmla="*/ 737746 w 1475491"/>
                <a:gd name="connsiteY9" fmla="*/ 0 h 4970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75491" h="4970606">
                  <a:moveTo>
                    <a:pt x="737746" y="0"/>
                  </a:moveTo>
                  <a:cubicBezTo>
                    <a:pt x="1145191" y="0"/>
                    <a:pt x="1475491" y="330300"/>
                    <a:pt x="1475491" y="737745"/>
                  </a:cubicBezTo>
                  <a:lnTo>
                    <a:pt x="1475490" y="1475490"/>
                  </a:lnTo>
                  <a:lnTo>
                    <a:pt x="1475489" y="1475490"/>
                  </a:lnTo>
                  <a:lnTo>
                    <a:pt x="1475489" y="4970606"/>
                  </a:lnTo>
                  <a:lnTo>
                    <a:pt x="0" y="4970606"/>
                  </a:lnTo>
                  <a:lnTo>
                    <a:pt x="0" y="1083569"/>
                  </a:lnTo>
                  <a:lnTo>
                    <a:pt x="1" y="1083569"/>
                  </a:lnTo>
                  <a:lnTo>
                    <a:pt x="1" y="737745"/>
                  </a:lnTo>
                  <a:cubicBezTo>
                    <a:pt x="1" y="330300"/>
                    <a:pt x="330301" y="0"/>
                    <a:pt x="737746" y="0"/>
                  </a:cubicBezTo>
                  <a:close/>
                </a:path>
              </a:pathLst>
            </a:custGeom>
            <a:solidFill>
              <a:srgbClr val="16B6C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C6665AF-1771-52F1-C621-35A253BF5272}"/>
                </a:ext>
              </a:extLst>
            </p:cNvPr>
            <p:cNvSpPr/>
            <p:nvPr/>
          </p:nvSpPr>
          <p:spPr>
            <a:xfrm>
              <a:off x="3766026" y="4400211"/>
              <a:ext cx="1520972" cy="77557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>
                  <a:solidFill>
                    <a:schemeClr val="bg1"/>
                  </a:solidFill>
                </a:rPr>
                <a:t>Tipos primitivos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EFF1212-A7CD-DA76-D5CF-3E764BFA1E2A}"/>
                </a:ext>
              </a:extLst>
            </p:cNvPr>
            <p:cNvGrpSpPr/>
            <p:nvPr/>
          </p:nvGrpSpPr>
          <p:grpSpPr>
            <a:xfrm>
              <a:off x="4097518" y="2897699"/>
              <a:ext cx="869133" cy="1015663"/>
              <a:chOff x="2752254" y="2512977"/>
              <a:chExt cx="869133" cy="1015663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0F3B23B1-D410-015C-B81C-23603CDF31B4}"/>
                  </a:ext>
                </a:extLst>
              </p:cNvPr>
              <p:cNvSpPr/>
              <p:nvPr/>
            </p:nvSpPr>
            <p:spPr>
              <a:xfrm>
                <a:off x="2752254" y="2593417"/>
                <a:ext cx="869133" cy="869133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989AE4C-4F65-AB67-5DC8-70EC31E40E8C}"/>
                  </a:ext>
                </a:extLst>
              </p:cNvPr>
              <p:cNvSpPr txBox="1"/>
              <p:nvPr/>
            </p:nvSpPr>
            <p:spPr>
              <a:xfrm>
                <a:off x="2866831" y="2512977"/>
                <a:ext cx="61266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6000" dirty="0">
                    <a:solidFill>
                      <a:schemeClr val="bg1"/>
                    </a:solidFill>
                  </a:rPr>
                  <a:t>#</a:t>
                </a:r>
                <a:endParaRPr lang="en-US" sz="60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825A8F2-FD83-5601-BBD6-7BBE1FD99AD0}"/>
              </a:ext>
            </a:extLst>
          </p:cNvPr>
          <p:cNvGrpSpPr/>
          <p:nvPr/>
        </p:nvGrpSpPr>
        <p:grpSpPr>
          <a:xfrm>
            <a:off x="9745736" y="2978758"/>
            <a:ext cx="1394776" cy="2150144"/>
            <a:chOff x="10642029" y="2970964"/>
            <a:chExt cx="1394776" cy="215014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EF7A448-F738-66A4-0DF3-020FE47DBBE6}"/>
                </a:ext>
              </a:extLst>
            </p:cNvPr>
            <p:cNvSpPr/>
            <p:nvPr/>
          </p:nvSpPr>
          <p:spPr>
            <a:xfrm>
              <a:off x="10642029" y="4400211"/>
              <a:ext cx="1394776" cy="7208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>
                  <a:solidFill>
                    <a:schemeClr val="bg1">
                      <a:lumMod val="50000"/>
                    </a:schemeClr>
                  </a:solidFill>
                </a:rPr>
                <a:t>Clase Scanner</a:t>
              </a:r>
              <a:endParaRPr lang="en-US" sz="2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4E2F08B-8D11-E860-C3C9-E5DA13B3B4D4}"/>
                </a:ext>
              </a:extLst>
            </p:cNvPr>
            <p:cNvGrpSpPr/>
            <p:nvPr/>
          </p:nvGrpSpPr>
          <p:grpSpPr>
            <a:xfrm>
              <a:off x="10912225" y="2970964"/>
              <a:ext cx="869133" cy="869133"/>
              <a:chOff x="9319031" y="3126678"/>
              <a:chExt cx="869133" cy="869133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BB4AC442-A2D5-B702-09BA-86AC06615BD3}"/>
                  </a:ext>
                </a:extLst>
              </p:cNvPr>
              <p:cNvSpPr/>
              <p:nvPr/>
            </p:nvSpPr>
            <p:spPr>
              <a:xfrm>
                <a:off x="9319031" y="3126678"/>
                <a:ext cx="869133" cy="869133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dirty="0"/>
              </a:p>
            </p:txBody>
          </p:sp>
          <p:sp>
            <p:nvSpPr>
              <p:cNvPr id="21" name="Arrow: Bent-Up 20">
                <a:extLst>
                  <a:ext uri="{FF2B5EF4-FFF2-40B4-BE49-F238E27FC236}">
                    <a16:creationId xmlns:a16="http://schemas.microsoft.com/office/drawing/2014/main" id="{912AFB95-F357-7AAD-13C4-383705BA8387}"/>
                  </a:ext>
                </a:extLst>
              </p:cNvPr>
              <p:cNvSpPr/>
              <p:nvPr/>
            </p:nvSpPr>
            <p:spPr>
              <a:xfrm rot="5400000" flipV="1">
                <a:off x="9467154" y="3345484"/>
                <a:ext cx="514547" cy="442621"/>
              </a:xfrm>
              <a:prstGeom prst="bentUpArrow">
                <a:avLst>
                  <a:gd name="adj1" fmla="val 25000"/>
                  <a:gd name="adj2" fmla="val 25000"/>
                  <a:gd name="adj3" fmla="val 27151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632C414-0D6B-554E-2A2A-4F98EEA86A0A}"/>
              </a:ext>
            </a:extLst>
          </p:cNvPr>
          <p:cNvGrpSpPr/>
          <p:nvPr/>
        </p:nvGrpSpPr>
        <p:grpSpPr>
          <a:xfrm>
            <a:off x="8052896" y="2970964"/>
            <a:ext cx="1504888" cy="2886629"/>
            <a:chOff x="8313247" y="2970964"/>
            <a:chExt cx="1504888" cy="2886629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EBE1F74-77B5-9840-6AB5-F9B1151C0654}"/>
                </a:ext>
              </a:extLst>
            </p:cNvPr>
            <p:cNvSpPr/>
            <p:nvPr/>
          </p:nvSpPr>
          <p:spPr>
            <a:xfrm>
              <a:off x="8640656" y="2970964"/>
              <a:ext cx="869133" cy="86913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4800" dirty="0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0</a:t>
              </a:r>
              <a:endParaRPr lang="en-US" sz="4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982981B-BA10-6B7A-C084-C2E9E65ADD9A}"/>
                </a:ext>
              </a:extLst>
            </p:cNvPr>
            <p:cNvSpPr/>
            <p:nvPr/>
          </p:nvSpPr>
          <p:spPr>
            <a:xfrm>
              <a:off x="8313247" y="4400211"/>
              <a:ext cx="1504888" cy="14573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Asignación </a:t>
              </a:r>
              <a:b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e </a:t>
              </a:r>
              <a:b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inicialización </a:t>
              </a:r>
              <a:b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de </a:t>
              </a:r>
              <a:b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variables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95CE2D7-3EDA-DD29-01E3-261A40E05B88}"/>
              </a:ext>
            </a:extLst>
          </p:cNvPr>
          <p:cNvSpPr txBox="1"/>
          <p:nvPr/>
        </p:nvSpPr>
        <p:spPr>
          <a:xfrm>
            <a:off x="72424" y="6557018"/>
            <a:ext cx="60975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de: https://insights.dice.com/wp-content/uploads/2018/01/Freelance-Developer-Dice.jpeg</a:t>
            </a:r>
          </a:p>
        </p:txBody>
      </p:sp>
    </p:spTree>
    <p:extLst>
      <p:ext uri="{BB962C8B-B14F-4D97-AF65-F5344CB8AC3E}">
        <p14:creationId xmlns:p14="http://schemas.microsoft.com/office/powerpoint/2010/main" val="806856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40003CC-E03E-3A1C-0388-C093CF59882A}"/>
              </a:ext>
            </a:extLst>
          </p:cNvPr>
          <p:cNvSpPr/>
          <p:nvPr/>
        </p:nvSpPr>
        <p:spPr>
          <a:xfrm>
            <a:off x="6398454" y="1887394"/>
            <a:ext cx="1475491" cy="4970606"/>
          </a:xfrm>
          <a:custGeom>
            <a:avLst/>
            <a:gdLst>
              <a:gd name="connsiteX0" fmla="*/ 737746 w 1475491"/>
              <a:gd name="connsiteY0" fmla="*/ 0 h 4970606"/>
              <a:gd name="connsiteX1" fmla="*/ 1475491 w 1475491"/>
              <a:gd name="connsiteY1" fmla="*/ 737745 h 4970606"/>
              <a:gd name="connsiteX2" fmla="*/ 1475490 w 1475491"/>
              <a:gd name="connsiteY2" fmla="*/ 1475490 h 4970606"/>
              <a:gd name="connsiteX3" fmla="*/ 1475489 w 1475491"/>
              <a:gd name="connsiteY3" fmla="*/ 1475490 h 4970606"/>
              <a:gd name="connsiteX4" fmla="*/ 1475489 w 1475491"/>
              <a:gd name="connsiteY4" fmla="*/ 4970606 h 4970606"/>
              <a:gd name="connsiteX5" fmla="*/ 0 w 1475491"/>
              <a:gd name="connsiteY5" fmla="*/ 4970606 h 4970606"/>
              <a:gd name="connsiteX6" fmla="*/ 0 w 1475491"/>
              <a:gd name="connsiteY6" fmla="*/ 1083569 h 4970606"/>
              <a:gd name="connsiteX7" fmla="*/ 1 w 1475491"/>
              <a:gd name="connsiteY7" fmla="*/ 1083569 h 4970606"/>
              <a:gd name="connsiteX8" fmla="*/ 1 w 1475491"/>
              <a:gd name="connsiteY8" fmla="*/ 737745 h 4970606"/>
              <a:gd name="connsiteX9" fmla="*/ 737746 w 1475491"/>
              <a:gd name="connsiteY9" fmla="*/ 0 h 497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75491" h="4970606">
                <a:moveTo>
                  <a:pt x="737746" y="0"/>
                </a:moveTo>
                <a:cubicBezTo>
                  <a:pt x="1145191" y="0"/>
                  <a:pt x="1475491" y="330300"/>
                  <a:pt x="1475491" y="737745"/>
                </a:cubicBezTo>
                <a:lnTo>
                  <a:pt x="1475490" y="1475490"/>
                </a:lnTo>
                <a:lnTo>
                  <a:pt x="1475489" y="1475490"/>
                </a:lnTo>
                <a:lnTo>
                  <a:pt x="1475489" y="4970606"/>
                </a:lnTo>
                <a:lnTo>
                  <a:pt x="0" y="4970606"/>
                </a:lnTo>
                <a:lnTo>
                  <a:pt x="0" y="1083569"/>
                </a:lnTo>
                <a:lnTo>
                  <a:pt x="1" y="1083569"/>
                </a:lnTo>
                <a:lnTo>
                  <a:pt x="1" y="737745"/>
                </a:lnTo>
                <a:cubicBezTo>
                  <a:pt x="1" y="330300"/>
                  <a:pt x="330301" y="0"/>
                  <a:pt x="737746" y="0"/>
                </a:cubicBezTo>
                <a:close/>
              </a:path>
            </a:pathLst>
          </a:custGeom>
          <a:solidFill>
            <a:srgbClr val="16B6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6D788E-1E21-04A9-A5BC-097299739E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816" r="21859"/>
          <a:stretch/>
        </p:blipFill>
        <p:spPr>
          <a:xfrm flipH="1">
            <a:off x="0" y="0"/>
            <a:ext cx="3429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EA1DE5-DBBE-C61C-4E57-547B67A1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3402" y="849745"/>
            <a:ext cx="7560398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4D7BE1-2A46-3C0D-481D-858C144E9A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</a:t>
            </a:fld>
            <a:endParaRPr lang="es-PE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E43AFB5-70FF-5449-06B0-3D076E86ABDE}"/>
              </a:ext>
            </a:extLst>
          </p:cNvPr>
          <p:cNvGrpSpPr/>
          <p:nvPr/>
        </p:nvGrpSpPr>
        <p:grpSpPr>
          <a:xfrm>
            <a:off x="6420427" y="2970964"/>
            <a:ext cx="1444516" cy="2178087"/>
            <a:chOff x="6090637" y="2970964"/>
            <a:chExt cx="1444516" cy="217808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1EE433D-0296-1BD1-7F30-30EEA7E8421B}"/>
                </a:ext>
              </a:extLst>
            </p:cNvPr>
            <p:cNvSpPr/>
            <p:nvPr/>
          </p:nvSpPr>
          <p:spPr>
            <a:xfrm>
              <a:off x="6090637" y="4400211"/>
              <a:ext cx="1444516" cy="7488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 err="1">
                  <a:solidFill>
                    <a:schemeClr val="bg1"/>
                  </a:solidFill>
                </a:rPr>
                <a:t>Cast</a:t>
              </a:r>
              <a:r>
                <a:rPr lang="es-ES" sz="2000" dirty="0">
                  <a:solidFill>
                    <a:schemeClr val="bg1"/>
                  </a:solidFill>
                </a:rPr>
                <a:t> de tipos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A8A0D49-BF77-13F3-836D-A5C58B3E7159}"/>
                </a:ext>
              </a:extLst>
            </p:cNvPr>
            <p:cNvGrpSpPr/>
            <p:nvPr/>
          </p:nvGrpSpPr>
          <p:grpSpPr>
            <a:xfrm>
              <a:off x="6369087" y="2970964"/>
              <a:ext cx="869133" cy="869133"/>
              <a:chOff x="5355315" y="2598344"/>
              <a:chExt cx="869133" cy="869133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3755BFAA-EF2D-62FD-D4C5-7C5CE53FC0B8}"/>
                  </a:ext>
                </a:extLst>
              </p:cNvPr>
              <p:cNvSpPr/>
              <p:nvPr/>
            </p:nvSpPr>
            <p:spPr>
              <a:xfrm>
                <a:off x="5355315" y="2598344"/>
                <a:ext cx="869133" cy="869133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dirty="0"/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D90E1D0-97F6-4497-5BF0-DD926EAE5D17}"/>
                  </a:ext>
                </a:extLst>
              </p:cNvPr>
              <p:cNvGrpSpPr/>
              <p:nvPr/>
            </p:nvGrpSpPr>
            <p:grpSpPr>
              <a:xfrm>
                <a:off x="5500170" y="2756298"/>
                <a:ext cx="579422" cy="553223"/>
                <a:chOff x="3838669" y="3150606"/>
                <a:chExt cx="733713" cy="700537"/>
              </a:xfrm>
              <a:solidFill>
                <a:schemeClr val="bg1"/>
              </a:solidFill>
            </p:grpSpPr>
            <p:sp>
              <p:nvSpPr>
                <p:cNvPr id="14" name="Arrow: Up 13">
                  <a:extLst>
                    <a:ext uri="{FF2B5EF4-FFF2-40B4-BE49-F238E27FC236}">
                      <a16:creationId xmlns:a16="http://schemas.microsoft.com/office/drawing/2014/main" id="{61E88F85-6EA2-B59E-1BCC-BC00A4895157}"/>
                    </a:ext>
                  </a:extLst>
                </p:cNvPr>
                <p:cNvSpPr/>
                <p:nvPr/>
              </p:nvSpPr>
              <p:spPr>
                <a:xfrm>
                  <a:off x="3838669" y="3150606"/>
                  <a:ext cx="317253" cy="688063"/>
                </a:xfrm>
                <a:prstGeom prst="upArrow">
                  <a:avLst>
                    <a:gd name="adj1" fmla="val 50000"/>
                    <a:gd name="adj2" fmla="val 7853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Arrow: Up 14">
                  <a:extLst>
                    <a:ext uri="{FF2B5EF4-FFF2-40B4-BE49-F238E27FC236}">
                      <a16:creationId xmlns:a16="http://schemas.microsoft.com/office/drawing/2014/main" id="{7B79007E-3AD6-BF2E-B111-492471FF179F}"/>
                    </a:ext>
                  </a:extLst>
                </p:cNvPr>
                <p:cNvSpPr/>
                <p:nvPr/>
              </p:nvSpPr>
              <p:spPr>
                <a:xfrm flipV="1">
                  <a:off x="4255129" y="3163080"/>
                  <a:ext cx="317253" cy="688063"/>
                </a:xfrm>
                <a:prstGeom prst="upArrow">
                  <a:avLst>
                    <a:gd name="adj1" fmla="val 50000"/>
                    <a:gd name="adj2" fmla="val 7853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0C6665AF-1771-52F1-C621-35A253BF5272}"/>
              </a:ext>
            </a:extLst>
          </p:cNvPr>
          <p:cNvSpPr/>
          <p:nvPr/>
        </p:nvSpPr>
        <p:spPr>
          <a:xfrm>
            <a:off x="4711502" y="4400211"/>
            <a:ext cx="1520972" cy="7755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Tipos primitivos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EFF1212-A7CD-DA76-D5CF-3E764BFA1E2A}"/>
              </a:ext>
            </a:extLst>
          </p:cNvPr>
          <p:cNvGrpSpPr/>
          <p:nvPr/>
        </p:nvGrpSpPr>
        <p:grpSpPr>
          <a:xfrm>
            <a:off x="5042994" y="2897699"/>
            <a:ext cx="869133" cy="1015663"/>
            <a:chOff x="2752254" y="2512977"/>
            <a:chExt cx="869133" cy="1015663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F3B23B1-D410-015C-B81C-23603CDF31B4}"/>
                </a:ext>
              </a:extLst>
            </p:cNvPr>
            <p:cNvSpPr/>
            <p:nvPr/>
          </p:nvSpPr>
          <p:spPr>
            <a:xfrm>
              <a:off x="2752254" y="2593417"/>
              <a:ext cx="869133" cy="86913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989AE4C-4F65-AB67-5DC8-70EC31E40E8C}"/>
                </a:ext>
              </a:extLst>
            </p:cNvPr>
            <p:cNvSpPr txBox="1"/>
            <p:nvPr/>
          </p:nvSpPr>
          <p:spPr>
            <a:xfrm>
              <a:off x="2866831" y="2512977"/>
              <a:ext cx="61266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6000" dirty="0">
                  <a:solidFill>
                    <a:schemeClr val="bg1"/>
                  </a:solidFill>
                </a:rPr>
                <a:t>#</a:t>
              </a:r>
              <a:endParaRPr lang="en-US" sz="6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825A8F2-FD83-5601-BBD6-7BBE1FD99AD0}"/>
              </a:ext>
            </a:extLst>
          </p:cNvPr>
          <p:cNvGrpSpPr/>
          <p:nvPr/>
        </p:nvGrpSpPr>
        <p:grpSpPr>
          <a:xfrm>
            <a:off x="9745736" y="2978758"/>
            <a:ext cx="1394776" cy="2150144"/>
            <a:chOff x="10642029" y="2970964"/>
            <a:chExt cx="1394776" cy="215014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EF7A448-F738-66A4-0DF3-020FE47DBBE6}"/>
                </a:ext>
              </a:extLst>
            </p:cNvPr>
            <p:cNvSpPr/>
            <p:nvPr/>
          </p:nvSpPr>
          <p:spPr>
            <a:xfrm>
              <a:off x="10642029" y="4400211"/>
              <a:ext cx="1394776" cy="7208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>
                  <a:solidFill>
                    <a:schemeClr val="bg1">
                      <a:lumMod val="50000"/>
                    </a:schemeClr>
                  </a:solidFill>
                </a:rPr>
                <a:t>Clase Scanner</a:t>
              </a:r>
              <a:endParaRPr lang="en-US" sz="2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4E2F08B-8D11-E860-C3C9-E5DA13B3B4D4}"/>
                </a:ext>
              </a:extLst>
            </p:cNvPr>
            <p:cNvGrpSpPr/>
            <p:nvPr/>
          </p:nvGrpSpPr>
          <p:grpSpPr>
            <a:xfrm>
              <a:off x="10912225" y="2970964"/>
              <a:ext cx="869133" cy="869133"/>
              <a:chOff x="9319031" y="3126678"/>
              <a:chExt cx="869133" cy="869133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BB4AC442-A2D5-B702-09BA-86AC06615BD3}"/>
                  </a:ext>
                </a:extLst>
              </p:cNvPr>
              <p:cNvSpPr/>
              <p:nvPr/>
            </p:nvSpPr>
            <p:spPr>
              <a:xfrm>
                <a:off x="9319031" y="3126678"/>
                <a:ext cx="869133" cy="869133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dirty="0"/>
              </a:p>
            </p:txBody>
          </p:sp>
          <p:sp>
            <p:nvSpPr>
              <p:cNvPr id="21" name="Arrow: Bent-Up 20">
                <a:extLst>
                  <a:ext uri="{FF2B5EF4-FFF2-40B4-BE49-F238E27FC236}">
                    <a16:creationId xmlns:a16="http://schemas.microsoft.com/office/drawing/2014/main" id="{912AFB95-F357-7AAD-13C4-383705BA8387}"/>
                  </a:ext>
                </a:extLst>
              </p:cNvPr>
              <p:cNvSpPr/>
              <p:nvPr/>
            </p:nvSpPr>
            <p:spPr>
              <a:xfrm rot="5400000" flipV="1">
                <a:off x="9467154" y="3345484"/>
                <a:ext cx="514547" cy="442621"/>
              </a:xfrm>
              <a:prstGeom prst="bentUpArrow">
                <a:avLst>
                  <a:gd name="adj1" fmla="val 25000"/>
                  <a:gd name="adj2" fmla="val 25000"/>
                  <a:gd name="adj3" fmla="val 27151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632C414-0D6B-554E-2A2A-4F98EEA86A0A}"/>
              </a:ext>
            </a:extLst>
          </p:cNvPr>
          <p:cNvGrpSpPr/>
          <p:nvPr/>
        </p:nvGrpSpPr>
        <p:grpSpPr>
          <a:xfrm>
            <a:off x="8052896" y="2970964"/>
            <a:ext cx="1504888" cy="2886629"/>
            <a:chOff x="8313247" y="2970964"/>
            <a:chExt cx="1504888" cy="2886629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EBE1F74-77B5-9840-6AB5-F9B1151C0654}"/>
                </a:ext>
              </a:extLst>
            </p:cNvPr>
            <p:cNvSpPr/>
            <p:nvPr/>
          </p:nvSpPr>
          <p:spPr>
            <a:xfrm>
              <a:off x="8640656" y="2970964"/>
              <a:ext cx="869133" cy="86913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4800" dirty="0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0</a:t>
              </a:r>
              <a:endParaRPr lang="en-US" sz="4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982981B-BA10-6B7A-C084-C2E9E65ADD9A}"/>
                </a:ext>
              </a:extLst>
            </p:cNvPr>
            <p:cNvSpPr/>
            <p:nvPr/>
          </p:nvSpPr>
          <p:spPr>
            <a:xfrm>
              <a:off x="8313247" y="4400211"/>
              <a:ext cx="1504888" cy="14573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Asignación </a:t>
              </a:r>
              <a:b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e </a:t>
              </a:r>
              <a:b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inicialización </a:t>
              </a:r>
              <a:b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de </a:t>
              </a:r>
              <a:b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variables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95CE2D7-3EDA-DD29-01E3-261A40E05B88}"/>
              </a:ext>
            </a:extLst>
          </p:cNvPr>
          <p:cNvSpPr txBox="1"/>
          <p:nvPr/>
        </p:nvSpPr>
        <p:spPr>
          <a:xfrm>
            <a:off x="72424" y="6557018"/>
            <a:ext cx="60975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de: https://insights.dice.com/wp-content/uploads/2018/01/Freelance-Developer-Dice.jpeg</a:t>
            </a:r>
          </a:p>
        </p:txBody>
      </p:sp>
    </p:spTree>
    <p:extLst>
      <p:ext uri="{BB962C8B-B14F-4D97-AF65-F5344CB8AC3E}">
        <p14:creationId xmlns:p14="http://schemas.microsoft.com/office/powerpoint/2010/main" val="2424577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6D788E-1E21-04A9-A5BC-097299739E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816" r="21859"/>
          <a:stretch/>
        </p:blipFill>
        <p:spPr>
          <a:xfrm flipH="1">
            <a:off x="0" y="0"/>
            <a:ext cx="3429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EA1DE5-DBBE-C61C-4E57-547B67A1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3402" y="849745"/>
            <a:ext cx="7560398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4D7BE1-2A46-3C0D-481D-858C144E9A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</a:t>
            </a:fld>
            <a:endParaRPr lang="es-PE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E43AFB5-70FF-5449-06B0-3D076E86ABDE}"/>
              </a:ext>
            </a:extLst>
          </p:cNvPr>
          <p:cNvGrpSpPr/>
          <p:nvPr/>
        </p:nvGrpSpPr>
        <p:grpSpPr>
          <a:xfrm>
            <a:off x="6420427" y="2970964"/>
            <a:ext cx="1444516" cy="2178087"/>
            <a:chOff x="6090637" y="2970964"/>
            <a:chExt cx="1444516" cy="217808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1EE433D-0296-1BD1-7F30-30EEA7E8421B}"/>
                </a:ext>
              </a:extLst>
            </p:cNvPr>
            <p:cNvSpPr/>
            <p:nvPr/>
          </p:nvSpPr>
          <p:spPr>
            <a:xfrm>
              <a:off x="6090637" y="4400211"/>
              <a:ext cx="1444516" cy="7488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 err="1">
                  <a:solidFill>
                    <a:schemeClr val="bg1">
                      <a:lumMod val="50000"/>
                    </a:schemeClr>
                  </a:solidFill>
                </a:rPr>
                <a:t>Cast</a:t>
              </a:r>
              <a:r>
                <a:rPr lang="es-ES" sz="2000" dirty="0">
                  <a:solidFill>
                    <a:schemeClr val="bg1">
                      <a:lumMod val="50000"/>
                    </a:schemeClr>
                  </a:solidFill>
                </a:rPr>
                <a:t> de tipos</a:t>
              </a:r>
              <a:endParaRPr lang="en-US" sz="2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A8A0D49-BF77-13F3-836D-A5C58B3E7159}"/>
                </a:ext>
              </a:extLst>
            </p:cNvPr>
            <p:cNvGrpSpPr/>
            <p:nvPr/>
          </p:nvGrpSpPr>
          <p:grpSpPr>
            <a:xfrm>
              <a:off x="6369087" y="2970964"/>
              <a:ext cx="869133" cy="869133"/>
              <a:chOff x="5355315" y="2598344"/>
              <a:chExt cx="869133" cy="869133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3755BFAA-EF2D-62FD-D4C5-7C5CE53FC0B8}"/>
                  </a:ext>
                </a:extLst>
              </p:cNvPr>
              <p:cNvSpPr/>
              <p:nvPr/>
            </p:nvSpPr>
            <p:spPr>
              <a:xfrm>
                <a:off x="5355315" y="2598344"/>
                <a:ext cx="869133" cy="869133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dirty="0"/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D90E1D0-97F6-4497-5BF0-DD926EAE5D17}"/>
                  </a:ext>
                </a:extLst>
              </p:cNvPr>
              <p:cNvGrpSpPr/>
              <p:nvPr/>
            </p:nvGrpSpPr>
            <p:grpSpPr>
              <a:xfrm>
                <a:off x="5500170" y="2756298"/>
                <a:ext cx="579422" cy="553223"/>
                <a:chOff x="3838669" y="3150606"/>
                <a:chExt cx="733713" cy="700537"/>
              </a:xfrm>
              <a:solidFill>
                <a:schemeClr val="bg1"/>
              </a:solidFill>
            </p:grpSpPr>
            <p:sp>
              <p:nvSpPr>
                <p:cNvPr id="14" name="Arrow: Up 13">
                  <a:extLst>
                    <a:ext uri="{FF2B5EF4-FFF2-40B4-BE49-F238E27FC236}">
                      <a16:creationId xmlns:a16="http://schemas.microsoft.com/office/drawing/2014/main" id="{61E88F85-6EA2-B59E-1BCC-BC00A4895157}"/>
                    </a:ext>
                  </a:extLst>
                </p:cNvPr>
                <p:cNvSpPr/>
                <p:nvPr/>
              </p:nvSpPr>
              <p:spPr>
                <a:xfrm>
                  <a:off x="3838669" y="3150606"/>
                  <a:ext cx="317253" cy="688063"/>
                </a:xfrm>
                <a:prstGeom prst="upArrow">
                  <a:avLst>
                    <a:gd name="adj1" fmla="val 50000"/>
                    <a:gd name="adj2" fmla="val 7853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Arrow: Up 14">
                  <a:extLst>
                    <a:ext uri="{FF2B5EF4-FFF2-40B4-BE49-F238E27FC236}">
                      <a16:creationId xmlns:a16="http://schemas.microsoft.com/office/drawing/2014/main" id="{7B79007E-3AD6-BF2E-B111-492471FF179F}"/>
                    </a:ext>
                  </a:extLst>
                </p:cNvPr>
                <p:cNvSpPr/>
                <p:nvPr/>
              </p:nvSpPr>
              <p:spPr>
                <a:xfrm flipV="1">
                  <a:off x="4255129" y="3163080"/>
                  <a:ext cx="317253" cy="688063"/>
                </a:xfrm>
                <a:prstGeom prst="upArrow">
                  <a:avLst>
                    <a:gd name="adj1" fmla="val 50000"/>
                    <a:gd name="adj2" fmla="val 7853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40003CC-E03E-3A1C-0388-C093CF59882A}"/>
              </a:ext>
            </a:extLst>
          </p:cNvPr>
          <p:cNvSpPr/>
          <p:nvPr/>
        </p:nvSpPr>
        <p:spPr>
          <a:xfrm>
            <a:off x="8077125" y="1887394"/>
            <a:ext cx="1475491" cy="4970606"/>
          </a:xfrm>
          <a:custGeom>
            <a:avLst/>
            <a:gdLst>
              <a:gd name="connsiteX0" fmla="*/ 737746 w 1475491"/>
              <a:gd name="connsiteY0" fmla="*/ 0 h 4970606"/>
              <a:gd name="connsiteX1" fmla="*/ 1475491 w 1475491"/>
              <a:gd name="connsiteY1" fmla="*/ 737745 h 4970606"/>
              <a:gd name="connsiteX2" fmla="*/ 1475490 w 1475491"/>
              <a:gd name="connsiteY2" fmla="*/ 1475490 h 4970606"/>
              <a:gd name="connsiteX3" fmla="*/ 1475489 w 1475491"/>
              <a:gd name="connsiteY3" fmla="*/ 1475490 h 4970606"/>
              <a:gd name="connsiteX4" fmla="*/ 1475489 w 1475491"/>
              <a:gd name="connsiteY4" fmla="*/ 4970606 h 4970606"/>
              <a:gd name="connsiteX5" fmla="*/ 0 w 1475491"/>
              <a:gd name="connsiteY5" fmla="*/ 4970606 h 4970606"/>
              <a:gd name="connsiteX6" fmla="*/ 0 w 1475491"/>
              <a:gd name="connsiteY6" fmla="*/ 1083569 h 4970606"/>
              <a:gd name="connsiteX7" fmla="*/ 1 w 1475491"/>
              <a:gd name="connsiteY7" fmla="*/ 1083569 h 4970606"/>
              <a:gd name="connsiteX8" fmla="*/ 1 w 1475491"/>
              <a:gd name="connsiteY8" fmla="*/ 737745 h 4970606"/>
              <a:gd name="connsiteX9" fmla="*/ 737746 w 1475491"/>
              <a:gd name="connsiteY9" fmla="*/ 0 h 497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75491" h="4970606">
                <a:moveTo>
                  <a:pt x="737746" y="0"/>
                </a:moveTo>
                <a:cubicBezTo>
                  <a:pt x="1145191" y="0"/>
                  <a:pt x="1475491" y="330300"/>
                  <a:pt x="1475491" y="737745"/>
                </a:cubicBezTo>
                <a:lnTo>
                  <a:pt x="1475490" y="1475490"/>
                </a:lnTo>
                <a:lnTo>
                  <a:pt x="1475489" y="1475490"/>
                </a:lnTo>
                <a:lnTo>
                  <a:pt x="1475489" y="4970606"/>
                </a:lnTo>
                <a:lnTo>
                  <a:pt x="0" y="4970606"/>
                </a:lnTo>
                <a:lnTo>
                  <a:pt x="0" y="1083569"/>
                </a:lnTo>
                <a:lnTo>
                  <a:pt x="1" y="1083569"/>
                </a:lnTo>
                <a:lnTo>
                  <a:pt x="1" y="737745"/>
                </a:lnTo>
                <a:cubicBezTo>
                  <a:pt x="1" y="330300"/>
                  <a:pt x="330301" y="0"/>
                  <a:pt x="737746" y="0"/>
                </a:cubicBezTo>
                <a:close/>
              </a:path>
            </a:pathLst>
          </a:custGeom>
          <a:solidFill>
            <a:srgbClr val="16B6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6665AF-1771-52F1-C621-35A253BF5272}"/>
              </a:ext>
            </a:extLst>
          </p:cNvPr>
          <p:cNvSpPr/>
          <p:nvPr/>
        </p:nvSpPr>
        <p:spPr>
          <a:xfrm>
            <a:off x="4711502" y="4400211"/>
            <a:ext cx="1520972" cy="7755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chemeClr val="bg1">
                    <a:lumMod val="50000"/>
                  </a:schemeClr>
                </a:solidFill>
              </a:rPr>
              <a:t>Tipos primitivos</a:t>
            </a: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EFF1212-A7CD-DA76-D5CF-3E764BFA1E2A}"/>
              </a:ext>
            </a:extLst>
          </p:cNvPr>
          <p:cNvGrpSpPr/>
          <p:nvPr/>
        </p:nvGrpSpPr>
        <p:grpSpPr>
          <a:xfrm>
            <a:off x="5042994" y="2897699"/>
            <a:ext cx="869133" cy="1015663"/>
            <a:chOff x="2752254" y="2512977"/>
            <a:chExt cx="869133" cy="1015663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F3B23B1-D410-015C-B81C-23603CDF31B4}"/>
                </a:ext>
              </a:extLst>
            </p:cNvPr>
            <p:cNvSpPr/>
            <p:nvPr/>
          </p:nvSpPr>
          <p:spPr>
            <a:xfrm>
              <a:off x="2752254" y="2593417"/>
              <a:ext cx="869133" cy="86913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989AE4C-4F65-AB67-5DC8-70EC31E40E8C}"/>
                </a:ext>
              </a:extLst>
            </p:cNvPr>
            <p:cNvSpPr txBox="1"/>
            <p:nvPr/>
          </p:nvSpPr>
          <p:spPr>
            <a:xfrm>
              <a:off x="2866831" y="2512977"/>
              <a:ext cx="61266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6000" dirty="0">
                  <a:solidFill>
                    <a:schemeClr val="bg1"/>
                  </a:solidFill>
                </a:rPr>
                <a:t>#</a:t>
              </a:r>
              <a:endParaRPr lang="en-US" sz="6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825A8F2-FD83-5601-BBD6-7BBE1FD99AD0}"/>
              </a:ext>
            </a:extLst>
          </p:cNvPr>
          <p:cNvGrpSpPr/>
          <p:nvPr/>
        </p:nvGrpSpPr>
        <p:grpSpPr>
          <a:xfrm>
            <a:off x="9745736" y="2978758"/>
            <a:ext cx="1394776" cy="2150144"/>
            <a:chOff x="10642029" y="2970964"/>
            <a:chExt cx="1394776" cy="215014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EF7A448-F738-66A4-0DF3-020FE47DBBE6}"/>
                </a:ext>
              </a:extLst>
            </p:cNvPr>
            <p:cNvSpPr/>
            <p:nvPr/>
          </p:nvSpPr>
          <p:spPr>
            <a:xfrm>
              <a:off x="10642029" y="4400211"/>
              <a:ext cx="1394776" cy="7208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>
                  <a:solidFill>
                    <a:schemeClr val="bg1">
                      <a:lumMod val="50000"/>
                    </a:schemeClr>
                  </a:solidFill>
                </a:rPr>
                <a:t>Clase Scanner</a:t>
              </a:r>
              <a:endParaRPr lang="en-US" sz="2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4E2F08B-8D11-E860-C3C9-E5DA13B3B4D4}"/>
                </a:ext>
              </a:extLst>
            </p:cNvPr>
            <p:cNvGrpSpPr/>
            <p:nvPr/>
          </p:nvGrpSpPr>
          <p:grpSpPr>
            <a:xfrm>
              <a:off x="10912225" y="2970964"/>
              <a:ext cx="869133" cy="869133"/>
              <a:chOff x="9319031" y="3126678"/>
              <a:chExt cx="869133" cy="869133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BB4AC442-A2D5-B702-09BA-86AC06615BD3}"/>
                  </a:ext>
                </a:extLst>
              </p:cNvPr>
              <p:cNvSpPr/>
              <p:nvPr/>
            </p:nvSpPr>
            <p:spPr>
              <a:xfrm>
                <a:off x="9319031" y="3126678"/>
                <a:ext cx="869133" cy="869133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dirty="0"/>
              </a:p>
            </p:txBody>
          </p:sp>
          <p:sp>
            <p:nvSpPr>
              <p:cNvPr id="21" name="Arrow: Bent-Up 20">
                <a:extLst>
                  <a:ext uri="{FF2B5EF4-FFF2-40B4-BE49-F238E27FC236}">
                    <a16:creationId xmlns:a16="http://schemas.microsoft.com/office/drawing/2014/main" id="{912AFB95-F357-7AAD-13C4-383705BA8387}"/>
                  </a:ext>
                </a:extLst>
              </p:cNvPr>
              <p:cNvSpPr/>
              <p:nvPr/>
            </p:nvSpPr>
            <p:spPr>
              <a:xfrm rot="5400000" flipV="1">
                <a:off x="9467154" y="3345484"/>
                <a:ext cx="514547" cy="442621"/>
              </a:xfrm>
              <a:prstGeom prst="bentUpArrow">
                <a:avLst>
                  <a:gd name="adj1" fmla="val 25000"/>
                  <a:gd name="adj2" fmla="val 25000"/>
                  <a:gd name="adj3" fmla="val 27151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632C414-0D6B-554E-2A2A-4F98EEA86A0A}"/>
              </a:ext>
            </a:extLst>
          </p:cNvPr>
          <p:cNvGrpSpPr/>
          <p:nvPr/>
        </p:nvGrpSpPr>
        <p:grpSpPr>
          <a:xfrm>
            <a:off x="8052896" y="2970964"/>
            <a:ext cx="1504888" cy="2886629"/>
            <a:chOff x="8313247" y="2970964"/>
            <a:chExt cx="1504888" cy="2886629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EBE1F74-77B5-9840-6AB5-F9B1151C0654}"/>
                </a:ext>
              </a:extLst>
            </p:cNvPr>
            <p:cNvSpPr/>
            <p:nvPr/>
          </p:nvSpPr>
          <p:spPr>
            <a:xfrm>
              <a:off x="8640656" y="2970964"/>
              <a:ext cx="869133" cy="869133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4800" dirty="0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0</a:t>
              </a:r>
              <a:endParaRPr lang="en-US" sz="4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982981B-BA10-6B7A-C084-C2E9E65ADD9A}"/>
                </a:ext>
              </a:extLst>
            </p:cNvPr>
            <p:cNvSpPr/>
            <p:nvPr/>
          </p:nvSpPr>
          <p:spPr>
            <a:xfrm>
              <a:off x="8313247" y="4400211"/>
              <a:ext cx="1504888" cy="14573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>
                  <a:solidFill>
                    <a:schemeClr val="bg1"/>
                  </a:solidFill>
                </a:rPr>
                <a:t>Asignación </a:t>
              </a:r>
              <a:br>
                <a:rPr lang="es-ES" sz="1800" dirty="0">
                  <a:solidFill>
                    <a:schemeClr val="bg1"/>
                  </a:solidFill>
                </a:rPr>
              </a:br>
              <a:r>
                <a:rPr lang="es-ES" sz="1800" dirty="0">
                  <a:solidFill>
                    <a:schemeClr val="bg1"/>
                  </a:solidFill>
                </a:rPr>
                <a:t>e </a:t>
              </a:r>
              <a:br>
                <a:rPr lang="es-ES" sz="1800" dirty="0">
                  <a:solidFill>
                    <a:schemeClr val="bg1"/>
                  </a:solidFill>
                </a:rPr>
              </a:br>
              <a:r>
                <a:rPr lang="es-ES" sz="1800" dirty="0">
                  <a:solidFill>
                    <a:schemeClr val="bg1"/>
                  </a:solidFill>
                </a:rPr>
                <a:t>inicialización </a:t>
              </a:r>
              <a:br>
                <a:rPr lang="es-ES" sz="1800" dirty="0">
                  <a:solidFill>
                    <a:schemeClr val="bg1"/>
                  </a:solidFill>
                </a:rPr>
              </a:br>
              <a:r>
                <a:rPr lang="es-ES" sz="1800" dirty="0">
                  <a:solidFill>
                    <a:schemeClr val="bg1"/>
                  </a:solidFill>
                </a:rPr>
                <a:t>de </a:t>
              </a:r>
              <a:br>
                <a:rPr lang="es-ES" sz="1800" dirty="0">
                  <a:solidFill>
                    <a:schemeClr val="bg1"/>
                  </a:solidFill>
                </a:rPr>
              </a:br>
              <a:r>
                <a:rPr lang="es-ES" sz="1800" dirty="0">
                  <a:solidFill>
                    <a:schemeClr val="bg1"/>
                  </a:solidFill>
                </a:rPr>
                <a:t>variables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95CE2D7-3EDA-DD29-01E3-261A40E05B88}"/>
              </a:ext>
            </a:extLst>
          </p:cNvPr>
          <p:cNvSpPr txBox="1"/>
          <p:nvPr/>
        </p:nvSpPr>
        <p:spPr>
          <a:xfrm>
            <a:off x="72424" y="6557018"/>
            <a:ext cx="60975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de: https://insights.dice.com/wp-content/uploads/2018/01/Freelance-Developer-Dice.jpeg</a:t>
            </a:r>
          </a:p>
        </p:txBody>
      </p:sp>
    </p:spTree>
    <p:extLst>
      <p:ext uri="{BB962C8B-B14F-4D97-AF65-F5344CB8AC3E}">
        <p14:creationId xmlns:p14="http://schemas.microsoft.com/office/powerpoint/2010/main" val="1959023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6D788E-1E21-04A9-A5BC-097299739E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816" r="21859"/>
          <a:stretch/>
        </p:blipFill>
        <p:spPr>
          <a:xfrm flipH="1">
            <a:off x="0" y="0"/>
            <a:ext cx="3429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EA1DE5-DBBE-C61C-4E57-547B67A1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3402" y="849745"/>
            <a:ext cx="7560398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4D7BE1-2A46-3C0D-481D-858C144E9A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5</a:t>
            </a:fld>
            <a:endParaRPr lang="es-PE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E43AFB5-70FF-5449-06B0-3D076E86ABDE}"/>
              </a:ext>
            </a:extLst>
          </p:cNvPr>
          <p:cNvGrpSpPr/>
          <p:nvPr/>
        </p:nvGrpSpPr>
        <p:grpSpPr>
          <a:xfrm>
            <a:off x="6420427" y="2970964"/>
            <a:ext cx="1444516" cy="2178087"/>
            <a:chOff x="6090637" y="2970964"/>
            <a:chExt cx="1444516" cy="217808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1EE433D-0296-1BD1-7F30-30EEA7E8421B}"/>
                </a:ext>
              </a:extLst>
            </p:cNvPr>
            <p:cNvSpPr/>
            <p:nvPr/>
          </p:nvSpPr>
          <p:spPr>
            <a:xfrm>
              <a:off x="6090637" y="4400211"/>
              <a:ext cx="1444516" cy="7488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 err="1">
                  <a:solidFill>
                    <a:schemeClr val="bg1">
                      <a:lumMod val="50000"/>
                    </a:schemeClr>
                  </a:solidFill>
                </a:rPr>
                <a:t>Cast</a:t>
              </a:r>
              <a:r>
                <a:rPr lang="es-ES" sz="2000" dirty="0">
                  <a:solidFill>
                    <a:schemeClr val="bg1">
                      <a:lumMod val="50000"/>
                    </a:schemeClr>
                  </a:solidFill>
                </a:rPr>
                <a:t> de tipos</a:t>
              </a:r>
              <a:endParaRPr lang="en-US" sz="2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A8A0D49-BF77-13F3-836D-A5C58B3E7159}"/>
                </a:ext>
              </a:extLst>
            </p:cNvPr>
            <p:cNvGrpSpPr/>
            <p:nvPr/>
          </p:nvGrpSpPr>
          <p:grpSpPr>
            <a:xfrm>
              <a:off x="6369087" y="2970964"/>
              <a:ext cx="869133" cy="869133"/>
              <a:chOff x="5355315" y="2598344"/>
              <a:chExt cx="869133" cy="869133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3755BFAA-EF2D-62FD-D4C5-7C5CE53FC0B8}"/>
                  </a:ext>
                </a:extLst>
              </p:cNvPr>
              <p:cNvSpPr/>
              <p:nvPr/>
            </p:nvSpPr>
            <p:spPr>
              <a:xfrm>
                <a:off x="5355315" y="2598344"/>
                <a:ext cx="869133" cy="869133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dirty="0"/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D90E1D0-97F6-4497-5BF0-DD926EAE5D17}"/>
                  </a:ext>
                </a:extLst>
              </p:cNvPr>
              <p:cNvGrpSpPr/>
              <p:nvPr/>
            </p:nvGrpSpPr>
            <p:grpSpPr>
              <a:xfrm>
                <a:off x="5500170" y="2756298"/>
                <a:ext cx="579422" cy="553223"/>
                <a:chOff x="3838669" y="3150606"/>
                <a:chExt cx="733713" cy="700537"/>
              </a:xfrm>
              <a:solidFill>
                <a:schemeClr val="bg1"/>
              </a:solidFill>
            </p:grpSpPr>
            <p:sp>
              <p:nvSpPr>
                <p:cNvPr id="14" name="Arrow: Up 13">
                  <a:extLst>
                    <a:ext uri="{FF2B5EF4-FFF2-40B4-BE49-F238E27FC236}">
                      <a16:creationId xmlns:a16="http://schemas.microsoft.com/office/drawing/2014/main" id="{61E88F85-6EA2-B59E-1BCC-BC00A4895157}"/>
                    </a:ext>
                  </a:extLst>
                </p:cNvPr>
                <p:cNvSpPr/>
                <p:nvPr/>
              </p:nvSpPr>
              <p:spPr>
                <a:xfrm>
                  <a:off x="3838669" y="3150606"/>
                  <a:ext cx="317253" cy="688063"/>
                </a:xfrm>
                <a:prstGeom prst="upArrow">
                  <a:avLst>
                    <a:gd name="adj1" fmla="val 50000"/>
                    <a:gd name="adj2" fmla="val 7853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Arrow: Up 14">
                  <a:extLst>
                    <a:ext uri="{FF2B5EF4-FFF2-40B4-BE49-F238E27FC236}">
                      <a16:creationId xmlns:a16="http://schemas.microsoft.com/office/drawing/2014/main" id="{7B79007E-3AD6-BF2E-B111-492471FF179F}"/>
                    </a:ext>
                  </a:extLst>
                </p:cNvPr>
                <p:cNvSpPr/>
                <p:nvPr/>
              </p:nvSpPr>
              <p:spPr>
                <a:xfrm flipV="1">
                  <a:off x="4255129" y="3163080"/>
                  <a:ext cx="317253" cy="688063"/>
                </a:xfrm>
                <a:prstGeom prst="upArrow">
                  <a:avLst>
                    <a:gd name="adj1" fmla="val 50000"/>
                    <a:gd name="adj2" fmla="val 78537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40003CC-E03E-3A1C-0388-C093CF59882A}"/>
              </a:ext>
            </a:extLst>
          </p:cNvPr>
          <p:cNvSpPr/>
          <p:nvPr/>
        </p:nvSpPr>
        <p:spPr>
          <a:xfrm>
            <a:off x="9712540" y="1887394"/>
            <a:ext cx="1475491" cy="4970606"/>
          </a:xfrm>
          <a:custGeom>
            <a:avLst/>
            <a:gdLst>
              <a:gd name="connsiteX0" fmla="*/ 737746 w 1475491"/>
              <a:gd name="connsiteY0" fmla="*/ 0 h 4970606"/>
              <a:gd name="connsiteX1" fmla="*/ 1475491 w 1475491"/>
              <a:gd name="connsiteY1" fmla="*/ 737745 h 4970606"/>
              <a:gd name="connsiteX2" fmla="*/ 1475490 w 1475491"/>
              <a:gd name="connsiteY2" fmla="*/ 1475490 h 4970606"/>
              <a:gd name="connsiteX3" fmla="*/ 1475489 w 1475491"/>
              <a:gd name="connsiteY3" fmla="*/ 1475490 h 4970606"/>
              <a:gd name="connsiteX4" fmla="*/ 1475489 w 1475491"/>
              <a:gd name="connsiteY4" fmla="*/ 4970606 h 4970606"/>
              <a:gd name="connsiteX5" fmla="*/ 0 w 1475491"/>
              <a:gd name="connsiteY5" fmla="*/ 4970606 h 4970606"/>
              <a:gd name="connsiteX6" fmla="*/ 0 w 1475491"/>
              <a:gd name="connsiteY6" fmla="*/ 1083569 h 4970606"/>
              <a:gd name="connsiteX7" fmla="*/ 1 w 1475491"/>
              <a:gd name="connsiteY7" fmla="*/ 1083569 h 4970606"/>
              <a:gd name="connsiteX8" fmla="*/ 1 w 1475491"/>
              <a:gd name="connsiteY8" fmla="*/ 737745 h 4970606"/>
              <a:gd name="connsiteX9" fmla="*/ 737746 w 1475491"/>
              <a:gd name="connsiteY9" fmla="*/ 0 h 497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75491" h="4970606">
                <a:moveTo>
                  <a:pt x="737746" y="0"/>
                </a:moveTo>
                <a:cubicBezTo>
                  <a:pt x="1145191" y="0"/>
                  <a:pt x="1475491" y="330300"/>
                  <a:pt x="1475491" y="737745"/>
                </a:cubicBezTo>
                <a:lnTo>
                  <a:pt x="1475490" y="1475490"/>
                </a:lnTo>
                <a:lnTo>
                  <a:pt x="1475489" y="1475490"/>
                </a:lnTo>
                <a:lnTo>
                  <a:pt x="1475489" y="4970606"/>
                </a:lnTo>
                <a:lnTo>
                  <a:pt x="0" y="4970606"/>
                </a:lnTo>
                <a:lnTo>
                  <a:pt x="0" y="1083569"/>
                </a:lnTo>
                <a:lnTo>
                  <a:pt x="1" y="1083569"/>
                </a:lnTo>
                <a:lnTo>
                  <a:pt x="1" y="737745"/>
                </a:lnTo>
                <a:cubicBezTo>
                  <a:pt x="1" y="330300"/>
                  <a:pt x="330301" y="0"/>
                  <a:pt x="737746" y="0"/>
                </a:cubicBezTo>
                <a:close/>
              </a:path>
            </a:pathLst>
          </a:custGeom>
          <a:solidFill>
            <a:srgbClr val="16B6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6665AF-1771-52F1-C621-35A253BF5272}"/>
              </a:ext>
            </a:extLst>
          </p:cNvPr>
          <p:cNvSpPr/>
          <p:nvPr/>
        </p:nvSpPr>
        <p:spPr>
          <a:xfrm>
            <a:off x="4711502" y="4400211"/>
            <a:ext cx="1520972" cy="7755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chemeClr val="bg1">
                    <a:lumMod val="50000"/>
                  </a:schemeClr>
                </a:solidFill>
              </a:rPr>
              <a:t>Tipos primitivos</a:t>
            </a: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EFF1212-A7CD-DA76-D5CF-3E764BFA1E2A}"/>
              </a:ext>
            </a:extLst>
          </p:cNvPr>
          <p:cNvGrpSpPr/>
          <p:nvPr/>
        </p:nvGrpSpPr>
        <p:grpSpPr>
          <a:xfrm>
            <a:off x="5042994" y="2897699"/>
            <a:ext cx="869133" cy="1015663"/>
            <a:chOff x="2752254" y="2512977"/>
            <a:chExt cx="869133" cy="1015663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F3B23B1-D410-015C-B81C-23603CDF31B4}"/>
                </a:ext>
              </a:extLst>
            </p:cNvPr>
            <p:cNvSpPr/>
            <p:nvPr/>
          </p:nvSpPr>
          <p:spPr>
            <a:xfrm>
              <a:off x="2752254" y="2593417"/>
              <a:ext cx="869133" cy="86913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989AE4C-4F65-AB67-5DC8-70EC31E40E8C}"/>
                </a:ext>
              </a:extLst>
            </p:cNvPr>
            <p:cNvSpPr txBox="1"/>
            <p:nvPr/>
          </p:nvSpPr>
          <p:spPr>
            <a:xfrm>
              <a:off x="2866831" y="2512977"/>
              <a:ext cx="61266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6000" dirty="0">
                  <a:solidFill>
                    <a:schemeClr val="bg1"/>
                  </a:solidFill>
                </a:rPr>
                <a:t>#</a:t>
              </a:r>
              <a:endParaRPr lang="en-US" sz="6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825A8F2-FD83-5601-BBD6-7BBE1FD99AD0}"/>
              </a:ext>
            </a:extLst>
          </p:cNvPr>
          <p:cNvGrpSpPr/>
          <p:nvPr/>
        </p:nvGrpSpPr>
        <p:grpSpPr>
          <a:xfrm>
            <a:off x="9745736" y="2978758"/>
            <a:ext cx="1394776" cy="2150144"/>
            <a:chOff x="10642029" y="2970964"/>
            <a:chExt cx="1394776" cy="215014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EF7A448-F738-66A4-0DF3-020FE47DBBE6}"/>
                </a:ext>
              </a:extLst>
            </p:cNvPr>
            <p:cNvSpPr/>
            <p:nvPr/>
          </p:nvSpPr>
          <p:spPr>
            <a:xfrm>
              <a:off x="10642029" y="4400211"/>
              <a:ext cx="1394776" cy="7208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000" dirty="0">
                  <a:solidFill>
                    <a:schemeClr val="bg1"/>
                  </a:solidFill>
                </a:rPr>
                <a:t>Clase Scanner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4E2F08B-8D11-E860-C3C9-E5DA13B3B4D4}"/>
                </a:ext>
              </a:extLst>
            </p:cNvPr>
            <p:cNvGrpSpPr/>
            <p:nvPr/>
          </p:nvGrpSpPr>
          <p:grpSpPr>
            <a:xfrm>
              <a:off x="10912225" y="2970964"/>
              <a:ext cx="869133" cy="869133"/>
              <a:chOff x="9319031" y="3126678"/>
              <a:chExt cx="869133" cy="869133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BB4AC442-A2D5-B702-09BA-86AC06615BD3}"/>
                  </a:ext>
                </a:extLst>
              </p:cNvPr>
              <p:cNvSpPr/>
              <p:nvPr/>
            </p:nvSpPr>
            <p:spPr>
              <a:xfrm>
                <a:off x="9319031" y="3126678"/>
                <a:ext cx="869133" cy="869133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dirty="0"/>
              </a:p>
            </p:txBody>
          </p:sp>
          <p:sp>
            <p:nvSpPr>
              <p:cNvPr id="21" name="Arrow: Bent-Up 20">
                <a:extLst>
                  <a:ext uri="{FF2B5EF4-FFF2-40B4-BE49-F238E27FC236}">
                    <a16:creationId xmlns:a16="http://schemas.microsoft.com/office/drawing/2014/main" id="{912AFB95-F357-7AAD-13C4-383705BA8387}"/>
                  </a:ext>
                </a:extLst>
              </p:cNvPr>
              <p:cNvSpPr/>
              <p:nvPr/>
            </p:nvSpPr>
            <p:spPr>
              <a:xfrm rot="5400000" flipV="1">
                <a:off x="9467154" y="3345484"/>
                <a:ext cx="514547" cy="442621"/>
              </a:xfrm>
              <a:prstGeom prst="bentUpArrow">
                <a:avLst>
                  <a:gd name="adj1" fmla="val 25000"/>
                  <a:gd name="adj2" fmla="val 25000"/>
                  <a:gd name="adj3" fmla="val 27151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632C414-0D6B-554E-2A2A-4F98EEA86A0A}"/>
              </a:ext>
            </a:extLst>
          </p:cNvPr>
          <p:cNvGrpSpPr/>
          <p:nvPr/>
        </p:nvGrpSpPr>
        <p:grpSpPr>
          <a:xfrm>
            <a:off x="8052896" y="2970964"/>
            <a:ext cx="1504888" cy="2886629"/>
            <a:chOff x="8313247" y="2970964"/>
            <a:chExt cx="1504888" cy="2886629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EBE1F74-77B5-9840-6AB5-F9B1151C0654}"/>
                </a:ext>
              </a:extLst>
            </p:cNvPr>
            <p:cNvSpPr/>
            <p:nvPr/>
          </p:nvSpPr>
          <p:spPr>
            <a:xfrm>
              <a:off x="8640656" y="2970964"/>
              <a:ext cx="869133" cy="86913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4800" dirty="0"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0</a:t>
              </a:r>
              <a:endParaRPr lang="en-US" sz="48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982981B-BA10-6B7A-C084-C2E9E65ADD9A}"/>
                </a:ext>
              </a:extLst>
            </p:cNvPr>
            <p:cNvSpPr/>
            <p:nvPr/>
          </p:nvSpPr>
          <p:spPr>
            <a:xfrm>
              <a:off x="8313247" y="4400211"/>
              <a:ext cx="1504888" cy="14573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Asignación </a:t>
              </a:r>
              <a:b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e </a:t>
              </a:r>
              <a:b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inicialización </a:t>
              </a:r>
              <a:b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de </a:t>
              </a:r>
              <a:b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variables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E95CE2D7-3EDA-DD29-01E3-261A40E05B88}"/>
              </a:ext>
            </a:extLst>
          </p:cNvPr>
          <p:cNvSpPr txBox="1"/>
          <p:nvPr/>
        </p:nvSpPr>
        <p:spPr>
          <a:xfrm>
            <a:off x="72424" y="6557018"/>
            <a:ext cx="60975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de: https://insights.dice.com/wp-content/uploads/2018/01/Freelance-Developer-Dice.jpeg</a:t>
            </a:r>
          </a:p>
        </p:txBody>
      </p:sp>
    </p:spTree>
    <p:extLst>
      <p:ext uri="{BB962C8B-B14F-4D97-AF65-F5344CB8AC3E}">
        <p14:creationId xmlns:p14="http://schemas.microsoft.com/office/powerpoint/2010/main" val="3245038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B54F9E4-73EC-5803-C251-20C8EB58177E}"/>
              </a:ext>
            </a:extLst>
          </p:cNvPr>
          <p:cNvSpPr/>
          <p:nvPr/>
        </p:nvSpPr>
        <p:spPr>
          <a:xfrm>
            <a:off x="-9053" y="-13580"/>
            <a:ext cx="12201053" cy="6871580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85277" h="6871580">
                <a:moveTo>
                  <a:pt x="0" y="3802455"/>
                </a:moveTo>
                <a:cubicBezTo>
                  <a:pt x="3063" y="4825497"/>
                  <a:pt x="6127" y="5848538"/>
                  <a:pt x="9190" y="6871580"/>
                </a:cubicBezTo>
                <a:lnTo>
                  <a:pt x="9587756" y="6871580"/>
                </a:lnTo>
                <a:cubicBezTo>
                  <a:pt x="10869490" y="5444149"/>
                  <a:pt x="11976608" y="4197789"/>
                  <a:pt x="12385277" y="2236205"/>
                </a:cubicBezTo>
                <a:lnTo>
                  <a:pt x="12385277" y="0"/>
                </a:lnTo>
                <a:lnTo>
                  <a:pt x="8265950" y="0"/>
                </a:lnTo>
                <a:cubicBezTo>
                  <a:pt x="8656733" y="4324539"/>
                  <a:pt x="2283555" y="4855675"/>
                  <a:pt x="0" y="3802455"/>
                </a:cubicBezTo>
                <a:close/>
              </a:path>
            </a:pathLst>
          </a:custGeom>
          <a:blipFill dpi="0" rotWithShape="1">
            <a:blip r:embed="rId3">
              <a:alphaModFix amt="1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600F7-1DA8-4B6F-94D5-F0D0A43E9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37398"/>
            <a:ext cx="9144000" cy="2858703"/>
          </a:xfrm>
        </p:spPr>
        <p:txBody>
          <a:bodyPr>
            <a:normAutofit/>
          </a:bodyPr>
          <a:lstStyle/>
          <a:p>
            <a:r>
              <a:rPr lang="es-ES" dirty="0"/>
              <a:t>Tipos de Datos, Operadores y Entrada de Datos (II)</a:t>
            </a:r>
            <a:endParaRPr lang="en-US" dirty="0"/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E247A2F9-4563-478E-8DFD-30ED01F70E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s-P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77C684-06B1-44CA-9235-D863CE038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5181"/>
            <a:ext cx="10515600" cy="785528"/>
          </a:xfrm>
        </p:spPr>
        <p:txBody>
          <a:bodyPr/>
          <a:lstStyle/>
          <a:p>
            <a:r>
              <a:rPr lang="es-ES" dirty="0"/>
              <a:t>Conocimientos previos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BE97547-6358-4D01-A970-DA2F4BB592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1484768"/>
            <a:ext cx="4919804" cy="4735057"/>
          </a:xfrm>
        </p:spPr>
        <p:txBody>
          <a:bodyPr>
            <a:noAutofit/>
          </a:bodyPr>
          <a:lstStyle/>
          <a:p>
            <a:pPr marL="50800" indent="0">
              <a:buNone/>
            </a:pPr>
            <a:r>
              <a:rPr lang="es-ES" dirty="0"/>
              <a:t>Observa la imagen y completa la tabla: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D4DF39-413F-41FB-80F6-1CF57DEA7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7</a:t>
            </a:fld>
            <a:endParaRPr lang="es-PE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AACC329-DB00-F350-B7ED-C387EEB72C0F}"/>
              </a:ext>
            </a:extLst>
          </p:cNvPr>
          <p:cNvGrpSpPr/>
          <p:nvPr/>
        </p:nvGrpSpPr>
        <p:grpSpPr>
          <a:xfrm>
            <a:off x="6088078" y="1792580"/>
            <a:ext cx="5894938" cy="4394489"/>
            <a:chOff x="6088078" y="1348965"/>
            <a:chExt cx="5894938" cy="439448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654DEFE-473C-314C-4D2C-4436EB4AF996}"/>
                </a:ext>
              </a:extLst>
            </p:cNvPr>
            <p:cNvSpPr/>
            <p:nvPr/>
          </p:nvSpPr>
          <p:spPr>
            <a:xfrm>
              <a:off x="6088078" y="1348965"/>
              <a:ext cx="5808175" cy="4394489"/>
            </a:xfrm>
            <a:prstGeom prst="roundRect">
              <a:avLst>
                <a:gd name="adj" fmla="val 293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8BB45A7-4CAF-636C-0495-36EB86C48965}"/>
                </a:ext>
              </a:extLst>
            </p:cNvPr>
            <p:cNvSpPr/>
            <p:nvPr/>
          </p:nvSpPr>
          <p:spPr>
            <a:xfrm>
              <a:off x="8455937" y="3585173"/>
              <a:ext cx="154663" cy="244444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36ED3774-0CD9-1133-F366-CFD1A7DDB229}"/>
                </a:ext>
              </a:extLst>
            </p:cNvPr>
            <p:cNvSpPr/>
            <p:nvPr/>
          </p:nvSpPr>
          <p:spPr>
            <a:xfrm>
              <a:off x="9964094" y="3594226"/>
              <a:ext cx="154663" cy="244444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D793CC0-6D33-200F-9666-7E54695E7343}"/>
                </a:ext>
              </a:extLst>
            </p:cNvPr>
            <p:cNvSpPr/>
            <p:nvPr/>
          </p:nvSpPr>
          <p:spPr>
            <a:xfrm>
              <a:off x="8799968" y="3585173"/>
              <a:ext cx="154663" cy="244444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8478605D-37BB-CC9F-A724-82C2BFE99CFC}"/>
                </a:ext>
              </a:extLst>
            </p:cNvPr>
            <p:cNvSpPr/>
            <p:nvPr/>
          </p:nvSpPr>
          <p:spPr>
            <a:xfrm>
              <a:off x="10447700" y="4546724"/>
              <a:ext cx="154663" cy="244444"/>
            </a:xfrm>
            <a:prstGeom prst="roundRect">
              <a:avLst/>
            </a:prstGeom>
            <a:solidFill>
              <a:srgbClr val="AFD5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49D4493B-1149-8CF8-05CE-36FC4107C477}"/>
                </a:ext>
              </a:extLst>
            </p:cNvPr>
            <p:cNvSpPr/>
            <p:nvPr/>
          </p:nvSpPr>
          <p:spPr>
            <a:xfrm>
              <a:off x="11042964" y="4546724"/>
              <a:ext cx="154663" cy="244444"/>
            </a:xfrm>
            <a:prstGeom prst="roundRect">
              <a:avLst/>
            </a:prstGeom>
            <a:solidFill>
              <a:srgbClr val="AFD5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3CF9ABB1-50D3-B563-D175-A22E5EC6524D}"/>
                </a:ext>
              </a:extLst>
            </p:cNvPr>
            <p:cNvSpPr/>
            <p:nvPr/>
          </p:nvSpPr>
          <p:spPr>
            <a:xfrm>
              <a:off x="9539711" y="4546724"/>
              <a:ext cx="485494" cy="244444"/>
            </a:xfrm>
            <a:prstGeom prst="roundRect">
              <a:avLst/>
            </a:prstGeom>
            <a:solidFill>
              <a:srgbClr val="FF8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AC5F95B9-4A08-A70A-884A-599584221F8B}"/>
                </a:ext>
              </a:extLst>
            </p:cNvPr>
            <p:cNvSpPr/>
            <p:nvPr/>
          </p:nvSpPr>
          <p:spPr>
            <a:xfrm>
              <a:off x="7103199" y="3404947"/>
              <a:ext cx="2922006" cy="202020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A34EAF7-BCE7-647B-AED5-F391CACE4B69}"/>
                </a:ext>
              </a:extLst>
            </p:cNvPr>
            <p:cNvSpPr txBox="1"/>
            <p:nvPr/>
          </p:nvSpPr>
          <p:spPr>
            <a:xfrm>
              <a:off x="6096000" y="1410460"/>
              <a:ext cx="5887016" cy="4240580"/>
            </a:xfrm>
            <a:prstGeom prst="roundRect">
              <a:avLst>
                <a:gd name="adj" fmla="val 3884"/>
              </a:avLst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lang="en-US" sz="1100" b="1" dirty="0" err="1">
                  <a:solidFill>
                    <a:schemeClr val="accent5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Proceso</a:t>
              </a: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lang="en-US" sz="1100" dirty="0" err="1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CalculoPromedio</a:t>
              </a:r>
              <a:endParaRPr lang="en-US" sz="11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  <a:p>
              <a:pPr>
                <a:spcAft>
                  <a:spcPts val="200"/>
                </a:spcAft>
              </a:pP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	</a:t>
              </a:r>
              <a:r>
                <a:rPr lang="en-US" sz="1100" b="1" dirty="0" err="1">
                  <a:solidFill>
                    <a:schemeClr val="accent5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Definir</a:t>
              </a: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lang="en-US" sz="1100" dirty="0" err="1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numeroHijos</a:t>
              </a: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, </a:t>
              </a:r>
              <a:r>
                <a:rPr lang="en-US" sz="1100" dirty="0" err="1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mesesTrabajo</a:t>
              </a: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lang="en-US" sz="1100" b="1" dirty="0">
                  <a:solidFill>
                    <a:schemeClr val="accent5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Como</a:t>
              </a: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lang="en-US" sz="1100" b="1" dirty="0" err="1">
                  <a:solidFill>
                    <a:schemeClr val="accent5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Entero</a:t>
              </a:r>
              <a:endParaRPr lang="en-US" sz="1100" b="1" dirty="0">
                <a:solidFill>
                  <a:schemeClr val="accent5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  <a:p>
              <a:pPr>
                <a:spcAft>
                  <a:spcPts val="200"/>
                </a:spcAft>
              </a:pP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	</a:t>
              </a:r>
              <a:r>
                <a:rPr lang="en-US" sz="1100" b="1" dirty="0" err="1">
                  <a:solidFill>
                    <a:schemeClr val="accent5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Definir</a:t>
              </a: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bono </a:t>
              </a:r>
              <a:r>
                <a:rPr lang="en-US" sz="1100" b="1" dirty="0">
                  <a:solidFill>
                    <a:schemeClr val="accent5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Como</a:t>
              </a: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lang="en-US" sz="1100" b="1" dirty="0">
                  <a:solidFill>
                    <a:schemeClr val="accent5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Real</a:t>
              </a:r>
            </a:p>
            <a:p>
              <a:pPr>
                <a:spcAft>
                  <a:spcPts val="200"/>
                </a:spcAft>
              </a:pP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	</a:t>
              </a:r>
            </a:p>
            <a:p>
              <a:pPr>
                <a:spcAft>
                  <a:spcPts val="200"/>
                </a:spcAft>
              </a:pP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	</a:t>
              </a:r>
              <a:r>
                <a:rPr lang="en-US" sz="1100" b="1" dirty="0" err="1">
                  <a:solidFill>
                    <a:schemeClr val="accent5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Escribir</a:t>
              </a: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lang="en-US" sz="1100" dirty="0">
                  <a:solidFill>
                    <a:schemeClr val="accent6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"</a:t>
              </a:r>
              <a:r>
                <a:rPr lang="en-US" sz="1100" dirty="0" err="1">
                  <a:solidFill>
                    <a:schemeClr val="accent6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Ingrese</a:t>
              </a:r>
              <a:r>
                <a:rPr lang="en-US" sz="1100" dirty="0">
                  <a:solidFill>
                    <a:schemeClr val="accent6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lang="en-US" sz="1100" dirty="0" err="1">
                  <a:solidFill>
                    <a:schemeClr val="accent6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número</a:t>
              </a:r>
              <a:r>
                <a:rPr lang="en-US" sz="1100" dirty="0">
                  <a:solidFill>
                    <a:schemeClr val="accent6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de </a:t>
              </a:r>
              <a:r>
                <a:rPr lang="en-US" sz="1100" dirty="0" err="1">
                  <a:solidFill>
                    <a:schemeClr val="accent6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hijos</a:t>
              </a:r>
              <a:r>
                <a:rPr lang="en-US" sz="1100" dirty="0">
                  <a:solidFill>
                    <a:schemeClr val="accent6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: "</a:t>
              </a:r>
            </a:p>
            <a:p>
              <a:pPr>
                <a:spcAft>
                  <a:spcPts val="200"/>
                </a:spcAft>
              </a:pP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	</a:t>
              </a:r>
              <a:r>
                <a:rPr lang="en-US" sz="1100" b="1" dirty="0">
                  <a:solidFill>
                    <a:schemeClr val="accent5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Leer</a:t>
              </a: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lang="en-US" sz="1100" dirty="0" err="1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numeroHijos</a:t>
              </a:r>
              <a:endParaRPr lang="en-US" sz="11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  <a:p>
              <a:pPr>
                <a:spcAft>
                  <a:spcPts val="200"/>
                </a:spcAft>
              </a:pP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	</a:t>
              </a:r>
            </a:p>
            <a:p>
              <a:pPr>
                <a:spcAft>
                  <a:spcPts val="200"/>
                </a:spcAft>
              </a:pP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	</a:t>
              </a:r>
              <a:r>
                <a:rPr lang="en-US" sz="1100" b="1" dirty="0" err="1">
                  <a:solidFill>
                    <a:schemeClr val="accent5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Escribir</a:t>
              </a: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lang="en-US" sz="1100" dirty="0">
                  <a:solidFill>
                    <a:schemeClr val="accent6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"</a:t>
              </a:r>
              <a:r>
                <a:rPr lang="en-US" sz="1100" dirty="0" err="1">
                  <a:solidFill>
                    <a:schemeClr val="accent6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Ingrese</a:t>
              </a:r>
              <a:r>
                <a:rPr lang="en-US" sz="1100" dirty="0">
                  <a:solidFill>
                    <a:schemeClr val="accent6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lang="en-US" sz="1100" dirty="0" err="1">
                  <a:solidFill>
                    <a:schemeClr val="accent6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número</a:t>
              </a:r>
              <a:r>
                <a:rPr lang="en-US" sz="1100" dirty="0">
                  <a:solidFill>
                    <a:schemeClr val="accent6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meses </a:t>
              </a:r>
              <a:r>
                <a:rPr lang="en-US" sz="1100" dirty="0" err="1">
                  <a:solidFill>
                    <a:schemeClr val="accent6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en</a:t>
              </a:r>
              <a:r>
                <a:rPr lang="en-US" sz="1100" dirty="0">
                  <a:solidFill>
                    <a:schemeClr val="accent6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la </a:t>
              </a:r>
              <a:r>
                <a:rPr lang="en-US" sz="1100" dirty="0" err="1">
                  <a:solidFill>
                    <a:schemeClr val="accent6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empresa</a:t>
              </a:r>
              <a:r>
                <a:rPr lang="en-US" sz="1100" dirty="0">
                  <a:solidFill>
                    <a:schemeClr val="accent6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: "</a:t>
              </a:r>
            </a:p>
            <a:p>
              <a:pPr>
                <a:spcAft>
                  <a:spcPts val="200"/>
                </a:spcAft>
              </a:pP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	</a:t>
              </a:r>
              <a:r>
                <a:rPr lang="en-US" sz="1100" b="1" dirty="0">
                  <a:solidFill>
                    <a:schemeClr val="accent5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Leer</a:t>
              </a: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lang="en-US" sz="1100" dirty="0" err="1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mesesTrabajo</a:t>
              </a:r>
              <a:endParaRPr lang="en-US" sz="11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  <a:p>
              <a:pPr>
                <a:spcAft>
                  <a:spcPts val="200"/>
                </a:spcAft>
              </a:pP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	</a:t>
              </a:r>
            </a:p>
            <a:p>
              <a:pPr>
                <a:spcAft>
                  <a:spcPts val="200"/>
                </a:spcAft>
              </a:pPr>
              <a:r>
                <a:rPr lang="en-US" sz="1100" i="1" dirty="0">
                  <a:solidFill>
                    <a:schemeClr val="bg1">
                      <a:lumMod val="65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       // </a:t>
              </a:r>
              <a:r>
                <a:rPr lang="en-US" sz="1100" i="1" dirty="0" err="1">
                  <a:solidFill>
                    <a:schemeClr val="bg1">
                      <a:lumMod val="65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validamos</a:t>
              </a:r>
              <a:r>
                <a:rPr lang="en-US" sz="1100" i="1" dirty="0">
                  <a:solidFill>
                    <a:schemeClr val="bg1">
                      <a:lumMod val="65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lang="en-US" sz="1100" i="1" dirty="0" err="1">
                  <a:solidFill>
                    <a:schemeClr val="bg1">
                      <a:lumMod val="65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los</a:t>
              </a:r>
              <a:r>
                <a:rPr lang="en-US" sz="1100" i="1" dirty="0">
                  <a:solidFill>
                    <a:schemeClr val="bg1">
                      <a:lumMod val="65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lang="en-US" sz="1100" i="1" dirty="0" err="1">
                  <a:solidFill>
                    <a:schemeClr val="bg1">
                      <a:lumMod val="65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datos</a:t>
              </a:r>
              <a:r>
                <a:rPr lang="en-US" sz="1100" i="1" dirty="0">
                  <a:solidFill>
                    <a:schemeClr val="bg1">
                      <a:lumMod val="65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lang="en-US" sz="1100" i="1" dirty="0" err="1">
                  <a:solidFill>
                    <a:schemeClr val="bg1">
                      <a:lumMod val="65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ingresados</a:t>
              </a:r>
              <a:endParaRPr lang="en-US" sz="1100" i="1" dirty="0"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  <a:p>
              <a:pPr>
                <a:spcAft>
                  <a:spcPts val="200"/>
                </a:spcAft>
              </a:pP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	</a:t>
              </a:r>
              <a:r>
                <a:rPr lang="en-US" sz="1100" b="1" dirty="0">
                  <a:solidFill>
                    <a:schemeClr val="accent5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Si</a:t>
              </a: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lang="en-US" sz="1100" dirty="0" err="1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mesesTrabajo</a:t>
              </a: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&gt; 6 Y </a:t>
              </a:r>
              <a:r>
                <a:rPr lang="en-US" sz="1100" dirty="0" err="1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numeroHijos</a:t>
              </a: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&gt; 0 </a:t>
              </a:r>
              <a:r>
                <a:rPr lang="en-US" sz="1100" b="1" dirty="0" err="1">
                  <a:solidFill>
                    <a:schemeClr val="accent5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Entonces</a:t>
              </a:r>
              <a:endParaRPr lang="en-US" sz="1100" b="1" dirty="0">
                <a:solidFill>
                  <a:schemeClr val="accent5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  <a:p>
              <a:pPr>
                <a:spcAft>
                  <a:spcPts val="200"/>
                </a:spcAft>
              </a:pP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		</a:t>
              </a:r>
              <a:r>
                <a:rPr lang="en-US" sz="1100" b="1" dirty="0" err="1">
                  <a:solidFill>
                    <a:schemeClr val="accent5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Escribir</a:t>
              </a: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lang="en-US" sz="1100" dirty="0">
                  <a:solidFill>
                    <a:schemeClr val="accent6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"</a:t>
              </a:r>
              <a:r>
                <a:rPr lang="en-US" sz="1100" dirty="0" err="1">
                  <a:solidFill>
                    <a:schemeClr val="accent6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Recibe</a:t>
              </a:r>
              <a:r>
                <a:rPr lang="en-US" sz="1100" dirty="0">
                  <a:solidFill>
                    <a:schemeClr val="accent6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bono de </a:t>
              </a:r>
              <a:r>
                <a:rPr lang="en-US" sz="1100" dirty="0" err="1">
                  <a:solidFill>
                    <a:schemeClr val="accent6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escolaridad</a:t>
              </a:r>
              <a:r>
                <a:rPr lang="en-US" sz="1100" dirty="0">
                  <a:solidFill>
                    <a:schemeClr val="accent6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"</a:t>
              </a:r>
              <a:endParaRPr lang="en-US" sz="11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  <a:p>
              <a:pPr>
                <a:spcAft>
                  <a:spcPts val="200"/>
                </a:spcAft>
              </a:pP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		bono = 600</a:t>
              </a:r>
            </a:p>
            <a:p>
              <a:pPr>
                <a:spcAft>
                  <a:spcPts val="200"/>
                </a:spcAft>
              </a:pP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		</a:t>
              </a:r>
            </a:p>
            <a:p>
              <a:pPr>
                <a:spcAft>
                  <a:spcPts val="200"/>
                </a:spcAft>
              </a:pP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		</a:t>
              </a:r>
              <a:r>
                <a:rPr lang="en-US" sz="1100" b="1" dirty="0">
                  <a:solidFill>
                    <a:schemeClr val="accent5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Si</a:t>
              </a: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(</a:t>
              </a:r>
              <a:r>
                <a:rPr lang="en-US" sz="1100" dirty="0" err="1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numeroHijos</a:t>
              </a: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&gt; 2) </a:t>
              </a:r>
              <a:r>
                <a:rPr lang="en-US" sz="1100" b="1" dirty="0" err="1">
                  <a:solidFill>
                    <a:schemeClr val="accent5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Entonces</a:t>
              </a:r>
              <a:endParaRPr lang="en-US" sz="1100" b="1" dirty="0">
                <a:solidFill>
                  <a:schemeClr val="accent5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  <a:p>
              <a:pPr>
                <a:spcAft>
                  <a:spcPts val="200"/>
                </a:spcAft>
              </a:pP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			bono = </a:t>
              </a:r>
              <a:r>
                <a:rPr lang="en-US" sz="1100" dirty="0">
                  <a:solidFill>
                    <a:schemeClr val="tx2">
                      <a:lumMod val="25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redon</a:t>
              </a: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(bono + bono * 0.35)</a:t>
              </a:r>
            </a:p>
            <a:p>
              <a:pPr>
                <a:spcAft>
                  <a:spcPts val="200"/>
                </a:spcAft>
              </a:pP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		</a:t>
              </a:r>
              <a:r>
                <a:rPr lang="en-US" sz="1100" b="1" dirty="0" err="1">
                  <a:solidFill>
                    <a:schemeClr val="accent5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FinSi</a:t>
              </a:r>
              <a:endParaRPr lang="en-US" sz="1100" b="1" dirty="0">
                <a:solidFill>
                  <a:schemeClr val="accent5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  <a:p>
              <a:pPr>
                <a:spcAft>
                  <a:spcPts val="200"/>
                </a:spcAft>
              </a:pP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	</a:t>
              </a:r>
              <a:r>
                <a:rPr lang="en-US" sz="1100" b="1" dirty="0" err="1">
                  <a:solidFill>
                    <a:schemeClr val="accent5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FinSi</a:t>
              </a:r>
              <a:endParaRPr lang="en-US" sz="1100" b="1" dirty="0">
                <a:solidFill>
                  <a:schemeClr val="accent5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  <a:p>
              <a:pPr>
                <a:spcAft>
                  <a:spcPts val="200"/>
                </a:spcAft>
              </a:pP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	</a:t>
              </a:r>
            </a:p>
            <a:p>
              <a:pPr>
                <a:spcAft>
                  <a:spcPts val="200"/>
                </a:spcAft>
              </a:pPr>
              <a:r>
                <a:rPr lang="en-US" sz="1100" b="1" dirty="0" err="1">
                  <a:solidFill>
                    <a:schemeClr val="accent5"/>
                  </a:solidFill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FinProceso</a:t>
              </a:r>
              <a:endParaRPr lang="en-US" sz="1100" b="1" dirty="0">
                <a:solidFill>
                  <a:schemeClr val="accent5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</p:grpSp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A09B3287-DE91-BCB4-5A37-195311F1FE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869230"/>
              </p:ext>
            </p:extLst>
          </p:nvPr>
        </p:nvGraphicFramePr>
        <p:xfrm>
          <a:off x="971110" y="2862752"/>
          <a:ext cx="4587718" cy="321194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201722">
                  <a:extLst>
                    <a:ext uri="{9D8B030D-6E8A-4147-A177-3AD203B41FA5}">
                      <a16:colId xmlns:a16="http://schemas.microsoft.com/office/drawing/2014/main" val="3580359331"/>
                    </a:ext>
                  </a:extLst>
                </a:gridCol>
                <a:gridCol w="3385996">
                  <a:extLst>
                    <a:ext uri="{9D8B030D-6E8A-4147-A177-3AD203B41FA5}">
                      <a16:colId xmlns:a16="http://schemas.microsoft.com/office/drawing/2014/main" val="17741349"/>
                    </a:ext>
                  </a:extLst>
                </a:gridCol>
              </a:tblGrid>
              <a:tr h="423656"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Color</a:t>
                      </a:r>
                      <a:endParaRPr lang="en-US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Tipo de elemento</a:t>
                      </a:r>
                      <a:endParaRPr lang="en-US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445071"/>
                  </a:ext>
                </a:extLst>
              </a:tr>
              <a:tr h="55765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285907"/>
                  </a:ext>
                </a:extLst>
              </a:tr>
              <a:tr h="55765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798737"/>
                  </a:ext>
                </a:extLst>
              </a:tr>
              <a:tr h="55765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938353"/>
                  </a:ext>
                </a:extLst>
              </a:tr>
              <a:tr h="55765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600858"/>
                  </a:ext>
                </a:extLst>
              </a:tr>
              <a:tr h="55765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758700"/>
                  </a:ext>
                </a:extLst>
              </a:tr>
            </a:tbl>
          </a:graphicData>
        </a:graphic>
      </p:graphicFrame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EE1340F-F17A-9B31-93D4-517B9F72BB9F}"/>
              </a:ext>
            </a:extLst>
          </p:cNvPr>
          <p:cNvSpPr/>
          <p:nvPr/>
        </p:nvSpPr>
        <p:spPr>
          <a:xfrm>
            <a:off x="1244834" y="3394948"/>
            <a:ext cx="642835" cy="34029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5219FD2-8F1D-4CA1-26FB-0DDAC08BBFA1}"/>
              </a:ext>
            </a:extLst>
          </p:cNvPr>
          <p:cNvSpPr/>
          <p:nvPr/>
        </p:nvSpPr>
        <p:spPr>
          <a:xfrm>
            <a:off x="1244833" y="3960004"/>
            <a:ext cx="642835" cy="340296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9CF2F99-87C4-2C87-3793-7E001ADAD23E}"/>
              </a:ext>
            </a:extLst>
          </p:cNvPr>
          <p:cNvSpPr/>
          <p:nvPr/>
        </p:nvSpPr>
        <p:spPr>
          <a:xfrm>
            <a:off x="1244834" y="4535882"/>
            <a:ext cx="642835" cy="340296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B8634C7-5390-95B5-8779-FB097AED802D}"/>
              </a:ext>
            </a:extLst>
          </p:cNvPr>
          <p:cNvSpPr/>
          <p:nvPr/>
        </p:nvSpPr>
        <p:spPr>
          <a:xfrm>
            <a:off x="1244833" y="5100938"/>
            <a:ext cx="642835" cy="340296"/>
          </a:xfrm>
          <a:prstGeom prst="roundRect">
            <a:avLst/>
          </a:prstGeom>
          <a:solidFill>
            <a:srgbClr val="8FC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0536A4F-327B-C712-FCA0-F7F3F0B1F276}"/>
              </a:ext>
            </a:extLst>
          </p:cNvPr>
          <p:cNvSpPr/>
          <p:nvPr/>
        </p:nvSpPr>
        <p:spPr>
          <a:xfrm>
            <a:off x="1244833" y="5629346"/>
            <a:ext cx="642835" cy="340296"/>
          </a:xfrm>
          <a:prstGeom prst="roundRect">
            <a:avLst/>
          </a:prstGeom>
          <a:solidFill>
            <a:srgbClr val="FF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69663EF-11A0-076A-5A30-E347E0D1D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7627" y="920103"/>
            <a:ext cx="745401" cy="730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F7B0424-13E9-17D5-303C-3898AE35A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38644" y="1045027"/>
            <a:ext cx="5253356" cy="52533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61FBA0-0CED-4DB2-9F90-291CADA87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Logro de aprendizaje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7DCA-ED6E-428D-A48F-1565A2EA97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6105808" cy="4373562"/>
          </a:xfrm>
        </p:spPr>
        <p:txBody>
          <a:bodyPr>
            <a:normAutofit/>
          </a:bodyPr>
          <a:lstStyle/>
          <a:p>
            <a:pPr marL="50800" indent="0">
              <a:lnSpc>
                <a:spcPct val="100000"/>
              </a:lnSpc>
              <a:buNone/>
            </a:pPr>
            <a:r>
              <a:rPr lang="es-ES" dirty="0">
                <a:solidFill>
                  <a:srgbClr val="00B050"/>
                </a:solidFill>
              </a:rPr>
              <a:t>Al finalizar la sesión, </a:t>
            </a:r>
            <a:r>
              <a:rPr lang="es-ES" dirty="0">
                <a:solidFill>
                  <a:schemeClr val="accent2"/>
                </a:solidFill>
              </a:rPr>
              <a:t>el estudiante</a:t>
            </a:r>
            <a:r>
              <a:rPr lang="es-ES" dirty="0">
                <a:solidFill>
                  <a:srgbClr val="00B050"/>
                </a:solidFill>
              </a:rPr>
              <a:t> </a:t>
            </a:r>
            <a:r>
              <a:rPr lang="es-ES" dirty="0">
                <a:solidFill>
                  <a:schemeClr val="accent1"/>
                </a:solidFill>
              </a:rPr>
              <a:t>desarrolla</a:t>
            </a:r>
            <a:r>
              <a:rPr lang="es-ES" dirty="0">
                <a:solidFill>
                  <a:srgbClr val="00B050"/>
                </a:solidFill>
              </a:rPr>
              <a:t> </a:t>
            </a:r>
            <a:r>
              <a:rPr lang="es-ES" dirty="0">
                <a:solidFill>
                  <a:schemeClr val="accent4"/>
                </a:solidFill>
              </a:rPr>
              <a:t>programas utilizando lectura desde teclado, datos primitivos y operadores</a:t>
            </a:r>
            <a:r>
              <a:rPr lang="es-ES" dirty="0">
                <a:solidFill>
                  <a:srgbClr val="00B050"/>
                </a:solidFill>
              </a:rPr>
              <a:t> </a:t>
            </a:r>
            <a:r>
              <a:rPr lang="es-ES" dirty="0">
                <a:solidFill>
                  <a:srgbClr val="C00000"/>
                </a:solidFill>
              </a:rPr>
              <a:t>mediante el uso del IDE Java</a:t>
            </a:r>
            <a:r>
              <a:rPr lang="es-ES" dirty="0">
                <a:solidFill>
                  <a:srgbClr val="00B050"/>
                </a:solidFill>
              </a:rPr>
              <a:t> </a:t>
            </a:r>
            <a:r>
              <a:rPr lang="es-ES" dirty="0">
                <a:solidFill>
                  <a:srgbClr val="7030A0"/>
                </a:solidFill>
              </a:rPr>
              <a:t>para resolver problemas sencillos con operaciones lógicas y relacionales.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BAA4A-C973-4872-991F-677E20FF8B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8</a:t>
            </a:fld>
            <a:endParaRPr lang="es-P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DFA50-2D5F-464F-91EF-0F1911F9CA8D}"/>
              </a:ext>
            </a:extLst>
          </p:cNvPr>
          <p:cNvSpPr txBox="1"/>
          <p:nvPr/>
        </p:nvSpPr>
        <p:spPr>
          <a:xfrm>
            <a:off x="126748" y="6376940"/>
            <a:ext cx="1058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3"/>
                </a:solidFill>
              </a:rPr>
              <a:t>Imagen </a:t>
            </a:r>
            <a:r>
              <a:rPr lang="en-US" sz="900" dirty="0" err="1">
                <a:solidFill>
                  <a:schemeClr val="accent3"/>
                </a:solidFill>
              </a:rPr>
              <a:t>obtenida</a:t>
            </a:r>
            <a:r>
              <a:rPr lang="en-US" sz="900" dirty="0">
                <a:solidFill>
                  <a:schemeClr val="accent3"/>
                </a:solidFill>
              </a:rPr>
              <a:t> de:</a:t>
            </a:r>
            <a:br>
              <a:rPr lang="en-US" sz="900" dirty="0">
                <a:solidFill>
                  <a:schemeClr val="accent3"/>
                </a:solidFill>
              </a:rPr>
            </a:br>
            <a:r>
              <a:rPr lang="en-US" sz="900" dirty="0">
                <a:solidFill>
                  <a:schemeClr val="accent3"/>
                </a:solidFill>
              </a:rPr>
              <a:t>https://img.freepik.com/free-vector/clever-man-student-standing-books-stack-with-flag-self-learning-personal-improvement-knowledge-obtaining-educational-achievement_335657-3461.jpg</a:t>
            </a:r>
          </a:p>
        </p:txBody>
      </p:sp>
    </p:spTree>
    <p:extLst>
      <p:ext uri="{BB962C8B-B14F-4D97-AF65-F5344CB8AC3E}">
        <p14:creationId xmlns:p14="http://schemas.microsoft.com/office/powerpoint/2010/main" val="294817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D87FA7-0550-8D5B-34FB-FECF2503B04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</a:blip>
          <a:srcRect r="15589"/>
          <a:stretch/>
        </p:blipFill>
        <p:spPr>
          <a:xfrm>
            <a:off x="8112869" y="3575181"/>
            <a:ext cx="4079131" cy="328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2B7613-AEC1-4435-8375-CCB96C0E8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Utilidad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C16D3-358F-4224-9D29-22D3C58B56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9</a:t>
            </a:fld>
            <a:endParaRPr lang="es-PE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C378254-1DCE-E852-BEB1-333FE86E811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7644897" cy="3377587"/>
          </a:xfrm>
        </p:spPr>
        <p:txBody>
          <a:bodyPr>
            <a:normAutofit/>
          </a:bodyPr>
          <a:lstStyle/>
          <a:p>
            <a:r>
              <a:rPr lang="es-ES" dirty="0"/>
              <a:t>¿Qué muestra la imagen?</a:t>
            </a:r>
          </a:p>
          <a:p>
            <a:r>
              <a:rPr lang="es-ES" dirty="0"/>
              <a:t>¿Has visto este tipo de reportes? ¿En qué casos?</a:t>
            </a:r>
          </a:p>
          <a:p>
            <a:r>
              <a:rPr lang="en-US" dirty="0"/>
              <a:t>¿</a:t>
            </a:r>
            <a:r>
              <a:rPr lang="en-US" dirty="0" err="1"/>
              <a:t>Cómo</a:t>
            </a:r>
            <a:r>
              <a:rPr lang="en-US" dirty="0"/>
              <a:t> </a:t>
            </a:r>
            <a:r>
              <a:rPr lang="en-US" dirty="0" err="1"/>
              <a:t>crees</a:t>
            </a:r>
            <a:r>
              <a:rPr lang="en-US" dirty="0"/>
              <a:t> que se genera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tipo</a:t>
            </a:r>
            <a:r>
              <a:rPr lang="en-US" dirty="0"/>
              <a:t> de </a:t>
            </a:r>
            <a:r>
              <a:rPr lang="en-US" dirty="0" err="1"/>
              <a:t>reportes</a:t>
            </a:r>
            <a:r>
              <a:rPr lang="en-US" dirty="0"/>
              <a:t>?</a:t>
            </a:r>
          </a:p>
          <a:p>
            <a:r>
              <a:rPr lang="en-US" dirty="0"/>
              <a:t>¿</a:t>
            </a:r>
            <a:r>
              <a:rPr lang="en-US" dirty="0" err="1"/>
              <a:t>Consideras</a:t>
            </a:r>
            <a:r>
              <a:rPr lang="en-US" dirty="0"/>
              <a:t> que son </a:t>
            </a:r>
            <a:r>
              <a:rPr lang="en-US" dirty="0" err="1"/>
              <a:t>útiles</a:t>
            </a:r>
            <a:r>
              <a:rPr lang="en-US" dirty="0"/>
              <a:t>/</a:t>
            </a:r>
            <a:r>
              <a:rPr lang="en-US" dirty="0" err="1"/>
              <a:t>prácticos</a:t>
            </a:r>
            <a:r>
              <a:rPr lang="en-US" dirty="0"/>
              <a:t>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9A14EEF-0450-12B8-0728-235C53BC64D0}"/>
              </a:ext>
            </a:extLst>
          </p:cNvPr>
          <p:cNvGrpSpPr/>
          <p:nvPr/>
        </p:nvGrpSpPr>
        <p:grpSpPr>
          <a:xfrm>
            <a:off x="8781861" y="1846263"/>
            <a:ext cx="2743200" cy="4092810"/>
            <a:chOff x="8781861" y="1846263"/>
            <a:chExt cx="2743200" cy="409281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C6FB224-4A04-2D9B-E8B5-2FBE279D722E}"/>
                </a:ext>
              </a:extLst>
            </p:cNvPr>
            <p:cNvSpPr/>
            <p:nvPr/>
          </p:nvSpPr>
          <p:spPr>
            <a:xfrm>
              <a:off x="8781861" y="1846263"/>
              <a:ext cx="2743200" cy="40928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AD198EE6-1102-0650-4CCB-DDB64CB9CB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5" r="1"/>
            <a:stretch/>
          </p:blipFill>
          <p:spPr bwMode="auto">
            <a:xfrm>
              <a:off x="8953875" y="2097150"/>
              <a:ext cx="2427083" cy="35147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D5A9BBA-17E0-A72D-51DD-816280634240}"/>
              </a:ext>
            </a:extLst>
          </p:cNvPr>
          <p:cNvSpPr txBox="1"/>
          <p:nvPr/>
        </p:nvSpPr>
        <p:spPr>
          <a:xfrm>
            <a:off x="1331822" y="5402243"/>
            <a:ext cx="713467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800" indent="0">
              <a:buNone/>
            </a:pPr>
            <a:r>
              <a:rPr lang="en-US" sz="2800" dirty="0" err="1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Programar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>
                <a:solidFill>
                  <a:srgbClr val="00B050"/>
                </a:solidFill>
                <a:latin typeface="Helvetica" pitchFamily="2" charset="0"/>
              </a:rPr>
              <a:t>la entrada y </a:t>
            </a:r>
            <a:r>
              <a:rPr lang="en-US" sz="2800" dirty="0" err="1">
                <a:solidFill>
                  <a:srgbClr val="00B050"/>
                </a:solidFill>
                <a:latin typeface="Helvetica" pitchFamily="2" charset="0"/>
              </a:rPr>
              <a:t>salida</a:t>
            </a:r>
            <a:r>
              <a:rPr lang="en-US" sz="2800" dirty="0">
                <a:solidFill>
                  <a:srgbClr val="00B050"/>
                </a:solidFill>
                <a:latin typeface="Helvetica" pitchFamily="2" charset="0"/>
              </a:rPr>
              <a:t> de </a:t>
            </a:r>
            <a:r>
              <a:rPr lang="en-US" sz="2800" dirty="0" err="1">
                <a:solidFill>
                  <a:srgbClr val="00B050"/>
                </a:solidFill>
                <a:latin typeface="Helvetica" pitchFamily="2" charset="0"/>
              </a:rPr>
              <a:t>datos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para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elaborar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 un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reporte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 con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formato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246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10</a:t>
            </a:fld>
            <a:endParaRPr lang="es-P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Operadores aritméticos, lógicos y relacionales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Comentarios en línea y bloque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Clase 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Math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082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11</a:t>
            </a:fld>
            <a:endParaRPr lang="es-PE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Comentarios en línea y bloque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Clase 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Math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A1BAD1-520D-0E7E-956F-AC5E24C396BD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Operadores aritméticos, lógicos y relacionales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80320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374BD19-8FAF-B71E-B25D-09AC4361FA2D}"/>
              </a:ext>
            </a:extLst>
          </p:cNvPr>
          <p:cNvGrpSpPr/>
          <p:nvPr/>
        </p:nvGrpSpPr>
        <p:grpSpPr>
          <a:xfrm>
            <a:off x="838200" y="-37476"/>
            <a:ext cx="4629752" cy="1015663"/>
            <a:chOff x="924025" y="1526961"/>
            <a:chExt cx="4629752" cy="10156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6A9C4B6-1163-B6C3-1690-85636A53D1B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7087524-3ED7-93E6-C989-024CFD63E786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Operadores aritméticos, lógicos y relacionales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1833E84-1252-E1B0-D239-024B43A4C098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4BAA21B-389B-022C-4691-417DF5E821B6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26428EC-F619-3363-B221-8506568C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Operadores aritméticos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6E9820-73C4-A1C2-8C7C-288185F4E6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12</a:t>
            </a:fld>
            <a:endParaRPr lang="es-PE"/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D374F5EE-39F0-47F4-B261-3C9D0A2291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69565"/>
              </p:ext>
            </p:extLst>
          </p:nvPr>
        </p:nvGraphicFramePr>
        <p:xfrm>
          <a:off x="2051202" y="1987503"/>
          <a:ext cx="8089595" cy="4016617"/>
        </p:xfrm>
        <a:graphic>
          <a:graphicData uri="http://schemas.openxmlformats.org/drawingml/2006/table">
            <a:tbl>
              <a:tblPr firstRow="1">
                <a:tableStyleId>{1E171933-4619-4E11-9A3F-F7608DF75F80}</a:tableStyleId>
              </a:tblPr>
              <a:tblGrid>
                <a:gridCol w="1643527">
                  <a:extLst>
                    <a:ext uri="{9D8B030D-6E8A-4147-A177-3AD203B41FA5}">
                      <a16:colId xmlns:a16="http://schemas.microsoft.com/office/drawing/2014/main" val="2392656747"/>
                    </a:ext>
                  </a:extLst>
                </a:gridCol>
                <a:gridCol w="3118745">
                  <a:extLst>
                    <a:ext uri="{9D8B030D-6E8A-4147-A177-3AD203B41FA5}">
                      <a16:colId xmlns:a16="http://schemas.microsoft.com/office/drawing/2014/main" val="3720687751"/>
                    </a:ext>
                  </a:extLst>
                </a:gridCol>
                <a:gridCol w="3327323">
                  <a:extLst>
                    <a:ext uri="{9D8B030D-6E8A-4147-A177-3AD203B41FA5}">
                      <a16:colId xmlns:a16="http://schemas.microsoft.com/office/drawing/2014/main" val="1664342527"/>
                    </a:ext>
                  </a:extLst>
                </a:gridCol>
              </a:tblGrid>
              <a:tr h="334718">
                <a:tc>
                  <a:txBody>
                    <a:bodyPr/>
                    <a:lstStyle/>
                    <a:p>
                      <a:pPr algn="l" fontAlgn="base"/>
                      <a:r>
                        <a:rPr lang="es-PE" sz="1600" b="0" i="0" dirty="0">
                          <a:solidFill>
                            <a:srgbClr val="FFFFFF"/>
                          </a:solidFill>
                          <a:effectLst/>
                          <a:latin typeface="Helvetica" pitchFamily="2" charset="0"/>
                        </a:rPr>
                        <a:t>Operador</a:t>
                      </a:r>
                      <a:endParaRPr lang="es-PE" sz="1300" b="0" i="0" dirty="0">
                        <a:solidFill>
                          <a:srgbClr val="FFFFFF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PE" sz="1600" b="0" dirty="0">
                          <a:solidFill>
                            <a:srgbClr val="FFFFFF"/>
                          </a:solidFill>
                          <a:effectLst/>
                          <a:latin typeface="Helvetica" pitchFamily="2" charset="0"/>
                        </a:rPr>
                        <a:t>Operación​</a:t>
                      </a:r>
                      <a:endParaRPr lang="es-PE" sz="1300" b="0" i="0" dirty="0">
                        <a:solidFill>
                          <a:srgbClr val="FFFFFF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3680" marR="83680" marT="41840" marB="41840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PE" sz="1600" b="0" dirty="0">
                          <a:solidFill>
                            <a:srgbClr val="FFFFFF"/>
                          </a:solidFill>
                          <a:effectLst/>
                          <a:latin typeface="Helvetica" pitchFamily="2" charset="0"/>
                        </a:rPr>
                        <a:t>Uso en Java​</a:t>
                      </a:r>
                      <a:endParaRPr lang="es-PE" sz="1300" b="0" i="0" dirty="0">
                        <a:solidFill>
                          <a:srgbClr val="FFFFFF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3680" marR="83680" marT="41840" marB="41840"/>
                </a:tc>
                <a:extLst>
                  <a:ext uri="{0D108BD9-81ED-4DB2-BD59-A6C34878D82A}">
                    <a16:rowId xmlns:a16="http://schemas.microsoft.com/office/drawing/2014/main" val="968977523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l" fontAlgn="base"/>
                      <a:r>
                        <a:rPr lang="es-PE" sz="1600" b="1" i="0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+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PE" sz="16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Suma​</a:t>
                      </a:r>
                      <a:endParaRPr lang="es-PE" sz="13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PE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10 + 5 = 15​</a:t>
                      </a:r>
                      <a:endParaRPr lang="es-PE" sz="13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920728746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l" fontAlgn="base"/>
                      <a:r>
                        <a:rPr lang="es-PE" sz="1600" b="1" i="0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-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PE" sz="16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Resta​</a:t>
                      </a:r>
                      <a:endParaRPr lang="es-PE" sz="13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PE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20 - 2 = 18​</a:t>
                      </a:r>
                      <a:endParaRPr lang="es-PE" sz="13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90606245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l" fontAlgn="base"/>
                      <a:r>
                        <a:rPr lang="es-PE" sz="1600" b="1" i="0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*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PE" sz="16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Multiplicación​</a:t>
                      </a:r>
                      <a:endParaRPr lang="es-PE" sz="13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PE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3 * 3 = 9​</a:t>
                      </a:r>
                      <a:endParaRPr lang="es-PE" sz="13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18978104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l" fontAlgn="base"/>
                      <a:r>
                        <a:rPr lang="es-PE" sz="1600" b="1" i="0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/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PE" sz="16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División​</a:t>
                      </a:r>
                      <a:endParaRPr lang="es-PE" sz="13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PE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10 / 2 = 5​</a:t>
                      </a:r>
                      <a:endParaRPr lang="es-PE" sz="13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67273304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l" fontAlgn="base"/>
                      <a:r>
                        <a:rPr lang="es-PE" sz="1600" b="1" i="0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%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PE" sz="16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Residuo​ (módulo)</a:t>
                      </a:r>
                      <a:endParaRPr lang="es-PE" sz="13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PE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11 % 2 = 1​</a:t>
                      </a:r>
                      <a:endParaRPr lang="es-PE" sz="13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58898308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l" fontAlgn="base"/>
                      <a:r>
                        <a:rPr lang="es-PE" sz="1600" b="1" i="0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++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PE" sz="16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Incremento​</a:t>
                      </a:r>
                      <a:endParaRPr lang="es-PE" sz="13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PE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edad++​</a:t>
                      </a:r>
                      <a:endParaRPr lang="es-PE" sz="13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293595113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l" fontAlgn="base"/>
                      <a:r>
                        <a:rPr lang="es-PE" sz="1600" b="1" i="0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--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PE" sz="16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Decremento​</a:t>
                      </a:r>
                      <a:endParaRPr lang="es-PE" sz="13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PE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edad--​</a:t>
                      </a:r>
                      <a:endParaRPr lang="es-PE" sz="13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029165220"/>
                  </a:ext>
                </a:extLst>
              </a:tr>
              <a:tr h="1338873">
                <a:tc>
                  <a:txBody>
                    <a:bodyPr/>
                    <a:lstStyle/>
                    <a:p>
                      <a:pPr algn="l" fontAlgn="base"/>
                      <a:r>
                        <a:rPr lang="es-PE" sz="1600" b="1" i="0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+=</a:t>
                      </a:r>
                    </a:p>
                    <a:p>
                      <a:pPr algn="l" fontAlgn="base"/>
                      <a:r>
                        <a:rPr lang="es-PE" sz="1600" b="1" i="0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-=</a:t>
                      </a:r>
                    </a:p>
                    <a:p>
                      <a:pPr algn="l" fontAlgn="base"/>
                      <a:r>
                        <a:rPr lang="es-PE" sz="1600" b="1" i="0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*=</a:t>
                      </a:r>
                    </a:p>
                    <a:p>
                      <a:pPr algn="l" fontAlgn="base"/>
                      <a:r>
                        <a:rPr lang="es-PE" sz="1600" b="1" i="0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/=</a:t>
                      </a:r>
                    </a:p>
                    <a:p>
                      <a:pPr algn="l" fontAlgn="base"/>
                      <a:r>
                        <a:rPr lang="es-PE" sz="1600" b="1" i="0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%=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PE" sz="16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Asignación con operador​</a:t>
                      </a:r>
                      <a:endParaRPr lang="es-PE" sz="13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edad += 2​</a:t>
                      </a:r>
                      <a:endParaRPr lang="es-ES" sz="1300" b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  <a:p>
                      <a:pPr algn="l" fontAlgn="base"/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edad -= 2​</a:t>
                      </a:r>
                      <a:endParaRPr lang="es-ES" sz="1300" b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  <a:p>
                      <a:pPr algn="l" fontAlgn="base"/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edad *= 2​</a:t>
                      </a:r>
                      <a:endParaRPr lang="es-ES" sz="1300" b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  <a:p>
                      <a:pPr algn="l" fontAlgn="base"/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edad /= 2​</a:t>
                      </a:r>
                      <a:endParaRPr lang="es-ES" sz="1300" b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  <a:p>
                      <a:pPr algn="l" fontAlgn="base"/>
                      <a:r>
                        <a:rPr lang="es-ES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edad %= 2​</a:t>
                      </a:r>
                      <a:endParaRPr lang="es-ES" sz="13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493882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2652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428EC-F619-3363-B221-8506568C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Operadores relacionales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6E9820-73C4-A1C2-8C7C-288185F4E6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13</a:t>
            </a:fld>
            <a:endParaRPr lang="es-PE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845E0C-F994-A0E6-336A-187E0DAB68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6440786" cy="4373562"/>
          </a:xfrm>
        </p:spPr>
        <p:txBody>
          <a:bodyPr/>
          <a:lstStyle/>
          <a:p>
            <a:r>
              <a:rPr lang="es-ES" dirty="0"/>
              <a:t>“Los operadores relacionales sirven para expresar las condiciones en los algoritmos” 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(Joyanes 2008)</a:t>
            </a:r>
          </a:p>
          <a:p>
            <a:r>
              <a:rPr lang="es-ES" dirty="0"/>
              <a:t>Devuelven un tipo de dato lógico que puede asignarse a un variable de tipo </a:t>
            </a:r>
            <a:r>
              <a:rPr lang="es-ES" b="1" dirty="0" err="1"/>
              <a:t>boolean</a:t>
            </a:r>
            <a:r>
              <a:rPr lang="es-ES" dirty="0"/>
              <a:t> para crear un </a:t>
            </a:r>
            <a:r>
              <a:rPr lang="es-ES" b="1" dirty="0" err="1">
                <a:solidFill>
                  <a:schemeClr val="accent2"/>
                </a:solidFill>
              </a:rPr>
              <a:t>check</a:t>
            </a:r>
            <a:r>
              <a:rPr lang="es-ES" dirty="0"/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87091DD-F06D-BC75-3387-5CBB27E7C8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126611"/>
              </p:ext>
            </p:extLst>
          </p:nvPr>
        </p:nvGraphicFramePr>
        <p:xfrm>
          <a:off x="7649385" y="3116096"/>
          <a:ext cx="3704415" cy="2859750"/>
        </p:xfrm>
        <a:graphic>
          <a:graphicData uri="http://schemas.openxmlformats.org/drawingml/2006/table">
            <a:tbl>
              <a:tblPr firstRow="1">
                <a:tableStyleId>{1E171933-4619-4E11-9A3F-F7608DF75F80}</a:tableStyleId>
              </a:tblPr>
              <a:tblGrid>
                <a:gridCol w="1321806">
                  <a:extLst>
                    <a:ext uri="{9D8B030D-6E8A-4147-A177-3AD203B41FA5}">
                      <a16:colId xmlns:a16="http://schemas.microsoft.com/office/drawing/2014/main" val="2874455171"/>
                    </a:ext>
                  </a:extLst>
                </a:gridCol>
                <a:gridCol w="2382609">
                  <a:extLst>
                    <a:ext uri="{9D8B030D-6E8A-4147-A177-3AD203B41FA5}">
                      <a16:colId xmlns:a16="http://schemas.microsoft.com/office/drawing/2014/main" val="1004048045"/>
                    </a:ext>
                  </a:extLst>
                </a:gridCol>
              </a:tblGrid>
              <a:tr h="38010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600" b="0" dirty="0">
                          <a:solidFill>
                            <a:srgbClr val="FFFFFF"/>
                          </a:solidFill>
                          <a:effectLst/>
                          <a:latin typeface="Helvetica" pitchFamily="2" charset="0"/>
                        </a:rPr>
                        <a:t>Operador Relacional​</a:t>
                      </a:r>
                      <a:endParaRPr lang="es-ES" sz="1600" b="0" i="0" dirty="0">
                        <a:solidFill>
                          <a:srgbClr val="FFFFFF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600" b="0" dirty="0">
                          <a:solidFill>
                            <a:srgbClr val="FFFFFF"/>
                          </a:solidFill>
                          <a:effectLst/>
                          <a:latin typeface="Helvetica" pitchFamily="2" charset="0"/>
                        </a:rPr>
                        <a:t>Significado​</a:t>
                      </a:r>
                      <a:endParaRPr lang="es-ES" sz="1600" b="0" i="0" dirty="0">
                        <a:solidFill>
                          <a:srgbClr val="FFFFFF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468790"/>
                  </a:ext>
                </a:extLst>
              </a:tr>
              <a:tr h="38010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600" b="1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&gt;​</a:t>
                      </a:r>
                      <a:endParaRPr lang="es-ES" sz="1600" b="1" i="0" dirty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600" b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Mayor que​</a:t>
                      </a:r>
                      <a:endParaRPr lang="es-ES" sz="1600" b="0" i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893722"/>
                  </a:ext>
                </a:extLst>
              </a:tr>
              <a:tr h="38010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600" b="1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&lt;​</a:t>
                      </a:r>
                      <a:endParaRPr lang="es-ES" sz="1600" b="1" i="0" dirty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6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Menor que​</a:t>
                      </a:r>
                      <a:endParaRPr lang="es-ES" sz="16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939141"/>
                  </a:ext>
                </a:extLst>
              </a:tr>
              <a:tr h="38010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600" b="1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&gt;=​</a:t>
                      </a:r>
                      <a:endParaRPr lang="es-ES" sz="1600" b="1" i="0" dirty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6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Mayor o igual que​</a:t>
                      </a:r>
                      <a:endParaRPr lang="es-ES" sz="16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850219"/>
                  </a:ext>
                </a:extLst>
              </a:tr>
              <a:tr h="38010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600" b="1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&lt;=​</a:t>
                      </a:r>
                      <a:endParaRPr lang="es-ES" sz="1600" b="1" i="0" dirty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6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Menor o igual que​</a:t>
                      </a:r>
                      <a:endParaRPr lang="es-ES" sz="16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323842"/>
                  </a:ext>
                </a:extLst>
              </a:tr>
              <a:tr h="38010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600" b="1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==​</a:t>
                      </a:r>
                      <a:endParaRPr lang="es-ES" sz="1600" b="1" i="0" dirty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6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Igual que​</a:t>
                      </a:r>
                      <a:endParaRPr lang="es-ES" sz="16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029468"/>
                  </a:ext>
                </a:extLst>
              </a:tr>
              <a:tr h="38010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600" b="1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!=​</a:t>
                      </a:r>
                      <a:endParaRPr lang="es-ES" sz="1600" b="1" i="0" dirty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6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Diferente de​</a:t>
                      </a:r>
                      <a:endParaRPr lang="es-ES" sz="16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825370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DF6D8F2C-7B7E-6045-2B16-F17DB60D8A1C}"/>
              </a:ext>
            </a:extLst>
          </p:cNvPr>
          <p:cNvGrpSpPr/>
          <p:nvPr/>
        </p:nvGrpSpPr>
        <p:grpSpPr>
          <a:xfrm>
            <a:off x="838200" y="-37476"/>
            <a:ext cx="4629752" cy="1015663"/>
            <a:chOff x="924025" y="1526961"/>
            <a:chExt cx="4629752" cy="10156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BB3762D-0AAD-E866-D158-3831743BE7D6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EBEC5DF-E57F-ED04-900B-9025491773F5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Operadores aritméticos, lógicos y relacionales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23F372D-312E-C652-12A3-D42E29777E34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ECB96E-05F3-E76C-06A1-82C616C8016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52280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428EC-F619-3363-B221-8506568C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 err="1"/>
              <a:t>Checks</a:t>
            </a:r>
            <a:r>
              <a:rPr lang="es-ES" dirty="0"/>
              <a:t> en Java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6E9820-73C4-A1C2-8C7C-288185F4E6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14</a:t>
            </a:fld>
            <a:endParaRPr lang="es-PE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845E0C-F994-A0E6-336A-187E0DAB688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Un </a:t>
            </a:r>
            <a:r>
              <a:rPr lang="es-ES" b="1" dirty="0" err="1"/>
              <a:t>check</a:t>
            </a:r>
            <a:r>
              <a:rPr lang="es-ES" dirty="0"/>
              <a:t> es una técnica de programación para comprobar el valor de una expresión relacional.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409A2B9-A7AD-50DB-BBE8-C744FB0AA222}"/>
              </a:ext>
            </a:extLst>
          </p:cNvPr>
          <p:cNvGrpSpPr/>
          <p:nvPr/>
        </p:nvGrpSpPr>
        <p:grpSpPr>
          <a:xfrm>
            <a:off x="5877547" y="4087802"/>
            <a:ext cx="4402956" cy="1587567"/>
            <a:chOff x="5619230" y="3636855"/>
            <a:chExt cx="4402956" cy="1587567"/>
          </a:xfrm>
        </p:grpSpPr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8985E5EF-23AF-DCAB-7249-B327C36D5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9230" y="3636855"/>
              <a:ext cx="4158511" cy="741041"/>
            </a:xfrm>
            <a:prstGeom prst="roundRect">
              <a:avLst>
                <a:gd name="adj" fmla="val 8231"/>
              </a:avLst>
            </a:prstGeom>
            <a:solidFill>
              <a:srgbClr val="1E1F2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749DED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int </a:t>
              </a:r>
              <a:r>
                <a:rPr kumimoji="0" lang="en-US" altLang="en-US" b="0" i="0" u="none" strike="noStrike" cap="none" normalizeH="0" baseline="0" dirty="0" err="1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edad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=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D981DE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12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;</a:t>
              </a:r>
              <a:b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b="0" i="0" u="none" strike="noStrike" cap="none" normalizeH="0" baseline="0" dirty="0" err="1">
                  <a:ln>
                    <a:noFill/>
                  </a:ln>
                  <a:solidFill>
                    <a:srgbClr val="749DED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boolean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749DED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en-US" altLang="en-US" b="0" i="0" u="none" strike="noStrike" cap="none" normalizeH="0" baseline="0" dirty="0" err="1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esMayorDeEdad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= (</a:t>
              </a:r>
              <a:r>
                <a:rPr kumimoji="0" lang="en-US" altLang="en-US" b="0" i="0" u="none" strike="noStrike" cap="none" normalizeH="0" baseline="0" dirty="0" err="1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edad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&gt;= 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D981DE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18</a:t>
              </a:r>
              <a:r>
                <a:rPr kumimoji="0" lang="en-US" altLang="en-US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);</a:t>
              </a:r>
              <a:endPara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B1CDE72-E14C-E0BD-3EE9-D3D70E01A7A4}"/>
                </a:ext>
              </a:extLst>
            </p:cNvPr>
            <p:cNvSpPr/>
            <p:nvPr/>
          </p:nvSpPr>
          <p:spPr>
            <a:xfrm>
              <a:off x="8242028" y="4016429"/>
              <a:ext cx="1322665" cy="331756"/>
            </a:xfrm>
            <a:prstGeom prst="roundRect">
              <a:avLst>
                <a:gd name="adj" fmla="val 9886"/>
              </a:avLst>
            </a:prstGeom>
            <a:noFill/>
            <a:ln w="19050">
              <a:solidFill>
                <a:schemeClr val="accent4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90A2B9C-B8B5-75E7-459D-8AE3CA006C8D}"/>
                </a:ext>
              </a:extLst>
            </p:cNvPr>
            <p:cNvSpPr txBox="1"/>
            <p:nvPr/>
          </p:nvSpPr>
          <p:spPr>
            <a:xfrm>
              <a:off x="9330566" y="4916645"/>
              <a:ext cx="6916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 err="1">
                  <a:solidFill>
                    <a:schemeClr val="bg1">
                      <a:lumMod val="50000"/>
                    </a:schemeClr>
                  </a:solidFill>
                  <a:latin typeface="Helvetica" pitchFamily="2" charset="0"/>
                </a:rPr>
                <a:t>Check</a:t>
              </a:r>
              <a:endPara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EB7858F-B962-4307-62E4-F0E2661FDCA3}"/>
                </a:ext>
              </a:extLst>
            </p:cNvPr>
            <p:cNvCxnSpPr>
              <a:cxnSpLocks/>
            </p:cNvCxnSpPr>
            <p:nvPr/>
          </p:nvCxnSpPr>
          <p:spPr>
            <a:xfrm>
              <a:off x="9156694" y="4345728"/>
              <a:ext cx="357054" cy="488822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ectangle 2">
            <a:extLst>
              <a:ext uri="{FF2B5EF4-FFF2-40B4-BE49-F238E27FC236}">
                <a16:creationId xmlns:a16="http://schemas.microsoft.com/office/drawing/2014/main" id="{FAF11FEA-A7D1-33A2-8AE7-6A5A8BE19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0783" y="3452222"/>
            <a:ext cx="2652323" cy="2347256"/>
          </a:xfrm>
          <a:prstGeom prst="roundRect">
            <a:avLst>
              <a:gd name="adj" fmla="val 5311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boolean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esMayorDeEdad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&gt;=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18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esMayorDeEdad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else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esMayorDeEdad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false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18C2586-DA5A-34E2-5D97-96E955620291}"/>
              </a:ext>
            </a:extLst>
          </p:cNvPr>
          <p:cNvSpPr/>
          <p:nvPr/>
        </p:nvSpPr>
        <p:spPr>
          <a:xfrm>
            <a:off x="5124261" y="4354713"/>
            <a:ext cx="540238" cy="262550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88C7EF9-3569-CA6A-613A-08EBAC564853}"/>
              </a:ext>
            </a:extLst>
          </p:cNvPr>
          <p:cNvGrpSpPr/>
          <p:nvPr/>
        </p:nvGrpSpPr>
        <p:grpSpPr>
          <a:xfrm>
            <a:off x="838200" y="-37476"/>
            <a:ext cx="4629752" cy="1015663"/>
            <a:chOff x="924025" y="1526961"/>
            <a:chExt cx="4629752" cy="10156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6C69579-F530-0213-A884-D8B138DC792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AE4AD55-5FCE-4D68-3E66-55ABE673D763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Operadores aritméticos, lógicos y relacionales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64994F8-D8B6-ABF6-8127-ED5BD5ECC6C3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544ABB2-C637-541C-61E4-EFEBB71B8EFE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68547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428EC-F619-3363-B221-8506568C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Operadores lógicos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6E9820-73C4-A1C2-8C7C-288185F4E6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15</a:t>
            </a:fld>
            <a:endParaRPr lang="es-PE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845E0C-F994-A0E6-336A-187E0DAB68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6726382" cy="4373562"/>
          </a:xfrm>
        </p:spPr>
        <p:txBody>
          <a:bodyPr/>
          <a:lstStyle/>
          <a:p>
            <a:r>
              <a:rPr lang="es-ES" dirty="0"/>
              <a:t>Conocidos también como </a:t>
            </a:r>
            <a:r>
              <a:rPr lang="es-ES" b="1" dirty="0">
                <a:solidFill>
                  <a:schemeClr val="accent2"/>
                </a:solidFill>
              </a:rPr>
              <a:t>operadores booleanos</a:t>
            </a:r>
            <a:r>
              <a:rPr lang="es-ES" dirty="0"/>
              <a:t>.</a:t>
            </a:r>
          </a:p>
          <a:p>
            <a:r>
              <a:rPr lang="es-ES" dirty="0"/>
              <a:t>Permiten la elaboración de expresiones lógicas que devuelven verdadero o falso, según su </a:t>
            </a:r>
            <a:r>
              <a:rPr lang="es-ES" dirty="0">
                <a:solidFill>
                  <a:schemeClr val="accent2"/>
                </a:solidFill>
              </a:rPr>
              <a:t>tabla de verdad</a:t>
            </a:r>
            <a:r>
              <a:rPr lang="es-ES" dirty="0"/>
              <a:t>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D831E6B-A517-C303-280D-BEE84A1B4D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932518"/>
              </p:ext>
            </p:extLst>
          </p:nvPr>
        </p:nvGraphicFramePr>
        <p:xfrm>
          <a:off x="7649385" y="3097623"/>
          <a:ext cx="3704415" cy="2660735"/>
        </p:xfrm>
        <a:graphic>
          <a:graphicData uri="http://schemas.openxmlformats.org/drawingml/2006/table">
            <a:tbl>
              <a:tblPr firstRow="1">
                <a:tableStyleId>{1E171933-4619-4E11-9A3F-F7608DF75F80}</a:tableStyleId>
              </a:tblPr>
              <a:tblGrid>
                <a:gridCol w="1321806">
                  <a:extLst>
                    <a:ext uri="{9D8B030D-6E8A-4147-A177-3AD203B41FA5}">
                      <a16:colId xmlns:a16="http://schemas.microsoft.com/office/drawing/2014/main" val="2874455171"/>
                    </a:ext>
                  </a:extLst>
                </a:gridCol>
                <a:gridCol w="2382609">
                  <a:extLst>
                    <a:ext uri="{9D8B030D-6E8A-4147-A177-3AD203B41FA5}">
                      <a16:colId xmlns:a16="http://schemas.microsoft.com/office/drawing/2014/main" val="1004048045"/>
                    </a:ext>
                  </a:extLst>
                </a:gridCol>
              </a:tblGrid>
              <a:tr h="38010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600" b="0" dirty="0">
                          <a:solidFill>
                            <a:srgbClr val="FFFFFF"/>
                          </a:solidFill>
                          <a:effectLst/>
                          <a:latin typeface="Helvetica" pitchFamily="2" charset="0"/>
                        </a:rPr>
                        <a:t>Operador</a:t>
                      </a:r>
                      <a:endParaRPr lang="es-ES" sz="1600" b="0" i="0" dirty="0">
                        <a:solidFill>
                          <a:srgbClr val="FFFFFF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600" b="0" dirty="0">
                          <a:solidFill>
                            <a:srgbClr val="FFFFFF"/>
                          </a:solidFill>
                          <a:effectLst/>
                          <a:latin typeface="Helvetica" pitchFamily="2" charset="0"/>
                        </a:rPr>
                        <a:t>Significado​</a:t>
                      </a:r>
                      <a:endParaRPr lang="es-ES" sz="1600" b="0" i="0" dirty="0">
                        <a:solidFill>
                          <a:srgbClr val="FFFFFF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468790"/>
                  </a:ext>
                </a:extLst>
              </a:tr>
              <a:tr h="38010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600" b="1" i="0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600" b="0" i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AND (y)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893722"/>
                  </a:ext>
                </a:extLst>
              </a:tr>
              <a:tr h="38010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600" b="1" i="0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600" b="0" i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OR (o)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939141"/>
                  </a:ext>
                </a:extLst>
              </a:tr>
              <a:tr h="38010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600" b="1" i="0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600" b="0" i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NOT (no)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850219"/>
                  </a:ext>
                </a:extLst>
              </a:tr>
              <a:tr h="38010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600" b="1" i="0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||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600" b="0" i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OR de cortocircuito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323842"/>
                  </a:ext>
                </a:extLst>
              </a:tr>
              <a:tr h="38010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600" b="1" i="0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&amp;&amp;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600" b="0" i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AND de cortocircuito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029468"/>
                  </a:ext>
                </a:extLst>
              </a:tr>
              <a:tr h="380105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600" b="1" i="0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600" b="0" i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XOR (o exclusivo)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825370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7C57E3E0-2A4E-EA88-6441-AD380448057D}"/>
              </a:ext>
            </a:extLst>
          </p:cNvPr>
          <p:cNvGrpSpPr/>
          <p:nvPr/>
        </p:nvGrpSpPr>
        <p:grpSpPr>
          <a:xfrm>
            <a:off x="1543674" y="5318172"/>
            <a:ext cx="1012002" cy="873566"/>
            <a:chOff x="2079119" y="4879387"/>
            <a:chExt cx="1815847" cy="156745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F0DCD7-974C-B271-CDC1-77B878C323FA}"/>
                </a:ext>
              </a:extLst>
            </p:cNvPr>
            <p:cNvGrpSpPr/>
            <p:nvPr/>
          </p:nvGrpSpPr>
          <p:grpSpPr>
            <a:xfrm>
              <a:off x="2079119" y="4879387"/>
              <a:ext cx="1815847" cy="1065063"/>
              <a:chOff x="1530127" y="4943191"/>
              <a:chExt cx="1815847" cy="1065063"/>
            </a:xfrm>
          </p:grpSpPr>
          <p:sp>
            <p:nvSpPr>
              <p:cNvPr id="10" name="Flowchart: Delay 9">
                <a:extLst>
                  <a:ext uri="{FF2B5EF4-FFF2-40B4-BE49-F238E27FC236}">
                    <a16:creationId xmlns:a16="http://schemas.microsoft.com/office/drawing/2014/main" id="{A6589731-7856-B9EB-4173-A6DF19610E0E}"/>
                  </a:ext>
                </a:extLst>
              </p:cNvPr>
              <p:cNvSpPr/>
              <p:nvPr/>
            </p:nvSpPr>
            <p:spPr>
              <a:xfrm>
                <a:off x="1925855" y="4943191"/>
                <a:ext cx="1028720" cy="1065063"/>
              </a:xfrm>
              <a:prstGeom prst="flowChartDelay">
                <a:avLst/>
              </a:prstGeom>
              <a:noFill/>
              <a:ln w="762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F2701D14-60B5-1C58-5AB0-7FCB7A1E7927}"/>
                  </a:ext>
                </a:extLst>
              </p:cNvPr>
              <p:cNvCxnSpPr/>
              <p:nvPr/>
            </p:nvCxnSpPr>
            <p:spPr>
              <a:xfrm>
                <a:off x="1530127" y="5222572"/>
                <a:ext cx="394516" cy="0"/>
              </a:xfrm>
              <a:prstGeom prst="line">
                <a:avLst/>
              </a:prstGeom>
              <a:ln w="76200" cap="rnd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E336423E-D3F1-5DC8-3FE9-719D7A0E5B75}"/>
                  </a:ext>
                </a:extLst>
              </p:cNvPr>
              <p:cNvCxnSpPr/>
              <p:nvPr/>
            </p:nvCxnSpPr>
            <p:spPr>
              <a:xfrm>
                <a:off x="1530127" y="5739806"/>
                <a:ext cx="394516" cy="0"/>
              </a:xfrm>
              <a:prstGeom prst="line">
                <a:avLst/>
              </a:prstGeom>
              <a:ln w="76200" cap="rnd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7B36FF5E-4D56-24BA-F005-09517AB0E5ED}"/>
                  </a:ext>
                </a:extLst>
              </p:cNvPr>
              <p:cNvCxnSpPr/>
              <p:nvPr/>
            </p:nvCxnSpPr>
            <p:spPr>
              <a:xfrm>
                <a:off x="2951458" y="5475722"/>
                <a:ext cx="394516" cy="0"/>
              </a:xfrm>
              <a:prstGeom prst="line">
                <a:avLst/>
              </a:prstGeom>
              <a:ln w="76200" cap="rnd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99D335B-CE29-3B14-4F7B-A80356146039}"/>
                </a:ext>
              </a:extLst>
            </p:cNvPr>
            <p:cNvSpPr txBox="1"/>
            <p:nvPr/>
          </p:nvSpPr>
          <p:spPr>
            <a:xfrm>
              <a:off x="2659014" y="6077505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  <a:latin typeface="Helvetica" pitchFamily="2" charset="0"/>
                </a:rPr>
                <a:t>AND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6BD697-BA31-6121-7FE6-B65D9BB173F5}"/>
              </a:ext>
            </a:extLst>
          </p:cNvPr>
          <p:cNvGrpSpPr/>
          <p:nvPr/>
        </p:nvGrpSpPr>
        <p:grpSpPr>
          <a:xfrm>
            <a:off x="3228350" y="5278279"/>
            <a:ext cx="1037739" cy="913459"/>
            <a:chOff x="4893387" y="4807807"/>
            <a:chExt cx="1862027" cy="163903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1D7AC70-31A3-9C01-DB84-50E461E390C8}"/>
                </a:ext>
              </a:extLst>
            </p:cNvPr>
            <p:cNvGrpSpPr/>
            <p:nvPr/>
          </p:nvGrpSpPr>
          <p:grpSpPr>
            <a:xfrm>
              <a:off x="4893387" y="4807807"/>
              <a:ext cx="1862027" cy="1208222"/>
              <a:chOff x="5908163" y="4943191"/>
              <a:chExt cx="1862027" cy="1208222"/>
            </a:xfrm>
          </p:grpSpPr>
          <p:sp>
            <p:nvSpPr>
              <p:cNvPr id="18" name="Flowchart: Stored Data 22">
                <a:extLst>
                  <a:ext uri="{FF2B5EF4-FFF2-40B4-BE49-F238E27FC236}">
                    <a16:creationId xmlns:a16="http://schemas.microsoft.com/office/drawing/2014/main" id="{F6445B62-F0F8-BB64-E431-53AB9F9DDA50}"/>
                  </a:ext>
                </a:extLst>
              </p:cNvPr>
              <p:cNvSpPr/>
              <p:nvPr/>
            </p:nvSpPr>
            <p:spPr>
              <a:xfrm flipH="1">
                <a:off x="6098225" y="4943191"/>
                <a:ext cx="1300101" cy="1208222"/>
              </a:xfrm>
              <a:custGeom>
                <a:avLst/>
                <a:gdLst>
                  <a:gd name="connsiteX0" fmla="*/ 1667 w 10000"/>
                  <a:gd name="connsiteY0" fmla="*/ 0 h 10000"/>
                  <a:gd name="connsiteX1" fmla="*/ 10000 w 10000"/>
                  <a:gd name="connsiteY1" fmla="*/ 0 h 10000"/>
                  <a:gd name="connsiteX2" fmla="*/ 8333 w 10000"/>
                  <a:gd name="connsiteY2" fmla="*/ 5000 h 10000"/>
                  <a:gd name="connsiteX3" fmla="*/ 10000 w 10000"/>
                  <a:gd name="connsiteY3" fmla="*/ 10000 h 10000"/>
                  <a:gd name="connsiteX4" fmla="*/ 1667 w 10000"/>
                  <a:gd name="connsiteY4" fmla="*/ 10000 h 10000"/>
                  <a:gd name="connsiteX5" fmla="*/ 0 w 10000"/>
                  <a:gd name="connsiteY5" fmla="*/ 5000 h 10000"/>
                  <a:gd name="connsiteX6" fmla="*/ 1667 w 10000"/>
                  <a:gd name="connsiteY6" fmla="*/ 0 h 10000"/>
                  <a:gd name="connsiteX0" fmla="*/ 3864 w 10068"/>
                  <a:gd name="connsiteY0" fmla="*/ 535 h 10000"/>
                  <a:gd name="connsiteX1" fmla="*/ 10068 w 10068"/>
                  <a:gd name="connsiteY1" fmla="*/ 0 h 10000"/>
                  <a:gd name="connsiteX2" fmla="*/ 8401 w 10068"/>
                  <a:gd name="connsiteY2" fmla="*/ 5000 h 10000"/>
                  <a:gd name="connsiteX3" fmla="*/ 10068 w 10068"/>
                  <a:gd name="connsiteY3" fmla="*/ 10000 h 10000"/>
                  <a:gd name="connsiteX4" fmla="*/ 1735 w 10068"/>
                  <a:gd name="connsiteY4" fmla="*/ 10000 h 10000"/>
                  <a:gd name="connsiteX5" fmla="*/ 68 w 10068"/>
                  <a:gd name="connsiteY5" fmla="*/ 5000 h 10000"/>
                  <a:gd name="connsiteX6" fmla="*/ 3864 w 10068"/>
                  <a:gd name="connsiteY6" fmla="*/ 535 h 10000"/>
                  <a:gd name="connsiteX0" fmla="*/ 3864 w 10068"/>
                  <a:gd name="connsiteY0" fmla="*/ 767 h 10232"/>
                  <a:gd name="connsiteX1" fmla="*/ 10068 w 10068"/>
                  <a:gd name="connsiteY1" fmla="*/ 232 h 10232"/>
                  <a:gd name="connsiteX2" fmla="*/ 8401 w 10068"/>
                  <a:gd name="connsiteY2" fmla="*/ 5232 h 10232"/>
                  <a:gd name="connsiteX3" fmla="*/ 10068 w 10068"/>
                  <a:gd name="connsiteY3" fmla="*/ 10232 h 10232"/>
                  <a:gd name="connsiteX4" fmla="*/ 1735 w 10068"/>
                  <a:gd name="connsiteY4" fmla="*/ 10232 h 10232"/>
                  <a:gd name="connsiteX5" fmla="*/ 68 w 10068"/>
                  <a:gd name="connsiteY5" fmla="*/ 5232 h 10232"/>
                  <a:gd name="connsiteX6" fmla="*/ 3864 w 10068"/>
                  <a:gd name="connsiteY6" fmla="*/ 767 h 10232"/>
                  <a:gd name="connsiteX0" fmla="*/ 3864 w 10068"/>
                  <a:gd name="connsiteY0" fmla="*/ 934 h 10399"/>
                  <a:gd name="connsiteX1" fmla="*/ 10068 w 10068"/>
                  <a:gd name="connsiteY1" fmla="*/ 399 h 10399"/>
                  <a:gd name="connsiteX2" fmla="*/ 8401 w 10068"/>
                  <a:gd name="connsiteY2" fmla="*/ 5399 h 10399"/>
                  <a:gd name="connsiteX3" fmla="*/ 10068 w 10068"/>
                  <a:gd name="connsiteY3" fmla="*/ 10399 h 10399"/>
                  <a:gd name="connsiteX4" fmla="*/ 1735 w 10068"/>
                  <a:gd name="connsiteY4" fmla="*/ 10399 h 10399"/>
                  <a:gd name="connsiteX5" fmla="*/ 68 w 10068"/>
                  <a:gd name="connsiteY5" fmla="*/ 5399 h 10399"/>
                  <a:gd name="connsiteX6" fmla="*/ 3864 w 10068"/>
                  <a:gd name="connsiteY6" fmla="*/ 934 h 10399"/>
                  <a:gd name="connsiteX0" fmla="*/ 2605 w 10018"/>
                  <a:gd name="connsiteY0" fmla="*/ 2022 h 10187"/>
                  <a:gd name="connsiteX1" fmla="*/ 10018 w 10018"/>
                  <a:gd name="connsiteY1" fmla="*/ 187 h 10187"/>
                  <a:gd name="connsiteX2" fmla="*/ 8351 w 10018"/>
                  <a:gd name="connsiteY2" fmla="*/ 5187 h 10187"/>
                  <a:gd name="connsiteX3" fmla="*/ 10018 w 10018"/>
                  <a:gd name="connsiteY3" fmla="*/ 10187 h 10187"/>
                  <a:gd name="connsiteX4" fmla="*/ 1685 w 10018"/>
                  <a:gd name="connsiteY4" fmla="*/ 10187 h 10187"/>
                  <a:gd name="connsiteX5" fmla="*/ 18 w 10018"/>
                  <a:gd name="connsiteY5" fmla="*/ 5187 h 10187"/>
                  <a:gd name="connsiteX6" fmla="*/ 2605 w 10018"/>
                  <a:gd name="connsiteY6" fmla="*/ 2022 h 10187"/>
                  <a:gd name="connsiteX0" fmla="*/ 2587 w 10000"/>
                  <a:gd name="connsiteY0" fmla="*/ 2022 h 10187"/>
                  <a:gd name="connsiteX1" fmla="*/ 10000 w 10000"/>
                  <a:gd name="connsiteY1" fmla="*/ 187 h 10187"/>
                  <a:gd name="connsiteX2" fmla="*/ 8333 w 10000"/>
                  <a:gd name="connsiteY2" fmla="*/ 5187 h 10187"/>
                  <a:gd name="connsiteX3" fmla="*/ 10000 w 10000"/>
                  <a:gd name="connsiteY3" fmla="*/ 10187 h 10187"/>
                  <a:gd name="connsiteX4" fmla="*/ 1667 w 10000"/>
                  <a:gd name="connsiteY4" fmla="*/ 10187 h 10187"/>
                  <a:gd name="connsiteX5" fmla="*/ 0 w 10000"/>
                  <a:gd name="connsiteY5" fmla="*/ 5187 h 10187"/>
                  <a:gd name="connsiteX6" fmla="*/ 2587 w 10000"/>
                  <a:gd name="connsiteY6" fmla="*/ 2022 h 10187"/>
                  <a:gd name="connsiteX0" fmla="*/ 2653 w 10066"/>
                  <a:gd name="connsiteY0" fmla="*/ 2022 h 10187"/>
                  <a:gd name="connsiteX1" fmla="*/ 10066 w 10066"/>
                  <a:gd name="connsiteY1" fmla="*/ 187 h 10187"/>
                  <a:gd name="connsiteX2" fmla="*/ 8399 w 10066"/>
                  <a:gd name="connsiteY2" fmla="*/ 5187 h 10187"/>
                  <a:gd name="connsiteX3" fmla="*/ 10066 w 10066"/>
                  <a:gd name="connsiteY3" fmla="*/ 10187 h 10187"/>
                  <a:gd name="connsiteX4" fmla="*/ 1733 w 10066"/>
                  <a:gd name="connsiteY4" fmla="*/ 10187 h 10187"/>
                  <a:gd name="connsiteX5" fmla="*/ 66 w 10066"/>
                  <a:gd name="connsiteY5" fmla="*/ 5187 h 10187"/>
                  <a:gd name="connsiteX6" fmla="*/ 2653 w 10066"/>
                  <a:gd name="connsiteY6" fmla="*/ 2022 h 10187"/>
                  <a:gd name="connsiteX0" fmla="*/ 2596 w 10009"/>
                  <a:gd name="connsiteY0" fmla="*/ 2022 h 10187"/>
                  <a:gd name="connsiteX1" fmla="*/ 10009 w 10009"/>
                  <a:gd name="connsiteY1" fmla="*/ 187 h 10187"/>
                  <a:gd name="connsiteX2" fmla="*/ 8342 w 10009"/>
                  <a:gd name="connsiteY2" fmla="*/ 5187 h 10187"/>
                  <a:gd name="connsiteX3" fmla="*/ 10009 w 10009"/>
                  <a:gd name="connsiteY3" fmla="*/ 10187 h 10187"/>
                  <a:gd name="connsiteX4" fmla="*/ 3690 w 10009"/>
                  <a:gd name="connsiteY4" fmla="*/ 8735 h 10187"/>
                  <a:gd name="connsiteX5" fmla="*/ 9 w 10009"/>
                  <a:gd name="connsiteY5" fmla="*/ 5187 h 10187"/>
                  <a:gd name="connsiteX6" fmla="*/ 2596 w 10009"/>
                  <a:gd name="connsiteY6" fmla="*/ 2022 h 10187"/>
                  <a:gd name="connsiteX0" fmla="*/ 2767 w 10180"/>
                  <a:gd name="connsiteY0" fmla="*/ 2016 h 10181"/>
                  <a:gd name="connsiteX1" fmla="*/ 10180 w 10180"/>
                  <a:gd name="connsiteY1" fmla="*/ 181 h 10181"/>
                  <a:gd name="connsiteX2" fmla="*/ 8513 w 10180"/>
                  <a:gd name="connsiteY2" fmla="*/ 5181 h 10181"/>
                  <a:gd name="connsiteX3" fmla="*/ 10180 w 10180"/>
                  <a:gd name="connsiteY3" fmla="*/ 10181 h 10181"/>
                  <a:gd name="connsiteX4" fmla="*/ 3861 w 10180"/>
                  <a:gd name="connsiteY4" fmla="*/ 8729 h 10181"/>
                  <a:gd name="connsiteX5" fmla="*/ 7 w 10180"/>
                  <a:gd name="connsiteY5" fmla="*/ 5181 h 10181"/>
                  <a:gd name="connsiteX6" fmla="*/ 2767 w 10180"/>
                  <a:gd name="connsiteY6" fmla="*/ 2016 h 10181"/>
                  <a:gd name="connsiteX0" fmla="*/ 2767 w 10180"/>
                  <a:gd name="connsiteY0" fmla="*/ 2016 h 10181"/>
                  <a:gd name="connsiteX1" fmla="*/ 10180 w 10180"/>
                  <a:gd name="connsiteY1" fmla="*/ 181 h 10181"/>
                  <a:gd name="connsiteX2" fmla="*/ 8513 w 10180"/>
                  <a:gd name="connsiteY2" fmla="*/ 5181 h 10181"/>
                  <a:gd name="connsiteX3" fmla="*/ 10180 w 10180"/>
                  <a:gd name="connsiteY3" fmla="*/ 10181 h 10181"/>
                  <a:gd name="connsiteX4" fmla="*/ 3861 w 10180"/>
                  <a:gd name="connsiteY4" fmla="*/ 8729 h 10181"/>
                  <a:gd name="connsiteX5" fmla="*/ 7 w 10180"/>
                  <a:gd name="connsiteY5" fmla="*/ 5181 h 10181"/>
                  <a:gd name="connsiteX6" fmla="*/ 2767 w 10180"/>
                  <a:gd name="connsiteY6" fmla="*/ 2016 h 10181"/>
                  <a:gd name="connsiteX0" fmla="*/ 2760 w 10173"/>
                  <a:gd name="connsiteY0" fmla="*/ 2016 h 10181"/>
                  <a:gd name="connsiteX1" fmla="*/ 10173 w 10173"/>
                  <a:gd name="connsiteY1" fmla="*/ 181 h 10181"/>
                  <a:gd name="connsiteX2" fmla="*/ 8506 w 10173"/>
                  <a:gd name="connsiteY2" fmla="*/ 5181 h 10181"/>
                  <a:gd name="connsiteX3" fmla="*/ 10173 w 10173"/>
                  <a:gd name="connsiteY3" fmla="*/ 10181 h 10181"/>
                  <a:gd name="connsiteX4" fmla="*/ 3854 w 10173"/>
                  <a:gd name="connsiteY4" fmla="*/ 8729 h 10181"/>
                  <a:gd name="connsiteX5" fmla="*/ 0 w 10173"/>
                  <a:gd name="connsiteY5" fmla="*/ 5181 h 10181"/>
                  <a:gd name="connsiteX6" fmla="*/ 2760 w 10173"/>
                  <a:gd name="connsiteY6" fmla="*/ 2016 h 10181"/>
                  <a:gd name="connsiteX0" fmla="*/ 2760 w 10363"/>
                  <a:gd name="connsiteY0" fmla="*/ 2016 h 10193"/>
                  <a:gd name="connsiteX1" fmla="*/ 10173 w 10363"/>
                  <a:gd name="connsiteY1" fmla="*/ 181 h 10193"/>
                  <a:gd name="connsiteX2" fmla="*/ 8506 w 10363"/>
                  <a:gd name="connsiteY2" fmla="*/ 5181 h 10193"/>
                  <a:gd name="connsiteX3" fmla="*/ 10173 w 10363"/>
                  <a:gd name="connsiteY3" fmla="*/ 10181 h 10193"/>
                  <a:gd name="connsiteX4" fmla="*/ 3854 w 10363"/>
                  <a:gd name="connsiteY4" fmla="*/ 8729 h 10193"/>
                  <a:gd name="connsiteX5" fmla="*/ 0 w 10363"/>
                  <a:gd name="connsiteY5" fmla="*/ 5181 h 10193"/>
                  <a:gd name="connsiteX6" fmla="*/ 2760 w 10363"/>
                  <a:gd name="connsiteY6" fmla="*/ 2016 h 10193"/>
                  <a:gd name="connsiteX0" fmla="*/ 0 w 10545"/>
                  <a:gd name="connsiteY0" fmla="*/ 5000 h 10012"/>
                  <a:gd name="connsiteX1" fmla="*/ 10173 w 10545"/>
                  <a:gd name="connsiteY1" fmla="*/ 0 h 10012"/>
                  <a:gd name="connsiteX2" fmla="*/ 8506 w 10545"/>
                  <a:gd name="connsiteY2" fmla="*/ 5000 h 10012"/>
                  <a:gd name="connsiteX3" fmla="*/ 10173 w 10545"/>
                  <a:gd name="connsiteY3" fmla="*/ 10000 h 10012"/>
                  <a:gd name="connsiteX4" fmla="*/ 3854 w 10545"/>
                  <a:gd name="connsiteY4" fmla="*/ 8548 h 10012"/>
                  <a:gd name="connsiteX5" fmla="*/ 0 w 10545"/>
                  <a:gd name="connsiteY5" fmla="*/ 5000 h 10012"/>
                  <a:gd name="connsiteX0" fmla="*/ 0 w 10545"/>
                  <a:gd name="connsiteY0" fmla="*/ 5000 h 10000"/>
                  <a:gd name="connsiteX1" fmla="*/ 10173 w 10545"/>
                  <a:gd name="connsiteY1" fmla="*/ 0 h 10000"/>
                  <a:gd name="connsiteX2" fmla="*/ 8506 w 10545"/>
                  <a:gd name="connsiteY2" fmla="*/ 5000 h 10000"/>
                  <a:gd name="connsiteX3" fmla="*/ 10173 w 10545"/>
                  <a:gd name="connsiteY3" fmla="*/ 10000 h 10000"/>
                  <a:gd name="connsiteX4" fmla="*/ 0 w 10545"/>
                  <a:gd name="connsiteY4" fmla="*/ 5000 h 10000"/>
                  <a:gd name="connsiteX0" fmla="*/ 0 w 10545"/>
                  <a:gd name="connsiteY0" fmla="*/ 5000 h 10000"/>
                  <a:gd name="connsiteX1" fmla="*/ 10173 w 10545"/>
                  <a:gd name="connsiteY1" fmla="*/ 0 h 10000"/>
                  <a:gd name="connsiteX2" fmla="*/ 8506 w 10545"/>
                  <a:gd name="connsiteY2" fmla="*/ 5000 h 10000"/>
                  <a:gd name="connsiteX3" fmla="*/ 10173 w 10545"/>
                  <a:gd name="connsiteY3" fmla="*/ 10000 h 10000"/>
                  <a:gd name="connsiteX4" fmla="*/ 0 w 10545"/>
                  <a:gd name="connsiteY4" fmla="*/ 5000 h 10000"/>
                  <a:gd name="connsiteX0" fmla="*/ 0 w 10545"/>
                  <a:gd name="connsiteY0" fmla="*/ 5000 h 10000"/>
                  <a:gd name="connsiteX1" fmla="*/ 10173 w 10545"/>
                  <a:gd name="connsiteY1" fmla="*/ 0 h 10000"/>
                  <a:gd name="connsiteX2" fmla="*/ 8506 w 10545"/>
                  <a:gd name="connsiteY2" fmla="*/ 5000 h 10000"/>
                  <a:gd name="connsiteX3" fmla="*/ 10173 w 10545"/>
                  <a:gd name="connsiteY3" fmla="*/ 10000 h 10000"/>
                  <a:gd name="connsiteX4" fmla="*/ 0 w 10545"/>
                  <a:gd name="connsiteY4" fmla="*/ 5000 h 10000"/>
                  <a:gd name="connsiteX0" fmla="*/ 0 w 10545"/>
                  <a:gd name="connsiteY0" fmla="*/ 5000 h 10000"/>
                  <a:gd name="connsiteX1" fmla="*/ 10173 w 10545"/>
                  <a:gd name="connsiteY1" fmla="*/ 0 h 10000"/>
                  <a:gd name="connsiteX2" fmla="*/ 8506 w 10545"/>
                  <a:gd name="connsiteY2" fmla="*/ 5000 h 10000"/>
                  <a:gd name="connsiteX3" fmla="*/ 10173 w 10545"/>
                  <a:gd name="connsiteY3" fmla="*/ 10000 h 10000"/>
                  <a:gd name="connsiteX4" fmla="*/ 0 w 10545"/>
                  <a:gd name="connsiteY4" fmla="*/ 5000 h 10000"/>
                  <a:gd name="connsiteX0" fmla="*/ 0 w 10173"/>
                  <a:gd name="connsiteY0" fmla="*/ 5000 h 10000"/>
                  <a:gd name="connsiteX1" fmla="*/ 10173 w 10173"/>
                  <a:gd name="connsiteY1" fmla="*/ 0 h 10000"/>
                  <a:gd name="connsiteX2" fmla="*/ 8506 w 10173"/>
                  <a:gd name="connsiteY2" fmla="*/ 5000 h 10000"/>
                  <a:gd name="connsiteX3" fmla="*/ 10173 w 10173"/>
                  <a:gd name="connsiteY3" fmla="*/ 10000 h 10000"/>
                  <a:gd name="connsiteX4" fmla="*/ 0 w 10173"/>
                  <a:gd name="connsiteY4" fmla="*/ 5000 h 10000"/>
                  <a:gd name="connsiteX0" fmla="*/ 0 w 11445"/>
                  <a:gd name="connsiteY0" fmla="*/ 5000 h 10108"/>
                  <a:gd name="connsiteX1" fmla="*/ 10173 w 11445"/>
                  <a:gd name="connsiteY1" fmla="*/ 0 h 10108"/>
                  <a:gd name="connsiteX2" fmla="*/ 10173 w 11445"/>
                  <a:gd name="connsiteY2" fmla="*/ 10000 h 10108"/>
                  <a:gd name="connsiteX3" fmla="*/ 0 w 11445"/>
                  <a:gd name="connsiteY3" fmla="*/ 5000 h 10108"/>
                  <a:gd name="connsiteX0" fmla="*/ 0 w 10694"/>
                  <a:gd name="connsiteY0" fmla="*/ 5000 h 10108"/>
                  <a:gd name="connsiteX1" fmla="*/ 10173 w 10694"/>
                  <a:gd name="connsiteY1" fmla="*/ 0 h 10108"/>
                  <a:gd name="connsiteX2" fmla="*/ 10173 w 10694"/>
                  <a:gd name="connsiteY2" fmla="*/ 10000 h 10108"/>
                  <a:gd name="connsiteX3" fmla="*/ 0 w 10694"/>
                  <a:gd name="connsiteY3" fmla="*/ 5000 h 10108"/>
                  <a:gd name="connsiteX0" fmla="*/ 0 w 10173"/>
                  <a:gd name="connsiteY0" fmla="*/ 5000 h 10108"/>
                  <a:gd name="connsiteX1" fmla="*/ 10173 w 10173"/>
                  <a:gd name="connsiteY1" fmla="*/ 0 h 10108"/>
                  <a:gd name="connsiteX2" fmla="*/ 10173 w 10173"/>
                  <a:gd name="connsiteY2" fmla="*/ 10000 h 10108"/>
                  <a:gd name="connsiteX3" fmla="*/ 0 w 10173"/>
                  <a:gd name="connsiteY3" fmla="*/ 5000 h 10108"/>
                  <a:gd name="connsiteX0" fmla="*/ 0 w 10173"/>
                  <a:gd name="connsiteY0" fmla="*/ 5000 h 10108"/>
                  <a:gd name="connsiteX1" fmla="*/ 10173 w 10173"/>
                  <a:gd name="connsiteY1" fmla="*/ 0 h 10108"/>
                  <a:gd name="connsiteX2" fmla="*/ 10173 w 10173"/>
                  <a:gd name="connsiteY2" fmla="*/ 10000 h 10108"/>
                  <a:gd name="connsiteX3" fmla="*/ 0 w 10173"/>
                  <a:gd name="connsiteY3" fmla="*/ 5000 h 10108"/>
                  <a:gd name="connsiteX0" fmla="*/ 0 w 10173"/>
                  <a:gd name="connsiteY0" fmla="*/ 5000 h 10108"/>
                  <a:gd name="connsiteX1" fmla="*/ 10173 w 10173"/>
                  <a:gd name="connsiteY1" fmla="*/ 0 h 10108"/>
                  <a:gd name="connsiteX2" fmla="*/ 10173 w 10173"/>
                  <a:gd name="connsiteY2" fmla="*/ 10000 h 10108"/>
                  <a:gd name="connsiteX3" fmla="*/ 0 w 10173"/>
                  <a:gd name="connsiteY3" fmla="*/ 5000 h 10108"/>
                  <a:gd name="connsiteX0" fmla="*/ 0 w 8044"/>
                  <a:gd name="connsiteY0" fmla="*/ 4924 h 10107"/>
                  <a:gd name="connsiteX1" fmla="*/ 8044 w 8044"/>
                  <a:gd name="connsiteY1" fmla="*/ 0 h 10107"/>
                  <a:gd name="connsiteX2" fmla="*/ 8044 w 8044"/>
                  <a:gd name="connsiteY2" fmla="*/ 10000 h 10107"/>
                  <a:gd name="connsiteX3" fmla="*/ 0 w 8044"/>
                  <a:gd name="connsiteY3" fmla="*/ 4924 h 10107"/>
                  <a:gd name="connsiteX0" fmla="*/ 0 w 10000"/>
                  <a:gd name="connsiteY0" fmla="*/ 4872 h 10000"/>
                  <a:gd name="connsiteX1" fmla="*/ 10000 w 10000"/>
                  <a:gd name="connsiteY1" fmla="*/ 0 h 10000"/>
                  <a:gd name="connsiteX2" fmla="*/ 10000 w 10000"/>
                  <a:gd name="connsiteY2" fmla="*/ 9894 h 10000"/>
                  <a:gd name="connsiteX3" fmla="*/ 0 w 10000"/>
                  <a:gd name="connsiteY3" fmla="*/ 4872 h 10000"/>
                  <a:gd name="connsiteX0" fmla="*/ 0 w 10000"/>
                  <a:gd name="connsiteY0" fmla="*/ 4872 h 10047"/>
                  <a:gd name="connsiteX1" fmla="*/ 10000 w 10000"/>
                  <a:gd name="connsiteY1" fmla="*/ 0 h 10047"/>
                  <a:gd name="connsiteX2" fmla="*/ 10000 w 10000"/>
                  <a:gd name="connsiteY2" fmla="*/ 9894 h 10047"/>
                  <a:gd name="connsiteX3" fmla="*/ 0 w 10000"/>
                  <a:gd name="connsiteY3" fmla="*/ 4872 h 10047"/>
                  <a:gd name="connsiteX0" fmla="*/ 0 w 10000"/>
                  <a:gd name="connsiteY0" fmla="*/ 4872 h 9910"/>
                  <a:gd name="connsiteX1" fmla="*/ 10000 w 10000"/>
                  <a:gd name="connsiteY1" fmla="*/ 0 h 9910"/>
                  <a:gd name="connsiteX2" fmla="*/ 10000 w 10000"/>
                  <a:gd name="connsiteY2" fmla="*/ 9894 h 9910"/>
                  <a:gd name="connsiteX3" fmla="*/ 0 w 10000"/>
                  <a:gd name="connsiteY3" fmla="*/ 4872 h 9910"/>
                  <a:gd name="connsiteX0" fmla="*/ 0 w 10000"/>
                  <a:gd name="connsiteY0" fmla="*/ 4916 h 10000"/>
                  <a:gd name="connsiteX1" fmla="*/ 10000 w 10000"/>
                  <a:gd name="connsiteY1" fmla="*/ 0 h 10000"/>
                  <a:gd name="connsiteX2" fmla="*/ 10000 w 10000"/>
                  <a:gd name="connsiteY2" fmla="*/ 9984 h 10000"/>
                  <a:gd name="connsiteX3" fmla="*/ 0 w 10000"/>
                  <a:gd name="connsiteY3" fmla="*/ 4916 h 10000"/>
                  <a:gd name="connsiteX0" fmla="*/ 0 w 9928"/>
                  <a:gd name="connsiteY0" fmla="*/ 4611 h 9998"/>
                  <a:gd name="connsiteX1" fmla="*/ 9928 w 9928"/>
                  <a:gd name="connsiteY1" fmla="*/ 0 h 9998"/>
                  <a:gd name="connsiteX2" fmla="*/ 9928 w 9928"/>
                  <a:gd name="connsiteY2" fmla="*/ 9984 h 9998"/>
                  <a:gd name="connsiteX3" fmla="*/ 0 w 9928"/>
                  <a:gd name="connsiteY3" fmla="*/ 4611 h 9998"/>
                  <a:gd name="connsiteX0" fmla="*/ 0 w 10000"/>
                  <a:gd name="connsiteY0" fmla="*/ 4612 h 10000"/>
                  <a:gd name="connsiteX1" fmla="*/ 10000 w 10000"/>
                  <a:gd name="connsiteY1" fmla="*/ 0 h 10000"/>
                  <a:gd name="connsiteX2" fmla="*/ 10000 w 10000"/>
                  <a:gd name="connsiteY2" fmla="*/ 9986 h 10000"/>
                  <a:gd name="connsiteX3" fmla="*/ 0 w 10000"/>
                  <a:gd name="connsiteY3" fmla="*/ 4612 h 10000"/>
                  <a:gd name="connsiteX0" fmla="*/ 0 w 10000"/>
                  <a:gd name="connsiteY0" fmla="*/ 4612 h 10010"/>
                  <a:gd name="connsiteX1" fmla="*/ 10000 w 10000"/>
                  <a:gd name="connsiteY1" fmla="*/ 0 h 10010"/>
                  <a:gd name="connsiteX2" fmla="*/ 10000 w 10000"/>
                  <a:gd name="connsiteY2" fmla="*/ 9986 h 10010"/>
                  <a:gd name="connsiteX3" fmla="*/ 0 w 10000"/>
                  <a:gd name="connsiteY3" fmla="*/ 4612 h 10010"/>
                  <a:gd name="connsiteX0" fmla="*/ 0 w 9207"/>
                  <a:gd name="connsiteY0" fmla="*/ 4917 h 10015"/>
                  <a:gd name="connsiteX1" fmla="*/ 9207 w 9207"/>
                  <a:gd name="connsiteY1" fmla="*/ 0 h 10015"/>
                  <a:gd name="connsiteX2" fmla="*/ 9207 w 9207"/>
                  <a:gd name="connsiteY2" fmla="*/ 9986 h 10015"/>
                  <a:gd name="connsiteX3" fmla="*/ 0 w 9207"/>
                  <a:gd name="connsiteY3" fmla="*/ 4917 h 10015"/>
                  <a:gd name="connsiteX0" fmla="*/ 0 w 10000"/>
                  <a:gd name="connsiteY0" fmla="*/ 4910 h 9989"/>
                  <a:gd name="connsiteX1" fmla="*/ 10000 w 10000"/>
                  <a:gd name="connsiteY1" fmla="*/ 0 h 9989"/>
                  <a:gd name="connsiteX2" fmla="*/ 10000 w 10000"/>
                  <a:gd name="connsiteY2" fmla="*/ 9971 h 9989"/>
                  <a:gd name="connsiteX3" fmla="*/ 0 w 10000"/>
                  <a:gd name="connsiteY3" fmla="*/ 4910 h 9989"/>
                  <a:gd name="connsiteX0" fmla="*/ 0 w 10000"/>
                  <a:gd name="connsiteY0" fmla="*/ 4915 h 10000"/>
                  <a:gd name="connsiteX1" fmla="*/ 10000 w 10000"/>
                  <a:gd name="connsiteY1" fmla="*/ 0 h 10000"/>
                  <a:gd name="connsiteX2" fmla="*/ 10000 w 10000"/>
                  <a:gd name="connsiteY2" fmla="*/ 9982 h 10000"/>
                  <a:gd name="connsiteX3" fmla="*/ 0 w 10000"/>
                  <a:gd name="connsiteY3" fmla="*/ 4915 h 10000"/>
                  <a:gd name="connsiteX0" fmla="*/ 0 w 10000"/>
                  <a:gd name="connsiteY0" fmla="*/ 4915 h 9982"/>
                  <a:gd name="connsiteX1" fmla="*/ 10000 w 10000"/>
                  <a:gd name="connsiteY1" fmla="*/ 0 h 9982"/>
                  <a:gd name="connsiteX2" fmla="*/ 10000 w 10000"/>
                  <a:gd name="connsiteY2" fmla="*/ 9982 h 9982"/>
                  <a:gd name="connsiteX3" fmla="*/ 0 w 10000"/>
                  <a:gd name="connsiteY3" fmla="*/ 4915 h 9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00" h="9982">
                    <a:moveTo>
                      <a:pt x="0" y="4915"/>
                    </a:moveTo>
                    <a:cubicBezTo>
                      <a:pt x="1331" y="1572"/>
                      <a:pt x="4314" y="0"/>
                      <a:pt x="10000" y="0"/>
                    </a:cubicBezTo>
                    <a:cubicBezTo>
                      <a:pt x="7140" y="3427"/>
                      <a:pt x="7533" y="7090"/>
                      <a:pt x="10000" y="9982"/>
                    </a:cubicBezTo>
                    <a:cubicBezTo>
                      <a:pt x="4095" y="9669"/>
                      <a:pt x="1332" y="8487"/>
                      <a:pt x="0" y="4915"/>
                    </a:cubicBezTo>
                    <a:close/>
                  </a:path>
                </a:pathLst>
              </a:custGeom>
              <a:noFill/>
              <a:ln w="762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2EE2816E-B70B-421C-18D0-29CAE4D0A6E6}"/>
                  </a:ext>
                </a:extLst>
              </p:cNvPr>
              <p:cNvCxnSpPr/>
              <p:nvPr/>
            </p:nvCxnSpPr>
            <p:spPr>
              <a:xfrm>
                <a:off x="5908163" y="5296463"/>
                <a:ext cx="394516" cy="0"/>
              </a:xfrm>
              <a:prstGeom prst="line">
                <a:avLst/>
              </a:prstGeom>
              <a:ln w="76200" cap="rnd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F5DCA30-5CDC-4708-8416-16486ED692E5}"/>
                  </a:ext>
                </a:extLst>
              </p:cNvPr>
              <p:cNvCxnSpPr/>
              <p:nvPr/>
            </p:nvCxnSpPr>
            <p:spPr>
              <a:xfrm>
                <a:off x="5908163" y="5813697"/>
                <a:ext cx="394516" cy="0"/>
              </a:xfrm>
              <a:prstGeom prst="line">
                <a:avLst/>
              </a:prstGeom>
              <a:ln w="76200" cap="rnd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08C00F9C-A86E-0B5C-3BDE-E27BAED866FC}"/>
                  </a:ext>
                </a:extLst>
              </p:cNvPr>
              <p:cNvCxnSpPr/>
              <p:nvPr/>
            </p:nvCxnSpPr>
            <p:spPr>
              <a:xfrm>
                <a:off x="7375674" y="5531141"/>
                <a:ext cx="394516" cy="0"/>
              </a:xfrm>
              <a:prstGeom prst="line">
                <a:avLst/>
              </a:prstGeom>
              <a:ln w="76200" cap="rnd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3680584-D849-7746-8E58-F8B681BF10A5}"/>
                </a:ext>
              </a:extLst>
            </p:cNvPr>
            <p:cNvSpPr txBox="1"/>
            <p:nvPr/>
          </p:nvSpPr>
          <p:spPr>
            <a:xfrm>
              <a:off x="5494035" y="6077505"/>
              <a:ext cx="5309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  <a:latin typeface="Helvetica" pitchFamily="2" charset="0"/>
                </a:rPr>
                <a:t>OR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4F70640-EADC-DEC2-4BD7-B36858B6BA0D}"/>
              </a:ext>
            </a:extLst>
          </p:cNvPr>
          <p:cNvGrpSpPr/>
          <p:nvPr/>
        </p:nvGrpSpPr>
        <p:grpSpPr>
          <a:xfrm>
            <a:off x="4938763" y="5324977"/>
            <a:ext cx="1058378" cy="866761"/>
            <a:chOff x="7753835" y="4891597"/>
            <a:chExt cx="1899060" cy="155524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96379CB7-6224-7526-841D-0B288DE3EC6A}"/>
                </a:ext>
              </a:extLst>
            </p:cNvPr>
            <p:cNvGrpSpPr/>
            <p:nvPr/>
          </p:nvGrpSpPr>
          <p:grpSpPr>
            <a:xfrm>
              <a:off x="7753835" y="4891597"/>
              <a:ext cx="1899060" cy="1008320"/>
              <a:chOff x="7877461" y="4702419"/>
              <a:chExt cx="1899060" cy="1008320"/>
            </a:xfrm>
          </p:grpSpPr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8E501EFB-B31A-45BF-C875-62FC36D02784}"/>
                  </a:ext>
                </a:extLst>
              </p:cNvPr>
              <p:cNvCxnSpPr/>
              <p:nvPr/>
            </p:nvCxnSpPr>
            <p:spPr>
              <a:xfrm>
                <a:off x="7877461" y="4969874"/>
                <a:ext cx="394516" cy="0"/>
              </a:xfrm>
              <a:prstGeom prst="line">
                <a:avLst/>
              </a:prstGeom>
              <a:ln w="76200" cap="rnd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93E33D31-D612-F87C-D45A-4BF7DAE1A471}"/>
                  </a:ext>
                </a:extLst>
              </p:cNvPr>
              <p:cNvCxnSpPr/>
              <p:nvPr/>
            </p:nvCxnSpPr>
            <p:spPr>
              <a:xfrm>
                <a:off x="7877461" y="5487108"/>
                <a:ext cx="394516" cy="0"/>
              </a:xfrm>
              <a:prstGeom prst="line">
                <a:avLst/>
              </a:prstGeom>
              <a:ln w="76200" cap="rnd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283257A9-A83B-3CD2-7A4A-0A13C31FEC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82005" y="5206578"/>
                <a:ext cx="394516" cy="0"/>
              </a:xfrm>
              <a:prstGeom prst="line">
                <a:avLst/>
              </a:prstGeom>
              <a:ln w="76200" cap="rnd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Isosceles Triangle 49">
                <a:extLst>
                  <a:ext uri="{FF2B5EF4-FFF2-40B4-BE49-F238E27FC236}">
                    <a16:creationId xmlns:a16="http://schemas.microsoft.com/office/drawing/2014/main" id="{8C7AC9F2-AE5D-B5DB-DCFF-504C6FA4A6E0}"/>
                  </a:ext>
                </a:extLst>
              </p:cNvPr>
              <p:cNvSpPr/>
              <p:nvPr/>
            </p:nvSpPr>
            <p:spPr>
              <a:xfrm rot="5400000">
                <a:off x="8258498" y="4771958"/>
                <a:ext cx="1008320" cy="869241"/>
              </a:xfrm>
              <a:prstGeom prst="triangle">
                <a:avLst/>
              </a:prstGeom>
              <a:noFill/>
              <a:ln w="762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C0AC21D-ECE4-AA28-CCD6-BC6547CA3029}"/>
                  </a:ext>
                </a:extLst>
              </p:cNvPr>
              <p:cNvSpPr/>
              <p:nvPr/>
            </p:nvSpPr>
            <p:spPr>
              <a:xfrm>
                <a:off x="9196525" y="5113838"/>
                <a:ext cx="185480" cy="185480"/>
              </a:xfrm>
              <a:prstGeom prst="ellipse">
                <a:avLst/>
              </a:prstGeom>
              <a:noFill/>
              <a:ln w="762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5515950-3FEB-DF61-50EA-2F9E7B55ECF5}"/>
                </a:ext>
              </a:extLst>
            </p:cNvPr>
            <p:cNvSpPr txBox="1"/>
            <p:nvPr/>
          </p:nvSpPr>
          <p:spPr>
            <a:xfrm>
              <a:off x="8371884" y="6077505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  <a:latin typeface="Helvetica" pitchFamily="2" charset="0"/>
                </a:rPr>
                <a:t>NOT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153D1C6-B1F7-6A08-C6FC-078EB8624840}"/>
              </a:ext>
            </a:extLst>
          </p:cNvPr>
          <p:cNvGrpSpPr/>
          <p:nvPr/>
        </p:nvGrpSpPr>
        <p:grpSpPr>
          <a:xfrm>
            <a:off x="838200" y="-37476"/>
            <a:ext cx="4629752" cy="1015663"/>
            <a:chOff x="924025" y="1526961"/>
            <a:chExt cx="4629752" cy="101566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59FC4DD-94AF-C082-E331-FF04C5ED3D84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3CC119A-B06E-D074-605E-DD6B1FF8D859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Operadores aritméticos, lógicos y relacionales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C28BE73-3DEF-B3EE-EF90-B33D77FF8B32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088D253-C70E-E014-6E03-470B2E4C6BC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37504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3C23F-958D-5EFC-9D94-FED8B146F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Operadores lógicos. Tablas de Verdad.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BAB8FE-6F14-E144-896F-CCED827F48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16</a:t>
            </a:fld>
            <a:endParaRPr lang="es-PE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DF830CF-8A4E-AFD8-05BC-F763A4735024}"/>
              </a:ext>
            </a:extLst>
          </p:cNvPr>
          <p:cNvGrpSpPr/>
          <p:nvPr/>
        </p:nvGrpSpPr>
        <p:grpSpPr>
          <a:xfrm>
            <a:off x="838200" y="-37476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1BD9EB8-9513-B425-702E-A5A187983F10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2C675EE-EE32-CB8F-D130-C775A37973AA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Operadores aritméticos, lógicos y relacionales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93C7E13-36C6-4436-82C3-1426EFC2C0F9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A01692B-ED2A-4A92-A15B-D65D738CFCB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7164976A-12F6-F128-0D28-D45DE7A41F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205468"/>
              </p:ext>
            </p:extLst>
          </p:nvPr>
        </p:nvGraphicFramePr>
        <p:xfrm>
          <a:off x="2031999" y="2458284"/>
          <a:ext cx="8128002" cy="3075054"/>
        </p:xfrm>
        <a:graphic>
          <a:graphicData uri="http://schemas.openxmlformats.org/drawingml/2006/table">
            <a:tbl>
              <a:tblPr firstRow="1" bandRow="1">
                <a:effectLst>
                  <a:outerShdw blurRad="228600" dist="38100" dir="2700000" algn="tl" rotWithShape="0">
                    <a:prstClr val="black">
                      <a:alpha val="40000"/>
                    </a:prstClr>
                  </a:outerShdw>
                </a:effectLst>
                <a:tableStyleId>{1E171933-4619-4E11-9A3F-F7608DF75F80}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89129920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33267568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5068456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00270534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4860814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33660578"/>
                    </a:ext>
                  </a:extLst>
                </a:gridCol>
              </a:tblGrid>
              <a:tr h="512509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sz="1800" b="0" dirty="0"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sz="1800" b="0" dirty="0"/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b="0" dirty="0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AND</a:t>
                      </a:r>
                      <a:endParaRPr lang="en-US" sz="1800" b="0" dirty="0"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b="0" dirty="0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OR</a:t>
                      </a:r>
                      <a:endParaRPr lang="en-US" sz="1800" b="0" dirty="0"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b="0" dirty="0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XOR</a:t>
                      </a:r>
                      <a:endParaRPr lang="en-US" sz="1800" b="0" dirty="0"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b="0" dirty="0"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NOT</a:t>
                      </a:r>
                      <a:endParaRPr lang="en-US" sz="1800" b="0" dirty="0"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949685"/>
                  </a:ext>
                </a:extLst>
              </a:tr>
              <a:tr h="51250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b="0" dirty="0">
                          <a:solidFill>
                            <a:schemeClr val="bg1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p</a:t>
                      </a:r>
                      <a:endParaRPr lang="en-US" sz="1800" b="0" dirty="0">
                        <a:solidFill>
                          <a:schemeClr val="bg1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b="0" dirty="0">
                          <a:solidFill>
                            <a:schemeClr val="bg1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q</a:t>
                      </a:r>
                      <a:endParaRPr lang="en-US" sz="1800" b="0" dirty="0">
                        <a:solidFill>
                          <a:schemeClr val="bg1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b="0" dirty="0">
                          <a:solidFill>
                            <a:schemeClr val="bg1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p &amp; q</a:t>
                      </a:r>
                      <a:endParaRPr lang="en-US" sz="1800" b="0" dirty="0">
                        <a:solidFill>
                          <a:schemeClr val="bg1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b="0" dirty="0">
                          <a:solidFill>
                            <a:schemeClr val="bg1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p | q</a:t>
                      </a:r>
                      <a:endParaRPr lang="en-US" sz="1800" b="0" dirty="0">
                        <a:solidFill>
                          <a:schemeClr val="bg1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b="0" dirty="0">
                          <a:solidFill>
                            <a:schemeClr val="bg1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p ^ q</a:t>
                      </a:r>
                      <a:endParaRPr lang="en-US" sz="1800" b="0" dirty="0">
                        <a:solidFill>
                          <a:schemeClr val="bg1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b="0" dirty="0">
                          <a:solidFill>
                            <a:schemeClr val="bg1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!p</a:t>
                      </a:r>
                      <a:endParaRPr lang="en-US" sz="1800" b="0" dirty="0">
                        <a:solidFill>
                          <a:schemeClr val="bg1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7230"/>
                  </a:ext>
                </a:extLst>
              </a:tr>
              <a:tr h="51250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rgbClr val="FF000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False</a:t>
                      </a:r>
                      <a:endParaRPr lang="en-US" sz="1800" dirty="0">
                        <a:solidFill>
                          <a:srgbClr val="FF000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rgbClr val="FF000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False</a:t>
                      </a:r>
                      <a:endParaRPr lang="en-US" sz="1800" dirty="0">
                        <a:solidFill>
                          <a:srgbClr val="FF000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rgbClr val="FF000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False</a:t>
                      </a:r>
                      <a:endParaRPr lang="en-US" sz="1800" dirty="0">
                        <a:solidFill>
                          <a:srgbClr val="FF000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rgbClr val="FF000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False</a:t>
                      </a:r>
                      <a:endParaRPr lang="en-US" sz="1800" dirty="0">
                        <a:solidFill>
                          <a:srgbClr val="FF000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rgbClr val="FF000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False</a:t>
                      </a:r>
                      <a:endParaRPr lang="en-US" sz="1800" dirty="0">
                        <a:solidFill>
                          <a:srgbClr val="FF000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rgbClr val="00B05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True</a:t>
                      </a:r>
                      <a:endParaRPr lang="en-US" sz="1800" dirty="0">
                        <a:solidFill>
                          <a:srgbClr val="00B05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806136"/>
                  </a:ext>
                </a:extLst>
              </a:tr>
              <a:tr h="51250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rgbClr val="00B05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True</a:t>
                      </a:r>
                      <a:endParaRPr lang="en-US" sz="1800" dirty="0">
                        <a:solidFill>
                          <a:srgbClr val="00B05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rgbClr val="FF000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False</a:t>
                      </a:r>
                      <a:endParaRPr lang="en-US" sz="1800" dirty="0">
                        <a:solidFill>
                          <a:srgbClr val="FF000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rgbClr val="FF000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False</a:t>
                      </a:r>
                      <a:endParaRPr lang="en-US" sz="1800" dirty="0">
                        <a:solidFill>
                          <a:srgbClr val="FF000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rgbClr val="00B05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True</a:t>
                      </a:r>
                      <a:endParaRPr lang="en-US" sz="1800" dirty="0">
                        <a:solidFill>
                          <a:srgbClr val="00B05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rgbClr val="00B05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True</a:t>
                      </a:r>
                      <a:endParaRPr lang="en-US" sz="1800" dirty="0">
                        <a:solidFill>
                          <a:srgbClr val="00B05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rgbClr val="FF000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False</a:t>
                      </a:r>
                      <a:endParaRPr lang="en-US" sz="1800" dirty="0">
                        <a:solidFill>
                          <a:srgbClr val="FF000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0477122"/>
                  </a:ext>
                </a:extLst>
              </a:tr>
              <a:tr h="51250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rgbClr val="FF000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False</a:t>
                      </a:r>
                      <a:endParaRPr lang="en-US" sz="1800" dirty="0">
                        <a:solidFill>
                          <a:srgbClr val="FF000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rgbClr val="00B05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True</a:t>
                      </a:r>
                      <a:endParaRPr lang="en-US" sz="1800" dirty="0">
                        <a:solidFill>
                          <a:srgbClr val="00B05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rgbClr val="FF000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False</a:t>
                      </a:r>
                      <a:endParaRPr lang="en-US" sz="1800" dirty="0">
                        <a:solidFill>
                          <a:srgbClr val="FF000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rgbClr val="00B05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True</a:t>
                      </a:r>
                      <a:endParaRPr lang="en-US" sz="1800" dirty="0">
                        <a:solidFill>
                          <a:srgbClr val="00B05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rgbClr val="00B05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True</a:t>
                      </a:r>
                      <a:endParaRPr lang="en-US" sz="1800" dirty="0">
                        <a:solidFill>
                          <a:srgbClr val="00B05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rgbClr val="00B05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True</a:t>
                      </a:r>
                      <a:endParaRPr lang="en-US" sz="1800" dirty="0">
                        <a:solidFill>
                          <a:srgbClr val="00B05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673044"/>
                  </a:ext>
                </a:extLst>
              </a:tr>
              <a:tr h="51250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rgbClr val="00B05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True</a:t>
                      </a:r>
                      <a:endParaRPr lang="en-US" sz="1800" dirty="0">
                        <a:solidFill>
                          <a:srgbClr val="00B05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rgbClr val="00B05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True</a:t>
                      </a:r>
                      <a:endParaRPr lang="en-US" sz="1800" dirty="0">
                        <a:solidFill>
                          <a:srgbClr val="00B05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rgbClr val="00B05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True</a:t>
                      </a:r>
                      <a:endParaRPr lang="en-US" sz="1800" dirty="0">
                        <a:solidFill>
                          <a:srgbClr val="00B05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rgbClr val="00B05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True</a:t>
                      </a:r>
                      <a:endParaRPr lang="en-US" sz="1800" dirty="0">
                        <a:solidFill>
                          <a:srgbClr val="00B05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rgbClr val="FF000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False</a:t>
                      </a:r>
                      <a:endParaRPr lang="en-US" sz="1800" dirty="0">
                        <a:solidFill>
                          <a:srgbClr val="FF000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s-ES" sz="1800" dirty="0">
                          <a:solidFill>
                            <a:srgbClr val="FF000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False</a:t>
                      </a:r>
                      <a:endParaRPr lang="en-US" sz="1800" dirty="0">
                        <a:solidFill>
                          <a:srgbClr val="FF000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722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4384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428EC-F619-3363-B221-8506568C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Operadores lógicos. Ejemplos.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6E9820-73C4-A1C2-8C7C-288185F4E6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17</a:t>
            </a:fld>
            <a:endParaRPr lang="es-PE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F1FB9D0-E964-2FDF-835B-459B04288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9662" y="1993808"/>
            <a:ext cx="6982856" cy="4362542"/>
          </a:xfrm>
          <a:prstGeom prst="roundRect">
            <a:avLst>
              <a:gd name="adj" fmla="val 2905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numeroAsistencias =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17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float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promedio =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18.5f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boolean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estaAprobado = (numeroAsistencias &gt;=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&amp;&amp; (promedio &gt;=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"¿Está aprobado? "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estaAprobado);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float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peso =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45.8f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 =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67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boolean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enRiesgoCovid = (peso &gt;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80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|| (edad &gt;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60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"¿En riesgo? "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enRiesgoCovid);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numeroIntentos =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boolean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bloqueado = numeroIntentos &gt;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boolean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desbloqueado = !bloqueado;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"¿Desbloqueado? "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desbloqueado);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CFA203-FA4A-CF2E-72CE-ED4FE28C824A}"/>
              </a:ext>
            </a:extLst>
          </p:cNvPr>
          <p:cNvSpPr txBox="1"/>
          <p:nvPr/>
        </p:nvSpPr>
        <p:spPr>
          <a:xfrm>
            <a:off x="2113007" y="2262886"/>
            <a:ext cx="112082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8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And (&amp;&amp;)</a:t>
            </a:r>
          </a:p>
          <a:p>
            <a:pPr algn="r"/>
            <a:endParaRPr lang="es-ES" sz="18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algn="r"/>
            <a:endParaRPr lang="es-ES" sz="18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algn="r"/>
            <a:endParaRPr lang="es-ES" sz="18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algn="r"/>
            <a:endParaRPr lang="es-ES" sz="18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algn="r"/>
            <a:r>
              <a:rPr lang="es-ES" sz="18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Or</a:t>
            </a:r>
            <a:r>
              <a:rPr lang="es-ES" sz="18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(||)</a:t>
            </a:r>
          </a:p>
          <a:p>
            <a:pPr algn="r"/>
            <a:endParaRPr lang="es-ES" sz="18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algn="r"/>
            <a:endParaRPr lang="es-ES" sz="18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algn="r"/>
            <a:endParaRPr lang="es-ES" sz="18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algn="r"/>
            <a:endParaRPr lang="es-ES" sz="18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algn="r"/>
            <a:r>
              <a:rPr lang="es-ES" sz="18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Not</a:t>
            </a:r>
            <a:r>
              <a:rPr lang="es-ES" sz="18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(!)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D5D9A5D-3210-A0C2-0624-940F5ACAF35B}"/>
              </a:ext>
            </a:extLst>
          </p:cNvPr>
          <p:cNvGrpSpPr/>
          <p:nvPr/>
        </p:nvGrpSpPr>
        <p:grpSpPr>
          <a:xfrm>
            <a:off x="838200" y="-37476"/>
            <a:ext cx="4629752" cy="1015663"/>
            <a:chOff x="924025" y="1526961"/>
            <a:chExt cx="4629752" cy="10156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9301E52-0942-8174-46C7-DC0DB1AEACE0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BE880E8-ACB4-F264-373A-F7FE64E9BE57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Operadores aritméticos, lógicos y relacionales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223A3C0-487B-46A8-65CC-842DA3BDEB30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74150D5-3005-BEB0-A185-D8EA8B1197C6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64939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Operadores aritméticos, lógicos y relacionales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18</a:t>
            </a:fld>
            <a:endParaRPr lang="es-PE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Clase 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Math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A1BAD1-520D-0E7E-956F-AC5E24C396BD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Comentarios en línea y bloque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36124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570DAA2-2309-F656-82D0-CFF2D9E77CC6}"/>
              </a:ext>
            </a:extLst>
          </p:cNvPr>
          <p:cNvGrpSpPr/>
          <p:nvPr/>
        </p:nvGrpSpPr>
        <p:grpSpPr>
          <a:xfrm>
            <a:off x="838200" y="-36923"/>
            <a:ext cx="4629752" cy="1015663"/>
            <a:chOff x="924025" y="1526961"/>
            <a:chExt cx="4629752" cy="10156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398B19-CAD3-86A2-3C78-3FAC5FE9BC44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26F8346-1266-982B-69AF-811696C533FF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Comentarios en línea y bloque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1F979F9-6CB8-FB30-2E71-9C57FE934E75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2B4E93B-0EA0-841C-1D6D-C4BC4FE27FAB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26428EC-F619-3363-B221-8506568C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Comentarios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6E9820-73C4-A1C2-8C7C-288185F4E6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19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A2BF99-A5A7-6006-60D5-6F87B8A2CE2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s-ES" b="1" dirty="0">
                <a:solidFill>
                  <a:schemeClr val="accent2"/>
                </a:solidFill>
              </a:rPr>
              <a:t>Los comentarios son palabras que las personas leen, pero que el compilador ignora.</a:t>
            </a:r>
          </a:p>
          <a:p>
            <a:r>
              <a:rPr lang="es-ES" dirty="0"/>
              <a:t>Los comentarios ayudan a que el código sea </a:t>
            </a:r>
            <a:r>
              <a:rPr lang="es-ES" b="1" dirty="0"/>
              <a:t>legible</a:t>
            </a:r>
            <a:r>
              <a:rPr lang="es-ES" dirty="0"/>
              <a:t> y comprendido por quien lo lee.</a:t>
            </a:r>
          </a:p>
          <a:p>
            <a:r>
              <a:rPr lang="es-ES" dirty="0"/>
              <a:t>También ayudan en la </a:t>
            </a:r>
            <a:r>
              <a:rPr lang="es-ES" b="1" dirty="0"/>
              <a:t>documentación</a:t>
            </a:r>
            <a:r>
              <a:rPr lang="es-ES" dirty="0"/>
              <a:t> del código.</a:t>
            </a:r>
          </a:p>
          <a:p>
            <a:r>
              <a:rPr lang="es-ES" dirty="0"/>
              <a:t>Existen tres tipos de comentarios en Java:</a:t>
            </a:r>
          </a:p>
          <a:p>
            <a:pPr lvl="1"/>
            <a:r>
              <a:rPr lang="es-ES" dirty="0">
                <a:solidFill>
                  <a:schemeClr val="accent1"/>
                </a:solidFill>
              </a:rPr>
              <a:t>//</a:t>
            </a:r>
            <a:r>
              <a:rPr lang="es-ES" dirty="0"/>
              <a:t> 	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s-ES" dirty="0"/>
              <a:t>De una sola línea</a:t>
            </a:r>
          </a:p>
          <a:p>
            <a:pPr lvl="1"/>
            <a:r>
              <a:rPr lang="es-ES" dirty="0">
                <a:solidFill>
                  <a:schemeClr val="accent1"/>
                </a:solidFill>
              </a:rPr>
              <a:t>/* */</a:t>
            </a:r>
            <a:r>
              <a:rPr lang="es-ES" dirty="0"/>
              <a:t>	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s-ES" dirty="0"/>
              <a:t>De múltiples líneas.</a:t>
            </a:r>
          </a:p>
          <a:p>
            <a:pPr lvl="1"/>
            <a:r>
              <a:rPr lang="es-ES" dirty="0">
                <a:solidFill>
                  <a:schemeClr val="accent1"/>
                </a:solidFill>
              </a:rPr>
              <a:t>/** */</a:t>
            </a:r>
            <a:r>
              <a:rPr lang="es-ES" dirty="0"/>
              <a:t>	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s-ES" dirty="0"/>
              <a:t>De documentación (usado por herramienta </a:t>
            </a:r>
            <a:r>
              <a:rPr lang="es-ES" i="1" dirty="0" err="1"/>
              <a:t>javadoc</a:t>
            </a:r>
            <a:r>
              <a:rPr lang="es-ES" dirty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379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>
            <a:extLst>
              <a:ext uri="{FF2B5EF4-FFF2-40B4-BE49-F238E27FC236}">
                <a16:creationId xmlns:a16="http://schemas.microsoft.com/office/drawing/2014/main" id="{E6E70368-629D-2311-92F8-0B1B4258A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7546" y="2179344"/>
            <a:ext cx="4070866" cy="3566216"/>
          </a:xfrm>
          <a:prstGeom prst="roundRect">
            <a:avLst>
              <a:gd name="adj" fmla="val 3070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/*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Éste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es un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comentario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de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múltiples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líneas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*/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HolaUTP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/**</a:t>
            </a:r>
            <a:b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* 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Éste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es un 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comentario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 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documentación</a:t>
            </a:r>
            <a:b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* y es 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usado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por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javadoc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para 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generar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docs</a:t>
            </a:r>
            <a:b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* @param 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argumentos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del 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sistema</a:t>
            </a: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*/</a:t>
            </a:r>
            <a:b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Éste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es un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comentario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sola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línea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"Hola UTP!"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6428EC-F619-3363-B221-8506568C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Comentarios. Ejemplo.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6E9820-73C4-A1C2-8C7C-288185F4E6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20</a:t>
            </a:fld>
            <a:endParaRPr lang="es-PE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0BFA75F-8C20-26C3-CF9E-1E1D03763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460" y="2179344"/>
            <a:ext cx="4895850" cy="2924175"/>
          </a:xfrm>
          <a:prstGeom prst="rect">
            <a:avLst/>
          </a:prstGeom>
        </p:spPr>
      </p:pic>
      <p:sp>
        <p:nvSpPr>
          <p:cNvPr id="26" name="Arrow: Right 25">
            <a:extLst>
              <a:ext uri="{FF2B5EF4-FFF2-40B4-BE49-F238E27FC236}">
                <a16:creationId xmlns:a16="http://schemas.microsoft.com/office/drawing/2014/main" id="{834089D1-2D1A-5667-8A86-91135EC72A0A}"/>
              </a:ext>
            </a:extLst>
          </p:cNvPr>
          <p:cNvSpPr/>
          <p:nvPr/>
        </p:nvSpPr>
        <p:spPr>
          <a:xfrm>
            <a:off x="1149457" y="2258059"/>
            <a:ext cx="540238" cy="262550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9430976C-0FFE-9387-73D5-91BC1147EE31}"/>
              </a:ext>
            </a:extLst>
          </p:cNvPr>
          <p:cNvSpPr/>
          <p:nvPr/>
        </p:nvSpPr>
        <p:spPr>
          <a:xfrm>
            <a:off x="1149457" y="3410528"/>
            <a:ext cx="540238" cy="262550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E2439449-B2C6-AB74-8364-0350980F28EE}"/>
              </a:ext>
            </a:extLst>
          </p:cNvPr>
          <p:cNvSpPr/>
          <p:nvPr/>
        </p:nvSpPr>
        <p:spPr>
          <a:xfrm>
            <a:off x="1149457" y="4739373"/>
            <a:ext cx="540238" cy="262550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9CA57AE-3531-9E79-A351-3D9B6AFCD9BF}"/>
              </a:ext>
            </a:extLst>
          </p:cNvPr>
          <p:cNvCxnSpPr>
            <a:cxnSpLocks/>
          </p:cNvCxnSpPr>
          <p:nvPr/>
        </p:nvCxnSpPr>
        <p:spPr>
          <a:xfrm>
            <a:off x="5446688" y="4042989"/>
            <a:ext cx="2296160" cy="0"/>
          </a:xfrm>
          <a:prstGeom prst="straightConnector1">
            <a:avLst/>
          </a:prstGeom>
          <a:ln w="19050">
            <a:solidFill>
              <a:srgbClr val="FFC0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8B365FD7-3E27-03F2-2601-83F96BD5FC81}"/>
              </a:ext>
            </a:extLst>
          </p:cNvPr>
          <p:cNvGrpSpPr/>
          <p:nvPr/>
        </p:nvGrpSpPr>
        <p:grpSpPr>
          <a:xfrm>
            <a:off x="838200" y="-36923"/>
            <a:ext cx="4629752" cy="1015663"/>
            <a:chOff x="924025" y="1526961"/>
            <a:chExt cx="4629752" cy="10156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FEB279D-0214-2D84-0947-7439DC761B5A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B56A07E-12D4-3823-221F-1240F68EE041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Comentarios en línea y bloque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58DF9C8-E3C8-1E66-2683-3D13F8621F8C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B18B6A9-660F-89CE-4F15-EA41D713A69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08633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Operadores aritméticos, lógicos y relacionales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21</a:t>
            </a:fld>
            <a:endParaRPr lang="es-PE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Comentarios en línea y bloque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C9A1BAD1-520D-0E7E-956F-AC5E24C396BD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Clase 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Math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58020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3A6521A-6865-C08A-2D9A-A863A65F4547}"/>
              </a:ext>
            </a:extLst>
          </p:cNvPr>
          <p:cNvGrpSpPr/>
          <p:nvPr/>
        </p:nvGrpSpPr>
        <p:grpSpPr>
          <a:xfrm>
            <a:off x="838200" y="-45611"/>
            <a:ext cx="4629752" cy="1015663"/>
            <a:chOff x="924025" y="1526961"/>
            <a:chExt cx="4629752" cy="10156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EBE930F-103E-157E-8236-B10E55E78412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9EF7343-6ADC-21D7-A278-F1C8A388694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Clase 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Math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B67D2B4-D003-A349-F64C-445B5A1BB61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77D9374-9678-B99E-7DBD-3652C67BF0C0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D2A9414-D004-6023-4331-E36A95ABE5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695" t="16572" r="20721" b="14233"/>
          <a:stretch/>
        </p:blipFill>
        <p:spPr>
          <a:xfrm>
            <a:off x="7088865" y="2690533"/>
            <a:ext cx="4581052" cy="33177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6428EC-F619-3363-B221-8506568C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Clase </a:t>
            </a:r>
            <a:r>
              <a:rPr lang="es-ES" dirty="0" err="1"/>
              <a:t>Math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6E9820-73C4-A1C2-8C7C-288185F4E6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22</a:t>
            </a:fld>
            <a:endParaRPr lang="es-PE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AC4E2E6-BBB3-653C-AC6B-1A1EB42FB43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7183170" cy="4373562"/>
          </a:xfrm>
        </p:spPr>
        <p:txBody>
          <a:bodyPr/>
          <a:lstStyle/>
          <a:p>
            <a:r>
              <a:rPr lang="es-ES" dirty="0"/>
              <a:t>Biblioteca matemática de Java.</a:t>
            </a:r>
          </a:p>
          <a:p>
            <a:r>
              <a:rPr lang="es-ES" dirty="0"/>
              <a:t>Definida en el paquete </a:t>
            </a:r>
            <a:r>
              <a:rPr lang="es-ES" b="1" dirty="0" err="1">
                <a:solidFill>
                  <a:schemeClr val="accent2"/>
                </a:solidFill>
              </a:rPr>
              <a:t>java.lang</a:t>
            </a:r>
            <a:endParaRPr lang="es-ES" b="1" dirty="0">
              <a:solidFill>
                <a:schemeClr val="accent2"/>
              </a:solidFill>
            </a:endParaRPr>
          </a:p>
          <a:p>
            <a:r>
              <a:rPr lang="en-US" dirty="0" err="1"/>
              <a:t>Contiene</a:t>
            </a:r>
            <a:r>
              <a:rPr lang="en-US" dirty="0"/>
              <a:t> </a:t>
            </a:r>
            <a:r>
              <a:rPr lang="en-US" dirty="0" err="1"/>
              <a:t>diversos</a:t>
            </a:r>
            <a:r>
              <a:rPr lang="en-US" dirty="0"/>
              <a:t> </a:t>
            </a:r>
            <a:r>
              <a:rPr lang="en-US" dirty="0" err="1"/>
              <a:t>métodos</a:t>
            </a:r>
            <a:r>
              <a:rPr lang="en-US" dirty="0"/>
              <a:t> para operaciones </a:t>
            </a:r>
            <a:r>
              <a:rPr lang="en-US" dirty="0" err="1"/>
              <a:t>matemáticas</a:t>
            </a:r>
            <a:r>
              <a:rPr lang="en-US" dirty="0"/>
              <a:t>: </a:t>
            </a:r>
            <a:r>
              <a:rPr lang="en-US" dirty="0" err="1"/>
              <a:t>básicas</a:t>
            </a:r>
            <a:r>
              <a:rPr lang="en-US" dirty="0"/>
              <a:t>, </a:t>
            </a:r>
            <a:r>
              <a:rPr lang="en-US" dirty="0" err="1"/>
              <a:t>logarítmicas</a:t>
            </a:r>
            <a:r>
              <a:rPr lang="en-US" dirty="0"/>
              <a:t>, </a:t>
            </a:r>
            <a:r>
              <a:rPr lang="en-US" dirty="0" err="1"/>
              <a:t>trigonométricas</a:t>
            </a:r>
            <a:r>
              <a:rPr lang="en-US" dirty="0"/>
              <a:t>, </a:t>
            </a:r>
            <a:r>
              <a:rPr lang="en-US" dirty="0" err="1"/>
              <a:t>hiperbólicas</a:t>
            </a:r>
            <a:r>
              <a:rPr lang="en-US" dirty="0"/>
              <a:t> y </a:t>
            </a:r>
            <a:r>
              <a:rPr lang="en-US" dirty="0" err="1"/>
              <a:t>angulares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04921F-70FD-5ED7-4DBB-4E394008F106}"/>
              </a:ext>
            </a:extLst>
          </p:cNvPr>
          <p:cNvSpPr txBox="1"/>
          <p:nvPr/>
        </p:nvSpPr>
        <p:spPr>
          <a:xfrm>
            <a:off x="88271" y="6391438"/>
            <a:ext cx="8177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  <a:br>
              <a:rPr lang="en-US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https://www.creativefabrica.com/wp-content/uploads/2022/09/28/Cartoon-maths-elements-background-educa-Graphics-39463579-1.png</a:t>
            </a:r>
          </a:p>
        </p:txBody>
      </p:sp>
    </p:spTree>
    <p:extLst>
      <p:ext uri="{BB962C8B-B14F-4D97-AF65-F5344CB8AC3E}">
        <p14:creationId xmlns:p14="http://schemas.microsoft.com/office/powerpoint/2010/main" val="3259779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428EC-F619-3363-B221-8506568C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Clase </a:t>
            </a:r>
            <a:r>
              <a:rPr lang="es-ES" dirty="0" err="1"/>
              <a:t>Math</a:t>
            </a:r>
            <a:r>
              <a:rPr lang="es-ES" dirty="0"/>
              <a:t>. Principales métodos.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6E9820-73C4-A1C2-8C7C-288185F4E6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23</a:t>
            </a:fld>
            <a:endParaRPr lang="es-PE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AE98BDF-6730-6344-90D5-32A7566260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887690"/>
              </p:ext>
            </p:extLst>
          </p:nvPr>
        </p:nvGraphicFramePr>
        <p:xfrm>
          <a:off x="2493096" y="2272420"/>
          <a:ext cx="7205807" cy="3612336"/>
        </p:xfrm>
        <a:graphic>
          <a:graphicData uri="http://schemas.openxmlformats.org/drawingml/2006/table">
            <a:tbl>
              <a:tblPr firstRow="1">
                <a:tableStyleId>{1E171933-4619-4E11-9A3F-F7608DF75F80}</a:tableStyleId>
              </a:tblPr>
              <a:tblGrid>
                <a:gridCol w="2475347">
                  <a:extLst>
                    <a:ext uri="{9D8B030D-6E8A-4147-A177-3AD203B41FA5}">
                      <a16:colId xmlns:a16="http://schemas.microsoft.com/office/drawing/2014/main" val="2348309781"/>
                    </a:ext>
                  </a:extLst>
                </a:gridCol>
                <a:gridCol w="4730460">
                  <a:extLst>
                    <a:ext uri="{9D8B030D-6E8A-4147-A177-3AD203B41FA5}">
                      <a16:colId xmlns:a16="http://schemas.microsoft.com/office/drawing/2014/main" val="1966898793"/>
                    </a:ext>
                  </a:extLst>
                </a:gridCol>
              </a:tblGrid>
              <a:tr h="451542">
                <a:tc>
                  <a:txBody>
                    <a:bodyPr/>
                    <a:lstStyle/>
                    <a:p>
                      <a:pPr algn="ctr" fontAlgn="base"/>
                      <a:r>
                        <a:rPr lang="es-ES" sz="1800" b="0" dirty="0">
                          <a:solidFill>
                            <a:srgbClr val="FFFFFF"/>
                          </a:solidFill>
                          <a:effectLst/>
                          <a:latin typeface="Helvetica" pitchFamily="2" charset="0"/>
                        </a:rPr>
                        <a:t>Método​</a:t>
                      </a:r>
                      <a:endParaRPr lang="es-ES" sz="1800" b="0" i="0" dirty="0">
                        <a:solidFill>
                          <a:srgbClr val="FFFFFF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sz="1800" b="0" dirty="0">
                          <a:solidFill>
                            <a:srgbClr val="FFFFFF"/>
                          </a:solidFill>
                          <a:effectLst/>
                          <a:latin typeface="Helvetica" pitchFamily="2" charset="0"/>
                        </a:rPr>
                        <a:t>Descripción​</a:t>
                      </a:r>
                      <a:endParaRPr lang="es-ES" sz="1800" b="0" i="0" dirty="0">
                        <a:solidFill>
                          <a:srgbClr val="FFFFFF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829146"/>
                  </a:ext>
                </a:extLst>
              </a:tr>
              <a:tr h="451542">
                <a:tc>
                  <a:txBody>
                    <a:bodyPr/>
                    <a:lstStyle/>
                    <a:p>
                      <a:pPr algn="ctr" fontAlgn="base"/>
                      <a:r>
                        <a:rPr lang="es-ES" sz="1800" b="1" dirty="0" err="1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sqrt</a:t>
                      </a:r>
                      <a:r>
                        <a:rPr lang="es-ES" sz="1800" b="1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()​</a:t>
                      </a:r>
                      <a:endParaRPr lang="es-ES" sz="1800" b="1" i="0" dirty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sz="18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Devuelve la raíz cuadrada​</a:t>
                      </a:r>
                      <a:endParaRPr lang="es-ES" sz="18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518984"/>
                  </a:ext>
                </a:extLst>
              </a:tr>
              <a:tr h="451542">
                <a:tc>
                  <a:txBody>
                    <a:bodyPr/>
                    <a:lstStyle/>
                    <a:p>
                      <a:pPr algn="ctr" fontAlgn="base"/>
                      <a:r>
                        <a:rPr lang="es-ES" sz="1800" b="1" dirty="0" err="1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abs</a:t>
                      </a:r>
                      <a:r>
                        <a:rPr lang="es-ES" sz="1800" b="1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()​</a:t>
                      </a:r>
                      <a:endParaRPr lang="es-ES" sz="1800" b="1" i="0" dirty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sz="18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Devuelve el valor absoluto​</a:t>
                      </a:r>
                      <a:endParaRPr lang="es-ES" sz="18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767792"/>
                  </a:ext>
                </a:extLst>
              </a:tr>
              <a:tr h="451542">
                <a:tc>
                  <a:txBody>
                    <a:bodyPr/>
                    <a:lstStyle/>
                    <a:p>
                      <a:pPr algn="ctr" fontAlgn="base"/>
                      <a:r>
                        <a:rPr lang="es-ES" sz="1800" b="1" dirty="0" err="1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pow</a:t>
                      </a:r>
                      <a:r>
                        <a:rPr lang="es-ES" sz="1800" b="1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</a:t>
                      </a:r>
                      <a:r>
                        <a:rPr lang="es-ES" sz="1800" b="1" dirty="0" err="1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a,b</a:t>
                      </a:r>
                      <a:r>
                        <a:rPr lang="es-ES" sz="1800" b="1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)​</a:t>
                      </a:r>
                      <a:endParaRPr lang="es-ES" sz="1800" b="1" i="0" dirty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sz="18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Devuelve la potencia de a elevado a la b​</a:t>
                      </a:r>
                      <a:endParaRPr lang="es-ES" sz="18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14248"/>
                  </a:ext>
                </a:extLst>
              </a:tr>
              <a:tr h="451542">
                <a:tc>
                  <a:txBody>
                    <a:bodyPr/>
                    <a:lstStyle/>
                    <a:p>
                      <a:pPr algn="ctr" fontAlgn="base"/>
                      <a:r>
                        <a:rPr lang="es-ES" sz="1800" b="1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round()​</a:t>
                      </a:r>
                      <a:endParaRPr lang="es-ES" sz="1800" b="1" i="0" dirty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sz="18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Devuelve el valor redondeado​</a:t>
                      </a:r>
                      <a:endParaRPr lang="es-ES" sz="18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40787"/>
                  </a:ext>
                </a:extLst>
              </a:tr>
              <a:tr h="451542">
                <a:tc>
                  <a:txBody>
                    <a:bodyPr/>
                    <a:lstStyle/>
                    <a:p>
                      <a:pPr algn="ctr" fontAlgn="base"/>
                      <a:r>
                        <a:rPr lang="es-ES" sz="1800" b="1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min(</a:t>
                      </a:r>
                      <a:r>
                        <a:rPr lang="es-ES" sz="1800" b="1" dirty="0" err="1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a,b</a:t>
                      </a:r>
                      <a:r>
                        <a:rPr lang="es-ES" sz="1800" b="1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)​</a:t>
                      </a:r>
                      <a:endParaRPr lang="es-ES" sz="1800" b="1" i="0" dirty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sz="18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Devuelve el menor entre a y b​</a:t>
                      </a:r>
                      <a:endParaRPr lang="es-ES" sz="18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758110"/>
                  </a:ext>
                </a:extLst>
              </a:tr>
              <a:tr h="451542">
                <a:tc>
                  <a:txBody>
                    <a:bodyPr/>
                    <a:lstStyle/>
                    <a:p>
                      <a:pPr algn="ctr" fontAlgn="base"/>
                      <a:r>
                        <a:rPr lang="es-ES" sz="1800" b="1" dirty="0" err="1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max</a:t>
                      </a:r>
                      <a:r>
                        <a:rPr lang="es-ES" sz="1800" b="1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</a:t>
                      </a:r>
                      <a:r>
                        <a:rPr lang="es-ES" sz="1800" b="1" dirty="0" err="1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a,b</a:t>
                      </a:r>
                      <a:r>
                        <a:rPr lang="es-ES" sz="1800" b="1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)​</a:t>
                      </a:r>
                      <a:endParaRPr lang="es-ES" sz="1800" b="1" i="0" dirty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sz="18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Devuelve el mayor entre a y b​</a:t>
                      </a:r>
                      <a:endParaRPr lang="es-ES" sz="18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476457"/>
                  </a:ext>
                </a:extLst>
              </a:tr>
              <a:tr h="451542">
                <a:tc>
                  <a:txBody>
                    <a:bodyPr/>
                    <a:lstStyle/>
                    <a:p>
                      <a:pPr algn="ctr" fontAlgn="base"/>
                      <a:r>
                        <a:rPr lang="es-ES" sz="1800" b="1" dirty="0" err="1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random</a:t>
                      </a:r>
                      <a:r>
                        <a:rPr lang="es-ES" sz="1800" b="1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()​</a:t>
                      </a:r>
                      <a:endParaRPr lang="es-ES" sz="1800" b="1" i="0" dirty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sz="18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Devuelve un </a:t>
                      </a:r>
                      <a:r>
                        <a:rPr lang="es-ES" sz="1800" b="0" dirty="0" err="1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nro</a:t>
                      </a:r>
                      <a:r>
                        <a:rPr lang="es-ES" sz="1800" b="0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 aleatorio​</a:t>
                      </a:r>
                      <a:endParaRPr lang="es-ES" sz="1800" b="0" i="0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952069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5D18C27C-38C6-DC62-147B-3757D0F0ED34}"/>
              </a:ext>
            </a:extLst>
          </p:cNvPr>
          <p:cNvGrpSpPr/>
          <p:nvPr/>
        </p:nvGrpSpPr>
        <p:grpSpPr>
          <a:xfrm>
            <a:off x="838200" y="-45611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08D7E31-4171-AD76-283A-3F62233403C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2831E66-D7ED-5FCA-BD7A-EBACA1981E6C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Clase 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Math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353BE40-E895-BEB1-1ECB-480B2FB30BB0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5AF27B-2E48-BD63-2285-ABC577896024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64625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428EC-F619-3363-B221-8506568C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Clase </a:t>
            </a:r>
            <a:r>
              <a:rPr lang="es-ES" dirty="0" err="1"/>
              <a:t>Math</a:t>
            </a:r>
            <a:r>
              <a:rPr lang="es-ES" dirty="0"/>
              <a:t>. Ejemplos.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6E9820-73C4-A1C2-8C7C-288185F4E6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24</a:t>
            </a:fld>
            <a:endParaRPr lang="es-PE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2A9CBC0-1309-3C19-CDD9-7ADBA7AC0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363" y="1858027"/>
            <a:ext cx="7157729" cy="2062220"/>
          </a:xfrm>
          <a:prstGeom prst="roundRect">
            <a:avLst>
              <a:gd name="adj" fmla="val 5289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Raíz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cuadrada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 28 =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Math.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sqrt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28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"Valor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absoluto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 -16 =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Math.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abs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(-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16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"12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elevado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a la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potencia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6 =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Math.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pow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Redondear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46.78 =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Math.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round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46.78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"El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menor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valor entre 456 y 72 =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Math.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456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72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"El mayor valor entre 456 y 72 =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Math.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max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456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72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"Un valor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aleatorio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Math.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random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F67DCE-CE6D-8280-8491-81847B2BC9EC}"/>
              </a:ext>
            </a:extLst>
          </p:cNvPr>
          <p:cNvSpPr txBox="1"/>
          <p:nvPr/>
        </p:nvSpPr>
        <p:spPr>
          <a:xfrm>
            <a:off x="1743363" y="4400403"/>
            <a:ext cx="4599709" cy="2085257"/>
          </a:xfrm>
          <a:prstGeom prst="roundRect">
            <a:avLst>
              <a:gd name="adj" fmla="val 3728"/>
            </a:avLst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Raíz</a:t>
            </a: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cuadrada</a:t>
            </a: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 28 = 5.291502622129181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Valor </a:t>
            </a:r>
            <a:r>
              <a:rPr lang="en-US" sz="12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absoluto</a:t>
            </a: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 -16 = 16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 </a:t>
            </a:r>
            <a:r>
              <a:rPr lang="en-US" sz="12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elevado</a:t>
            </a: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a la </a:t>
            </a:r>
            <a:r>
              <a:rPr lang="en-US" sz="12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potencia</a:t>
            </a: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6 = 2985984.0</a:t>
            </a:r>
          </a:p>
          <a:p>
            <a:pPr>
              <a:lnSpc>
                <a:spcPct val="150000"/>
              </a:lnSpc>
            </a:pPr>
            <a:r>
              <a:rPr lang="en-US" sz="12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Redondear</a:t>
            </a: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46.78 = 47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 </a:t>
            </a:r>
            <a:r>
              <a:rPr lang="en-US" sz="12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menor</a:t>
            </a: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valor entre 456 y 72 = 72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 mayor valor entre 456 y 72 = 456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 valor </a:t>
            </a:r>
            <a:r>
              <a:rPr lang="en-US" sz="1200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aleatorio</a:t>
            </a: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0.3819899261140214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E9D4B3-575C-DFEC-5583-F64EC81C0D19}"/>
              </a:ext>
            </a:extLst>
          </p:cNvPr>
          <p:cNvSpPr txBox="1"/>
          <p:nvPr/>
        </p:nvSpPr>
        <p:spPr>
          <a:xfrm>
            <a:off x="1743363" y="4043381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Salida: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A5D9D50-3B7E-C7B5-F648-86BB2977A74E}"/>
              </a:ext>
            </a:extLst>
          </p:cNvPr>
          <p:cNvGrpSpPr/>
          <p:nvPr/>
        </p:nvGrpSpPr>
        <p:grpSpPr>
          <a:xfrm>
            <a:off x="838200" y="-45611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52C1313-A561-DFA5-14B8-C04B121212E3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09501F3-290E-983C-BDC7-7E37ED4BE42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Clase 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Math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FAE0DBF-5809-485E-2993-4EEDE2C575B2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5E23456-5272-8F37-6030-4D719F746497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355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8A8C9-355C-B375-F419-53EB7FBA52CF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8C5937-AEC8-D4AC-1863-47EC6A0DD5D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9DA0B8-3305-EA9B-D50C-133423FA16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Clase 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Math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719D950-4EA4-CB17-5AF9-0E716D1D0C9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B44CEB-5449-91C4-4D8C-947E50150B6A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Operadores aritméticos, lógicos y relacionales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25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Comentarios en línea y bloque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C9A1BAD1-520D-0E7E-956F-AC5E24C396BD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5B4B5B-713C-2D58-C773-D4CFF9997391}"/>
              </a:ext>
            </a:extLst>
          </p:cNvPr>
          <p:cNvGrpSpPr/>
          <p:nvPr/>
        </p:nvGrpSpPr>
        <p:grpSpPr>
          <a:xfrm>
            <a:off x="1955128" y="3561599"/>
            <a:ext cx="4629752" cy="1015663"/>
            <a:chOff x="924025" y="1526961"/>
            <a:chExt cx="4629752" cy="10156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5F2FB8B-07D6-48FB-E370-38EA1636528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28AFDEB-1E73-3FEA-2DFF-DBAF08C0A2B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2F77E9-2E11-217F-40EC-8E3C7703B3BB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69D5F82-C60A-5B84-5E19-A1B153065B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96807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D67782C-0C8B-48A4-B8AD-A13331A18871}"/>
              </a:ext>
            </a:extLst>
          </p:cNvPr>
          <p:cNvGrpSpPr/>
          <p:nvPr/>
        </p:nvGrpSpPr>
        <p:grpSpPr>
          <a:xfrm>
            <a:off x="867075" y="-37795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ACB30DE-1FC9-9304-25EB-239109055F2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C8FA0A1-3B8D-7519-962A-8A68B8A1D8DE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A82E64A-C221-F0BE-86B5-B9389E33C0D9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7A0FC9E-571C-3F0A-0D36-9AB54E8E8C3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9EFC21-FF26-4391-5D72-49D1C967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1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338E3B-0880-9677-9EFA-0DD1D1BD11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26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A9507-CCBF-0944-F977-CEA7149A5ED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6477000" cy="467223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s-ES" dirty="0">
                <a:latin typeface="+mj-lt"/>
              </a:rPr>
              <a:t>Implementar un programa que calcule la distancia que recorre la luz en N días, sabiendo que en un segundo la luz viaja a 299792458 m/s.</a:t>
            </a:r>
          </a:p>
          <a:p>
            <a:pPr>
              <a:lnSpc>
                <a:spcPct val="120000"/>
              </a:lnSpc>
            </a:pPr>
            <a:r>
              <a:rPr lang="es-ES" dirty="0">
                <a:latin typeface="+mj-lt"/>
              </a:rPr>
              <a:t>Leer el número de días utilizando la clase </a:t>
            </a:r>
            <a:r>
              <a:rPr lang="es-ES" b="1" dirty="0">
                <a:latin typeface="+mj-lt"/>
              </a:rPr>
              <a:t>Scanner</a:t>
            </a:r>
            <a:r>
              <a:rPr lang="es-ES" dirty="0">
                <a:latin typeface="+mj-lt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s-ES" dirty="0">
                <a:latin typeface="+mj-lt"/>
              </a:rPr>
              <a:t>Crear una constante para almacenar la velocidad de la luz.</a:t>
            </a:r>
          </a:p>
          <a:p>
            <a:pPr>
              <a:lnSpc>
                <a:spcPct val="120000"/>
              </a:lnSpc>
            </a:pPr>
            <a:r>
              <a:rPr lang="es-ES" dirty="0">
                <a:latin typeface="+mj-lt"/>
              </a:rPr>
              <a:t>Mostrar el resultado utilizando salida con formato.</a:t>
            </a:r>
            <a:endParaRPr lang="en-US" dirty="0"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AD9F54-D358-1CA8-194A-501AC0F8DE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117" r="27411"/>
          <a:stretch/>
        </p:blipFill>
        <p:spPr>
          <a:xfrm>
            <a:off x="7519024" y="0"/>
            <a:ext cx="4672976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E64E0C9-43C3-AEC6-AA24-FB7C3768F97D}"/>
              </a:ext>
            </a:extLst>
          </p:cNvPr>
          <p:cNvSpPr txBox="1"/>
          <p:nvPr/>
        </p:nvSpPr>
        <p:spPr>
          <a:xfrm>
            <a:off x="133196" y="6520806"/>
            <a:ext cx="876635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https://images.immediate.co.uk/production/volatile/sites/25/2022/05/GettyImages-1191009006-98c97f3.jpg?quality=90&amp;resize=980,654</a:t>
            </a:r>
          </a:p>
        </p:txBody>
      </p:sp>
    </p:spTree>
    <p:extLst>
      <p:ext uri="{BB962C8B-B14F-4D97-AF65-F5344CB8AC3E}">
        <p14:creationId xmlns:p14="http://schemas.microsoft.com/office/powerpoint/2010/main" val="1775541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D67782C-0C8B-48A4-B8AD-A13331A18871}"/>
              </a:ext>
            </a:extLst>
          </p:cNvPr>
          <p:cNvGrpSpPr/>
          <p:nvPr/>
        </p:nvGrpSpPr>
        <p:grpSpPr>
          <a:xfrm>
            <a:off x="867075" y="-37795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ACB30DE-1FC9-9304-25EB-239109055F2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BA75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C8FA0A1-3B8D-7519-962A-8A68B8A1D8DE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A82E64A-C221-F0BE-86B5-B9389E33C0D9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4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7A0FC9E-571C-3F0A-0D36-9AB54E8E8C3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9EFC21-FF26-4391-5D72-49D1C967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2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338E3B-0880-9677-9EFA-0DD1D1BD11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27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A9507-CCBF-0944-F977-CEA7149A5ED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7299036" cy="4373562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</a:pPr>
            <a:r>
              <a:rPr lang="es-ES" dirty="0"/>
              <a:t>Implementar un programa que genere una boleta de venta similar a la mostrada (salida con formato).</a:t>
            </a:r>
          </a:p>
          <a:p>
            <a:pPr>
              <a:lnSpc>
                <a:spcPct val="120000"/>
              </a:lnSpc>
            </a:pPr>
            <a:r>
              <a:rPr lang="es-ES" dirty="0"/>
              <a:t>Debe solicitar mediante Scanner, los siguientes datos: nombre de cliente, nombre del producto, precio y cantidad comprada.</a:t>
            </a:r>
          </a:p>
          <a:p>
            <a:pPr>
              <a:lnSpc>
                <a:spcPct val="120000"/>
              </a:lnSpc>
            </a:pPr>
            <a:r>
              <a:rPr lang="en-US" dirty="0"/>
              <a:t>Deben </a:t>
            </a:r>
            <a:r>
              <a:rPr lang="en-US" dirty="0" err="1"/>
              <a:t>ingresarse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de dos </a:t>
            </a:r>
            <a:r>
              <a:rPr lang="en-US" dirty="0" err="1"/>
              <a:t>productos</a:t>
            </a:r>
            <a:r>
              <a:rPr lang="en-US" dirty="0"/>
              <a:t> </a:t>
            </a:r>
            <a:r>
              <a:rPr lang="en-US" dirty="0" err="1"/>
              <a:t>distintos</a:t>
            </a:r>
            <a:r>
              <a:rPr lang="en-US" dirty="0"/>
              <a:t>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4371A7D-9611-6A73-0059-9A2A741A025A}"/>
              </a:ext>
            </a:extLst>
          </p:cNvPr>
          <p:cNvGrpSpPr/>
          <p:nvPr/>
        </p:nvGrpSpPr>
        <p:grpSpPr>
          <a:xfrm>
            <a:off x="8781861" y="1846263"/>
            <a:ext cx="2743200" cy="4092810"/>
            <a:chOff x="8781861" y="1846263"/>
            <a:chExt cx="2743200" cy="409281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8B603C4-8A31-974A-4712-FD4DEC1A8BF9}"/>
                </a:ext>
              </a:extLst>
            </p:cNvPr>
            <p:cNvSpPr/>
            <p:nvPr/>
          </p:nvSpPr>
          <p:spPr>
            <a:xfrm>
              <a:off x="8781861" y="1846263"/>
              <a:ext cx="2743200" cy="409281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B5400071-57BA-0A00-0902-98FA4267257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5" r="1"/>
            <a:stretch/>
          </p:blipFill>
          <p:spPr bwMode="auto">
            <a:xfrm>
              <a:off x="8953875" y="2097150"/>
              <a:ext cx="2427083" cy="35147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12698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963A0-764F-792D-3F43-7474BD7A8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Tarea grupal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18E3C7-3BFF-8F75-8E58-2C4F28BEF7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28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B71356-1799-139A-6FB0-2987604527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607737"/>
            <a:ext cx="7372927" cy="4662434"/>
          </a:xfrm>
        </p:spPr>
        <p:txBody>
          <a:bodyPr>
            <a:normAutofit fontScale="77500" lnSpcReduction="20000"/>
          </a:bodyPr>
          <a:lstStyle/>
          <a:p>
            <a:pPr marL="565150" indent="-514350">
              <a:lnSpc>
                <a:spcPct val="120000"/>
              </a:lnSpc>
              <a:buFont typeface="+mj-lt"/>
              <a:buAutoNum type="arabicPeriod"/>
            </a:pPr>
            <a:r>
              <a:rPr lang="es-ES" dirty="0"/>
              <a:t>Implementar un programa que imprima un boleto de viaje interprovincial.</a:t>
            </a:r>
          </a:p>
          <a:p>
            <a:pPr marL="565150" indent="-514350">
              <a:lnSpc>
                <a:spcPct val="120000"/>
              </a:lnSpc>
              <a:buFont typeface="+mj-lt"/>
              <a:buAutoNum type="arabicPeriod"/>
            </a:pPr>
            <a:r>
              <a:rPr lang="es-ES" dirty="0"/>
              <a:t>Implementar un programa que imprima una boleta de pago, incluyendo descuentos, subtotal y total.</a:t>
            </a:r>
          </a:p>
          <a:p>
            <a:pPr marL="565150" indent="-514350">
              <a:lnSpc>
                <a:spcPct val="120000"/>
              </a:lnSpc>
              <a:buFont typeface="+mj-lt"/>
              <a:buAutoNum type="arabicPeriod"/>
            </a:pPr>
            <a:r>
              <a:rPr lang="es-ES" dirty="0"/>
              <a:t>Implementar un programa que imprima un ticket de operación de un agente bancario.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b="1" dirty="0"/>
              <a:t>Condiciones:</a:t>
            </a:r>
          </a:p>
          <a:p>
            <a:pPr>
              <a:lnSpc>
                <a:spcPct val="120000"/>
              </a:lnSpc>
            </a:pPr>
            <a:r>
              <a:rPr lang="es-ES" dirty="0"/>
              <a:t>Los datos deben ser leídos de teclado usando Scanner.</a:t>
            </a:r>
          </a:p>
          <a:p>
            <a:pPr>
              <a:lnSpc>
                <a:spcPct val="120000"/>
              </a:lnSpc>
            </a:pPr>
            <a:r>
              <a:rPr lang="es-ES" dirty="0"/>
              <a:t>Deben utilizarse todos los tipos de datos primitivos.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62361B-123A-158C-5022-4E64314B5E2C}"/>
              </a:ext>
            </a:extLst>
          </p:cNvPr>
          <p:cNvSpPr txBox="1"/>
          <p:nvPr/>
        </p:nvSpPr>
        <p:spPr>
          <a:xfrm>
            <a:off x="8610600" y="2578790"/>
            <a:ext cx="3343563" cy="3946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Indicaciones</a:t>
            </a:r>
            <a:br>
              <a:rPr lang="en-US" b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</a:br>
            <a:endParaRPr lang="en-US" b="1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Grupos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: 3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integrantes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máximo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Entregables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: a). Video de 3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minutos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máximo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)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explicando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las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soluciones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propuestas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; b).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Archivo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ZIP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conteniendo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el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Proyecto java con las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soluciones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Cada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integrante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aparecerá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el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video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explicando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un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ejercicio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Luego de la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explicación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de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cada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solución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se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deberá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introducir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un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cambio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el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código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que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genere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un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resultado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incorrecto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explicar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los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resultados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59FA58-A78A-A9E9-3F96-6C468073F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7285" y="1242946"/>
            <a:ext cx="1906405" cy="126098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2AEC025-8EB4-8C65-800C-DBA82A5CA60B}"/>
              </a:ext>
            </a:extLst>
          </p:cNvPr>
          <p:cNvCxnSpPr/>
          <p:nvPr/>
        </p:nvCxnSpPr>
        <p:spPr>
          <a:xfrm>
            <a:off x="8447285" y="1108364"/>
            <a:ext cx="0" cy="54217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700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6BB5845-9A47-FEDC-A85E-2D014CA2F3DA}"/>
              </a:ext>
            </a:extLst>
          </p:cNvPr>
          <p:cNvSpPr/>
          <p:nvPr/>
        </p:nvSpPr>
        <p:spPr>
          <a:xfrm>
            <a:off x="0" y="6356350"/>
            <a:ext cx="7320380" cy="501650"/>
          </a:xfrm>
          <a:prstGeom prst="rect">
            <a:avLst/>
          </a:prstGeom>
          <a:solidFill>
            <a:srgbClr val="E5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03D496-97CF-4B26-B9D0-D39676049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Resumen de la sesión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7D7EB-E94C-4379-ADE6-A12EB7C4CBC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7160491" cy="4373562"/>
          </a:xfrm>
        </p:spPr>
        <p:txBody>
          <a:bodyPr>
            <a:normAutofit/>
          </a:bodyPr>
          <a:lstStyle/>
          <a:p>
            <a:r>
              <a:rPr lang="es-ES" dirty="0"/>
              <a:t>¿Qué tipos de comentarios podemos agregar a nuestro código? Explicar.</a:t>
            </a:r>
          </a:p>
          <a:p>
            <a:r>
              <a:rPr lang="es-ES" dirty="0"/>
              <a:t>¿Cuál es la utilidad de los operadores relacionales y lógicos?</a:t>
            </a:r>
          </a:p>
          <a:p>
            <a:r>
              <a:rPr lang="es-ES" dirty="0"/>
              <a:t>¿Qué tipos de operaciones podemos realizar con la clase </a:t>
            </a:r>
            <a:r>
              <a:rPr lang="es-ES" b="1" dirty="0" err="1"/>
              <a:t>Math</a:t>
            </a:r>
            <a:r>
              <a:rPr lang="es-ES" dirty="0"/>
              <a:t>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714D7F-9F45-47C5-88DE-53E493F191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906163" y="6356350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29</a:t>
            </a:fld>
            <a:endParaRPr lang="es-P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C220F-3C2B-B243-4B55-66FDD2674876}"/>
              </a:ext>
            </a:extLst>
          </p:cNvPr>
          <p:cNvSpPr txBox="1"/>
          <p:nvPr/>
        </p:nvSpPr>
        <p:spPr>
          <a:xfrm>
            <a:off x="101605" y="6421002"/>
            <a:ext cx="9735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https://dpemfoco.com.br/wp-content/uploads/2019/08/Departamento-de-Pessoal-em-Foco-Checklist-Check-list-Checklists.png</a:t>
            </a:r>
          </a:p>
        </p:txBody>
      </p:sp>
      <p:pic>
        <p:nvPicPr>
          <p:cNvPr id="4098" name="Picture 2" descr="Departamento de Pessoal em Foco - Checklist, Check list, Checklists |  Departamento de Pessoal em Foco">
            <a:extLst>
              <a:ext uri="{FF2B5EF4-FFF2-40B4-BE49-F238E27FC236}">
                <a16:creationId xmlns:a16="http://schemas.microsoft.com/office/drawing/2014/main" id="{F8CB8AA5-99DD-1396-1A63-375719030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380" y="2484438"/>
            <a:ext cx="4871619" cy="4373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570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AAE1-A89A-796E-F861-8B102D4B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Bibliografía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7596FB-30E1-8EAC-F179-F56EE7A8D8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30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3BD92-8F52-2949-7992-63F50DB2A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8370455" cy="437356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s-ES" dirty="0"/>
              <a:t>Tanenbaum &amp; Van </a:t>
            </a:r>
            <a:r>
              <a:rPr lang="es-ES" dirty="0" err="1"/>
              <a:t>Steen</a:t>
            </a:r>
            <a:r>
              <a:rPr lang="es-ES" dirty="0"/>
              <a:t>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Algoritmos y Estructuras de Datos - Principios y Paradigmas, 2da Edición</a:t>
            </a:r>
            <a:r>
              <a:rPr lang="es-ES" dirty="0"/>
              <a:t>. Pearson </a:t>
            </a:r>
            <a:r>
              <a:rPr lang="es-ES" dirty="0" err="1"/>
              <a:t>Education</a:t>
            </a:r>
            <a:r>
              <a:rPr lang="es-ES" dirty="0"/>
              <a:t>​.</a:t>
            </a:r>
          </a:p>
          <a:p>
            <a:pPr>
              <a:lnSpc>
                <a:spcPct val="120000"/>
              </a:lnSpc>
            </a:pPr>
            <a:r>
              <a:rPr lang="en-US" dirty="0"/>
              <a:t>Khalid A. Mughal &amp; Rolf W. Rasmussen (2017). A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Programmer’s guide to Java SE 8 Oracle Certified Associate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 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Beginner’s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Guide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Eighth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Complete Reference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Eleventh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021AEC-CD51-7E5F-26CB-5CDC143BC8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118"/>
          <a:stretch/>
        </p:blipFill>
        <p:spPr>
          <a:xfrm>
            <a:off x="9208655" y="1057997"/>
            <a:ext cx="2983345" cy="5168601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B7CE11-3AE4-2A5E-0825-C0E9DFAB006E}"/>
              </a:ext>
            </a:extLst>
          </p:cNvPr>
          <p:cNvSpPr txBox="1"/>
          <p:nvPr/>
        </p:nvSpPr>
        <p:spPr>
          <a:xfrm>
            <a:off x="101605" y="6421002"/>
            <a:ext cx="9735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https://pngimg.com/d/book_PNG51088.png</a:t>
            </a:r>
          </a:p>
        </p:txBody>
      </p:sp>
    </p:spTree>
    <p:extLst>
      <p:ext uri="{BB962C8B-B14F-4D97-AF65-F5344CB8AC3E}">
        <p14:creationId xmlns:p14="http://schemas.microsoft.com/office/powerpoint/2010/main" val="359810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UT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6524</TotalTime>
  <Words>2123</Words>
  <Application>Microsoft Office PowerPoint</Application>
  <PresentationFormat>Panorámica</PresentationFormat>
  <Paragraphs>385</Paragraphs>
  <Slides>31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5" baseType="lpstr">
      <vt:lpstr>Helvetica</vt:lpstr>
      <vt:lpstr>Arial</vt:lpstr>
      <vt:lpstr>JetBrains Mono</vt:lpstr>
      <vt:lpstr>TemaUTP</vt:lpstr>
      <vt:lpstr>Taller de Programación</vt:lpstr>
      <vt:lpstr>Dudas de la clase anterior</vt:lpstr>
      <vt:lpstr>Dudas de la clase anterior</vt:lpstr>
      <vt:lpstr>Dudas de la clase anterior</vt:lpstr>
      <vt:lpstr>Dudas de la clase anterior</vt:lpstr>
      <vt:lpstr>Tipos de Datos, Operadores y Entrada de Datos (II)</vt:lpstr>
      <vt:lpstr>Conocimientos previos</vt:lpstr>
      <vt:lpstr>Logro de aprendizaje</vt:lpstr>
      <vt:lpstr>Utilidad</vt:lpstr>
      <vt:lpstr>Presentación de PowerPoint</vt:lpstr>
      <vt:lpstr>Presentación de PowerPoint</vt:lpstr>
      <vt:lpstr>Operadores aritméticos</vt:lpstr>
      <vt:lpstr>Operadores relacionales</vt:lpstr>
      <vt:lpstr>Checks en Java</vt:lpstr>
      <vt:lpstr>Operadores lógicos</vt:lpstr>
      <vt:lpstr>Operadores lógicos. Tablas de Verdad.</vt:lpstr>
      <vt:lpstr>Operadores lógicos. Ejemplos.</vt:lpstr>
      <vt:lpstr>Presentación de PowerPoint</vt:lpstr>
      <vt:lpstr>Comentarios</vt:lpstr>
      <vt:lpstr>Comentarios. Ejemplo.</vt:lpstr>
      <vt:lpstr>Presentación de PowerPoint</vt:lpstr>
      <vt:lpstr>Clase Math</vt:lpstr>
      <vt:lpstr>Clase Math. Principales métodos.</vt:lpstr>
      <vt:lpstr>Clase Math. Ejemplos.</vt:lpstr>
      <vt:lpstr>Presentación de PowerPoint</vt:lpstr>
      <vt:lpstr>Ejercicio 1</vt:lpstr>
      <vt:lpstr>Ejercicio 2</vt:lpstr>
      <vt:lpstr>Tarea grupal</vt:lpstr>
      <vt:lpstr>Resumen de la sesión</vt:lpstr>
      <vt:lpstr>Bibliografía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UTP - Taller Programación - Semana 02 - Sesión 04</dc:title>
  <dc:creator>jorgerodcas@hotmail.com</dc:creator>
  <cp:lastModifiedBy>Juan Carlos García</cp:lastModifiedBy>
  <cp:revision>247</cp:revision>
  <dcterms:modified xsi:type="dcterms:W3CDTF">2023-10-20T20:58:01Z</dcterms:modified>
</cp:coreProperties>
</file>