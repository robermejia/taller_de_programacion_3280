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402" r:id="rId3"/>
    <p:sldId id="420" r:id="rId4"/>
    <p:sldId id="421" r:id="rId5"/>
    <p:sldId id="422" r:id="rId6"/>
    <p:sldId id="258" r:id="rId7"/>
    <p:sldId id="257" r:id="rId8"/>
    <p:sldId id="263" r:id="rId9"/>
    <p:sldId id="264" r:id="rId10"/>
    <p:sldId id="380" r:id="rId11"/>
    <p:sldId id="403" r:id="rId12"/>
    <p:sldId id="395" r:id="rId13"/>
    <p:sldId id="404" r:id="rId14"/>
    <p:sldId id="424" r:id="rId15"/>
    <p:sldId id="405" r:id="rId16"/>
    <p:sldId id="406" r:id="rId17"/>
    <p:sldId id="407" r:id="rId18"/>
    <p:sldId id="408" r:id="rId19"/>
    <p:sldId id="409" r:id="rId20"/>
    <p:sldId id="423" r:id="rId21"/>
    <p:sldId id="410" r:id="rId22"/>
    <p:sldId id="419" r:id="rId23"/>
    <p:sldId id="411" r:id="rId24"/>
    <p:sldId id="413" r:id="rId25"/>
    <p:sldId id="414" r:id="rId26"/>
    <p:sldId id="415" r:id="rId27"/>
    <p:sldId id="416" r:id="rId28"/>
    <p:sldId id="417" r:id="rId29"/>
    <p:sldId id="418" r:id="rId30"/>
    <p:sldId id="261" r:id="rId31"/>
    <p:sldId id="329" r:id="rId32"/>
    <p:sldId id="259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48"/>
    <a:srgbClr val="D62A29"/>
    <a:srgbClr val="28373C"/>
    <a:srgbClr val="FDBE4B"/>
    <a:srgbClr val="E9E3B7"/>
    <a:srgbClr val="FF9D5B"/>
    <a:srgbClr val="FFCDAA"/>
    <a:srgbClr val="E64B5F"/>
    <a:srgbClr val="FF827D"/>
    <a:srgbClr val="9BB9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5" autoAdjust="0"/>
    <p:restoredTop sz="91656" autoAdjust="0"/>
  </p:normalViewPr>
  <p:slideViewPr>
    <p:cSldViewPr snapToGrid="0">
      <p:cViewPr varScale="1">
        <p:scale>
          <a:sx n="124" d="100"/>
          <a:sy n="124" d="100"/>
        </p:scale>
        <p:origin x="42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82977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2713032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57855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3359671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781622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B</a:t>
            </a:r>
          </a:p>
          <a:p>
            <a:r>
              <a:rPr lang="es-ES" dirty="0"/>
              <a:t>El bucle recorre la diagonal de la matriz.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180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D</a:t>
            </a:r>
          </a:p>
          <a:p>
            <a:r>
              <a:rPr lang="es-ES" dirty="0"/>
              <a:t>Es posible especificar dimensiones distintas a cada posición de la primera dimensión de un arreglo.</a:t>
            </a:r>
          </a:p>
          <a:p>
            <a:r>
              <a:rPr lang="es-ES" dirty="0"/>
              <a:t>A esto se le denomina “arreglo irregular”.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977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C</a:t>
            </a:r>
          </a:p>
          <a:p>
            <a:r>
              <a:rPr lang="es-ES" dirty="0"/>
              <a:t>Todas las declaraciones son válidas. Una matriz puede declararse:</a:t>
            </a:r>
          </a:p>
          <a:p>
            <a:r>
              <a:rPr lang="es-ES" dirty="0" err="1"/>
              <a:t>Int</a:t>
            </a:r>
            <a:r>
              <a:rPr lang="es-ES" dirty="0"/>
              <a:t>[ ][ ] a    ó también    </a:t>
            </a:r>
            <a:r>
              <a:rPr lang="es-ES" dirty="0" err="1"/>
              <a:t>int</a:t>
            </a:r>
            <a:r>
              <a:rPr lang="es-ES" dirty="0"/>
              <a:t> a[ ][ ]</a:t>
            </a:r>
          </a:p>
          <a:p>
            <a:r>
              <a:rPr lang="es-ES" dirty="0"/>
              <a:t>Pero cuando se quieren crear variables </a:t>
            </a:r>
            <a:r>
              <a:rPr lang="es-ES" dirty="0" err="1"/>
              <a:t>variables</a:t>
            </a:r>
            <a:r>
              <a:rPr lang="es-ES" dirty="0"/>
              <a:t> en una sola línea, la forma de declaración sí importa.</a:t>
            </a:r>
          </a:p>
          <a:p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primera</a:t>
            </a:r>
            <a:r>
              <a:rPr lang="en-US" dirty="0"/>
              <a:t> </a:t>
            </a:r>
            <a:r>
              <a:rPr lang="en-US" dirty="0" err="1"/>
              <a:t>línea</a:t>
            </a:r>
            <a:r>
              <a:rPr lang="en-US" dirty="0"/>
              <a:t>, “a”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matriz</a:t>
            </a:r>
            <a:r>
              <a:rPr lang="en-US" dirty="0"/>
              <a:t> y “b” solo </a:t>
            </a:r>
            <a:r>
              <a:rPr lang="en-US" dirty="0" err="1"/>
              <a:t>una</a:t>
            </a:r>
            <a:r>
              <a:rPr lang="en-US" dirty="0"/>
              <a:t> variable simple.</a:t>
            </a:r>
          </a:p>
          <a:p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segunda</a:t>
            </a:r>
            <a:r>
              <a:rPr lang="en-US" dirty="0"/>
              <a:t> </a:t>
            </a:r>
            <a:r>
              <a:rPr lang="en-US" dirty="0" err="1"/>
              <a:t>línea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hecho</a:t>
            </a:r>
            <a:r>
              <a:rPr lang="en-US" dirty="0"/>
              <a:t> de </a:t>
            </a:r>
            <a:r>
              <a:rPr lang="en-US" dirty="0" err="1"/>
              <a:t>utilizar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corchetes</a:t>
            </a:r>
            <a:r>
              <a:rPr lang="en-US" dirty="0"/>
              <a:t> </a:t>
            </a:r>
            <a:r>
              <a:rPr lang="en-US" dirty="0" err="1"/>
              <a:t>asociados</a:t>
            </a:r>
            <a:r>
              <a:rPr lang="en-US" dirty="0"/>
              <a:t> al </a:t>
            </a:r>
            <a:r>
              <a:rPr lang="en-US" dirty="0" err="1"/>
              <a:t>tipo</a:t>
            </a:r>
            <a:r>
              <a:rPr lang="en-US" dirty="0"/>
              <a:t> y no a la variable </a:t>
            </a:r>
            <a:r>
              <a:rPr lang="en-US" dirty="0" err="1"/>
              <a:t>hace</a:t>
            </a:r>
            <a:r>
              <a:rPr lang="en-US" dirty="0"/>
              <a:t> que ambas </a:t>
            </a:r>
            <a:r>
              <a:rPr lang="en-US" dirty="0" err="1"/>
              <a:t>sean</a:t>
            </a:r>
            <a:r>
              <a:rPr lang="en-US" dirty="0"/>
              <a:t> matrices.</a:t>
            </a:r>
          </a:p>
        </p:txBody>
      </p:sp>
    </p:spTree>
    <p:extLst>
      <p:ext uri="{BB962C8B-B14F-4D97-AF65-F5344CB8AC3E}">
        <p14:creationId xmlns:p14="http://schemas.microsoft.com/office/powerpoint/2010/main" val="3131893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429863"/>
            <a:ext cx="10150151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76E9D0-D0F1-5B0E-7886-75A77C28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1029710"/>
            <a:ext cx="7361383" cy="1936426"/>
          </a:xfrm>
        </p:spPr>
        <p:txBody>
          <a:bodyPr/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Taller de Programación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653361" y="5419035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3208204" y="5419034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31865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de: https://images.wallpapersden.com/image/download/cool-4k-pattern_bGduZWyUmZqaraWkpJRobWllrWdma2U.jpg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DD61-8E08-B0FD-E741-65D35C53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89" y="429863"/>
            <a:ext cx="10593512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ADA3FE-0C5F-7F77-647A-68919E4DA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E71AB2-3E55-7733-9EA6-521D96563931}"/>
              </a:ext>
            </a:extLst>
          </p:cNvPr>
          <p:cNvGrpSpPr/>
          <p:nvPr/>
        </p:nvGrpSpPr>
        <p:grpSpPr>
          <a:xfrm>
            <a:off x="838200" y="1463477"/>
            <a:ext cx="5075435" cy="5075435"/>
            <a:chOff x="2835668" y="246582"/>
            <a:chExt cx="6349430" cy="634943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2ECB02E-ABD8-8DA7-1C7D-1F47EBB457D5}"/>
                </a:ext>
              </a:extLst>
            </p:cNvPr>
            <p:cNvSpPr/>
            <p:nvPr/>
          </p:nvSpPr>
          <p:spPr>
            <a:xfrm rot="16200000">
              <a:off x="1905858" y="2491486"/>
              <a:ext cx="5034336" cy="3174715"/>
            </a:xfrm>
            <a:custGeom>
              <a:avLst/>
              <a:gdLst>
                <a:gd name="connsiteX0" fmla="*/ 1058259 w 5034336"/>
                <a:gd name="connsiteY0" fmla="*/ 0 h 3174715"/>
                <a:gd name="connsiteX1" fmla="*/ 5034336 w 5034336"/>
                <a:gd name="connsiteY1" fmla="*/ 0 h 3174715"/>
                <a:gd name="connsiteX2" fmla="*/ 1859621 w 5034336"/>
                <a:gd name="connsiteY2" fmla="*/ 3174715 h 3174715"/>
                <a:gd name="connsiteX3" fmla="*/ 0 w 5034336"/>
                <a:gd name="connsiteY3" fmla="*/ 1315094 h 3174715"/>
                <a:gd name="connsiteX4" fmla="*/ 0 w 5034336"/>
                <a:gd name="connsiteY4" fmla="*/ 1058259 h 3174715"/>
                <a:gd name="connsiteX5" fmla="*/ 1058259 w 5034336"/>
                <a:gd name="connsiteY5" fmla="*/ 0 h 317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34336" h="3174715">
                  <a:moveTo>
                    <a:pt x="1058259" y="0"/>
                  </a:moveTo>
                  <a:lnTo>
                    <a:pt x="5034336" y="0"/>
                  </a:lnTo>
                  <a:lnTo>
                    <a:pt x="1859621" y="3174715"/>
                  </a:lnTo>
                  <a:lnTo>
                    <a:pt x="0" y="1315094"/>
                  </a:lnTo>
                  <a:lnTo>
                    <a:pt x="0" y="1058259"/>
                  </a:lnTo>
                  <a:cubicBezTo>
                    <a:pt x="0" y="473799"/>
                    <a:pt x="473799" y="0"/>
                    <a:pt x="105825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99CC">
                    <a:shade val="30000"/>
                    <a:satMod val="115000"/>
                  </a:srgbClr>
                </a:gs>
                <a:gs pos="50000">
                  <a:srgbClr val="0099CC">
                    <a:shade val="67500"/>
                    <a:satMod val="115000"/>
                  </a:srgbClr>
                </a:gs>
                <a:gs pos="100000">
                  <a:srgbClr val="0099CC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40C789B-6FB2-7F17-9A72-99DE651A1477}"/>
                </a:ext>
              </a:extLst>
            </p:cNvPr>
            <p:cNvSpPr/>
            <p:nvPr/>
          </p:nvSpPr>
          <p:spPr>
            <a:xfrm rot="5400000">
              <a:off x="5080572" y="1176392"/>
              <a:ext cx="5034336" cy="3174715"/>
            </a:xfrm>
            <a:custGeom>
              <a:avLst/>
              <a:gdLst>
                <a:gd name="connsiteX0" fmla="*/ 1058259 w 5034336"/>
                <a:gd name="connsiteY0" fmla="*/ 0 h 3174715"/>
                <a:gd name="connsiteX1" fmla="*/ 5034336 w 5034336"/>
                <a:gd name="connsiteY1" fmla="*/ 0 h 3174715"/>
                <a:gd name="connsiteX2" fmla="*/ 1859621 w 5034336"/>
                <a:gd name="connsiteY2" fmla="*/ 3174715 h 3174715"/>
                <a:gd name="connsiteX3" fmla="*/ 0 w 5034336"/>
                <a:gd name="connsiteY3" fmla="*/ 1315094 h 3174715"/>
                <a:gd name="connsiteX4" fmla="*/ 0 w 5034336"/>
                <a:gd name="connsiteY4" fmla="*/ 1058259 h 3174715"/>
                <a:gd name="connsiteX5" fmla="*/ 1058259 w 5034336"/>
                <a:gd name="connsiteY5" fmla="*/ 0 h 317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34336" h="3174715">
                  <a:moveTo>
                    <a:pt x="1058259" y="0"/>
                  </a:moveTo>
                  <a:lnTo>
                    <a:pt x="5034336" y="0"/>
                  </a:lnTo>
                  <a:lnTo>
                    <a:pt x="1859621" y="3174715"/>
                  </a:lnTo>
                  <a:lnTo>
                    <a:pt x="0" y="1315094"/>
                  </a:lnTo>
                  <a:lnTo>
                    <a:pt x="0" y="1058259"/>
                  </a:lnTo>
                  <a:cubicBezTo>
                    <a:pt x="0" y="473799"/>
                    <a:pt x="473799" y="0"/>
                    <a:pt x="105825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shade val="30000"/>
                    <a:satMod val="115000"/>
                  </a:schemeClr>
                </a:gs>
                <a:gs pos="50000">
                  <a:schemeClr val="accent4">
                    <a:shade val="67500"/>
                    <a:satMod val="115000"/>
                  </a:schemeClr>
                </a:gs>
                <a:gs pos="100000">
                  <a:schemeClr val="accent4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E83F93-DB63-1611-F23C-C20C04B1ECA4}"/>
                </a:ext>
              </a:extLst>
            </p:cNvPr>
            <p:cNvSpPr/>
            <p:nvPr/>
          </p:nvSpPr>
          <p:spPr>
            <a:xfrm>
              <a:off x="2835668" y="246583"/>
              <a:ext cx="5034336" cy="3174715"/>
            </a:xfrm>
            <a:custGeom>
              <a:avLst/>
              <a:gdLst>
                <a:gd name="connsiteX0" fmla="*/ 1058259 w 5034336"/>
                <a:gd name="connsiteY0" fmla="*/ 0 h 3174715"/>
                <a:gd name="connsiteX1" fmla="*/ 5034336 w 5034336"/>
                <a:gd name="connsiteY1" fmla="*/ 0 h 3174715"/>
                <a:gd name="connsiteX2" fmla="*/ 1859621 w 5034336"/>
                <a:gd name="connsiteY2" fmla="*/ 3174715 h 3174715"/>
                <a:gd name="connsiteX3" fmla="*/ 0 w 5034336"/>
                <a:gd name="connsiteY3" fmla="*/ 1315094 h 3174715"/>
                <a:gd name="connsiteX4" fmla="*/ 0 w 5034336"/>
                <a:gd name="connsiteY4" fmla="*/ 1058259 h 3174715"/>
                <a:gd name="connsiteX5" fmla="*/ 1058259 w 5034336"/>
                <a:gd name="connsiteY5" fmla="*/ 0 h 317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34336" h="3174715">
                  <a:moveTo>
                    <a:pt x="1058259" y="0"/>
                  </a:moveTo>
                  <a:lnTo>
                    <a:pt x="5034336" y="0"/>
                  </a:lnTo>
                  <a:lnTo>
                    <a:pt x="1859621" y="3174715"/>
                  </a:lnTo>
                  <a:lnTo>
                    <a:pt x="0" y="1315094"/>
                  </a:lnTo>
                  <a:lnTo>
                    <a:pt x="0" y="1058259"/>
                  </a:lnTo>
                  <a:cubicBezTo>
                    <a:pt x="0" y="473799"/>
                    <a:pt x="473799" y="0"/>
                    <a:pt x="105825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9F974F9-9A46-3A27-DDA3-212F89A9F919}"/>
                </a:ext>
              </a:extLst>
            </p:cNvPr>
            <p:cNvSpPr/>
            <p:nvPr/>
          </p:nvSpPr>
          <p:spPr>
            <a:xfrm rot="10800000">
              <a:off x="4150762" y="3421296"/>
              <a:ext cx="5034336" cy="3174715"/>
            </a:xfrm>
            <a:custGeom>
              <a:avLst/>
              <a:gdLst>
                <a:gd name="connsiteX0" fmla="*/ 1058259 w 5034336"/>
                <a:gd name="connsiteY0" fmla="*/ 0 h 3174715"/>
                <a:gd name="connsiteX1" fmla="*/ 5034336 w 5034336"/>
                <a:gd name="connsiteY1" fmla="*/ 0 h 3174715"/>
                <a:gd name="connsiteX2" fmla="*/ 1859621 w 5034336"/>
                <a:gd name="connsiteY2" fmla="*/ 3174715 h 3174715"/>
                <a:gd name="connsiteX3" fmla="*/ 0 w 5034336"/>
                <a:gd name="connsiteY3" fmla="*/ 1315094 h 3174715"/>
                <a:gd name="connsiteX4" fmla="*/ 0 w 5034336"/>
                <a:gd name="connsiteY4" fmla="*/ 1058259 h 3174715"/>
                <a:gd name="connsiteX5" fmla="*/ 1058259 w 5034336"/>
                <a:gd name="connsiteY5" fmla="*/ 0 h 317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34336" h="3174715">
                  <a:moveTo>
                    <a:pt x="1058259" y="0"/>
                  </a:moveTo>
                  <a:lnTo>
                    <a:pt x="5034336" y="0"/>
                  </a:lnTo>
                  <a:lnTo>
                    <a:pt x="1859621" y="3174715"/>
                  </a:lnTo>
                  <a:lnTo>
                    <a:pt x="0" y="1315094"/>
                  </a:lnTo>
                  <a:lnTo>
                    <a:pt x="0" y="1058259"/>
                  </a:lnTo>
                  <a:cubicBezTo>
                    <a:pt x="0" y="473799"/>
                    <a:pt x="473799" y="0"/>
                    <a:pt x="105825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shade val="30000"/>
                    <a:satMod val="115000"/>
                  </a:schemeClr>
                </a:gs>
                <a:gs pos="50000">
                  <a:schemeClr val="accent2">
                    <a:shade val="67500"/>
                    <a:satMod val="115000"/>
                  </a:schemeClr>
                </a:gs>
                <a:gs pos="100000">
                  <a:schemeClr val="accent2"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AC27288-AC0D-1944-647E-37DC87220564}"/>
              </a:ext>
            </a:extLst>
          </p:cNvPr>
          <p:cNvSpPr txBox="1"/>
          <p:nvPr/>
        </p:nvSpPr>
        <p:spPr>
          <a:xfrm>
            <a:off x="6348904" y="1708378"/>
            <a:ext cx="475778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75000"/>
                </a:schemeClr>
              </a:buClr>
            </a:pPr>
            <a:r>
              <a:rPr lang="es-ES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¿Qué es un arreglo bidimensional?</a:t>
            </a:r>
          </a:p>
          <a:p>
            <a:pPr>
              <a:buClr>
                <a:schemeClr val="bg1">
                  <a:lumMod val="75000"/>
                </a:schemeClr>
              </a:buClr>
            </a:pPr>
            <a:endParaRPr lang="es-ES" sz="2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¿Qué son arreglos paralelos?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¿Para qué usamos la propiedad </a:t>
            </a:r>
            <a:r>
              <a:rPr lang="es-ES" sz="2400" dirty="0" err="1">
                <a:solidFill>
                  <a:schemeClr val="bg1">
                    <a:lumMod val="85000"/>
                  </a:schemeClr>
                </a:solidFill>
              </a:rPr>
              <a:t>length</a:t>
            </a: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 de un arreglo?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¿Cuántas longitudes tiene un arreglo bidimensional?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3EB312-FB1B-5F4E-297A-BB9555F3C9E3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2799197" y="3429000"/>
            <a:ext cx="1153440" cy="114438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0068C49-612E-B96B-EAE5-EFCDD32A21F1}"/>
              </a:ext>
            </a:extLst>
          </p:cNvPr>
          <p:cNvGrpSpPr/>
          <p:nvPr/>
        </p:nvGrpSpPr>
        <p:grpSpPr>
          <a:xfrm>
            <a:off x="4169355" y="2163935"/>
            <a:ext cx="1470546" cy="1470546"/>
            <a:chOff x="4261821" y="1958455"/>
            <a:chExt cx="1470546" cy="1470546"/>
          </a:xfrm>
          <a:effectLst>
            <a:glow rad="139700">
              <a:schemeClr val="tx2">
                <a:lumMod val="50000"/>
                <a:alpha val="40000"/>
              </a:schemeClr>
            </a:glow>
          </a:effectLst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0C3F30A-6056-C3C9-4CA9-58E77CA58551}"/>
                </a:ext>
              </a:extLst>
            </p:cNvPr>
            <p:cNvSpPr txBox="1"/>
            <p:nvPr/>
          </p:nvSpPr>
          <p:spPr>
            <a:xfrm>
              <a:off x="4391800" y="2093564"/>
              <a:ext cx="121058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7200" b="1" dirty="0">
                  <a:solidFill>
                    <a:schemeClr val="bg1"/>
                  </a:solidFill>
                </a:rPr>
                <a:t>01</a:t>
              </a:r>
              <a:endParaRPr lang="en-US" sz="72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896DF62-B086-8BC1-BBBC-E9D9456CDE81}"/>
                </a:ext>
              </a:extLst>
            </p:cNvPr>
            <p:cNvSpPr/>
            <p:nvPr/>
          </p:nvSpPr>
          <p:spPr>
            <a:xfrm>
              <a:off x="4261821" y="1958455"/>
              <a:ext cx="1470546" cy="1470546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943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DD61-8E08-B0FD-E741-65D35C53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89" y="429863"/>
            <a:ext cx="10593512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ADA3FE-0C5F-7F77-647A-68919E4DA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E71AB2-3E55-7733-9EA6-521D96563931}"/>
              </a:ext>
            </a:extLst>
          </p:cNvPr>
          <p:cNvGrpSpPr/>
          <p:nvPr/>
        </p:nvGrpSpPr>
        <p:grpSpPr>
          <a:xfrm rot="5400000">
            <a:off x="838200" y="1463477"/>
            <a:ext cx="5075435" cy="5075435"/>
            <a:chOff x="2835668" y="246582"/>
            <a:chExt cx="6349430" cy="634943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2ECB02E-ABD8-8DA7-1C7D-1F47EBB457D5}"/>
                </a:ext>
              </a:extLst>
            </p:cNvPr>
            <p:cNvSpPr/>
            <p:nvPr/>
          </p:nvSpPr>
          <p:spPr>
            <a:xfrm rot="16200000">
              <a:off x="1905858" y="2491486"/>
              <a:ext cx="5034336" cy="3174715"/>
            </a:xfrm>
            <a:custGeom>
              <a:avLst/>
              <a:gdLst>
                <a:gd name="connsiteX0" fmla="*/ 1058259 w 5034336"/>
                <a:gd name="connsiteY0" fmla="*/ 0 h 3174715"/>
                <a:gd name="connsiteX1" fmla="*/ 5034336 w 5034336"/>
                <a:gd name="connsiteY1" fmla="*/ 0 h 3174715"/>
                <a:gd name="connsiteX2" fmla="*/ 1859621 w 5034336"/>
                <a:gd name="connsiteY2" fmla="*/ 3174715 h 3174715"/>
                <a:gd name="connsiteX3" fmla="*/ 0 w 5034336"/>
                <a:gd name="connsiteY3" fmla="*/ 1315094 h 3174715"/>
                <a:gd name="connsiteX4" fmla="*/ 0 w 5034336"/>
                <a:gd name="connsiteY4" fmla="*/ 1058259 h 3174715"/>
                <a:gd name="connsiteX5" fmla="*/ 1058259 w 5034336"/>
                <a:gd name="connsiteY5" fmla="*/ 0 h 317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34336" h="3174715">
                  <a:moveTo>
                    <a:pt x="1058259" y="0"/>
                  </a:moveTo>
                  <a:lnTo>
                    <a:pt x="5034336" y="0"/>
                  </a:lnTo>
                  <a:lnTo>
                    <a:pt x="1859621" y="3174715"/>
                  </a:lnTo>
                  <a:lnTo>
                    <a:pt x="0" y="1315094"/>
                  </a:lnTo>
                  <a:lnTo>
                    <a:pt x="0" y="1058259"/>
                  </a:lnTo>
                  <a:cubicBezTo>
                    <a:pt x="0" y="473799"/>
                    <a:pt x="473799" y="0"/>
                    <a:pt x="105825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99CC">
                    <a:shade val="30000"/>
                    <a:satMod val="115000"/>
                  </a:srgbClr>
                </a:gs>
                <a:gs pos="50000">
                  <a:srgbClr val="0099CC">
                    <a:shade val="67500"/>
                    <a:satMod val="115000"/>
                  </a:srgbClr>
                </a:gs>
                <a:gs pos="100000">
                  <a:srgbClr val="0099CC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40C789B-6FB2-7F17-9A72-99DE651A1477}"/>
                </a:ext>
              </a:extLst>
            </p:cNvPr>
            <p:cNvSpPr/>
            <p:nvPr/>
          </p:nvSpPr>
          <p:spPr>
            <a:xfrm rot="5400000">
              <a:off x="5080572" y="1176392"/>
              <a:ext cx="5034336" cy="3174715"/>
            </a:xfrm>
            <a:custGeom>
              <a:avLst/>
              <a:gdLst>
                <a:gd name="connsiteX0" fmla="*/ 1058259 w 5034336"/>
                <a:gd name="connsiteY0" fmla="*/ 0 h 3174715"/>
                <a:gd name="connsiteX1" fmla="*/ 5034336 w 5034336"/>
                <a:gd name="connsiteY1" fmla="*/ 0 h 3174715"/>
                <a:gd name="connsiteX2" fmla="*/ 1859621 w 5034336"/>
                <a:gd name="connsiteY2" fmla="*/ 3174715 h 3174715"/>
                <a:gd name="connsiteX3" fmla="*/ 0 w 5034336"/>
                <a:gd name="connsiteY3" fmla="*/ 1315094 h 3174715"/>
                <a:gd name="connsiteX4" fmla="*/ 0 w 5034336"/>
                <a:gd name="connsiteY4" fmla="*/ 1058259 h 3174715"/>
                <a:gd name="connsiteX5" fmla="*/ 1058259 w 5034336"/>
                <a:gd name="connsiteY5" fmla="*/ 0 h 317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34336" h="3174715">
                  <a:moveTo>
                    <a:pt x="1058259" y="0"/>
                  </a:moveTo>
                  <a:lnTo>
                    <a:pt x="5034336" y="0"/>
                  </a:lnTo>
                  <a:lnTo>
                    <a:pt x="1859621" y="3174715"/>
                  </a:lnTo>
                  <a:lnTo>
                    <a:pt x="0" y="1315094"/>
                  </a:lnTo>
                  <a:lnTo>
                    <a:pt x="0" y="1058259"/>
                  </a:lnTo>
                  <a:cubicBezTo>
                    <a:pt x="0" y="473799"/>
                    <a:pt x="473799" y="0"/>
                    <a:pt x="105825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shade val="30000"/>
                    <a:satMod val="115000"/>
                  </a:schemeClr>
                </a:gs>
                <a:gs pos="50000">
                  <a:schemeClr val="accent4">
                    <a:shade val="67500"/>
                    <a:satMod val="115000"/>
                  </a:schemeClr>
                </a:gs>
                <a:gs pos="100000">
                  <a:schemeClr val="accent4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E83F93-DB63-1611-F23C-C20C04B1ECA4}"/>
                </a:ext>
              </a:extLst>
            </p:cNvPr>
            <p:cNvSpPr/>
            <p:nvPr/>
          </p:nvSpPr>
          <p:spPr>
            <a:xfrm>
              <a:off x="2835668" y="246583"/>
              <a:ext cx="5034336" cy="3174715"/>
            </a:xfrm>
            <a:custGeom>
              <a:avLst/>
              <a:gdLst>
                <a:gd name="connsiteX0" fmla="*/ 1058259 w 5034336"/>
                <a:gd name="connsiteY0" fmla="*/ 0 h 3174715"/>
                <a:gd name="connsiteX1" fmla="*/ 5034336 w 5034336"/>
                <a:gd name="connsiteY1" fmla="*/ 0 h 3174715"/>
                <a:gd name="connsiteX2" fmla="*/ 1859621 w 5034336"/>
                <a:gd name="connsiteY2" fmla="*/ 3174715 h 3174715"/>
                <a:gd name="connsiteX3" fmla="*/ 0 w 5034336"/>
                <a:gd name="connsiteY3" fmla="*/ 1315094 h 3174715"/>
                <a:gd name="connsiteX4" fmla="*/ 0 w 5034336"/>
                <a:gd name="connsiteY4" fmla="*/ 1058259 h 3174715"/>
                <a:gd name="connsiteX5" fmla="*/ 1058259 w 5034336"/>
                <a:gd name="connsiteY5" fmla="*/ 0 h 317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34336" h="3174715">
                  <a:moveTo>
                    <a:pt x="1058259" y="0"/>
                  </a:moveTo>
                  <a:lnTo>
                    <a:pt x="5034336" y="0"/>
                  </a:lnTo>
                  <a:lnTo>
                    <a:pt x="1859621" y="3174715"/>
                  </a:lnTo>
                  <a:lnTo>
                    <a:pt x="0" y="1315094"/>
                  </a:lnTo>
                  <a:lnTo>
                    <a:pt x="0" y="1058259"/>
                  </a:lnTo>
                  <a:cubicBezTo>
                    <a:pt x="0" y="473799"/>
                    <a:pt x="473799" y="0"/>
                    <a:pt x="105825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9F974F9-9A46-3A27-DDA3-212F89A9F919}"/>
                </a:ext>
              </a:extLst>
            </p:cNvPr>
            <p:cNvSpPr/>
            <p:nvPr/>
          </p:nvSpPr>
          <p:spPr>
            <a:xfrm rot="10800000">
              <a:off x="4150762" y="3421296"/>
              <a:ext cx="5034336" cy="3174715"/>
            </a:xfrm>
            <a:custGeom>
              <a:avLst/>
              <a:gdLst>
                <a:gd name="connsiteX0" fmla="*/ 1058259 w 5034336"/>
                <a:gd name="connsiteY0" fmla="*/ 0 h 3174715"/>
                <a:gd name="connsiteX1" fmla="*/ 5034336 w 5034336"/>
                <a:gd name="connsiteY1" fmla="*/ 0 h 3174715"/>
                <a:gd name="connsiteX2" fmla="*/ 1859621 w 5034336"/>
                <a:gd name="connsiteY2" fmla="*/ 3174715 h 3174715"/>
                <a:gd name="connsiteX3" fmla="*/ 0 w 5034336"/>
                <a:gd name="connsiteY3" fmla="*/ 1315094 h 3174715"/>
                <a:gd name="connsiteX4" fmla="*/ 0 w 5034336"/>
                <a:gd name="connsiteY4" fmla="*/ 1058259 h 3174715"/>
                <a:gd name="connsiteX5" fmla="*/ 1058259 w 5034336"/>
                <a:gd name="connsiteY5" fmla="*/ 0 h 317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34336" h="3174715">
                  <a:moveTo>
                    <a:pt x="1058259" y="0"/>
                  </a:moveTo>
                  <a:lnTo>
                    <a:pt x="5034336" y="0"/>
                  </a:lnTo>
                  <a:lnTo>
                    <a:pt x="1859621" y="3174715"/>
                  </a:lnTo>
                  <a:lnTo>
                    <a:pt x="0" y="1315094"/>
                  </a:lnTo>
                  <a:lnTo>
                    <a:pt x="0" y="1058259"/>
                  </a:lnTo>
                  <a:cubicBezTo>
                    <a:pt x="0" y="473799"/>
                    <a:pt x="473799" y="0"/>
                    <a:pt x="105825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shade val="30000"/>
                    <a:satMod val="115000"/>
                  </a:schemeClr>
                </a:gs>
                <a:gs pos="50000">
                  <a:schemeClr val="accent2">
                    <a:shade val="67500"/>
                    <a:satMod val="115000"/>
                  </a:schemeClr>
                </a:gs>
                <a:gs pos="100000">
                  <a:schemeClr val="accent2"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AC27288-AC0D-1944-647E-37DC87220564}"/>
              </a:ext>
            </a:extLst>
          </p:cNvPr>
          <p:cNvSpPr txBox="1"/>
          <p:nvPr/>
        </p:nvSpPr>
        <p:spPr>
          <a:xfrm>
            <a:off x="6348904" y="1862147"/>
            <a:ext cx="475778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75000"/>
                </a:schemeClr>
              </a:buClr>
            </a:pP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¿Qué es un arreglo bidimensional?</a:t>
            </a:r>
          </a:p>
          <a:p>
            <a:pPr>
              <a:buClr>
                <a:schemeClr val="bg1">
                  <a:lumMod val="75000"/>
                </a:schemeClr>
              </a:buClr>
            </a:pPr>
            <a:endParaRPr lang="es-ES" sz="2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s-ES" sz="4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¿Qué son arreglos paralelos?</a:t>
            </a:r>
          </a:p>
          <a:p>
            <a:pPr>
              <a:buClr>
                <a:schemeClr val="bg1">
                  <a:lumMod val="75000"/>
                </a:schemeClr>
              </a:buClr>
            </a:pPr>
            <a:endParaRPr lang="es-ES" sz="2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¿Para qué usamos la propiedad </a:t>
            </a:r>
            <a:r>
              <a:rPr lang="es-ES" sz="2400" dirty="0" err="1">
                <a:solidFill>
                  <a:schemeClr val="bg1">
                    <a:lumMod val="85000"/>
                  </a:schemeClr>
                </a:solidFill>
              </a:rPr>
              <a:t>length</a:t>
            </a: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 de un arreglo?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¿Cuántas longitudes tiene un arreglo bidimensional?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3EB312-FB1B-5F4E-297A-BB9555F3C9E3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2799197" y="3429000"/>
            <a:ext cx="1153440" cy="114438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280116C-2123-EDBF-E35D-E87164D20310}"/>
              </a:ext>
            </a:extLst>
          </p:cNvPr>
          <p:cNvGrpSpPr/>
          <p:nvPr/>
        </p:nvGrpSpPr>
        <p:grpSpPr>
          <a:xfrm>
            <a:off x="4169355" y="2163935"/>
            <a:ext cx="1470546" cy="1470546"/>
            <a:chOff x="4261821" y="1958455"/>
            <a:chExt cx="1470546" cy="1470546"/>
          </a:xfrm>
          <a:effectLst>
            <a:glow rad="139700">
              <a:schemeClr val="accent6">
                <a:lumMod val="50000"/>
                <a:alpha val="40000"/>
              </a:schemeClr>
            </a:glow>
          </a:effectLst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6849CD-FC74-A6CC-46E9-E2F9C2A37077}"/>
                </a:ext>
              </a:extLst>
            </p:cNvPr>
            <p:cNvSpPr txBox="1"/>
            <p:nvPr/>
          </p:nvSpPr>
          <p:spPr>
            <a:xfrm>
              <a:off x="4391800" y="2093564"/>
              <a:ext cx="121058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7200" b="1" dirty="0">
                  <a:solidFill>
                    <a:schemeClr val="bg1"/>
                  </a:solidFill>
                </a:rPr>
                <a:t>02</a:t>
              </a:r>
              <a:endParaRPr lang="en-US" sz="72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28FFE9D-B704-636C-A7C6-9977CBB77C0D}"/>
                </a:ext>
              </a:extLst>
            </p:cNvPr>
            <p:cNvSpPr/>
            <p:nvPr/>
          </p:nvSpPr>
          <p:spPr>
            <a:xfrm>
              <a:off x="4261821" y="1958455"/>
              <a:ext cx="1470546" cy="1470546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1693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DD61-8E08-B0FD-E741-65D35C53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89" y="429863"/>
            <a:ext cx="10593512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ADA3FE-0C5F-7F77-647A-68919E4DA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E71AB2-3E55-7733-9EA6-521D96563931}"/>
              </a:ext>
            </a:extLst>
          </p:cNvPr>
          <p:cNvGrpSpPr/>
          <p:nvPr/>
        </p:nvGrpSpPr>
        <p:grpSpPr>
          <a:xfrm rot="10800000">
            <a:off x="838200" y="1463477"/>
            <a:ext cx="5075435" cy="5075435"/>
            <a:chOff x="2835668" y="246582"/>
            <a:chExt cx="6349430" cy="634943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2ECB02E-ABD8-8DA7-1C7D-1F47EBB457D5}"/>
                </a:ext>
              </a:extLst>
            </p:cNvPr>
            <p:cNvSpPr/>
            <p:nvPr/>
          </p:nvSpPr>
          <p:spPr>
            <a:xfrm rot="16200000">
              <a:off x="1905858" y="2491486"/>
              <a:ext cx="5034336" cy="3174715"/>
            </a:xfrm>
            <a:custGeom>
              <a:avLst/>
              <a:gdLst>
                <a:gd name="connsiteX0" fmla="*/ 1058259 w 5034336"/>
                <a:gd name="connsiteY0" fmla="*/ 0 h 3174715"/>
                <a:gd name="connsiteX1" fmla="*/ 5034336 w 5034336"/>
                <a:gd name="connsiteY1" fmla="*/ 0 h 3174715"/>
                <a:gd name="connsiteX2" fmla="*/ 1859621 w 5034336"/>
                <a:gd name="connsiteY2" fmla="*/ 3174715 h 3174715"/>
                <a:gd name="connsiteX3" fmla="*/ 0 w 5034336"/>
                <a:gd name="connsiteY3" fmla="*/ 1315094 h 3174715"/>
                <a:gd name="connsiteX4" fmla="*/ 0 w 5034336"/>
                <a:gd name="connsiteY4" fmla="*/ 1058259 h 3174715"/>
                <a:gd name="connsiteX5" fmla="*/ 1058259 w 5034336"/>
                <a:gd name="connsiteY5" fmla="*/ 0 h 317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34336" h="3174715">
                  <a:moveTo>
                    <a:pt x="1058259" y="0"/>
                  </a:moveTo>
                  <a:lnTo>
                    <a:pt x="5034336" y="0"/>
                  </a:lnTo>
                  <a:lnTo>
                    <a:pt x="1859621" y="3174715"/>
                  </a:lnTo>
                  <a:lnTo>
                    <a:pt x="0" y="1315094"/>
                  </a:lnTo>
                  <a:lnTo>
                    <a:pt x="0" y="1058259"/>
                  </a:lnTo>
                  <a:cubicBezTo>
                    <a:pt x="0" y="473799"/>
                    <a:pt x="473799" y="0"/>
                    <a:pt x="105825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99CC">
                    <a:shade val="30000"/>
                    <a:satMod val="115000"/>
                  </a:srgbClr>
                </a:gs>
                <a:gs pos="50000">
                  <a:srgbClr val="0099CC">
                    <a:shade val="67500"/>
                    <a:satMod val="115000"/>
                  </a:srgbClr>
                </a:gs>
                <a:gs pos="100000">
                  <a:srgbClr val="0099CC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40C789B-6FB2-7F17-9A72-99DE651A1477}"/>
                </a:ext>
              </a:extLst>
            </p:cNvPr>
            <p:cNvSpPr/>
            <p:nvPr/>
          </p:nvSpPr>
          <p:spPr>
            <a:xfrm rot="5400000">
              <a:off x="5080572" y="1176392"/>
              <a:ext cx="5034336" cy="3174715"/>
            </a:xfrm>
            <a:custGeom>
              <a:avLst/>
              <a:gdLst>
                <a:gd name="connsiteX0" fmla="*/ 1058259 w 5034336"/>
                <a:gd name="connsiteY0" fmla="*/ 0 h 3174715"/>
                <a:gd name="connsiteX1" fmla="*/ 5034336 w 5034336"/>
                <a:gd name="connsiteY1" fmla="*/ 0 h 3174715"/>
                <a:gd name="connsiteX2" fmla="*/ 1859621 w 5034336"/>
                <a:gd name="connsiteY2" fmla="*/ 3174715 h 3174715"/>
                <a:gd name="connsiteX3" fmla="*/ 0 w 5034336"/>
                <a:gd name="connsiteY3" fmla="*/ 1315094 h 3174715"/>
                <a:gd name="connsiteX4" fmla="*/ 0 w 5034336"/>
                <a:gd name="connsiteY4" fmla="*/ 1058259 h 3174715"/>
                <a:gd name="connsiteX5" fmla="*/ 1058259 w 5034336"/>
                <a:gd name="connsiteY5" fmla="*/ 0 h 317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34336" h="3174715">
                  <a:moveTo>
                    <a:pt x="1058259" y="0"/>
                  </a:moveTo>
                  <a:lnTo>
                    <a:pt x="5034336" y="0"/>
                  </a:lnTo>
                  <a:lnTo>
                    <a:pt x="1859621" y="3174715"/>
                  </a:lnTo>
                  <a:lnTo>
                    <a:pt x="0" y="1315094"/>
                  </a:lnTo>
                  <a:lnTo>
                    <a:pt x="0" y="1058259"/>
                  </a:lnTo>
                  <a:cubicBezTo>
                    <a:pt x="0" y="473799"/>
                    <a:pt x="473799" y="0"/>
                    <a:pt x="105825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shade val="30000"/>
                    <a:satMod val="115000"/>
                  </a:schemeClr>
                </a:gs>
                <a:gs pos="50000">
                  <a:schemeClr val="accent4">
                    <a:shade val="67500"/>
                    <a:satMod val="115000"/>
                  </a:schemeClr>
                </a:gs>
                <a:gs pos="100000">
                  <a:schemeClr val="accent4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E83F93-DB63-1611-F23C-C20C04B1ECA4}"/>
                </a:ext>
              </a:extLst>
            </p:cNvPr>
            <p:cNvSpPr/>
            <p:nvPr/>
          </p:nvSpPr>
          <p:spPr>
            <a:xfrm>
              <a:off x="2835668" y="246583"/>
              <a:ext cx="5034336" cy="3174715"/>
            </a:xfrm>
            <a:custGeom>
              <a:avLst/>
              <a:gdLst>
                <a:gd name="connsiteX0" fmla="*/ 1058259 w 5034336"/>
                <a:gd name="connsiteY0" fmla="*/ 0 h 3174715"/>
                <a:gd name="connsiteX1" fmla="*/ 5034336 w 5034336"/>
                <a:gd name="connsiteY1" fmla="*/ 0 h 3174715"/>
                <a:gd name="connsiteX2" fmla="*/ 1859621 w 5034336"/>
                <a:gd name="connsiteY2" fmla="*/ 3174715 h 3174715"/>
                <a:gd name="connsiteX3" fmla="*/ 0 w 5034336"/>
                <a:gd name="connsiteY3" fmla="*/ 1315094 h 3174715"/>
                <a:gd name="connsiteX4" fmla="*/ 0 w 5034336"/>
                <a:gd name="connsiteY4" fmla="*/ 1058259 h 3174715"/>
                <a:gd name="connsiteX5" fmla="*/ 1058259 w 5034336"/>
                <a:gd name="connsiteY5" fmla="*/ 0 h 317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34336" h="3174715">
                  <a:moveTo>
                    <a:pt x="1058259" y="0"/>
                  </a:moveTo>
                  <a:lnTo>
                    <a:pt x="5034336" y="0"/>
                  </a:lnTo>
                  <a:lnTo>
                    <a:pt x="1859621" y="3174715"/>
                  </a:lnTo>
                  <a:lnTo>
                    <a:pt x="0" y="1315094"/>
                  </a:lnTo>
                  <a:lnTo>
                    <a:pt x="0" y="1058259"/>
                  </a:lnTo>
                  <a:cubicBezTo>
                    <a:pt x="0" y="473799"/>
                    <a:pt x="473799" y="0"/>
                    <a:pt x="105825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9F974F9-9A46-3A27-DDA3-212F89A9F919}"/>
                </a:ext>
              </a:extLst>
            </p:cNvPr>
            <p:cNvSpPr/>
            <p:nvPr/>
          </p:nvSpPr>
          <p:spPr>
            <a:xfrm rot="10800000">
              <a:off x="4150762" y="3421296"/>
              <a:ext cx="5034336" cy="3174715"/>
            </a:xfrm>
            <a:custGeom>
              <a:avLst/>
              <a:gdLst>
                <a:gd name="connsiteX0" fmla="*/ 1058259 w 5034336"/>
                <a:gd name="connsiteY0" fmla="*/ 0 h 3174715"/>
                <a:gd name="connsiteX1" fmla="*/ 5034336 w 5034336"/>
                <a:gd name="connsiteY1" fmla="*/ 0 h 3174715"/>
                <a:gd name="connsiteX2" fmla="*/ 1859621 w 5034336"/>
                <a:gd name="connsiteY2" fmla="*/ 3174715 h 3174715"/>
                <a:gd name="connsiteX3" fmla="*/ 0 w 5034336"/>
                <a:gd name="connsiteY3" fmla="*/ 1315094 h 3174715"/>
                <a:gd name="connsiteX4" fmla="*/ 0 w 5034336"/>
                <a:gd name="connsiteY4" fmla="*/ 1058259 h 3174715"/>
                <a:gd name="connsiteX5" fmla="*/ 1058259 w 5034336"/>
                <a:gd name="connsiteY5" fmla="*/ 0 h 317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34336" h="3174715">
                  <a:moveTo>
                    <a:pt x="1058259" y="0"/>
                  </a:moveTo>
                  <a:lnTo>
                    <a:pt x="5034336" y="0"/>
                  </a:lnTo>
                  <a:lnTo>
                    <a:pt x="1859621" y="3174715"/>
                  </a:lnTo>
                  <a:lnTo>
                    <a:pt x="0" y="1315094"/>
                  </a:lnTo>
                  <a:lnTo>
                    <a:pt x="0" y="1058259"/>
                  </a:lnTo>
                  <a:cubicBezTo>
                    <a:pt x="0" y="473799"/>
                    <a:pt x="473799" y="0"/>
                    <a:pt x="105825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shade val="30000"/>
                    <a:satMod val="115000"/>
                  </a:schemeClr>
                </a:gs>
                <a:gs pos="50000">
                  <a:schemeClr val="accent2">
                    <a:shade val="67500"/>
                    <a:satMod val="115000"/>
                  </a:schemeClr>
                </a:gs>
                <a:gs pos="100000">
                  <a:schemeClr val="accent2"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AC27288-AC0D-1944-647E-37DC87220564}"/>
              </a:ext>
            </a:extLst>
          </p:cNvPr>
          <p:cNvSpPr txBox="1"/>
          <p:nvPr/>
        </p:nvSpPr>
        <p:spPr>
          <a:xfrm>
            <a:off x="6348904" y="1865347"/>
            <a:ext cx="500489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75000"/>
                </a:schemeClr>
              </a:buClr>
            </a:pP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¿Qué es un arreglo bidimensional?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¿Qué son arreglos paralelos?</a:t>
            </a:r>
          </a:p>
          <a:p>
            <a:pPr>
              <a:buClr>
                <a:schemeClr val="bg1">
                  <a:lumMod val="75000"/>
                </a:schemeClr>
              </a:buClr>
            </a:pPr>
            <a:endParaRPr lang="es-ES" sz="2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s-ES" sz="4000" b="1" dirty="0">
                <a:solidFill>
                  <a:srgbClr val="00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¿Para qué usamos la propiedad </a:t>
            </a:r>
            <a:r>
              <a:rPr lang="es-ES" sz="4000" b="1" dirty="0" err="1">
                <a:solidFill>
                  <a:srgbClr val="00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length</a:t>
            </a:r>
            <a:r>
              <a:rPr lang="es-ES" sz="4000" b="1" dirty="0">
                <a:solidFill>
                  <a:srgbClr val="00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un arreglo?</a:t>
            </a:r>
          </a:p>
          <a:p>
            <a:pPr>
              <a:buClr>
                <a:schemeClr val="bg1">
                  <a:lumMod val="75000"/>
                </a:schemeClr>
              </a:buClr>
            </a:pPr>
            <a:endParaRPr lang="es-ES" sz="2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¿Cuántas longitudes tiene un arreglo bidimensional?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3EB312-FB1B-5F4E-297A-BB9555F3C9E3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2799197" y="3429000"/>
            <a:ext cx="1153440" cy="114438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88E5F18-05CE-56F5-B45A-80239DC428A0}"/>
              </a:ext>
            </a:extLst>
          </p:cNvPr>
          <p:cNvGrpSpPr/>
          <p:nvPr/>
        </p:nvGrpSpPr>
        <p:grpSpPr>
          <a:xfrm>
            <a:off x="4169355" y="2163935"/>
            <a:ext cx="1470546" cy="1470546"/>
            <a:chOff x="4261821" y="1958455"/>
            <a:chExt cx="1470546" cy="1470546"/>
          </a:xfrm>
          <a:effectLst>
            <a:glow rad="139700">
              <a:schemeClr val="accent1">
                <a:lumMod val="50000"/>
                <a:alpha val="40000"/>
              </a:schemeClr>
            </a:glow>
          </a:effectLst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A40557-EB32-4619-2E82-2577A2CE3604}"/>
                </a:ext>
              </a:extLst>
            </p:cNvPr>
            <p:cNvSpPr txBox="1"/>
            <p:nvPr/>
          </p:nvSpPr>
          <p:spPr>
            <a:xfrm>
              <a:off x="4391800" y="2093564"/>
              <a:ext cx="121058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7200" b="1" dirty="0">
                  <a:solidFill>
                    <a:schemeClr val="bg1"/>
                  </a:solidFill>
                </a:rPr>
                <a:t>03</a:t>
              </a:r>
              <a:endParaRPr lang="en-US" sz="72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FE67B1F-EC03-686D-B003-245388316C68}"/>
                </a:ext>
              </a:extLst>
            </p:cNvPr>
            <p:cNvSpPr/>
            <p:nvPr/>
          </p:nvSpPr>
          <p:spPr>
            <a:xfrm>
              <a:off x="4261821" y="1958455"/>
              <a:ext cx="1470546" cy="1470546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2665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DD61-8E08-B0FD-E741-65D35C53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89" y="429863"/>
            <a:ext cx="10593512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ADA3FE-0C5F-7F77-647A-68919E4DA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E71AB2-3E55-7733-9EA6-521D96563931}"/>
              </a:ext>
            </a:extLst>
          </p:cNvPr>
          <p:cNvGrpSpPr/>
          <p:nvPr/>
        </p:nvGrpSpPr>
        <p:grpSpPr>
          <a:xfrm rot="16200000">
            <a:off x="838200" y="1463477"/>
            <a:ext cx="5075435" cy="5075435"/>
            <a:chOff x="2835668" y="246582"/>
            <a:chExt cx="6349430" cy="634943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2ECB02E-ABD8-8DA7-1C7D-1F47EBB457D5}"/>
                </a:ext>
              </a:extLst>
            </p:cNvPr>
            <p:cNvSpPr/>
            <p:nvPr/>
          </p:nvSpPr>
          <p:spPr>
            <a:xfrm rot="16200000">
              <a:off x="1905858" y="2491486"/>
              <a:ext cx="5034336" cy="3174715"/>
            </a:xfrm>
            <a:custGeom>
              <a:avLst/>
              <a:gdLst>
                <a:gd name="connsiteX0" fmla="*/ 1058259 w 5034336"/>
                <a:gd name="connsiteY0" fmla="*/ 0 h 3174715"/>
                <a:gd name="connsiteX1" fmla="*/ 5034336 w 5034336"/>
                <a:gd name="connsiteY1" fmla="*/ 0 h 3174715"/>
                <a:gd name="connsiteX2" fmla="*/ 1859621 w 5034336"/>
                <a:gd name="connsiteY2" fmla="*/ 3174715 h 3174715"/>
                <a:gd name="connsiteX3" fmla="*/ 0 w 5034336"/>
                <a:gd name="connsiteY3" fmla="*/ 1315094 h 3174715"/>
                <a:gd name="connsiteX4" fmla="*/ 0 w 5034336"/>
                <a:gd name="connsiteY4" fmla="*/ 1058259 h 3174715"/>
                <a:gd name="connsiteX5" fmla="*/ 1058259 w 5034336"/>
                <a:gd name="connsiteY5" fmla="*/ 0 h 317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34336" h="3174715">
                  <a:moveTo>
                    <a:pt x="1058259" y="0"/>
                  </a:moveTo>
                  <a:lnTo>
                    <a:pt x="5034336" y="0"/>
                  </a:lnTo>
                  <a:lnTo>
                    <a:pt x="1859621" y="3174715"/>
                  </a:lnTo>
                  <a:lnTo>
                    <a:pt x="0" y="1315094"/>
                  </a:lnTo>
                  <a:lnTo>
                    <a:pt x="0" y="1058259"/>
                  </a:lnTo>
                  <a:cubicBezTo>
                    <a:pt x="0" y="473799"/>
                    <a:pt x="473799" y="0"/>
                    <a:pt x="105825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99CC">
                    <a:shade val="30000"/>
                    <a:satMod val="115000"/>
                  </a:srgbClr>
                </a:gs>
                <a:gs pos="50000">
                  <a:srgbClr val="0099CC">
                    <a:shade val="67500"/>
                    <a:satMod val="115000"/>
                  </a:srgbClr>
                </a:gs>
                <a:gs pos="100000">
                  <a:srgbClr val="0099CC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40C789B-6FB2-7F17-9A72-99DE651A1477}"/>
                </a:ext>
              </a:extLst>
            </p:cNvPr>
            <p:cNvSpPr/>
            <p:nvPr/>
          </p:nvSpPr>
          <p:spPr>
            <a:xfrm rot="5400000">
              <a:off x="5080572" y="1176392"/>
              <a:ext cx="5034336" cy="3174715"/>
            </a:xfrm>
            <a:custGeom>
              <a:avLst/>
              <a:gdLst>
                <a:gd name="connsiteX0" fmla="*/ 1058259 w 5034336"/>
                <a:gd name="connsiteY0" fmla="*/ 0 h 3174715"/>
                <a:gd name="connsiteX1" fmla="*/ 5034336 w 5034336"/>
                <a:gd name="connsiteY1" fmla="*/ 0 h 3174715"/>
                <a:gd name="connsiteX2" fmla="*/ 1859621 w 5034336"/>
                <a:gd name="connsiteY2" fmla="*/ 3174715 h 3174715"/>
                <a:gd name="connsiteX3" fmla="*/ 0 w 5034336"/>
                <a:gd name="connsiteY3" fmla="*/ 1315094 h 3174715"/>
                <a:gd name="connsiteX4" fmla="*/ 0 w 5034336"/>
                <a:gd name="connsiteY4" fmla="*/ 1058259 h 3174715"/>
                <a:gd name="connsiteX5" fmla="*/ 1058259 w 5034336"/>
                <a:gd name="connsiteY5" fmla="*/ 0 h 317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34336" h="3174715">
                  <a:moveTo>
                    <a:pt x="1058259" y="0"/>
                  </a:moveTo>
                  <a:lnTo>
                    <a:pt x="5034336" y="0"/>
                  </a:lnTo>
                  <a:lnTo>
                    <a:pt x="1859621" y="3174715"/>
                  </a:lnTo>
                  <a:lnTo>
                    <a:pt x="0" y="1315094"/>
                  </a:lnTo>
                  <a:lnTo>
                    <a:pt x="0" y="1058259"/>
                  </a:lnTo>
                  <a:cubicBezTo>
                    <a:pt x="0" y="473799"/>
                    <a:pt x="473799" y="0"/>
                    <a:pt x="105825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shade val="30000"/>
                    <a:satMod val="115000"/>
                  </a:schemeClr>
                </a:gs>
                <a:gs pos="50000">
                  <a:schemeClr val="accent4">
                    <a:shade val="67500"/>
                    <a:satMod val="115000"/>
                  </a:schemeClr>
                </a:gs>
                <a:gs pos="100000">
                  <a:schemeClr val="accent4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E83F93-DB63-1611-F23C-C20C04B1ECA4}"/>
                </a:ext>
              </a:extLst>
            </p:cNvPr>
            <p:cNvSpPr/>
            <p:nvPr/>
          </p:nvSpPr>
          <p:spPr>
            <a:xfrm>
              <a:off x="2835668" y="246583"/>
              <a:ext cx="5034336" cy="3174715"/>
            </a:xfrm>
            <a:custGeom>
              <a:avLst/>
              <a:gdLst>
                <a:gd name="connsiteX0" fmla="*/ 1058259 w 5034336"/>
                <a:gd name="connsiteY0" fmla="*/ 0 h 3174715"/>
                <a:gd name="connsiteX1" fmla="*/ 5034336 w 5034336"/>
                <a:gd name="connsiteY1" fmla="*/ 0 h 3174715"/>
                <a:gd name="connsiteX2" fmla="*/ 1859621 w 5034336"/>
                <a:gd name="connsiteY2" fmla="*/ 3174715 h 3174715"/>
                <a:gd name="connsiteX3" fmla="*/ 0 w 5034336"/>
                <a:gd name="connsiteY3" fmla="*/ 1315094 h 3174715"/>
                <a:gd name="connsiteX4" fmla="*/ 0 w 5034336"/>
                <a:gd name="connsiteY4" fmla="*/ 1058259 h 3174715"/>
                <a:gd name="connsiteX5" fmla="*/ 1058259 w 5034336"/>
                <a:gd name="connsiteY5" fmla="*/ 0 h 317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34336" h="3174715">
                  <a:moveTo>
                    <a:pt x="1058259" y="0"/>
                  </a:moveTo>
                  <a:lnTo>
                    <a:pt x="5034336" y="0"/>
                  </a:lnTo>
                  <a:lnTo>
                    <a:pt x="1859621" y="3174715"/>
                  </a:lnTo>
                  <a:lnTo>
                    <a:pt x="0" y="1315094"/>
                  </a:lnTo>
                  <a:lnTo>
                    <a:pt x="0" y="1058259"/>
                  </a:lnTo>
                  <a:cubicBezTo>
                    <a:pt x="0" y="473799"/>
                    <a:pt x="473799" y="0"/>
                    <a:pt x="105825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2D050">
                    <a:shade val="30000"/>
                    <a:satMod val="115000"/>
                  </a:srgbClr>
                </a:gs>
                <a:gs pos="50000">
                  <a:srgbClr val="92D050">
                    <a:shade val="67500"/>
                    <a:satMod val="115000"/>
                  </a:srgbClr>
                </a:gs>
                <a:gs pos="100000">
                  <a:srgbClr val="92D050">
                    <a:shade val="100000"/>
                    <a:satMod val="115000"/>
                  </a:srgb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9F974F9-9A46-3A27-DDA3-212F89A9F919}"/>
                </a:ext>
              </a:extLst>
            </p:cNvPr>
            <p:cNvSpPr/>
            <p:nvPr/>
          </p:nvSpPr>
          <p:spPr>
            <a:xfrm rot="10800000">
              <a:off x="4150762" y="3421296"/>
              <a:ext cx="5034336" cy="3174715"/>
            </a:xfrm>
            <a:custGeom>
              <a:avLst/>
              <a:gdLst>
                <a:gd name="connsiteX0" fmla="*/ 1058259 w 5034336"/>
                <a:gd name="connsiteY0" fmla="*/ 0 h 3174715"/>
                <a:gd name="connsiteX1" fmla="*/ 5034336 w 5034336"/>
                <a:gd name="connsiteY1" fmla="*/ 0 h 3174715"/>
                <a:gd name="connsiteX2" fmla="*/ 1859621 w 5034336"/>
                <a:gd name="connsiteY2" fmla="*/ 3174715 h 3174715"/>
                <a:gd name="connsiteX3" fmla="*/ 0 w 5034336"/>
                <a:gd name="connsiteY3" fmla="*/ 1315094 h 3174715"/>
                <a:gd name="connsiteX4" fmla="*/ 0 w 5034336"/>
                <a:gd name="connsiteY4" fmla="*/ 1058259 h 3174715"/>
                <a:gd name="connsiteX5" fmla="*/ 1058259 w 5034336"/>
                <a:gd name="connsiteY5" fmla="*/ 0 h 317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34336" h="3174715">
                  <a:moveTo>
                    <a:pt x="1058259" y="0"/>
                  </a:moveTo>
                  <a:lnTo>
                    <a:pt x="5034336" y="0"/>
                  </a:lnTo>
                  <a:lnTo>
                    <a:pt x="1859621" y="3174715"/>
                  </a:lnTo>
                  <a:lnTo>
                    <a:pt x="0" y="1315094"/>
                  </a:lnTo>
                  <a:lnTo>
                    <a:pt x="0" y="1058259"/>
                  </a:lnTo>
                  <a:cubicBezTo>
                    <a:pt x="0" y="473799"/>
                    <a:pt x="473799" y="0"/>
                    <a:pt x="105825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shade val="30000"/>
                    <a:satMod val="115000"/>
                  </a:schemeClr>
                </a:gs>
                <a:gs pos="50000">
                  <a:schemeClr val="accent2">
                    <a:shade val="67500"/>
                    <a:satMod val="115000"/>
                  </a:schemeClr>
                </a:gs>
                <a:gs pos="100000">
                  <a:schemeClr val="accent2"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AC27288-AC0D-1944-647E-37DC87220564}"/>
              </a:ext>
            </a:extLst>
          </p:cNvPr>
          <p:cNvSpPr txBox="1"/>
          <p:nvPr/>
        </p:nvSpPr>
        <p:spPr>
          <a:xfrm>
            <a:off x="6348904" y="1698696"/>
            <a:ext cx="500489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75000"/>
                </a:schemeClr>
              </a:buClr>
            </a:pP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¿Qué es un arreglo bidimensional?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¿Qué son arreglos paralelos?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¿Para qué usamos la propiedad </a:t>
            </a:r>
            <a:r>
              <a:rPr lang="es-ES" sz="2400" dirty="0" err="1">
                <a:solidFill>
                  <a:schemeClr val="bg1">
                    <a:lumMod val="85000"/>
                  </a:schemeClr>
                </a:solidFill>
              </a:rPr>
              <a:t>length</a:t>
            </a:r>
            <a:r>
              <a:rPr lang="es-ES" sz="2400" dirty="0">
                <a:solidFill>
                  <a:schemeClr val="bg1">
                    <a:lumMod val="85000"/>
                  </a:schemeClr>
                </a:solidFill>
              </a:rPr>
              <a:t> de un arreglo?</a:t>
            </a:r>
          </a:p>
          <a:p>
            <a:pPr>
              <a:buClr>
                <a:schemeClr val="bg1">
                  <a:lumMod val="75000"/>
                </a:schemeClr>
              </a:buClr>
            </a:pPr>
            <a:endParaRPr lang="es-ES" sz="2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s-ES" sz="4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¿Cuántas longitudes tiene un arreglo bidimensional?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3EB312-FB1B-5F4E-297A-BB9555F3C9E3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2799197" y="3429000"/>
            <a:ext cx="1153440" cy="114438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70675D7-686F-D50D-AA1C-A6F3246684B5}"/>
              </a:ext>
            </a:extLst>
          </p:cNvPr>
          <p:cNvGrpSpPr/>
          <p:nvPr/>
        </p:nvGrpSpPr>
        <p:grpSpPr>
          <a:xfrm>
            <a:off x="4169355" y="2163935"/>
            <a:ext cx="1470546" cy="1470546"/>
            <a:chOff x="4261821" y="1958455"/>
            <a:chExt cx="1470546" cy="1470546"/>
          </a:xfrm>
          <a:effectLst>
            <a:glow rad="139700">
              <a:schemeClr val="accent2">
                <a:lumMod val="50000"/>
                <a:alpha val="40000"/>
              </a:schemeClr>
            </a:glow>
          </a:effectLst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0D448AD-993B-56E2-7BC2-A9A56C2A1CEE}"/>
                </a:ext>
              </a:extLst>
            </p:cNvPr>
            <p:cNvSpPr txBox="1"/>
            <p:nvPr/>
          </p:nvSpPr>
          <p:spPr>
            <a:xfrm>
              <a:off x="4391800" y="2093564"/>
              <a:ext cx="121058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7200" b="1" dirty="0">
                  <a:solidFill>
                    <a:schemeClr val="bg1"/>
                  </a:solidFill>
                </a:rPr>
                <a:t>04</a:t>
              </a:r>
              <a:endParaRPr lang="en-US" sz="72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1E4687A-15AE-8F8F-6635-47746396329B}"/>
                </a:ext>
              </a:extLst>
            </p:cNvPr>
            <p:cNvSpPr/>
            <p:nvPr/>
          </p:nvSpPr>
          <p:spPr>
            <a:xfrm>
              <a:off x="4261821" y="1958455"/>
              <a:ext cx="1470546" cy="1470546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1045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EF3B4-21BF-4F13-19D8-12C79D47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362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883" y="200968"/>
            <a:ext cx="7364361" cy="3053510"/>
          </a:xfrm>
        </p:spPr>
        <p:txBody>
          <a:bodyPr anchor="ctr" anchorCtr="0">
            <a:noAutofit/>
          </a:bodyPr>
          <a:lstStyle/>
          <a:p>
            <a:pPr algn="l"/>
            <a:r>
              <a:rPr lang="es-ES" sz="5400" dirty="0">
                <a:latin typeface="Helvetica"/>
              </a:rPr>
              <a:t>Arreglos de dos dimensiones (I)</a:t>
            </a:r>
            <a:endParaRPr lang="en-US" sz="5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251AC-3951-3B47-1B07-C76D85252ACA}"/>
              </a:ext>
            </a:extLst>
          </p:cNvPr>
          <p:cNvSpPr/>
          <p:nvPr/>
        </p:nvSpPr>
        <p:spPr>
          <a:xfrm>
            <a:off x="4109883" y="2871019"/>
            <a:ext cx="8082117" cy="78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ava logo and symbol, meaning, history, PNG">
            <a:extLst>
              <a:ext uri="{FF2B5EF4-FFF2-40B4-BE49-F238E27FC236}">
                <a16:creationId xmlns:a16="http://schemas.microsoft.com/office/drawing/2014/main" id="{AAB33131-EF3E-5FB0-0827-F338AF1CA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0" r="54839"/>
          <a:stretch/>
        </p:blipFill>
        <p:spPr bwMode="auto">
          <a:xfrm>
            <a:off x="0" y="-174523"/>
            <a:ext cx="2949677" cy="6858000"/>
          </a:xfrm>
          <a:prstGeom prst="rect">
            <a:avLst/>
          </a:prstGeom>
          <a:noFill/>
          <a:effectLst>
            <a:outerShdw blurRad="152400" dist="1143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781919-DECA-3D78-81A0-35CD43938DF7}"/>
              </a:ext>
            </a:extLst>
          </p:cNvPr>
          <p:cNvSpPr txBox="1"/>
          <p:nvPr/>
        </p:nvSpPr>
        <p:spPr>
          <a:xfrm>
            <a:off x="68827" y="6605045"/>
            <a:ext cx="61353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de: https://1000logos.net/wp-content/uploads/2020/09/Java-Logo.png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4A682B26-4CAE-4139-AD70-678038B1E6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71" y="429863"/>
            <a:ext cx="10590229" cy="785528"/>
          </a:xfrm>
        </p:spPr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E7665C-E768-93F4-E3E8-285EC8D34AD7}"/>
              </a:ext>
            </a:extLst>
          </p:cNvPr>
          <p:cNvSpPr txBox="1"/>
          <p:nvPr/>
        </p:nvSpPr>
        <p:spPr>
          <a:xfrm>
            <a:off x="103792" y="6570307"/>
            <a:ext cx="8587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https://images.chesscomfiles.com/uploads/v1/news/1124189.2644b07f.668x375o.1255d7102fab@2x.png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5BF71D-AE98-ECA9-3C25-309A4EE9D3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3572" y="1436914"/>
            <a:ext cx="5759776" cy="4782911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Observa la imagen y responde:</a:t>
            </a:r>
          </a:p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¿Qué muestra la imagen?</a:t>
            </a:r>
          </a:p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¿Cuántas dimensiones identificas?</a:t>
            </a:r>
          </a:p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¿Cómo nos referimos a una casilla específica?</a:t>
            </a:r>
          </a:p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En programación, ¿Qué estructura de datos es equivalente?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DDBE94-48D6-DF33-608B-1B05DCCA5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48" y="1332271"/>
            <a:ext cx="4773578" cy="4812138"/>
          </a:xfrm>
          <a:prstGeom prst="rect">
            <a:avLst/>
          </a:prstGeom>
          <a:effectLst>
            <a:outerShdw blurRad="152400" dist="762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AF3303-4E64-5C14-FEC7-C5CF31C9889E}"/>
              </a:ext>
            </a:extLst>
          </p:cNvPr>
          <p:cNvSpPr/>
          <p:nvPr/>
        </p:nvSpPr>
        <p:spPr>
          <a:xfrm>
            <a:off x="0" y="5850194"/>
            <a:ext cx="12192000" cy="1007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4" y="429863"/>
            <a:ext cx="10627937" cy="785528"/>
          </a:xfrm>
        </p:spPr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865" y="1894788"/>
            <a:ext cx="5524106" cy="3629319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reconoce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qué son los arreglos bidimensionales </a:t>
            </a:r>
            <a:r>
              <a:rPr lang="es-ES" dirty="0">
                <a:solidFill>
                  <a:srgbClr val="D3052C"/>
                </a:solidFill>
              </a:rPr>
              <a:t>mediante la realización de actividades </a:t>
            </a:r>
            <a:r>
              <a:rPr lang="es-ES" dirty="0">
                <a:solidFill>
                  <a:srgbClr val="7030A0"/>
                </a:solidFill>
              </a:rPr>
              <a:t>para utilizarlos como medio de almacenamiento de datos.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https://www.pngmart.com/files/21/Book-PNG-Photos.png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04D54-ECF5-DDCE-515E-887F2AFEE5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659"/>
          <a:stretch/>
        </p:blipFill>
        <p:spPr>
          <a:xfrm>
            <a:off x="6750817" y="-136525"/>
            <a:ext cx="5441183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D1B88D4E-1DF6-60C5-E06B-43FDB65435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6468648" y="48802"/>
            <a:ext cx="54082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B77D-CEBE-2C98-CAEE-95363F339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8159" y="1436915"/>
            <a:ext cx="5630448" cy="3841860"/>
          </a:xfrm>
        </p:spPr>
        <p:txBody>
          <a:bodyPr>
            <a:normAutofit/>
          </a:bodyPr>
          <a:lstStyle/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¿Cómo se encuentran originalmente los elementos mostrados?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¿Cómo han sido organizados?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¿Cuál es la finalidad de organizarlos?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¿Qué caracteriza a la nueva organización?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838200" y="5278775"/>
            <a:ext cx="6117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Reconocer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cómo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almacenar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datos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en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estructuras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bidimensionales</a:t>
            </a:r>
            <a:r>
              <a:rPr lang="en-US" sz="2800" dirty="0">
                <a:latin typeface="Helvetica" pitchFamily="2" charset="0"/>
              </a:rPr>
              <a:t>.</a:t>
            </a:r>
            <a:endParaRPr lang="es-ES" sz="2800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90F7AF-0545-22D7-731F-2E06981ADDE9}"/>
              </a:ext>
            </a:extLst>
          </p:cNvPr>
          <p:cNvSpPr txBox="1"/>
          <p:nvPr/>
        </p:nvSpPr>
        <p:spPr>
          <a:xfrm>
            <a:off x="202753" y="6502565"/>
            <a:ext cx="933624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https://logodownload.org/wp-content/uploads/2016/03/premier-league-5.png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B6163C-F31A-2EF4-AE06-391544C22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877791"/>
              </p:ext>
            </p:extLst>
          </p:nvPr>
        </p:nvGraphicFramePr>
        <p:xfrm>
          <a:off x="8622661" y="1336379"/>
          <a:ext cx="393681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681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20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23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121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199F34-5F26-8A69-9E7C-560381598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292482"/>
              </p:ext>
            </p:extLst>
          </p:nvPr>
        </p:nvGraphicFramePr>
        <p:xfrm>
          <a:off x="9220368" y="1336379"/>
          <a:ext cx="393681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681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20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23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18549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CEE88BC-5547-5493-10F8-A6A4F69B8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090322"/>
              </p:ext>
            </p:extLst>
          </p:nvPr>
        </p:nvGraphicFramePr>
        <p:xfrm>
          <a:off x="9818075" y="1336379"/>
          <a:ext cx="393681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681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20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23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0823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5A38032-6667-CAD5-2F81-AA24322A0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734481"/>
              </p:ext>
            </p:extLst>
          </p:nvPr>
        </p:nvGraphicFramePr>
        <p:xfrm>
          <a:off x="10415782" y="1336379"/>
          <a:ext cx="393681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681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20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23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62440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503A43-2797-52A7-E238-460DE6610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254761"/>
              </p:ext>
            </p:extLst>
          </p:nvPr>
        </p:nvGraphicFramePr>
        <p:xfrm>
          <a:off x="6666823" y="1336379"/>
          <a:ext cx="175181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1812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Man City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Arsenal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Man </a:t>
                      </a:r>
                      <a:r>
                        <a:rPr lang="es-ES" dirty="0" err="1"/>
                        <a:t>United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20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Newcastle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23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Tottenham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73685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79B4A7D-ACA3-8E53-80D8-0B35D1AD293F}"/>
              </a:ext>
            </a:extLst>
          </p:cNvPr>
          <p:cNvSpPr txBox="1"/>
          <p:nvPr/>
        </p:nvSpPr>
        <p:spPr>
          <a:xfrm>
            <a:off x="6629958" y="965168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club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CCB9D-AC03-403C-B65B-7228E6C3FA6E}"/>
              </a:ext>
            </a:extLst>
          </p:cNvPr>
          <p:cNvSpPr txBox="1"/>
          <p:nvPr/>
        </p:nvSpPr>
        <p:spPr>
          <a:xfrm>
            <a:off x="8586474" y="965168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PJ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B4C303-DD22-4DE8-EFEC-9E350770C150}"/>
              </a:ext>
            </a:extLst>
          </p:cNvPr>
          <p:cNvSpPr txBox="1"/>
          <p:nvPr/>
        </p:nvSpPr>
        <p:spPr>
          <a:xfrm>
            <a:off x="9207396" y="965168"/>
            <a:ext cx="4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PG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F61F4-748C-DEBF-4B0A-A56D7EA9B81E}"/>
              </a:ext>
            </a:extLst>
          </p:cNvPr>
          <p:cNvSpPr txBox="1"/>
          <p:nvPr/>
        </p:nvSpPr>
        <p:spPr>
          <a:xfrm>
            <a:off x="9828470" y="965168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PP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6B29FC-C0D4-8AA9-CBDC-2B47EEFCAAC1}"/>
              </a:ext>
            </a:extLst>
          </p:cNvPr>
          <p:cNvSpPr txBox="1"/>
          <p:nvPr/>
        </p:nvSpPr>
        <p:spPr>
          <a:xfrm>
            <a:off x="10396376" y="965168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PE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999C74-E4DD-B123-CD4F-22EF0CD9C9D5}"/>
              </a:ext>
            </a:extLst>
          </p:cNvPr>
          <p:cNvSpPr txBox="1"/>
          <p:nvPr/>
        </p:nvSpPr>
        <p:spPr>
          <a:xfrm>
            <a:off x="10990452" y="965168"/>
            <a:ext cx="4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Pts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8B4B5EE-9B4E-0899-BF7F-5F44226B0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239402"/>
              </p:ext>
            </p:extLst>
          </p:nvPr>
        </p:nvGraphicFramePr>
        <p:xfrm>
          <a:off x="11013488" y="1336379"/>
          <a:ext cx="393681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681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20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23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62440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77BE768-42A4-109C-8A9A-28A026E00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745709"/>
              </p:ext>
            </p:extLst>
          </p:nvPr>
        </p:nvGraphicFramePr>
        <p:xfrm>
          <a:off x="9033623" y="4169279"/>
          <a:ext cx="393681" cy="1854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93681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20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23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121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116A13D-BF7C-9F44-3CF8-8825215ED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915308"/>
              </p:ext>
            </p:extLst>
          </p:nvPr>
        </p:nvGraphicFramePr>
        <p:xfrm>
          <a:off x="9427304" y="4169279"/>
          <a:ext cx="393681" cy="1854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93681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20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23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185498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C5F0917-A7B4-AE1E-ABB7-D5FE6C35D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266611"/>
              </p:ext>
            </p:extLst>
          </p:nvPr>
        </p:nvGraphicFramePr>
        <p:xfrm>
          <a:off x="9819024" y="4169279"/>
          <a:ext cx="393681" cy="1854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93681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20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23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608238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269B69E-C745-D3A4-DA35-2AA4B3BE4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911493"/>
              </p:ext>
            </p:extLst>
          </p:nvPr>
        </p:nvGraphicFramePr>
        <p:xfrm>
          <a:off x="10212705" y="4169279"/>
          <a:ext cx="393681" cy="1854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93681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20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23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624401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1BB8C29-2F29-DAFD-E865-0281C436D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508162"/>
              </p:ext>
            </p:extLst>
          </p:nvPr>
        </p:nvGraphicFramePr>
        <p:xfrm>
          <a:off x="7077785" y="4169279"/>
          <a:ext cx="1751812" cy="1854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751812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Man City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Arsenal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Man </a:t>
                      </a:r>
                      <a:r>
                        <a:rPr lang="es-ES" dirty="0" err="1"/>
                        <a:t>United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20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Newcastle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23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Tottenham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73685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3DB7BE3-9840-CD6E-4627-0BC1E2966595}"/>
              </a:ext>
            </a:extLst>
          </p:cNvPr>
          <p:cNvSpPr txBox="1"/>
          <p:nvPr/>
        </p:nvSpPr>
        <p:spPr>
          <a:xfrm>
            <a:off x="7040920" y="3798068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club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36A2EE-EA4B-3D36-4987-858E9447A6CD}"/>
              </a:ext>
            </a:extLst>
          </p:cNvPr>
          <p:cNvSpPr txBox="1"/>
          <p:nvPr/>
        </p:nvSpPr>
        <p:spPr>
          <a:xfrm>
            <a:off x="8997435" y="3798068"/>
            <a:ext cx="1451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estadisticas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30DA8D15-33E7-5EBF-51AE-78A64C24C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87626"/>
              </p:ext>
            </p:extLst>
          </p:nvPr>
        </p:nvGraphicFramePr>
        <p:xfrm>
          <a:off x="10604425" y="4169279"/>
          <a:ext cx="393681" cy="1854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93681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20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23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4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624401"/>
                  </a:ext>
                </a:extLst>
              </a:tr>
            </a:tbl>
          </a:graphicData>
        </a:graphic>
      </p:graphicFrame>
      <p:sp>
        <p:nvSpPr>
          <p:cNvPr id="32" name="Right Brace 31">
            <a:extLst>
              <a:ext uri="{FF2B5EF4-FFF2-40B4-BE49-F238E27FC236}">
                <a16:creationId xmlns:a16="http://schemas.microsoft.com/office/drawing/2014/main" id="{0C39610A-F9EF-1DB8-ABFD-E19F8837438C}"/>
              </a:ext>
            </a:extLst>
          </p:cNvPr>
          <p:cNvSpPr/>
          <p:nvPr/>
        </p:nvSpPr>
        <p:spPr>
          <a:xfrm rot="5400000">
            <a:off x="9816027" y="2117605"/>
            <a:ext cx="393681" cy="2811692"/>
          </a:xfrm>
          <a:prstGeom prst="rightBrace">
            <a:avLst>
              <a:gd name="adj1" fmla="val 0"/>
              <a:gd name="adj2" fmla="val 50000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de dos dimensiones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Declaración, creación e inicialización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Recorrido de arreglos bidimensionales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307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Declaración, creación e inicialización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Recorrido de arreglos bidimensionales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3C93493-15D0-77F0-6F93-29BD5364129E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de dos dimensiones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362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C3EF-5D84-4CA1-A49C-42748C91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Arreglos de dos dimensiones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3F32973-D01E-1762-F7A9-248AC09487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5088663" cy="4782911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" dirty="0"/>
              <a:t>Es la </a:t>
            </a:r>
            <a:r>
              <a:rPr lang="es-ES" b="1" dirty="0"/>
              <a:t>forma</a:t>
            </a:r>
            <a:r>
              <a:rPr lang="es-ES" dirty="0"/>
              <a:t> más </a:t>
            </a:r>
            <a:r>
              <a:rPr lang="es-ES" b="1" dirty="0"/>
              <a:t>básica</a:t>
            </a:r>
            <a:r>
              <a:rPr lang="es-ES" dirty="0"/>
              <a:t> de </a:t>
            </a:r>
            <a:r>
              <a:rPr lang="es-ES" b="1" dirty="0"/>
              <a:t>arreglos</a:t>
            </a:r>
            <a:r>
              <a:rPr lang="es-ES" dirty="0"/>
              <a:t> </a:t>
            </a:r>
            <a:r>
              <a:rPr lang="es-ES" b="1" dirty="0"/>
              <a:t>multidimensionales</a:t>
            </a:r>
            <a:r>
              <a:rPr lang="es-ES" dirty="0"/>
              <a:t>.</a:t>
            </a:r>
          </a:p>
          <a:p>
            <a:pPr>
              <a:lnSpc>
                <a:spcPct val="150000"/>
              </a:lnSpc>
            </a:pPr>
            <a:r>
              <a:rPr lang="es-ES" dirty="0"/>
              <a:t>Es, esencialmente, un arreglo de arreglos unidimensionales.</a:t>
            </a:r>
          </a:p>
          <a:p>
            <a:pPr>
              <a:lnSpc>
                <a:spcPct val="150000"/>
              </a:lnSpc>
            </a:pPr>
            <a:r>
              <a:rPr lang="es-ES" dirty="0"/>
              <a:t>Se le conoce también con el nombre de </a:t>
            </a:r>
            <a:r>
              <a:rPr lang="es-ES" b="1" dirty="0">
                <a:solidFill>
                  <a:schemeClr val="accent2"/>
                </a:solidFill>
              </a:rPr>
              <a:t>matriz</a:t>
            </a:r>
            <a:r>
              <a:rPr lang="es-ES" dirty="0"/>
              <a:t> o</a:t>
            </a:r>
            <a:r>
              <a:rPr lang="es-ES" b="1" dirty="0"/>
              <a:t> </a:t>
            </a:r>
            <a:r>
              <a:rPr lang="es-ES" b="1" dirty="0">
                <a:solidFill>
                  <a:schemeClr val="accent2"/>
                </a:solidFill>
              </a:rPr>
              <a:t>tabla</a:t>
            </a:r>
            <a:r>
              <a:rPr lang="es-ES" dirty="0"/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70F16F-F121-84F9-5675-DD0B133A83B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Arreglos de dos dimensiones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75A82DE-FB9E-FD99-58F9-C477A2A4AEC7}"/>
              </a:ext>
            </a:extLst>
          </p:cNvPr>
          <p:cNvGrpSpPr/>
          <p:nvPr/>
        </p:nvGrpSpPr>
        <p:grpSpPr>
          <a:xfrm>
            <a:off x="6464081" y="1498954"/>
            <a:ext cx="5471384" cy="5039958"/>
            <a:chOff x="6053121" y="1498954"/>
            <a:chExt cx="5471384" cy="5039958"/>
          </a:xfrm>
        </p:grpSpPr>
        <p:sp>
          <p:nvSpPr>
            <p:cNvPr id="10" name="CuadroTexto 12">
              <a:extLst>
                <a:ext uri="{FF2B5EF4-FFF2-40B4-BE49-F238E27FC236}">
                  <a16:creationId xmlns:a16="http://schemas.microsoft.com/office/drawing/2014/main" id="{000BE03A-FDD9-DAA0-7A3B-310E15E3155D}"/>
                </a:ext>
              </a:extLst>
            </p:cNvPr>
            <p:cNvSpPr txBox="1"/>
            <p:nvPr/>
          </p:nvSpPr>
          <p:spPr>
            <a:xfrm>
              <a:off x="7219303" y="191445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1" name="CuadroTexto 13">
              <a:extLst>
                <a:ext uri="{FF2B5EF4-FFF2-40B4-BE49-F238E27FC236}">
                  <a16:creationId xmlns:a16="http://schemas.microsoft.com/office/drawing/2014/main" id="{83E6C675-6CE8-8AB3-B8DD-24B224BF369F}"/>
                </a:ext>
              </a:extLst>
            </p:cNvPr>
            <p:cNvSpPr txBox="1"/>
            <p:nvPr/>
          </p:nvSpPr>
          <p:spPr>
            <a:xfrm>
              <a:off x="8375148" y="191445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1</a:t>
              </a:r>
            </a:p>
          </p:txBody>
        </p:sp>
        <p:sp>
          <p:nvSpPr>
            <p:cNvPr id="12" name="CuadroTexto 14">
              <a:extLst>
                <a:ext uri="{FF2B5EF4-FFF2-40B4-BE49-F238E27FC236}">
                  <a16:creationId xmlns:a16="http://schemas.microsoft.com/office/drawing/2014/main" id="{F9F8B5BA-A600-F9B1-A88D-EFC70F7B7C36}"/>
                </a:ext>
              </a:extLst>
            </p:cNvPr>
            <p:cNvSpPr txBox="1"/>
            <p:nvPr/>
          </p:nvSpPr>
          <p:spPr>
            <a:xfrm>
              <a:off x="9389682" y="1923879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2</a:t>
              </a:r>
            </a:p>
          </p:txBody>
        </p:sp>
        <p:sp>
          <p:nvSpPr>
            <p:cNvPr id="13" name="Rectángulo: esquinas redondeadas 15">
              <a:extLst>
                <a:ext uri="{FF2B5EF4-FFF2-40B4-BE49-F238E27FC236}">
                  <a16:creationId xmlns:a16="http://schemas.microsoft.com/office/drawing/2014/main" id="{7D10673F-D743-3D47-C5D4-B72B32BF6C37}"/>
                </a:ext>
              </a:extLst>
            </p:cNvPr>
            <p:cNvSpPr/>
            <p:nvPr/>
          </p:nvSpPr>
          <p:spPr>
            <a:xfrm>
              <a:off x="7175693" y="1498954"/>
              <a:ext cx="2655056" cy="461665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dirty="0">
                  <a:solidFill>
                    <a:schemeClr val="bg1">
                      <a:lumMod val="50000"/>
                    </a:schemeClr>
                  </a:solidFill>
                </a:rPr>
                <a:t>índices de columna</a:t>
              </a:r>
            </a:p>
          </p:txBody>
        </p:sp>
        <p:sp>
          <p:nvSpPr>
            <p:cNvPr id="15" name="Rectángulo: esquinas redondeadas 16">
              <a:extLst>
                <a:ext uri="{FF2B5EF4-FFF2-40B4-BE49-F238E27FC236}">
                  <a16:creationId xmlns:a16="http://schemas.microsoft.com/office/drawing/2014/main" id="{F30647EB-073E-0339-DEAF-375CAAC0E002}"/>
                </a:ext>
              </a:extLst>
            </p:cNvPr>
            <p:cNvSpPr/>
            <p:nvPr/>
          </p:nvSpPr>
          <p:spPr>
            <a:xfrm>
              <a:off x="10538843" y="3638632"/>
              <a:ext cx="985662" cy="461665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1600" dirty="0">
                  <a:solidFill>
                    <a:schemeClr val="bg1">
                      <a:lumMod val="50000"/>
                    </a:schemeClr>
                  </a:solidFill>
                </a:rPr>
                <a:t>tamaño:</a:t>
              </a:r>
              <a:br>
                <a:rPr lang="es-419" sz="16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419" sz="1600" dirty="0">
                  <a:solidFill>
                    <a:schemeClr val="bg1">
                      <a:lumMod val="50000"/>
                    </a:schemeClr>
                  </a:solidFill>
                </a:rPr>
                <a:t>3x3</a:t>
              </a:r>
            </a:p>
          </p:txBody>
        </p:sp>
        <p:sp>
          <p:nvSpPr>
            <p:cNvPr id="16" name="Rectángulo: esquinas redondeadas 17">
              <a:extLst>
                <a:ext uri="{FF2B5EF4-FFF2-40B4-BE49-F238E27FC236}">
                  <a16:creationId xmlns:a16="http://schemas.microsoft.com/office/drawing/2014/main" id="{5DE8AFC3-2574-062C-FFA1-F8C62B696A40}"/>
                </a:ext>
              </a:extLst>
            </p:cNvPr>
            <p:cNvSpPr/>
            <p:nvPr/>
          </p:nvSpPr>
          <p:spPr>
            <a:xfrm>
              <a:off x="7638437" y="6077247"/>
              <a:ext cx="1729568" cy="46166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dirty="0">
                  <a:solidFill>
                    <a:schemeClr val="tx1"/>
                  </a:solidFill>
                </a:rPr>
                <a:t>elemento</a:t>
              </a:r>
              <a:r>
                <a:rPr lang="es-419" dirty="0">
                  <a:solidFill>
                    <a:srgbClr val="7030A0"/>
                  </a:solidFill>
                </a:rPr>
                <a:t>[2]</a:t>
              </a:r>
              <a:r>
                <a:rPr lang="es-419" dirty="0">
                  <a:solidFill>
                    <a:srgbClr val="FF4B4B"/>
                  </a:solidFill>
                </a:rPr>
                <a:t>[0]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C390BD1-972B-68E3-04CC-E739B97C9539}"/>
                </a:ext>
              </a:extLst>
            </p:cNvPr>
            <p:cNvGrpSpPr/>
            <p:nvPr/>
          </p:nvGrpSpPr>
          <p:grpSpPr>
            <a:xfrm>
              <a:off x="6841841" y="2318710"/>
              <a:ext cx="3265614" cy="3268090"/>
              <a:chOff x="6561213" y="2037869"/>
              <a:chExt cx="3826869" cy="3829772"/>
            </a:xfrm>
          </p:grpSpPr>
          <p:sp>
            <p:nvSpPr>
              <p:cNvPr id="4" name="Rectángulo 6">
                <a:extLst>
                  <a:ext uri="{FF2B5EF4-FFF2-40B4-BE49-F238E27FC236}">
                    <a16:creationId xmlns:a16="http://schemas.microsoft.com/office/drawing/2014/main" id="{8B3D354F-449C-6D94-B0C4-947D69B9B3DC}"/>
                  </a:ext>
                </a:extLst>
              </p:cNvPr>
              <p:cNvSpPr/>
              <p:nvPr/>
            </p:nvSpPr>
            <p:spPr>
              <a:xfrm>
                <a:off x="6561213" y="2037870"/>
                <a:ext cx="1272209" cy="1272209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15</a:t>
                </a:r>
              </a:p>
            </p:txBody>
          </p:sp>
          <p:sp>
            <p:nvSpPr>
              <p:cNvPr id="8" name="Rectángulo 10">
                <a:extLst>
                  <a:ext uri="{FF2B5EF4-FFF2-40B4-BE49-F238E27FC236}">
                    <a16:creationId xmlns:a16="http://schemas.microsoft.com/office/drawing/2014/main" id="{9ECFFD7B-AA39-9EF9-8517-CA8AA7198B59}"/>
                  </a:ext>
                </a:extLst>
              </p:cNvPr>
              <p:cNvSpPr/>
              <p:nvPr/>
            </p:nvSpPr>
            <p:spPr>
              <a:xfrm>
                <a:off x="7838543" y="2039418"/>
                <a:ext cx="1272209" cy="1272209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10</a:t>
                </a:r>
              </a:p>
            </p:txBody>
          </p:sp>
          <p:sp>
            <p:nvSpPr>
              <p:cNvPr id="9" name="Rectángulo 11">
                <a:extLst>
                  <a:ext uri="{FF2B5EF4-FFF2-40B4-BE49-F238E27FC236}">
                    <a16:creationId xmlns:a16="http://schemas.microsoft.com/office/drawing/2014/main" id="{C90BBF7F-5142-5A60-2C3C-AEBF86A62DF0}"/>
                  </a:ext>
                </a:extLst>
              </p:cNvPr>
              <p:cNvSpPr/>
              <p:nvPr/>
            </p:nvSpPr>
            <p:spPr>
              <a:xfrm>
                <a:off x="9115873" y="2037869"/>
                <a:ext cx="1272209" cy="1272209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0</a:t>
                </a:r>
              </a:p>
            </p:txBody>
          </p:sp>
          <p:sp>
            <p:nvSpPr>
              <p:cNvPr id="17" name="Rectángulo 18">
                <a:extLst>
                  <a:ext uri="{FF2B5EF4-FFF2-40B4-BE49-F238E27FC236}">
                    <a16:creationId xmlns:a16="http://schemas.microsoft.com/office/drawing/2014/main" id="{7263E47C-9119-3128-5923-88AC583B8F27}"/>
                  </a:ext>
                </a:extLst>
              </p:cNvPr>
              <p:cNvSpPr/>
              <p:nvPr/>
            </p:nvSpPr>
            <p:spPr>
              <a:xfrm>
                <a:off x="6561213" y="3315877"/>
                <a:ext cx="1272209" cy="1272209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7</a:t>
                </a:r>
              </a:p>
            </p:txBody>
          </p:sp>
          <p:sp>
            <p:nvSpPr>
              <p:cNvPr id="18" name="Rectángulo 19">
                <a:extLst>
                  <a:ext uri="{FF2B5EF4-FFF2-40B4-BE49-F238E27FC236}">
                    <a16:creationId xmlns:a16="http://schemas.microsoft.com/office/drawing/2014/main" id="{09FFD547-3ADB-E3E3-4342-B4BB4B6ACF95}"/>
                  </a:ext>
                </a:extLst>
              </p:cNvPr>
              <p:cNvSpPr/>
              <p:nvPr/>
            </p:nvSpPr>
            <p:spPr>
              <a:xfrm>
                <a:off x="7838543" y="3317425"/>
                <a:ext cx="1272209" cy="1272209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3</a:t>
                </a:r>
              </a:p>
            </p:txBody>
          </p:sp>
          <p:sp>
            <p:nvSpPr>
              <p:cNvPr id="20" name="Rectángulo 20">
                <a:extLst>
                  <a:ext uri="{FF2B5EF4-FFF2-40B4-BE49-F238E27FC236}">
                    <a16:creationId xmlns:a16="http://schemas.microsoft.com/office/drawing/2014/main" id="{46499729-E885-94E8-793D-00B5F1EB14C0}"/>
                  </a:ext>
                </a:extLst>
              </p:cNvPr>
              <p:cNvSpPr/>
              <p:nvPr/>
            </p:nvSpPr>
            <p:spPr>
              <a:xfrm>
                <a:off x="9115873" y="3315876"/>
                <a:ext cx="1272209" cy="1272209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16</a:t>
                </a:r>
              </a:p>
            </p:txBody>
          </p:sp>
          <p:sp>
            <p:nvSpPr>
              <p:cNvPr id="21" name="Rectángulo 21">
                <a:extLst>
                  <a:ext uri="{FF2B5EF4-FFF2-40B4-BE49-F238E27FC236}">
                    <a16:creationId xmlns:a16="http://schemas.microsoft.com/office/drawing/2014/main" id="{CC1406E7-378F-09A0-1957-3EF9FB2C560E}"/>
                  </a:ext>
                </a:extLst>
              </p:cNvPr>
              <p:cNvSpPr/>
              <p:nvPr/>
            </p:nvSpPr>
            <p:spPr>
              <a:xfrm>
                <a:off x="6561213" y="4593884"/>
                <a:ext cx="1272209" cy="1272209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9</a:t>
                </a:r>
              </a:p>
            </p:txBody>
          </p:sp>
          <p:sp>
            <p:nvSpPr>
              <p:cNvPr id="22" name="Rectángulo 22">
                <a:extLst>
                  <a:ext uri="{FF2B5EF4-FFF2-40B4-BE49-F238E27FC236}">
                    <a16:creationId xmlns:a16="http://schemas.microsoft.com/office/drawing/2014/main" id="{BE9F347B-0B13-0EB7-C1C5-F29AAC504E86}"/>
                  </a:ext>
                </a:extLst>
              </p:cNvPr>
              <p:cNvSpPr/>
              <p:nvPr/>
            </p:nvSpPr>
            <p:spPr>
              <a:xfrm>
                <a:off x="7838543" y="4595432"/>
                <a:ext cx="1272209" cy="1272209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20</a:t>
                </a:r>
              </a:p>
            </p:txBody>
          </p:sp>
          <p:sp>
            <p:nvSpPr>
              <p:cNvPr id="23" name="Rectángulo 23">
                <a:extLst>
                  <a:ext uri="{FF2B5EF4-FFF2-40B4-BE49-F238E27FC236}">
                    <a16:creationId xmlns:a16="http://schemas.microsoft.com/office/drawing/2014/main" id="{224B71C3-DCE4-F1C4-05FF-B90E9F978228}"/>
                  </a:ext>
                </a:extLst>
              </p:cNvPr>
              <p:cNvSpPr/>
              <p:nvPr/>
            </p:nvSpPr>
            <p:spPr>
              <a:xfrm>
                <a:off x="9115873" y="4593883"/>
                <a:ext cx="1272209" cy="1272209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8</a:t>
                </a:r>
              </a:p>
            </p:txBody>
          </p:sp>
        </p:grpSp>
        <p:sp>
          <p:nvSpPr>
            <p:cNvPr id="24" name="CuadroTexto 24">
              <a:extLst>
                <a:ext uri="{FF2B5EF4-FFF2-40B4-BE49-F238E27FC236}">
                  <a16:creationId xmlns:a16="http://schemas.microsoft.com/office/drawing/2014/main" id="{E06871E5-083C-FF0E-5BB9-441B5C3F43D7}"/>
                </a:ext>
              </a:extLst>
            </p:cNvPr>
            <p:cNvSpPr txBox="1"/>
            <p:nvPr/>
          </p:nvSpPr>
          <p:spPr>
            <a:xfrm>
              <a:off x="6474351" y="258940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25" name="CuadroTexto 25">
              <a:extLst>
                <a:ext uri="{FF2B5EF4-FFF2-40B4-BE49-F238E27FC236}">
                  <a16:creationId xmlns:a16="http://schemas.microsoft.com/office/drawing/2014/main" id="{AA51A6E5-1C46-483F-33E0-632582F0B140}"/>
                </a:ext>
              </a:extLst>
            </p:cNvPr>
            <p:cNvSpPr txBox="1"/>
            <p:nvPr/>
          </p:nvSpPr>
          <p:spPr>
            <a:xfrm>
              <a:off x="6437002" y="3721147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1</a:t>
              </a:r>
            </a:p>
          </p:txBody>
        </p:sp>
        <p:sp>
          <p:nvSpPr>
            <p:cNvPr id="26" name="CuadroTexto 26">
              <a:extLst>
                <a:ext uri="{FF2B5EF4-FFF2-40B4-BE49-F238E27FC236}">
                  <a16:creationId xmlns:a16="http://schemas.microsoft.com/office/drawing/2014/main" id="{5E389391-45A6-9C2B-DD2C-2AD10A2EB3D3}"/>
                </a:ext>
              </a:extLst>
            </p:cNvPr>
            <p:cNvSpPr txBox="1"/>
            <p:nvPr/>
          </p:nvSpPr>
          <p:spPr>
            <a:xfrm>
              <a:off x="6428456" y="484574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2</a:t>
              </a:r>
            </a:p>
          </p:txBody>
        </p:sp>
        <p:cxnSp>
          <p:nvCxnSpPr>
            <p:cNvPr id="27" name="Conector recto de flecha 27">
              <a:extLst>
                <a:ext uri="{FF2B5EF4-FFF2-40B4-BE49-F238E27FC236}">
                  <a16:creationId xmlns:a16="http://schemas.microsoft.com/office/drawing/2014/main" id="{D08F563C-838B-DADF-36E6-757BC65829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50598" y="5671067"/>
              <a:ext cx="211563" cy="54875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Rectángulo: esquinas redondeadas 30">
              <a:extLst>
                <a:ext uri="{FF2B5EF4-FFF2-40B4-BE49-F238E27FC236}">
                  <a16:creationId xmlns:a16="http://schemas.microsoft.com/office/drawing/2014/main" id="{D4CBF77C-1B28-AD9A-79EE-960D402C54C6}"/>
                </a:ext>
              </a:extLst>
            </p:cNvPr>
            <p:cNvSpPr/>
            <p:nvPr/>
          </p:nvSpPr>
          <p:spPr>
            <a:xfrm rot="16200000">
              <a:off x="5213654" y="3721147"/>
              <a:ext cx="2140599" cy="461665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dirty="0">
                  <a:solidFill>
                    <a:schemeClr val="bg1">
                      <a:lumMod val="50000"/>
                    </a:schemeClr>
                  </a:solidFill>
                </a:rPr>
                <a:t>índices de fila</a:t>
              </a:r>
            </a:p>
          </p:txBody>
        </p:sp>
        <p:sp>
          <p:nvSpPr>
            <p:cNvPr id="31" name="Cerrar llave 31">
              <a:extLst>
                <a:ext uri="{FF2B5EF4-FFF2-40B4-BE49-F238E27FC236}">
                  <a16:creationId xmlns:a16="http://schemas.microsoft.com/office/drawing/2014/main" id="{B9D724C2-4D83-7418-C01B-3657A011C6B6}"/>
                </a:ext>
              </a:extLst>
            </p:cNvPr>
            <p:cNvSpPr/>
            <p:nvPr/>
          </p:nvSpPr>
          <p:spPr>
            <a:xfrm>
              <a:off x="10244365" y="2323989"/>
              <a:ext cx="404989" cy="3261489"/>
            </a:xfrm>
            <a:prstGeom prst="rightBrace">
              <a:avLst>
                <a:gd name="adj1" fmla="val 0"/>
                <a:gd name="adj2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419"/>
            </a:p>
          </p:txBody>
        </p:sp>
      </p:grpSp>
    </p:spTree>
    <p:extLst>
      <p:ext uri="{BB962C8B-B14F-4D97-AF65-F5344CB8AC3E}">
        <p14:creationId xmlns:p14="http://schemas.microsoft.com/office/powerpoint/2010/main" val="170030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B49C2-BB36-70E1-363C-DC9C3B277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Dimensiones de una matriz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AA4330-A0AB-DEA5-16B3-E2A5852471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0782AD-EE63-AE8E-8653-C35A3879950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Arreglos de dos dimensiones</a:t>
            </a:r>
          </a:p>
        </p:txBody>
      </p:sp>
      <p:sp>
        <p:nvSpPr>
          <p:cNvPr id="6" name="Rectángulo: esquinas redondeadas 54">
            <a:extLst>
              <a:ext uri="{FF2B5EF4-FFF2-40B4-BE49-F238E27FC236}">
                <a16:creationId xmlns:a16="http://schemas.microsoft.com/office/drawing/2014/main" id="{A5BFAF58-2504-B305-F3CA-54777E0AE779}"/>
              </a:ext>
            </a:extLst>
          </p:cNvPr>
          <p:cNvSpPr/>
          <p:nvPr/>
        </p:nvSpPr>
        <p:spPr>
          <a:xfrm>
            <a:off x="1868842" y="1814060"/>
            <a:ext cx="702685" cy="461665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2000" dirty="0">
                <a:solidFill>
                  <a:schemeClr val="bg1"/>
                </a:solidFill>
              </a:rPr>
              <a:t>2x2</a:t>
            </a:r>
          </a:p>
        </p:txBody>
      </p:sp>
      <p:sp>
        <p:nvSpPr>
          <p:cNvPr id="7" name="Rectángulo: esquinas redondeadas 55">
            <a:extLst>
              <a:ext uri="{FF2B5EF4-FFF2-40B4-BE49-F238E27FC236}">
                <a16:creationId xmlns:a16="http://schemas.microsoft.com/office/drawing/2014/main" id="{52F4F03A-515A-2494-77EF-6011B3741500}"/>
              </a:ext>
            </a:extLst>
          </p:cNvPr>
          <p:cNvSpPr/>
          <p:nvPr/>
        </p:nvSpPr>
        <p:spPr>
          <a:xfrm>
            <a:off x="4169581" y="1814060"/>
            <a:ext cx="702685" cy="461665"/>
          </a:xfrm>
          <a:prstGeom prst="roundRect">
            <a:avLst/>
          </a:prstGeom>
          <a:solidFill>
            <a:srgbClr val="7200F3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2000" dirty="0">
                <a:solidFill>
                  <a:schemeClr val="bg1"/>
                </a:solidFill>
              </a:rPr>
              <a:t>2x4</a:t>
            </a:r>
          </a:p>
        </p:txBody>
      </p:sp>
      <p:sp>
        <p:nvSpPr>
          <p:cNvPr id="8" name="Rectángulo: esquinas redondeadas 60">
            <a:extLst>
              <a:ext uri="{FF2B5EF4-FFF2-40B4-BE49-F238E27FC236}">
                <a16:creationId xmlns:a16="http://schemas.microsoft.com/office/drawing/2014/main" id="{9BA8F958-142A-3116-38D6-C0C2DB320F0F}"/>
              </a:ext>
            </a:extLst>
          </p:cNvPr>
          <p:cNvSpPr/>
          <p:nvPr/>
        </p:nvSpPr>
        <p:spPr>
          <a:xfrm>
            <a:off x="1840195" y="3307312"/>
            <a:ext cx="702685" cy="461665"/>
          </a:xfrm>
          <a:prstGeom prst="roundRect">
            <a:avLst/>
          </a:prstGeom>
          <a:solidFill>
            <a:srgbClr val="FE349A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2000" dirty="0">
                <a:solidFill>
                  <a:schemeClr val="bg1"/>
                </a:solidFill>
              </a:rPr>
              <a:t>3x2</a:t>
            </a:r>
          </a:p>
        </p:txBody>
      </p:sp>
      <p:sp>
        <p:nvSpPr>
          <p:cNvPr id="9" name="Rectángulo: esquinas redondeadas 61">
            <a:extLst>
              <a:ext uri="{FF2B5EF4-FFF2-40B4-BE49-F238E27FC236}">
                <a16:creationId xmlns:a16="http://schemas.microsoft.com/office/drawing/2014/main" id="{1236EC91-B439-D615-E5BF-FB9FA5E88E7A}"/>
              </a:ext>
            </a:extLst>
          </p:cNvPr>
          <p:cNvSpPr/>
          <p:nvPr/>
        </p:nvSpPr>
        <p:spPr>
          <a:xfrm>
            <a:off x="4169581" y="3307312"/>
            <a:ext cx="702685" cy="46166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2000" dirty="0">
                <a:solidFill>
                  <a:schemeClr val="accent4">
                    <a:lumMod val="50000"/>
                  </a:schemeClr>
                </a:solidFill>
              </a:rPr>
              <a:t>4x3</a:t>
            </a:r>
          </a:p>
        </p:txBody>
      </p:sp>
      <p:sp>
        <p:nvSpPr>
          <p:cNvPr id="10" name="Rectángulo: esquinas redondeadas 62">
            <a:extLst>
              <a:ext uri="{FF2B5EF4-FFF2-40B4-BE49-F238E27FC236}">
                <a16:creationId xmlns:a16="http://schemas.microsoft.com/office/drawing/2014/main" id="{6CBEB5D8-15B6-54C5-2AE9-A126143B30D5}"/>
              </a:ext>
            </a:extLst>
          </p:cNvPr>
          <p:cNvSpPr/>
          <p:nvPr/>
        </p:nvSpPr>
        <p:spPr>
          <a:xfrm>
            <a:off x="7117825" y="1814060"/>
            <a:ext cx="702685" cy="46166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2000" dirty="0">
                <a:solidFill>
                  <a:schemeClr val="bg1"/>
                </a:solidFill>
              </a:rPr>
              <a:t>3x7</a:t>
            </a:r>
          </a:p>
        </p:txBody>
      </p:sp>
      <p:sp>
        <p:nvSpPr>
          <p:cNvPr id="11" name="Rectángulo: esquinas redondeadas 63">
            <a:extLst>
              <a:ext uri="{FF2B5EF4-FFF2-40B4-BE49-F238E27FC236}">
                <a16:creationId xmlns:a16="http://schemas.microsoft.com/office/drawing/2014/main" id="{9C3F66C4-F23C-3760-FEB4-0C20D2CA32D6}"/>
              </a:ext>
            </a:extLst>
          </p:cNvPr>
          <p:cNvSpPr/>
          <p:nvPr/>
        </p:nvSpPr>
        <p:spPr>
          <a:xfrm>
            <a:off x="7117825" y="3307312"/>
            <a:ext cx="702685" cy="4616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2000" dirty="0">
                <a:solidFill>
                  <a:schemeClr val="bg1"/>
                </a:solidFill>
              </a:rPr>
              <a:t>8x5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DDD9791F-40EA-0C15-7858-AAB053A8C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173430"/>
              </p:ext>
            </p:extLst>
          </p:nvPr>
        </p:nvGraphicFramePr>
        <p:xfrm>
          <a:off x="2748071" y="1814060"/>
          <a:ext cx="83374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874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  <a:gridCol w="416874">
                  <a:extLst>
                    <a:ext uri="{9D8B030D-6E8A-4147-A177-3AD203B41FA5}">
                      <a16:colId xmlns:a16="http://schemas.microsoft.com/office/drawing/2014/main" val="2462657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8EF2F38-EFF8-8A42-C748-E613CA9EC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903672"/>
              </p:ext>
            </p:extLst>
          </p:nvPr>
        </p:nvGraphicFramePr>
        <p:xfrm>
          <a:off x="5048810" y="1814060"/>
          <a:ext cx="1574724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681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  <a:gridCol w="393681">
                  <a:extLst>
                    <a:ext uri="{9D8B030D-6E8A-4147-A177-3AD203B41FA5}">
                      <a16:colId xmlns:a16="http://schemas.microsoft.com/office/drawing/2014/main" val="2462657381"/>
                    </a:ext>
                  </a:extLst>
                </a:gridCol>
                <a:gridCol w="393681">
                  <a:extLst>
                    <a:ext uri="{9D8B030D-6E8A-4147-A177-3AD203B41FA5}">
                      <a16:colId xmlns:a16="http://schemas.microsoft.com/office/drawing/2014/main" val="2995181829"/>
                    </a:ext>
                  </a:extLst>
                </a:gridCol>
                <a:gridCol w="393681">
                  <a:extLst>
                    <a:ext uri="{9D8B030D-6E8A-4147-A177-3AD203B41FA5}">
                      <a16:colId xmlns:a16="http://schemas.microsoft.com/office/drawing/2014/main" val="2204612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</a:tbl>
          </a:graphicData>
        </a:graphic>
      </p:graphicFrame>
      <p:graphicFrame>
        <p:nvGraphicFramePr>
          <p:cNvPr id="14" name="Table 12">
            <a:extLst>
              <a:ext uri="{FF2B5EF4-FFF2-40B4-BE49-F238E27FC236}">
                <a16:creationId xmlns:a16="http://schemas.microsoft.com/office/drawing/2014/main" id="{66A61623-BE89-1300-F113-E2B6AEEC6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699730"/>
              </p:ext>
            </p:extLst>
          </p:nvPr>
        </p:nvGraphicFramePr>
        <p:xfrm>
          <a:off x="2719424" y="3307312"/>
          <a:ext cx="833748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874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  <a:gridCol w="416874">
                  <a:extLst>
                    <a:ext uri="{9D8B030D-6E8A-4147-A177-3AD203B41FA5}">
                      <a16:colId xmlns:a16="http://schemas.microsoft.com/office/drawing/2014/main" val="2462657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5543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D7F4915-2A32-7054-F235-163B57DAE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990640"/>
              </p:ext>
            </p:extLst>
          </p:nvPr>
        </p:nvGraphicFramePr>
        <p:xfrm>
          <a:off x="5044475" y="3307312"/>
          <a:ext cx="118104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681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  <a:gridCol w="393681">
                  <a:extLst>
                    <a:ext uri="{9D8B030D-6E8A-4147-A177-3AD203B41FA5}">
                      <a16:colId xmlns:a16="http://schemas.microsoft.com/office/drawing/2014/main" val="2462657381"/>
                    </a:ext>
                  </a:extLst>
                </a:gridCol>
                <a:gridCol w="393681">
                  <a:extLst>
                    <a:ext uri="{9D8B030D-6E8A-4147-A177-3AD203B41FA5}">
                      <a16:colId xmlns:a16="http://schemas.microsoft.com/office/drawing/2014/main" val="2995181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206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233874"/>
                  </a:ext>
                </a:extLst>
              </a:tr>
            </a:tbl>
          </a:graphicData>
        </a:graphic>
      </p:graphicFrame>
      <p:graphicFrame>
        <p:nvGraphicFramePr>
          <p:cNvPr id="16" name="Table 12">
            <a:extLst>
              <a:ext uri="{FF2B5EF4-FFF2-40B4-BE49-F238E27FC236}">
                <a16:creationId xmlns:a16="http://schemas.microsoft.com/office/drawing/2014/main" id="{E979383C-F81C-C9A5-C2DE-20E8F5AE6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058763"/>
              </p:ext>
            </p:extLst>
          </p:nvPr>
        </p:nvGraphicFramePr>
        <p:xfrm>
          <a:off x="7999174" y="1814060"/>
          <a:ext cx="261167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3096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  <a:gridCol w="373096">
                  <a:extLst>
                    <a:ext uri="{9D8B030D-6E8A-4147-A177-3AD203B41FA5}">
                      <a16:colId xmlns:a16="http://schemas.microsoft.com/office/drawing/2014/main" val="560335516"/>
                    </a:ext>
                  </a:extLst>
                </a:gridCol>
                <a:gridCol w="373096">
                  <a:extLst>
                    <a:ext uri="{9D8B030D-6E8A-4147-A177-3AD203B41FA5}">
                      <a16:colId xmlns:a16="http://schemas.microsoft.com/office/drawing/2014/main" val="2300956168"/>
                    </a:ext>
                  </a:extLst>
                </a:gridCol>
                <a:gridCol w="373096">
                  <a:extLst>
                    <a:ext uri="{9D8B030D-6E8A-4147-A177-3AD203B41FA5}">
                      <a16:colId xmlns:a16="http://schemas.microsoft.com/office/drawing/2014/main" val="470326529"/>
                    </a:ext>
                  </a:extLst>
                </a:gridCol>
                <a:gridCol w="373096">
                  <a:extLst>
                    <a:ext uri="{9D8B030D-6E8A-4147-A177-3AD203B41FA5}">
                      <a16:colId xmlns:a16="http://schemas.microsoft.com/office/drawing/2014/main" val="1569541573"/>
                    </a:ext>
                  </a:extLst>
                </a:gridCol>
                <a:gridCol w="373096">
                  <a:extLst>
                    <a:ext uri="{9D8B030D-6E8A-4147-A177-3AD203B41FA5}">
                      <a16:colId xmlns:a16="http://schemas.microsoft.com/office/drawing/2014/main" val="713300834"/>
                    </a:ext>
                  </a:extLst>
                </a:gridCol>
                <a:gridCol w="373096">
                  <a:extLst>
                    <a:ext uri="{9D8B030D-6E8A-4147-A177-3AD203B41FA5}">
                      <a16:colId xmlns:a16="http://schemas.microsoft.com/office/drawing/2014/main" val="1964813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55438"/>
                  </a:ext>
                </a:extLst>
              </a:tr>
            </a:tbl>
          </a:graphicData>
        </a:graphic>
      </p:graphicFrame>
      <p:graphicFrame>
        <p:nvGraphicFramePr>
          <p:cNvPr id="17" name="Table 12">
            <a:extLst>
              <a:ext uri="{FF2B5EF4-FFF2-40B4-BE49-F238E27FC236}">
                <a16:creationId xmlns:a16="http://schemas.microsoft.com/office/drawing/2014/main" id="{F2821AEA-2FFE-E6EE-C618-6E14397A5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883716"/>
              </p:ext>
            </p:extLst>
          </p:nvPr>
        </p:nvGraphicFramePr>
        <p:xfrm>
          <a:off x="8002470" y="3307312"/>
          <a:ext cx="186548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3096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  <a:gridCol w="373096">
                  <a:extLst>
                    <a:ext uri="{9D8B030D-6E8A-4147-A177-3AD203B41FA5}">
                      <a16:colId xmlns:a16="http://schemas.microsoft.com/office/drawing/2014/main" val="560335516"/>
                    </a:ext>
                  </a:extLst>
                </a:gridCol>
                <a:gridCol w="373096">
                  <a:extLst>
                    <a:ext uri="{9D8B030D-6E8A-4147-A177-3AD203B41FA5}">
                      <a16:colId xmlns:a16="http://schemas.microsoft.com/office/drawing/2014/main" val="2300956168"/>
                    </a:ext>
                  </a:extLst>
                </a:gridCol>
                <a:gridCol w="373096">
                  <a:extLst>
                    <a:ext uri="{9D8B030D-6E8A-4147-A177-3AD203B41FA5}">
                      <a16:colId xmlns:a16="http://schemas.microsoft.com/office/drawing/2014/main" val="470326529"/>
                    </a:ext>
                  </a:extLst>
                </a:gridCol>
                <a:gridCol w="373096">
                  <a:extLst>
                    <a:ext uri="{9D8B030D-6E8A-4147-A177-3AD203B41FA5}">
                      <a16:colId xmlns:a16="http://schemas.microsoft.com/office/drawing/2014/main" val="1569541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55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480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452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70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309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265248"/>
                  </a:ext>
                </a:extLst>
              </a:tr>
            </a:tbl>
          </a:graphicData>
        </a:graphic>
      </p:graphicFrame>
      <p:sp>
        <p:nvSpPr>
          <p:cNvPr id="18" name="Rectángulo: esquinas redondeadas 62">
            <a:extLst>
              <a:ext uri="{FF2B5EF4-FFF2-40B4-BE49-F238E27FC236}">
                <a16:creationId xmlns:a16="http://schemas.microsoft.com/office/drawing/2014/main" id="{CF6097A9-5954-93F4-896C-690657227DFC}"/>
              </a:ext>
            </a:extLst>
          </p:cNvPr>
          <p:cNvSpPr/>
          <p:nvPr/>
        </p:nvSpPr>
        <p:spPr>
          <a:xfrm>
            <a:off x="1840194" y="5362334"/>
            <a:ext cx="4783339" cy="88178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2000" dirty="0">
                <a:solidFill>
                  <a:schemeClr val="bg1"/>
                </a:solidFill>
              </a:rPr>
              <a:t>Dimensiones ó tamaño: </a:t>
            </a:r>
            <a:br>
              <a:rPr lang="es-419" sz="2000" dirty="0">
                <a:solidFill>
                  <a:schemeClr val="bg1"/>
                </a:solidFill>
              </a:rPr>
            </a:br>
            <a:r>
              <a:rPr lang="es-419" sz="2000" dirty="0" err="1">
                <a:solidFill>
                  <a:schemeClr val="bg1"/>
                </a:solidFill>
              </a:rPr>
              <a:t>numero_filas</a:t>
            </a:r>
            <a:r>
              <a:rPr lang="es-419" sz="2000" dirty="0">
                <a:solidFill>
                  <a:schemeClr val="bg1"/>
                </a:solidFill>
              </a:rPr>
              <a:t> x </a:t>
            </a:r>
            <a:r>
              <a:rPr lang="es-419" sz="2000" dirty="0" err="1">
                <a:solidFill>
                  <a:schemeClr val="bg1"/>
                </a:solidFill>
              </a:rPr>
              <a:t>numero_columnas</a:t>
            </a:r>
            <a:endParaRPr lang="es-419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390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8BC56-397B-BAE6-F280-F28B5C57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Para no olvidar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8557B7-87D1-D89D-3E2F-891DC85641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7725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1CBA08-DE90-04AB-356B-062C7E0D820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Arreglos de dos dimensiones</a:t>
            </a:r>
          </a:p>
        </p:txBody>
      </p:sp>
      <p:sp>
        <p:nvSpPr>
          <p:cNvPr id="128" name="CuadroTexto 25">
            <a:extLst>
              <a:ext uri="{FF2B5EF4-FFF2-40B4-BE49-F238E27FC236}">
                <a16:creationId xmlns:a16="http://schemas.microsoft.com/office/drawing/2014/main" id="{932FB1E6-8D14-C14D-4305-96C9267CD807}"/>
              </a:ext>
            </a:extLst>
          </p:cNvPr>
          <p:cNvSpPr txBox="1"/>
          <p:nvPr/>
        </p:nvSpPr>
        <p:spPr>
          <a:xfrm>
            <a:off x="1442417" y="1372899"/>
            <a:ext cx="2667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2400" dirty="0">
                <a:solidFill>
                  <a:srgbClr val="D62A29"/>
                </a:solidFill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filas</a:t>
            </a:r>
          </a:p>
        </p:txBody>
      </p:sp>
      <p:sp>
        <p:nvSpPr>
          <p:cNvPr id="129" name="CuadroTexto 25">
            <a:extLst>
              <a:ext uri="{FF2B5EF4-FFF2-40B4-BE49-F238E27FC236}">
                <a16:creationId xmlns:a16="http://schemas.microsoft.com/office/drawing/2014/main" id="{681174CB-BA1C-FC34-8739-59F9479864B2}"/>
              </a:ext>
            </a:extLst>
          </p:cNvPr>
          <p:cNvSpPr txBox="1"/>
          <p:nvPr/>
        </p:nvSpPr>
        <p:spPr>
          <a:xfrm>
            <a:off x="6807846" y="1378828"/>
            <a:ext cx="2667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2400" dirty="0">
                <a:solidFill>
                  <a:srgbClr val="003048"/>
                </a:solidFill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columnas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8BBBFE2-6C81-EEFF-20DC-99A1DB5F3505}"/>
              </a:ext>
            </a:extLst>
          </p:cNvPr>
          <p:cNvGrpSpPr/>
          <p:nvPr/>
        </p:nvGrpSpPr>
        <p:grpSpPr>
          <a:xfrm>
            <a:off x="1109478" y="1849674"/>
            <a:ext cx="4931445" cy="3818945"/>
            <a:chOff x="1109478" y="1513347"/>
            <a:chExt cx="4931445" cy="3818945"/>
          </a:xfrm>
        </p:grpSpPr>
        <p:sp>
          <p:nvSpPr>
            <p:cNvPr id="107" name="Rectángulo 6">
              <a:extLst>
                <a:ext uri="{FF2B5EF4-FFF2-40B4-BE49-F238E27FC236}">
                  <a16:creationId xmlns:a16="http://schemas.microsoft.com/office/drawing/2014/main" id="{B0759839-22F1-A111-163B-65E25E64CC82}"/>
                </a:ext>
              </a:extLst>
            </p:cNvPr>
            <p:cNvSpPr/>
            <p:nvPr/>
          </p:nvSpPr>
          <p:spPr>
            <a:xfrm>
              <a:off x="1512679" y="1964448"/>
              <a:ext cx="4528244" cy="3367843"/>
            </a:xfrm>
            <a:prstGeom prst="rect">
              <a:avLst/>
            </a:prstGeom>
            <a:solidFill>
              <a:srgbClr val="E9E3B7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419" sz="3200" dirty="0">
                <a:solidFill>
                  <a:schemeClr val="bg1"/>
                </a:solidFill>
              </a:endParaRPr>
            </a:p>
          </p:txBody>
        </p:sp>
        <p:sp>
          <p:nvSpPr>
            <p:cNvPr id="108" name="Arrow: Right 107">
              <a:extLst>
                <a:ext uri="{FF2B5EF4-FFF2-40B4-BE49-F238E27FC236}">
                  <a16:creationId xmlns:a16="http://schemas.microsoft.com/office/drawing/2014/main" id="{D504B1DA-DA05-A737-0126-90FF96400148}"/>
                </a:ext>
              </a:extLst>
            </p:cNvPr>
            <p:cNvSpPr/>
            <p:nvPr/>
          </p:nvSpPr>
          <p:spPr>
            <a:xfrm>
              <a:off x="1643275" y="2046941"/>
              <a:ext cx="4189970" cy="960984"/>
            </a:xfrm>
            <a:prstGeom prst="rightArrow">
              <a:avLst>
                <a:gd name="adj1" fmla="val 50000"/>
                <a:gd name="adj2" fmla="val 56136"/>
              </a:avLst>
            </a:prstGeom>
            <a:solidFill>
              <a:srgbClr val="D62A29"/>
            </a:solidFill>
            <a:ln w="285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CuadroTexto 12">
              <a:extLst>
                <a:ext uri="{FF2B5EF4-FFF2-40B4-BE49-F238E27FC236}">
                  <a16:creationId xmlns:a16="http://schemas.microsoft.com/office/drawing/2014/main" id="{2051DAF6-1A2D-537A-CA9F-0B6EEEE55A09}"/>
                </a:ext>
              </a:extLst>
            </p:cNvPr>
            <p:cNvSpPr txBox="1"/>
            <p:nvPr/>
          </p:nvSpPr>
          <p:spPr>
            <a:xfrm>
              <a:off x="1956925" y="1513348"/>
              <a:ext cx="260514" cy="318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10" name="CuadroTexto 13">
              <a:extLst>
                <a:ext uri="{FF2B5EF4-FFF2-40B4-BE49-F238E27FC236}">
                  <a16:creationId xmlns:a16="http://schemas.microsoft.com/office/drawing/2014/main" id="{E51853BA-FC99-839D-4E33-15E5CCD6FB29}"/>
                </a:ext>
              </a:extLst>
            </p:cNvPr>
            <p:cNvSpPr txBox="1"/>
            <p:nvPr/>
          </p:nvSpPr>
          <p:spPr>
            <a:xfrm>
              <a:off x="3072212" y="1513347"/>
              <a:ext cx="260514" cy="318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1</a:t>
              </a:r>
            </a:p>
          </p:txBody>
        </p:sp>
        <p:sp>
          <p:nvSpPr>
            <p:cNvPr id="111" name="CuadroTexto 14">
              <a:extLst>
                <a:ext uri="{FF2B5EF4-FFF2-40B4-BE49-F238E27FC236}">
                  <a16:creationId xmlns:a16="http://schemas.microsoft.com/office/drawing/2014/main" id="{4EB7071C-733E-2E53-02A7-3FE1A2E6DD5F}"/>
                </a:ext>
              </a:extLst>
            </p:cNvPr>
            <p:cNvSpPr txBox="1"/>
            <p:nvPr/>
          </p:nvSpPr>
          <p:spPr>
            <a:xfrm>
              <a:off x="4231246" y="1520850"/>
              <a:ext cx="260514" cy="318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2</a:t>
              </a:r>
            </a:p>
          </p:txBody>
        </p:sp>
        <p:sp>
          <p:nvSpPr>
            <p:cNvPr id="112" name="CuadroTexto 24">
              <a:extLst>
                <a:ext uri="{FF2B5EF4-FFF2-40B4-BE49-F238E27FC236}">
                  <a16:creationId xmlns:a16="http://schemas.microsoft.com/office/drawing/2014/main" id="{1494EA14-10E5-E6D9-EBC3-81C17537C04E}"/>
                </a:ext>
              </a:extLst>
            </p:cNvPr>
            <p:cNvSpPr txBox="1"/>
            <p:nvPr/>
          </p:nvSpPr>
          <p:spPr>
            <a:xfrm>
              <a:off x="1109478" y="2333997"/>
              <a:ext cx="260514" cy="318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13" name="CuadroTexto 25">
              <a:extLst>
                <a:ext uri="{FF2B5EF4-FFF2-40B4-BE49-F238E27FC236}">
                  <a16:creationId xmlns:a16="http://schemas.microsoft.com/office/drawing/2014/main" id="{D24634ED-FD5A-0365-CCA2-13D453673691}"/>
                </a:ext>
              </a:extLst>
            </p:cNvPr>
            <p:cNvSpPr txBox="1"/>
            <p:nvPr/>
          </p:nvSpPr>
          <p:spPr>
            <a:xfrm>
              <a:off x="1109478" y="3488190"/>
              <a:ext cx="260514" cy="318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1</a:t>
              </a:r>
            </a:p>
          </p:txBody>
        </p:sp>
        <p:sp>
          <p:nvSpPr>
            <p:cNvPr id="114" name="CuadroTexto 26">
              <a:extLst>
                <a:ext uri="{FF2B5EF4-FFF2-40B4-BE49-F238E27FC236}">
                  <a16:creationId xmlns:a16="http://schemas.microsoft.com/office/drawing/2014/main" id="{0264DF0F-6851-6A0B-0E67-E394E4713907}"/>
                </a:ext>
              </a:extLst>
            </p:cNvPr>
            <p:cNvSpPr txBox="1"/>
            <p:nvPr/>
          </p:nvSpPr>
          <p:spPr>
            <a:xfrm>
              <a:off x="1109478" y="4636698"/>
              <a:ext cx="260514" cy="318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2</a:t>
              </a:r>
            </a:p>
          </p:txBody>
        </p:sp>
        <p:sp>
          <p:nvSpPr>
            <p:cNvPr id="115" name="Arrow: Right 114">
              <a:extLst>
                <a:ext uri="{FF2B5EF4-FFF2-40B4-BE49-F238E27FC236}">
                  <a16:creationId xmlns:a16="http://schemas.microsoft.com/office/drawing/2014/main" id="{DBFD441A-3FBB-1013-1E2B-B59AC5C759AD}"/>
                </a:ext>
              </a:extLst>
            </p:cNvPr>
            <p:cNvSpPr/>
            <p:nvPr/>
          </p:nvSpPr>
          <p:spPr>
            <a:xfrm>
              <a:off x="1643275" y="3170766"/>
              <a:ext cx="4189970" cy="960984"/>
            </a:xfrm>
            <a:prstGeom prst="rightArrow">
              <a:avLst>
                <a:gd name="adj1" fmla="val 50000"/>
                <a:gd name="adj2" fmla="val 56136"/>
              </a:avLst>
            </a:prstGeom>
            <a:solidFill>
              <a:srgbClr val="D62A29"/>
            </a:solidFill>
            <a:ln w="285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Arrow: Right 115">
              <a:extLst>
                <a:ext uri="{FF2B5EF4-FFF2-40B4-BE49-F238E27FC236}">
                  <a16:creationId xmlns:a16="http://schemas.microsoft.com/office/drawing/2014/main" id="{F7AEC611-7C37-565F-0E51-E35D6B460B39}"/>
                </a:ext>
              </a:extLst>
            </p:cNvPr>
            <p:cNvSpPr/>
            <p:nvPr/>
          </p:nvSpPr>
          <p:spPr>
            <a:xfrm>
              <a:off x="1643275" y="4297378"/>
              <a:ext cx="4189970" cy="960984"/>
            </a:xfrm>
            <a:prstGeom prst="rightArrow">
              <a:avLst>
                <a:gd name="adj1" fmla="val 50000"/>
                <a:gd name="adj2" fmla="val 56136"/>
              </a:avLst>
            </a:prstGeom>
            <a:solidFill>
              <a:srgbClr val="D62A29"/>
            </a:solidFill>
            <a:ln w="285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ángulo 6">
              <a:extLst>
                <a:ext uri="{FF2B5EF4-FFF2-40B4-BE49-F238E27FC236}">
                  <a16:creationId xmlns:a16="http://schemas.microsoft.com/office/drawing/2014/main" id="{FAB0E3A0-6BC0-7267-324D-EA51808FCB38}"/>
                </a:ext>
              </a:extLst>
            </p:cNvPr>
            <p:cNvSpPr/>
            <p:nvPr/>
          </p:nvSpPr>
          <p:spPr>
            <a:xfrm>
              <a:off x="1512680" y="1964448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119" name="Rectángulo 10">
              <a:extLst>
                <a:ext uri="{FF2B5EF4-FFF2-40B4-BE49-F238E27FC236}">
                  <a16:creationId xmlns:a16="http://schemas.microsoft.com/office/drawing/2014/main" id="{42D15A41-81F2-61F7-F07B-750C3C8CC4E6}"/>
                </a:ext>
              </a:extLst>
            </p:cNvPr>
            <p:cNvSpPr/>
            <p:nvPr/>
          </p:nvSpPr>
          <p:spPr>
            <a:xfrm>
              <a:off x="2650000" y="1964448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120" name="Rectángulo 11">
              <a:extLst>
                <a:ext uri="{FF2B5EF4-FFF2-40B4-BE49-F238E27FC236}">
                  <a16:creationId xmlns:a16="http://schemas.microsoft.com/office/drawing/2014/main" id="{0A664440-C1AA-65BC-0668-4E1BA3B73D5F}"/>
                </a:ext>
              </a:extLst>
            </p:cNvPr>
            <p:cNvSpPr/>
            <p:nvPr/>
          </p:nvSpPr>
          <p:spPr>
            <a:xfrm>
              <a:off x="3787323" y="1964448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21" name="Rectángulo 18">
              <a:extLst>
                <a:ext uri="{FF2B5EF4-FFF2-40B4-BE49-F238E27FC236}">
                  <a16:creationId xmlns:a16="http://schemas.microsoft.com/office/drawing/2014/main" id="{02EA889A-659E-E5CD-278E-943528B07B17}"/>
                </a:ext>
              </a:extLst>
            </p:cNvPr>
            <p:cNvSpPr/>
            <p:nvPr/>
          </p:nvSpPr>
          <p:spPr>
            <a:xfrm>
              <a:off x="1512680" y="3085877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22" name="Rectángulo 19">
              <a:extLst>
                <a:ext uri="{FF2B5EF4-FFF2-40B4-BE49-F238E27FC236}">
                  <a16:creationId xmlns:a16="http://schemas.microsoft.com/office/drawing/2014/main" id="{51F32E5A-DCAA-E6E6-0DBA-52A290806E61}"/>
                </a:ext>
              </a:extLst>
            </p:cNvPr>
            <p:cNvSpPr/>
            <p:nvPr/>
          </p:nvSpPr>
          <p:spPr>
            <a:xfrm>
              <a:off x="2650000" y="3085877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23" name="Rectángulo 20">
              <a:extLst>
                <a:ext uri="{FF2B5EF4-FFF2-40B4-BE49-F238E27FC236}">
                  <a16:creationId xmlns:a16="http://schemas.microsoft.com/office/drawing/2014/main" id="{307352F5-54DC-C815-B816-ACDF767293E7}"/>
                </a:ext>
              </a:extLst>
            </p:cNvPr>
            <p:cNvSpPr/>
            <p:nvPr/>
          </p:nvSpPr>
          <p:spPr>
            <a:xfrm>
              <a:off x="3787323" y="3085877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16</a:t>
              </a:r>
            </a:p>
          </p:txBody>
        </p:sp>
        <p:sp>
          <p:nvSpPr>
            <p:cNvPr id="124" name="Rectángulo 21">
              <a:extLst>
                <a:ext uri="{FF2B5EF4-FFF2-40B4-BE49-F238E27FC236}">
                  <a16:creationId xmlns:a16="http://schemas.microsoft.com/office/drawing/2014/main" id="{A0AE7CFB-2807-ED5B-9AD5-7EC608DC3521}"/>
                </a:ext>
              </a:extLst>
            </p:cNvPr>
            <p:cNvSpPr/>
            <p:nvPr/>
          </p:nvSpPr>
          <p:spPr>
            <a:xfrm>
              <a:off x="1512680" y="4207304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125" name="Rectángulo 22">
              <a:extLst>
                <a:ext uri="{FF2B5EF4-FFF2-40B4-BE49-F238E27FC236}">
                  <a16:creationId xmlns:a16="http://schemas.microsoft.com/office/drawing/2014/main" id="{043B0A6B-AC7B-F159-8685-91ACC5AE95DD}"/>
                </a:ext>
              </a:extLst>
            </p:cNvPr>
            <p:cNvSpPr/>
            <p:nvPr/>
          </p:nvSpPr>
          <p:spPr>
            <a:xfrm>
              <a:off x="2650000" y="4208356"/>
              <a:ext cx="1124988" cy="1123936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20</a:t>
              </a:r>
            </a:p>
          </p:txBody>
        </p:sp>
        <p:sp>
          <p:nvSpPr>
            <p:cNvPr id="126" name="Rectángulo 23">
              <a:extLst>
                <a:ext uri="{FF2B5EF4-FFF2-40B4-BE49-F238E27FC236}">
                  <a16:creationId xmlns:a16="http://schemas.microsoft.com/office/drawing/2014/main" id="{89B019B1-4C9B-21EF-D0DC-F721B9BFD806}"/>
                </a:ext>
              </a:extLst>
            </p:cNvPr>
            <p:cNvSpPr/>
            <p:nvPr/>
          </p:nvSpPr>
          <p:spPr>
            <a:xfrm>
              <a:off x="3787323" y="4207304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130" name="Rectángulo 11">
              <a:extLst>
                <a:ext uri="{FF2B5EF4-FFF2-40B4-BE49-F238E27FC236}">
                  <a16:creationId xmlns:a16="http://schemas.microsoft.com/office/drawing/2014/main" id="{203CF664-85BC-82B7-C900-09604B293A7E}"/>
                </a:ext>
              </a:extLst>
            </p:cNvPr>
            <p:cNvSpPr/>
            <p:nvPr/>
          </p:nvSpPr>
          <p:spPr>
            <a:xfrm>
              <a:off x="4915935" y="1964448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28</a:t>
              </a:r>
            </a:p>
          </p:txBody>
        </p:sp>
        <p:sp>
          <p:nvSpPr>
            <p:cNvPr id="131" name="Rectángulo 20">
              <a:extLst>
                <a:ext uri="{FF2B5EF4-FFF2-40B4-BE49-F238E27FC236}">
                  <a16:creationId xmlns:a16="http://schemas.microsoft.com/office/drawing/2014/main" id="{7D8B81CA-2484-7FF9-95EF-6AD10EBF3605}"/>
                </a:ext>
              </a:extLst>
            </p:cNvPr>
            <p:cNvSpPr/>
            <p:nvPr/>
          </p:nvSpPr>
          <p:spPr>
            <a:xfrm>
              <a:off x="4915935" y="3085877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93</a:t>
              </a:r>
            </a:p>
          </p:txBody>
        </p:sp>
        <p:sp>
          <p:nvSpPr>
            <p:cNvPr id="132" name="Rectángulo 23">
              <a:extLst>
                <a:ext uri="{FF2B5EF4-FFF2-40B4-BE49-F238E27FC236}">
                  <a16:creationId xmlns:a16="http://schemas.microsoft.com/office/drawing/2014/main" id="{019C1294-CEBD-E037-1EC9-BD828ECE0556}"/>
                </a:ext>
              </a:extLst>
            </p:cNvPr>
            <p:cNvSpPr/>
            <p:nvPr/>
          </p:nvSpPr>
          <p:spPr>
            <a:xfrm>
              <a:off x="4915935" y="4207304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33" name="CuadroTexto 14">
              <a:extLst>
                <a:ext uri="{FF2B5EF4-FFF2-40B4-BE49-F238E27FC236}">
                  <a16:creationId xmlns:a16="http://schemas.microsoft.com/office/drawing/2014/main" id="{BAF7B1CA-241E-FF7C-F4AA-B950979C43DF}"/>
                </a:ext>
              </a:extLst>
            </p:cNvPr>
            <p:cNvSpPr txBox="1"/>
            <p:nvPr/>
          </p:nvSpPr>
          <p:spPr>
            <a:xfrm>
              <a:off x="5358823" y="1520850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3</a:t>
              </a: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06445DD4-7DBD-0177-FDCB-7DC264781914}"/>
              </a:ext>
            </a:extLst>
          </p:cNvPr>
          <p:cNvGrpSpPr/>
          <p:nvPr/>
        </p:nvGrpSpPr>
        <p:grpSpPr>
          <a:xfrm>
            <a:off x="6474907" y="1849674"/>
            <a:ext cx="4931445" cy="3818945"/>
            <a:chOff x="6474907" y="1513347"/>
            <a:chExt cx="4931445" cy="3818945"/>
          </a:xfrm>
        </p:grpSpPr>
        <p:sp>
          <p:nvSpPr>
            <p:cNvPr id="135" name="Rectángulo 6">
              <a:extLst>
                <a:ext uri="{FF2B5EF4-FFF2-40B4-BE49-F238E27FC236}">
                  <a16:creationId xmlns:a16="http://schemas.microsoft.com/office/drawing/2014/main" id="{A6766512-0254-BF2B-B2C3-FAAF4BBE4592}"/>
                </a:ext>
              </a:extLst>
            </p:cNvPr>
            <p:cNvSpPr/>
            <p:nvPr/>
          </p:nvSpPr>
          <p:spPr>
            <a:xfrm>
              <a:off x="6878108" y="1964448"/>
              <a:ext cx="4528244" cy="3367843"/>
            </a:xfrm>
            <a:prstGeom prst="rect">
              <a:avLst/>
            </a:prstGeom>
            <a:solidFill>
              <a:srgbClr val="E9E3B7"/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419" sz="3200" dirty="0">
                <a:solidFill>
                  <a:schemeClr val="bg1"/>
                </a:solidFill>
              </a:endParaRPr>
            </a:p>
          </p:txBody>
        </p:sp>
        <p:sp>
          <p:nvSpPr>
            <p:cNvPr id="137" name="CuadroTexto 12">
              <a:extLst>
                <a:ext uri="{FF2B5EF4-FFF2-40B4-BE49-F238E27FC236}">
                  <a16:creationId xmlns:a16="http://schemas.microsoft.com/office/drawing/2014/main" id="{5243AD82-7D75-B52E-E638-7166F95782E0}"/>
                </a:ext>
              </a:extLst>
            </p:cNvPr>
            <p:cNvSpPr txBox="1"/>
            <p:nvPr/>
          </p:nvSpPr>
          <p:spPr>
            <a:xfrm>
              <a:off x="7322354" y="1513348"/>
              <a:ext cx="260514" cy="318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38" name="CuadroTexto 13">
              <a:extLst>
                <a:ext uri="{FF2B5EF4-FFF2-40B4-BE49-F238E27FC236}">
                  <a16:creationId xmlns:a16="http://schemas.microsoft.com/office/drawing/2014/main" id="{FD9328B2-5691-1744-55DE-00CB371EDF23}"/>
                </a:ext>
              </a:extLst>
            </p:cNvPr>
            <p:cNvSpPr txBox="1"/>
            <p:nvPr/>
          </p:nvSpPr>
          <p:spPr>
            <a:xfrm>
              <a:off x="8437641" y="1513347"/>
              <a:ext cx="260514" cy="318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1</a:t>
              </a:r>
            </a:p>
          </p:txBody>
        </p:sp>
        <p:sp>
          <p:nvSpPr>
            <p:cNvPr id="139" name="CuadroTexto 14">
              <a:extLst>
                <a:ext uri="{FF2B5EF4-FFF2-40B4-BE49-F238E27FC236}">
                  <a16:creationId xmlns:a16="http://schemas.microsoft.com/office/drawing/2014/main" id="{4BE91884-260C-BE8D-9C3A-04466B21DF58}"/>
                </a:ext>
              </a:extLst>
            </p:cNvPr>
            <p:cNvSpPr txBox="1"/>
            <p:nvPr/>
          </p:nvSpPr>
          <p:spPr>
            <a:xfrm>
              <a:off x="9596675" y="1520850"/>
              <a:ext cx="260514" cy="318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2</a:t>
              </a:r>
            </a:p>
          </p:txBody>
        </p:sp>
        <p:sp>
          <p:nvSpPr>
            <p:cNvPr id="140" name="CuadroTexto 24">
              <a:extLst>
                <a:ext uri="{FF2B5EF4-FFF2-40B4-BE49-F238E27FC236}">
                  <a16:creationId xmlns:a16="http://schemas.microsoft.com/office/drawing/2014/main" id="{52F03E11-A0A0-37AE-1E43-DDA031CCAE73}"/>
                </a:ext>
              </a:extLst>
            </p:cNvPr>
            <p:cNvSpPr txBox="1"/>
            <p:nvPr/>
          </p:nvSpPr>
          <p:spPr>
            <a:xfrm>
              <a:off x="6474907" y="2333997"/>
              <a:ext cx="260514" cy="318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41" name="CuadroTexto 25">
              <a:extLst>
                <a:ext uri="{FF2B5EF4-FFF2-40B4-BE49-F238E27FC236}">
                  <a16:creationId xmlns:a16="http://schemas.microsoft.com/office/drawing/2014/main" id="{7EA874EC-2E6A-9158-937C-EC0EBFBE3FBB}"/>
                </a:ext>
              </a:extLst>
            </p:cNvPr>
            <p:cNvSpPr txBox="1"/>
            <p:nvPr/>
          </p:nvSpPr>
          <p:spPr>
            <a:xfrm>
              <a:off x="6474907" y="3488190"/>
              <a:ext cx="260514" cy="318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1</a:t>
              </a:r>
            </a:p>
          </p:txBody>
        </p:sp>
        <p:sp>
          <p:nvSpPr>
            <p:cNvPr id="142" name="CuadroTexto 26">
              <a:extLst>
                <a:ext uri="{FF2B5EF4-FFF2-40B4-BE49-F238E27FC236}">
                  <a16:creationId xmlns:a16="http://schemas.microsoft.com/office/drawing/2014/main" id="{4DC7A2BB-D14E-2081-5183-681E8D590783}"/>
                </a:ext>
              </a:extLst>
            </p:cNvPr>
            <p:cNvSpPr txBox="1"/>
            <p:nvPr/>
          </p:nvSpPr>
          <p:spPr>
            <a:xfrm>
              <a:off x="6474907" y="4636698"/>
              <a:ext cx="260514" cy="318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2</a:t>
              </a:r>
            </a:p>
          </p:txBody>
        </p:sp>
        <p:sp>
          <p:nvSpPr>
            <p:cNvPr id="157" name="CuadroTexto 14">
              <a:extLst>
                <a:ext uri="{FF2B5EF4-FFF2-40B4-BE49-F238E27FC236}">
                  <a16:creationId xmlns:a16="http://schemas.microsoft.com/office/drawing/2014/main" id="{29A5CF91-25AF-A220-97BE-0A3FA2271E07}"/>
                </a:ext>
              </a:extLst>
            </p:cNvPr>
            <p:cNvSpPr txBox="1"/>
            <p:nvPr/>
          </p:nvSpPr>
          <p:spPr>
            <a:xfrm>
              <a:off x="10724252" y="1520850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3</a:t>
              </a:r>
            </a:p>
          </p:txBody>
        </p:sp>
        <p:sp>
          <p:nvSpPr>
            <p:cNvPr id="134" name="Arrow: Right 133">
              <a:extLst>
                <a:ext uri="{FF2B5EF4-FFF2-40B4-BE49-F238E27FC236}">
                  <a16:creationId xmlns:a16="http://schemas.microsoft.com/office/drawing/2014/main" id="{AE92161E-8FCE-A60D-607D-98196149AE91}"/>
                </a:ext>
              </a:extLst>
            </p:cNvPr>
            <p:cNvSpPr/>
            <p:nvPr/>
          </p:nvSpPr>
          <p:spPr>
            <a:xfrm rot="5400000">
              <a:off x="5917985" y="3104920"/>
              <a:ext cx="3066258" cy="960984"/>
            </a:xfrm>
            <a:prstGeom prst="rightArrow">
              <a:avLst>
                <a:gd name="adj1" fmla="val 50000"/>
                <a:gd name="adj2" fmla="val 56136"/>
              </a:avLst>
            </a:prstGeom>
            <a:solidFill>
              <a:srgbClr val="003048"/>
            </a:solidFill>
            <a:ln w="285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Arrow: Right 157">
              <a:extLst>
                <a:ext uri="{FF2B5EF4-FFF2-40B4-BE49-F238E27FC236}">
                  <a16:creationId xmlns:a16="http://schemas.microsoft.com/office/drawing/2014/main" id="{9AEB77C6-315A-10F9-4F02-2397BB69F9CE}"/>
                </a:ext>
              </a:extLst>
            </p:cNvPr>
            <p:cNvSpPr/>
            <p:nvPr/>
          </p:nvSpPr>
          <p:spPr>
            <a:xfrm rot="5400000">
              <a:off x="7045941" y="3104921"/>
              <a:ext cx="3066258" cy="960984"/>
            </a:xfrm>
            <a:prstGeom prst="rightArrow">
              <a:avLst>
                <a:gd name="adj1" fmla="val 50000"/>
                <a:gd name="adj2" fmla="val 56136"/>
              </a:avLst>
            </a:prstGeom>
            <a:solidFill>
              <a:srgbClr val="003048"/>
            </a:solidFill>
            <a:ln w="285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Arrow: Right 158">
              <a:extLst>
                <a:ext uri="{FF2B5EF4-FFF2-40B4-BE49-F238E27FC236}">
                  <a16:creationId xmlns:a16="http://schemas.microsoft.com/office/drawing/2014/main" id="{F4C69303-EC62-7ACC-B831-9D177D3C9691}"/>
                </a:ext>
              </a:extLst>
            </p:cNvPr>
            <p:cNvSpPr/>
            <p:nvPr/>
          </p:nvSpPr>
          <p:spPr>
            <a:xfrm rot="5400000">
              <a:off x="8192627" y="3104921"/>
              <a:ext cx="3066257" cy="960984"/>
            </a:xfrm>
            <a:prstGeom prst="rightArrow">
              <a:avLst>
                <a:gd name="adj1" fmla="val 50000"/>
                <a:gd name="adj2" fmla="val 56136"/>
              </a:avLst>
            </a:prstGeom>
            <a:solidFill>
              <a:srgbClr val="003048"/>
            </a:solidFill>
            <a:ln w="285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Arrow: Right 159">
              <a:extLst>
                <a:ext uri="{FF2B5EF4-FFF2-40B4-BE49-F238E27FC236}">
                  <a16:creationId xmlns:a16="http://schemas.microsoft.com/office/drawing/2014/main" id="{CC63215C-8AE3-6D0A-EAD0-D6D56DE72BF4}"/>
                </a:ext>
              </a:extLst>
            </p:cNvPr>
            <p:cNvSpPr/>
            <p:nvPr/>
          </p:nvSpPr>
          <p:spPr>
            <a:xfrm rot="5400000">
              <a:off x="9305590" y="3104923"/>
              <a:ext cx="3066258" cy="960984"/>
            </a:xfrm>
            <a:prstGeom prst="rightArrow">
              <a:avLst>
                <a:gd name="adj1" fmla="val 50000"/>
                <a:gd name="adj2" fmla="val 56136"/>
              </a:avLst>
            </a:prstGeom>
            <a:solidFill>
              <a:srgbClr val="003048"/>
            </a:solidFill>
            <a:ln w="285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ángulo 6">
              <a:extLst>
                <a:ext uri="{FF2B5EF4-FFF2-40B4-BE49-F238E27FC236}">
                  <a16:creationId xmlns:a16="http://schemas.microsoft.com/office/drawing/2014/main" id="{86C8F7B0-5AFF-2F31-C8AC-24A5F76D11E1}"/>
                </a:ext>
              </a:extLst>
            </p:cNvPr>
            <p:cNvSpPr/>
            <p:nvPr/>
          </p:nvSpPr>
          <p:spPr>
            <a:xfrm>
              <a:off x="6878109" y="1964448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146" name="Rectángulo 10">
              <a:extLst>
                <a:ext uri="{FF2B5EF4-FFF2-40B4-BE49-F238E27FC236}">
                  <a16:creationId xmlns:a16="http://schemas.microsoft.com/office/drawing/2014/main" id="{F798775B-4832-4D46-738E-5D8A4563B9C4}"/>
                </a:ext>
              </a:extLst>
            </p:cNvPr>
            <p:cNvSpPr/>
            <p:nvPr/>
          </p:nvSpPr>
          <p:spPr>
            <a:xfrm>
              <a:off x="8015429" y="1964448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147" name="Rectángulo 11">
              <a:extLst>
                <a:ext uri="{FF2B5EF4-FFF2-40B4-BE49-F238E27FC236}">
                  <a16:creationId xmlns:a16="http://schemas.microsoft.com/office/drawing/2014/main" id="{B2A6227E-9493-2221-BC4E-152483E80341}"/>
                </a:ext>
              </a:extLst>
            </p:cNvPr>
            <p:cNvSpPr/>
            <p:nvPr/>
          </p:nvSpPr>
          <p:spPr>
            <a:xfrm>
              <a:off x="9152752" y="1964448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48" name="Rectángulo 18">
              <a:extLst>
                <a:ext uri="{FF2B5EF4-FFF2-40B4-BE49-F238E27FC236}">
                  <a16:creationId xmlns:a16="http://schemas.microsoft.com/office/drawing/2014/main" id="{B26A034D-800F-B515-15E7-E88C98494DB2}"/>
                </a:ext>
              </a:extLst>
            </p:cNvPr>
            <p:cNvSpPr/>
            <p:nvPr/>
          </p:nvSpPr>
          <p:spPr>
            <a:xfrm>
              <a:off x="6878109" y="3085877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49" name="Rectángulo 19">
              <a:extLst>
                <a:ext uri="{FF2B5EF4-FFF2-40B4-BE49-F238E27FC236}">
                  <a16:creationId xmlns:a16="http://schemas.microsoft.com/office/drawing/2014/main" id="{5F6528BF-D35E-3DA0-3B10-60ECE358A0FE}"/>
                </a:ext>
              </a:extLst>
            </p:cNvPr>
            <p:cNvSpPr/>
            <p:nvPr/>
          </p:nvSpPr>
          <p:spPr>
            <a:xfrm>
              <a:off x="8015429" y="3085877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50" name="Rectángulo 20">
              <a:extLst>
                <a:ext uri="{FF2B5EF4-FFF2-40B4-BE49-F238E27FC236}">
                  <a16:creationId xmlns:a16="http://schemas.microsoft.com/office/drawing/2014/main" id="{FD87CA32-9D1F-B32A-C134-6786BDBB3889}"/>
                </a:ext>
              </a:extLst>
            </p:cNvPr>
            <p:cNvSpPr/>
            <p:nvPr/>
          </p:nvSpPr>
          <p:spPr>
            <a:xfrm>
              <a:off x="9152752" y="3085877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16</a:t>
              </a:r>
            </a:p>
          </p:txBody>
        </p:sp>
        <p:sp>
          <p:nvSpPr>
            <p:cNvPr id="151" name="Rectángulo 21">
              <a:extLst>
                <a:ext uri="{FF2B5EF4-FFF2-40B4-BE49-F238E27FC236}">
                  <a16:creationId xmlns:a16="http://schemas.microsoft.com/office/drawing/2014/main" id="{31F88E9F-69E5-C5FF-289A-B0232DD6C645}"/>
                </a:ext>
              </a:extLst>
            </p:cNvPr>
            <p:cNvSpPr/>
            <p:nvPr/>
          </p:nvSpPr>
          <p:spPr>
            <a:xfrm>
              <a:off x="6878109" y="4207304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152" name="Rectángulo 22">
              <a:extLst>
                <a:ext uri="{FF2B5EF4-FFF2-40B4-BE49-F238E27FC236}">
                  <a16:creationId xmlns:a16="http://schemas.microsoft.com/office/drawing/2014/main" id="{349AC6DF-C1D8-A678-FAC4-168ABD96EE8F}"/>
                </a:ext>
              </a:extLst>
            </p:cNvPr>
            <p:cNvSpPr/>
            <p:nvPr/>
          </p:nvSpPr>
          <p:spPr>
            <a:xfrm>
              <a:off x="8015429" y="4208356"/>
              <a:ext cx="1124988" cy="1123936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20</a:t>
              </a:r>
            </a:p>
          </p:txBody>
        </p:sp>
        <p:sp>
          <p:nvSpPr>
            <p:cNvPr id="153" name="Rectángulo 23">
              <a:extLst>
                <a:ext uri="{FF2B5EF4-FFF2-40B4-BE49-F238E27FC236}">
                  <a16:creationId xmlns:a16="http://schemas.microsoft.com/office/drawing/2014/main" id="{88D92386-A7CF-FBD4-7E19-74BD4984B290}"/>
                </a:ext>
              </a:extLst>
            </p:cNvPr>
            <p:cNvSpPr/>
            <p:nvPr/>
          </p:nvSpPr>
          <p:spPr>
            <a:xfrm>
              <a:off x="9152752" y="4207304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154" name="Rectángulo 11">
              <a:extLst>
                <a:ext uri="{FF2B5EF4-FFF2-40B4-BE49-F238E27FC236}">
                  <a16:creationId xmlns:a16="http://schemas.microsoft.com/office/drawing/2014/main" id="{E194C1C3-B075-CF7D-14B6-02E8176E9DDF}"/>
                </a:ext>
              </a:extLst>
            </p:cNvPr>
            <p:cNvSpPr/>
            <p:nvPr/>
          </p:nvSpPr>
          <p:spPr>
            <a:xfrm>
              <a:off x="10281364" y="1964448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28</a:t>
              </a:r>
            </a:p>
          </p:txBody>
        </p:sp>
        <p:sp>
          <p:nvSpPr>
            <p:cNvPr id="155" name="Rectángulo 20">
              <a:extLst>
                <a:ext uri="{FF2B5EF4-FFF2-40B4-BE49-F238E27FC236}">
                  <a16:creationId xmlns:a16="http://schemas.microsoft.com/office/drawing/2014/main" id="{D2A27411-593C-8567-4B17-B4F75BBB7108}"/>
                </a:ext>
              </a:extLst>
            </p:cNvPr>
            <p:cNvSpPr/>
            <p:nvPr/>
          </p:nvSpPr>
          <p:spPr>
            <a:xfrm>
              <a:off x="10281364" y="3085877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93</a:t>
              </a:r>
            </a:p>
          </p:txBody>
        </p:sp>
        <p:sp>
          <p:nvSpPr>
            <p:cNvPr id="156" name="Rectángulo 23">
              <a:extLst>
                <a:ext uri="{FF2B5EF4-FFF2-40B4-BE49-F238E27FC236}">
                  <a16:creationId xmlns:a16="http://schemas.microsoft.com/office/drawing/2014/main" id="{8CDD195B-361B-4946-621D-BD93D2473D4F}"/>
                </a:ext>
              </a:extLst>
            </p:cNvPr>
            <p:cNvSpPr/>
            <p:nvPr/>
          </p:nvSpPr>
          <p:spPr>
            <a:xfrm>
              <a:off x="10281364" y="4207304"/>
              <a:ext cx="1124988" cy="1124988"/>
            </a:xfrm>
            <a:prstGeom prst="rect">
              <a:avLst/>
            </a:prstGeom>
            <a:noFill/>
            <a:ln w="28575">
              <a:solidFill>
                <a:srgbClr val="FDBE4B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sp>
        <p:nvSpPr>
          <p:cNvPr id="163" name="CuadroTexto 25">
            <a:extLst>
              <a:ext uri="{FF2B5EF4-FFF2-40B4-BE49-F238E27FC236}">
                <a16:creationId xmlns:a16="http://schemas.microsoft.com/office/drawing/2014/main" id="{2E6ED30E-E0CE-680C-05D6-593DC6B35155}"/>
              </a:ext>
            </a:extLst>
          </p:cNvPr>
          <p:cNvSpPr txBox="1"/>
          <p:nvPr/>
        </p:nvSpPr>
        <p:spPr>
          <a:xfrm>
            <a:off x="2130926" y="5992555"/>
            <a:ext cx="859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2400" dirty="0">
                <a:solidFill>
                  <a:schemeClr val="bg1">
                    <a:lumMod val="50000"/>
                  </a:schemeClr>
                </a:solidFill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La matriz tiene </a:t>
            </a:r>
            <a:r>
              <a:rPr lang="es-419" sz="2400" dirty="0">
                <a:solidFill>
                  <a:srgbClr val="D62A29"/>
                </a:solidFill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3 filas</a:t>
            </a:r>
            <a:r>
              <a:rPr lang="es-419" sz="2400" dirty="0">
                <a:solidFill>
                  <a:schemeClr val="bg1">
                    <a:lumMod val="50000"/>
                  </a:schemeClr>
                </a:solidFill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 y </a:t>
            </a:r>
            <a:r>
              <a:rPr lang="es-419" sz="2400" dirty="0">
                <a:solidFill>
                  <a:srgbClr val="003048"/>
                </a:solidFill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4 columnas</a:t>
            </a:r>
            <a:r>
              <a:rPr lang="es-419" sz="2400" dirty="0">
                <a:solidFill>
                  <a:schemeClr val="bg1">
                    <a:lumMod val="50000"/>
                  </a:schemeClr>
                </a:solidFill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lang="es-419" sz="2400" dirty="0">
                <a:solidFill>
                  <a:srgbClr val="D62A29"/>
                </a:solidFill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s-419" sz="2400" dirty="0">
                <a:solidFill>
                  <a:schemeClr val="bg1">
                    <a:lumMod val="50000"/>
                  </a:schemeClr>
                </a:solidFill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s-419" sz="2400" dirty="0">
                <a:solidFill>
                  <a:srgbClr val="003048"/>
                </a:solidFill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lang="es-419" sz="2400" dirty="0">
                <a:solidFill>
                  <a:schemeClr val="bg1">
                    <a:lumMod val="50000"/>
                  </a:schemeClr>
                </a:solidFill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317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Recorrido de arreglos bidimensionales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de dos dimensiones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3C93493-15D0-77F0-6F93-29BD5364129E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Declaración, creación e inicialización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924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0E49-6053-8122-E67E-2F63286A2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Declaración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4B12D6-EF30-DBB3-3E0E-E089F310FE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12429-2A70-FE0C-D4B3-73C2208ED8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Una matriz se declara indicando: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Al igual que los vectores, una </a:t>
            </a:r>
            <a:r>
              <a:rPr lang="es-ES" b="1" dirty="0"/>
              <a:t>matriz</a:t>
            </a:r>
            <a:r>
              <a:rPr lang="es-ES" dirty="0"/>
              <a:t> </a:t>
            </a:r>
            <a:r>
              <a:rPr lang="es-ES" b="1" dirty="0"/>
              <a:t>necesita</a:t>
            </a:r>
            <a:r>
              <a:rPr lang="es-ES" dirty="0"/>
              <a:t> </a:t>
            </a:r>
            <a:r>
              <a:rPr lang="es-ES" b="1" dirty="0"/>
              <a:t>crearse</a:t>
            </a:r>
            <a:r>
              <a:rPr lang="es-ES" dirty="0"/>
              <a:t> (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asignar memoria</a:t>
            </a:r>
            <a:r>
              <a:rPr lang="es-ES" dirty="0"/>
              <a:t>) para poder utilizarse.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FCE26-7273-E35A-8A6E-4699658AEB3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Declaración, creación e inicialización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BBFAEFD-196D-BE09-FC78-B8413F2B2B97}"/>
              </a:ext>
            </a:extLst>
          </p:cNvPr>
          <p:cNvGrpSpPr/>
          <p:nvPr/>
        </p:nvGrpSpPr>
        <p:grpSpPr>
          <a:xfrm>
            <a:off x="1731377" y="2122203"/>
            <a:ext cx="8729246" cy="1568388"/>
            <a:chOff x="2120262" y="2659531"/>
            <a:chExt cx="8729246" cy="1568388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617CC6F4-2980-7825-CAC6-1BDD7E4A5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34" y="2875462"/>
              <a:ext cx="4719127" cy="578882"/>
            </a:xfrm>
            <a:prstGeom prst="roundRect">
              <a:avLst/>
            </a:prstGeom>
            <a:solidFill>
              <a:srgbClr val="2B2B2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800" i="0" u="none" strike="noStrike" cap="none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int</a:t>
              </a:r>
              <a:r>
                <a:rPr kumimoji="0" lang="en-US" altLang="en-US" sz="2800" i="0" u="none" strike="noStrike" cap="none" normalizeH="0" baseline="0" dirty="0">
                  <a:ln>
                    <a:noFill/>
                  </a:ln>
                  <a:solidFill>
                    <a:schemeClr val="accent4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[]</a:t>
              </a:r>
              <a:r>
                <a:rPr kumimoji="0" lang="en-US" altLang="en-US" sz="2800" i="0" u="none" strike="noStrike" cap="none" normalizeH="0" baseline="0" dirty="0">
                  <a:ln>
                    <a:noFill/>
                  </a:ln>
                  <a:solidFill>
                    <a:srgbClr val="FF0080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[]</a:t>
              </a:r>
              <a:r>
                <a:rPr kumimoji="0" lang="en-US" altLang="en-US" sz="280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en-US" altLang="en-US" sz="2800" i="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tabla</a:t>
              </a:r>
              <a:r>
                <a:rPr kumimoji="0" lang="en-US" altLang="en-US" sz="280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endPara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10CE51D-DDD2-BFEA-A1F3-FFA93EC12AA5}"/>
                </a:ext>
              </a:extLst>
            </p:cNvPr>
            <p:cNvSpPr txBox="1"/>
            <p:nvPr/>
          </p:nvSpPr>
          <p:spPr>
            <a:xfrm>
              <a:off x="2120262" y="2987900"/>
              <a:ext cx="17068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tipo de dato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94AFF08-E27D-D5D9-702B-E5C827508E0D}"/>
                </a:ext>
              </a:extLst>
            </p:cNvPr>
            <p:cNvSpPr/>
            <p:nvPr/>
          </p:nvSpPr>
          <p:spPr>
            <a:xfrm rot="10800000" flipH="1" flipV="1">
              <a:off x="3479719" y="3111554"/>
              <a:ext cx="1016011" cy="101965"/>
            </a:xfrm>
            <a:custGeom>
              <a:avLst/>
              <a:gdLst>
                <a:gd name="connsiteX0" fmla="*/ 0 w 1270535"/>
                <a:gd name="connsiteY0" fmla="*/ 0 h 567890"/>
                <a:gd name="connsiteX1" fmla="*/ 1270535 w 1270535"/>
                <a:gd name="connsiteY1" fmla="*/ 567890 h 567890"/>
                <a:gd name="connsiteX0" fmla="*/ 0 w 1270535"/>
                <a:gd name="connsiteY0" fmla="*/ 0 h 567890"/>
                <a:gd name="connsiteX1" fmla="*/ 1270535 w 1270535"/>
                <a:gd name="connsiteY1" fmla="*/ 567890 h 567890"/>
                <a:gd name="connsiteX0" fmla="*/ 0 w 1270535"/>
                <a:gd name="connsiteY0" fmla="*/ 0 h 567890"/>
                <a:gd name="connsiteX1" fmla="*/ 1270535 w 1270535"/>
                <a:gd name="connsiteY1" fmla="*/ 567890 h 567890"/>
                <a:gd name="connsiteX0" fmla="*/ 0 w 1270535"/>
                <a:gd name="connsiteY0" fmla="*/ 0 h 567890"/>
                <a:gd name="connsiteX1" fmla="*/ 1270535 w 1270535"/>
                <a:gd name="connsiteY1" fmla="*/ 567890 h 567890"/>
                <a:gd name="connsiteX0" fmla="*/ 0 w 1270535"/>
                <a:gd name="connsiteY0" fmla="*/ 0 h 567890"/>
                <a:gd name="connsiteX1" fmla="*/ 1270535 w 1270535"/>
                <a:gd name="connsiteY1" fmla="*/ 567890 h 567890"/>
                <a:gd name="connsiteX0" fmla="*/ 0 w 1288830"/>
                <a:gd name="connsiteY0" fmla="*/ 0 h 710070"/>
                <a:gd name="connsiteX1" fmla="*/ 1288830 w 1288830"/>
                <a:gd name="connsiteY1" fmla="*/ 710070 h 710070"/>
                <a:gd name="connsiteX0" fmla="*/ 0 w 1288830"/>
                <a:gd name="connsiteY0" fmla="*/ 0 h 710070"/>
                <a:gd name="connsiteX1" fmla="*/ 1288830 w 1288830"/>
                <a:gd name="connsiteY1" fmla="*/ 710070 h 710070"/>
                <a:gd name="connsiteX0" fmla="*/ 0 w 1288830"/>
                <a:gd name="connsiteY0" fmla="*/ 0 h 710070"/>
                <a:gd name="connsiteX1" fmla="*/ 1288830 w 1288830"/>
                <a:gd name="connsiteY1" fmla="*/ 710070 h 710070"/>
                <a:gd name="connsiteX0" fmla="*/ 0 w 1809204"/>
                <a:gd name="connsiteY0" fmla="*/ 285419 h 285444"/>
                <a:gd name="connsiteX1" fmla="*/ 1809204 w 1809204"/>
                <a:gd name="connsiteY1" fmla="*/ 203796 h 28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9204" h="285444">
                  <a:moveTo>
                    <a:pt x="0" y="285419"/>
                  </a:moveTo>
                  <a:cubicBezTo>
                    <a:pt x="685234" y="289849"/>
                    <a:pt x="1332575" y="-300200"/>
                    <a:pt x="1809204" y="20379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090445-6447-0884-A41E-4154F7043A21}"/>
                </a:ext>
              </a:extLst>
            </p:cNvPr>
            <p:cNvSpPr txBox="1"/>
            <p:nvPr/>
          </p:nvSpPr>
          <p:spPr>
            <a:xfrm>
              <a:off x="6190047" y="3581588"/>
              <a:ext cx="42217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dos pares de corchetes vacíos, que representan las dos dimensiones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58F0A6-A560-1461-98F2-9C22F8130370}"/>
                </a:ext>
              </a:extLst>
            </p:cNvPr>
            <p:cNvSpPr txBox="1"/>
            <p:nvPr/>
          </p:nvSpPr>
          <p:spPr>
            <a:xfrm>
              <a:off x="8610600" y="2930705"/>
              <a:ext cx="22389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identificador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FD46AA4-8BF8-0B1C-2CB9-4548437B566F}"/>
                </a:ext>
              </a:extLst>
            </p:cNvPr>
            <p:cNvSpPr/>
            <p:nvPr/>
          </p:nvSpPr>
          <p:spPr>
            <a:xfrm rot="9900000" flipV="1">
              <a:off x="7242006" y="2659531"/>
              <a:ext cx="1570576" cy="484652"/>
            </a:xfrm>
            <a:custGeom>
              <a:avLst/>
              <a:gdLst>
                <a:gd name="connsiteX0" fmla="*/ 0 w 1270535"/>
                <a:gd name="connsiteY0" fmla="*/ 0 h 567890"/>
                <a:gd name="connsiteX1" fmla="*/ 1270535 w 1270535"/>
                <a:gd name="connsiteY1" fmla="*/ 567890 h 567890"/>
                <a:gd name="connsiteX0" fmla="*/ 0 w 1270535"/>
                <a:gd name="connsiteY0" fmla="*/ 0 h 567890"/>
                <a:gd name="connsiteX1" fmla="*/ 1270535 w 1270535"/>
                <a:gd name="connsiteY1" fmla="*/ 567890 h 567890"/>
                <a:gd name="connsiteX0" fmla="*/ 0 w 1270535"/>
                <a:gd name="connsiteY0" fmla="*/ 0 h 567890"/>
                <a:gd name="connsiteX1" fmla="*/ 1270535 w 1270535"/>
                <a:gd name="connsiteY1" fmla="*/ 567890 h 567890"/>
                <a:gd name="connsiteX0" fmla="*/ 0 w 1270535"/>
                <a:gd name="connsiteY0" fmla="*/ 0 h 567890"/>
                <a:gd name="connsiteX1" fmla="*/ 1270535 w 1270535"/>
                <a:gd name="connsiteY1" fmla="*/ 567890 h 567890"/>
                <a:gd name="connsiteX0" fmla="*/ 0 w 1270535"/>
                <a:gd name="connsiteY0" fmla="*/ 0 h 567890"/>
                <a:gd name="connsiteX1" fmla="*/ 1270535 w 1270535"/>
                <a:gd name="connsiteY1" fmla="*/ 567890 h 567890"/>
                <a:gd name="connsiteX0" fmla="*/ 0 w 1288830"/>
                <a:gd name="connsiteY0" fmla="*/ 0 h 710070"/>
                <a:gd name="connsiteX1" fmla="*/ 1288830 w 1288830"/>
                <a:gd name="connsiteY1" fmla="*/ 710070 h 710070"/>
                <a:gd name="connsiteX0" fmla="*/ 0 w 1288830"/>
                <a:gd name="connsiteY0" fmla="*/ 0 h 710070"/>
                <a:gd name="connsiteX1" fmla="*/ 1288830 w 1288830"/>
                <a:gd name="connsiteY1" fmla="*/ 710070 h 710070"/>
                <a:gd name="connsiteX0" fmla="*/ 0 w 1288830"/>
                <a:gd name="connsiteY0" fmla="*/ 0 h 710070"/>
                <a:gd name="connsiteX1" fmla="*/ 1288830 w 1288830"/>
                <a:gd name="connsiteY1" fmla="*/ 710070 h 710070"/>
                <a:gd name="connsiteX0" fmla="*/ 0 w 1923849"/>
                <a:gd name="connsiteY0" fmla="*/ 717195 h 717207"/>
                <a:gd name="connsiteX1" fmla="*/ 1923849 w 1923849"/>
                <a:gd name="connsiteY1" fmla="*/ 132847 h 717207"/>
                <a:gd name="connsiteX0" fmla="*/ 0 w 1923849"/>
                <a:gd name="connsiteY0" fmla="*/ 819738 h 819738"/>
                <a:gd name="connsiteX1" fmla="*/ 1923849 w 1923849"/>
                <a:gd name="connsiteY1" fmla="*/ 235390 h 819738"/>
                <a:gd name="connsiteX0" fmla="*/ 0 w 2238846"/>
                <a:gd name="connsiteY0" fmla="*/ 889941 h 889941"/>
                <a:gd name="connsiteX1" fmla="*/ 2238846 w 2238846"/>
                <a:gd name="connsiteY1" fmla="*/ 214787 h 889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8846" h="889941">
                  <a:moveTo>
                    <a:pt x="0" y="889941"/>
                  </a:moveTo>
                  <a:cubicBezTo>
                    <a:pt x="170376" y="158130"/>
                    <a:pt x="1762217" y="-289209"/>
                    <a:pt x="2238846" y="214787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6203D28-76D6-A746-A440-F2E795B7D3C5}"/>
                </a:ext>
              </a:extLst>
            </p:cNvPr>
            <p:cNvSpPr/>
            <p:nvPr/>
          </p:nvSpPr>
          <p:spPr>
            <a:xfrm rot="21079909" flipH="1" flipV="1">
              <a:off x="5699788" y="3344545"/>
              <a:ext cx="396302" cy="655751"/>
            </a:xfrm>
            <a:custGeom>
              <a:avLst/>
              <a:gdLst>
                <a:gd name="connsiteX0" fmla="*/ 0 w 1270535"/>
                <a:gd name="connsiteY0" fmla="*/ 0 h 567890"/>
                <a:gd name="connsiteX1" fmla="*/ 1270535 w 1270535"/>
                <a:gd name="connsiteY1" fmla="*/ 567890 h 567890"/>
                <a:gd name="connsiteX0" fmla="*/ 0 w 1270535"/>
                <a:gd name="connsiteY0" fmla="*/ 0 h 567890"/>
                <a:gd name="connsiteX1" fmla="*/ 1270535 w 1270535"/>
                <a:gd name="connsiteY1" fmla="*/ 567890 h 567890"/>
                <a:gd name="connsiteX0" fmla="*/ 0 w 1270535"/>
                <a:gd name="connsiteY0" fmla="*/ 0 h 567890"/>
                <a:gd name="connsiteX1" fmla="*/ 1270535 w 1270535"/>
                <a:gd name="connsiteY1" fmla="*/ 567890 h 567890"/>
                <a:gd name="connsiteX0" fmla="*/ 0 w 1270535"/>
                <a:gd name="connsiteY0" fmla="*/ 0 h 567890"/>
                <a:gd name="connsiteX1" fmla="*/ 1270535 w 1270535"/>
                <a:gd name="connsiteY1" fmla="*/ 567890 h 567890"/>
                <a:gd name="connsiteX0" fmla="*/ 0 w 1270535"/>
                <a:gd name="connsiteY0" fmla="*/ 0 h 567890"/>
                <a:gd name="connsiteX1" fmla="*/ 1270535 w 1270535"/>
                <a:gd name="connsiteY1" fmla="*/ 567890 h 567890"/>
                <a:gd name="connsiteX0" fmla="*/ 0 w 1288830"/>
                <a:gd name="connsiteY0" fmla="*/ 0 h 710070"/>
                <a:gd name="connsiteX1" fmla="*/ 1288830 w 1288830"/>
                <a:gd name="connsiteY1" fmla="*/ 710070 h 710070"/>
                <a:gd name="connsiteX0" fmla="*/ 0 w 1288830"/>
                <a:gd name="connsiteY0" fmla="*/ 0 h 710070"/>
                <a:gd name="connsiteX1" fmla="*/ 1288830 w 1288830"/>
                <a:gd name="connsiteY1" fmla="*/ 710070 h 710070"/>
                <a:gd name="connsiteX0" fmla="*/ 0 w 1288830"/>
                <a:gd name="connsiteY0" fmla="*/ 0 h 710070"/>
                <a:gd name="connsiteX1" fmla="*/ 1288830 w 1288830"/>
                <a:gd name="connsiteY1" fmla="*/ 710070 h 710070"/>
                <a:gd name="connsiteX0" fmla="*/ 0 w 1419506"/>
                <a:gd name="connsiteY0" fmla="*/ 0 h 724764"/>
                <a:gd name="connsiteX1" fmla="*/ 1419506 w 1419506"/>
                <a:gd name="connsiteY1" fmla="*/ 724764 h 724764"/>
                <a:gd name="connsiteX0" fmla="*/ 0 w 1419506"/>
                <a:gd name="connsiteY0" fmla="*/ 0 h 724764"/>
                <a:gd name="connsiteX1" fmla="*/ 1419506 w 1419506"/>
                <a:gd name="connsiteY1" fmla="*/ 724764 h 724764"/>
                <a:gd name="connsiteX0" fmla="*/ 0 w 1419506"/>
                <a:gd name="connsiteY0" fmla="*/ 0 h 724764"/>
                <a:gd name="connsiteX1" fmla="*/ 1419506 w 1419506"/>
                <a:gd name="connsiteY1" fmla="*/ 724764 h 724764"/>
                <a:gd name="connsiteX0" fmla="*/ 0 w 1421879"/>
                <a:gd name="connsiteY0" fmla="*/ 0 h 724764"/>
                <a:gd name="connsiteX1" fmla="*/ 1419506 w 1421879"/>
                <a:gd name="connsiteY1" fmla="*/ 724764 h 72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21879" h="724764">
                  <a:moveTo>
                    <a:pt x="0" y="0"/>
                  </a:moveTo>
                  <a:cubicBezTo>
                    <a:pt x="726750" y="114902"/>
                    <a:pt x="1469324" y="185923"/>
                    <a:pt x="1419506" y="724764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FFD3E5-B454-4383-2727-9F7F9B2AC96A}"/>
              </a:ext>
            </a:extLst>
          </p:cNvPr>
          <p:cNvGrpSpPr/>
          <p:nvPr/>
        </p:nvGrpSpPr>
        <p:grpSpPr>
          <a:xfrm>
            <a:off x="2217289" y="4942956"/>
            <a:ext cx="7738616" cy="1466037"/>
            <a:chOff x="1962365" y="5000364"/>
            <a:chExt cx="7738616" cy="1466037"/>
          </a:xfrm>
        </p:grpSpPr>
        <p:sp>
          <p:nvSpPr>
            <p:cNvPr id="17" name="Left Brace 16">
              <a:extLst>
                <a:ext uri="{FF2B5EF4-FFF2-40B4-BE49-F238E27FC236}">
                  <a16:creationId xmlns:a16="http://schemas.microsoft.com/office/drawing/2014/main" id="{D52AE3E1-B2BA-FFA0-002C-EEFA9CE6B18A}"/>
                </a:ext>
              </a:extLst>
            </p:cNvPr>
            <p:cNvSpPr/>
            <p:nvPr/>
          </p:nvSpPr>
          <p:spPr>
            <a:xfrm>
              <a:off x="5574534" y="5246660"/>
              <a:ext cx="683746" cy="945776"/>
            </a:xfrm>
            <a:prstGeom prst="leftBrace">
              <a:avLst>
                <a:gd name="adj1" fmla="val 0"/>
                <a:gd name="adj2" fmla="val 50000"/>
              </a:avLst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5E0B3AB-5A0E-471A-F62F-8FCB0608D839}"/>
                </a:ext>
              </a:extLst>
            </p:cNvPr>
            <p:cNvSpPr/>
            <p:nvPr/>
          </p:nvSpPr>
          <p:spPr>
            <a:xfrm>
              <a:off x="6236745" y="5000364"/>
              <a:ext cx="3464236" cy="524173"/>
            </a:xfrm>
            <a:prstGeom prst="rect">
              <a:avLst/>
            </a:prstGeom>
            <a:solidFill>
              <a:srgbClr val="00A87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Con la instrucción </a:t>
              </a:r>
              <a:r>
                <a:rPr lang="es-ES" sz="2000" b="1" dirty="0"/>
                <a:t>new</a:t>
              </a:r>
              <a:endParaRPr lang="en-US" sz="2000" b="1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308F13-2C0D-7B25-E088-0875000BAF02}"/>
                </a:ext>
              </a:extLst>
            </p:cNvPr>
            <p:cNvSpPr/>
            <p:nvPr/>
          </p:nvSpPr>
          <p:spPr>
            <a:xfrm>
              <a:off x="6236745" y="5942228"/>
              <a:ext cx="3464236" cy="52417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Con inicializadores</a:t>
              </a:r>
              <a:endParaRPr lang="en-US" sz="2000" b="1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6247E4-BE00-13E3-382B-AAD6BD7D204C}"/>
                </a:ext>
              </a:extLst>
            </p:cNvPr>
            <p:cNvSpPr/>
            <p:nvPr/>
          </p:nvSpPr>
          <p:spPr>
            <a:xfrm>
              <a:off x="1962365" y="5344642"/>
              <a:ext cx="3594376" cy="76443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¿Cómo creo una matriz en Java?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8212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10EBF-A282-8EA6-7BA6-DDDD842ED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con “new”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97D5AD-820A-2540-80B8-67EB09D375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25A91C-1D92-1ACD-3EF1-C67629E8130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Declaración, creación e inicialización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68CEEE4-2F95-DED6-4D75-49B528926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0043" y="2336163"/>
            <a:ext cx="9241500" cy="715089"/>
          </a:xfrm>
          <a:prstGeom prst="roundRect">
            <a:avLst/>
          </a:prstGeom>
          <a:solidFill>
            <a:srgbClr val="2B2B2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FE4CA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[][]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FE4CA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FE4CA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FE4CA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4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F3D72-2E8C-8043-3572-AD230F616F65}"/>
              </a:ext>
            </a:extLst>
          </p:cNvPr>
          <p:cNvSpPr txBox="1"/>
          <p:nvPr/>
        </p:nvSpPr>
        <p:spPr>
          <a:xfrm>
            <a:off x="1667455" y="3477236"/>
            <a:ext cx="2415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Declara el tipo de dato (</a:t>
            </a:r>
            <a:r>
              <a:rPr lang="es-ES" sz="1800" i="1" dirty="0">
                <a:solidFill>
                  <a:schemeClr val="bg1">
                    <a:lumMod val="50000"/>
                  </a:schemeClr>
                </a:solidFill>
              </a:rPr>
              <a:t>tipo base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) que almacenará la matriz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B16ACE4-A8C4-6166-6BB1-AB1C536EE1C5}"/>
              </a:ext>
            </a:extLst>
          </p:cNvPr>
          <p:cNvSpPr/>
          <p:nvPr/>
        </p:nvSpPr>
        <p:spPr>
          <a:xfrm rot="5400000" flipH="1" flipV="1">
            <a:off x="1835833" y="2836056"/>
            <a:ext cx="646332" cy="397912"/>
          </a:xfrm>
          <a:custGeom>
            <a:avLst/>
            <a:gdLst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535" h="567890">
                <a:moveTo>
                  <a:pt x="0" y="0"/>
                </a:moveTo>
                <a:cubicBezTo>
                  <a:pt x="904775" y="83419"/>
                  <a:pt x="1251285" y="253465"/>
                  <a:pt x="1270535" y="56789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28B3CAB-89B6-E018-0555-2BA58061C36A}"/>
              </a:ext>
            </a:extLst>
          </p:cNvPr>
          <p:cNvSpPr/>
          <p:nvPr/>
        </p:nvSpPr>
        <p:spPr>
          <a:xfrm flipH="1" flipV="1">
            <a:off x="9390566" y="2989412"/>
            <a:ext cx="625640" cy="397539"/>
          </a:xfrm>
          <a:custGeom>
            <a:avLst/>
            <a:gdLst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535" h="567890">
                <a:moveTo>
                  <a:pt x="0" y="0"/>
                </a:moveTo>
                <a:cubicBezTo>
                  <a:pt x="904775" y="83419"/>
                  <a:pt x="1251285" y="253465"/>
                  <a:pt x="1270535" y="56789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C1190B-01DC-E4C0-FC54-8D210F3493BD}"/>
              </a:ext>
            </a:extLst>
          </p:cNvPr>
          <p:cNvSpPr txBox="1"/>
          <p:nvPr/>
        </p:nvSpPr>
        <p:spPr>
          <a:xfrm>
            <a:off x="2357955" y="1473897"/>
            <a:ext cx="2973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1º Se declara una variable de referencia a la matriz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1227CC-1E92-53CC-EAD6-29692E44D7CB}"/>
              </a:ext>
            </a:extLst>
          </p:cNvPr>
          <p:cNvSpPr txBox="1"/>
          <p:nvPr/>
        </p:nvSpPr>
        <p:spPr>
          <a:xfrm>
            <a:off x="7539377" y="1473897"/>
            <a:ext cx="2729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2º Se asigna memoria </a:t>
            </a:r>
          </a:p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     para la matriz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12BDB1-E96B-4452-306E-3ED925B6CE88}"/>
              </a:ext>
            </a:extLst>
          </p:cNvPr>
          <p:cNvSpPr/>
          <p:nvPr/>
        </p:nvSpPr>
        <p:spPr>
          <a:xfrm rot="10800000" flipH="1" flipV="1">
            <a:off x="5440521" y="1946671"/>
            <a:ext cx="218180" cy="539576"/>
          </a:xfrm>
          <a:custGeom>
            <a:avLst/>
            <a:gdLst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535" h="567890">
                <a:moveTo>
                  <a:pt x="0" y="0"/>
                </a:moveTo>
                <a:cubicBezTo>
                  <a:pt x="904775" y="83419"/>
                  <a:pt x="1251285" y="253465"/>
                  <a:pt x="1270535" y="56789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0CFA580-49CB-7EB6-3F81-32E8D2EF9336}"/>
              </a:ext>
            </a:extLst>
          </p:cNvPr>
          <p:cNvSpPr/>
          <p:nvPr/>
        </p:nvSpPr>
        <p:spPr>
          <a:xfrm rot="10800000" flipV="1">
            <a:off x="7419632" y="1905117"/>
            <a:ext cx="303355" cy="581130"/>
          </a:xfrm>
          <a:custGeom>
            <a:avLst/>
            <a:gdLst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535" h="567890">
                <a:moveTo>
                  <a:pt x="0" y="0"/>
                </a:moveTo>
                <a:cubicBezTo>
                  <a:pt x="904775" y="83419"/>
                  <a:pt x="1251285" y="253465"/>
                  <a:pt x="1270535" y="56789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AFCF7EE-754B-F427-4298-D1B53227A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161" y="5360911"/>
            <a:ext cx="2956249" cy="64698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33D6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FE4CA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[][]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33D6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FE4CA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US" altLang="en-US" sz="1600" dirty="0">
                <a:solidFill>
                  <a:schemeClr val="bg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FE4CA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</a:t>
            </a:r>
            <a:r>
              <a:rPr lang="en-US" altLang="en-US" sz="1600" dirty="0">
                <a:solidFill>
                  <a:schemeClr val="bg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FE4CA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7A37D3-803E-928D-7E64-9B3CCE6C4E49}"/>
              </a:ext>
            </a:extLst>
          </p:cNvPr>
          <p:cNvSpPr txBox="1"/>
          <p:nvPr/>
        </p:nvSpPr>
        <p:spPr>
          <a:xfrm>
            <a:off x="1240488" y="6153891"/>
            <a:ext cx="3699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i="1" dirty="0">
                <a:solidFill>
                  <a:srgbClr val="00B0F0"/>
                </a:solidFill>
              </a:rPr>
              <a:t>Declaración y creación equivalente</a:t>
            </a:r>
            <a:endParaRPr lang="en-US" sz="1600" i="1" dirty="0">
              <a:solidFill>
                <a:srgbClr val="00B0F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B4FC59-0588-B592-F8E9-A007F99A2D9B}"/>
              </a:ext>
            </a:extLst>
          </p:cNvPr>
          <p:cNvSpPr txBox="1"/>
          <p:nvPr/>
        </p:nvSpPr>
        <p:spPr>
          <a:xfrm>
            <a:off x="10053344" y="3239993"/>
            <a:ext cx="143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Longitudes de fila y columna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17" name="Table 12">
            <a:extLst>
              <a:ext uri="{FF2B5EF4-FFF2-40B4-BE49-F238E27FC236}">
                <a16:creationId xmlns:a16="http://schemas.microsoft.com/office/drawing/2014/main" id="{86C57A61-F232-1B4C-FF33-DCFDA865E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255621"/>
              </p:ext>
            </p:extLst>
          </p:nvPr>
        </p:nvGraphicFramePr>
        <p:xfrm>
          <a:off x="6604453" y="4158818"/>
          <a:ext cx="2624004" cy="21975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001">
                  <a:extLst>
                    <a:ext uri="{9D8B030D-6E8A-4147-A177-3AD203B41FA5}">
                      <a16:colId xmlns:a16="http://schemas.microsoft.com/office/drawing/2014/main" val="3015497050"/>
                    </a:ext>
                  </a:extLst>
                </a:gridCol>
                <a:gridCol w="656001">
                  <a:extLst>
                    <a:ext uri="{9D8B030D-6E8A-4147-A177-3AD203B41FA5}">
                      <a16:colId xmlns:a16="http://schemas.microsoft.com/office/drawing/2014/main" val="560335516"/>
                    </a:ext>
                  </a:extLst>
                </a:gridCol>
                <a:gridCol w="656001">
                  <a:extLst>
                    <a:ext uri="{9D8B030D-6E8A-4147-A177-3AD203B41FA5}">
                      <a16:colId xmlns:a16="http://schemas.microsoft.com/office/drawing/2014/main" val="2300956168"/>
                    </a:ext>
                  </a:extLst>
                </a:gridCol>
                <a:gridCol w="656001">
                  <a:extLst>
                    <a:ext uri="{9D8B030D-6E8A-4147-A177-3AD203B41FA5}">
                      <a16:colId xmlns:a16="http://schemas.microsoft.com/office/drawing/2014/main" val="470326529"/>
                    </a:ext>
                  </a:extLst>
                </a:gridCol>
              </a:tblGrid>
              <a:tr h="732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s-ES" sz="25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25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160776" marR="160776" marT="80388" marB="80388" anchor="ctr">
                    <a:lnL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s-ES" sz="25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25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160776" marR="160776" marT="80388" marB="80388" anchor="ctr">
                    <a:lnL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s-ES" sz="25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25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160776" marR="160776" marT="80388" marB="80388" anchor="ctr">
                    <a:lnL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s-ES" sz="25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25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160776" marR="160776" marT="80388" marB="80388" anchor="ctr">
                    <a:lnL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012291"/>
                  </a:ext>
                </a:extLst>
              </a:tr>
              <a:tr h="732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s-ES" sz="25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25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160776" marR="160776" marT="80388" marB="80388" anchor="ctr">
                    <a:lnL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s-ES" sz="25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25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160776" marR="160776" marT="80388" marB="80388" anchor="ctr">
                    <a:lnL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s-ES" sz="25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25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160776" marR="160776" marT="80388" marB="80388" anchor="ctr">
                    <a:lnL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s-ES" sz="25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25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160776" marR="160776" marT="80388" marB="80388" anchor="ctr">
                    <a:lnL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724092"/>
                  </a:ext>
                </a:extLst>
              </a:tr>
              <a:tr h="732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s-ES" sz="25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25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160776" marR="160776" marT="80388" marB="80388" anchor="ctr">
                    <a:lnL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s-ES" sz="25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25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160776" marR="160776" marT="80388" marB="80388" anchor="ctr">
                    <a:lnL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s-ES" sz="25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25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160776" marR="160776" marT="80388" marB="80388" anchor="ctr">
                    <a:lnL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s-ES" sz="25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25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160776" marR="160776" marT="80388" marB="80388" anchor="ctr">
                    <a:lnL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5543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0EAD239-1A9F-3870-2676-D3E26FD6EA06}"/>
              </a:ext>
            </a:extLst>
          </p:cNvPr>
          <p:cNvSpPr txBox="1"/>
          <p:nvPr/>
        </p:nvSpPr>
        <p:spPr>
          <a:xfrm>
            <a:off x="6778812" y="3765207"/>
            <a:ext cx="2440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0        1        2         3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344304-32A4-80E5-394C-BB4A60A4DA17}"/>
              </a:ext>
            </a:extLst>
          </p:cNvPr>
          <p:cNvSpPr txBox="1"/>
          <p:nvPr/>
        </p:nvSpPr>
        <p:spPr>
          <a:xfrm>
            <a:off x="6246658" y="4102851"/>
            <a:ext cx="357795" cy="2049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0</a:t>
            </a:r>
          </a:p>
          <a:p>
            <a:pPr>
              <a:lnSpc>
                <a:spcPct val="250000"/>
              </a:lnSpc>
            </a:pP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  <a:p>
            <a:pPr>
              <a:lnSpc>
                <a:spcPct val="250000"/>
              </a:lnSpc>
            </a:pP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1785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CB689-AD4F-3D09-68F4-E461B8C18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con inicializador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F6964F-508F-CBE3-12E1-59D8BDDE40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AC5F93-A19F-A1AB-6EFC-48E6B8704E8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La </a:t>
            </a:r>
            <a:r>
              <a:rPr lang="es-ES" b="1" dirty="0"/>
              <a:t>longitud</a:t>
            </a:r>
            <a:r>
              <a:rPr lang="es-ES" dirty="0"/>
              <a:t> de la matriz está determinada por el número de valores indicados como filas y columnas.</a:t>
            </a:r>
          </a:p>
          <a:p>
            <a:r>
              <a:rPr lang="es-ES" dirty="0"/>
              <a:t>Proporcione los valores de inicialización de cada fila separados por coma y entre llaves.</a:t>
            </a:r>
          </a:p>
          <a:p>
            <a:r>
              <a:rPr lang="es-ES" dirty="0"/>
              <a:t>Y todos los conjuntos anteriores, separados por coma, dentro de un par de llaves general.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D27EF-8FDB-F10D-E827-D7E5534C61CB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Declaración, creación e inicialización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4B6CF24-A2AC-8E78-CA4F-49A75CE4D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7157" y="4917073"/>
            <a:ext cx="5575717" cy="1261111"/>
          </a:xfrm>
          <a:prstGeom prst="roundRect">
            <a:avLst>
              <a:gd name="adj" fmla="val 7439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4000" tIns="144000" rIns="144000" bIns="144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[][]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 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CC783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CC783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23938C7C-FD29-2E76-69B3-A1086877F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95801"/>
              </p:ext>
            </p:extLst>
          </p:nvPr>
        </p:nvGraphicFramePr>
        <p:xfrm>
          <a:off x="8610600" y="4738906"/>
          <a:ext cx="1548867" cy="16174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6289">
                  <a:extLst>
                    <a:ext uri="{9D8B030D-6E8A-4147-A177-3AD203B41FA5}">
                      <a16:colId xmlns:a16="http://schemas.microsoft.com/office/drawing/2014/main" val="3347196983"/>
                    </a:ext>
                  </a:extLst>
                </a:gridCol>
                <a:gridCol w="516289">
                  <a:extLst>
                    <a:ext uri="{9D8B030D-6E8A-4147-A177-3AD203B41FA5}">
                      <a16:colId xmlns:a16="http://schemas.microsoft.com/office/drawing/2014/main" val="994952085"/>
                    </a:ext>
                  </a:extLst>
                </a:gridCol>
                <a:gridCol w="516289">
                  <a:extLst>
                    <a:ext uri="{9D8B030D-6E8A-4147-A177-3AD203B41FA5}">
                      <a16:colId xmlns:a16="http://schemas.microsoft.com/office/drawing/2014/main" val="4281406044"/>
                    </a:ext>
                  </a:extLst>
                </a:gridCol>
              </a:tblGrid>
              <a:tr h="539148"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en-US" sz="1800" b="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2"/>
                          </a:solidFill>
                        </a:rPr>
                        <a:t>2</a:t>
                      </a:r>
                      <a:endParaRPr lang="en-US" sz="1800" b="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2"/>
                          </a:solidFill>
                        </a:rPr>
                        <a:t>3</a:t>
                      </a:r>
                      <a:endParaRPr lang="en-US" sz="1800" b="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009267"/>
                  </a:ext>
                </a:extLst>
              </a:tr>
              <a:tr h="539148"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2"/>
                          </a:solidFill>
                        </a:rPr>
                        <a:t>4</a:t>
                      </a:r>
                      <a:endParaRPr lang="en-US" sz="1800" b="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2"/>
                          </a:solidFill>
                        </a:rPr>
                        <a:t>5</a:t>
                      </a:r>
                      <a:endParaRPr lang="en-US" sz="1800" b="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2"/>
                          </a:solidFill>
                        </a:rPr>
                        <a:t>6</a:t>
                      </a:r>
                      <a:endParaRPr lang="en-US" sz="1800" b="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165108"/>
                  </a:ext>
                </a:extLst>
              </a:tr>
              <a:tr h="539148"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2"/>
                          </a:solidFill>
                        </a:rPr>
                        <a:t>7</a:t>
                      </a:r>
                      <a:endParaRPr lang="en-US" sz="1800" b="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2"/>
                          </a:solidFill>
                        </a:rPr>
                        <a:t>8</a:t>
                      </a:r>
                      <a:endParaRPr lang="en-US" sz="1800" b="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2"/>
                          </a:solidFill>
                        </a:rPr>
                        <a:t>9</a:t>
                      </a:r>
                      <a:endParaRPr lang="en-US" sz="1800" b="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99682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40DB323-8BE0-55A4-047D-E52AE02A36AD}"/>
              </a:ext>
            </a:extLst>
          </p:cNvPr>
          <p:cNvSpPr txBox="1"/>
          <p:nvPr/>
        </p:nvSpPr>
        <p:spPr>
          <a:xfrm>
            <a:off x="8610600" y="4381429"/>
            <a:ext cx="1548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  0        1        2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146C2D-8BEB-CE9A-44F3-478A49DB7D83}"/>
              </a:ext>
            </a:extLst>
          </p:cNvPr>
          <p:cNvSpPr txBox="1"/>
          <p:nvPr/>
        </p:nvSpPr>
        <p:spPr>
          <a:xfrm>
            <a:off x="8281675" y="4782771"/>
            <a:ext cx="284006" cy="1529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0</a:t>
            </a:r>
          </a:p>
          <a:p>
            <a:pPr>
              <a:lnSpc>
                <a:spcPct val="150000"/>
              </a:lnSpc>
            </a:pPr>
            <a:endParaRPr lang="es-ES" sz="11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  <a:p>
            <a:pPr>
              <a:lnSpc>
                <a:spcPct val="150000"/>
              </a:lnSpc>
            </a:pPr>
            <a:endParaRPr lang="es-ES" sz="11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87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de dos dimensiones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Declaración, creación e inicialización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3C93493-15D0-77F0-6F93-29BD5364129E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Recorrido de arreglos bidimensionales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30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70C27-446E-E059-9BC6-8F19DA30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se accede a una matriz?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E62188-4F7D-0D99-3E8A-80BF20D3BF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ACFFE1-53F8-2E24-98F9-676B10B0DFC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Recorrido de arreglos bidimensionales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6087EF1-5357-81A5-1E8F-A70A6DFE9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971" y="3437557"/>
            <a:ext cx="5126804" cy="101512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 vert="horz" wrap="square" lIns="90000" tIns="180000" rIns="91440" bIns="18000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variable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FF0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23C3DB-4922-2C44-394C-B17C1AB9F416}"/>
              </a:ext>
            </a:extLst>
          </p:cNvPr>
          <p:cNvSpPr txBox="1"/>
          <p:nvPr/>
        </p:nvSpPr>
        <p:spPr>
          <a:xfrm>
            <a:off x="2178122" y="2010027"/>
            <a:ext cx="4209584" cy="568821"/>
          </a:xfrm>
          <a:prstGeom prst="parallelogram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Por su índice de fila...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82DE18C-E11F-DAF8-F616-78D14F7A3427}"/>
              </a:ext>
            </a:extLst>
          </p:cNvPr>
          <p:cNvSpPr/>
          <p:nvPr/>
        </p:nvSpPr>
        <p:spPr>
          <a:xfrm rot="10800000" flipH="1" flipV="1">
            <a:off x="5998422" y="2717315"/>
            <a:ext cx="323757" cy="876757"/>
          </a:xfrm>
          <a:custGeom>
            <a:avLst/>
            <a:gdLst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88830"/>
              <a:gd name="connsiteY0" fmla="*/ 0 h 710070"/>
              <a:gd name="connsiteX1" fmla="*/ 1288830 w 1288830"/>
              <a:gd name="connsiteY1" fmla="*/ 710070 h 710070"/>
              <a:gd name="connsiteX0" fmla="*/ 0 w 1288830"/>
              <a:gd name="connsiteY0" fmla="*/ 0 h 710070"/>
              <a:gd name="connsiteX1" fmla="*/ 1288830 w 1288830"/>
              <a:gd name="connsiteY1" fmla="*/ 710070 h 710070"/>
              <a:gd name="connsiteX0" fmla="*/ 0 w 1288830"/>
              <a:gd name="connsiteY0" fmla="*/ 0 h 710070"/>
              <a:gd name="connsiteX1" fmla="*/ 1288830 w 1288830"/>
              <a:gd name="connsiteY1" fmla="*/ 710070 h 710070"/>
              <a:gd name="connsiteX0" fmla="*/ 0 w 1809204"/>
              <a:gd name="connsiteY0" fmla="*/ 285419 h 285444"/>
              <a:gd name="connsiteX1" fmla="*/ 1809204 w 1809204"/>
              <a:gd name="connsiteY1" fmla="*/ 203796 h 285444"/>
              <a:gd name="connsiteX0" fmla="*/ 0 w 1425005"/>
              <a:gd name="connsiteY0" fmla="*/ 0 h 3283506"/>
              <a:gd name="connsiteX1" fmla="*/ 1425005 w 1425005"/>
              <a:gd name="connsiteY1" fmla="*/ 3283506 h 3283506"/>
              <a:gd name="connsiteX0" fmla="*/ 0 w 1425005"/>
              <a:gd name="connsiteY0" fmla="*/ 0 h 3283506"/>
              <a:gd name="connsiteX1" fmla="*/ 1425005 w 1425005"/>
              <a:gd name="connsiteY1" fmla="*/ 3283506 h 3283506"/>
              <a:gd name="connsiteX0" fmla="*/ 93834 w 372195"/>
              <a:gd name="connsiteY0" fmla="*/ 0 h 3074330"/>
              <a:gd name="connsiteX1" fmla="*/ 344 w 372195"/>
              <a:gd name="connsiteY1" fmla="*/ 3074330 h 3074330"/>
              <a:gd name="connsiteX0" fmla="*/ 93681 w 663668"/>
              <a:gd name="connsiteY0" fmla="*/ 0 h 3074330"/>
              <a:gd name="connsiteX1" fmla="*/ 191 w 663668"/>
              <a:gd name="connsiteY1" fmla="*/ 3074330 h 3074330"/>
              <a:gd name="connsiteX0" fmla="*/ 0 w 782910"/>
              <a:gd name="connsiteY0" fmla="*/ 0 h 2028447"/>
              <a:gd name="connsiteX1" fmla="*/ 565134 w 782910"/>
              <a:gd name="connsiteY1" fmla="*/ 2028447 h 2028447"/>
              <a:gd name="connsiteX0" fmla="*/ 0 w 565135"/>
              <a:gd name="connsiteY0" fmla="*/ 0 h 2028447"/>
              <a:gd name="connsiteX1" fmla="*/ 565134 w 565135"/>
              <a:gd name="connsiteY1" fmla="*/ 2028447 h 2028447"/>
              <a:gd name="connsiteX0" fmla="*/ 0 w 576512"/>
              <a:gd name="connsiteY0" fmla="*/ 0 h 2028447"/>
              <a:gd name="connsiteX1" fmla="*/ 565134 w 576512"/>
              <a:gd name="connsiteY1" fmla="*/ 2028447 h 2028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6512" h="2028447">
                <a:moveTo>
                  <a:pt x="0" y="0"/>
                </a:moveTo>
                <a:cubicBezTo>
                  <a:pt x="355923" y="318193"/>
                  <a:pt x="637356" y="638061"/>
                  <a:pt x="565134" y="2028447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8471E3-9BF8-9624-952B-65C641BCDB5D}"/>
              </a:ext>
            </a:extLst>
          </p:cNvPr>
          <p:cNvSpPr txBox="1"/>
          <p:nvPr/>
        </p:nvSpPr>
        <p:spPr>
          <a:xfrm>
            <a:off x="5666195" y="5311386"/>
            <a:ext cx="4742379" cy="568821"/>
          </a:xfrm>
          <a:prstGeom prst="parallelogram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...y su índice de columna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4EDF4C-3928-3FEB-56CD-9AE9FD6180A2}"/>
              </a:ext>
            </a:extLst>
          </p:cNvPr>
          <p:cNvSpPr/>
          <p:nvPr/>
        </p:nvSpPr>
        <p:spPr>
          <a:xfrm rot="10800000">
            <a:off x="6747300" y="4274962"/>
            <a:ext cx="350452" cy="958096"/>
          </a:xfrm>
          <a:custGeom>
            <a:avLst/>
            <a:gdLst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70535"/>
              <a:gd name="connsiteY0" fmla="*/ 0 h 567890"/>
              <a:gd name="connsiteX1" fmla="*/ 1270535 w 1270535"/>
              <a:gd name="connsiteY1" fmla="*/ 567890 h 567890"/>
              <a:gd name="connsiteX0" fmla="*/ 0 w 1288830"/>
              <a:gd name="connsiteY0" fmla="*/ 0 h 710070"/>
              <a:gd name="connsiteX1" fmla="*/ 1288830 w 1288830"/>
              <a:gd name="connsiteY1" fmla="*/ 710070 h 710070"/>
              <a:gd name="connsiteX0" fmla="*/ 0 w 1288830"/>
              <a:gd name="connsiteY0" fmla="*/ 0 h 710070"/>
              <a:gd name="connsiteX1" fmla="*/ 1288830 w 1288830"/>
              <a:gd name="connsiteY1" fmla="*/ 710070 h 710070"/>
              <a:gd name="connsiteX0" fmla="*/ 0 w 1288830"/>
              <a:gd name="connsiteY0" fmla="*/ 0 h 710070"/>
              <a:gd name="connsiteX1" fmla="*/ 1288830 w 1288830"/>
              <a:gd name="connsiteY1" fmla="*/ 710070 h 710070"/>
              <a:gd name="connsiteX0" fmla="*/ 0 w 1809204"/>
              <a:gd name="connsiteY0" fmla="*/ 285419 h 285444"/>
              <a:gd name="connsiteX1" fmla="*/ 1809204 w 1809204"/>
              <a:gd name="connsiteY1" fmla="*/ 203796 h 285444"/>
              <a:gd name="connsiteX0" fmla="*/ 0 w 1425005"/>
              <a:gd name="connsiteY0" fmla="*/ 0 h 3283506"/>
              <a:gd name="connsiteX1" fmla="*/ 1425005 w 1425005"/>
              <a:gd name="connsiteY1" fmla="*/ 3283506 h 3283506"/>
              <a:gd name="connsiteX0" fmla="*/ 0 w 1425005"/>
              <a:gd name="connsiteY0" fmla="*/ 0 h 3283506"/>
              <a:gd name="connsiteX1" fmla="*/ 1425005 w 1425005"/>
              <a:gd name="connsiteY1" fmla="*/ 3283506 h 3283506"/>
              <a:gd name="connsiteX0" fmla="*/ 0 w 1113989"/>
              <a:gd name="connsiteY0" fmla="*/ 19229 h 2387586"/>
              <a:gd name="connsiteX1" fmla="*/ 1113989 w 1113989"/>
              <a:gd name="connsiteY1" fmla="*/ 2387586 h 2387586"/>
              <a:gd name="connsiteX0" fmla="*/ 13515 w 1127504"/>
              <a:gd name="connsiteY0" fmla="*/ -1 h 2368356"/>
              <a:gd name="connsiteX1" fmla="*/ 1127504 w 1127504"/>
              <a:gd name="connsiteY1" fmla="*/ 2368356 h 2368356"/>
              <a:gd name="connsiteX0" fmla="*/ 843975 w 843975"/>
              <a:gd name="connsiteY0" fmla="*/ 0 h 2629828"/>
              <a:gd name="connsiteX1" fmla="*/ 386 w 843975"/>
              <a:gd name="connsiteY1" fmla="*/ 2629828 h 2629828"/>
              <a:gd name="connsiteX0" fmla="*/ 843986 w 843986"/>
              <a:gd name="connsiteY0" fmla="*/ 0 h 2629828"/>
              <a:gd name="connsiteX1" fmla="*/ 397 w 843986"/>
              <a:gd name="connsiteY1" fmla="*/ 2629828 h 2629828"/>
              <a:gd name="connsiteX0" fmla="*/ 843589 w 843589"/>
              <a:gd name="connsiteY0" fmla="*/ 0 h 2629828"/>
              <a:gd name="connsiteX1" fmla="*/ 0 w 843589"/>
              <a:gd name="connsiteY1" fmla="*/ 2629828 h 2629828"/>
              <a:gd name="connsiteX0" fmla="*/ 843589 w 843589"/>
              <a:gd name="connsiteY0" fmla="*/ 0 h 2629828"/>
              <a:gd name="connsiteX1" fmla="*/ 0 w 843589"/>
              <a:gd name="connsiteY1" fmla="*/ 2629828 h 2629828"/>
              <a:gd name="connsiteX0" fmla="*/ 843589 w 843589"/>
              <a:gd name="connsiteY0" fmla="*/ 0 h 2629828"/>
              <a:gd name="connsiteX1" fmla="*/ 0 w 843589"/>
              <a:gd name="connsiteY1" fmla="*/ 2629828 h 2629828"/>
              <a:gd name="connsiteX0" fmla="*/ 624047 w 624047"/>
              <a:gd name="connsiteY0" fmla="*/ 0 h 2682124"/>
              <a:gd name="connsiteX1" fmla="*/ 0 w 624047"/>
              <a:gd name="connsiteY1" fmla="*/ 2682124 h 268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4047" h="2682124">
                <a:moveTo>
                  <a:pt x="624047" y="0"/>
                </a:moveTo>
                <a:cubicBezTo>
                  <a:pt x="522588" y="1285636"/>
                  <a:pt x="200291" y="1579357"/>
                  <a:pt x="0" y="2682124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049E09-47AE-2A0C-D6CD-4B27840BC6F9}"/>
              </a:ext>
            </a:extLst>
          </p:cNvPr>
          <p:cNvGrpSpPr/>
          <p:nvPr/>
        </p:nvGrpSpPr>
        <p:grpSpPr>
          <a:xfrm>
            <a:off x="6747299" y="1455141"/>
            <a:ext cx="1451476" cy="1342665"/>
            <a:chOff x="6747299" y="1455141"/>
            <a:chExt cx="1451476" cy="1342665"/>
          </a:xfrm>
        </p:grpSpPr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14A20FDD-FDA9-3320-F194-9EB192BAF7D6}"/>
                </a:ext>
              </a:extLst>
            </p:cNvPr>
            <p:cNvSpPr/>
            <p:nvPr/>
          </p:nvSpPr>
          <p:spPr>
            <a:xfrm>
              <a:off x="6747299" y="1455141"/>
              <a:ext cx="1451476" cy="401939"/>
            </a:xfrm>
            <a:prstGeom prst="rightArrow">
              <a:avLst>
                <a:gd name="adj1" fmla="val 50000"/>
                <a:gd name="adj2" fmla="val 56136"/>
              </a:avLst>
            </a:prstGeom>
            <a:solidFill>
              <a:srgbClr val="D62A29"/>
            </a:solidFill>
            <a:ln w="285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769D7EB1-6CC1-0E6D-A117-F6366D7CB6AA}"/>
                </a:ext>
              </a:extLst>
            </p:cNvPr>
            <p:cNvSpPr/>
            <p:nvPr/>
          </p:nvSpPr>
          <p:spPr>
            <a:xfrm>
              <a:off x="6747299" y="1924534"/>
              <a:ext cx="1451476" cy="401939"/>
            </a:xfrm>
            <a:prstGeom prst="rightArrow">
              <a:avLst>
                <a:gd name="adj1" fmla="val 50000"/>
                <a:gd name="adj2" fmla="val 56136"/>
              </a:avLst>
            </a:prstGeom>
            <a:solidFill>
              <a:srgbClr val="D62A29"/>
            </a:solidFill>
            <a:ln w="285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50A4AE12-85A8-9C06-30A7-F6CE5E732E66}"/>
                </a:ext>
              </a:extLst>
            </p:cNvPr>
            <p:cNvSpPr/>
            <p:nvPr/>
          </p:nvSpPr>
          <p:spPr>
            <a:xfrm>
              <a:off x="6747299" y="2395867"/>
              <a:ext cx="1451476" cy="401939"/>
            </a:xfrm>
            <a:prstGeom prst="rightArrow">
              <a:avLst>
                <a:gd name="adj1" fmla="val 50000"/>
                <a:gd name="adj2" fmla="val 56136"/>
              </a:avLst>
            </a:prstGeom>
            <a:solidFill>
              <a:srgbClr val="D62A29"/>
            </a:solidFill>
            <a:ln w="285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C963FC5-9893-EEDE-F31E-6E75D8FB8CFA}"/>
              </a:ext>
            </a:extLst>
          </p:cNvPr>
          <p:cNvGrpSpPr/>
          <p:nvPr/>
        </p:nvGrpSpPr>
        <p:grpSpPr>
          <a:xfrm rot="5400000">
            <a:off x="3889277" y="5031067"/>
            <a:ext cx="1451476" cy="1342665"/>
            <a:chOff x="6747299" y="1455141"/>
            <a:chExt cx="1451476" cy="1342665"/>
          </a:xfrm>
          <a:solidFill>
            <a:srgbClr val="003048"/>
          </a:solidFill>
        </p:grpSpPr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0F6FFE2E-DCBB-DFDD-E6BA-9446B5713D7B}"/>
                </a:ext>
              </a:extLst>
            </p:cNvPr>
            <p:cNvSpPr/>
            <p:nvPr/>
          </p:nvSpPr>
          <p:spPr>
            <a:xfrm>
              <a:off x="6747299" y="1455141"/>
              <a:ext cx="1451476" cy="401939"/>
            </a:xfrm>
            <a:prstGeom prst="rightArrow">
              <a:avLst>
                <a:gd name="adj1" fmla="val 50000"/>
                <a:gd name="adj2" fmla="val 56136"/>
              </a:avLst>
            </a:prstGeom>
            <a:grpFill/>
            <a:ln w="285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83A92547-320F-14D9-E52C-E6629057454D}"/>
                </a:ext>
              </a:extLst>
            </p:cNvPr>
            <p:cNvSpPr/>
            <p:nvPr/>
          </p:nvSpPr>
          <p:spPr>
            <a:xfrm>
              <a:off x="6747299" y="1924534"/>
              <a:ext cx="1451476" cy="401939"/>
            </a:xfrm>
            <a:prstGeom prst="rightArrow">
              <a:avLst>
                <a:gd name="adj1" fmla="val 50000"/>
                <a:gd name="adj2" fmla="val 56136"/>
              </a:avLst>
            </a:prstGeom>
            <a:grpFill/>
            <a:ln w="285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1D98D438-3216-8186-ABCC-67A36D0C212F}"/>
                </a:ext>
              </a:extLst>
            </p:cNvPr>
            <p:cNvSpPr/>
            <p:nvPr/>
          </p:nvSpPr>
          <p:spPr>
            <a:xfrm>
              <a:off x="6747299" y="2395867"/>
              <a:ext cx="1451476" cy="401939"/>
            </a:xfrm>
            <a:prstGeom prst="rightArrow">
              <a:avLst>
                <a:gd name="adj1" fmla="val 50000"/>
                <a:gd name="adj2" fmla="val 56136"/>
              </a:avLst>
            </a:prstGeom>
            <a:grpFill/>
            <a:ln w="2857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151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0CD3C-DDD8-41F2-A0D4-A9B416F28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Acceso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863586-458B-A76A-505D-5177333991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A6244-AF8A-7575-49E3-856BF047E9D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Recorrido de arreglos bidimensionales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F8A0D11-4AEE-966A-28E9-39C03B82E89C}"/>
              </a:ext>
            </a:extLst>
          </p:cNvPr>
          <p:cNvGrpSpPr/>
          <p:nvPr/>
        </p:nvGrpSpPr>
        <p:grpSpPr>
          <a:xfrm>
            <a:off x="1813646" y="2395035"/>
            <a:ext cx="2841380" cy="2843535"/>
            <a:chOff x="6561213" y="2037869"/>
            <a:chExt cx="3826869" cy="3829772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C72FA62-4892-5CBD-55D8-CAAC12F7E1A6}"/>
                </a:ext>
              </a:extLst>
            </p:cNvPr>
            <p:cNvSpPr/>
            <p:nvPr/>
          </p:nvSpPr>
          <p:spPr>
            <a:xfrm>
              <a:off x="6561213" y="2037870"/>
              <a:ext cx="1272209" cy="1272209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3200" dirty="0">
                  <a:solidFill>
                    <a:srgbClr val="FFFF00"/>
                  </a:solidFill>
                </a:rPr>
                <a:t>15</a:t>
              </a:r>
            </a:p>
          </p:txBody>
        </p:sp>
        <p:sp>
          <p:nvSpPr>
            <p:cNvPr id="8" name="Rectángulo 10">
              <a:extLst>
                <a:ext uri="{FF2B5EF4-FFF2-40B4-BE49-F238E27FC236}">
                  <a16:creationId xmlns:a16="http://schemas.microsoft.com/office/drawing/2014/main" id="{0D35C4A5-D3AE-03F0-79F9-8FF903EBCCCC}"/>
                </a:ext>
              </a:extLst>
            </p:cNvPr>
            <p:cNvSpPr/>
            <p:nvPr/>
          </p:nvSpPr>
          <p:spPr>
            <a:xfrm>
              <a:off x="7838543" y="2039418"/>
              <a:ext cx="1272209" cy="1272209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3200" dirty="0">
                  <a:solidFill>
                    <a:srgbClr val="FFFF00"/>
                  </a:solidFill>
                </a:rPr>
                <a:t>10</a:t>
              </a:r>
            </a:p>
          </p:txBody>
        </p:sp>
        <p:sp>
          <p:nvSpPr>
            <p:cNvPr id="9" name="Rectángulo 11">
              <a:extLst>
                <a:ext uri="{FF2B5EF4-FFF2-40B4-BE49-F238E27FC236}">
                  <a16:creationId xmlns:a16="http://schemas.microsoft.com/office/drawing/2014/main" id="{EDD9DF79-D2C7-B467-586C-68D9E519F062}"/>
                </a:ext>
              </a:extLst>
            </p:cNvPr>
            <p:cNvSpPr/>
            <p:nvPr/>
          </p:nvSpPr>
          <p:spPr>
            <a:xfrm>
              <a:off x="9115873" y="2037869"/>
              <a:ext cx="1272209" cy="1272209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3200" dirty="0">
                  <a:solidFill>
                    <a:srgbClr val="FFFF00"/>
                  </a:solidFill>
                </a:rPr>
                <a:t>0</a:t>
              </a:r>
            </a:p>
          </p:txBody>
        </p:sp>
        <p:sp>
          <p:nvSpPr>
            <p:cNvPr id="10" name="Rectángulo 18">
              <a:extLst>
                <a:ext uri="{FF2B5EF4-FFF2-40B4-BE49-F238E27FC236}">
                  <a16:creationId xmlns:a16="http://schemas.microsoft.com/office/drawing/2014/main" id="{289EF50E-E07F-7FD6-BBF2-39D70D78097A}"/>
                </a:ext>
              </a:extLst>
            </p:cNvPr>
            <p:cNvSpPr/>
            <p:nvPr/>
          </p:nvSpPr>
          <p:spPr>
            <a:xfrm>
              <a:off x="6561213" y="3315877"/>
              <a:ext cx="1272209" cy="1272209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3200" dirty="0">
                  <a:solidFill>
                    <a:srgbClr val="FFFF00"/>
                  </a:solidFill>
                </a:rPr>
                <a:t>7</a:t>
              </a:r>
            </a:p>
          </p:txBody>
        </p:sp>
        <p:sp>
          <p:nvSpPr>
            <p:cNvPr id="11" name="Rectángulo 19">
              <a:extLst>
                <a:ext uri="{FF2B5EF4-FFF2-40B4-BE49-F238E27FC236}">
                  <a16:creationId xmlns:a16="http://schemas.microsoft.com/office/drawing/2014/main" id="{E2E0A84E-CFC3-F7CA-A529-1004B376C486}"/>
                </a:ext>
              </a:extLst>
            </p:cNvPr>
            <p:cNvSpPr/>
            <p:nvPr/>
          </p:nvSpPr>
          <p:spPr>
            <a:xfrm>
              <a:off x="7838543" y="3317425"/>
              <a:ext cx="1272209" cy="1272209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3200" dirty="0">
                  <a:solidFill>
                    <a:srgbClr val="FFFF00"/>
                  </a:solidFill>
                </a:rPr>
                <a:t>3</a:t>
              </a:r>
            </a:p>
          </p:txBody>
        </p:sp>
        <p:sp>
          <p:nvSpPr>
            <p:cNvPr id="12" name="Rectángulo 20">
              <a:extLst>
                <a:ext uri="{FF2B5EF4-FFF2-40B4-BE49-F238E27FC236}">
                  <a16:creationId xmlns:a16="http://schemas.microsoft.com/office/drawing/2014/main" id="{C955104A-CCCE-0911-8C44-E5B218494523}"/>
                </a:ext>
              </a:extLst>
            </p:cNvPr>
            <p:cNvSpPr/>
            <p:nvPr/>
          </p:nvSpPr>
          <p:spPr>
            <a:xfrm>
              <a:off x="9115873" y="3315876"/>
              <a:ext cx="1272209" cy="1272209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3200" dirty="0">
                  <a:solidFill>
                    <a:srgbClr val="FFFF00"/>
                  </a:solidFill>
                </a:rPr>
                <a:t>16</a:t>
              </a:r>
            </a:p>
          </p:txBody>
        </p:sp>
        <p:sp>
          <p:nvSpPr>
            <p:cNvPr id="13" name="Rectángulo 21">
              <a:extLst>
                <a:ext uri="{FF2B5EF4-FFF2-40B4-BE49-F238E27FC236}">
                  <a16:creationId xmlns:a16="http://schemas.microsoft.com/office/drawing/2014/main" id="{1FF98822-55A5-9F21-8BE5-86B7996DA52C}"/>
                </a:ext>
              </a:extLst>
            </p:cNvPr>
            <p:cNvSpPr/>
            <p:nvPr/>
          </p:nvSpPr>
          <p:spPr>
            <a:xfrm>
              <a:off x="6561213" y="4593884"/>
              <a:ext cx="1272209" cy="1272209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3200" dirty="0">
                  <a:solidFill>
                    <a:srgbClr val="FFFF00"/>
                  </a:solidFill>
                </a:rPr>
                <a:t>9</a:t>
              </a:r>
            </a:p>
          </p:txBody>
        </p:sp>
        <p:sp>
          <p:nvSpPr>
            <p:cNvPr id="14" name="Rectángulo 22">
              <a:extLst>
                <a:ext uri="{FF2B5EF4-FFF2-40B4-BE49-F238E27FC236}">
                  <a16:creationId xmlns:a16="http://schemas.microsoft.com/office/drawing/2014/main" id="{185750FD-F3D2-FA05-15F9-F0260D3CD659}"/>
                </a:ext>
              </a:extLst>
            </p:cNvPr>
            <p:cNvSpPr/>
            <p:nvPr/>
          </p:nvSpPr>
          <p:spPr>
            <a:xfrm>
              <a:off x="7838543" y="4595432"/>
              <a:ext cx="1272209" cy="1272209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3200" dirty="0">
                  <a:solidFill>
                    <a:srgbClr val="FFFF00"/>
                  </a:solidFill>
                </a:rPr>
                <a:t>20</a:t>
              </a:r>
            </a:p>
          </p:txBody>
        </p:sp>
        <p:sp>
          <p:nvSpPr>
            <p:cNvPr id="15" name="Rectángulo 23">
              <a:extLst>
                <a:ext uri="{FF2B5EF4-FFF2-40B4-BE49-F238E27FC236}">
                  <a16:creationId xmlns:a16="http://schemas.microsoft.com/office/drawing/2014/main" id="{1434547A-09A2-6C1F-7384-4A7CF165A4EE}"/>
                </a:ext>
              </a:extLst>
            </p:cNvPr>
            <p:cNvSpPr/>
            <p:nvPr/>
          </p:nvSpPr>
          <p:spPr>
            <a:xfrm>
              <a:off x="9115873" y="4593883"/>
              <a:ext cx="1272209" cy="1272209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3200" dirty="0">
                  <a:solidFill>
                    <a:srgbClr val="FFFF00"/>
                  </a:solidFill>
                </a:rPr>
                <a:t>8</a:t>
              </a:r>
            </a:p>
          </p:txBody>
        </p:sp>
      </p:grp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63F645DC-7CD2-23D6-2AD3-B58EA2D314C6}"/>
              </a:ext>
            </a:extLst>
          </p:cNvPr>
          <p:cNvSpPr/>
          <p:nvPr/>
        </p:nvSpPr>
        <p:spPr>
          <a:xfrm>
            <a:off x="1808130" y="1877872"/>
            <a:ext cx="2846896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dirty="0">
                <a:solidFill>
                  <a:schemeClr val="bg1">
                    <a:lumMod val="50000"/>
                  </a:schemeClr>
                </a:solidFill>
              </a:rPr>
              <a:t>0             1             2</a:t>
            </a:r>
          </a:p>
        </p:txBody>
      </p:sp>
      <p:sp>
        <p:nvSpPr>
          <p:cNvPr id="18" name="Rectángulo: esquinas redondeadas 15">
            <a:extLst>
              <a:ext uri="{FF2B5EF4-FFF2-40B4-BE49-F238E27FC236}">
                <a16:creationId xmlns:a16="http://schemas.microsoft.com/office/drawing/2014/main" id="{DD70AB8C-B012-2E42-A50D-DA995141FE3E}"/>
              </a:ext>
            </a:extLst>
          </p:cNvPr>
          <p:cNvSpPr/>
          <p:nvPr/>
        </p:nvSpPr>
        <p:spPr>
          <a:xfrm>
            <a:off x="1361832" y="2636498"/>
            <a:ext cx="360867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dirty="0">
                <a:solidFill>
                  <a:schemeClr val="bg1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19" name="Rectángulo: esquinas redondeadas 15">
            <a:extLst>
              <a:ext uri="{FF2B5EF4-FFF2-40B4-BE49-F238E27FC236}">
                <a16:creationId xmlns:a16="http://schemas.microsoft.com/office/drawing/2014/main" id="{161A8812-D248-E288-7EE9-D16B26C8CDE6}"/>
              </a:ext>
            </a:extLst>
          </p:cNvPr>
          <p:cNvSpPr/>
          <p:nvPr/>
        </p:nvSpPr>
        <p:spPr>
          <a:xfrm>
            <a:off x="1341104" y="3585395"/>
            <a:ext cx="360867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20" name="Rectángulo: esquinas redondeadas 15">
            <a:extLst>
              <a:ext uri="{FF2B5EF4-FFF2-40B4-BE49-F238E27FC236}">
                <a16:creationId xmlns:a16="http://schemas.microsoft.com/office/drawing/2014/main" id="{31720709-03B2-903F-FE48-DBA555C4FAB5}"/>
              </a:ext>
            </a:extLst>
          </p:cNvPr>
          <p:cNvSpPr/>
          <p:nvPr/>
        </p:nvSpPr>
        <p:spPr>
          <a:xfrm>
            <a:off x="1341103" y="4546073"/>
            <a:ext cx="360867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EA413348-F80B-32AC-21AD-BAAC44E3A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158" y="2682575"/>
            <a:ext cx="2512180" cy="415588"/>
          </a:xfrm>
          <a:prstGeom prst="roundRect">
            <a:avLst>
              <a:gd name="adj" fmla="val 7783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CF053B25-B5DD-BDDC-EC2B-C2E5519B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2671" y="3782301"/>
            <a:ext cx="2512180" cy="415588"/>
          </a:xfrm>
          <a:prstGeom prst="roundRect">
            <a:avLst>
              <a:gd name="adj" fmla="val 7783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6D8DF717-ED81-23CE-7B0C-18681849C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2670" y="4706330"/>
            <a:ext cx="2512180" cy="415588"/>
          </a:xfrm>
          <a:prstGeom prst="roundRect">
            <a:avLst>
              <a:gd name="adj" fmla="val 7783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5" name="Rectángulo 10">
            <a:extLst>
              <a:ext uri="{FF2B5EF4-FFF2-40B4-BE49-F238E27FC236}">
                <a16:creationId xmlns:a16="http://schemas.microsoft.com/office/drawing/2014/main" id="{D140B19A-A3DB-98F9-D049-A4E944A9B170}"/>
              </a:ext>
            </a:extLst>
          </p:cNvPr>
          <p:cNvSpPr/>
          <p:nvPr/>
        </p:nvSpPr>
        <p:spPr>
          <a:xfrm>
            <a:off x="8086934" y="2395035"/>
            <a:ext cx="944592" cy="944592"/>
          </a:xfrm>
          <a:prstGeom prst="rect">
            <a:avLst/>
          </a:prstGeom>
          <a:solidFill>
            <a:srgbClr val="00B0F0"/>
          </a:solidFill>
          <a:ln w="1905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3200" dirty="0">
                <a:solidFill>
                  <a:srgbClr val="FFFF00"/>
                </a:solidFill>
              </a:rPr>
              <a:t>10</a:t>
            </a:r>
          </a:p>
        </p:txBody>
      </p:sp>
      <p:sp>
        <p:nvSpPr>
          <p:cNvPr id="26" name="Rectángulo 10">
            <a:extLst>
              <a:ext uri="{FF2B5EF4-FFF2-40B4-BE49-F238E27FC236}">
                <a16:creationId xmlns:a16="http://schemas.microsoft.com/office/drawing/2014/main" id="{9B88CF18-11C7-42EB-EB0C-BFD0195E0582}"/>
              </a:ext>
            </a:extLst>
          </p:cNvPr>
          <p:cNvSpPr/>
          <p:nvPr/>
        </p:nvSpPr>
        <p:spPr>
          <a:xfrm>
            <a:off x="8086934" y="3523172"/>
            <a:ext cx="944592" cy="944592"/>
          </a:xfrm>
          <a:prstGeom prst="rect">
            <a:avLst/>
          </a:prstGeom>
          <a:solidFill>
            <a:srgbClr val="00B0F0"/>
          </a:solidFill>
          <a:ln w="1905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3200" dirty="0">
                <a:solidFill>
                  <a:srgbClr val="FFFF00"/>
                </a:solidFill>
              </a:rPr>
              <a:t>16</a:t>
            </a:r>
          </a:p>
        </p:txBody>
      </p:sp>
      <p:sp>
        <p:nvSpPr>
          <p:cNvPr id="27" name="Rectángulo 10">
            <a:extLst>
              <a:ext uri="{FF2B5EF4-FFF2-40B4-BE49-F238E27FC236}">
                <a16:creationId xmlns:a16="http://schemas.microsoft.com/office/drawing/2014/main" id="{88FDEF09-26FF-8171-83AB-4C92813D31E7}"/>
              </a:ext>
            </a:extLst>
          </p:cNvPr>
          <p:cNvSpPr/>
          <p:nvPr/>
        </p:nvSpPr>
        <p:spPr>
          <a:xfrm>
            <a:off x="8086599" y="4689287"/>
            <a:ext cx="3367110" cy="428754"/>
          </a:xfrm>
          <a:prstGeom prst="rect">
            <a:avLst/>
          </a:prstGeom>
          <a:solidFill>
            <a:srgbClr val="C0000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600" dirty="0" err="1">
                <a:solidFill>
                  <a:schemeClr val="bg1"/>
                </a:solidFill>
              </a:rPr>
              <a:t>ArrayIndexOutOfBoundsException</a:t>
            </a:r>
            <a:endParaRPr lang="es-419" sz="1600" dirty="0">
              <a:solidFill>
                <a:schemeClr val="bg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28D7C79-9461-8C3C-FD19-E4B106625CEA}"/>
              </a:ext>
            </a:extLst>
          </p:cNvPr>
          <p:cNvCxnSpPr>
            <a:cxnSpLocks/>
          </p:cNvCxnSpPr>
          <p:nvPr/>
        </p:nvCxnSpPr>
        <p:spPr>
          <a:xfrm>
            <a:off x="7607185" y="2867330"/>
            <a:ext cx="377072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F6E6BEF-FB81-1DC5-A8CB-A3D2523724DE}"/>
              </a:ext>
            </a:extLst>
          </p:cNvPr>
          <p:cNvCxnSpPr>
            <a:cxnSpLocks/>
          </p:cNvCxnSpPr>
          <p:nvPr/>
        </p:nvCxnSpPr>
        <p:spPr>
          <a:xfrm>
            <a:off x="7607185" y="4009545"/>
            <a:ext cx="377072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2C77BB4-A0E4-E768-52C4-4DBA92C6A8ED}"/>
              </a:ext>
            </a:extLst>
          </p:cNvPr>
          <p:cNvCxnSpPr>
            <a:cxnSpLocks/>
          </p:cNvCxnSpPr>
          <p:nvPr/>
        </p:nvCxnSpPr>
        <p:spPr>
          <a:xfrm>
            <a:off x="7607185" y="4906663"/>
            <a:ext cx="377072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: esquinas redondeadas 15">
            <a:extLst>
              <a:ext uri="{FF2B5EF4-FFF2-40B4-BE49-F238E27FC236}">
                <a16:creationId xmlns:a16="http://schemas.microsoft.com/office/drawing/2014/main" id="{F52ED30E-5A9D-1D4E-1A17-338AA19DB985}"/>
              </a:ext>
            </a:extLst>
          </p:cNvPr>
          <p:cNvSpPr/>
          <p:nvPr/>
        </p:nvSpPr>
        <p:spPr>
          <a:xfrm>
            <a:off x="1808130" y="5232203"/>
            <a:ext cx="2846895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dirty="0">
                <a:solidFill>
                  <a:schemeClr val="bg1">
                    <a:lumMod val="50000"/>
                  </a:schemeClr>
                </a:solidFill>
              </a:rPr>
              <a:t>matriz</a:t>
            </a:r>
          </a:p>
        </p:txBody>
      </p:sp>
      <p:sp>
        <p:nvSpPr>
          <p:cNvPr id="17" name="Rectángulo: esquinas redondeadas 15">
            <a:extLst>
              <a:ext uri="{FF2B5EF4-FFF2-40B4-BE49-F238E27FC236}">
                <a16:creationId xmlns:a16="http://schemas.microsoft.com/office/drawing/2014/main" id="{E97DDC5C-7489-F767-3F13-643B7F72ADC5}"/>
              </a:ext>
            </a:extLst>
          </p:cNvPr>
          <p:cNvSpPr/>
          <p:nvPr/>
        </p:nvSpPr>
        <p:spPr>
          <a:xfrm>
            <a:off x="5540237" y="1249232"/>
            <a:ext cx="2846895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dirty="0">
                <a:solidFill>
                  <a:schemeClr val="bg1">
                    <a:lumMod val="50000"/>
                  </a:schemeClr>
                </a:solidFill>
              </a:rPr>
              <a:t>fila    columna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9B09974-50A5-94D9-B608-D386934C0F50}"/>
              </a:ext>
            </a:extLst>
          </p:cNvPr>
          <p:cNvCxnSpPr/>
          <p:nvPr/>
        </p:nvCxnSpPr>
        <p:spPr>
          <a:xfrm>
            <a:off x="6476215" y="1673189"/>
            <a:ext cx="0" cy="925601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104BA98-8041-E130-36B6-AE2224C28F42}"/>
              </a:ext>
            </a:extLst>
          </p:cNvPr>
          <p:cNvCxnSpPr/>
          <p:nvPr/>
        </p:nvCxnSpPr>
        <p:spPr>
          <a:xfrm>
            <a:off x="6963684" y="1673189"/>
            <a:ext cx="0" cy="925601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02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EC2C-FE15-3E3A-5612-25DA2DD76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Acceso. Asignación.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51828D-A154-CB13-E1F3-FBE169857B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B1E3D99-21D8-D23B-B136-77923E423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4616" y="1858130"/>
            <a:ext cx="4088617" cy="1976240"/>
          </a:xfrm>
          <a:prstGeom prst="roundRect">
            <a:avLst>
              <a:gd name="adj" fmla="val 6678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[][]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78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370015-B712-BBA0-1AFB-33A43DEF10F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Recorrido de arreglos bidimensionales</a:t>
            </a: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F5D3BCCD-8DFA-3794-2AB6-DB568474B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643332"/>
              </p:ext>
            </p:extLst>
          </p:nvPr>
        </p:nvGraphicFramePr>
        <p:xfrm>
          <a:off x="7568651" y="3220359"/>
          <a:ext cx="2743200" cy="271154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33471969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99495208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81406044"/>
                    </a:ext>
                  </a:extLst>
                </a:gridCol>
              </a:tblGrid>
              <a:tr h="903847">
                <a:tc>
                  <a:txBody>
                    <a:bodyPr/>
                    <a:lstStyle/>
                    <a:p>
                      <a:pPr algn="ctr"/>
                      <a:r>
                        <a:rPr lang="es-ES" sz="3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3000" b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153293" marR="153293" marT="76647" marB="76647" anchor="ctr">
                    <a:lnL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33</a:t>
                      </a:r>
                      <a:endParaRPr lang="en-US" sz="3000" b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153293" marR="153293" marT="76647" marB="76647" anchor="ctr">
                    <a:lnL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F8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3000" b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153293" marR="153293" marT="76647" marB="76647" anchor="ctr">
                    <a:lnL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009267"/>
                  </a:ext>
                </a:extLst>
              </a:tr>
              <a:tr h="903847">
                <a:tc>
                  <a:txBody>
                    <a:bodyPr/>
                    <a:lstStyle/>
                    <a:p>
                      <a:pPr algn="ctr"/>
                      <a:r>
                        <a:rPr lang="es-ES" sz="3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18</a:t>
                      </a:r>
                      <a:endParaRPr lang="en-US" sz="3000" b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153293" marR="153293" marT="76647" marB="76647" anchor="ctr">
                    <a:lnL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F8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3000" b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153293" marR="153293" marT="76647" marB="76647" anchor="ctr">
                    <a:lnL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3000" b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153293" marR="153293" marT="76647" marB="76647" anchor="ctr">
                    <a:lnL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165108"/>
                  </a:ext>
                </a:extLst>
              </a:tr>
              <a:tr h="903847">
                <a:tc>
                  <a:txBody>
                    <a:bodyPr/>
                    <a:lstStyle/>
                    <a:p>
                      <a:pPr algn="ctr"/>
                      <a:r>
                        <a:rPr lang="es-ES" sz="3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3000" b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153293" marR="153293" marT="76647" marB="76647" anchor="ctr">
                    <a:lnL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en-US" sz="3000" b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153293" marR="153293" marT="76647" marB="76647" anchor="ctr">
                    <a:lnL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78</a:t>
                      </a:r>
                      <a:endParaRPr lang="en-US" sz="3000" b="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153293" marR="153293" marT="76647" marB="76647" anchor="ctr">
                    <a:lnL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F8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99682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B32E43A-452F-85E1-3671-2997F6410C76}"/>
              </a:ext>
            </a:extLst>
          </p:cNvPr>
          <p:cNvSpPr txBox="1"/>
          <p:nvPr/>
        </p:nvSpPr>
        <p:spPr>
          <a:xfrm>
            <a:off x="7705339" y="2856020"/>
            <a:ext cx="2469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  0                1                 2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1CC7C4-57B3-858C-997D-4FA99272B02C}"/>
              </a:ext>
            </a:extLst>
          </p:cNvPr>
          <p:cNvSpPr txBox="1"/>
          <p:nvPr/>
        </p:nvSpPr>
        <p:spPr>
          <a:xfrm>
            <a:off x="7191577" y="3601833"/>
            <a:ext cx="2977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0</a:t>
            </a:r>
          </a:p>
          <a:p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  <a:p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ángulo: esquinas redondeadas 15">
            <a:extLst>
              <a:ext uri="{FF2B5EF4-FFF2-40B4-BE49-F238E27FC236}">
                <a16:creationId xmlns:a16="http://schemas.microsoft.com/office/drawing/2014/main" id="{2D2577E6-4245-0375-C3A6-E7622D64FC6B}"/>
              </a:ext>
            </a:extLst>
          </p:cNvPr>
          <p:cNvSpPr/>
          <p:nvPr/>
        </p:nvSpPr>
        <p:spPr>
          <a:xfrm>
            <a:off x="1344831" y="4444918"/>
            <a:ext cx="2846895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dirty="0">
                <a:solidFill>
                  <a:schemeClr val="bg1">
                    <a:lumMod val="50000"/>
                  </a:schemeClr>
                </a:solidFill>
              </a:rPr>
              <a:t>fila    columna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001A3BC-C902-E3A9-7062-6FA1872F35A5}"/>
              </a:ext>
            </a:extLst>
          </p:cNvPr>
          <p:cNvGrpSpPr/>
          <p:nvPr/>
        </p:nvGrpSpPr>
        <p:grpSpPr>
          <a:xfrm flipV="1">
            <a:off x="2309090" y="3903279"/>
            <a:ext cx="364918" cy="607628"/>
            <a:chOff x="2960017" y="6056653"/>
            <a:chExt cx="364918" cy="925601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2518B71-074D-B7A6-439D-9B82D80EF4BA}"/>
                </a:ext>
              </a:extLst>
            </p:cNvPr>
            <p:cNvCxnSpPr/>
            <p:nvPr/>
          </p:nvCxnSpPr>
          <p:spPr>
            <a:xfrm>
              <a:off x="2960017" y="6056653"/>
              <a:ext cx="0" cy="925601"/>
            </a:xfrm>
            <a:prstGeom prst="straightConnector1">
              <a:avLst/>
            </a:prstGeom>
            <a:ln w="28575">
              <a:solidFill>
                <a:schemeClr val="accent2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FCE9AD8-E524-0890-2AB4-FD5D657844AB}"/>
                </a:ext>
              </a:extLst>
            </p:cNvPr>
            <p:cNvCxnSpPr/>
            <p:nvPr/>
          </p:nvCxnSpPr>
          <p:spPr>
            <a:xfrm>
              <a:off x="3324935" y="6056653"/>
              <a:ext cx="0" cy="925601"/>
            </a:xfrm>
            <a:prstGeom prst="straightConnector1">
              <a:avLst/>
            </a:prstGeom>
            <a:ln w="28575">
              <a:solidFill>
                <a:schemeClr val="accent2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8C8BD09-A2B8-0205-6DCA-35929A6787E0}"/>
              </a:ext>
            </a:extLst>
          </p:cNvPr>
          <p:cNvSpPr/>
          <p:nvPr/>
        </p:nvSpPr>
        <p:spPr>
          <a:xfrm>
            <a:off x="5786752" y="3584901"/>
            <a:ext cx="1216843" cy="401939"/>
          </a:xfrm>
          <a:prstGeom prst="rightArrow">
            <a:avLst>
              <a:gd name="adj1" fmla="val 50000"/>
              <a:gd name="adj2" fmla="val 56136"/>
            </a:avLst>
          </a:prstGeom>
          <a:solidFill>
            <a:srgbClr val="D62A29"/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fila</a:t>
            </a:r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063517E-BF10-C618-0F91-6FAFFEB5E339}"/>
              </a:ext>
            </a:extLst>
          </p:cNvPr>
          <p:cNvSpPr/>
          <p:nvPr/>
        </p:nvSpPr>
        <p:spPr>
          <a:xfrm rot="16200000" flipH="1">
            <a:off x="7251296" y="1652567"/>
            <a:ext cx="1479705" cy="401939"/>
          </a:xfrm>
          <a:prstGeom prst="rightArrow">
            <a:avLst>
              <a:gd name="adj1" fmla="val 50000"/>
              <a:gd name="adj2" fmla="val 56136"/>
            </a:avLst>
          </a:prstGeom>
          <a:solidFill>
            <a:srgbClr val="003048"/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columna</a:t>
            </a:r>
            <a:endParaRPr lang="en-US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08EB80F-1607-67C0-B939-65D8778278C1}"/>
              </a:ext>
            </a:extLst>
          </p:cNvPr>
          <p:cNvSpPr/>
          <p:nvPr/>
        </p:nvSpPr>
        <p:spPr>
          <a:xfrm>
            <a:off x="5786752" y="4474780"/>
            <a:ext cx="1216843" cy="401939"/>
          </a:xfrm>
          <a:prstGeom prst="rightArrow">
            <a:avLst>
              <a:gd name="adj1" fmla="val 50000"/>
              <a:gd name="adj2" fmla="val 56136"/>
            </a:avLst>
          </a:prstGeom>
          <a:solidFill>
            <a:srgbClr val="D62A29"/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fila</a:t>
            </a:r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0CACB34-360B-D266-F4AF-42D40223FCE2}"/>
              </a:ext>
            </a:extLst>
          </p:cNvPr>
          <p:cNvSpPr/>
          <p:nvPr/>
        </p:nvSpPr>
        <p:spPr>
          <a:xfrm>
            <a:off x="5786752" y="5266303"/>
            <a:ext cx="1216843" cy="401939"/>
          </a:xfrm>
          <a:prstGeom prst="rightArrow">
            <a:avLst>
              <a:gd name="adj1" fmla="val 50000"/>
              <a:gd name="adj2" fmla="val 56136"/>
            </a:avLst>
          </a:prstGeom>
          <a:solidFill>
            <a:srgbClr val="D62A29"/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fila</a:t>
            </a:r>
            <a:endParaRPr lang="en-US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41F19D5-D373-E251-67DA-EB20D6AA65DA}"/>
              </a:ext>
            </a:extLst>
          </p:cNvPr>
          <p:cNvSpPr/>
          <p:nvPr/>
        </p:nvSpPr>
        <p:spPr>
          <a:xfrm rot="16200000" flipH="1">
            <a:off x="8200397" y="1652567"/>
            <a:ext cx="1479705" cy="401939"/>
          </a:xfrm>
          <a:prstGeom prst="rightArrow">
            <a:avLst>
              <a:gd name="adj1" fmla="val 50000"/>
              <a:gd name="adj2" fmla="val 56136"/>
            </a:avLst>
          </a:prstGeom>
          <a:solidFill>
            <a:srgbClr val="003048"/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columna</a:t>
            </a:r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09B59BB-5553-4BA6-54B1-064136FFC42A}"/>
              </a:ext>
            </a:extLst>
          </p:cNvPr>
          <p:cNvSpPr/>
          <p:nvPr/>
        </p:nvSpPr>
        <p:spPr>
          <a:xfrm rot="16200000" flipH="1">
            <a:off x="9081076" y="1652567"/>
            <a:ext cx="1479705" cy="401939"/>
          </a:xfrm>
          <a:prstGeom prst="rightArrow">
            <a:avLst>
              <a:gd name="adj1" fmla="val 50000"/>
              <a:gd name="adj2" fmla="val 56136"/>
            </a:avLst>
          </a:prstGeom>
          <a:solidFill>
            <a:srgbClr val="003048"/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columna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81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90B09-747E-5357-2A66-01D2FDC1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Recorrido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0E18FE-33D3-BD02-900C-D2A5B65BA9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9FC4B-CD08-37D0-E91C-CD719892D7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6856269" cy="4782911"/>
          </a:xfrm>
        </p:spPr>
        <p:txBody>
          <a:bodyPr/>
          <a:lstStyle/>
          <a:p>
            <a:r>
              <a:rPr lang="es-ES" u="sng" dirty="0">
                <a:latin typeface="+mj-lt"/>
              </a:rPr>
              <a:t>Recorremos una matriz utilizando estructuras repetitivas anidadas.</a:t>
            </a:r>
          </a:p>
          <a:p>
            <a:r>
              <a:rPr lang="es-ES" dirty="0">
                <a:latin typeface="+mj-lt"/>
              </a:rPr>
              <a:t>El bucle externo recorrerá una de las dimensiones, y el interno, la otra.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20D33B-0928-D4D1-ADEC-4A722C84C3F4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Recorrido de arreglos bidimensionales</a:t>
            </a:r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59752DEA-BBAA-C6E8-D8BD-1D745BFC6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613442"/>
              </p:ext>
            </p:extLst>
          </p:nvPr>
        </p:nvGraphicFramePr>
        <p:xfrm>
          <a:off x="9658308" y="2720474"/>
          <a:ext cx="1548867" cy="161744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16289">
                  <a:extLst>
                    <a:ext uri="{9D8B030D-6E8A-4147-A177-3AD203B41FA5}">
                      <a16:colId xmlns:a16="http://schemas.microsoft.com/office/drawing/2014/main" val="3347196983"/>
                    </a:ext>
                  </a:extLst>
                </a:gridCol>
                <a:gridCol w="516289">
                  <a:extLst>
                    <a:ext uri="{9D8B030D-6E8A-4147-A177-3AD203B41FA5}">
                      <a16:colId xmlns:a16="http://schemas.microsoft.com/office/drawing/2014/main" val="994952085"/>
                    </a:ext>
                  </a:extLst>
                </a:gridCol>
                <a:gridCol w="516289">
                  <a:extLst>
                    <a:ext uri="{9D8B030D-6E8A-4147-A177-3AD203B41FA5}">
                      <a16:colId xmlns:a16="http://schemas.microsoft.com/office/drawing/2014/main" val="4281406044"/>
                    </a:ext>
                  </a:extLst>
                </a:gridCol>
              </a:tblGrid>
              <a:tr h="539148"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18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29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009267"/>
                  </a:ext>
                </a:extLst>
              </a:tr>
              <a:tr h="539148"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64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165108"/>
                  </a:ext>
                </a:extLst>
              </a:tr>
              <a:tr h="539148"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81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37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9968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0EC3AE4-5977-4735-7318-2C1F39AAB311}"/>
              </a:ext>
            </a:extLst>
          </p:cNvPr>
          <p:cNvSpPr txBox="1"/>
          <p:nvPr/>
        </p:nvSpPr>
        <p:spPr>
          <a:xfrm>
            <a:off x="9658308" y="2362997"/>
            <a:ext cx="1548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  0        1        2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C8C83-7614-A9B3-E0F5-5C92595014C8}"/>
              </a:ext>
            </a:extLst>
          </p:cNvPr>
          <p:cNvSpPr txBox="1"/>
          <p:nvPr/>
        </p:nvSpPr>
        <p:spPr>
          <a:xfrm>
            <a:off x="9329383" y="2764339"/>
            <a:ext cx="284006" cy="1529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0</a:t>
            </a:r>
          </a:p>
          <a:p>
            <a:pPr>
              <a:lnSpc>
                <a:spcPct val="150000"/>
              </a:lnSpc>
            </a:pPr>
            <a:endParaRPr lang="es-ES" sz="11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  <a:p>
            <a:pPr>
              <a:lnSpc>
                <a:spcPct val="150000"/>
              </a:lnSpc>
            </a:pPr>
            <a:endParaRPr lang="es-ES" sz="11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93E34A-3772-ADDD-3846-B0C6E666EE85}"/>
              </a:ext>
            </a:extLst>
          </p:cNvPr>
          <p:cNvCxnSpPr>
            <a:cxnSpLocks/>
          </p:cNvCxnSpPr>
          <p:nvPr/>
        </p:nvCxnSpPr>
        <p:spPr>
          <a:xfrm flipH="1">
            <a:off x="9776091" y="3072116"/>
            <a:ext cx="1361975" cy="363189"/>
          </a:xfrm>
          <a:prstGeom prst="straightConnector1">
            <a:avLst/>
          </a:prstGeom>
          <a:ln w="190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D5ED74-4340-E1C5-5D28-E7D6372C85C3}"/>
              </a:ext>
            </a:extLst>
          </p:cNvPr>
          <p:cNvCxnSpPr>
            <a:cxnSpLocks/>
          </p:cNvCxnSpPr>
          <p:nvPr/>
        </p:nvCxnSpPr>
        <p:spPr>
          <a:xfrm>
            <a:off x="9776091" y="2999607"/>
            <a:ext cx="1371600" cy="0"/>
          </a:xfrm>
          <a:prstGeom prst="straightConnector1">
            <a:avLst/>
          </a:prstGeom>
          <a:ln w="19050">
            <a:solidFill>
              <a:schemeClr val="accent2"/>
            </a:solidFill>
            <a:headEnd type="oval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5CB2D51-4B49-42E7-4774-D00D77BAA8C5}"/>
              </a:ext>
            </a:extLst>
          </p:cNvPr>
          <p:cNvSpPr txBox="1"/>
          <p:nvPr/>
        </p:nvSpPr>
        <p:spPr>
          <a:xfrm>
            <a:off x="7837980" y="2764339"/>
            <a:ext cx="12619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1º Recorrido de filas (bucle externo)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370B9C-0207-75FC-5F3E-2CF5038F5636}"/>
              </a:ext>
            </a:extLst>
          </p:cNvPr>
          <p:cNvCxnSpPr>
            <a:cxnSpLocks/>
          </p:cNvCxnSpPr>
          <p:nvPr/>
        </p:nvCxnSpPr>
        <p:spPr>
          <a:xfrm>
            <a:off x="9776091" y="3519371"/>
            <a:ext cx="1371600" cy="0"/>
          </a:xfrm>
          <a:prstGeom prst="straightConnector1">
            <a:avLst/>
          </a:prstGeom>
          <a:ln w="190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DB58C2-DF5F-3D60-D908-9F2DF09B7C55}"/>
              </a:ext>
            </a:extLst>
          </p:cNvPr>
          <p:cNvCxnSpPr>
            <a:cxnSpLocks/>
          </p:cNvCxnSpPr>
          <p:nvPr/>
        </p:nvCxnSpPr>
        <p:spPr>
          <a:xfrm>
            <a:off x="9776091" y="4118863"/>
            <a:ext cx="1371600" cy="0"/>
          </a:xfrm>
          <a:prstGeom prst="straightConnector1">
            <a:avLst/>
          </a:prstGeom>
          <a:ln w="190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B7048D-4AAD-7499-6B41-711FA91F9EB8}"/>
              </a:ext>
            </a:extLst>
          </p:cNvPr>
          <p:cNvCxnSpPr>
            <a:cxnSpLocks/>
          </p:cNvCxnSpPr>
          <p:nvPr/>
        </p:nvCxnSpPr>
        <p:spPr>
          <a:xfrm flipH="1">
            <a:off x="9776090" y="3656765"/>
            <a:ext cx="1361975" cy="363189"/>
          </a:xfrm>
          <a:prstGeom prst="straightConnector1">
            <a:avLst/>
          </a:prstGeom>
          <a:ln w="190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C07CD13-EF65-358D-7695-F821E4A48974}"/>
              </a:ext>
            </a:extLst>
          </p:cNvPr>
          <p:cNvCxnSpPr>
            <a:cxnSpLocks/>
          </p:cNvCxnSpPr>
          <p:nvPr/>
        </p:nvCxnSpPr>
        <p:spPr>
          <a:xfrm>
            <a:off x="9687458" y="2279174"/>
            <a:ext cx="1371600" cy="0"/>
          </a:xfrm>
          <a:prstGeom prst="straightConnector1">
            <a:avLst/>
          </a:prstGeom>
          <a:ln w="190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FFAA388-0F27-5CC8-2CD0-7BF25398F5DD}"/>
              </a:ext>
            </a:extLst>
          </p:cNvPr>
          <p:cNvCxnSpPr>
            <a:cxnSpLocks/>
          </p:cNvCxnSpPr>
          <p:nvPr/>
        </p:nvCxnSpPr>
        <p:spPr>
          <a:xfrm>
            <a:off x="9199903" y="2764339"/>
            <a:ext cx="0" cy="1440987"/>
          </a:xfrm>
          <a:prstGeom prst="straightConnector1">
            <a:avLst/>
          </a:prstGeom>
          <a:ln w="190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E5AFCB0-E049-233A-C960-2132A6597164}"/>
              </a:ext>
            </a:extLst>
          </p:cNvPr>
          <p:cNvSpPr txBox="1"/>
          <p:nvPr/>
        </p:nvSpPr>
        <p:spPr>
          <a:xfrm>
            <a:off x="9199903" y="1215391"/>
            <a:ext cx="2718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B0F0"/>
                </a:solidFill>
              </a:rPr>
              <a:t>Flujo de iteración clásico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F83164-730D-6E10-5634-38CAE8E370B0}"/>
              </a:ext>
            </a:extLst>
          </p:cNvPr>
          <p:cNvSpPr txBox="1"/>
          <p:nvPr/>
        </p:nvSpPr>
        <p:spPr>
          <a:xfrm>
            <a:off x="9329383" y="1683625"/>
            <a:ext cx="2209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2º Recorrido de columnas (bucle interno)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E4A57745-5981-E78D-4366-0DC639E6C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417" y="3741938"/>
            <a:ext cx="5876294" cy="2607552"/>
          </a:xfrm>
          <a:prstGeom prst="roundRect">
            <a:avLst>
              <a:gd name="adj" fmla="val 3677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 {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29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{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64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{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37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},};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f &lt;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f++)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c &lt;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[0].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c++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"%2d 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[f][c]);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067F31-A754-6B20-FE14-DF810915C05F}"/>
              </a:ext>
            </a:extLst>
          </p:cNvPr>
          <p:cNvSpPr txBox="1"/>
          <p:nvPr/>
        </p:nvSpPr>
        <p:spPr>
          <a:xfrm>
            <a:off x="7998421" y="5287459"/>
            <a:ext cx="3208753" cy="73866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18  6 29 </a:t>
            </a: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64 11  7 </a:t>
            </a: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30 81 37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1CF9B3-D936-B457-A4DD-6DFBBB1AE9C3}"/>
              </a:ext>
            </a:extLst>
          </p:cNvPr>
          <p:cNvSpPr txBox="1"/>
          <p:nvPr/>
        </p:nvSpPr>
        <p:spPr>
          <a:xfrm>
            <a:off x="7982615" y="4885999"/>
            <a:ext cx="207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Salida: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272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90B09-747E-5357-2A66-01D2FDC1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Recorrido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0E18FE-33D3-BD02-900C-D2A5B65BA9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9FC4B-CD08-37D0-E91C-CD719892D7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6856269" cy="4782911"/>
          </a:xfrm>
        </p:spPr>
        <p:txBody>
          <a:bodyPr/>
          <a:lstStyle/>
          <a:p>
            <a:r>
              <a:rPr lang="es-ES" u="sng" dirty="0">
                <a:latin typeface="+mj-lt"/>
              </a:rPr>
              <a:t>Recorremos una matriz utilizando estructuras repetitivas anidadas.</a:t>
            </a:r>
          </a:p>
          <a:p>
            <a:r>
              <a:rPr lang="es-ES" dirty="0">
                <a:latin typeface="+mj-lt"/>
              </a:rPr>
              <a:t>El bucle externo recorrerá una de las dimensiones, y el interno, la otra.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20D33B-0928-D4D1-ADEC-4A722C84C3F4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Recorrido de arreglos bidimensionales</a:t>
            </a:r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59752DEA-BBAA-C6E8-D8BD-1D745BFC6638}"/>
              </a:ext>
            </a:extLst>
          </p:cNvPr>
          <p:cNvGraphicFramePr>
            <a:graphicFrameLocks noGrp="1"/>
          </p:cNvGraphicFramePr>
          <p:nvPr/>
        </p:nvGraphicFramePr>
        <p:xfrm>
          <a:off x="9658308" y="2720474"/>
          <a:ext cx="1548867" cy="161744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16289">
                  <a:extLst>
                    <a:ext uri="{9D8B030D-6E8A-4147-A177-3AD203B41FA5}">
                      <a16:colId xmlns:a16="http://schemas.microsoft.com/office/drawing/2014/main" val="3347196983"/>
                    </a:ext>
                  </a:extLst>
                </a:gridCol>
                <a:gridCol w="516289">
                  <a:extLst>
                    <a:ext uri="{9D8B030D-6E8A-4147-A177-3AD203B41FA5}">
                      <a16:colId xmlns:a16="http://schemas.microsoft.com/office/drawing/2014/main" val="994952085"/>
                    </a:ext>
                  </a:extLst>
                </a:gridCol>
                <a:gridCol w="516289">
                  <a:extLst>
                    <a:ext uri="{9D8B030D-6E8A-4147-A177-3AD203B41FA5}">
                      <a16:colId xmlns:a16="http://schemas.microsoft.com/office/drawing/2014/main" val="4281406044"/>
                    </a:ext>
                  </a:extLst>
                </a:gridCol>
              </a:tblGrid>
              <a:tr h="539148"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18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29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009267"/>
                  </a:ext>
                </a:extLst>
              </a:tr>
              <a:tr h="539148"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64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165108"/>
                  </a:ext>
                </a:extLst>
              </a:tr>
              <a:tr h="539148"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81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37</a:t>
                      </a:r>
                      <a:endParaRPr lang="en-US" sz="1800" b="0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9968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0EC3AE4-5977-4735-7318-2C1F39AAB311}"/>
              </a:ext>
            </a:extLst>
          </p:cNvPr>
          <p:cNvSpPr txBox="1"/>
          <p:nvPr/>
        </p:nvSpPr>
        <p:spPr>
          <a:xfrm>
            <a:off x="9658308" y="2362997"/>
            <a:ext cx="1548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  0        1        2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C8C83-7614-A9B3-E0F5-5C92595014C8}"/>
              </a:ext>
            </a:extLst>
          </p:cNvPr>
          <p:cNvSpPr txBox="1"/>
          <p:nvPr/>
        </p:nvSpPr>
        <p:spPr>
          <a:xfrm>
            <a:off x="9329383" y="2764339"/>
            <a:ext cx="284006" cy="1529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0</a:t>
            </a:r>
          </a:p>
          <a:p>
            <a:pPr>
              <a:lnSpc>
                <a:spcPct val="150000"/>
              </a:lnSpc>
            </a:pPr>
            <a:endParaRPr lang="es-ES" sz="11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  <a:p>
            <a:pPr>
              <a:lnSpc>
                <a:spcPct val="150000"/>
              </a:lnSpc>
            </a:pPr>
            <a:endParaRPr lang="es-ES" sz="11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CB2D51-4B49-42E7-4774-D00D77BAA8C5}"/>
              </a:ext>
            </a:extLst>
          </p:cNvPr>
          <p:cNvSpPr txBox="1"/>
          <p:nvPr/>
        </p:nvSpPr>
        <p:spPr>
          <a:xfrm>
            <a:off x="7837980" y="2764339"/>
            <a:ext cx="12619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2º Recorrido de filas (bucle externo)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1B0A0F-CA1F-5A70-E7C3-4D1E5D2AEB21}"/>
              </a:ext>
            </a:extLst>
          </p:cNvPr>
          <p:cNvGrpSpPr/>
          <p:nvPr/>
        </p:nvGrpSpPr>
        <p:grpSpPr>
          <a:xfrm rot="16200000" flipH="1">
            <a:off x="9776090" y="2999607"/>
            <a:ext cx="1371601" cy="1119256"/>
            <a:chOff x="9776090" y="2999607"/>
            <a:chExt cx="1371601" cy="111925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A93E34A-3772-ADDD-3846-B0C6E666EE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76091" y="3072116"/>
              <a:ext cx="1361975" cy="363189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8D5ED74-4340-E1C5-5D28-E7D6372C85C3}"/>
                </a:ext>
              </a:extLst>
            </p:cNvPr>
            <p:cNvCxnSpPr>
              <a:cxnSpLocks/>
            </p:cNvCxnSpPr>
            <p:nvPr/>
          </p:nvCxnSpPr>
          <p:spPr>
            <a:xfrm>
              <a:off x="9776091" y="2999607"/>
              <a:ext cx="13716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oval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F370B9C-0207-75FC-5F3E-2CF5038F5636}"/>
                </a:ext>
              </a:extLst>
            </p:cNvPr>
            <p:cNvCxnSpPr>
              <a:cxnSpLocks/>
            </p:cNvCxnSpPr>
            <p:nvPr/>
          </p:nvCxnSpPr>
          <p:spPr>
            <a:xfrm>
              <a:off x="9776091" y="3519371"/>
              <a:ext cx="13716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3DB58C2-DF5F-3D60-D908-9F2DF09B7C55}"/>
                </a:ext>
              </a:extLst>
            </p:cNvPr>
            <p:cNvCxnSpPr>
              <a:cxnSpLocks/>
            </p:cNvCxnSpPr>
            <p:nvPr/>
          </p:nvCxnSpPr>
          <p:spPr>
            <a:xfrm>
              <a:off x="9776091" y="4118863"/>
              <a:ext cx="13716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0B7048D-4AAD-7499-6B41-711FA91F9E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76090" y="3656765"/>
              <a:ext cx="1361975" cy="363189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C07CD13-EF65-358D-7695-F821E4A48974}"/>
              </a:ext>
            </a:extLst>
          </p:cNvPr>
          <p:cNvCxnSpPr>
            <a:cxnSpLocks/>
          </p:cNvCxnSpPr>
          <p:nvPr/>
        </p:nvCxnSpPr>
        <p:spPr>
          <a:xfrm>
            <a:off x="9687458" y="2279174"/>
            <a:ext cx="1371600" cy="0"/>
          </a:xfrm>
          <a:prstGeom prst="straightConnector1">
            <a:avLst/>
          </a:prstGeom>
          <a:ln w="190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FFAA388-0F27-5CC8-2CD0-7BF25398F5DD}"/>
              </a:ext>
            </a:extLst>
          </p:cNvPr>
          <p:cNvCxnSpPr>
            <a:cxnSpLocks/>
          </p:cNvCxnSpPr>
          <p:nvPr/>
        </p:nvCxnSpPr>
        <p:spPr>
          <a:xfrm>
            <a:off x="9199903" y="2764339"/>
            <a:ext cx="0" cy="1440987"/>
          </a:xfrm>
          <a:prstGeom prst="straightConnector1">
            <a:avLst/>
          </a:prstGeom>
          <a:ln w="190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E5AFCB0-E049-233A-C960-2132A6597164}"/>
              </a:ext>
            </a:extLst>
          </p:cNvPr>
          <p:cNvSpPr txBox="1"/>
          <p:nvPr/>
        </p:nvSpPr>
        <p:spPr>
          <a:xfrm>
            <a:off x="9199903" y="1215391"/>
            <a:ext cx="2718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B0F0"/>
                </a:solidFill>
              </a:rPr>
              <a:t>Flujo de iteración inverso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F83164-730D-6E10-5634-38CAE8E370B0}"/>
              </a:ext>
            </a:extLst>
          </p:cNvPr>
          <p:cNvSpPr txBox="1"/>
          <p:nvPr/>
        </p:nvSpPr>
        <p:spPr>
          <a:xfrm>
            <a:off x="9329383" y="1683625"/>
            <a:ext cx="2209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1º Recorrido de columnas (bucle interno)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E4A57745-5981-E78D-4366-0DC639E6C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417" y="3741938"/>
            <a:ext cx="5876294" cy="2607552"/>
          </a:xfrm>
          <a:prstGeom prst="roundRect">
            <a:avLst>
              <a:gd name="adj" fmla="val 3677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 {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29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{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64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{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37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},};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c &lt;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[0].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c++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f &lt;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f++){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"%2d 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[f][c]);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067F31-A754-6B20-FE14-DF810915C05F}"/>
              </a:ext>
            </a:extLst>
          </p:cNvPr>
          <p:cNvSpPr txBox="1"/>
          <p:nvPr/>
        </p:nvSpPr>
        <p:spPr>
          <a:xfrm>
            <a:off x="7998421" y="5287459"/>
            <a:ext cx="3208753" cy="73866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18 64 30 </a:t>
            </a: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6 11 81 </a:t>
            </a: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29  7 37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1CF9B3-D936-B457-A4DD-6DFBBB1AE9C3}"/>
              </a:ext>
            </a:extLst>
          </p:cNvPr>
          <p:cNvSpPr txBox="1"/>
          <p:nvPr/>
        </p:nvSpPr>
        <p:spPr>
          <a:xfrm>
            <a:off x="7982615" y="4885999"/>
            <a:ext cx="207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Salida: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79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de dos dimensiones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Declaración, creación e inicialización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Recorrido de arreglos bidimensionales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3C93493-15D0-77F0-6F93-29BD5364129E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6646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5CA1ADC-663C-B7B8-F21E-F5F246043B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063"/>
          <a:stretch/>
        </p:blipFill>
        <p:spPr>
          <a:xfrm flipH="1">
            <a:off x="7691911" y="1736333"/>
            <a:ext cx="4500088" cy="51216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2D2412-C8AB-2541-ACC5-3C51C06A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41EA5-169B-FEF7-4B5C-8AF43E00B5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8536251" cy="4782911"/>
          </a:xfrm>
        </p:spPr>
        <p:txBody>
          <a:bodyPr>
            <a:normAutofit/>
          </a:bodyPr>
          <a:lstStyle/>
          <a:p>
            <a:pPr marL="565150" indent="-514350">
              <a:buAutoNum type="arabicPeriod"/>
            </a:pPr>
            <a:r>
              <a:rPr lang="es-ES" dirty="0"/>
              <a:t>¿Cuál es la salida que corresponde a la ejecución del código mostrado?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E5BEDD-EE00-8838-E562-22007BEA1C1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FF2F918-4892-5D16-3550-D2CDADD4E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7670" y="2636360"/>
            <a:ext cx="4957807" cy="2697030"/>
          </a:xfrm>
          <a:prstGeom prst="roundRect">
            <a:avLst>
              <a:gd name="adj" fmla="val 4503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[][]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 {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29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{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{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37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},};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f &lt;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f++)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c = f;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"%2d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[f][c]);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8BAFE9-7448-5A83-F4CD-C238A7D76B0A}"/>
              </a:ext>
            </a:extLst>
          </p:cNvPr>
          <p:cNvSpPr txBox="1"/>
          <p:nvPr/>
        </p:nvSpPr>
        <p:spPr>
          <a:xfrm>
            <a:off x="1762548" y="5353259"/>
            <a:ext cx="3268744" cy="1145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1825" lvl="1" indent="-514350">
              <a:lnSpc>
                <a:spcPct val="150000"/>
              </a:lnSpc>
              <a:buAutoNum type="alphaUcPeriod"/>
            </a:pPr>
            <a:r>
              <a:rPr lang="es-E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18  6 29</a:t>
            </a:r>
          </a:p>
          <a:p>
            <a:pPr marL="631825" lvl="1" indent="-514350">
              <a:lnSpc>
                <a:spcPct val="150000"/>
              </a:lnSpc>
              <a:buAutoNum type="alphaUcPeriod"/>
            </a:pPr>
            <a:r>
              <a:rPr lang="es-E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18 11 37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83659-8255-0D93-DD9B-5C209559D0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49D673-8EED-80AC-6F5B-0F0D45D57DEC}"/>
              </a:ext>
            </a:extLst>
          </p:cNvPr>
          <p:cNvSpPr txBox="1"/>
          <p:nvPr/>
        </p:nvSpPr>
        <p:spPr>
          <a:xfrm>
            <a:off x="5076221" y="5353258"/>
            <a:ext cx="3268744" cy="1145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7475" lvl="1">
              <a:lnSpc>
                <a:spcPct val="150000"/>
              </a:lnSpc>
            </a:pPr>
            <a:r>
              <a:rPr lang="es-E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C. 29 11 30</a:t>
            </a:r>
          </a:p>
          <a:p>
            <a:pPr marL="117475" lvl="1">
              <a:lnSpc>
                <a:spcPct val="150000"/>
              </a:lnSpc>
            </a:pPr>
            <a:r>
              <a:rPr lang="es-E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D. 18 64 30</a:t>
            </a:r>
            <a:endParaRPr lang="en-US" sz="2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7D329C-98C5-273B-CF23-3C7C149806D9}"/>
              </a:ext>
            </a:extLst>
          </p:cNvPr>
          <p:cNvSpPr txBox="1"/>
          <p:nvPr/>
        </p:nvSpPr>
        <p:spPr>
          <a:xfrm>
            <a:off x="664361" y="6585511"/>
            <a:ext cx="60977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https://www.vepormas.com/fwpf/storage/img-prod-int-27.png</a:t>
            </a:r>
          </a:p>
        </p:txBody>
      </p:sp>
    </p:spTree>
    <p:extLst>
      <p:ext uri="{BB962C8B-B14F-4D97-AF65-F5344CB8AC3E}">
        <p14:creationId xmlns:p14="http://schemas.microsoft.com/office/powerpoint/2010/main" val="337283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D2412-C8AB-2541-ACC5-3C51C06A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83659-8255-0D93-DD9B-5C209559D0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41EA5-169B-FEF7-4B5C-8AF43E00B5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8546526" cy="4782911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2. El siguiente código es correcto. ¿Cuál de las opciones representa el resultado de su ejecución?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E5BEDD-EE00-8838-E562-22007BEA1C1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0321893-1A0D-47DC-8FE2-6C43241A2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7156" y="2624483"/>
            <a:ext cx="4740927" cy="1724993"/>
          </a:xfrm>
          <a:prstGeom prst="roundRect">
            <a:avLst>
              <a:gd name="adj" fmla="val 6417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[][] arreglo2DIrregular =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][];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arreglo2DIrregular[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arreglo2DIrregular[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arreglo2DIrregular[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arreglo2DIrregular[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180A4F-9053-DFB1-3427-A91D14F1E16A}"/>
              </a:ext>
            </a:extLst>
          </p:cNvPr>
          <p:cNvSpPr txBox="1"/>
          <p:nvPr/>
        </p:nvSpPr>
        <p:spPr>
          <a:xfrm>
            <a:off x="1585529" y="4468737"/>
            <a:ext cx="818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7475" lvl="1"/>
            <a:r>
              <a:rPr lang="es-ES" sz="2800" dirty="0"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A.</a:t>
            </a:r>
            <a:endParaRPr lang="en-US" sz="2800" dirty="0">
              <a:latin typeface="+mj-lt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B41138-622A-6136-7675-B56114B40F41}"/>
              </a:ext>
            </a:extLst>
          </p:cNvPr>
          <p:cNvSpPr txBox="1"/>
          <p:nvPr/>
        </p:nvSpPr>
        <p:spPr>
          <a:xfrm>
            <a:off x="2977548" y="4468737"/>
            <a:ext cx="818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7475" lvl="1"/>
            <a:r>
              <a:rPr lang="es-ES" sz="2800" dirty="0"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B.</a:t>
            </a:r>
            <a:endParaRPr lang="en-US" sz="2800" dirty="0">
              <a:latin typeface="+mj-lt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5E21FF-6155-A9A7-4434-C422E96E3B09}"/>
              </a:ext>
            </a:extLst>
          </p:cNvPr>
          <p:cNvSpPr txBox="1"/>
          <p:nvPr/>
        </p:nvSpPr>
        <p:spPr>
          <a:xfrm>
            <a:off x="5647842" y="4468737"/>
            <a:ext cx="818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7475" lvl="1"/>
            <a:r>
              <a:rPr lang="es-ES" sz="2800" dirty="0"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C.</a:t>
            </a:r>
            <a:endParaRPr lang="en-US" sz="2800" dirty="0">
              <a:latin typeface="+mj-lt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80367-035E-91BD-96C3-7A0C57C1107D}"/>
              </a:ext>
            </a:extLst>
          </p:cNvPr>
          <p:cNvSpPr txBox="1"/>
          <p:nvPr/>
        </p:nvSpPr>
        <p:spPr>
          <a:xfrm>
            <a:off x="6931022" y="4468737"/>
            <a:ext cx="818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7475" lvl="1"/>
            <a:r>
              <a:rPr lang="es-ES" sz="2800" dirty="0"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D.</a:t>
            </a:r>
            <a:endParaRPr lang="en-US" sz="2800" dirty="0">
              <a:latin typeface="+mj-lt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7F1C7C8-A287-AA41-46F7-BFC73D7FC299}"/>
              </a:ext>
            </a:extLst>
          </p:cNvPr>
          <p:cNvGrpSpPr/>
          <p:nvPr/>
        </p:nvGrpSpPr>
        <p:grpSpPr>
          <a:xfrm>
            <a:off x="1740357" y="5099369"/>
            <a:ext cx="1045676" cy="1122516"/>
            <a:chOff x="7548613" y="3953152"/>
            <a:chExt cx="1302000" cy="13976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6D40D48-7447-A01A-D46D-A8A0CFB4680E}"/>
                </a:ext>
              </a:extLst>
            </p:cNvPr>
            <p:cNvSpPr/>
            <p:nvPr/>
          </p:nvSpPr>
          <p:spPr>
            <a:xfrm>
              <a:off x="7548613" y="3953152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3E24070-D1F4-7F2C-5FBF-21BF75B5B2E8}"/>
                </a:ext>
              </a:extLst>
            </p:cNvPr>
            <p:cNvSpPr/>
            <p:nvPr/>
          </p:nvSpPr>
          <p:spPr>
            <a:xfrm>
              <a:off x="7548613" y="4302648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153B5F-E3C5-5273-DEA0-C968629EB42E}"/>
                </a:ext>
              </a:extLst>
            </p:cNvPr>
            <p:cNvSpPr/>
            <p:nvPr/>
          </p:nvSpPr>
          <p:spPr>
            <a:xfrm>
              <a:off x="7548613" y="4651990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50747EE-7AFD-B2E4-FB15-97D8E9D99065}"/>
                </a:ext>
              </a:extLst>
            </p:cNvPr>
            <p:cNvSpPr/>
            <p:nvPr/>
          </p:nvSpPr>
          <p:spPr>
            <a:xfrm>
              <a:off x="7548613" y="5001486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6C58D3-7BE0-7B79-3FDD-93DB7C81A5C1}"/>
                </a:ext>
              </a:extLst>
            </p:cNvPr>
            <p:cNvSpPr/>
            <p:nvPr/>
          </p:nvSpPr>
          <p:spPr>
            <a:xfrm>
              <a:off x="7874113" y="3953152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B8B2159-849A-6AE9-47DE-9EB5072908BF}"/>
                </a:ext>
              </a:extLst>
            </p:cNvPr>
            <p:cNvSpPr/>
            <p:nvPr/>
          </p:nvSpPr>
          <p:spPr>
            <a:xfrm>
              <a:off x="7874113" y="4302648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4C2606-3D20-43C5-8AB2-EE4E647EDD54}"/>
                </a:ext>
              </a:extLst>
            </p:cNvPr>
            <p:cNvSpPr/>
            <p:nvPr/>
          </p:nvSpPr>
          <p:spPr>
            <a:xfrm>
              <a:off x="7874113" y="4651990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974079-6EAC-285C-8F8C-78D0FEA146D8}"/>
                </a:ext>
              </a:extLst>
            </p:cNvPr>
            <p:cNvSpPr/>
            <p:nvPr/>
          </p:nvSpPr>
          <p:spPr>
            <a:xfrm>
              <a:off x="7874113" y="5001486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607409D-4477-CFA6-0582-A833467AA933}"/>
                </a:ext>
              </a:extLst>
            </p:cNvPr>
            <p:cNvSpPr/>
            <p:nvPr/>
          </p:nvSpPr>
          <p:spPr>
            <a:xfrm>
              <a:off x="8199613" y="3953152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6E96A11-5F17-5960-D3FF-94A486064E5A}"/>
                </a:ext>
              </a:extLst>
            </p:cNvPr>
            <p:cNvSpPr/>
            <p:nvPr/>
          </p:nvSpPr>
          <p:spPr>
            <a:xfrm>
              <a:off x="8199613" y="4302648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8494A17-D5CD-9671-08E4-E72B332767A7}"/>
                </a:ext>
              </a:extLst>
            </p:cNvPr>
            <p:cNvSpPr/>
            <p:nvPr/>
          </p:nvSpPr>
          <p:spPr>
            <a:xfrm>
              <a:off x="8199613" y="4651990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7CDD9E5-74F6-3B4C-74A3-104B860EA69C}"/>
                </a:ext>
              </a:extLst>
            </p:cNvPr>
            <p:cNvSpPr/>
            <p:nvPr/>
          </p:nvSpPr>
          <p:spPr>
            <a:xfrm>
              <a:off x="8199613" y="5001486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A74226-23D1-E353-848E-2C5D15A9C6DD}"/>
                </a:ext>
              </a:extLst>
            </p:cNvPr>
            <p:cNvSpPr/>
            <p:nvPr/>
          </p:nvSpPr>
          <p:spPr>
            <a:xfrm>
              <a:off x="8525113" y="3953152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20FD886-FDEC-28DA-9AFC-82470A3547C2}"/>
                </a:ext>
              </a:extLst>
            </p:cNvPr>
            <p:cNvSpPr/>
            <p:nvPr/>
          </p:nvSpPr>
          <p:spPr>
            <a:xfrm>
              <a:off x="8525113" y="4302648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5596072-D54A-1BE2-421B-8F8913B7DDEC}"/>
                </a:ext>
              </a:extLst>
            </p:cNvPr>
            <p:cNvSpPr/>
            <p:nvPr/>
          </p:nvSpPr>
          <p:spPr>
            <a:xfrm>
              <a:off x="8525113" y="4651990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A8712CD-FAB8-575A-81EF-417168368D61}"/>
                </a:ext>
              </a:extLst>
            </p:cNvPr>
            <p:cNvSpPr/>
            <p:nvPr/>
          </p:nvSpPr>
          <p:spPr>
            <a:xfrm>
              <a:off x="8524451" y="4998815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7881AFF-1501-7FC7-EDDE-5DEE97442E99}"/>
              </a:ext>
            </a:extLst>
          </p:cNvPr>
          <p:cNvGrpSpPr/>
          <p:nvPr/>
        </p:nvGrpSpPr>
        <p:grpSpPr>
          <a:xfrm>
            <a:off x="5800060" y="5099369"/>
            <a:ext cx="784257" cy="1122516"/>
            <a:chOff x="7548613" y="3953152"/>
            <a:chExt cx="976500" cy="1397676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714474-1BFD-FE9E-DF9C-BE9F8F21A63B}"/>
                </a:ext>
              </a:extLst>
            </p:cNvPr>
            <p:cNvSpPr/>
            <p:nvPr/>
          </p:nvSpPr>
          <p:spPr>
            <a:xfrm>
              <a:off x="7548613" y="3953152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5ADA058-724D-FD16-8559-ABA3BDDFA018}"/>
                </a:ext>
              </a:extLst>
            </p:cNvPr>
            <p:cNvSpPr/>
            <p:nvPr/>
          </p:nvSpPr>
          <p:spPr>
            <a:xfrm>
              <a:off x="7548613" y="4302648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3140182-C93E-49B7-D4B4-06CA281CDB20}"/>
                </a:ext>
              </a:extLst>
            </p:cNvPr>
            <p:cNvSpPr/>
            <p:nvPr/>
          </p:nvSpPr>
          <p:spPr>
            <a:xfrm>
              <a:off x="7548613" y="4651990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57AC36D-71A6-9EC6-0DAC-DBE5AFF63C5D}"/>
                </a:ext>
              </a:extLst>
            </p:cNvPr>
            <p:cNvSpPr/>
            <p:nvPr/>
          </p:nvSpPr>
          <p:spPr>
            <a:xfrm>
              <a:off x="7548613" y="5001486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467C31C-0AC9-A6AB-4D4D-46CD91A7D9C3}"/>
                </a:ext>
              </a:extLst>
            </p:cNvPr>
            <p:cNvSpPr/>
            <p:nvPr/>
          </p:nvSpPr>
          <p:spPr>
            <a:xfrm>
              <a:off x="7874113" y="3953152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B616946-49DC-77D4-E59D-4EC287FD8700}"/>
                </a:ext>
              </a:extLst>
            </p:cNvPr>
            <p:cNvSpPr/>
            <p:nvPr/>
          </p:nvSpPr>
          <p:spPr>
            <a:xfrm>
              <a:off x="7874113" y="4302648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041158F-8595-A510-51B7-8F828990D58E}"/>
                </a:ext>
              </a:extLst>
            </p:cNvPr>
            <p:cNvSpPr/>
            <p:nvPr/>
          </p:nvSpPr>
          <p:spPr>
            <a:xfrm>
              <a:off x="7874113" y="4651990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20D4E75-A6EA-6E73-01E4-9E13321BAF04}"/>
                </a:ext>
              </a:extLst>
            </p:cNvPr>
            <p:cNvSpPr/>
            <p:nvPr/>
          </p:nvSpPr>
          <p:spPr>
            <a:xfrm>
              <a:off x="7874113" y="5001486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37A4580-34A6-3BA0-2E7B-E603D2F76D83}"/>
                </a:ext>
              </a:extLst>
            </p:cNvPr>
            <p:cNvSpPr/>
            <p:nvPr/>
          </p:nvSpPr>
          <p:spPr>
            <a:xfrm>
              <a:off x="8199613" y="3953152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28A7EF2-9E2E-A971-AE34-FB2896DF0217}"/>
                </a:ext>
              </a:extLst>
            </p:cNvPr>
            <p:cNvSpPr/>
            <p:nvPr/>
          </p:nvSpPr>
          <p:spPr>
            <a:xfrm>
              <a:off x="8199613" y="4302648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70FB3ED-5067-869B-AFA5-5CE6538F1073}"/>
                </a:ext>
              </a:extLst>
            </p:cNvPr>
            <p:cNvSpPr/>
            <p:nvPr/>
          </p:nvSpPr>
          <p:spPr>
            <a:xfrm>
              <a:off x="8199613" y="4651990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0E57CA8-CD83-5C7A-C555-B2775D913FA1}"/>
                </a:ext>
              </a:extLst>
            </p:cNvPr>
            <p:cNvSpPr/>
            <p:nvPr/>
          </p:nvSpPr>
          <p:spPr>
            <a:xfrm>
              <a:off x="8199613" y="5001486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E492709-DED1-EED7-C320-6D46ABDB1964}"/>
              </a:ext>
            </a:extLst>
          </p:cNvPr>
          <p:cNvGrpSpPr/>
          <p:nvPr/>
        </p:nvGrpSpPr>
        <p:grpSpPr>
          <a:xfrm>
            <a:off x="7171943" y="5099369"/>
            <a:ext cx="2091352" cy="1122516"/>
            <a:chOff x="7548613" y="3953152"/>
            <a:chExt cx="2604000" cy="1397676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42DE606-F655-0FEC-6526-DEF0B9676DA6}"/>
                </a:ext>
              </a:extLst>
            </p:cNvPr>
            <p:cNvSpPr/>
            <p:nvPr/>
          </p:nvSpPr>
          <p:spPr>
            <a:xfrm>
              <a:off x="7548613" y="3953152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E034011-3A70-D7A8-4EA1-1C598EB7F111}"/>
                </a:ext>
              </a:extLst>
            </p:cNvPr>
            <p:cNvSpPr/>
            <p:nvPr/>
          </p:nvSpPr>
          <p:spPr>
            <a:xfrm>
              <a:off x="7548613" y="4302648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7281C13-EABF-2B2F-AA70-93D703F8F04C}"/>
                </a:ext>
              </a:extLst>
            </p:cNvPr>
            <p:cNvSpPr/>
            <p:nvPr/>
          </p:nvSpPr>
          <p:spPr>
            <a:xfrm>
              <a:off x="7548613" y="4651990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17285E8-1B63-C8DA-8D2D-2C162F89E8A1}"/>
                </a:ext>
              </a:extLst>
            </p:cNvPr>
            <p:cNvSpPr/>
            <p:nvPr/>
          </p:nvSpPr>
          <p:spPr>
            <a:xfrm>
              <a:off x="7548613" y="5001486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3AABA4E-A094-D5D2-92A8-D09DF5B34025}"/>
                </a:ext>
              </a:extLst>
            </p:cNvPr>
            <p:cNvSpPr/>
            <p:nvPr/>
          </p:nvSpPr>
          <p:spPr>
            <a:xfrm>
              <a:off x="7874113" y="3953152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30FECF1-3712-6075-CBC5-7226B023A91A}"/>
                </a:ext>
              </a:extLst>
            </p:cNvPr>
            <p:cNvSpPr/>
            <p:nvPr/>
          </p:nvSpPr>
          <p:spPr>
            <a:xfrm>
              <a:off x="7874113" y="4302648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11115B1-3A0A-2FAB-54EF-5CA114469012}"/>
                </a:ext>
              </a:extLst>
            </p:cNvPr>
            <p:cNvSpPr/>
            <p:nvPr/>
          </p:nvSpPr>
          <p:spPr>
            <a:xfrm>
              <a:off x="7874113" y="4651990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5FB0F57-7C2D-082C-4C81-49E029D0F495}"/>
                </a:ext>
              </a:extLst>
            </p:cNvPr>
            <p:cNvSpPr/>
            <p:nvPr/>
          </p:nvSpPr>
          <p:spPr>
            <a:xfrm>
              <a:off x="7874113" y="5001486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3848AE0-2883-3C34-4E1D-30DF2CD3D12B}"/>
                </a:ext>
              </a:extLst>
            </p:cNvPr>
            <p:cNvSpPr/>
            <p:nvPr/>
          </p:nvSpPr>
          <p:spPr>
            <a:xfrm>
              <a:off x="8199613" y="3953152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66D18F23-085E-F362-0D7C-B73A3982F737}"/>
                </a:ext>
              </a:extLst>
            </p:cNvPr>
            <p:cNvSpPr/>
            <p:nvPr/>
          </p:nvSpPr>
          <p:spPr>
            <a:xfrm>
              <a:off x="8199613" y="4302648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00DA97D-7B45-9D6E-0EA5-1CF3124094D7}"/>
                </a:ext>
              </a:extLst>
            </p:cNvPr>
            <p:cNvSpPr/>
            <p:nvPr/>
          </p:nvSpPr>
          <p:spPr>
            <a:xfrm>
              <a:off x="8199613" y="4651990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4D9CE74-1AD6-A61C-36F7-A8D2E031B0D0}"/>
                </a:ext>
              </a:extLst>
            </p:cNvPr>
            <p:cNvSpPr/>
            <p:nvPr/>
          </p:nvSpPr>
          <p:spPr>
            <a:xfrm>
              <a:off x="8199613" y="5001486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60D76F9F-7A76-6A7C-E464-5D5BAB79F341}"/>
                </a:ext>
              </a:extLst>
            </p:cNvPr>
            <p:cNvSpPr/>
            <p:nvPr/>
          </p:nvSpPr>
          <p:spPr>
            <a:xfrm>
              <a:off x="8525113" y="3953152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D85E336-E485-FA48-EA71-7BBD1DB4A024}"/>
                </a:ext>
              </a:extLst>
            </p:cNvPr>
            <p:cNvSpPr/>
            <p:nvPr/>
          </p:nvSpPr>
          <p:spPr>
            <a:xfrm>
              <a:off x="8525113" y="4302648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B49B1C0-E1A5-58EE-C579-0BB91699F92A}"/>
                </a:ext>
              </a:extLst>
            </p:cNvPr>
            <p:cNvSpPr/>
            <p:nvPr/>
          </p:nvSpPr>
          <p:spPr>
            <a:xfrm>
              <a:off x="8525113" y="4651990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7F8F88F-55F4-4F9A-EC3C-DEC0E0D88DBE}"/>
                </a:ext>
              </a:extLst>
            </p:cNvPr>
            <p:cNvSpPr/>
            <p:nvPr/>
          </p:nvSpPr>
          <p:spPr>
            <a:xfrm>
              <a:off x="8850613" y="3953152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39DEC1E-2AAA-1FB8-8C14-ABCCD42CDC6C}"/>
                </a:ext>
              </a:extLst>
            </p:cNvPr>
            <p:cNvSpPr/>
            <p:nvPr/>
          </p:nvSpPr>
          <p:spPr>
            <a:xfrm>
              <a:off x="8850613" y="4651990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EB17A3C6-719C-CAAC-54EA-58BFF0C8DFE5}"/>
                </a:ext>
              </a:extLst>
            </p:cNvPr>
            <p:cNvSpPr/>
            <p:nvPr/>
          </p:nvSpPr>
          <p:spPr>
            <a:xfrm>
              <a:off x="9176113" y="3953152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E54E98A-0930-3ED9-055C-22A0A9786ED2}"/>
                </a:ext>
              </a:extLst>
            </p:cNvPr>
            <p:cNvSpPr/>
            <p:nvPr/>
          </p:nvSpPr>
          <p:spPr>
            <a:xfrm>
              <a:off x="9176113" y="4651990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426D56CE-3B30-3A2E-2E95-C221C599EBA6}"/>
                </a:ext>
              </a:extLst>
            </p:cNvPr>
            <p:cNvSpPr/>
            <p:nvPr/>
          </p:nvSpPr>
          <p:spPr>
            <a:xfrm>
              <a:off x="9501613" y="4651990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CA59225-44C5-857A-D174-52551E95BCE4}"/>
                </a:ext>
              </a:extLst>
            </p:cNvPr>
            <p:cNvSpPr/>
            <p:nvPr/>
          </p:nvSpPr>
          <p:spPr>
            <a:xfrm>
              <a:off x="9827113" y="4651990"/>
              <a:ext cx="325500" cy="3493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53B8235-8C84-1A8F-5CCD-E7D78FCB08FF}"/>
              </a:ext>
            </a:extLst>
          </p:cNvPr>
          <p:cNvGrpSpPr/>
          <p:nvPr/>
        </p:nvGrpSpPr>
        <p:grpSpPr>
          <a:xfrm>
            <a:off x="3229643" y="5099369"/>
            <a:ext cx="2091352" cy="1115422"/>
            <a:chOff x="4146182" y="5082277"/>
            <a:chExt cx="2091352" cy="111542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6F3DE07-2594-6CBD-CABB-F9EBF77FEA69}"/>
                </a:ext>
              </a:extLst>
            </p:cNvPr>
            <p:cNvSpPr/>
            <p:nvPr/>
          </p:nvSpPr>
          <p:spPr>
            <a:xfrm>
              <a:off x="4146182" y="5361387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364D2DA-FD53-E768-3A84-28B1981ECF4F}"/>
                </a:ext>
              </a:extLst>
            </p:cNvPr>
            <p:cNvSpPr/>
            <p:nvPr/>
          </p:nvSpPr>
          <p:spPr>
            <a:xfrm>
              <a:off x="4407601" y="5361387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967AD47-4D65-CCD6-8DD9-E2E3FF9C62CC}"/>
                </a:ext>
              </a:extLst>
            </p:cNvPr>
            <p:cNvSpPr/>
            <p:nvPr/>
          </p:nvSpPr>
          <p:spPr>
            <a:xfrm>
              <a:off x="4669020" y="5361387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4AFD69C-CCC7-A386-4A33-5BC66B2B7474}"/>
                </a:ext>
              </a:extLst>
            </p:cNvPr>
            <p:cNvSpPr/>
            <p:nvPr/>
          </p:nvSpPr>
          <p:spPr>
            <a:xfrm>
              <a:off x="4930439" y="5361387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2CB9B5B-8751-6E09-60CC-2725AA5928DC}"/>
                </a:ext>
              </a:extLst>
            </p:cNvPr>
            <p:cNvSpPr/>
            <p:nvPr/>
          </p:nvSpPr>
          <p:spPr>
            <a:xfrm>
              <a:off x="5191858" y="5361387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DD2C6A7-A0DE-AB0F-6DF9-81873E33290A}"/>
                </a:ext>
              </a:extLst>
            </p:cNvPr>
            <p:cNvSpPr/>
            <p:nvPr/>
          </p:nvSpPr>
          <p:spPr>
            <a:xfrm>
              <a:off x="5453277" y="5361387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1864A8A-10AB-39B6-599F-368250303680}"/>
                </a:ext>
              </a:extLst>
            </p:cNvPr>
            <p:cNvSpPr/>
            <p:nvPr/>
          </p:nvSpPr>
          <p:spPr>
            <a:xfrm>
              <a:off x="5714696" y="5361387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DCE7D65-E2AB-1EB2-F83B-34707D6B256B}"/>
                </a:ext>
              </a:extLst>
            </p:cNvPr>
            <p:cNvSpPr/>
            <p:nvPr/>
          </p:nvSpPr>
          <p:spPr>
            <a:xfrm>
              <a:off x="5976115" y="5361387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3017EB9-A6AB-ED88-DD35-72F6F298B5A2}"/>
                </a:ext>
              </a:extLst>
            </p:cNvPr>
            <p:cNvSpPr/>
            <p:nvPr/>
          </p:nvSpPr>
          <p:spPr>
            <a:xfrm>
              <a:off x="4146182" y="5082277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25AE9A8C-B27A-39F1-4F7B-7D74D0A7301E}"/>
                </a:ext>
              </a:extLst>
            </p:cNvPr>
            <p:cNvSpPr/>
            <p:nvPr/>
          </p:nvSpPr>
          <p:spPr>
            <a:xfrm>
              <a:off x="4407601" y="5082277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7C9CA234-E18B-4724-1547-61FE5749AAFE}"/>
                </a:ext>
              </a:extLst>
            </p:cNvPr>
            <p:cNvSpPr/>
            <p:nvPr/>
          </p:nvSpPr>
          <p:spPr>
            <a:xfrm>
              <a:off x="4669020" y="5082277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75E473E-6E5D-D0F0-3626-AA13BE22A60A}"/>
                </a:ext>
              </a:extLst>
            </p:cNvPr>
            <p:cNvSpPr/>
            <p:nvPr/>
          </p:nvSpPr>
          <p:spPr>
            <a:xfrm>
              <a:off x="4930439" y="5082277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D295A7D-98E6-4603-C7B8-DEFF49032B79}"/>
                </a:ext>
              </a:extLst>
            </p:cNvPr>
            <p:cNvSpPr/>
            <p:nvPr/>
          </p:nvSpPr>
          <p:spPr>
            <a:xfrm>
              <a:off x="5191858" y="5082277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0866A85-5DE9-6CC1-31FF-868D7301B879}"/>
                </a:ext>
              </a:extLst>
            </p:cNvPr>
            <p:cNvSpPr/>
            <p:nvPr/>
          </p:nvSpPr>
          <p:spPr>
            <a:xfrm>
              <a:off x="5453277" y="5082277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35FBD74-7637-135D-8CB0-C461DB01DA0A}"/>
                </a:ext>
              </a:extLst>
            </p:cNvPr>
            <p:cNvSpPr/>
            <p:nvPr/>
          </p:nvSpPr>
          <p:spPr>
            <a:xfrm>
              <a:off x="5714696" y="5082277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ABE2981-B628-FD5F-515C-B749591051CE}"/>
                </a:ext>
              </a:extLst>
            </p:cNvPr>
            <p:cNvSpPr/>
            <p:nvPr/>
          </p:nvSpPr>
          <p:spPr>
            <a:xfrm>
              <a:off x="5976115" y="5082277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F28A8DE-7D29-1A60-2F3A-3CBA324E3F5C}"/>
                </a:ext>
              </a:extLst>
            </p:cNvPr>
            <p:cNvSpPr/>
            <p:nvPr/>
          </p:nvSpPr>
          <p:spPr>
            <a:xfrm>
              <a:off x="4146182" y="5917132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FBE0D7C-E7A8-4A58-D469-A03B30045093}"/>
                </a:ext>
              </a:extLst>
            </p:cNvPr>
            <p:cNvSpPr/>
            <p:nvPr/>
          </p:nvSpPr>
          <p:spPr>
            <a:xfrm>
              <a:off x="4407601" y="5917132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70A5CC8-BD8B-05D1-0A1A-DBF3B38FF9FA}"/>
                </a:ext>
              </a:extLst>
            </p:cNvPr>
            <p:cNvSpPr/>
            <p:nvPr/>
          </p:nvSpPr>
          <p:spPr>
            <a:xfrm>
              <a:off x="4669020" y="5917132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250B160-A52A-11BD-98CF-EAD79DC7BA0A}"/>
                </a:ext>
              </a:extLst>
            </p:cNvPr>
            <p:cNvSpPr/>
            <p:nvPr/>
          </p:nvSpPr>
          <p:spPr>
            <a:xfrm>
              <a:off x="4930439" y="5917132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6BC6459A-5A21-9415-4097-4B2EA24D8F1B}"/>
                </a:ext>
              </a:extLst>
            </p:cNvPr>
            <p:cNvSpPr/>
            <p:nvPr/>
          </p:nvSpPr>
          <p:spPr>
            <a:xfrm>
              <a:off x="5191858" y="5917132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CE3E44E-82CC-8CC8-5CE8-702A5F668864}"/>
                </a:ext>
              </a:extLst>
            </p:cNvPr>
            <p:cNvSpPr/>
            <p:nvPr/>
          </p:nvSpPr>
          <p:spPr>
            <a:xfrm>
              <a:off x="5453277" y="5917132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BD59CED-B370-71A5-34A5-73DDE268A125}"/>
                </a:ext>
              </a:extLst>
            </p:cNvPr>
            <p:cNvSpPr/>
            <p:nvPr/>
          </p:nvSpPr>
          <p:spPr>
            <a:xfrm>
              <a:off x="5714696" y="5917132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3CC9C06-C405-47D2-EEAD-AA783A1D7B41}"/>
                </a:ext>
              </a:extLst>
            </p:cNvPr>
            <p:cNvSpPr/>
            <p:nvPr/>
          </p:nvSpPr>
          <p:spPr>
            <a:xfrm>
              <a:off x="5976115" y="5917132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2CC78EA7-22CB-ED79-3064-CB9710BFD7E1}"/>
                </a:ext>
              </a:extLst>
            </p:cNvPr>
            <p:cNvSpPr/>
            <p:nvPr/>
          </p:nvSpPr>
          <p:spPr>
            <a:xfrm>
              <a:off x="4146182" y="5638022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1DE68308-EA56-E4FD-8C2C-7EEBFB6DB1D6}"/>
                </a:ext>
              </a:extLst>
            </p:cNvPr>
            <p:cNvSpPr/>
            <p:nvPr/>
          </p:nvSpPr>
          <p:spPr>
            <a:xfrm>
              <a:off x="4407601" y="5638022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BE507419-767E-E9FD-EA13-4A645BDCF49C}"/>
                </a:ext>
              </a:extLst>
            </p:cNvPr>
            <p:cNvSpPr/>
            <p:nvPr/>
          </p:nvSpPr>
          <p:spPr>
            <a:xfrm>
              <a:off x="4669020" y="5638022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E696EF0B-5484-CC5E-129D-DE5D5AC6AB9B}"/>
                </a:ext>
              </a:extLst>
            </p:cNvPr>
            <p:cNvSpPr/>
            <p:nvPr/>
          </p:nvSpPr>
          <p:spPr>
            <a:xfrm>
              <a:off x="4930439" y="5638022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FC7F2CD-1216-5593-C529-61B0643B491B}"/>
                </a:ext>
              </a:extLst>
            </p:cNvPr>
            <p:cNvSpPr/>
            <p:nvPr/>
          </p:nvSpPr>
          <p:spPr>
            <a:xfrm>
              <a:off x="5191858" y="5638022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EDA6ABE-FAB7-69A6-D6BB-03D1192386EC}"/>
                </a:ext>
              </a:extLst>
            </p:cNvPr>
            <p:cNvSpPr/>
            <p:nvPr/>
          </p:nvSpPr>
          <p:spPr>
            <a:xfrm>
              <a:off x="5453277" y="5638022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0DC81FC-D8E5-F63C-DA05-B7B7EE1541E2}"/>
                </a:ext>
              </a:extLst>
            </p:cNvPr>
            <p:cNvSpPr/>
            <p:nvPr/>
          </p:nvSpPr>
          <p:spPr>
            <a:xfrm>
              <a:off x="5714696" y="5638022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D9FD432-3921-C9B2-BB05-89C9008D8652}"/>
                </a:ext>
              </a:extLst>
            </p:cNvPr>
            <p:cNvSpPr/>
            <p:nvPr/>
          </p:nvSpPr>
          <p:spPr>
            <a:xfrm>
              <a:off x="5976115" y="5638022"/>
              <a:ext cx="261419" cy="2805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  <a:endParaRPr lang="en-US" sz="16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</p:grpSp>
      <p:pic>
        <p:nvPicPr>
          <p:cNvPr id="126" name="Picture 125">
            <a:extLst>
              <a:ext uri="{FF2B5EF4-FFF2-40B4-BE49-F238E27FC236}">
                <a16:creationId xmlns:a16="http://schemas.microsoft.com/office/drawing/2014/main" id="{9BFF4413-8420-16E2-6658-88903CE134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rcRect r="13046"/>
          <a:stretch/>
        </p:blipFill>
        <p:spPr>
          <a:xfrm>
            <a:off x="8803811" y="1875102"/>
            <a:ext cx="3388189" cy="3920295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C5CEB526-2B24-BFA2-56EE-109EEA9FC6A9}"/>
              </a:ext>
            </a:extLst>
          </p:cNvPr>
          <p:cNvSpPr txBox="1"/>
          <p:nvPr/>
        </p:nvSpPr>
        <p:spPr>
          <a:xfrm>
            <a:off x="664360" y="6534141"/>
            <a:ext cx="952760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https://www.nicepng.com/png/detail/911-9114004_helping-you-find-the-best-person-for-the.png</a:t>
            </a:r>
          </a:p>
        </p:txBody>
      </p:sp>
    </p:spTree>
    <p:extLst>
      <p:ext uri="{BB962C8B-B14F-4D97-AF65-F5344CB8AC3E}">
        <p14:creationId xmlns:p14="http://schemas.microsoft.com/office/powerpoint/2010/main" val="412678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B3ADBA7-25B0-B3A4-00CB-B3D53D830A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9115" r="21383"/>
          <a:stretch/>
        </p:blipFill>
        <p:spPr>
          <a:xfrm>
            <a:off x="8339190" y="352425"/>
            <a:ext cx="3852810" cy="6505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2D2412-C8AB-2541-ACC5-3C51C06A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Discusión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83659-8255-0D93-DD9B-5C209559D0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41EA5-169B-FEF7-4B5C-8AF43E00B5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7406951" cy="4782911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3. El siguiente código es correcto. ¿Cuál es el resultado de su ejecución?</a:t>
            </a:r>
          </a:p>
          <a:p>
            <a:pPr marL="50800" indent="0">
              <a:buNone/>
            </a:pPr>
            <a:endParaRPr lang="es-ES" dirty="0"/>
          </a:p>
          <a:p>
            <a:pPr marL="50800" indent="0">
              <a:buNone/>
            </a:pPr>
            <a:endParaRPr lang="es-ES" dirty="0"/>
          </a:p>
          <a:p>
            <a:pPr marL="50800" indent="0">
              <a:buNone/>
            </a:pPr>
            <a:endParaRPr lang="es-ES" dirty="0"/>
          </a:p>
          <a:p>
            <a:pPr marL="565150" indent="-514350">
              <a:buAutoNum type="alphaUcPeriod"/>
            </a:pPr>
            <a:r>
              <a:rPr lang="es-ES" sz="2400" dirty="0">
                <a:solidFill>
                  <a:schemeClr val="accent2"/>
                </a:solidFill>
              </a:rPr>
              <a:t>a</a:t>
            </a:r>
            <a:r>
              <a:rPr lang="es-ES" sz="2400" dirty="0"/>
              <a:t>, </a:t>
            </a:r>
            <a:r>
              <a:rPr lang="es-ES" sz="2400" dirty="0">
                <a:solidFill>
                  <a:schemeClr val="accent2"/>
                </a:solidFill>
              </a:rPr>
              <a:t>b</a:t>
            </a:r>
            <a:r>
              <a:rPr lang="es-ES" sz="2400" dirty="0"/>
              <a:t> y </a:t>
            </a:r>
            <a:r>
              <a:rPr lang="es-ES" sz="2400" dirty="0">
                <a:solidFill>
                  <a:schemeClr val="accent2"/>
                </a:solidFill>
              </a:rPr>
              <a:t>c</a:t>
            </a:r>
            <a:r>
              <a:rPr lang="es-ES" sz="2400" dirty="0"/>
              <a:t> son matrices. </a:t>
            </a:r>
            <a:r>
              <a:rPr lang="es-ES" sz="2400" dirty="0">
                <a:solidFill>
                  <a:schemeClr val="accent2"/>
                </a:solidFill>
              </a:rPr>
              <a:t>d</a:t>
            </a:r>
            <a:r>
              <a:rPr lang="es-ES" sz="2400" dirty="0"/>
              <a:t> es una variable simple.</a:t>
            </a:r>
          </a:p>
          <a:p>
            <a:pPr marL="565150" indent="-514350">
              <a:buAutoNum type="alphaUcPeriod"/>
            </a:pPr>
            <a:r>
              <a:rPr lang="es-ES" sz="2400" dirty="0">
                <a:solidFill>
                  <a:schemeClr val="accent2"/>
                </a:solidFill>
              </a:rPr>
              <a:t>a</a:t>
            </a:r>
            <a:r>
              <a:rPr lang="es-ES" sz="2400" dirty="0"/>
              <a:t> y </a:t>
            </a:r>
            <a:r>
              <a:rPr lang="es-ES" sz="2400" dirty="0">
                <a:solidFill>
                  <a:schemeClr val="accent2"/>
                </a:solidFill>
              </a:rPr>
              <a:t>c</a:t>
            </a:r>
            <a:r>
              <a:rPr lang="es-ES" sz="2400" dirty="0"/>
              <a:t> son matrices. </a:t>
            </a:r>
            <a:r>
              <a:rPr lang="es-ES" sz="2400" dirty="0">
                <a:solidFill>
                  <a:schemeClr val="accent2"/>
                </a:solidFill>
              </a:rPr>
              <a:t>b</a:t>
            </a:r>
            <a:r>
              <a:rPr lang="es-ES" sz="2400" dirty="0"/>
              <a:t> y </a:t>
            </a:r>
            <a:r>
              <a:rPr lang="es-ES" sz="2400" dirty="0">
                <a:solidFill>
                  <a:schemeClr val="accent2"/>
                </a:solidFill>
              </a:rPr>
              <a:t>d</a:t>
            </a:r>
            <a:r>
              <a:rPr lang="es-ES" sz="2400" dirty="0"/>
              <a:t> son variables simples.</a:t>
            </a:r>
          </a:p>
          <a:p>
            <a:pPr marL="565150" indent="-514350">
              <a:buAutoNum type="alphaUcPeriod"/>
            </a:pPr>
            <a:r>
              <a:rPr lang="es-ES" sz="2400" dirty="0">
                <a:solidFill>
                  <a:schemeClr val="accent2"/>
                </a:solidFill>
              </a:rPr>
              <a:t>a</a:t>
            </a:r>
            <a:r>
              <a:rPr lang="es-ES" sz="2400" dirty="0"/>
              <a:t>, </a:t>
            </a:r>
            <a:r>
              <a:rPr lang="es-ES" sz="2400" dirty="0">
                <a:solidFill>
                  <a:schemeClr val="accent2"/>
                </a:solidFill>
              </a:rPr>
              <a:t>c</a:t>
            </a:r>
            <a:r>
              <a:rPr lang="es-ES" sz="2400" dirty="0"/>
              <a:t> y </a:t>
            </a:r>
            <a:r>
              <a:rPr lang="es-ES" sz="2400" dirty="0">
                <a:solidFill>
                  <a:schemeClr val="accent2"/>
                </a:solidFill>
              </a:rPr>
              <a:t>d</a:t>
            </a:r>
            <a:r>
              <a:rPr lang="es-ES" sz="2400" dirty="0"/>
              <a:t> son matrices. </a:t>
            </a:r>
            <a:r>
              <a:rPr lang="es-ES" sz="2400" dirty="0">
                <a:solidFill>
                  <a:schemeClr val="accent2"/>
                </a:solidFill>
              </a:rPr>
              <a:t>b</a:t>
            </a:r>
            <a:r>
              <a:rPr lang="es-ES" sz="2400" dirty="0"/>
              <a:t> es una variable simple.</a:t>
            </a:r>
          </a:p>
          <a:p>
            <a:pPr marL="565150" indent="-514350">
              <a:buAutoNum type="alphaUcPeriod"/>
            </a:pPr>
            <a:r>
              <a:rPr lang="es-ES" sz="2400" dirty="0">
                <a:solidFill>
                  <a:schemeClr val="accent2"/>
                </a:solidFill>
              </a:rPr>
              <a:t>a</a:t>
            </a:r>
            <a:r>
              <a:rPr lang="es-ES" sz="2400" dirty="0"/>
              <a:t>, </a:t>
            </a:r>
            <a:r>
              <a:rPr lang="es-ES" sz="2400" dirty="0">
                <a:solidFill>
                  <a:schemeClr val="accent2"/>
                </a:solidFill>
              </a:rPr>
              <a:t>b</a:t>
            </a:r>
            <a:r>
              <a:rPr lang="es-ES" sz="2400" dirty="0"/>
              <a:t>, </a:t>
            </a:r>
            <a:r>
              <a:rPr lang="es-ES" sz="2400" dirty="0">
                <a:solidFill>
                  <a:schemeClr val="accent2"/>
                </a:solidFill>
              </a:rPr>
              <a:t>c</a:t>
            </a:r>
            <a:r>
              <a:rPr lang="es-ES" sz="2400" dirty="0"/>
              <a:t> y </a:t>
            </a:r>
            <a:r>
              <a:rPr lang="es-ES" sz="2400" dirty="0">
                <a:solidFill>
                  <a:schemeClr val="accent2"/>
                </a:solidFill>
              </a:rPr>
              <a:t>d</a:t>
            </a:r>
            <a:r>
              <a:rPr lang="es-ES" sz="2400" dirty="0"/>
              <a:t> son matrices.</a:t>
            </a:r>
          </a:p>
          <a:p>
            <a:pPr marL="565150" indent="-514350">
              <a:buAutoNum type="alphaUcPeriod"/>
            </a:pPr>
            <a:endParaRPr lang="es-ES" dirty="0"/>
          </a:p>
          <a:p>
            <a:pPr marL="5080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E5BEDD-EE00-8838-E562-22007BEA1C1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0B02E0C-655E-3453-1CF7-7AC0431FA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826" y="2792486"/>
            <a:ext cx="4019397" cy="1035883"/>
          </a:xfrm>
          <a:prstGeom prst="roundRect">
            <a:avLst>
              <a:gd name="adj" fmla="val 11789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a[][], b;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[][] c, d;</a:t>
            </a:r>
            <a:endParaRPr kumimoji="0" lang="en-US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5ABF9F-DB4D-7DD1-312E-3639FB116BCA}"/>
              </a:ext>
            </a:extLst>
          </p:cNvPr>
          <p:cNvSpPr txBox="1"/>
          <p:nvPr/>
        </p:nvSpPr>
        <p:spPr>
          <a:xfrm>
            <a:off x="664360" y="6534141"/>
            <a:ext cx="952760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https://cdn.create.vista.com/api/media/medium/265378026/stock-photo-concentrated-businessman-using-digital-tablet?token=</a:t>
            </a:r>
          </a:p>
        </p:txBody>
      </p:sp>
    </p:spTree>
    <p:extLst>
      <p:ext uri="{BB962C8B-B14F-4D97-AF65-F5344CB8AC3E}">
        <p14:creationId xmlns:p14="http://schemas.microsoft.com/office/powerpoint/2010/main" val="254177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D2412-C8AB-2541-ACC5-3C51C06A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83659-8255-0D93-DD9B-5C209559D0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41EA5-169B-FEF7-4B5C-8AF43E00B56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/>
              <a:t>Escribir un programa en Java que solicite números reales para una matriz de 3x3. Calcular, por fila, la suma y promedio. Almacenar los resultados en vectores paralelos y mostrarlos en pantalla.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E5BEDD-EE00-8838-E562-22007BEA1C1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CB45644-49AA-CEE8-CE6F-05BF77B3856D}"/>
              </a:ext>
            </a:extLst>
          </p:cNvPr>
          <p:cNvGrpSpPr/>
          <p:nvPr/>
        </p:nvGrpSpPr>
        <p:grpSpPr>
          <a:xfrm>
            <a:off x="3772316" y="3862003"/>
            <a:ext cx="2300745" cy="2302490"/>
            <a:chOff x="6561213" y="2037869"/>
            <a:chExt cx="3826869" cy="3829772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060753BC-2728-66D8-6CD6-B43353DF8EBF}"/>
                </a:ext>
              </a:extLst>
            </p:cNvPr>
            <p:cNvSpPr/>
            <p:nvPr/>
          </p:nvSpPr>
          <p:spPr>
            <a:xfrm>
              <a:off x="6561213" y="2037870"/>
              <a:ext cx="1272209" cy="1272209"/>
            </a:xfrm>
            <a:prstGeom prst="rect">
              <a:avLst/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accent2">
                      <a:lumMod val="50000"/>
                    </a:schemeClr>
                  </a:solidFill>
                </a:rPr>
                <a:t>15</a:t>
              </a:r>
            </a:p>
          </p:txBody>
        </p:sp>
        <p:sp>
          <p:nvSpPr>
            <p:cNvPr id="8" name="Rectángulo 10">
              <a:extLst>
                <a:ext uri="{FF2B5EF4-FFF2-40B4-BE49-F238E27FC236}">
                  <a16:creationId xmlns:a16="http://schemas.microsoft.com/office/drawing/2014/main" id="{2107910C-B3D4-121E-6B32-02B1E3304331}"/>
                </a:ext>
              </a:extLst>
            </p:cNvPr>
            <p:cNvSpPr/>
            <p:nvPr/>
          </p:nvSpPr>
          <p:spPr>
            <a:xfrm>
              <a:off x="7838543" y="2039418"/>
              <a:ext cx="1272209" cy="1272209"/>
            </a:xfrm>
            <a:prstGeom prst="rect">
              <a:avLst/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accent2">
                      <a:lumMod val="50000"/>
                    </a:schemeClr>
                  </a:solidFill>
                </a:rPr>
                <a:t>10</a:t>
              </a:r>
            </a:p>
          </p:txBody>
        </p:sp>
        <p:sp>
          <p:nvSpPr>
            <p:cNvPr id="9" name="Rectángulo 11">
              <a:extLst>
                <a:ext uri="{FF2B5EF4-FFF2-40B4-BE49-F238E27FC236}">
                  <a16:creationId xmlns:a16="http://schemas.microsoft.com/office/drawing/2014/main" id="{D0308D6B-9DAC-F32C-589A-C6D63404797A}"/>
                </a:ext>
              </a:extLst>
            </p:cNvPr>
            <p:cNvSpPr/>
            <p:nvPr/>
          </p:nvSpPr>
          <p:spPr>
            <a:xfrm>
              <a:off x="9115873" y="2037869"/>
              <a:ext cx="1272209" cy="1272209"/>
            </a:xfrm>
            <a:prstGeom prst="rect">
              <a:avLst/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accent2">
                      <a:lumMod val="50000"/>
                    </a:schemeClr>
                  </a:solidFill>
                </a:rPr>
                <a:t>28</a:t>
              </a:r>
            </a:p>
          </p:txBody>
        </p:sp>
        <p:sp>
          <p:nvSpPr>
            <p:cNvPr id="10" name="Rectángulo 18">
              <a:extLst>
                <a:ext uri="{FF2B5EF4-FFF2-40B4-BE49-F238E27FC236}">
                  <a16:creationId xmlns:a16="http://schemas.microsoft.com/office/drawing/2014/main" id="{3B25FF67-9C49-E0F2-3D66-26A08F50E23B}"/>
                </a:ext>
              </a:extLst>
            </p:cNvPr>
            <p:cNvSpPr/>
            <p:nvPr/>
          </p:nvSpPr>
          <p:spPr>
            <a:xfrm>
              <a:off x="6561213" y="3315877"/>
              <a:ext cx="1272209" cy="1272209"/>
            </a:xfrm>
            <a:prstGeom prst="rect">
              <a:avLst/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accent2">
                      <a:lumMod val="50000"/>
                    </a:schemeClr>
                  </a:solidFill>
                </a:rPr>
                <a:t>7</a:t>
              </a:r>
            </a:p>
          </p:txBody>
        </p:sp>
        <p:sp>
          <p:nvSpPr>
            <p:cNvPr id="11" name="Rectángulo 19">
              <a:extLst>
                <a:ext uri="{FF2B5EF4-FFF2-40B4-BE49-F238E27FC236}">
                  <a16:creationId xmlns:a16="http://schemas.microsoft.com/office/drawing/2014/main" id="{D71DEBD9-D061-4636-04A2-166D29069676}"/>
                </a:ext>
              </a:extLst>
            </p:cNvPr>
            <p:cNvSpPr/>
            <p:nvPr/>
          </p:nvSpPr>
          <p:spPr>
            <a:xfrm>
              <a:off x="7838543" y="3317425"/>
              <a:ext cx="1272209" cy="1272209"/>
            </a:xfrm>
            <a:prstGeom prst="rect">
              <a:avLst/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accent2">
                      <a:lumMod val="50000"/>
                    </a:schemeClr>
                  </a:solidFill>
                </a:rPr>
                <a:t>3</a:t>
              </a:r>
            </a:p>
          </p:txBody>
        </p:sp>
        <p:sp>
          <p:nvSpPr>
            <p:cNvPr id="12" name="Rectángulo 20">
              <a:extLst>
                <a:ext uri="{FF2B5EF4-FFF2-40B4-BE49-F238E27FC236}">
                  <a16:creationId xmlns:a16="http://schemas.microsoft.com/office/drawing/2014/main" id="{CF6DB43C-1599-B11E-FD20-6566A36E737A}"/>
                </a:ext>
              </a:extLst>
            </p:cNvPr>
            <p:cNvSpPr/>
            <p:nvPr/>
          </p:nvSpPr>
          <p:spPr>
            <a:xfrm>
              <a:off x="9115873" y="3315876"/>
              <a:ext cx="1272209" cy="1272209"/>
            </a:xfrm>
            <a:prstGeom prst="rect">
              <a:avLst/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accent2">
                      <a:lumMod val="50000"/>
                    </a:schemeClr>
                  </a:solidFill>
                </a:rPr>
                <a:t>16</a:t>
              </a:r>
            </a:p>
          </p:txBody>
        </p:sp>
        <p:sp>
          <p:nvSpPr>
            <p:cNvPr id="13" name="Rectángulo 21">
              <a:extLst>
                <a:ext uri="{FF2B5EF4-FFF2-40B4-BE49-F238E27FC236}">
                  <a16:creationId xmlns:a16="http://schemas.microsoft.com/office/drawing/2014/main" id="{826671F5-552E-50E5-B9EA-357E2B351DF7}"/>
                </a:ext>
              </a:extLst>
            </p:cNvPr>
            <p:cNvSpPr/>
            <p:nvPr/>
          </p:nvSpPr>
          <p:spPr>
            <a:xfrm>
              <a:off x="6561213" y="4593884"/>
              <a:ext cx="1272209" cy="1272209"/>
            </a:xfrm>
            <a:prstGeom prst="rect">
              <a:avLst/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accent2">
                      <a:lumMod val="50000"/>
                    </a:schemeClr>
                  </a:solidFill>
                </a:rPr>
                <a:t>9</a:t>
              </a:r>
            </a:p>
          </p:txBody>
        </p:sp>
        <p:sp>
          <p:nvSpPr>
            <p:cNvPr id="14" name="Rectángulo 22">
              <a:extLst>
                <a:ext uri="{FF2B5EF4-FFF2-40B4-BE49-F238E27FC236}">
                  <a16:creationId xmlns:a16="http://schemas.microsoft.com/office/drawing/2014/main" id="{64A9E7FF-49BD-6E4E-EC3F-A389BD2B9AF8}"/>
                </a:ext>
              </a:extLst>
            </p:cNvPr>
            <p:cNvSpPr/>
            <p:nvPr/>
          </p:nvSpPr>
          <p:spPr>
            <a:xfrm>
              <a:off x="7838543" y="4595432"/>
              <a:ext cx="1272209" cy="1272209"/>
            </a:xfrm>
            <a:prstGeom prst="rect">
              <a:avLst/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accent2">
                      <a:lumMod val="50000"/>
                    </a:schemeClr>
                  </a:solidFill>
                </a:rPr>
                <a:t>20</a:t>
              </a:r>
            </a:p>
          </p:txBody>
        </p:sp>
        <p:sp>
          <p:nvSpPr>
            <p:cNvPr id="15" name="Rectángulo 23">
              <a:extLst>
                <a:ext uri="{FF2B5EF4-FFF2-40B4-BE49-F238E27FC236}">
                  <a16:creationId xmlns:a16="http://schemas.microsoft.com/office/drawing/2014/main" id="{F26D0F73-F106-21A7-8A75-DC7CF206D964}"/>
                </a:ext>
              </a:extLst>
            </p:cNvPr>
            <p:cNvSpPr/>
            <p:nvPr/>
          </p:nvSpPr>
          <p:spPr>
            <a:xfrm>
              <a:off x="9115873" y="4593883"/>
              <a:ext cx="1272209" cy="1272209"/>
            </a:xfrm>
            <a:prstGeom prst="rect">
              <a:avLst/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2400" dirty="0">
                  <a:solidFill>
                    <a:schemeClr val="accent2">
                      <a:lumMod val="50000"/>
                    </a:schemeClr>
                  </a:solidFill>
                </a:rPr>
                <a:t>8</a:t>
              </a:r>
            </a:p>
          </p:txBody>
        </p:sp>
      </p:grp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436E0FB-D92A-0D08-8069-916D448FB3E0}"/>
              </a:ext>
            </a:extLst>
          </p:cNvPr>
          <p:cNvSpPr/>
          <p:nvPr/>
        </p:nvSpPr>
        <p:spPr>
          <a:xfrm>
            <a:off x="3996644" y="3344839"/>
            <a:ext cx="2076417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>
                <a:solidFill>
                  <a:schemeClr val="bg1">
                    <a:lumMod val="50000"/>
                  </a:schemeClr>
                </a:solidFill>
              </a:rPr>
              <a:t>0         1           2</a:t>
            </a:r>
          </a:p>
        </p:txBody>
      </p:sp>
      <p:sp>
        <p:nvSpPr>
          <p:cNvPr id="17" name="Rectángulo: esquinas redondeadas 15">
            <a:extLst>
              <a:ext uri="{FF2B5EF4-FFF2-40B4-BE49-F238E27FC236}">
                <a16:creationId xmlns:a16="http://schemas.microsoft.com/office/drawing/2014/main" id="{48A8C542-2407-10F4-C11E-DB2C3EB99DDF}"/>
              </a:ext>
            </a:extLst>
          </p:cNvPr>
          <p:cNvSpPr/>
          <p:nvPr/>
        </p:nvSpPr>
        <p:spPr>
          <a:xfrm>
            <a:off x="3320502" y="3949355"/>
            <a:ext cx="360867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dirty="0">
                <a:solidFill>
                  <a:schemeClr val="bg1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18" name="Rectángulo: esquinas redondeadas 15">
            <a:extLst>
              <a:ext uri="{FF2B5EF4-FFF2-40B4-BE49-F238E27FC236}">
                <a16:creationId xmlns:a16="http://schemas.microsoft.com/office/drawing/2014/main" id="{D393C42A-72A9-7825-AAD2-E389AB600896}"/>
              </a:ext>
            </a:extLst>
          </p:cNvPr>
          <p:cNvSpPr/>
          <p:nvPr/>
        </p:nvSpPr>
        <p:spPr>
          <a:xfrm>
            <a:off x="3299774" y="4774964"/>
            <a:ext cx="360867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19" name="Rectángulo: esquinas redondeadas 15">
            <a:extLst>
              <a:ext uri="{FF2B5EF4-FFF2-40B4-BE49-F238E27FC236}">
                <a16:creationId xmlns:a16="http://schemas.microsoft.com/office/drawing/2014/main" id="{E59BB195-C832-DC38-17F0-324B4E8D3CF7}"/>
              </a:ext>
            </a:extLst>
          </p:cNvPr>
          <p:cNvSpPr/>
          <p:nvPr/>
        </p:nvSpPr>
        <p:spPr>
          <a:xfrm>
            <a:off x="3299773" y="5560984"/>
            <a:ext cx="360867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20" name="Rectángulo 11">
            <a:extLst>
              <a:ext uri="{FF2B5EF4-FFF2-40B4-BE49-F238E27FC236}">
                <a16:creationId xmlns:a16="http://schemas.microsoft.com/office/drawing/2014/main" id="{8D376A97-2942-2837-821F-2F8AC2EECFB9}"/>
              </a:ext>
            </a:extLst>
          </p:cNvPr>
          <p:cNvSpPr/>
          <p:nvPr/>
        </p:nvSpPr>
        <p:spPr>
          <a:xfrm>
            <a:off x="6949325" y="3881499"/>
            <a:ext cx="764862" cy="7648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2400" dirty="0">
                <a:solidFill>
                  <a:schemeClr val="accent6">
                    <a:lumMod val="75000"/>
                  </a:schemeClr>
                </a:solidFill>
              </a:rPr>
              <a:t>53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42C7D6F-68AF-EE70-52EE-0388BF3E7B33}"/>
              </a:ext>
            </a:extLst>
          </p:cNvPr>
          <p:cNvSpPr/>
          <p:nvPr/>
        </p:nvSpPr>
        <p:spPr>
          <a:xfrm>
            <a:off x="6949325" y="4649847"/>
            <a:ext cx="764862" cy="7648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2400" dirty="0">
                <a:solidFill>
                  <a:schemeClr val="accent6">
                    <a:lumMod val="75000"/>
                  </a:schemeClr>
                </a:solidFill>
              </a:rPr>
              <a:t>26</a:t>
            </a:r>
          </a:p>
        </p:txBody>
      </p:sp>
      <p:sp>
        <p:nvSpPr>
          <p:cNvPr id="22" name="Rectángulo 23">
            <a:extLst>
              <a:ext uri="{FF2B5EF4-FFF2-40B4-BE49-F238E27FC236}">
                <a16:creationId xmlns:a16="http://schemas.microsoft.com/office/drawing/2014/main" id="{F006DE38-EEEA-14DA-4F77-6717CDB8A286}"/>
              </a:ext>
            </a:extLst>
          </p:cNvPr>
          <p:cNvSpPr/>
          <p:nvPr/>
        </p:nvSpPr>
        <p:spPr>
          <a:xfrm>
            <a:off x="6949325" y="5418195"/>
            <a:ext cx="764862" cy="7648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2400" dirty="0">
                <a:solidFill>
                  <a:schemeClr val="accent6">
                    <a:lumMod val="75000"/>
                  </a:schemeClr>
                </a:solidFill>
              </a:rPr>
              <a:t>37</a:t>
            </a:r>
          </a:p>
        </p:txBody>
      </p:sp>
      <p:sp>
        <p:nvSpPr>
          <p:cNvPr id="23" name="Rectángulo 11">
            <a:extLst>
              <a:ext uri="{FF2B5EF4-FFF2-40B4-BE49-F238E27FC236}">
                <a16:creationId xmlns:a16="http://schemas.microsoft.com/office/drawing/2014/main" id="{03F70700-2309-F16C-63D6-9BE948CCCC62}"/>
              </a:ext>
            </a:extLst>
          </p:cNvPr>
          <p:cNvSpPr/>
          <p:nvPr/>
        </p:nvSpPr>
        <p:spPr>
          <a:xfrm>
            <a:off x="8161206" y="3881499"/>
            <a:ext cx="1106084" cy="76486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2400" dirty="0">
                <a:solidFill>
                  <a:schemeClr val="accent4">
                    <a:lumMod val="50000"/>
                  </a:schemeClr>
                </a:solidFill>
              </a:rPr>
              <a:t>17.67</a:t>
            </a:r>
          </a:p>
        </p:txBody>
      </p:sp>
      <p:sp>
        <p:nvSpPr>
          <p:cNvPr id="24" name="Rectángulo 20">
            <a:extLst>
              <a:ext uri="{FF2B5EF4-FFF2-40B4-BE49-F238E27FC236}">
                <a16:creationId xmlns:a16="http://schemas.microsoft.com/office/drawing/2014/main" id="{DDEF45DF-FA34-80C1-4E30-61FBBDC71C77}"/>
              </a:ext>
            </a:extLst>
          </p:cNvPr>
          <p:cNvSpPr/>
          <p:nvPr/>
        </p:nvSpPr>
        <p:spPr>
          <a:xfrm>
            <a:off x="8161206" y="4649847"/>
            <a:ext cx="1106084" cy="76486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2400" dirty="0">
                <a:solidFill>
                  <a:schemeClr val="accent4">
                    <a:lumMod val="50000"/>
                  </a:schemeClr>
                </a:solidFill>
              </a:rPr>
              <a:t>8.67</a:t>
            </a:r>
          </a:p>
        </p:txBody>
      </p:sp>
      <p:sp>
        <p:nvSpPr>
          <p:cNvPr id="25" name="Rectángulo 23">
            <a:extLst>
              <a:ext uri="{FF2B5EF4-FFF2-40B4-BE49-F238E27FC236}">
                <a16:creationId xmlns:a16="http://schemas.microsoft.com/office/drawing/2014/main" id="{150D97B0-6EF3-2E54-C920-3F9C9C172740}"/>
              </a:ext>
            </a:extLst>
          </p:cNvPr>
          <p:cNvSpPr/>
          <p:nvPr/>
        </p:nvSpPr>
        <p:spPr>
          <a:xfrm>
            <a:off x="8161206" y="5418195"/>
            <a:ext cx="1106084" cy="76486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2400" dirty="0">
                <a:solidFill>
                  <a:schemeClr val="accent4">
                    <a:lumMod val="50000"/>
                  </a:schemeClr>
                </a:solidFill>
              </a:rPr>
              <a:t>12.33</a:t>
            </a:r>
          </a:p>
        </p:txBody>
      </p:sp>
      <p:sp>
        <p:nvSpPr>
          <p:cNvPr id="26" name="Rectángulo: esquinas redondeadas 15">
            <a:extLst>
              <a:ext uri="{FF2B5EF4-FFF2-40B4-BE49-F238E27FC236}">
                <a16:creationId xmlns:a16="http://schemas.microsoft.com/office/drawing/2014/main" id="{C7E8D981-F5C2-62FA-56A8-9BEBC5E55068}"/>
              </a:ext>
            </a:extLst>
          </p:cNvPr>
          <p:cNvSpPr/>
          <p:nvPr/>
        </p:nvSpPr>
        <p:spPr>
          <a:xfrm>
            <a:off x="6861558" y="3344839"/>
            <a:ext cx="998172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>
                <a:solidFill>
                  <a:schemeClr val="bg1">
                    <a:lumMod val="50000"/>
                  </a:schemeClr>
                </a:solidFill>
              </a:rPr>
              <a:t>suma</a:t>
            </a:r>
          </a:p>
        </p:txBody>
      </p:sp>
      <p:sp>
        <p:nvSpPr>
          <p:cNvPr id="27" name="Rectángulo: esquinas redondeadas 15">
            <a:extLst>
              <a:ext uri="{FF2B5EF4-FFF2-40B4-BE49-F238E27FC236}">
                <a16:creationId xmlns:a16="http://schemas.microsoft.com/office/drawing/2014/main" id="{9D85D98D-FA09-761B-E354-FADCB26957B8}"/>
              </a:ext>
            </a:extLst>
          </p:cNvPr>
          <p:cNvSpPr/>
          <p:nvPr/>
        </p:nvSpPr>
        <p:spPr>
          <a:xfrm>
            <a:off x="8111514" y="3344839"/>
            <a:ext cx="1227696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>
                <a:solidFill>
                  <a:schemeClr val="bg1">
                    <a:lumMod val="50000"/>
                  </a:schemeClr>
                </a:solidFill>
              </a:rPr>
              <a:t>promedio</a:t>
            </a:r>
          </a:p>
        </p:txBody>
      </p:sp>
    </p:spTree>
    <p:extLst>
      <p:ext uri="{BB962C8B-B14F-4D97-AF65-F5344CB8AC3E}">
        <p14:creationId xmlns:p14="http://schemas.microsoft.com/office/powerpoint/2010/main" val="257646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73CC1341-D226-6934-FD26-94AD29B043A7}"/>
              </a:ext>
            </a:extLst>
          </p:cNvPr>
          <p:cNvSpPr/>
          <p:nvPr/>
        </p:nvSpPr>
        <p:spPr>
          <a:xfrm>
            <a:off x="7982678" y="-9833"/>
            <a:ext cx="4193457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557384 w 3966288"/>
              <a:gd name="connsiteY0" fmla="*/ 0 h 6877665"/>
              <a:gd name="connsiteX1" fmla="*/ 3966288 w 3966288"/>
              <a:gd name="connsiteY1" fmla="*/ 9832 h 6877665"/>
              <a:gd name="connsiteX2" fmla="*/ 3966288 w 3966288"/>
              <a:gd name="connsiteY2" fmla="*/ 6867832 h 6877665"/>
              <a:gd name="connsiteX3" fmla="*/ 3042056 w 3966288"/>
              <a:gd name="connsiteY3" fmla="*/ 6877665 h 6877665"/>
              <a:gd name="connsiteX4" fmla="*/ 0 w 3966288"/>
              <a:gd name="connsiteY4" fmla="*/ 2664542 h 6877665"/>
              <a:gd name="connsiteX5" fmla="*/ 1557384 w 3966288"/>
              <a:gd name="connsiteY5" fmla="*/ 0 h 6877665"/>
              <a:gd name="connsiteX0" fmla="*/ 1272536 w 3681440"/>
              <a:gd name="connsiteY0" fmla="*/ 0 h 6877665"/>
              <a:gd name="connsiteX1" fmla="*/ 3681440 w 3681440"/>
              <a:gd name="connsiteY1" fmla="*/ 9832 h 6877665"/>
              <a:gd name="connsiteX2" fmla="*/ 3681440 w 3681440"/>
              <a:gd name="connsiteY2" fmla="*/ 6867832 h 6877665"/>
              <a:gd name="connsiteX3" fmla="*/ 2757208 w 3681440"/>
              <a:gd name="connsiteY3" fmla="*/ 6877665 h 6877665"/>
              <a:gd name="connsiteX4" fmla="*/ 0 w 3681440"/>
              <a:gd name="connsiteY4" fmla="*/ 2979174 h 6877665"/>
              <a:gd name="connsiteX5" fmla="*/ 1272536 w 3681440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1440" h="6877665">
                <a:moveTo>
                  <a:pt x="1272536" y="0"/>
                </a:moveTo>
                <a:lnTo>
                  <a:pt x="3681440" y="9832"/>
                </a:lnTo>
                <a:lnTo>
                  <a:pt x="3681440" y="6867832"/>
                </a:lnTo>
                <a:lnTo>
                  <a:pt x="2757208" y="6877665"/>
                </a:lnTo>
                <a:lnTo>
                  <a:pt x="0" y="2979174"/>
                </a:lnTo>
                <a:lnTo>
                  <a:pt x="127253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52400" dist="762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50029-C1D9-4608-C29D-C2E80A101086}"/>
              </a:ext>
            </a:extLst>
          </p:cNvPr>
          <p:cNvSpPr/>
          <p:nvPr/>
        </p:nvSpPr>
        <p:spPr>
          <a:xfrm>
            <a:off x="7914968" y="-9832"/>
            <a:ext cx="4277032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7032" h="6877665">
                <a:moveTo>
                  <a:pt x="1868128" y="0"/>
                </a:moveTo>
                <a:lnTo>
                  <a:pt x="4277032" y="9832"/>
                </a:lnTo>
                <a:lnTo>
                  <a:pt x="4277032" y="6867832"/>
                </a:lnTo>
                <a:lnTo>
                  <a:pt x="3352800" y="6877665"/>
                </a:lnTo>
                <a:lnTo>
                  <a:pt x="0" y="2615381"/>
                </a:lnTo>
                <a:lnTo>
                  <a:pt x="1868128" y="0"/>
                </a:lnTo>
                <a:close/>
              </a:path>
            </a:pathLst>
          </a:custGeom>
          <a:solidFill>
            <a:srgbClr val="FCF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E9576-177F-AC2B-3010-6C3B05812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065"/>
          <a:stretch/>
        </p:blipFill>
        <p:spPr>
          <a:xfrm>
            <a:off x="8721213" y="343004"/>
            <a:ext cx="3470787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25" y="429863"/>
            <a:ext cx="10727076" cy="785528"/>
          </a:xfrm>
        </p:spPr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4AF93-4E4C-5B4B-6F8D-742F13670E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725" y="1436914"/>
            <a:ext cx="7288244" cy="4782911"/>
          </a:xfrm>
        </p:spPr>
        <p:txBody>
          <a:bodyPr/>
          <a:lstStyle/>
          <a:p>
            <a:r>
              <a:rPr lang="es-ES" dirty="0"/>
              <a:t>¿Qué es una matriz?</a:t>
            </a:r>
          </a:p>
          <a:p>
            <a:r>
              <a:rPr lang="es-ES" dirty="0"/>
              <a:t>¿Cuántas dimensiones puede tener una matriz?</a:t>
            </a:r>
          </a:p>
          <a:p>
            <a:r>
              <a:rPr lang="es-ES" dirty="0"/>
              <a:t>¿Qué usamos para recorrer una matriz?</a:t>
            </a:r>
          </a:p>
          <a:p>
            <a:r>
              <a:rPr lang="es-ES" dirty="0"/>
              <a:t>¿Cómo declaramos y creamos una matriz?</a:t>
            </a:r>
          </a:p>
          <a:p>
            <a:r>
              <a:rPr lang="es-ES" dirty="0"/>
              <a:t>¿Cuál es la diferencia entre usar una matriz y usar arreglos paralelos?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3" y="6107707"/>
            <a:ext cx="10886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https://www.pngmart.com/files/16/Portable-Laptop-Top-View-PNG-Transparent-Image.png  /  https://static.vecteezy.com/system/resources/previews/010/851/398/original/realistic-black-glasses-top-view-png.png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https://creazilla-store.fra1.digitaloceanspaces.com/cliparts/61158/paperclips-clipart-xl.png   /   https://images.frandroid.com/wp-content/uploads/2019/04/google-nexus-6.png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https://www.freeiconspng.com/thumbs/pencil-png/pencil-4.png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949E4C-2370-2348-5C0A-672EAE02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23687">
            <a:off x="9269482" y="3041293"/>
            <a:ext cx="1134497" cy="5991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1E9B67-10EC-1AA4-A5E8-47C170717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29" t="3247" r="24723" b="2817"/>
          <a:stretch/>
        </p:blipFill>
        <p:spPr>
          <a:xfrm rot="20308301">
            <a:off x="10734652" y="4326432"/>
            <a:ext cx="1005900" cy="19343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AEC929-D47B-2FDD-AFA2-52AE3390D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38350" flipH="1">
            <a:off x="8564312" y="384380"/>
            <a:ext cx="2531472" cy="201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9C2A6-1CC9-2ADF-272F-ADD1B64D978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4409" b="34623"/>
          <a:stretch/>
        </p:blipFill>
        <p:spPr>
          <a:xfrm rot="19496666">
            <a:off x="8412092" y="1611320"/>
            <a:ext cx="2656202" cy="822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25B1C-2916-4D63-980D-34A5C1D90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9554" r="10344"/>
          <a:stretch/>
        </p:blipFill>
        <p:spPr>
          <a:xfrm>
            <a:off x="8992709" y="0"/>
            <a:ext cx="3205114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69" y="1436914"/>
            <a:ext cx="7988431" cy="478291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 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Joyanes, Luis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Fundamentos de Programación</a:t>
            </a:r>
            <a:r>
              <a:rPr lang="es-ES" dirty="0"/>
              <a:t>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Cuarta edición</a:t>
            </a:r>
            <a:r>
              <a:rPr lang="es-ES" dirty="0"/>
              <a:t>. McGraw-Hill.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4" y="6421002"/>
            <a:ext cx="10852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https://images.unsplash.com/photo-1567168544646-208fa5d408fb?ixlib=rb-4.0.3&amp;ixid=MnwxMjA3fDB8MHxzZWFyY2h8Mnx8c3R1ZGVudCUyMGxpYnJhcnl8ZW58MHx8MHx8&amp;w=1000&amp;q=80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2574</TotalTime>
  <Words>2476</Words>
  <Application>Microsoft Office PowerPoint</Application>
  <PresentationFormat>Panorámica</PresentationFormat>
  <Paragraphs>602</Paragraphs>
  <Slides>32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7" baseType="lpstr">
      <vt:lpstr>Arial</vt:lpstr>
      <vt:lpstr>Arial Black</vt:lpstr>
      <vt:lpstr>Helvetica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Arreglos de dos dimensiones (I)</vt:lpstr>
      <vt:lpstr>Conocimientos previos</vt:lpstr>
      <vt:lpstr>Logro de aprendizaje</vt:lpstr>
      <vt:lpstr>Utilidad</vt:lpstr>
      <vt:lpstr>Presentación de PowerPoint</vt:lpstr>
      <vt:lpstr>Presentación de PowerPoint</vt:lpstr>
      <vt:lpstr>Arreglos de dos dimensiones</vt:lpstr>
      <vt:lpstr>Dimensiones de una matriz</vt:lpstr>
      <vt:lpstr>Para no olvidar</vt:lpstr>
      <vt:lpstr>Presentación de PowerPoint</vt:lpstr>
      <vt:lpstr>Declaración</vt:lpstr>
      <vt:lpstr>Creación con “new”</vt:lpstr>
      <vt:lpstr>Creación con inicializador</vt:lpstr>
      <vt:lpstr>Presentación de PowerPoint</vt:lpstr>
      <vt:lpstr>¿Cómo se accede a una matriz?</vt:lpstr>
      <vt:lpstr>Acceso</vt:lpstr>
      <vt:lpstr>Acceso. Asignación.</vt:lpstr>
      <vt:lpstr>Recorrido</vt:lpstr>
      <vt:lpstr>Recorrido</vt:lpstr>
      <vt:lpstr>Presentación de PowerPoint</vt:lpstr>
      <vt:lpstr>Cuestionario</vt:lpstr>
      <vt:lpstr>Cuestionario</vt:lpstr>
      <vt:lpstr>Discusión</vt:lpstr>
      <vt:lpstr>Ejercicio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11-Sesión 21</dc:title>
  <dc:creator>jorgerodcas@hotmail.com</dc:creator>
  <cp:lastModifiedBy>Juan Carlos García</cp:lastModifiedBy>
  <cp:revision>183</cp:revision>
  <dcterms:modified xsi:type="dcterms:W3CDTF">2023-10-23T15:51:07Z</dcterms:modified>
</cp:coreProperties>
</file>