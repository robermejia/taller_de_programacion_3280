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402" r:id="rId3"/>
    <p:sldId id="423" r:id="rId4"/>
    <p:sldId id="424" r:id="rId5"/>
    <p:sldId id="258" r:id="rId6"/>
    <p:sldId id="257" r:id="rId7"/>
    <p:sldId id="263" r:id="rId8"/>
    <p:sldId id="264" r:id="rId9"/>
    <p:sldId id="380" r:id="rId10"/>
    <p:sldId id="420" r:id="rId11"/>
    <p:sldId id="395" r:id="rId12"/>
    <p:sldId id="426" r:id="rId13"/>
    <p:sldId id="427" r:id="rId14"/>
    <p:sldId id="428" r:id="rId15"/>
    <p:sldId id="429" r:id="rId16"/>
    <p:sldId id="430" r:id="rId17"/>
    <p:sldId id="421" r:id="rId18"/>
    <p:sldId id="406" r:id="rId19"/>
    <p:sldId id="431" r:id="rId20"/>
    <p:sldId id="432" r:id="rId21"/>
    <p:sldId id="433" r:id="rId22"/>
    <p:sldId id="422" r:id="rId23"/>
    <p:sldId id="410" r:id="rId24"/>
    <p:sldId id="434" r:id="rId25"/>
    <p:sldId id="435" r:id="rId26"/>
    <p:sldId id="436" r:id="rId27"/>
    <p:sldId id="437" r:id="rId28"/>
    <p:sldId id="438" r:id="rId29"/>
    <p:sldId id="415" r:id="rId30"/>
    <p:sldId id="418" r:id="rId31"/>
    <p:sldId id="439" r:id="rId32"/>
    <p:sldId id="261" r:id="rId33"/>
    <p:sldId id="329" r:id="rId34"/>
    <p:sldId id="259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4CA5"/>
    <a:srgbClr val="1E1F22"/>
    <a:srgbClr val="F2F2F2"/>
    <a:srgbClr val="0085B4"/>
    <a:srgbClr val="FF0080"/>
    <a:srgbClr val="F5F5F5"/>
    <a:srgbClr val="0099CC"/>
    <a:srgbClr val="6CA62C"/>
    <a:srgbClr val="ACB15B"/>
    <a:srgbClr val="313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5" autoAdjust="0"/>
    <p:restoredTop sz="91656" autoAdjust="0"/>
  </p:normalViewPr>
  <p:slideViewPr>
    <p:cSldViewPr snapToGrid="0">
      <p:cViewPr varScale="1">
        <p:scale>
          <a:sx n="124" d="100"/>
          <a:sy n="124" d="100"/>
        </p:scale>
        <p:origin x="422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69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02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933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82977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21497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516196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743246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5996389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B</a:t>
            </a:r>
          </a:p>
          <a:p>
            <a:r>
              <a:rPr lang="es-ES" dirty="0"/>
              <a:t>El bucle recorre la diagonal de la matriz.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180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hyperlink" Target="https://plantuml.com/es/class-diagram" TargetMode="External"/><Relationship Id="rId7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hyperlink" Target="https://staruml.io/" TargetMode="External"/><Relationship Id="rId9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DD61-8E08-B0FD-E741-65D35C53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69" y="429863"/>
            <a:ext cx="10665431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DA3FE-0C5F-7F77-647A-68919E4DA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44AF8B3-44CA-FB0E-C0C6-D493BB6AE7AB}"/>
              </a:ext>
            </a:extLst>
          </p:cNvPr>
          <p:cNvGrpSpPr/>
          <p:nvPr/>
        </p:nvGrpSpPr>
        <p:grpSpPr>
          <a:xfrm>
            <a:off x="6591722" y="1921586"/>
            <a:ext cx="4037766" cy="1796434"/>
            <a:chOff x="6591722" y="2454986"/>
            <a:chExt cx="4037766" cy="1796434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0A335AA-212D-E598-3FDE-FDD146165EFF}"/>
                </a:ext>
              </a:extLst>
            </p:cNvPr>
            <p:cNvSpPr/>
            <p:nvPr/>
          </p:nvSpPr>
          <p:spPr>
            <a:xfrm>
              <a:off x="6958899" y="4205701"/>
              <a:ext cx="3404301" cy="4571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52400" dist="38100" dir="5400000" sx="131000" sy="13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AE92C32-30B7-4AFB-29E3-E1B03DB7382D}"/>
                </a:ext>
              </a:extLst>
            </p:cNvPr>
            <p:cNvGrpSpPr/>
            <p:nvPr/>
          </p:nvGrpSpPr>
          <p:grpSpPr>
            <a:xfrm rot="5400000">
              <a:off x="7831313" y="1215395"/>
              <a:ext cx="1558583" cy="4037766"/>
              <a:chOff x="7831307" y="1215391"/>
              <a:chExt cx="1558583" cy="4037766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653210FC-0B78-8609-A78B-87EC5ACC2D5E}"/>
                  </a:ext>
                </a:extLst>
              </p:cNvPr>
              <p:cNvSpPr/>
              <p:nvPr/>
            </p:nvSpPr>
            <p:spPr>
              <a:xfrm>
                <a:off x="7831307" y="1215392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F83E708A-3831-7B0E-4E84-8022C5BFB916}"/>
                  </a:ext>
                </a:extLst>
              </p:cNvPr>
              <p:cNvSpPr/>
              <p:nvPr/>
            </p:nvSpPr>
            <p:spPr>
              <a:xfrm flipV="1">
                <a:off x="7831311" y="3234274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0080"/>
                  </a:gs>
                  <a:gs pos="100000">
                    <a:srgbClr val="C0000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2D305BAA-6426-7ECF-36E8-39D160B31B84}"/>
                  </a:ext>
                </a:extLst>
              </p:cNvPr>
              <p:cNvSpPr/>
              <p:nvPr/>
            </p:nvSpPr>
            <p:spPr>
              <a:xfrm>
                <a:off x="8023450" y="1994726"/>
                <a:ext cx="76823" cy="66068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75AEAAEC-C4E9-6C19-0E9A-039CF6B2F83A}"/>
                  </a:ext>
                </a:extLst>
              </p:cNvPr>
              <p:cNvSpPr/>
              <p:nvPr/>
            </p:nvSpPr>
            <p:spPr>
              <a:xfrm>
                <a:off x="8023450" y="2744446"/>
                <a:ext cx="76823" cy="161644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64F70DD1-EC9B-F22E-6AE0-869EDE2A99DC}"/>
                  </a:ext>
                </a:extLst>
              </p:cNvPr>
              <p:cNvSpPr/>
              <p:nvPr/>
            </p:nvSpPr>
            <p:spPr>
              <a:xfrm>
                <a:off x="8061861" y="1793441"/>
                <a:ext cx="76823" cy="859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1DF43500-FAE9-4788-0F26-AC718719CB2B}"/>
                  </a:ext>
                </a:extLst>
              </p:cNvPr>
              <p:cNvSpPr/>
              <p:nvPr/>
            </p:nvSpPr>
            <p:spPr>
              <a:xfrm>
                <a:off x="8977980" y="1223319"/>
                <a:ext cx="283207" cy="395488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2300">
                    <a:srgbClr val="FFFFFF">
                      <a:alpha val="25000"/>
                    </a:srgbClr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67744300-76A0-EC4E-224A-EFE88ED02DE8}"/>
                  </a:ext>
                </a:extLst>
              </p:cNvPr>
              <p:cNvSpPr/>
              <p:nvPr/>
            </p:nvSpPr>
            <p:spPr>
              <a:xfrm flipV="1">
                <a:off x="7831313" y="1215391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80D5AFB9-0E67-662B-97E8-5F047CD39F3D}"/>
                  </a:ext>
                </a:extLst>
              </p:cNvPr>
              <p:cNvSpPr/>
              <p:nvPr/>
            </p:nvSpPr>
            <p:spPr>
              <a:xfrm>
                <a:off x="7831311" y="3711676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rgbClr val="FF0080">
                      <a:alpha val="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599A1AC8-9637-9404-E6AE-E5066FA4BDA9}"/>
                  </a:ext>
                </a:extLst>
              </p:cNvPr>
              <p:cNvSpPr/>
              <p:nvPr/>
            </p:nvSpPr>
            <p:spPr>
              <a:xfrm>
                <a:off x="9017213" y="1632936"/>
                <a:ext cx="102371" cy="8928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5683A42-45AE-F6A0-B7C2-6BCBE0C52A95}"/>
              </a:ext>
            </a:extLst>
          </p:cNvPr>
          <p:cNvSpPr txBox="1"/>
          <p:nvPr/>
        </p:nvSpPr>
        <p:spPr>
          <a:xfrm>
            <a:off x="7108322" y="2210455"/>
            <a:ext cx="30045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Arreglos paralelos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9FA6648-6AE7-CA1D-25F0-8600B5755409}"/>
              </a:ext>
            </a:extLst>
          </p:cNvPr>
          <p:cNvGrpSpPr/>
          <p:nvPr/>
        </p:nvGrpSpPr>
        <p:grpSpPr>
          <a:xfrm>
            <a:off x="4156953" y="4264735"/>
            <a:ext cx="4037766" cy="1796435"/>
            <a:chOff x="6591717" y="2454985"/>
            <a:chExt cx="4037766" cy="179643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C9B3F7D-8238-7210-E6D5-5A10AC7939BA}"/>
                </a:ext>
              </a:extLst>
            </p:cNvPr>
            <p:cNvSpPr/>
            <p:nvPr/>
          </p:nvSpPr>
          <p:spPr>
            <a:xfrm>
              <a:off x="6958899" y="4205701"/>
              <a:ext cx="3404301" cy="4571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52400" dist="38100" dir="5400000" sx="131000" sy="13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D7AA299-274E-5DBC-F407-76BE9DCA73EC}"/>
                </a:ext>
              </a:extLst>
            </p:cNvPr>
            <p:cNvGrpSpPr/>
            <p:nvPr/>
          </p:nvGrpSpPr>
          <p:grpSpPr>
            <a:xfrm rot="5400000">
              <a:off x="7831311" y="1215391"/>
              <a:ext cx="1558577" cy="4037766"/>
              <a:chOff x="7831311" y="1215391"/>
              <a:chExt cx="1558577" cy="4037766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65F516B-D83D-6693-E1B6-71FC69EFA0D7}"/>
                  </a:ext>
                </a:extLst>
              </p:cNvPr>
              <p:cNvSpPr/>
              <p:nvPr/>
            </p:nvSpPr>
            <p:spPr>
              <a:xfrm>
                <a:off x="7831311" y="1215392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00000">
                    <a:schemeClr val="accent4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77BCED5-BDA9-AFB1-8B98-8895B2FC3EC4}"/>
                  </a:ext>
                </a:extLst>
              </p:cNvPr>
              <p:cNvSpPr/>
              <p:nvPr/>
            </p:nvSpPr>
            <p:spPr>
              <a:xfrm flipV="1">
                <a:off x="7831311" y="3234274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50000"/>
                    </a:schemeClr>
                  </a:gs>
                  <a:gs pos="100000">
                    <a:srgbClr val="92D050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2567D697-8F3B-B371-889A-E7044BC7B108}"/>
                  </a:ext>
                </a:extLst>
              </p:cNvPr>
              <p:cNvSpPr/>
              <p:nvPr/>
            </p:nvSpPr>
            <p:spPr>
              <a:xfrm>
                <a:off x="8023450" y="1994726"/>
                <a:ext cx="76823" cy="66068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2EB17FE2-A9D1-4DE3-F978-1479932ABFDA}"/>
                  </a:ext>
                </a:extLst>
              </p:cNvPr>
              <p:cNvSpPr/>
              <p:nvPr/>
            </p:nvSpPr>
            <p:spPr>
              <a:xfrm>
                <a:off x="8023450" y="2744446"/>
                <a:ext cx="76823" cy="161644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90798142-A156-10A8-A225-E9F72AF749EC}"/>
                  </a:ext>
                </a:extLst>
              </p:cNvPr>
              <p:cNvSpPr/>
              <p:nvPr/>
            </p:nvSpPr>
            <p:spPr>
              <a:xfrm>
                <a:off x="8061861" y="1793441"/>
                <a:ext cx="76823" cy="859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E9690CC7-8FA1-B99C-EB19-C505BECE93EA}"/>
                  </a:ext>
                </a:extLst>
              </p:cNvPr>
              <p:cNvSpPr/>
              <p:nvPr/>
            </p:nvSpPr>
            <p:spPr>
              <a:xfrm>
                <a:off x="8977980" y="1223319"/>
                <a:ext cx="283207" cy="395488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2300">
                    <a:srgbClr val="FFFFFF">
                      <a:alpha val="25000"/>
                    </a:srgbClr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3E49CAFE-6B96-E875-C026-1E472C65F406}"/>
                  </a:ext>
                </a:extLst>
              </p:cNvPr>
              <p:cNvSpPr/>
              <p:nvPr/>
            </p:nvSpPr>
            <p:spPr>
              <a:xfrm flipV="1">
                <a:off x="7831311" y="1215391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AB997464-335F-21CF-085A-E532B8A2CF61}"/>
                  </a:ext>
                </a:extLst>
              </p:cNvPr>
              <p:cNvSpPr/>
              <p:nvPr/>
            </p:nvSpPr>
            <p:spPr>
              <a:xfrm>
                <a:off x="7831311" y="3711676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rgbClr val="92D050">
                      <a:alpha val="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E8F85D19-C57A-247D-796C-DB4F8FF72556}"/>
                  </a:ext>
                </a:extLst>
              </p:cNvPr>
              <p:cNvSpPr/>
              <p:nvPr/>
            </p:nvSpPr>
            <p:spPr>
              <a:xfrm>
                <a:off x="9017213" y="1632936"/>
                <a:ext cx="102371" cy="8928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33A4DB65-B994-48B3-94AC-F3CF3EC48637}"/>
              </a:ext>
            </a:extLst>
          </p:cNvPr>
          <p:cNvSpPr txBox="1"/>
          <p:nvPr/>
        </p:nvSpPr>
        <p:spPr>
          <a:xfrm>
            <a:off x="4673558" y="4553605"/>
            <a:ext cx="30045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Operaciones con matrices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7D7C3CA-C18A-42C9-1993-2ED452B48959}"/>
              </a:ext>
            </a:extLst>
          </p:cNvPr>
          <p:cNvSpPr/>
          <p:nvPr/>
        </p:nvSpPr>
        <p:spPr>
          <a:xfrm>
            <a:off x="1009650" y="1628775"/>
            <a:ext cx="10487025" cy="4657725"/>
          </a:xfrm>
          <a:prstGeom prst="round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EE1540D-8B23-125F-223C-839A5F821D4A}"/>
              </a:ext>
            </a:extLst>
          </p:cNvPr>
          <p:cNvGrpSpPr/>
          <p:nvPr/>
        </p:nvGrpSpPr>
        <p:grpSpPr>
          <a:xfrm>
            <a:off x="1648242" y="1921585"/>
            <a:ext cx="4037766" cy="1796435"/>
            <a:chOff x="6591717" y="2454985"/>
            <a:chExt cx="4037766" cy="1796435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E864ABA-1BA5-4242-8B90-55BFDAF4187F}"/>
                </a:ext>
              </a:extLst>
            </p:cNvPr>
            <p:cNvSpPr/>
            <p:nvPr/>
          </p:nvSpPr>
          <p:spPr>
            <a:xfrm>
              <a:off x="6958899" y="4205701"/>
              <a:ext cx="3404301" cy="4571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52400" dist="38100" dir="5400000" sx="131000" sy="13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5A4C6C6-BB7D-ED75-DC57-DCF6F5D27392}"/>
                </a:ext>
              </a:extLst>
            </p:cNvPr>
            <p:cNvGrpSpPr/>
            <p:nvPr/>
          </p:nvGrpSpPr>
          <p:grpSpPr>
            <a:xfrm rot="5400000">
              <a:off x="7831311" y="1215391"/>
              <a:ext cx="1558577" cy="4037766"/>
              <a:chOff x="7831311" y="1215391"/>
              <a:chExt cx="1558577" cy="4037766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851166A8-2895-F78A-CBB7-7FC0C55FD5F8}"/>
                  </a:ext>
                </a:extLst>
              </p:cNvPr>
              <p:cNvSpPr/>
              <p:nvPr/>
            </p:nvSpPr>
            <p:spPr>
              <a:xfrm>
                <a:off x="7831311" y="1215392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2977486-56C9-CC4B-FF6F-E2238FDFF891}"/>
                  </a:ext>
                </a:extLst>
              </p:cNvPr>
              <p:cNvSpPr/>
              <p:nvPr/>
            </p:nvSpPr>
            <p:spPr>
              <a:xfrm flipV="1">
                <a:off x="7831311" y="3234274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C00000">
                      <a:shade val="30000"/>
                      <a:satMod val="115000"/>
                    </a:srgbClr>
                  </a:gs>
                  <a:gs pos="50000">
                    <a:srgbClr val="C00000">
                      <a:shade val="67500"/>
                      <a:satMod val="115000"/>
                    </a:srgbClr>
                  </a:gs>
                  <a:gs pos="100000">
                    <a:srgbClr val="C0000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9DB2EB71-254D-73F8-FC1D-00F32A0229C3}"/>
                  </a:ext>
                </a:extLst>
              </p:cNvPr>
              <p:cNvSpPr/>
              <p:nvPr/>
            </p:nvSpPr>
            <p:spPr>
              <a:xfrm>
                <a:off x="8023450" y="1994726"/>
                <a:ext cx="76823" cy="66068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AD382078-5939-A5BF-9D5F-DBE30A88E8DB}"/>
                  </a:ext>
                </a:extLst>
              </p:cNvPr>
              <p:cNvSpPr/>
              <p:nvPr/>
            </p:nvSpPr>
            <p:spPr>
              <a:xfrm>
                <a:off x="8023450" y="2744446"/>
                <a:ext cx="76823" cy="161644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43E5694C-1954-63CB-01AB-FE6F053FE533}"/>
                  </a:ext>
                </a:extLst>
              </p:cNvPr>
              <p:cNvSpPr/>
              <p:nvPr/>
            </p:nvSpPr>
            <p:spPr>
              <a:xfrm>
                <a:off x="8061861" y="1793441"/>
                <a:ext cx="76823" cy="859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5605CDB6-5826-2914-16F1-4A79CD262815}"/>
                  </a:ext>
                </a:extLst>
              </p:cNvPr>
              <p:cNvSpPr/>
              <p:nvPr/>
            </p:nvSpPr>
            <p:spPr>
              <a:xfrm>
                <a:off x="8977980" y="1223319"/>
                <a:ext cx="283207" cy="395488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2300">
                    <a:srgbClr val="FFFFFF">
                      <a:alpha val="25000"/>
                    </a:srgbClr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525D455-026F-2537-5795-40D9BB7D9002}"/>
                  </a:ext>
                </a:extLst>
              </p:cNvPr>
              <p:cNvSpPr/>
              <p:nvPr/>
            </p:nvSpPr>
            <p:spPr>
              <a:xfrm flipV="1">
                <a:off x="7831311" y="1215391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rgbClr val="0070C0">
                      <a:alpha val="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939C01B-E8D8-E078-66A4-B635B959892C}"/>
                  </a:ext>
                </a:extLst>
              </p:cNvPr>
              <p:cNvSpPr/>
              <p:nvPr/>
            </p:nvSpPr>
            <p:spPr>
              <a:xfrm>
                <a:off x="7831311" y="3711676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rgbClr val="C00000">
                      <a:alpha val="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10D31D29-357F-F907-F141-B8B3EAE719B2}"/>
                  </a:ext>
                </a:extLst>
              </p:cNvPr>
              <p:cNvSpPr/>
              <p:nvPr/>
            </p:nvSpPr>
            <p:spPr>
              <a:xfrm>
                <a:off x="9017213" y="1632936"/>
                <a:ext cx="102371" cy="8928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85CEB75-E836-FBDD-4032-B1026E1FC13B}"/>
              </a:ext>
            </a:extLst>
          </p:cNvPr>
          <p:cNvSpPr txBox="1"/>
          <p:nvPr/>
        </p:nvSpPr>
        <p:spPr>
          <a:xfrm>
            <a:off x="2164847" y="2210455"/>
            <a:ext cx="30045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Arreglo bidimensional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43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DD61-8E08-B0FD-E741-65D35C53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69" y="429863"/>
            <a:ext cx="10665431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DA3FE-0C5F-7F77-647A-68919E4DA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EE1540D-8B23-125F-223C-839A5F821D4A}"/>
              </a:ext>
            </a:extLst>
          </p:cNvPr>
          <p:cNvGrpSpPr/>
          <p:nvPr/>
        </p:nvGrpSpPr>
        <p:grpSpPr>
          <a:xfrm>
            <a:off x="1648242" y="1921585"/>
            <a:ext cx="4037766" cy="1796435"/>
            <a:chOff x="6591717" y="2454985"/>
            <a:chExt cx="4037766" cy="1796435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E864ABA-1BA5-4242-8B90-55BFDAF4187F}"/>
                </a:ext>
              </a:extLst>
            </p:cNvPr>
            <p:cNvSpPr/>
            <p:nvPr/>
          </p:nvSpPr>
          <p:spPr>
            <a:xfrm>
              <a:off x="6958899" y="4205701"/>
              <a:ext cx="3404301" cy="4571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52400" dist="38100" dir="5400000" sx="131000" sy="13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5A4C6C6-BB7D-ED75-DC57-DCF6F5D27392}"/>
                </a:ext>
              </a:extLst>
            </p:cNvPr>
            <p:cNvGrpSpPr/>
            <p:nvPr/>
          </p:nvGrpSpPr>
          <p:grpSpPr>
            <a:xfrm rot="5400000">
              <a:off x="7831311" y="1215391"/>
              <a:ext cx="1558577" cy="4037766"/>
              <a:chOff x="7831311" y="1215391"/>
              <a:chExt cx="1558577" cy="4037766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851166A8-2895-F78A-CBB7-7FC0C55FD5F8}"/>
                  </a:ext>
                </a:extLst>
              </p:cNvPr>
              <p:cNvSpPr/>
              <p:nvPr/>
            </p:nvSpPr>
            <p:spPr>
              <a:xfrm>
                <a:off x="7831311" y="1215392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2977486-56C9-CC4B-FF6F-E2238FDFF891}"/>
                  </a:ext>
                </a:extLst>
              </p:cNvPr>
              <p:cNvSpPr/>
              <p:nvPr/>
            </p:nvSpPr>
            <p:spPr>
              <a:xfrm flipV="1">
                <a:off x="7831311" y="3234274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C00000">
                      <a:shade val="30000"/>
                      <a:satMod val="115000"/>
                    </a:srgbClr>
                  </a:gs>
                  <a:gs pos="50000">
                    <a:srgbClr val="C00000">
                      <a:shade val="67500"/>
                      <a:satMod val="115000"/>
                    </a:srgbClr>
                  </a:gs>
                  <a:gs pos="100000">
                    <a:srgbClr val="C0000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9DB2EB71-254D-73F8-FC1D-00F32A0229C3}"/>
                  </a:ext>
                </a:extLst>
              </p:cNvPr>
              <p:cNvSpPr/>
              <p:nvPr/>
            </p:nvSpPr>
            <p:spPr>
              <a:xfrm>
                <a:off x="8023450" y="1994726"/>
                <a:ext cx="76823" cy="66068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AD382078-5939-A5BF-9D5F-DBE30A88E8DB}"/>
                  </a:ext>
                </a:extLst>
              </p:cNvPr>
              <p:cNvSpPr/>
              <p:nvPr/>
            </p:nvSpPr>
            <p:spPr>
              <a:xfrm>
                <a:off x="8023450" y="2744446"/>
                <a:ext cx="76823" cy="161644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43E5694C-1954-63CB-01AB-FE6F053FE533}"/>
                  </a:ext>
                </a:extLst>
              </p:cNvPr>
              <p:cNvSpPr/>
              <p:nvPr/>
            </p:nvSpPr>
            <p:spPr>
              <a:xfrm>
                <a:off x="8061861" y="1793441"/>
                <a:ext cx="76823" cy="859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5605CDB6-5826-2914-16F1-4A79CD262815}"/>
                  </a:ext>
                </a:extLst>
              </p:cNvPr>
              <p:cNvSpPr/>
              <p:nvPr/>
            </p:nvSpPr>
            <p:spPr>
              <a:xfrm>
                <a:off x="8977980" y="1223319"/>
                <a:ext cx="283207" cy="395488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2300">
                    <a:srgbClr val="FFFFFF">
                      <a:alpha val="25000"/>
                    </a:srgbClr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525D455-026F-2537-5795-40D9BB7D9002}"/>
                  </a:ext>
                </a:extLst>
              </p:cNvPr>
              <p:cNvSpPr/>
              <p:nvPr/>
            </p:nvSpPr>
            <p:spPr>
              <a:xfrm flipV="1">
                <a:off x="7831311" y="1215391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rgbClr val="0070C0">
                      <a:alpha val="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939C01B-E8D8-E078-66A4-B635B959892C}"/>
                  </a:ext>
                </a:extLst>
              </p:cNvPr>
              <p:cNvSpPr/>
              <p:nvPr/>
            </p:nvSpPr>
            <p:spPr>
              <a:xfrm>
                <a:off x="7831311" y="3711676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rgbClr val="C00000">
                      <a:alpha val="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10D31D29-357F-F907-F141-B8B3EAE719B2}"/>
                  </a:ext>
                </a:extLst>
              </p:cNvPr>
              <p:cNvSpPr/>
              <p:nvPr/>
            </p:nvSpPr>
            <p:spPr>
              <a:xfrm>
                <a:off x="9017213" y="1632936"/>
                <a:ext cx="102371" cy="8928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85CEB75-E836-FBDD-4032-B1026E1FC13B}"/>
              </a:ext>
            </a:extLst>
          </p:cNvPr>
          <p:cNvSpPr txBox="1"/>
          <p:nvPr/>
        </p:nvSpPr>
        <p:spPr>
          <a:xfrm>
            <a:off x="2164847" y="2210455"/>
            <a:ext cx="30045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Arreglo bidimensional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9FA6648-6AE7-CA1D-25F0-8600B5755409}"/>
              </a:ext>
            </a:extLst>
          </p:cNvPr>
          <p:cNvGrpSpPr/>
          <p:nvPr/>
        </p:nvGrpSpPr>
        <p:grpSpPr>
          <a:xfrm>
            <a:off x="4156953" y="4264735"/>
            <a:ext cx="4037766" cy="1796435"/>
            <a:chOff x="6591717" y="2454985"/>
            <a:chExt cx="4037766" cy="179643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C9B3F7D-8238-7210-E6D5-5A10AC7939BA}"/>
                </a:ext>
              </a:extLst>
            </p:cNvPr>
            <p:cNvSpPr/>
            <p:nvPr/>
          </p:nvSpPr>
          <p:spPr>
            <a:xfrm>
              <a:off x="6958899" y="4205701"/>
              <a:ext cx="3404301" cy="4571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52400" dist="38100" dir="5400000" sx="131000" sy="13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D7AA299-274E-5DBC-F407-76BE9DCA73EC}"/>
                </a:ext>
              </a:extLst>
            </p:cNvPr>
            <p:cNvGrpSpPr/>
            <p:nvPr/>
          </p:nvGrpSpPr>
          <p:grpSpPr>
            <a:xfrm rot="5400000">
              <a:off x="7831311" y="1215391"/>
              <a:ext cx="1558577" cy="4037766"/>
              <a:chOff x="7831311" y="1215391"/>
              <a:chExt cx="1558577" cy="4037766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65F516B-D83D-6693-E1B6-71FC69EFA0D7}"/>
                  </a:ext>
                </a:extLst>
              </p:cNvPr>
              <p:cNvSpPr/>
              <p:nvPr/>
            </p:nvSpPr>
            <p:spPr>
              <a:xfrm>
                <a:off x="7831311" y="1215392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00000">
                    <a:schemeClr val="accent4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77BCED5-BDA9-AFB1-8B98-8895B2FC3EC4}"/>
                  </a:ext>
                </a:extLst>
              </p:cNvPr>
              <p:cNvSpPr/>
              <p:nvPr/>
            </p:nvSpPr>
            <p:spPr>
              <a:xfrm flipV="1">
                <a:off x="7831311" y="3234274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50000"/>
                    </a:schemeClr>
                  </a:gs>
                  <a:gs pos="100000">
                    <a:srgbClr val="92D050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2567D697-8F3B-B371-889A-E7044BC7B108}"/>
                  </a:ext>
                </a:extLst>
              </p:cNvPr>
              <p:cNvSpPr/>
              <p:nvPr/>
            </p:nvSpPr>
            <p:spPr>
              <a:xfrm>
                <a:off x="8023450" y="1994726"/>
                <a:ext cx="76823" cy="66068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2EB17FE2-A9D1-4DE3-F978-1479932ABFDA}"/>
                  </a:ext>
                </a:extLst>
              </p:cNvPr>
              <p:cNvSpPr/>
              <p:nvPr/>
            </p:nvSpPr>
            <p:spPr>
              <a:xfrm>
                <a:off x="8023450" y="2744446"/>
                <a:ext cx="76823" cy="161644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90798142-A156-10A8-A225-E9F72AF749EC}"/>
                  </a:ext>
                </a:extLst>
              </p:cNvPr>
              <p:cNvSpPr/>
              <p:nvPr/>
            </p:nvSpPr>
            <p:spPr>
              <a:xfrm>
                <a:off x="8061861" y="1793441"/>
                <a:ext cx="76823" cy="859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E9690CC7-8FA1-B99C-EB19-C505BECE93EA}"/>
                  </a:ext>
                </a:extLst>
              </p:cNvPr>
              <p:cNvSpPr/>
              <p:nvPr/>
            </p:nvSpPr>
            <p:spPr>
              <a:xfrm>
                <a:off x="8977980" y="1223319"/>
                <a:ext cx="283207" cy="395488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2300">
                    <a:srgbClr val="FFFFFF">
                      <a:alpha val="25000"/>
                    </a:srgbClr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3E49CAFE-6B96-E875-C026-1E472C65F406}"/>
                  </a:ext>
                </a:extLst>
              </p:cNvPr>
              <p:cNvSpPr/>
              <p:nvPr/>
            </p:nvSpPr>
            <p:spPr>
              <a:xfrm flipV="1">
                <a:off x="7831311" y="1215391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AB997464-335F-21CF-085A-E532B8A2CF61}"/>
                  </a:ext>
                </a:extLst>
              </p:cNvPr>
              <p:cNvSpPr/>
              <p:nvPr/>
            </p:nvSpPr>
            <p:spPr>
              <a:xfrm>
                <a:off x="7831311" y="3711676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rgbClr val="92D050">
                      <a:alpha val="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E8F85D19-C57A-247D-796C-DB4F8FF72556}"/>
                  </a:ext>
                </a:extLst>
              </p:cNvPr>
              <p:cNvSpPr/>
              <p:nvPr/>
            </p:nvSpPr>
            <p:spPr>
              <a:xfrm>
                <a:off x="9017213" y="1632936"/>
                <a:ext cx="102371" cy="8928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33A4DB65-B994-48B3-94AC-F3CF3EC48637}"/>
              </a:ext>
            </a:extLst>
          </p:cNvPr>
          <p:cNvSpPr txBox="1"/>
          <p:nvPr/>
        </p:nvSpPr>
        <p:spPr>
          <a:xfrm>
            <a:off x="4673558" y="4553605"/>
            <a:ext cx="30045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Operaciones con matrices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7D7C3CA-C18A-42C9-1993-2ED452B48959}"/>
              </a:ext>
            </a:extLst>
          </p:cNvPr>
          <p:cNvSpPr/>
          <p:nvPr/>
        </p:nvSpPr>
        <p:spPr>
          <a:xfrm>
            <a:off x="1009650" y="1628775"/>
            <a:ext cx="10487025" cy="4657725"/>
          </a:xfrm>
          <a:prstGeom prst="round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44AF8B3-44CA-FB0E-C0C6-D493BB6AE7AB}"/>
              </a:ext>
            </a:extLst>
          </p:cNvPr>
          <p:cNvGrpSpPr/>
          <p:nvPr/>
        </p:nvGrpSpPr>
        <p:grpSpPr>
          <a:xfrm>
            <a:off x="6591722" y="1921586"/>
            <a:ext cx="4037766" cy="1796434"/>
            <a:chOff x="6591722" y="2454986"/>
            <a:chExt cx="4037766" cy="1796434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0A335AA-212D-E598-3FDE-FDD146165EFF}"/>
                </a:ext>
              </a:extLst>
            </p:cNvPr>
            <p:cNvSpPr/>
            <p:nvPr/>
          </p:nvSpPr>
          <p:spPr>
            <a:xfrm>
              <a:off x="6958899" y="4205701"/>
              <a:ext cx="3404301" cy="4571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52400" dist="38100" dir="5400000" sx="131000" sy="13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AE92C32-30B7-4AFB-29E3-E1B03DB7382D}"/>
                </a:ext>
              </a:extLst>
            </p:cNvPr>
            <p:cNvGrpSpPr/>
            <p:nvPr/>
          </p:nvGrpSpPr>
          <p:grpSpPr>
            <a:xfrm rot="5400000">
              <a:off x="7831313" y="1215395"/>
              <a:ext cx="1558583" cy="4037766"/>
              <a:chOff x="7831307" y="1215391"/>
              <a:chExt cx="1558583" cy="4037766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653210FC-0B78-8609-A78B-87EC5ACC2D5E}"/>
                  </a:ext>
                </a:extLst>
              </p:cNvPr>
              <p:cNvSpPr/>
              <p:nvPr/>
            </p:nvSpPr>
            <p:spPr>
              <a:xfrm>
                <a:off x="7831307" y="1215392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F83E708A-3831-7B0E-4E84-8022C5BFB916}"/>
                  </a:ext>
                </a:extLst>
              </p:cNvPr>
              <p:cNvSpPr/>
              <p:nvPr/>
            </p:nvSpPr>
            <p:spPr>
              <a:xfrm flipV="1">
                <a:off x="7831311" y="3234274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0080"/>
                  </a:gs>
                  <a:gs pos="100000">
                    <a:srgbClr val="8A0000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2D305BAA-6426-7ECF-36E8-39D160B31B84}"/>
                  </a:ext>
                </a:extLst>
              </p:cNvPr>
              <p:cNvSpPr/>
              <p:nvPr/>
            </p:nvSpPr>
            <p:spPr>
              <a:xfrm>
                <a:off x="8023450" y="1994726"/>
                <a:ext cx="76823" cy="66068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75AEAAEC-C4E9-6C19-0E9A-039CF6B2F83A}"/>
                  </a:ext>
                </a:extLst>
              </p:cNvPr>
              <p:cNvSpPr/>
              <p:nvPr/>
            </p:nvSpPr>
            <p:spPr>
              <a:xfrm>
                <a:off x="8023450" y="2744446"/>
                <a:ext cx="76823" cy="161644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64F70DD1-EC9B-F22E-6AE0-869EDE2A99DC}"/>
                  </a:ext>
                </a:extLst>
              </p:cNvPr>
              <p:cNvSpPr/>
              <p:nvPr/>
            </p:nvSpPr>
            <p:spPr>
              <a:xfrm>
                <a:off x="8061861" y="1793441"/>
                <a:ext cx="76823" cy="859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1DF43500-FAE9-4788-0F26-AC718719CB2B}"/>
                  </a:ext>
                </a:extLst>
              </p:cNvPr>
              <p:cNvSpPr/>
              <p:nvPr/>
            </p:nvSpPr>
            <p:spPr>
              <a:xfrm>
                <a:off x="8977980" y="1223319"/>
                <a:ext cx="283207" cy="395488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2300">
                    <a:srgbClr val="FFFFFF">
                      <a:alpha val="25000"/>
                    </a:srgbClr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67744300-76A0-EC4E-224A-EFE88ED02DE8}"/>
                  </a:ext>
                </a:extLst>
              </p:cNvPr>
              <p:cNvSpPr/>
              <p:nvPr/>
            </p:nvSpPr>
            <p:spPr>
              <a:xfrm flipV="1">
                <a:off x="7831313" y="1215391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80D5AFB9-0E67-662B-97E8-5F047CD39F3D}"/>
                  </a:ext>
                </a:extLst>
              </p:cNvPr>
              <p:cNvSpPr/>
              <p:nvPr/>
            </p:nvSpPr>
            <p:spPr>
              <a:xfrm>
                <a:off x="7831311" y="3711676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rgbClr val="FF0080">
                      <a:alpha val="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599A1AC8-9637-9404-E6AE-E5066FA4BDA9}"/>
                  </a:ext>
                </a:extLst>
              </p:cNvPr>
              <p:cNvSpPr/>
              <p:nvPr/>
            </p:nvSpPr>
            <p:spPr>
              <a:xfrm>
                <a:off x="9017213" y="1632936"/>
                <a:ext cx="102371" cy="8928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5683A42-45AE-F6A0-B7C2-6BCBE0C52A95}"/>
              </a:ext>
            </a:extLst>
          </p:cNvPr>
          <p:cNvSpPr txBox="1"/>
          <p:nvPr/>
        </p:nvSpPr>
        <p:spPr>
          <a:xfrm>
            <a:off x="7108322" y="2210455"/>
            <a:ext cx="30045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Arreglos paralelos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92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DD61-8E08-B0FD-E741-65D35C53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69" y="429863"/>
            <a:ext cx="10665431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DA3FE-0C5F-7F77-647A-68919E4DA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EE1540D-8B23-125F-223C-839A5F821D4A}"/>
              </a:ext>
            </a:extLst>
          </p:cNvPr>
          <p:cNvGrpSpPr/>
          <p:nvPr/>
        </p:nvGrpSpPr>
        <p:grpSpPr>
          <a:xfrm>
            <a:off x="1648242" y="1921585"/>
            <a:ext cx="4037766" cy="1796435"/>
            <a:chOff x="6591717" y="2454985"/>
            <a:chExt cx="4037766" cy="1796435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E864ABA-1BA5-4242-8B90-55BFDAF4187F}"/>
                </a:ext>
              </a:extLst>
            </p:cNvPr>
            <p:cNvSpPr/>
            <p:nvPr/>
          </p:nvSpPr>
          <p:spPr>
            <a:xfrm>
              <a:off x="6958899" y="4205701"/>
              <a:ext cx="3404301" cy="4571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52400" dist="38100" dir="5400000" sx="131000" sy="13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5A4C6C6-BB7D-ED75-DC57-DCF6F5D27392}"/>
                </a:ext>
              </a:extLst>
            </p:cNvPr>
            <p:cNvGrpSpPr/>
            <p:nvPr/>
          </p:nvGrpSpPr>
          <p:grpSpPr>
            <a:xfrm rot="5400000">
              <a:off x="7831311" y="1215391"/>
              <a:ext cx="1558577" cy="4037766"/>
              <a:chOff x="7831311" y="1215391"/>
              <a:chExt cx="1558577" cy="4037766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851166A8-2895-F78A-CBB7-7FC0C55FD5F8}"/>
                  </a:ext>
                </a:extLst>
              </p:cNvPr>
              <p:cNvSpPr/>
              <p:nvPr/>
            </p:nvSpPr>
            <p:spPr>
              <a:xfrm>
                <a:off x="7831311" y="1215392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2977486-56C9-CC4B-FF6F-E2238FDFF891}"/>
                  </a:ext>
                </a:extLst>
              </p:cNvPr>
              <p:cNvSpPr/>
              <p:nvPr/>
            </p:nvSpPr>
            <p:spPr>
              <a:xfrm flipV="1">
                <a:off x="7831311" y="3234274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C00000">
                      <a:shade val="30000"/>
                      <a:satMod val="115000"/>
                    </a:srgbClr>
                  </a:gs>
                  <a:gs pos="50000">
                    <a:srgbClr val="C00000">
                      <a:shade val="67500"/>
                      <a:satMod val="115000"/>
                    </a:srgbClr>
                  </a:gs>
                  <a:gs pos="100000">
                    <a:srgbClr val="C0000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9DB2EB71-254D-73F8-FC1D-00F32A0229C3}"/>
                  </a:ext>
                </a:extLst>
              </p:cNvPr>
              <p:cNvSpPr/>
              <p:nvPr/>
            </p:nvSpPr>
            <p:spPr>
              <a:xfrm>
                <a:off x="8023450" y="1994726"/>
                <a:ext cx="76823" cy="66068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AD382078-5939-A5BF-9D5F-DBE30A88E8DB}"/>
                  </a:ext>
                </a:extLst>
              </p:cNvPr>
              <p:cNvSpPr/>
              <p:nvPr/>
            </p:nvSpPr>
            <p:spPr>
              <a:xfrm>
                <a:off x="8023450" y="2744446"/>
                <a:ext cx="76823" cy="161644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43E5694C-1954-63CB-01AB-FE6F053FE533}"/>
                  </a:ext>
                </a:extLst>
              </p:cNvPr>
              <p:cNvSpPr/>
              <p:nvPr/>
            </p:nvSpPr>
            <p:spPr>
              <a:xfrm>
                <a:off x="8061861" y="1793441"/>
                <a:ext cx="76823" cy="859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5605CDB6-5826-2914-16F1-4A79CD262815}"/>
                  </a:ext>
                </a:extLst>
              </p:cNvPr>
              <p:cNvSpPr/>
              <p:nvPr/>
            </p:nvSpPr>
            <p:spPr>
              <a:xfrm>
                <a:off x="8977980" y="1223319"/>
                <a:ext cx="283207" cy="395488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2300">
                    <a:srgbClr val="FFFFFF">
                      <a:alpha val="25000"/>
                    </a:srgbClr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525D455-026F-2537-5795-40D9BB7D9002}"/>
                  </a:ext>
                </a:extLst>
              </p:cNvPr>
              <p:cNvSpPr/>
              <p:nvPr/>
            </p:nvSpPr>
            <p:spPr>
              <a:xfrm flipV="1">
                <a:off x="7831311" y="1215391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rgbClr val="0070C0">
                      <a:alpha val="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939C01B-E8D8-E078-66A4-B635B959892C}"/>
                  </a:ext>
                </a:extLst>
              </p:cNvPr>
              <p:cNvSpPr/>
              <p:nvPr/>
            </p:nvSpPr>
            <p:spPr>
              <a:xfrm>
                <a:off x="7831311" y="3711676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rgbClr val="C00000">
                      <a:alpha val="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10D31D29-357F-F907-F141-B8B3EAE719B2}"/>
                  </a:ext>
                </a:extLst>
              </p:cNvPr>
              <p:cNvSpPr/>
              <p:nvPr/>
            </p:nvSpPr>
            <p:spPr>
              <a:xfrm>
                <a:off x="9017213" y="1632936"/>
                <a:ext cx="102371" cy="8928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85CEB75-E836-FBDD-4032-B1026E1FC13B}"/>
              </a:ext>
            </a:extLst>
          </p:cNvPr>
          <p:cNvSpPr txBox="1"/>
          <p:nvPr/>
        </p:nvSpPr>
        <p:spPr>
          <a:xfrm>
            <a:off x="2164847" y="2210455"/>
            <a:ext cx="30045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Arreglo bidimensional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44AF8B3-44CA-FB0E-C0C6-D493BB6AE7AB}"/>
              </a:ext>
            </a:extLst>
          </p:cNvPr>
          <p:cNvGrpSpPr/>
          <p:nvPr/>
        </p:nvGrpSpPr>
        <p:grpSpPr>
          <a:xfrm>
            <a:off x="6591722" y="1921586"/>
            <a:ext cx="4037766" cy="1796434"/>
            <a:chOff x="6591722" y="2454986"/>
            <a:chExt cx="4037766" cy="1796434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0A335AA-212D-E598-3FDE-FDD146165EFF}"/>
                </a:ext>
              </a:extLst>
            </p:cNvPr>
            <p:cNvSpPr/>
            <p:nvPr/>
          </p:nvSpPr>
          <p:spPr>
            <a:xfrm>
              <a:off x="6958899" y="4205701"/>
              <a:ext cx="3404301" cy="4571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52400" dist="38100" dir="5400000" sx="131000" sy="13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AE92C32-30B7-4AFB-29E3-E1B03DB7382D}"/>
                </a:ext>
              </a:extLst>
            </p:cNvPr>
            <p:cNvGrpSpPr/>
            <p:nvPr/>
          </p:nvGrpSpPr>
          <p:grpSpPr>
            <a:xfrm rot="5400000">
              <a:off x="7831313" y="1215395"/>
              <a:ext cx="1558583" cy="4037766"/>
              <a:chOff x="7831307" y="1215391"/>
              <a:chExt cx="1558583" cy="4037766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653210FC-0B78-8609-A78B-87EC5ACC2D5E}"/>
                  </a:ext>
                </a:extLst>
              </p:cNvPr>
              <p:cNvSpPr/>
              <p:nvPr/>
            </p:nvSpPr>
            <p:spPr>
              <a:xfrm>
                <a:off x="7831307" y="1215392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F83E708A-3831-7B0E-4E84-8022C5BFB916}"/>
                  </a:ext>
                </a:extLst>
              </p:cNvPr>
              <p:cNvSpPr/>
              <p:nvPr/>
            </p:nvSpPr>
            <p:spPr>
              <a:xfrm flipV="1">
                <a:off x="7831311" y="3234274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0080"/>
                  </a:gs>
                  <a:gs pos="100000">
                    <a:srgbClr val="C00000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2D305BAA-6426-7ECF-36E8-39D160B31B84}"/>
                  </a:ext>
                </a:extLst>
              </p:cNvPr>
              <p:cNvSpPr/>
              <p:nvPr/>
            </p:nvSpPr>
            <p:spPr>
              <a:xfrm>
                <a:off x="8023450" y="1994726"/>
                <a:ext cx="76823" cy="66068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75AEAAEC-C4E9-6C19-0E9A-039CF6B2F83A}"/>
                  </a:ext>
                </a:extLst>
              </p:cNvPr>
              <p:cNvSpPr/>
              <p:nvPr/>
            </p:nvSpPr>
            <p:spPr>
              <a:xfrm>
                <a:off x="8023450" y="2744446"/>
                <a:ext cx="76823" cy="161644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64F70DD1-EC9B-F22E-6AE0-869EDE2A99DC}"/>
                  </a:ext>
                </a:extLst>
              </p:cNvPr>
              <p:cNvSpPr/>
              <p:nvPr/>
            </p:nvSpPr>
            <p:spPr>
              <a:xfrm>
                <a:off x="8061861" y="1793441"/>
                <a:ext cx="76823" cy="859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1DF43500-FAE9-4788-0F26-AC718719CB2B}"/>
                  </a:ext>
                </a:extLst>
              </p:cNvPr>
              <p:cNvSpPr/>
              <p:nvPr/>
            </p:nvSpPr>
            <p:spPr>
              <a:xfrm>
                <a:off x="8977980" y="1223319"/>
                <a:ext cx="283207" cy="395488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2300">
                    <a:srgbClr val="FFFFFF">
                      <a:alpha val="25000"/>
                    </a:srgbClr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67744300-76A0-EC4E-224A-EFE88ED02DE8}"/>
                  </a:ext>
                </a:extLst>
              </p:cNvPr>
              <p:cNvSpPr/>
              <p:nvPr/>
            </p:nvSpPr>
            <p:spPr>
              <a:xfrm flipV="1">
                <a:off x="7831313" y="1215391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80D5AFB9-0E67-662B-97E8-5F047CD39F3D}"/>
                  </a:ext>
                </a:extLst>
              </p:cNvPr>
              <p:cNvSpPr/>
              <p:nvPr/>
            </p:nvSpPr>
            <p:spPr>
              <a:xfrm>
                <a:off x="7831311" y="3711676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rgbClr val="FF0080">
                      <a:alpha val="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599A1AC8-9637-9404-E6AE-E5066FA4BDA9}"/>
                  </a:ext>
                </a:extLst>
              </p:cNvPr>
              <p:cNvSpPr/>
              <p:nvPr/>
            </p:nvSpPr>
            <p:spPr>
              <a:xfrm>
                <a:off x="9017213" y="1632936"/>
                <a:ext cx="102371" cy="8928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5683A42-45AE-F6A0-B7C2-6BCBE0C52A95}"/>
              </a:ext>
            </a:extLst>
          </p:cNvPr>
          <p:cNvSpPr txBox="1"/>
          <p:nvPr/>
        </p:nvSpPr>
        <p:spPr>
          <a:xfrm>
            <a:off x="7108322" y="2210455"/>
            <a:ext cx="30045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Arreglos paralelos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7D7C3CA-C18A-42C9-1993-2ED452B48959}"/>
              </a:ext>
            </a:extLst>
          </p:cNvPr>
          <p:cNvSpPr/>
          <p:nvPr/>
        </p:nvSpPr>
        <p:spPr>
          <a:xfrm>
            <a:off x="1009650" y="1628775"/>
            <a:ext cx="10487025" cy="4657725"/>
          </a:xfrm>
          <a:prstGeom prst="round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9FA6648-6AE7-CA1D-25F0-8600B5755409}"/>
              </a:ext>
            </a:extLst>
          </p:cNvPr>
          <p:cNvGrpSpPr/>
          <p:nvPr/>
        </p:nvGrpSpPr>
        <p:grpSpPr>
          <a:xfrm>
            <a:off x="4156953" y="4264735"/>
            <a:ext cx="4037766" cy="1796435"/>
            <a:chOff x="6591717" y="2454985"/>
            <a:chExt cx="4037766" cy="179643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C9B3F7D-8238-7210-E6D5-5A10AC7939BA}"/>
                </a:ext>
              </a:extLst>
            </p:cNvPr>
            <p:cNvSpPr/>
            <p:nvPr/>
          </p:nvSpPr>
          <p:spPr>
            <a:xfrm>
              <a:off x="6958899" y="4205701"/>
              <a:ext cx="3404301" cy="4571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52400" dist="38100" dir="5400000" sx="131000" sy="13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D7AA299-274E-5DBC-F407-76BE9DCA73EC}"/>
                </a:ext>
              </a:extLst>
            </p:cNvPr>
            <p:cNvGrpSpPr/>
            <p:nvPr/>
          </p:nvGrpSpPr>
          <p:grpSpPr>
            <a:xfrm rot="5400000">
              <a:off x="7831311" y="1215391"/>
              <a:ext cx="1558577" cy="4037766"/>
              <a:chOff x="7831311" y="1215391"/>
              <a:chExt cx="1558577" cy="4037766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65F516B-D83D-6693-E1B6-71FC69EFA0D7}"/>
                  </a:ext>
                </a:extLst>
              </p:cNvPr>
              <p:cNvSpPr/>
              <p:nvPr/>
            </p:nvSpPr>
            <p:spPr>
              <a:xfrm>
                <a:off x="7831311" y="1215392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100000">
                    <a:schemeClr val="accent4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77BCED5-BDA9-AFB1-8B98-8895B2FC3EC4}"/>
                  </a:ext>
                </a:extLst>
              </p:cNvPr>
              <p:cNvSpPr/>
              <p:nvPr/>
            </p:nvSpPr>
            <p:spPr>
              <a:xfrm flipV="1">
                <a:off x="7831311" y="3234274"/>
                <a:ext cx="1558577" cy="2018883"/>
              </a:xfrm>
              <a:custGeom>
                <a:avLst/>
                <a:gdLst>
                  <a:gd name="connsiteX0" fmla="*/ 1042200 w 2084400"/>
                  <a:gd name="connsiteY0" fmla="*/ 0 h 2700000"/>
                  <a:gd name="connsiteX1" fmla="*/ 2079643 w 2084400"/>
                  <a:gd name="connsiteY1" fmla="*/ 936204 h 2700000"/>
                  <a:gd name="connsiteX2" fmla="*/ 2084400 w 2084400"/>
                  <a:gd name="connsiteY2" fmla="*/ 1030410 h 2700000"/>
                  <a:gd name="connsiteX3" fmla="*/ 2084400 w 2084400"/>
                  <a:gd name="connsiteY3" fmla="*/ 2700000 h 2700000"/>
                  <a:gd name="connsiteX4" fmla="*/ 0 w 2084400"/>
                  <a:gd name="connsiteY4" fmla="*/ 2700000 h 2700000"/>
                  <a:gd name="connsiteX5" fmla="*/ 0 w 2084400"/>
                  <a:gd name="connsiteY5" fmla="*/ 1030410 h 2700000"/>
                  <a:gd name="connsiteX6" fmla="*/ 4757 w 2084400"/>
                  <a:gd name="connsiteY6" fmla="*/ 936204 h 2700000"/>
                  <a:gd name="connsiteX7" fmla="*/ 1042200 w 2084400"/>
                  <a:gd name="connsiteY7" fmla="*/ 0 h 27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84400" h="2700000">
                    <a:moveTo>
                      <a:pt x="1042200" y="0"/>
                    </a:moveTo>
                    <a:cubicBezTo>
                      <a:pt x="1582141" y="0"/>
                      <a:pt x="2026240" y="410353"/>
                      <a:pt x="2079643" y="936204"/>
                    </a:cubicBezTo>
                    <a:lnTo>
                      <a:pt x="2084400" y="1030410"/>
                    </a:lnTo>
                    <a:lnTo>
                      <a:pt x="2084400" y="2700000"/>
                    </a:lnTo>
                    <a:lnTo>
                      <a:pt x="0" y="2700000"/>
                    </a:lnTo>
                    <a:lnTo>
                      <a:pt x="0" y="1030410"/>
                    </a:lnTo>
                    <a:lnTo>
                      <a:pt x="4757" y="936204"/>
                    </a:lnTo>
                    <a:cubicBezTo>
                      <a:pt x="58160" y="410353"/>
                      <a:pt x="502259" y="0"/>
                      <a:pt x="10422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6">
                      <a:lumMod val="50000"/>
                    </a:schemeClr>
                  </a:gs>
                  <a:gs pos="100000">
                    <a:srgbClr val="92D050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2567D697-8F3B-B371-889A-E7044BC7B108}"/>
                  </a:ext>
                </a:extLst>
              </p:cNvPr>
              <p:cNvSpPr/>
              <p:nvPr/>
            </p:nvSpPr>
            <p:spPr>
              <a:xfrm>
                <a:off x="8023450" y="1994726"/>
                <a:ext cx="76823" cy="66068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2EB17FE2-A9D1-4DE3-F978-1479932ABFDA}"/>
                  </a:ext>
                </a:extLst>
              </p:cNvPr>
              <p:cNvSpPr/>
              <p:nvPr/>
            </p:nvSpPr>
            <p:spPr>
              <a:xfrm>
                <a:off x="8023450" y="2744446"/>
                <a:ext cx="76823" cy="161644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90798142-A156-10A8-A225-E9F72AF749EC}"/>
                  </a:ext>
                </a:extLst>
              </p:cNvPr>
              <p:cNvSpPr/>
              <p:nvPr/>
            </p:nvSpPr>
            <p:spPr>
              <a:xfrm>
                <a:off x="8061861" y="1793441"/>
                <a:ext cx="76823" cy="859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E9690CC7-8FA1-B99C-EB19-C505BECE93EA}"/>
                  </a:ext>
                </a:extLst>
              </p:cNvPr>
              <p:cNvSpPr/>
              <p:nvPr/>
            </p:nvSpPr>
            <p:spPr>
              <a:xfrm>
                <a:off x="8977980" y="1223319"/>
                <a:ext cx="283207" cy="395488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52300">
                    <a:srgbClr val="FFFFFF">
                      <a:alpha val="25000"/>
                    </a:srgbClr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3E49CAFE-6B96-E875-C026-1E472C65F406}"/>
                  </a:ext>
                </a:extLst>
              </p:cNvPr>
              <p:cNvSpPr/>
              <p:nvPr/>
            </p:nvSpPr>
            <p:spPr>
              <a:xfrm flipV="1">
                <a:off x="7831311" y="1215391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AB997464-335F-21CF-085A-E532B8A2CF61}"/>
                  </a:ext>
                </a:extLst>
              </p:cNvPr>
              <p:cNvSpPr/>
              <p:nvPr/>
            </p:nvSpPr>
            <p:spPr>
              <a:xfrm>
                <a:off x="7831311" y="3711676"/>
                <a:ext cx="1558577" cy="154147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tx1">
                      <a:alpha val="40000"/>
                    </a:schemeClr>
                  </a:gs>
                  <a:gs pos="100000">
                    <a:srgbClr val="92D050">
                      <a:alpha val="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E8F85D19-C57A-247D-796C-DB4F8FF72556}"/>
                  </a:ext>
                </a:extLst>
              </p:cNvPr>
              <p:cNvSpPr/>
              <p:nvPr/>
            </p:nvSpPr>
            <p:spPr>
              <a:xfrm>
                <a:off x="9017213" y="1632936"/>
                <a:ext cx="102371" cy="8928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33A4DB65-B994-48B3-94AC-F3CF3EC48637}"/>
              </a:ext>
            </a:extLst>
          </p:cNvPr>
          <p:cNvSpPr txBox="1"/>
          <p:nvPr/>
        </p:nvSpPr>
        <p:spPr>
          <a:xfrm>
            <a:off x="4673558" y="4553605"/>
            <a:ext cx="30045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Operaciones con matrices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241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883580"/>
            <a:ext cx="7364361" cy="2227062"/>
          </a:xfrm>
        </p:spPr>
        <p:txBody>
          <a:bodyPr anchor="ctr" anchorCtr="0">
            <a:noAutofit/>
          </a:bodyPr>
          <a:lstStyle/>
          <a:p>
            <a:pPr algn="l"/>
            <a:r>
              <a:rPr lang="es-ES" sz="4800" dirty="0">
                <a:latin typeface="Helvetica"/>
              </a:rPr>
              <a:t>Introducción a la Programación Orientada a Objetos (POO)</a:t>
            </a:r>
            <a:endParaRPr lang="en-US" sz="4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3425816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-174523"/>
            <a:ext cx="2949677" cy="6858000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50A64EF5-EEB8-46CF-8D88-AB5A9293F6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71" y="429863"/>
            <a:ext cx="10590229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E7665C-E768-93F4-E3E8-285EC8D34AD7}"/>
              </a:ext>
            </a:extLst>
          </p:cNvPr>
          <p:cNvSpPr txBox="1"/>
          <p:nvPr/>
        </p:nvSpPr>
        <p:spPr>
          <a:xfrm>
            <a:off x="103792" y="6129609"/>
            <a:ext cx="6419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https://freepngimg.com/save/55305-scientific-calculator-png-download-free/500x500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https://www.calculatorsdirect.co.uk/images/thumbs/0000417_texas-instruments-83-plus-graphing-calculator.png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https://purepng.com/public/uploads/large/purepng.com-calculatorcalculatorportable-electroniccalculationselectronicssmall-deviceelectronic-calculator-1701528343962lwasy.png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BF71D-AE98-ECA9-3C25-309A4EE9D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3572" y="1436914"/>
            <a:ext cx="5759776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Observa las imágenes y responde:</a:t>
            </a: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¿Qué son los objetos mostrados?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¿Tienen cosas en común?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¿Cuáles son sus similitudes y diferencias?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¿Cómo los representarías utilizando el lenguaje Java?</a:t>
            </a:r>
            <a:endParaRPr lang="es-E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4DB20E-0B60-E7DE-6723-D848767D8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110" y="2944905"/>
            <a:ext cx="3740818" cy="37408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394959-56D4-ED89-A46E-3C937A84C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69" y="1615722"/>
            <a:ext cx="2015477" cy="44884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40EB34-E9EF-7A1A-246B-C98B37894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994" y="172277"/>
            <a:ext cx="2833036" cy="28330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5524106" cy="3629319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reconoce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los fundamentos de la POO </a:t>
            </a:r>
            <a:r>
              <a:rPr lang="es-ES" dirty="0">
                <a:solidFill>
                  <a:srgbClr val="D3052C"/>
                </a:solidFill>
              </a:rPr>
              <a:t>mediante la realización de actividades </a:t>
            </a:r>
            <a:r>
              <a:rPr lang="es-ES" dirty="0">
                <a:solidFill>
                  <a:srgbClr val="7030A0"/>
                </a:solidFill>
              </a:rPr>
              <a:t>para aplicar un nuevo modelo de programación con el lenguaje Java.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36525"/>
            <a:ext cx="5441183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B0A972A-0FAE-962E-5B46-2C6D519DA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530" y="1055348"/>
            <a:ext cx="4604994" cy="460499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B77D-CEBE-2C98-CAEE-95363F339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160" y="1436915"/>
            <a:ext cx="5797482" cy="3841860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muestra la imagen?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características tiene?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acciones puede realizar?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¿Podría representarse mediante programación? ¿Cómo?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¿Cómo representarías sus características y acciones mediante programación?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838200" y="5278775"/>
            <a:ext cx="6117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Reconocer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cómo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programar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aplicando</a:t>
            </a:r>
            <a:r>
              <a:rPr lang="en-US" sz="2800" dirty="0">
                <a:latin typeface="Helvetica" pitchFamily="2" charset="0"/>
              </a:rPr>
              <a:t> la </a:t>
            </a:r>
            <a:r>
              <a:rPr lang="en-US" sz="2800" dirty="0" err="1">
                <a:latin typeface="Helvetica" pitchFamily="2" charset="0"/>
              </a:rPr>
              <a:t>orientación</a:t>
            </a:r>
            <a:r>
              <a:rPr lang="en-US" sz="2800" dirty="0">
                <a:latin typeface="Helvetica" pitchFamily="2" charset="0"/>
              </a:rPr>
              <a:t> a </a:t>
            </a:r>
            <a:r>
              <a:rPr lang="en-US" sz="2800" dirty="0" err="1">
                <a:latin typeface="Helvetica" pitchFamily="2" charset="0"/>
              </a:rPr>
              <a:t>objetos</a:t>
            </a:r>
            <a:r>
              <a:rPr lang="en-US" sz="2800" dirty="0">
                <a:latin typeface="Helvetica" pitchFamily="2" charset="0"/>
              </a:rPr>
              <a:t>.</a:t>
            </a:r>
            <a:endParaRPr lang="es-ES" sz="2800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90F7AF-0545-22D7-731F-2E06981ADDE9}"/>
              </a:ext>
            </a:extLst>
          </p:cNvPr>
          <p:cNvSpPr txBox="1"/>
          <p:nvPr/>
        </p:nvSpPr>
        <p:spPr>
          <a:xfrm>
            <a:off x="202753" y="6502565"/>
            <a:ext cx="933624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https://ae01.alicdn.com/kf/Hadcfe0e42be94fc784e8953ff29c01a4C.jpg</a:t>
            </a:r>
          </a:p>
        </p:txBody>
      </p:sp>
      <p:sp>
        <p:nvSpPr>
          <p:cNvPr id="9" name="Flowchart: Off-page Connector 8">
            <a:extLst>
              <a:ext uri="{FF2B5EF4-FFF2-40B4-BE49-F238E27FC236}">
                <a16:creationId xmlns:a16="http://schemas.microsoft.com/office/drawing/2014/main" id="{F3276840-B735-F557-C48F-7458332AE644}"/>
              </a:ext>
            </a:extLst>
          </p:cNvPr>
          <p:cNvSpPr/>
          <p:nvPr/>
        </p:nvSpPr>
        <p:spPr>
          <a:xfrm rot="5400000">
            <a:off x="9113225" y="4908852"/>
            <a:ext cx="851552" cy="2187019"/>
          </a:xfrm>
          <a:prstGeom prst="flowChartOffpage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/>
              <a:t>S/. 479.99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Introducción a la POO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Estructura de una Clase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Getters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 &amp;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Setters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07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Estructura de una Clase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Getters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 &amp;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Setters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4FF591F-98E3-B3D3-9D6F-C155AEECBE39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Introducción a la POO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929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0317BD-2DA1-D509-B60D-93F60437E1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607"/>
          <a:stretch/>
        </p:blipFill>
        <p:spPr>
          <a:xfrm>
            <a:off x="9403239" y="924346"/>
            <a:ext cx="2788761" cy="46699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Programación Orientada a Objetos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5D0CCD99-CBC7-F907-624F-BAC187822B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7063658" cy="478291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s-ES" dirty="0"/>
              <a:t>Es un </a:t>
            </a:r>
            <a:r>
              <a:rPr lang="es-ES" b="1" dirty="0">
                <a:solidFill>
                  <a:schemeClr val="accent2"/>
                </a:solidFill>
              </a:rPr>
              <a:t>paradigma</a:t>
            </a:r>
            <a:r>
              <a:rPr lang="es-ES" dirty="0"/>
              <a:t> de programación.</a:t>
            </a:r>
          </a:p>
          <a:p>
            <a:pPr>
              <a:lnSpc>
                <a:spcPct val="150000"/>
              </a:lnSpc>
            </a:pPr>
            <a:r>
              <a:rPr lang="es-ES" dirty="0"/>
              <a:t>En la POO se identifican </a:t>
            </a:r>
            <a:r>
              <a:rPr lang="es-ES" b="1" dirty="0"/>
              <a:t>objetos del mundo real</a:t>
            </a:r>
            <a:r>
              <a:rPr lang="es-ES" dirty="0"/>
              <a:t> –físicos o conceptuales.</a:t>
            </a:r>
          </a:p>
          <a:p>
            <a:pPr>
              <a:lnSpc>
                <a:spcPct val="150000"/>
              </a:lnSpc>
            </a:pPr>
            <a:r>
              <a:rPr lang="en-US" dirty="0"/>
              <a:t>Se </a:t>
            </a:r>
            <a:r>
              <a:rPr lang="en-US" dirty="0" err="1"/>
              <a:t>identifican</a:t>
            </a:r>
            <a:r>
              <a:rPr lang="en-US" dirty="0"/>
              <a:t> </a:t>
            </a:r>
            <a:r>
              <a:rPr lang="en-US" dirty="0" err="1"/>
              <a:t>además</a:t>
            </a:r>
            <a:r>
              <a:rPr lang="en-US" dirty="0"/>
              <a:t> </a:t>
            </a:r>
            <a:r>
              <a:rPr lang="en-US" b="1" dirty="0" err="1">
                <a:solidFill>
                  <a:schemeClr val="accent2"/>
                </a:solidFill>
              </a:rPr>
              <a:t>estados</a:t>
            </a:r>
            <a:r>
              <a:rPr lang="en-US" dirty="0"/>
              <a:t> y </a:t>
            </a:r>
            <a:r>
              <a:rPr lang="en-US" b="1" dirty="0" err="1">
                <a:solidFill>
                  <a:schemeClr val="accent2"/>
                </a:solidFill>
              </a:rPr>
              <a:t>comportamientos</a:t>
            </a:r>
            <a:r>
              <a:rPr lang="en-US" dirty="0"/>
              <a:t> de </a:t>
            </a:r>
            <a:r>
              <a:rPr lang="en-US" dirty="0" err="1"/>
              <a:t>éstos</a:t>
            </a:r>
            <a:r>
              <a:rPr lang="en-US" dirty="0"/>
              <a:t> </a:t>
            </a:r>
            <a:r>
              <a:rPr lang="en-US" dirty="0" err="1"/>
              <a:t>objetos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Los </a:t>
            </a:r>
            <a:r>
              <a:rPr lang="en-US" dirty="0" err="1"/>
              <a:t>objetos</a:t>
            </a:r>
            <a:r>
              <a:rPr lang="en-US" dirty="0"/>
              <a:t> son </a:t>
            </a:r>
            <a:r>
              <a:rPr lang="en-US" dirty="0" err="1"/>
              <a:t>utilizados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b="1" dirty="0" err="1"/>
              <a:t>clasificación</a:t>
            </a:r>
            <a:r>
              <a:rPr lang="en-US" dirty="0"/>
              <a:t> (</a:t>
            </a:r>
            <a:r>
              <a:rPr lang="en-US" dirty="0" err="1"/>
              <a:t>Clase</a:t>
            </a:r>
            <a:r>
              <a:rPr lang="en-US" dirty="0"/>
              <a:t>).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70F16F-F121-84F9-5675-DD0B133A83B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Introducción a la POO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B9AB29-0455-5B09-D65F-FBA2A9D8692B}"/>
              </a:ext>
            </a:extLst>
          </p:cNvPr>
          <p:cNvSpPr/>
          <p:nvPr/>
        </p:nvSpPr>
        <p:spPr>
          <a:xfrm>
            <a:off x="8314443" y="3007150"/>
            <a:ext cx="2177592" cy="2177592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glow rad="444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B29C2-BC64-79E2-D679-DD8916DAD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00000">
            <a:off x="8101693" y="2849866"/>
            <a:ext cx="3048000" cy="4057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F47B25-74A5-32DA-B8FF-2513AC21DA5F}"/>
              </a:ext>
            </a:extLst>
          </p:cNvPr>
          <p:cNvSpPr txBox="1"/>
          <p:nvPr/>
        </p:nvSpPr>
        <p:spPr>
          <a:xfrm>
            <a:off x="708110" y="6287832"/>
            <a:ext cx="63627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https://www.kindpng.com/picc/m/99-999603_png-light-bulb-off-transparent-png.png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https://www.freeiconspng.com/thumbs/lightbulb-png/light-bulb-png-bulb-png1247-12.png</a:t>
            </a:r>
          </a:p>
        </p:txBody>
      </p:sp>
    </p:spTree>
    <p:extLst>
      <p:ext uri="{BB962C8B-B14F-4D97-AF65-F5344CB8AC3E}">
        <p14:creationId xmlns:p14="http://schemas.microsoft.com/office/powerpoint/2010/main" val="170030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Ventajas de la POO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5D0CCD99-CBC7-F907-624F-BAC187822B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7044805" cy="4782911"/>
          </a:xfrm>
        </p:spPr>
        <p:txBody>
          <a:bodyPr>
            <a:normAutofit/>
          </a:bodyPr>
          <a:lstStyle/>
          <a:p>
            <a:pPr>
              <a:buSzPct val="136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dirty="0"/>
              <a:t>Facilita la </a:t>
            </a:r>
            <a:r>
              <a:rPr lang="es-ES" u="sng" dirty="0"/>
              <a:t>agrupación de datos y funcionalidad</a:t>
            </a:r>
            <a:r>
              <a:rPr lang="es-ES" dirty="0"/>
              <a:t> relacionada.</a:t>
            </a:r>
          </a:p>
          <a:p>
            <a:pPr>
              <a:buSzPct val="136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dirty="0"/>
              <a:t>Alienta la </a:t>
            </a:r>
            <a:r>
              <a:rPr lang="es-ES" b="1" dirty="0">
                <a:solidFill>
                  <a:schemeClr val="accent2"/>
                </a:solidFill>
              </a:rPr>
              <a:t>reusabilidad</a:t>
            </a:r>
            <a:r>
              <a:rPr lang="es-ES" dirty="0"/>
              <a:t>.</a:t>
            </a:r>
          </a:p>
          <a:p>
            <a:pPr>
              <a:buSzPct val="136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dirty="0"/>
              <a:t>Facilita el </a:t>
            </a:r>
            <a:r>
              <a:rPr lang="es-ES" u="sng" dirty="0"/>
              <a:t>mantenimiento del código</a:t>
            </a:r>
            <a:r>
              <a:rPr lang="es-ES" dirty="0"/>
              <a:t>.</a:t>
            </a:r>
          </a:p>
          <a:p>
            <a:pPr>
              <a:buSzPct val="136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dirty="0"/>
              <a:t>Mejora la seguridad a través del </a:t>
            </a:r>
            <a:r>
              <a:rPr lang="es-ES" b="1" dirty="0">
                <a:solidFill>
                  <a:schemeClr val="accent2"/>
                </a:solidFill>
              </a:rPr>
              <a:t>encapsulamiento</a:t>
            </a:r>
            <a:r>
              <a:rPr lang="es-ES" dirty="0"/>
              <a:t>.</a:t>
            </a:r>
          </a:p>
          <a:p>
            <a:pPr>
              <a:buSzPct val="136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dirty="0"/>
              <a:t>Facilita encontrar y solucionar problemas de código.</a:t>
            </a:r>
          </a:p>
          <a:p>
            <a:pPr>
              <a:buSzPct val="136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s-ES" dirty="0"/>
              <a:t>Incorpora </a:t>
            </a:r>
            <a:r>
              <a:rPr lang="es-ES" u="sng" dirty="0"/>
              <a:t>nuevos conceptos y técnicas</a:t>
            </a:r>
            <a:r>
              <a:rPr lang="es-ES" dirty="0"/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70F16F-F121-84F9-5675-DD0B133A83B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Introducción a la POO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C509ED9-D366-0B6C-1D75-B0701C349915}"/>
              </a:ext>
            </a:extLst>
          </p:cNvPr>
          <p:cNvGrpSpPr/>
          <p:nvPr/>
        </p:nvGrpSpPr>
        <p:grpSpPr>
          <a:xfrm>
            <a:off x="7946795" y="534305"/>
            <a:ext cx="3949831" cy="5960975"/>
            <a:chOff x="7946795" y="534305"/>
            <a:chExt cx="3949831" cy="596097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EE2E251-686C-95D3-5329-72146C47B833}"/>
                </a:ext>
              </a:extLst>
            </p:cNvPr>
            <p:cNvGrpSpPr/>
            <p:nvPr/>
          </p:nvGrpSpPr>
          <p:grpSpPr>
            <a:xfrm>
              <a:off x="7946795" y="2130457"/>
              <a:ext cx="3949831" cy="2969445"/>
              <a:chOff x="7824248" y="2130457"/>
              <a:chExt cx="3949831" cy="2969445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8F2BE29-F2A5-B12B-73FB-9C44794E44DD}"/>
                  </a:ext>
                </a:extLst>
              </p:cNvPr>
              <p:cNvSpPr/>
              <p:nvPr/>
            </p:nvSpPr>
            <p:spPr>
              <a:xfrm>
                <a:off x="7824248" y="2130457"/>
                <a:ext cx="3949831" cy="2969443"/>
              </a:xfrm>
              <a:prstGeom prst="roundRect">
                <a:avLst>
                  <a:gd name="adj" fmla="val 3016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4649D948-7E54-B5FC-0EAC-735E493CBF54}"/>
                  </a:ext>
                </a:extLst>
              </p:cNvPr>
              <p:cNvSpPr/>
              <p:nvPr/>
            </p:nvSpPr>
            <p:spPr>
              <a:xfrm>
                <a:off x="7824248" y="2762053"/>
                <a:ext cx="3949831" cy="2337846"/>
              </a:xfrm>
              <a:prstGeom prst="roundRect">
                <a:avLst>
                  <a:gd name="adj" fmla="val 301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8A2CDA7-5AA7-2615-D0B1-72BA792A5A3C}"/>
                  </a:ext>
                </a:extLst>
              </p:cNvPr>
              <p:cNvSpPr/>
              <p:nvPr/>
            </p:nvSpPr>
            <p:spPr>
              <a:xfrm>
                <a:off x="9700182" y="2130459"/>
                <a:ext cx="2073897" cy="2969443"/>
              </a:xfrm>
              <a:custGeom>
                <a:avLst/>
                <a:gdLst>
                  <a:gd name="connsiteX0" fmla="*/ 0 w 2073897"/>
                  <a:gd name="connsiteY0" fmla="*/ 0 h 2969443"/>
                  <a:gd name="connsiteX1" fmla="*/ 1984339 w 2073897"/>
                  <a:gd name="connsiteY1" fmla="*/ 0 h 2969443"/>
                  <a:gd name="connsiteX2" fmla="*/ 2073897 w 2073897"/>
                  <a:gd name="connsiteY2" fmla="*/ 89558 h 2969443"/>
                  <a:gd name="connsiteX3" fmla="*/ 2073897 w 2073897"/>
                  <a:gd name="connsiteY3" fmla="*/ 2879885 h 2969443"/>
                  <a:gd name="connsiteX4" fmla="*/ 1984339 w 2073897"/>
                  <a:gd name="connsiteY4" fmla="*/ 2969443 h 2969443"/>
                  <a:gd name="connsiteX5" fmla="*/ 0 w 2073897"/>
                  <a:gd name="connsiteY5" fmla="*/ 2969443 h 2969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73897" h="2969443">
                    <a:moveTo>
                      <a:pt x="0" y="0"/>
                    </a:moveTo>
                    <a:lnTo>
                      <a:pt x="1984339" y="0"/>
                    </a:lnTo>
                    <a:cubicBezTo>
                      <a:pt x="2033801" y="0"/>
                      <a:pt x="2073897" y="40096"/>
                      <a:pt x="2073897" y="89558"/>
                    </a:cubicBezTo>
                    <a:lnTo>
                      <a:pt x="2073897" y="2879885"/>
                    </a:lnTo>
                    <a:cubicBezTo>
                      <a:pt x="2073897" y="2929347"/>
                      <a:pt x="2033801" y="2969443"/>
                      <a:pt x="1984339" y="2969443"/>
                    </a:cubicBezTo>
                    <a:lnTo>
                      <a:pt x="0" y="296944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A0671F9-0B04-1CAF-F5E1-45B70A2B9CAE}"/>
                  </a:ext>
                </a:extLst>
              </p:cNvPr>
              <p:cNvSpPr/>
              <p:nvPr/>
            </p:nvSpPr>
            <p:spPr>
              <a:xfrm>
                <a:off x="9162854" y="2296583"/>
                <a:ext cx="2498103" cy="308104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3988B96-F1C8-FCD3-30E6-8A9FFE9C7CC2}"/>
                  </a:ext>
                </a:extLst>
              </p:cNvPr>
              <p:cNvGrpSpPr/>
              <p:nvPr/>
            </p:nvGrpSpPr>
            <p:grpSpPr>
              <a:xfrm>
                <a:off x="7937369" y="2300140"/>
                <a:ext cx="1033909" cy="300991"/>
                <a:chOff x="7824247" y="914400"/>
                <a:chExt cx="3529551" cy="1027521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C4D55D11-874D-708E-918C-9DFD64109C0E}"/>
                    </a:ext>
                  </a:extLst>
                </p:cNvPr>
                <p:cNvSpPr/>
                <p:nvPr/>
              </p:nvSpPr>
              <p:spPr>
                <a:xfrm>
                  <a:off x="7824247" y="914400"/>
                  <a:ext cx="1027521" cy="1027521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E625D525-E203-8F4E-36B9-D1D25FACA7B6}"/>
                    </a:ext>
                  </a:extLst>
                </p:cNvPr>
                <p:cNvSpPr/>
                <p:nvPr/>
              </p:nvSpPr>
              <p:spPr>
                <a:xfrm>
                  <a:off x="9075262" y="914400"/>
                  <a:ext cx="1027521" cy="1027521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DE2D21EA-C9CB-4337-D693-B46052935FDA}"/>
                    </a:ext>
                  </a:extLst>
                </p:cNvPr>
                <p:cNvSpPr/>
                <p:nvPr/>
              </p:nvSpPr>
              <p:spPr>
                <a:xfrm>
                  <a:off x="10326277" y="914400"/>
                  <a:ext cx="1027521" cy="1027521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11329F8-7ADA-0BEE-7BAF-087A31EB30C6}"/>
                  </a:ext>
                </a:extLst>
              </p:cNvPr>
              <p:cNvSpPr/>
              <p:nvPr/>
            </p:nvSpPr>
            <p:spPr>
              <a:xfrm>
                <a:off x="9700182" y="2762054"/>
                <a:ext cx="2073897" cy="2337846"/>
              </a:xfrm>
              <a:custGeom>
                <a:avLst/>
                <a:gdLst>
                  <a:gd name="connsiteX0" fmla="*/ 0 w 2073897"/>
                  <a:gd name="connsiteY0" fmla="*/ 0 h 2337846"/>
                  <a:gd name="connsiteX1" fmla="*/ 2003388 w 2073897"/>
                  <a:gd name="connsiteY1" fmla="*/ 0 h 2337846"/>
                  <a:gd name="connsiteX2" fmla="*/ 2073897 w 2073897"/>
                  <a:gd name="connsiteY2" fmla="*/ 70509 h 2337846"/>
                  <a:gd name="connsiteX3" fmla="*/ 2073897 w 2073897"/>
                  <a:gd name="connsiteY3" fmla="*/ 2267337 h 2337846"/>
                  <a:gd name="connsiteX4" fmla="*/ 2003388 w 2073897"/>
                  <a:gd name="connsiteY4" fmla="*/ 2337846 h 2337846"/>
                  <a:gd name="connsiteX5" fmla="*/ 0 w 2073897"/>
                  <a:gd name="connsiteY5" fmla="*/ 2337846 h 2337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73897" h="2337846">
                    <a:moveTo>
                      <a:pt x="0" y="0"/>
                    </a:moveTo>
                    <a:lnTo>
                      <a:pt x="2003388" y="0"/>
                    </a:lnTo>
                    <a:cubicBezTo>
                      <a:pt x="2042329" y="0"/>
                      <a:pt x="2073897" y="31568"/>
                      <a:pt x="2073897" y="70509"/>
                    </a:cubicBezTo>
                    <a:lnTo>
                      <a:pt x="2073897" y="2267337"/>
                    </a:lnTo>
                    <a:cubicBezTo>
                      <a:pt x="2073897" y="2306278"/>
                      <a:pt x="2042329" y="2337846"/>
                      <a:pt x="2003388" y="2337846"/>
                    </a:cubicBezTo>
                    <a:lnTo>
                      <a:pt x="0" y="2337846"/>
                    </a:lnTo>
                    <a:close/>
                  </a:path>
                </a:pathLst>
              </a:custGeom>
              <a:solidFill>
                <a:srgbClr val="317C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345D3B-6538-4F55-9DB8-937C1408B46C}"/>
                  </a:ext>
                </a:extLst>
              </p:cNvPr>
              <p:cNvSpPr/>
              <p:nvPr/>
            </p:nvSpPr>
            <p:spPr>
              <a:xfrm>
                <a:off x="8012219" y="2922309"/>
                <a:ext cx="3573888" cy="1998482"/>
              </a:xfrm>
              <a:prstGeom prst="roundRect">
                <a:avLst>
                  <a:gd name="adj" fmla="val 3016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Flowchart: Extract 19">
              <a:extLst>
                <a:ext uri="{FF2B5EF4-FFF2-40B4-BE49-F238E27FC236}">
                  <a16:creationId xmlns:a16="http://schemas.microsoft.com/office/drawing/2014/main" id="{8A42BB54-E399-5BE9-492B-CA36E82BA5CC}"/>
                </a:ext>
              </a:extLst>
            </p:cNvPr>
            <p:cNvSpPr/>
            <p:nvPr/>
          </p:nvSpPr>
          <p:spPr>
            <a:xfrm>
              <a:off x="8282156" y="1331207"/>
              <a:ext cx="669303" cy="669303"/>
            </a:xfrm>
            <a:prstGeom prst="flowChartExtra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8CC4CA9-5EB2-73D0-F853-1AE4E1E73441}"/>
                </a:ext>
              </a:extLst>
            </p:cNvPr>
            <p:cNvSpPr/>
            <p:nvPr/>
          </p:nvSpPr>
          <p:spPr>
            <a:xfrm>
              <a:off x="9556422" y="534305"/>
              <a:ext cx="1322109" cy="132210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F8CE281-7564-A63B-221A-C29889DEC184}"/>
                </a:ext>
              </a:extLst>
            </p:cNvPr>
            <p:cNvSpPr/>
            <p:nvPr/>
          </p:nvSpPr>
          <p:spPr>
            <a:xfrm>
              <a:off x="9489280" y="5511794"/>
              <a:ext cx="983486" cy="98348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lowchart: Decision 22">
              <a:extLst>
                <a:ext uri="{FF2B5EF4-FFF2-40B4-BE49-F238E27FC236}">
                  <a16:creationId xmlns:a16="http://schemas.microsoft.com/office/drawing/2014/main" id="{7DDC1534-4BD8-AB35-D447-84BBBFF05D11}"/>
                </a:ext>
              </a:extLst>
            </p:cNvPr>
            <p:cNvSpPr/>
            <p:nvPr/>
          </p:nvSpPr>
          <p:spPr>
            <a:xfrm>
              <a:off x="8403353" y="4778940"/>
              <a:ext cx="749148" cy="749148"/>
            </a:xfrm>
            <a:prstGeom prst="flowChartDecision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Pentagon 23">
              <a:extLst>
                <a:ext uri="{FF2B5EF4-FFF2-40B4-BE49-F238E27FC236}">
                  <a16:creationId xmlns:a16="http://schemas.microsoft.com/office/drawing/2014/main" id="{CA3BED0A-E067-F281-8F5B-3CB355798F7C}"/>
                </a:ext>
              </a:extLst>
            </p:cNvPr>
            <p:cNvSpPr/>
            <p:nvPr/>
          </p:nvSpPr>
          <p:spPr>
            <a:xfrm>
              <a:off x="10294069" y="2567590"/>
              <a:ext cx="935663" cy="935663"/>
            </a:xfrm>
            <a:prstGeom prst="pentagon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6FAD809-3B17-3ADD-5651-8D04FF417951}"/>
                </a:ext>
              </a:extLst>
            </p:cNvPr>
            <p:cNvSpPr/>
            <p:nvPr/>
          </p:nvSpPr>
          <p:spPr>
            <a:xfrm>
              <a:off x="10761900" y="4276860"/>
              <a:ext cx="482841" cy="48284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5158DC-F9D9-FCBA-480C-7FCEF92F475B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 flipH="1" flipV="1">
              <a:off x="8616808" y="2000510"/>
              <a:ext cx="1180981" cy="1927975"/>
            </a:xfrm>
            <a:prstGeom prst="line">
              <a:avLst/>
            </a:prstGeom>
            <a:ln w="28575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FCBE7C4-01FE-4FA6-4C2A-482FD7B4085B}"/>
                </a:ext>
              </a:extLst>
            </p:cNvPr>
            <p:cNvCxnSpPr>
              <a:cxnSpLocks/>
              <a:endCxn id="21" idx="4"/>
            </p:cNvCxnSpPr>
            <p:nvPr/>
          </p:nvCxnSpPr>
          <p:spPr>
            <a:xfrm flipV="1">
              <a:off x="9799163" y="1856414"/>
              <a:ext cx="418314" cy="2053951"/>
            </a:xfrm>
            <a:prstGeom prst="line">
              <a:avLst/>
            </a:prstGeom>
            <a:ln w="28575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E1333D7-0B69-42B8-D2C1-5D64AC33F51D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 flipV="1">
              <a:off x="9799163" y="3503251"/>
              <a:ext cx="673602" cy="425236"/>
            </a:xfrm>
            <a:prstGeom prst="line">
              <a:avLst/>
            </a:prstGeom>
            <a:ln w="28575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7E65F4D-BB45-65E1-A361-DFCC4BF55AA1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>
              <a:off x="9799163" y="3928487"/>
              <a:ext cx="962737" cy="589794"/>
            </a:xfrm>
            <a:prstGeom prst="line">
              <a:avLst/>
            </a:prstGeom>
            <a:ln w="28575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C5EA6F8-F1C4-B0F7-0D28-35C6D94F09EA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9799163" y="3910365"/>
              <a:ext cx="181860" cy="1601429"/>
            </a:xfrm>
            <a:prstGeom prst="line">
              <a:avLst/>
            </a:prstGeom>
            <a:ln w="28575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AE30350-C83F-30C3-92C0-4AF0ACE999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36852" y="3928487"/>
              <a:ext cx="862311" cy="1059438"/>
            </a:xfrm>
            <a:prstGeom prst="line">
              <a:avLst/>
            </a:prstGeom>
            <a:ln w="28575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8810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C2ED5A-BDF0-1E1B-A1F2-E13B67726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222" y="1626121"/>
            <a:ext cx="3612037" cy="36120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Definiciones: “Objeto”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5D0CCD99-CBC7-F907-624F-BAC187822B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7167353" cy="4991223"/>
          </a:xfrm>
        </p:spPr>
        <p:txBody>
          <a:bodyPr>
            <a:normAutofit/>
          </a:bodyPr>
          <a:lstStyle/>
          <a:p>
            <a:r>
              <a:rPr lang="es-ES" dirty="0"/>
              <a:t>Es una </a:t>
            </a:r>
            <a:r>
              <a:rPr lang="es-ES" b="1" dirty="0">
                <a:solidFill>
                  <a:schemeClr val="accent2"/>
                </a:solidFill>
              </a:rPr>
              <a:t>estructura</a:t>
            </a:r>
            <a:r>
              <a:rPr lang="es-ES" dirty="0"/>
              <a:t> que representa a un objeto del mundo real.</a:t>
            </a:r>
          </a:p>
          <a:p>
            <a:r>
              <a:rPr lang="es-ES" dirty="0"/>
              <a:t>Contiene </a:t>
            </a:r>
            <a:r>
              <a:rPr lang="es-ES" b="1" dirty="0">
                <a:solidFill>
                  <a:schemeClr val="accent2"/>
                </a:solidFill>
              </a:rPr>
              <a:t>información de estado</a:t>
            </a:r>
            <a:r>
              <a:rPr lang="es-ES" dirty="0"/>
              <a:t> y </a:t>
            </a:r>
            <a:r>
              <a:rPr lang="es-ES" b="1" dirty="0">
                <a:solidFill>
                  <a:schemeClr val="accent2"/>
                </a:solidFill>
              </a:rPr>
              <a:t>comportamiento</a:t>
            </a:r>
            <a:r>
              <a:rPr lang="es-ES" dirty="0"/>
              <a:t>.</a:t>
            </a:r>
          </a:p>
          <a:p>
            <a:r>
              <a:rPr lang="es-ES" dirty="0"/>
              <a:t>Su </a:t>
            </a:r>
            <a:r>
              <a:rPr lang="es-ES" b="1" dirty="0"/>
              <a:t>estado</a:t>
            </a:r>
            <a:r>
              <a:rPr lang="es-ES" dirty="0"/>
              <a:t> se refiere a las </a:t>
            </a:r>
            <a:r>
              <a:rPr lang="es-ES" b="1" dirty="0"/>
              <a:t>características</a:t>
            </a:r>
            <a:r>
              <a:rPr lang="es-ES" dirty="0"/>
              <a:t> (valores de sus atributos) que lo definen en un momento dado.</a:t>
            </a:r>
          </a:p>
          <a:p>
            <a:r>
              <a:rPr lang="es-ES" dirty="0"/>
              <a:t>Su </a:t>
            </a:r>
            <a:r>
              <a:rPr lang="es-ES" b="1" dirty="0"/>
              <a:t>comportamiento</a:t>
            </a:r>
            <a:r>
              <a:rPr lang="es-ES" dirty="0"/>
              <a:t> se refiere a las </a:t>
            </a:r>
            <a:r>
              <a:rPr lang="es-ES" b="1" dirty="0"/>
              <a:t>actividades</a:t>
            </a:r>
            <a:r>
              <a:rPr lang="es-ES" dirty="0"/>
              <a:t> asociadas a éste.</a:t>
            </a:r>
          </a:p>
          <a:p>
            <a:endParaRPr lang="es-E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70F16F-F121-84F9-5675-DD0B133A83B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Introducción a la POO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70A49B-69EA-F950-EAB3-0BD6E141A2A4}"/>
              </a:ext>
            </a:extLst>
          </p:cNvPr>
          <p:cNvSpPr/>
          <p:nvPr/>
        </p:nvSpPr>
        <p:spPr>
          <a:xfrm>
            <a:off x="10728881" y="1693210"/>
            <a:ext cx="1249837" cy="365125"/>
          </a:xfrm>
          <a:prstGeom prst="roundRect">
            <a:avLst>
              <a:gd name="adj" fmla="val 50000"/>
            </a:avLst>
          </a:prstGeom>
          <a:solidFill>
            <a:srgbClr val="FF008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color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70CB94-591D-BCEE-92C1-D8529716C6CF}"/>
              </a:ext>
            </a:extLst>
          </p:cNvPr>
          <p:cNvSpPr/>
          <p:nvPr/>
        </p:nvSpPr>
        <p:spPr>
          <a:xfrm>
            <a:off x="8610403" y="5573429"/>
            <a:ext cx="1249837" cy="365125"/>
          </a:xfrm>
          <a:prstGeom prst="roundRect">
            <a:avLst>
              <a:gd name="adj" fmla="val 50000"/>
            </a:avLst>
          </a:prstGeom>
          <a:solidFill>
            <a:srgbClr val="FF008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tamaño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B6A4CF-F9B1-DD5D-5756-B2C96D89F4F2}"/>
              </a:ext>
            </a:extLst>
          </p:cNvPr>
          <p:cNvSpPr/>
          <p:nvPr/>
        </p:nvSpPr>
        <p:spPr>
          <a:xfrm>
            <a:off x="10704527" y="5470265"/>
            <a:ext cx="1249837" cy="365125"/>
          </a:xfrm>
          <a:prstGeom prst="roundRect">
            <a:avLst>
              <a:gd name="adj" fmla="val 50000"/>
            </a:avLst>
          </a:prstGeom>
          <a:solidFill>
            <a:srgbClr val="0099C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ring!!!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49D09F-0FC1-B3AB-FCC1-499C73AD227A}"/>
              </a:ext>
            </a:extLst>
          </p:cNvPr>
          <p:cNvSpPr/>
          <p:nvPr/>
        </p:nvSpPr>
        <p:spPr>
          <a:xfrm>
            <a:off x="7794985" y="3563497"/>
            <a:ext cx="1249837" cy="365125"/>
          </a:xfrm>
          <a:prstGeom prst="roundRect">
            <a:avLst>
              <a:gd name="adj" fmla="val 50000"/>
            </a:avLst>
          </a:prstGeom>
          <a:solidFill>
            <a:srgbClr val="0099C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tic tac…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A7660F5-6932-3002-D561-7D6DC2E36998}"/>
              </a:ext>
            </a:extLst>
          </p:cNvPr>
          <p:cNvSpPr/>
          <p:nvPr/>
        </p:nvSpPr>
        <p:spPr>
          <a:xfrm>
            <a:off x="8510712" y="1052269"/>
            <a:ext cx="1249837" cy="365125"/>
          </a:xfrm>
          <a:prstGeom prst="roundRect">
            <a:avLst>
              <a:gd name="adj" fmla="val 50000"/>
            </a:avLst>
          </a:prstGeom>
          <a:solidFill>
            <a:srgbClr val="FF008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marca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882866-D98C-A4B6-23D1-98F08AA2590B}"/>
              </a:ext>
            </a:extLst>
          </p:cNvPr>
          <p:cNvSpPr txBox="1"/>
          <p:nvPr/>
        </p:nvSpPr>
        <p:spPr>
          <a:xfrm>
            <a:off x="737648" y="6534244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http://cdn.shopify.com/s/files/1/0255/6972/2416/products/23899.jpg?v=1671040243</a:t>
            </a:r>
          </a:p>
        </p:txBody>
      </p:sp>
    </p:spTree>
    <p:extLst>
      <p:ext uri="{BB962C8B-B14F-4D97-AF65-F5344CB8AC3E}">
        <p14:creationId xmlns:p14="http://schemas.microsoft.com/office/powerpoint/2010/main" val="139117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de Objeto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70F16F-F121-84F9-5675-DD0B133A83B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Introducción a la POO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680A7E-A1E5-CF03-AD4A-DECE236C84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048" b="13802"/>
          <a:stretch/>
        </p:blipFill>
        <p:spPr>
          <a:xfrm>
            <a:off x="2427074" y="1547741"/>
            <a:ext cx="8388416" cy="44762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2ADC44-5F9C-9E6B-A539-39D0C5CCE0B6}"/>
              </a:ext>
            </a:extLst>
          </p:cNvPr>
          <p:cNvSpPr txBox="1"/>
          <p:nvPr/>
        </p:nvSpPr>
        <p:spPr>
          <a:xfrm>
            <a:off x="1376511" y="1690688"/>
            <a:ext cx="2281090" cy="2423331"/>
          </a:xfrm>
          <a:prstGeom prst="roundRect">
            <a:avLst>
              <a:gd name="adj" fmla="val 4941"/>
            </a:avLst>
          </a:prstGeom>
          <a:solidFill>
            <a:srgbClr val="7030A0">
              <a:alpha val="95000"/>
            </a:srgb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b="1" dirty="0">
                <a:solidFill>
                  <a:schemeClr val="accent4"/>
                </a:solidFill>
                <a:latin typeface="+mj-lt"/>
              </a:rPr>
              <a:t>Estado</a:t>
            </a:r>
          </a:p>
          <a:p>
            <a:pPr algn="ctr">
              <a:lnSpc>
                <a:spcPct val="150000"/>
              </a:lnSpc>
            </a:pPr>
            <a:r>
              <a:rPr lang="es-ES" sz="1600" dirty="0">
                <a:solidFill>
                  <a:schemeClr val="bg1"/>
                </a:solidFill>
                <a:latin typeface="+mj-lt"/>
              </a:rPr>
              <a:t>Marca</a:t>
            </a:r>
          </a:p>
          <a:p>
            <a:pPr algn="ctr">
              <a:lnSpc>
                <a:spcPct val="150000"/>
              </a:lnSpc>
            </a:pPr>
            <a:r>
              <a:rPr lang="es-ES" sz="1600" dirty="0">
                <a:solidFill>
                  <a:schemeClr val="bg1"/>
                </a:solidFill>
                <a:latin typeface="+mj-lt"/>
              </a:rPr>
              <a:t>Modelo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+mj-lt"/>
              </a:rPr>
              <a:t>Color</a:t>
            </a:r>
          </a:p>
          <a:p>
            <a:pPr algn="ctr"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  <a:latin typeface="+mj-lt"/>
              </a:rPr>
              <a:t>Número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 de asientos</a:t>
            </a:r>
          </a:p>
          <a:p>
            <a:pPr algn="ctr"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  <a:latin typeface="+mj-lt"/>
              </a:rPr>
              <a:t>Precio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0E9769-3F96-F62E-7941-6065F22DA5CC}"/>
              </a:ext>
            </a:extLst>
          </p:cNvPr>
          <p:cNvSpPr txBox="1"/>
          <p:nvPr/>
        </p:nvSpPr>
        <p:spPr>
          <a:xfrm>
            <a:off x="8610600" y="3815542"/>
            <a:ext cx="2371755" cy="2446106"/>
          </a:xfrm>
          <a:prstGeom prst="roundRect">
            <a:avLst>
              <a:gd name="adj" fmla="val 6575"/>
            </a:avLst>
          </a:prstGeom>
          <a:solidFill>
            <a:srgbClr val="92D050">
              <a:alpha val="95000"/>
            </a:srgb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b="1" dirty="0">
                <a:solidFill>
                  <a:schemeClr val="tx1"/>
                </a:solidFill>
                <a:latin typeface="+mj-lt"/>
              </a:rPr>
              <a:t>Comportamiento</a:t>
            </a:r>
          </a:p>
          <a:p>
            <a:pPr algn="ctr">
              <a:lnSpc>
                <a:spcPct val="150000"/>
              </a:lnSpc>
            </a:pPr>
            <a:r>
              <a:rPr lang="es-ES" sz="1600" dirty="0">
                <a:solidFill>
                  <a:schemeClr val="bg1"/>
                </a:solidFill>
                <a:latin typeface="+mj-lt"/>
              </a:rPr>
              <a:t>Encender</a:t>
            </a:r>
          </a:p>
          <a:p>
            <a:pPr algn="ctr">
              <a:lnSpc>
                <a:spcPct val="150000"/>
              </a:lnSpc>
            </a:pPr>
            <a:r>
              <a:rPr lang="es-ES" sz="1600" dirty="0">
                <a:solidFill>
                  <a:schemeClr val="bg1"/>
                </a:solidFill>
                <a:latin typeface="+mj-lt"/>
              </a:rPr>
              <a:t>Avanzar</a:t>
            </a:r>
          </a:p>
          <a:p>
            <a:pPr algn="ctr">
              <a:lnSpc>
                <a:spcPct val="150000"/>
              </a:lnSpc>
            </a:pPr>
            <a:r>
              <a:rPr lang="es-ES" sz="1600" dirty="0">
                <a:solidFill>
                  <a:schemeClr val="bg1"/>
                </a:solidFill>
                <a:latin typeface="+mj-lt"/>
              </a:rPr>
              <a:t>Detener</a:t>
            </a:r>
          </a:p>
          <a:p>
            <a:pPr algn="ctr">
              <a:lnSpc>
                <a:spcPct val="150000"/>
              </a:lnSpc>
            </a:pPr>
            <a:r>
              <a:rPr lang="es-ES" sz="1600" dirty="0">
                <a:solidFill>
                  <a:schemeClr val="bg1"/>
                </a:solidFill>
                <a:latin typeface="+mj-lt"/>
              </a:rPr>
              <a:t>Frenar</a:t>
            </a:r>
          </a:p>
          <a:p>
            <a:pPr algn="ctr">
              <a:lnSpc>
                <a:spcPct val="150000"/>
              </a:lnSpc>
            </a:pPr>
            <a:r>
              <a:rPr lang="es-ES" sz="1600" dirty="0">
                <a:solidFill>
                  <a:schemeClr val="bg1"/>
                </a:solidFill>
                <a:latin typeface="+mj-lt"/>
              </a:rPr>
              <a:t>Acelerar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7316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333D00-FCED-BD36-5DD2-0DF6FE8B81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rcRect l="3045" t="9306" r="5990" b="13127"/>
          <a:stretch/>
        </p:blipFill>
        <p:spPr>
          <a:xfrm flipH="1">
            <a:off x="3054287" y="0"/>
            <a:ext cx="9134574" cy="67646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FA4FA6-F952-EE14-4D24-281B6EF000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045" t="9306" r="5990" b="13127"/>
          <a:stretch/>
        </p:blipFill>
        <p:spPr>
          <a:xfrm flipH="1">
            <a:off x="7641320" y="3468675"/>
            <a:ext cx="3963076" cy="29348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Definiciones: “Clase”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5D0CCD99-CBC7-F907-624F-BAC187822B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" dirty="0">
                <a:latin typeface="+mj-lt"/>
              </a:rPr>
              <a:t>Una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Clase</a:t>
            </a:r>
            <a:r>
              <a:rPr lang="es-ES" dirty="0">
                <a:latin typeface="+mj-lt"/>
              </a:rPr>
              <a:t> es una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abstracción</a:t>
            </a:r>
            <a:r>
              <a:rPr lang="es-ES" dirty="0">
                <a:latin typeface="+mj-lt"/>
              </a:rPr>
              <a:t> del mundo real.</a:t>
            </a:r>
          </a:p>
          <a:p>
            <a:pPr>
              <a:lnSpc>
                <a:spcPct val="110000"/>
              </a:lnSpc>
            </a:pPr>
            <a:r>
              <a:rPr lang="es-ES" dirty="0">
                <a:latin typeface="+mj-lt"/>
              </a:rPr>
              <a:t>Es un “</a:t>
            </a:r>
            <a:r>
              <a:rPr lang="es-ES" b="1" dirty="0">
                <a:solidFill>
                  <a:srgbClr val="00B0F0"/>
                </a:solidFill>
                <a:latin typeface="+mj-lt"/>
              </a:rPr>
              <a:t>plano</a:t>
            </a:r>
            <a:r>
              <a:rPr lang="es-ES" dirty="0">
                <a:latin typeface="+mj-lt"/>
              </a:rPr>
              <a:t>” que especifica cómo construir un objeto.</a:t>
            </a:r>
          </a:p>
          <a:p>
            <a:pPr>
              <a:lnSpc>
                <a:spcPct val="110000"/>
              </a:lnSpc>
            </a:pPr>
            <a:r>
              <a:rPr lang="es-ES" dirty="0">
                <a:latin typeface="+mj-lt"/>
              </a:rPr>
              <a:t>Permite especificar el </a:t>
            </a:r>
            <a:r>
              <a:rPr lang="es-ES" b="1" dirty="0">
                <a:latin typeface="+mj-lt"/>
              </a:rPr>
              <a:t>estado</a:t>
            </a:r>
            <a:r>
              <a:rPr lang="es-ES" dirty="0">
                <a:latin typeface="+mj-lt"/>
              </a:rPr>
              <a:t> y </a:t>
            </a:r>
            <a:r>
              <a:rPr lang="es-ES" b="1" dirty="0">
                <a:latin typeface="+mj-lt"/>
              </a:rPr>
              <a:t>comportamiento</a:t>
            </a:r>
            <a:r>
              <a:rPr lang="es-ES" dirty="0">
                <a:latin typeface="+mj-lt"/>
              </a:rPr>
              <a:t> de </a:t>
            </a:r>
            <a:br>
              <a:rPr lang="es-ES" dirty="0">
                <a:latin typeface="+mj-lt"/>
              </a:rPr>
            </a:br>
            <a:r>
              <a:rPr lang="es-ES" dirty="0">
                <a:latin typeface="+mj-lt"/>
              </a:rPr>
              <a:t>un objeto para crear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instancias de clase</a:t>
            </a:r>
            <a:r>
              <a:rPr lang="es-ES" dirty="0">
                <a:latin typeface="+mj-lt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s-ES" dirty="0">
                <a:latin typeface="+mj-lt"/>
              </a:rPr>
              <a:t>El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estado</a:t>
            </a:r>
            <a:r>
              <a:rPr lang="es-ES" dirty="0">
                <a:latin typeface="+mj-lt"/>
              </a:rPr>
              <a:t> se describe a través </a:t>
            </a:r>
            <a:br>
              <a:rPr lang="es-ES" dirty="0">
                <a:latin typeface="+mj-lt"/>
              </a:rPr>
            </a:br>
            <a:r>
              <a:rPr lang="es-ES" dirty="0">
                <a:latin typeface="+mj-lt"/>
              </a:rPr>
              <a:t>de sus </a:t>
            </a:r>
            <a:r>
              <a:rPr lang="es-ES" b="1" dirty="0">
                <a:solidFill>
                  <a:srgbClr val="00B0F0"/>
                </a:solidFill>
                <a:latin typeface="+mj-lt"/>
              </a:rPr>
              <a:t>atributos</a:t>
            </a:r>
            <a:r>
              <a:rPr lang="es-ES" dirty="0">
                <a:latin typeface="+mj-lt"/>
              </a:rPr>
              <a:t> y su </a:t>
            </a:r>
            <a:br>
              <a:rPr lang="es-ES" dirty="0">
                <a:latin typeface="+mj-lt"/>
              </a:rPr>
            </a:br>
            <a:r>
              <a:rPr lang="es-ES" b="1" dirty="0">
                <a:solidFill>
                  <a:schemeClr val="accent2"/>
                </a:solidFill>
                <a:latin typeface="+mj-lt"/>
              </a:rPr>
              <a:t>comportamiento</a:t>
            </a:r>
            <a:r>
              <a:rPr lang="es-ES" dirty="0">
                <a:latin typeface="+mj-lt"/>
              </a:rPr>
              <a:t> a través </a:t>
            </a:r>
            <a:br>
              <a:rPr lang="es-ES" dirty="0">
                <a:latin typeface="+mj-lt"/>
              </a:rPr>
            </a:br>
            <a:r>
              <a:rPr lang="es-ES" dirty="0">
                <a:latin typeface="+mj-lt"/>
              </a:rPr>
              <a:t>de </a:t>
            </a:r>
            <a:r>
              <a:rPr lang="es-ES" b="1" dirty="0">
                <a:solidFill>
                  <a:srgbClr val="00B0F0"/>
                </a:solidFill>
                <a:latin typeface="+mj-lt"/>
              </a:rPr>
              <a:t>métodos</a:t>
            </a:r>
            <a:r>
              <a:rPr lang="es-ES" dirty="0">
                <a:latin typeface="+mj-lt"/>
              </a:rPr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70F16F-F121-84F9-5675-DD0B133A83B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Introducción a la POO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F3C9CE-8D3E-49B5-B37A-E0EBB1D11B77}"/>
              </a:ext>
            </a:extLst>
          </p:cNvPr>
          <p:cNvSpPr txBox="1"/>
          <p:nvPr/>
        </p:nvSpPr>
        <p:spPr>
          <a:xfrm>
            <a:off x="737648" y="6479350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https://c8.alamy.com/comp/RJNDM1/concept-car-vector-rendering-of-3d-RJNDM1.jpg</a:t>
            </a:r>
          </a:p>
        </p:txBody>
      </p:sp>
    </p:spTree>
    <p:extLst>
      <p:ext uri="{BB962C8B-B14F-4D97-AF65-F5344CB8AC3E}">
        <p14:creationId xmlns:p14="http://schemas.microsoft.com/office/powerpoint/2010/main" val="185828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53269B-C8D1-F375-2643-8BABBA6B61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21357" r="39329"/>
          <a:stretch/>
        </p:blipFill>
        <p:spPr>
          <a:xfrm>
            <a:off x="7978217" y="0"/>
            <a:ext cx="4213783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4E22B-F3AB-3279-B7D6-F9E9FC277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Definiciones: “Instancia de Clase”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1F1A67-5A71-B7E4-8F23-A468004A97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82A6B-0A47-44AA-A099-7CC7E5A0BD0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6498050" cy="478291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dirty="0"/>
              <a:t>Es un </a:t>
            </a:r>
            <a:r>
              <a:rPr lang="es-ES" b="1" dirty="0">
                <a:solidFill>
                  <a:schemeClr val="accent2"/>
                </a:solidFill>
              </a:rPr>
              <a:t>objeto en ejecución</a:t>
            </a:r>
            <a:r>
              <a:rPr lang="es-ES" dirty="0"/>
              <a:t>.</a:t>
            </a:r>
          </a:p>
          <a:p>
            <a:pPr>
              <a:lnSpc>
                <a:spcPct val="150000"/>
              </a:lnSpc>
            </a:pPr>
            <a:r>
              <a:rPr lang="es-ES" dirty="0"/>
              <a:t>Permite “</a:t>
            </a:r>
            <a:r>
              <a:rPr lang="es-ES" b="1" dirty="0"/>
              <a:t>individualizar</a:t>
            </a:r>
            <a:r>
              <a:rPr lang="es-ES" dirty="0"/>
              <a:t>” al objeto.</a:t>
            </a:r>
          </a:p>
          <a:p>
            <a:pPr>
              <a:lnSpc>
                <a:spcPct val="150000"/>
              </a:lnSpc>
            </a:pPr>
            <a:r>
              <a:rPr lang="es-ES" dirty="0"/>
              <a:t>Las instancias de clase </a:t>
            </a:r>
            <a:r>
              <a:rPr lang="es-ES" u="sng" dirty="0"/>
              <a:t>ocupan espacio de memoria</a:t>
            </a:r>
            <a:r>
              <a:rPr lang="es-ES" dirty="0"/>
              <a:t> y </a:t>
            </a:r>
            <a:r>
              <a:rPr lang="es-ES" u="sng" dirty="0"/>
              <a:t>consumen recursos</a:t>
            </a:r>
            <a:r>
              <a:rPr lang="es-ES" dirty="0"/>
              <a:t> en el Sistema Operativo.</a:t>
            </a:r>
          </a:p>
          <a:p>
            <a:pPr>
              <a:lnSpc>
                <a:spcPct val="150000"/>
              </a:lnSpc>
            </a:pPr>
            <a:r>
              <a:rPr lang="es-ES" dirty="0"/>
              <a:t>Tienen un </a:t>
            </a:r>
            <a:r>
              <a:rPr lang="es-ES" b="1" dirty="0"/>
              <a:t>tiempo de vida limitado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D93BA-1F48-C262-405C-A227133CAA6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Introducción a la POO</a:t>
            </a:r>
          </a:p>
        </p:txBody>
      </p:sp>
    </p:spTree>
    <p:extLst>
      <p:ext uri="{BB962C8B-B14F-4D97-AF65-F5344CB8AC3E}">
        <p14:creationId xmlns:p14="http://schemas.microsoft.com/office/powerpoint/2010/main" val="211577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Getters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 &amp;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Setters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Introducción a la POO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4FF591F-98E3-B3D3-9D6F-C155AEECBE39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Estructura de una Clase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192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0E49-6053-8122-E67E-2F63286A2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Representación de una Clase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4B12D6-EF30-DBB3-3E0E-E089F310FE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18C3FE5-6811-CAF4-424B-58D5C851FE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5677918" cy="4782911"/>
          </a:xfrm>
        </p:spPr>
        <p:txBody>
          <a:bodyPr/>
          <a:lstStyle/>
          <a:p>
            <a:r>
              <a:rPr lang="es-ES" dirty="0"/>
              <a:t>Se utiliza el lenguaje de modelado </a:t>
            </a:r>
            <a:r>
              <a:rPr lang="es-ES" b="1" dirty="0">
                <a:solidFill>
                  <a:srgbClr val="FE4CA5"/>
                </a:solidFill>
              </a:rPr>
              <a:t>UML</a:t>
            </a:r>
            <a:r>
              <a:rPr lang="es-ES" dirty="0"/>
              <a:t>.</a:t>
            </a:r>
          </a:p>
          <a:p>
            <a:r>
              <a:rPr lang="en-US" dirty="0"/>
              <a:t>El </a:t>
            </a:r>
            <a:r>
              <a:rPr lang="en-US" dirty="0" err="1"/>
              <a:t>nombre</a:t>
            </a:r>
            <a:r>
              <a:rPr lang="en-US" dirty="0"/>
              <a:t> de la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ser un </a:t>
            </a:r>
            <a:r>
              <a:rPr lang="en-US" b="1" dirty="0" err="1">
                <a:solidFill>
                  <a:srgbClr val="92D050"/>
                </a:solidFill>
              </a:rPr>
              <a:t>sustantivo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>
                <a:solidFill>
                  <a:srgbClr val="92D050"/>
                </a:solidFill>
              </a:rPr>
              <a:t>singular</a:t>
            </a:r>
            <a:r>
              <a:rPr lang="en-US" dirty="0"/>
              <a:t>.</a:t>
            </a:r>
          </a:p>
          <a:p>
            <a:r>
              <a:rPr lang="en-US" dirty="0"/>
              <a:t>Los </a:t>
            </a:r>
            <a:r>
              <a:rPr lang="en-US" dirty="0" err="1"/>
              <a:t>atributos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ser </a:t>
            </a:r>
            <a:r>
              <a:rPr lang="en-US" b="1" dirty="0" err="1">
                <a:solidFill>
                  <a:schemeClr val="accent2"/>
                </a:solidFill>
              </a:rPr>
              <a:t>descriptivos</a:t>
            </a:r>
            <a:r>
              <a:rPr lang="en-US" dirty="0"/>
              <a:t>.</a:t>
            </a:r>
          </a:p>
          <a:p>
            <a:r>
              <a:rPr lang="en-US" dirty="0"/>
              <a:t>Los </a:t>
            </a: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empezar</a:t>
            </a:r>
            <a:r>
              <a:rPr lang="en-US" dirty="0"/>
              <a:t> con un </a:t>
            </a:r>
            <a:r>
              <a:rPr lang="en-US" b="1" dirty="0">
                <a:solidFill>
                  <a:srgbClr val="00B0F0"/>
                </a:solidFill>
              </a:rPr>
              <a:t>verbo</a:t>
            </a:r>
            <a:r>
              <a:rPr lang="en-U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FCE26-7273-E35A-8A6E-4699658AEB3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Estructura de una Clase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2E9F1D4-8B6B-AC49-6A3F-4B0BAD87B737}"/>
              </a:ext>
            </a:extLst>
          </p:cNvPr>
          <p:cNvGrpSpPr/>
          <p:nvPr/>
        </p:nvGrpSpPr>
        <p:grpSpPr>
          <a:xfrm>
            <a:off x="7507664" y="1421131"/>
            <a:ext cx="1956848" cy="2296358"/>
            <a:chOff x="2243579" y="4157221"/>
            <a:chExt cx="2205873" cy="22963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F1BCE6B-BD17-9D9A-E8F2-2535B23F5BFC}"/>
                </a:ext>
              </a:extLst>
            </p:cNvPr>
            <p:cNvSpPr/>
            <p:nvPr/>
          </p:nvSpPr>
          <p:spPr>
            <a:xfrm>
              <a:off x="2243579" y="4157221"/>
              <a:ext cx="2205873" cy="50904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Nombre de la Clase</a:t>
              </a:r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BB5A2F8-7B63-5D4E-5D89-888B351E905F}"/>
                </a:ext>
              </a:extLst>
            </p:cNvPr>
            <p:cNvSpPr/>
            <p:nvPr/>
          </p:nvSpPr>
          <p:spPr>
            <a:xfrm>
              <a:off x="2243579" y="4670049"/>
              <a:ext cx="2205873" cy="89176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Atributos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09313A-E5C5-F6F0-FFDD-32184D2D30F2}"/>
                </a:ext>
              </a:extLst>
            </p:cNvPr>
            <p:cNvSpPr/>
            <p:nvPr/>
          </p:nvSpPr>
          <p:spPr>
            <a:xfrm>
              <a:off x="2243579" y="5561814"/>
              <a:ext cx="2205873" cy="89176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Métodos</a:t>
              </a:r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0D91D9E-D80B-3766-10F5-C26C03AE8CCB}"/>
              </a:ext>
            </a:extLst>
          </p:cNvPr>
          <p:cNvSpPr txBox="1"/>
          <p:nvPr/>
        </p:nvSpPr>
        <p:spPr>
          <a:xfrm>
            <a:off x="9676586" y="1462384"/>
            <a:ext cx="1338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Estructura de una Clase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1C541D-3685-87BC-7B61-098A3757D0BC}"/>
              </a:ext>
            </a:extLst>
          </p:cNvPr>
          <p:cNvSpPr txBox="1"/>
          <p:nvPr/>
        </p:nvSpPr>
        <p:spPr>
          <a:xfrm>
            <a:off x="8107548" y="5349997"/>
            <a:ext cx="1441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Diagrama UML de una Clase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87E4BE-8E0A-DE4F-2397-B8C76240D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888" y="3400600"/>
            <a:ext cx="1969208" cy="28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2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85702F-DCBE-6591-1A5E-9560C6236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635" y="1936883"/>
            <a:ext cx="2247634" cy="3217835"/>
          </a:xfrm>
          <a:prstGeom prst="rect">
            <a:avLst/>
          </a:prstGeom>
        </p:spPr>
      </p:pic>
      <p:sp>
        <p:nvSpPr>
          <p:cNvPr id="17" name="Flowchart: Display 16">
            <a:extLst>
              <a:ext uri="{FF2B5EF4-FFF2-40B4-BE49-F238E27FC236}">
                <a16:creationId xmlns:a16="http://schemas.microsoft.com/office/drawing/2014/main" id="{EA3139BB-4BE1-4340-7A6D-0EFF055929B1}"/>
              </a:ext>
            </a:extLst>
          </p:cNvPr>
          <p:cNvSpPr/>
          <p:nvPr/>
        </p:nvSpPr>
        <p:spPr>
          <a:xfrm>
            <a:off x="3695699" y="1444830"/>
            <a:ext cx="8201025" cy="3981160"/>
          </a:xfrm>
          <a:prstGeom prst="flowChartDisplay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5EE5E-4994-811B-0A00-24280E79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y Objeto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CFC4CF-7549-5934-D6B3-CBC08F2C56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5BB82B-1589-D0EF-119F-E851CB3C630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8972" y="1399255"/>
            <a:ext cx="5291180" cy="264559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AB7A390-C754-C838-B977-3ED5BB3053F4}"/>
              </a:ext>
            </a:extLst>
          </p:cNvPr>
          <p:cNvGrpSpPr/>
          <p:nvPr/>
        </p:nvGrpSpPr>
        <p:grpSpPr>
          <a:xfrm>
            <a:off x="5321850" y="3999269"/>
            <a:ext cx="5305424" cy="1223546"/>
            <a:chOff x="5276851" y="3999269"/>
            <a:chExt cx="5305424" cy="122354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EB880A-0E5A-D2EC-F707-89B61587FC6B}"/>
                </a:ext>
              </a:extLst>
            </p:cNvPr>
            <p:cNvSpPr txBox="1"/>
            <p:nvPr/>
          </p:nvSpPr>
          <p:spPr>
            <a:xfrm>
              <a:off x="5276851" y="4005074"/>
              <a:ext cx="1222436" cy="1211937"/>
            </a:xfrm>
            <a:prstGeom prst="roundRect">
              <a:avLst>
                <a:gd name="adj" fmla="val 3040"/>
              </a:avLst>
            </a:prstGeom>
            <a:solidFill>
              <a:srgbClr val="C00000"/>
            </a:solidFill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16427844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Tello Sánchez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Ana María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28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Chiclayo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F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57805F-68E9-D332-32D7-4A9054543CF9}"/>
                </a:ext>
              </a:extLst>
            </p:cNvPr>
            <p:cNvSpPr txBox="1"/>
            <p:nvPr/>
          </p:nvSpPr>
          <p:spPr>
            <a:xfrm>
              <a:off x="6637847" y="4010878"/>
              <a:ext cx="1222436" cy="1211937"/>
            </a:xfrm>
            <a:prstGeom prst="roundRect">
              <a:avLst>
                <a:gd name="adj" fmla="val 2399"/>
              </a:avLst>
            </a:prstGeom>
            <a:solidFill>
              <a:srgbClr val="ACB15B"/>
            </a:solidFill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40587302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Castro Ríos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Laura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19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Trujillo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F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27EE2E-E363-A395-3A59-BAE1CBF35010}"/>
                </a:ext>
              </a:extLst>
            </p:cNvPr>
            <p:cNvSpPr txBox="1"/>
            <p:nvPr/>
          </p:nvSpPr>
          <p:spPr>
            <a:xfrm>
              <a:off x="7998843" y="3999269"/>
              <a:ext cx="1222436" cy="1223546"/>
            </a:xfrm>
            <a:prstGeom prst="roundRect">
              <a:avLst>
                <a:gd name="adj" fmla="val 2004"/>
              </a:avLst>
            </a:prstGeom>
            <a:solidFill>
              <a:srgbClr val="65ADC2"/>
            </a:solidFill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16854474</a:t>
              </a:r>
              <a:br>
                <a:rPr lang="es-ES" sz="1200" dirty="0">
                  <a:solidFill>
                    <a:schemeClr val="bg1"/>
                  </a:solidFill>
                </a:rPr>
              </a:br>
              <a:r>
                <a:rPr lang="es-ES" sz="1200" dirty="0">
                  <a:solidFill>
                    <a:schemeClr val="bg1"/>
                  </a:solidFill>
                </a:rPr>
                <a:t>Mendoza Li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Marco Antonio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41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Lima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M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857440B-03F8-5025-5871-D308993B0B5C}"/>
                </a:ext>
              </a:extLst>
            </p:cNvPr>
            <p:cNvSpPr txBox="1"/>
            <p:nvPr/>
          </p:nvSpPr>
          <p:spPr>
            <a:xfrm>
              <a:off x="9359839" y="3999269"/>
              <a:ext cx="1222436" cy="1223546"/>
            </a:xfrm>
            <a:prstGeom prst="roundRect">
              <a:avLst>
                <a:gd name="adj" fmla="val 2588"/>
              </a:avLst>
            </a:prstGeom>
            <a:solidFill>
              <a:srgbClr val="313E60"/>
            </a:solidFill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16400587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Horna López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Miguel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50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Piura</a:t>
              </a:r>
            </a:p>
            <a:p>
              <a:r>
                <a:rPr lang="es-ES" sz="1200" dirty="0">
                  <a:solidFill>
                    <a:schemeClr val="bg1"/>
                  </a:solidFill>
                </a:rPr>
                <a:t>M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58A7302-6C55-751A-9C71-A60085B04FB2}"/>
              </a:ext>
            </a:extLst>
          </p:cNvPr>
          <p:cNvSpPr txBox="1"/>
          <p:nvPr/>
        </p:nvSpPr>
        <p:spPr>
          <a:xfrm>
            <a:off x="2175104" y="5190215"/>
            <a:ext cx="8418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Clase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32C82-44E9-282B-B6F0-743A80068053}"/>
              </a:ext>
            </a:extLst>
          </p:cNvPr>
          <p:cNvSpPr txBox="1"/>
          <p:nvPr/>
        </p:nvSpPr>
        <p:spPr>
          <a:xfrm>
            <a:off x="4088923" y="3228945"/>
            <a:ext cx="1067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Objetos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42995-0A85-3414-FDFC-C10DD7213902}"/>
              </a:ext>
            </a:extLst>
          </p:cNvPr>
          <p:cNvSpPr txBox="1"/>
          <p:nvPr/>
        </p:nvSpPr>
        <p:spPr>
          <a:xfrm>
            <a:off x="716843" y="6508076"/>
            <a:ext cx="60976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Imagen: https://img.freepik.com/free-vector/set-diverse-people-holding-papers-bags_74855-4568.jpg?w=2000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57FF10-603D-B28E-77B7-E4F0FE592BB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Estructura de una Clase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2BB0ED-5BCC-460D-EFD0-2F7494A34CB5}"/>
              </a:ext>
            </a:extLst>
          </p:cNvPr>
          <p:cNvSpPr txBox="1"/>
          <p:nvPr/>
        </p:nvSpPr>
        <p:spPr>
          <a:xfrm>
            <a:off x="4727840" y="5606738"/>
            <a:ext cx="6562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De un clase se pueden instanciar varios objetos.</a:t>
            </a:r>
          </a:p>
          <a:p>
            <a:pPr algn="ct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Cada instancia es distinta de otras, incluso si ambas tienen los mismos valores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90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0E49-6053-8122-E67E-2F63286A2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Clases en Java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4B12D6-EF30-DBB3-3E0E-E089F310FE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18C3FE5-6811-CAF4-424B-58D5C851FE5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>
                <a:latin typeface="+mj-lt"/>
              </a:rPr>
              <a:t>Una clase se define utilizando la palabra reservada </a:t>
            </a:r>
            <a:r>
              <a:rPr lang="es-ES" b="1" dirty="0" err="1">
                <a:solidFill>
                  <a:schemeClr val="accent2"/>
                </a:solidFill>
                <a:latin typeface="+mj-lt"/>
              </a:rPr>
              <a:t>class</a:t>
            </a:r>
            <a:r>
              <a:rPr lang="es-ES" dirty="0">
                <a:latin typeface="+mj-lt"/>
              </a:rPr>
              <a:t>.</a:t>
            </a:r>
          </a:p>
          <a:p>
            <a:r>
              <a:rPr lang="es-ES" dirty="0">
                <a:latin typeface="+mj-lt"/>
              </a:rPr>
              <a:t>Una clase, en su forma general, no especifica el método </a:t>
            </a:r>
            <a:r>
              <a:rPr lang="es-ES" b="1" dirty="0" err="1">
                <a:solidFill>
                  <a:schemeClr val="accent2"/>
                </a:solidFill>
                <a:latin typeface="+mj-lt"/>
              </a:rPr>
              <a:t>main</a:t>
            </a:r>
            <a:r>
              <a:rPr lang="es-ES" dirty="0">
                <a:latin typeface="+mj-lt"/>
              </a:rPr>
              <a:t>.</a:t>
            </a:r>
          </a:p>
          <a:p>
            <a:r>
              <a:rPr lang="es-ES" dirty="0">
                <a:latin typeface="+mj-lt"/>
              </a:rPr>
              <a:t>La definición de una clase crea un </a:t>
            </a:r>
            <a:r>
              <a:rPr lang="es-ES" u="sng" dirty="0">
                <a:latin typeface="+mj-lt"/>
              </a:rPr>
              <a:t>nuevo tipo de dato</a:t>
            </a:r>
            <a:r>
              <a:rPr lang="es-ES" dirty="0">
                <a:latin typeface="+mj-lt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FCE26-7273-E35A-8A6E-4699658AEB3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Estructura de una Clase</a:t>
            </a:r>
          </a:p>
        </p:txBody>
      </p:sp>
    </p:spTree>
    <p:extLst>
      <p:ext uri="{BB962C8B-B14F-4D97-AF65-F5344CB8AC3E}">
        <p14:creationId xmlns:p14="http://schemas.microsoft.com/office/powerpoint/2010/main" val="404173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2CE2-5839-DA71-5F2A-1305A648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Clases en Java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340DE8-926F-EA87-5C12-62E7883D98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65DABF9D-0772-F625-FB7A-6700F678E8A5}"/>
              </a:ext>
            </a:extLst>
          </p:cNvPr>
          <p:cNvSpPr/>
          <p:nvPr/>
        </p:nvSpPr>
        <p:spPr>
          <a:xfrm>
            <a:off x="4631115" y="3070638"/>
            <a:ext cx="209298" cy="1408788"/>
          </a:xfrm>
          <a:prstGeom prst="rightBrace">
            <a:avLst>
              <a:gd name="adj1" fmla="val 72046"/>
              <a:gd name="adj2" fmla="val 50000"/>
            </a:avLst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705F4C73-18CD-FD67-EE94-4090351A27B5}"/>
              </a:ext>
            </a:extLst>
          </p:cNvPr>
          <p:cNvSpPr/>
          <p:nvPr/>
        </p:nvSpPr>
        <p:spPr>
          <a:xfrm>
            <a:off x="4612959" y="4646533"/>
            <a:ext cx="209298" cy="711302"/>
          </a:xfrm>
          <a:prstGeom prst="rightBrace">
            <a:avLst>
              <a:gd name="adj1" fmla="val 41327"/>
              <a:gd name="adj2" fmla="val 50000"/>
            </a:avLst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ED328C36-1AF5-954A-6075-E12A3AC6DA57}"/>
              </a:ext>
            </a:extLst>
          </p:cNvPr>
          <p:cNvSpPr/>
          <p:nvPr/>
        </p:nvSpPr>
        <p:spPr>
          <a:xfrm>
            <a:off x="6570105" y="2648935"/>
            <a:ext cx="275665" cy="1741602"/>
          </a:xfrm>
          <a:prstGeom prst="leftBrace">
            <a:avLst>
              <a:gd name="adj1" fmla="val 44741"/>
              <a:gd name="adj2" fmla="val 50000"/>
            </a:avLst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BBB75E9C-27AC-6DF9-A84F-4436922A4ADB}"/>
              </a:ext>
            </a:extLst>
          </p:cNvPr>
          <p:cNvSpPr/>
          <p:nvPr/>
        </p:nvSpPr>
        <p:spPr>
          <a:xfrm>
            <a:off x="6570105" y="4838553"/>
            <a:ext cx="275665" cy="843550"/>
          </a:xfrm>
          <a:prstGeom prst="leftBrace">
            <a:avLst>
              <a:gd name="adj1" fmla="val 34501"/>
              <a:gd name="adj2" fmla="val 50000"/>
            </a:avLst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3E21E-5D15-522A-CD77-DCCD1E7FCB98}"/>
              </a:ext>
            </a:extLst>
          </p:cNvPr>
          <p:cNvSpPr txBox="1"/>
          <p:nvPr/>
        </p:nvSpPr>
        <p:spPr>
          <a:xfrm>
            <a:off x="5011102" y="3582644"/>
            <a:ext cx="1272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Atributos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ED49A7-69BD-2AD6-8EE2-19363CE0802C}"/>
              </a:ext>
            </a:extLst>
          </p:cNvPr>
          <p:cNvSpPr txBox="1"/>
          <p:nvPr/>
        </p:nvSpPr>
        <p:spPr>
          <a:xfrm>
            <a:off x="5011102" y="5050058"/>
            <a:ext cx="1272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Métodos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AB4C2D-7ECA-7D3C-10D3-A2B296EF6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816" y="1325413"/>
            <a:ext cx="1257177" cy="914400"/>
          </a:xfrm>
          <a:prstGeom prst="rect">
            <a:avLst/>
          </a:prstGeom>
        </p:spPr>
      </p:pic>
      <p:pic>
        <p:nvPicPr>
          <p:cNvPr id="2050" name="Picture 2" descr="Java logo and symbol, meaning, history, PNG">
            <a:extLst>
              <a:ext uri="{FF2B5EF4-FFF2-40B4-BE49-F238E27FC236}">
                <a16:creationId xmlns:a16="http://schemas.microsoft.com/office/drawing/2014/main" id="{8B060B2F-21F7-AA24-C465-0B1C66D7C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328" y="951605"/>
            <a:ext cx="1712536" cy="1070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D5A3512-5B5C-3332-7895-6A3E3B67658A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Estructura de una Clase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150DEA-2C75-B8C5-570A-0AD2242EFC63}"/>
              </a:ext>
            </a:extLst>
          </p:cNvPr>
          <p:cNvSpPr txBox="1"/>
          <p:nvPr/>
        </p:nvSpPr>
        <p:spPr>
          <a:xfrm>
            <a:off x="838200" y="6215811"/>
            <a:ext cx="609442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https://1000logos.net/wp-content/uploads/2020/09/Java-Logo.png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https://upload.wikimedia.org/wikipedia/commons/thumb/d/d5/UML_logo.svg/2560px-UML_logo.svg.png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00F5DD2-B168-09D5-0576-B624CC94A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735" y="2085353"/>
            <a:ext cx="3659081" cy="4014694"/>
          </a:xfrm>
          <a:prstGeom prst="roundRect">
            <a:avLst>
              <a:gd name="adj" fmla="val 4271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DNI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apellidos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ciudad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char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genero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dormir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caminar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6071D8-B1C5-D522-246E-EA4C8E876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124" y="2555444"/>
            <a:ext cx="2247634" cy="321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Introducción a la POO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Estructura de una Clase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4FF591F-98E3-B3D3-9D6F-C155AEECBE39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Getters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 &amp;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Setters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083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0AFBFC-F121-A659-7D34-A8ED6C6D4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101" y="3267655"/>
            <a:ext cx="4647416" cy="30982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80CD3C-DDD8-41F2-A0D4-A9B416F28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son los atributos?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863586-458B-A76A-505D-5177333991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F683F3B-A3FD-A481-0E41-B25797B35FE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Son </a:t>
            </a:r>
            <a:r>
              <a:rPr lang="es-ES" b="1" dirty="0"/>
              <a:t>propiedades</a:t>
            </a:r>
            <a:r>
              <a:rPr lang="es-ES" dirty="0"/>
              <a:t> o </a:t>
            </a:r>
            <a:r>
              <a:rPr lang="es-ES" b="1" dirty="0"/>
              <a:t>características</a:t>
            </a:r>
            <a:r>
              <a:rPr lang="es-ES" dirty="0"/>
              <a:t> de los objetos.</a:t>
            </a:r>
          </a:p>
          <a:p>
            <a:r>
              <a:rPr lang="es-ES" dirty="0"/>
              <a:t>Los objetos son descritos a partir de sus atributos.</a:t>
            </a:r>
          </a:p>
          <a:p>
            <a:r>
              <a:rPr lang="es-ES" dirty="0"/>
              <a:t>Los atributos tienen </a:t>
            </a:r>
            <a:r>
              <a:rPr lang="es-ES" b="1" dirty="0"/>
              <a:t>valores asociados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A6244-AF8A-7575-49E3-856BF047E9D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Getters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&amp;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Setters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4F5E22-E287-106C-00FD-EF59BEE61B02}"/>
              </a:ext>
            </a:extLst>
          </p:cNvPr>
          <p:cNvSpPr txBox="1"/>
          <p:nvPr/>
        </p:nvSpPr>
        <p:spPr>
          <a:xfrm>
            <a:off x="947395" y="6441348"/>
            <a:ext cx="998769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https://m-cdn.phonearena.com/images/article/112481-two_1200/Samsung-introduces-Google-Assistant-Alexa-and-iTunes-integration-on-its-smart-TVs.jpg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E4960E0-A40A-78A0-93C5-C628D9CC100A}"/>
              </a:ext>
            </a:extLst>
          </p:cNvPr>
          <p:cNvGrpSpPr/>
          <p:nvPr/>
        </p:nvGrpSpPr>
        <p:grpSpPr>
          <a:xfrm>
            <a:off x="6674183" y="3601037"/>
            <a:ext cx="3883843" cy="2401969"/>
            <a:chOff x="6353666" y="3817856"/>
            <a:chExt cx="3883843" cy="240196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CEA514E-031A-BBA8-AFDE-11D4CDA72FFD}"/>
                </a:ext>
              </a:extLst>
            </p:cNvPr>
            <p:cNvSpPr/>
            <p:nvPr/>
          </p:nvSpPr>
          <p:spPr>
            <a:xfrm>
              <a:off x="6353666" y="3817856"/>
              <a:ext cx="3883843" cy="24019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uadroTexto 11">
              <a:extLst>
                <a:ext uri="{FF2B5EF4-FFF2-40B4-BE49-F238E27FC236}">
                  <a16:creationId xmlns:a16="http://schemas.microsoft.com/office/drawing/2014/main" id="{1C7BFA63-F416-1F44-53AC-71DE5B068BDD}"/>
                </a:ext>
              </a:extLst>
            </p:cNvPr>
            <p:cNvSpPr txBox="1"/>
            <p:nvPr/>
          </p:nvSpPr>
          <p:spPr>
            <a:xfrm>
              <a:off x="6483393" y="4360070"/>
              <a:ext cx="1585952" cy="1749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200000"/>
                </a:lnSpc>
              </a:pPr>
              <a:r>
                <a:rPr lang="es-419" sz="1400" dirty="0">
                  <a:solidFill>
                    <a:srgbClr val="C00000"/>
                  </a:solidFill>
                  <a:latin typeface="+mj-lt"/>
                </a:rPr>
                <a:t>Tamaño</a:t>
              </a:r>
            </a:p>
            <a:p>
              <a:pPr>
                <a:lnSpc>
                  <a:spcPct val="200000"/>
                </a:lnSpc>
              </a:pPr>
              <a:r>
                <a:rPr lang="es-419" sz="1400" dirty="0">
                  <a:solidFill>
                    <a:srgbClr val="C00000"/>
                  </a:solidFill>
                  <a:latin typeface="+mj-lt"/>
                </a:rPr>
                <a:t>Puertos HDMI</a:t>
              </a:r>
            </a:p>
            <a:p>
              <a:pPr>
                <a:lnSpc>
                  <a:spcPct val="200000"/>
                </a:lnSpc>
              </a:pPr>
              <a:r>
                <a:rPr lang="es-419" sz="1400" dirty="0">
                  <a:solidFill>
                    <a:srgbClr val="C00000"/>
                  </a:solidFill>
                  <a:latin typeface="+mj-lt"/>
                </a:rPr>
                <a:t>Modelo</a:t>
              </a:r>
            </a:p>
            <a:p>
              <a:pPr>
                <a:lnSpc>
                  <a:spcPct val="200000"/>
                </a:lnSpc>
              </a:pPr>
              <a:r>
                <a:rPr lang="es-419" sz="1400" dirty="0">
                  <a:solidFill>
                    <a:srgbClr val="C00000"/>
                  </a:solidFill>
                  <a:latin typeface="+mj-lt"/>
                </a:rPr>
                <a:t>Curvo</a:t>
              </a:r>
            </a:p>
          </p:txBody>
        </p:sp>
        <p:sp>
          <p:nvSpPr>
            <p:cNvPr id="10" name="CuadroTexto 1">
              <a:extLst>
                <a:ext uri="{FF2B5EF4-FFF2-40B4-BE49-F238E27FC236}">
                  <a16:creationId xmlns:a16="http://schemas.microsoft.com/office/drawing/2014/main" id="{D8FA8AD8-1102-7536-F4C2-A2BF90F8B26A}"/>
                </a:ext>
              </a:extLst>
            </p:cNvPr>
            <p:cNvSpPr txBox="1"/>
            <p:nvPr/>
          </p:nvSpPr>
          <p:spPr>
            <a:xfrm>
              <a:off x="6483393" y="4015050"/>
              <a:ext cx="15859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14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Atributos</a:t>
              </a:r>
            </a:p>
          </p:txBody>
        </p:sp>
        <p:sp>
          <p:nvSpPr>
            <p:cNvPr id="11" name="CuadroTexto 14">
              <a:extLst>
                <a:ext uri="{FF2B5EF4-FFF2-40B4-BE49-F238E27FC236}">
                  <a16:creationId xmlns:a16="http://schemas.microsoft.com/office/drawing/2014/main" id="{6E438991-2F9E-2F72-EB2E-A842AFF88DAC}"/>
                </a:ext>
              </a:extLst>
            </p:cNvPr>
            <p:cNvSpPr txBox="1"/>
            <p:nvPr/>
          </p:nvSpPr>
          <p:spPr>
            <a:xfrm>
              <a:off x="8528371" y="4360070"/>
              <a:ext cx="1266078" cy="1749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200000"/>
                </a:lnSpc>
              </a:pPr>
              <a:r>
                <a:rPr lang="es-419" sz="1400" dirty="0">
                  <a:solidFill>
                    <a:srgbClr val="6CA62C"/>
                  </a:solidFill>
                  <a:latin typeface="+mj-lt"/>
                </a:rPr>
                <a:t>40 pulgadas</a:t>
              </a:r>
              <a:endParaRPr lang="es-419" sz="1400" b="1" dirty="0">
                <a:solidFill>
                  <a:srgbClr val="6CA62C"/>
                </a:solidFill>
                <a:latin typeface="+mj-lt"/>
              </a:endParaRPr>
            </a:p>
            <a:p>
              <a:pPr>
                <a:lnSpc>
                  <a:spcPct val="200000"/>
                </a:lnSpc>
              </a:pPr>
              <a:r>
                <a:rPr lang="es-419" sz="1400" dirty="0">
                  <a:solidFill>
                    <a:srgbClr val="6CA62C"/>
                  </a:solidFill>
                  <a:latin typeface="+mj-lt"/>
                </a:rPr>
                <a:t>2</a:t>
              </a:r>
              <a:endParaRPr lang="es-419" sz="1400" b="1" dirty="0">
                <a:solidFill>
                  <a:srgbClr val="6CA62C"/>
                </a:solidFill>
                <a:latin typeface="+mj-lt"/>
              </a:endParaRPr>
            </a:p>
            <a:p>
              <a:pPr>
                <a:lnSpc>
                  <a:spcPct val="200000"/>
                </a:lnSpc>
              </a:pPr>
              <a:r>
                <a:rPr lang="es-419" sz="1400" dirty="0">
                  <a:solidFill>
                    <a:srgbClr val="6CA62C"/>
                  </a:solidFill>
                  <a:latin typeface="+mj-lt"/>
                </a:rPr>
                <a:t>OL34X</a:t>
              </a:r>
              <a:endParaRPr lang="es-419" sz="1400" b="1" dirty="0">
                <a:solidFill>
                  <a:srgbClr val="6CA62C"/>
                </a:solidFill>
                <a:latin typeface="+mj-lt"/>
              </a:endParaRPr>
            </a:p>
            <a:p>
              <a:pPr>
                <a:lnSpc>
                  <a:spcPct val="200000"/>
                </a:lnSpc>
              </a:pPr>
              <a:r>
                <a:rPr lang="es-419" sz="1400" dirty="0">
                  <a:solidFill>
                    <a:srgbClr val="6CA62C"/>
                  </a:solidFill>
                  <a:latin typeface="+mj-lt"/>
                </a:rPr>
                <a:t>Sí</a:t>
              </a:r>
            </a:p>
          </p:txBody>
        </p:sp>
        <p:sp>
          <p:nvSpPr>
            <p:cNvPr id="13" name="CuadroTexto 16">
              <a:extLst>
                <a:ext uri="{FF2B5EF4-FFF2-40B4-BE49-F238E27FC236}">
                  <a16:creationId xmlns:a16="http://schemas.microsoft.com/office/drawing/2014/main" id="{936CA9A8-5F4A-B76E-3B66-DB7936EBE8F6}"/>
                </a:ext>
              </a:extLst>
            </p:cNvPr>
            <p:cNvSpPr txBox="1"/>
            <p:nvPr/>
          </p:nvSpPr>
          <p:spPr>
            <a:xfrm>
              <a:off x="8528372" y="4015050"/>
              <a:ext cx="12660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14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Valores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0194850-DDD3-47E2-F400-8BDBE0CDFB9D}"/>
                </a:ext>
              </a:extLst>
            </p:cNvPr>
            <p:cNvCxnSpPr>
              <a:cxnSpLocks/>
            </p:cNvCxnSpPr>
            <p:nvPr/>
          </p:nvCxnSpPr>
          <p:spPr>
            <a:xfrm>
              <a:off x="6551629" y="4421174"/>
              <a:ext cx="3487917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F4EA0B5-1C77-FDA0-AA34-16D66EBB8B47}"/>
                </a:ext>
              </a:extLst>
            </p:cNvPr>
            <p:cNvCxnSpPr>
              <a:cxnSpLocks/>
            </p:cNvCxnSpPr>
            <p:nvPr/>
          </p:nvCxnSpPr>
          <p:spPr>
            <a:xfrm>
              <a:off x="6551629" y="4851663"/>
              <a:ext cx="3487917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57156E-0701-7EF6-3D27-9D032C43673E}"/>
                </a:ext>
              </a:extLst>
            </p:cNvPr>
            <p:cNvCxnSpPr>
              <a:cxnSpLocks/>
            </p:cNvCxnSpPr>
            <p:nvPr/>
          </p:nvCxnSpPr>
          <p:spPr>
            <a:xfrm>
              <a:off x="6551629" y="5282152"/>
              <a:ext cx="3487917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2B11808-4D3F-8BCE-9B95-CB04806C7615}"/>
                </a:ext>
              </a:extLst>
            </p:cNvPr>
            <p:cNvCxnSpPr>
              <a:cxnSpLocks/>
            </p:cNvCxnSpPr>
            <p:nvPr/>
          </p:nvCxnSpPr>
          <p:spPr>
            <a:xfrm>
              <a:off x="6551629" y="5712641"/>
              <a:ext cx="3487917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602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0CD3C-DDD8-41F2-A0D4-A9B416F28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son los atributos?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863586-458B-A76A-505D-5177333991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F683F3B-A3FD-A481-0E41-B25797B35F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882963" cy="4782911"/>
          </a:xfrm>
        </p:spPr>
        <p:txBody>
          <a:bodyPr/>
          <a:lstStyle/>
          <a:p>
            <a:r>
              <a:rPr lang="es-ES" dirty="0">
                <a:latin typeface="+mj-lt"/>
              </a:rPr>
              <a:t>Un </a:t>
            </a:r>
            <a:r>
              <a:rPr lang="es-ES" b="1" dirty="0">
                <a:latin typeface="+mj-lt"/>
              </a:rPr>
              <a:t>atributo</a:t>
            </a:r>
            <a:r>
              <a:rPr lang="es-ES" dirty="0">
                <a:latin typeface="+mj-lt"/>
              </a:rPr>
              <a:t> es una </a:t>
            </a:r>
            <a:r>
              <a:rPr lang="es-ES" b="1" dirty="0">
                <a:latin typeface="+mj-lt"/>
              </a:rPr>
              <a:t>variable</a:t>
            </a:r>
            <a:r>
              <a:rPr lang="es-ES" dirty="0">
                <a:latin typeface="+mj-lt"/>
              </a:rPr>
              <a:t> creada dentro de una clase.</a:t>
            </a:r>
          </a:p>
          <a:p>
            <a:r>
              <a:rPr lang="es-ES" dirty="0">
                <a:latin typeface="+mj-lt"/>
              </a:rPr>
              <a:t>Un atributo se denomina también </a:t>
            </a:r>
            <a:r>
              <a:rPr lang="es-ES" b="1" dirty="0">
                <a:latin typeface="+mj-lt"/>
              </a:rPr>
              <a:t>variable de instancia</a:t>
            </a:r>
            <a:r>
              <a:rPr lang="es-ES" dirty="0">
                <a:latin typeface="+mj-lt"/>
              </a:rPr>
              <a:t>.</a:t>
            </a:r>
          </a:p>
          <a:p>
            <a:r>
              <a:rPr lang="es-ES" dirty="0">
                <a:latin typeface="+mj-lt"/>
              </a:rPr>
              <a:t>Los atributos de una clase pueden estar afectados por los </a:t>
            </a:r>
            <a:r>
              <a:rPr lang="es-ES" b="1" dirty="0">
                <a:latin typeface="+mj-lt"/>
              </a:rPr>
              <a:t>modificadores de acceso o visibilidad</a:t>
            </a:r>
            <a:r>
              <a:rPr lang="es-ES" dirty="0">
                <a:latin typeface="+mj-lt"/>
              </a:rPr>
              <a:t>: </a:t>
            </a:r>
            <a:r>
              <a:rPr lang="es-ES" b="1" dirty="0" err="1">
                <a:solidFill>
                  <a:srgbClr val="00B050"/>
                </a:solidFill>
                <a:latin typeface="+mj-lt"/>
              </a:rPr>
              <a:t>public</a:t>
            </a:r>
            <a:r>
              <a:rPr lang="es-ES" dirty="0">
                <a:latin typeface="+mj-lt"/>
              </a:rPr>
              <a:t>, </a:t>
            </a:r>
            <a:r>
              <a:rPr lang="es-ES" b="1" dirty="0" err="1">
                <a:solidFill>
                  <a:srgbClr val="C00000"/>
                </a:solidFill>
                <a:latin typeface="+mj-lt"/>
              </a:rPr>
              <a:t>private</a:t>
            </a:r>
            <a:r>
              <a:rPr lang="es-ES" dirty="0">
                <a:latin typeface="+mj-lt"/>
              </a:rPr>
              <a:t> y </a:t>
            </a:r>
            <a:r>
              <a:rPr lang="es-ES" b="1" dirty="0" err="1">
                <a:solidFill>
                  <a:schemeClr val="accent4">
                    <a:lumMod val="75000"/>
                  </a:schemeClr>
                </a:solidFill>
                <a:latin typeface="+mj-lt"/>
              </a:rPr>
              <a:t>protected</a:t>
            </a:r>
            <a:r>
              <a:rPr lang="es-ES" dirty="0">
                <a:latin typeface="+mj-lt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A6244-AF8A-7575-49E3-856BF047E9D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Getters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&amp;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Setters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C21116-3DB6-A27E-5A1A-ADB5F20EE5A0}"/>
              </a:ext>
            </a:extLst>
          </p:cNvPr>
          <p:cNvGrpSpPr/>
          <p:nvPr/>
        </p:nvGrpSpPr>
        <p:grpSpPr>
          <a:xfrm>
            <a:off x="8313647" y="1627305"/>
            <a:ext cx="2810774" cy="2829829"/>
            <a:chOff x="9394257" y="2098307"/>
            <a:chExt cx="2358189" cy="2829829"/>
          </a:xfrm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49BF1AA-A4B7-721F-68AF-C5B8FBD3FAF3}"/>
                </a:ext>
              </a:extLst>
            </p:cNvPr>
            <p:cNvSpPr/>
            <p:nvPr/>
          </p:nvSpPr>
          <p:spPr>
            <a:xfrm>
              <a:off x="9394257" y="2098307"/>
              <a:ext cx="2358189" cy="51013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2"/>
                  </a:solidFill>
                </a:rPr>
                <a:t>Rectángulo</a:t>
              </a:r>
              <a:endParaRPr lang="en-US" sz="1800" dirty="0">
                <a:solidFill>
                  <a:schemeClr val="bg2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6C01824-D368-2FE4-CFBC-86B2CEC88133}"/>
                </a:ext>
              </a:extLst>
            </p:cNvPr>
            <p:cNvSpPr/>
            <p:nvPr/>
          </p:nvSpPr>
          <p:spPr>
            <a:xfrm>
              <a:off x="9394257" y="2608446"/>
              <a:ext cx="2358189" cy="129941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2"/>
                  </a:solidFill>
                </a:rPr>
                <a:t>- </a:t>
              </a:r>
              <a:r>
                <a:rPr lang="es-ES" sz="1800" dirty="0">
                  <a:solidFill>
                    <a:srgbClr val="C00000"/>
                  </a:solidFill>
                </a:rPr>
                <a:t>ancho: </a:t>
              </a:r>
              <a:r>
                <a:rPr lang="es-ES" sz="1800" dirty="0" err="1">
                  <a:solidFill>
                    <a:srgbClr val="C00000"/>
                  </a:solidFill>
                </a:rPr>
                <a:t>double</a:t>
              </a:r>
              <a:endParaRPr lang="es-ES" sz="1800" dirty="0">
                <a:solidFill>
                  <a:srgbClr val="C00000"/>
                </a:solidFill>
              </a:endParaRPr>
            </a:p>
            <a:p>
              <a:r>
                <a:rPr lang="es-ES" sz="1800" dirty="0">
                  <a:solidFill>
                    <a:schemeClr val="bg2"/>
                  </a:solidFill>
                </a:rPr>
                <a:t>- </a:t>
              </a:r>
              <a:r>
                <a:rPr lang="es-ES" sz="1800" dirty="0">
                  <a:solidFill>
                    <a:srgbClr val="C00000"/>
                  </a:solidFill>
                </a:rPr>
                <a:t>largo: </a:t>
              </a:r>
              <a:r>
                <a:rPr lang="es-ES" sz="1800" dirty="0" err="1">
                  <a:solidFill>
                    <a:srgbClr val="C00000"/>
                  </a:solidFill>
                </a:rPr>
                <a:t>double</a:t>
              </a:r>
              <a:endParaRPr lang="es-ES" sz="1800" dirty="0">
                <a:solidFill>
                  <a:srgbClr val="C00000"/>
                </a:solidFill>
              </a:endParaRPr>
            </a:p>
            <a:p>
              <a:r>
                <a:rPr lang="es-ES" sz="1800" dirty="0">
                  <a:solidFill>
                    <a:schemeClr val="bg2"/>
                  </a:solidFill>
                </a:rPr>
                <a:t># </a:t>
              </a:r>
              <a:r>
                <a:rPr lang="es-ES" sz="1800" dirty="0" err="1">
                  <a:solidFill>
                    <a:schemeClr val="accent4">
                      <a:lumMod val="75000"/>
                    </a:schemeClr>
                  </a:solidFill>
                </a:rPr>
                <a:t>colorLinea</a:t>
              </a:r>
              <a:r>
                <a:rPr lang="es-ES" sz="1800" dirty="0">
                  <a:solidFill>
                    <a:schemeClr val="accent4">
                      <a:lumMod val="75000"/>
                    </a:schemeClr>
                  </a:solidFill>
                </a:rPr>
                <a:t>: </a:t>
              </a:r>
              <a:r>
                <a:rPr lang="es-ES" sz="1800" dirty="0" err="1">
                  <a:solidFill>
                    <a:schemeClr val="accent4">
                      <a:lumMod val="75000"/>
                    </a:schemeClr>
                  </a:solidFill>
                </a:rPr>
                <a:t>String</a:t>
              </a:r>
              <a:endParaRPr lang="es-ES" sz="1800" dirty="0">
                <a:solidFill>
                  <a:schemeClr val="accent4">
                    <a:lumMod val="75000"/>
                  </a:schemeClr>
                </a:solidFill>
              </a:endParaRPr>
            </a:p>
            <a:p>
              <a:r>
                <a:rPr lang="es-ES" sz="1800" dirty="0">
                  <a:solidFill>
                    <a:schemeClr val="bg2"/>
                  </a:solidFill>
                </a:rPr>
                <a:t># </a:t>
              </a:r>
              <a:r>
                <a:rPr lang="es-ES" sz="1800" dirty="0" err="1">
                  <a:solidFill>
                    <a:schemeClr val="accent4">
                      <a:lumMod val="75000"/>
                    </a:schemeClr>
                  </a:solidFill>
                </a:rPr>
                <a:t>colorFondo</a:t>
              </a:r>
              <a:r>
                <a:rPr lang="es-ES" sz="1800" dirty="0">
                  <a:solidFill>
                    <a:schemeClr val="accent4">
                      <a:lumMod val="75000"/>
                    </a:schemeClr>
                  </a:solidFill>
                </a:rPr>
                <a:t>: </a:t>
              </a:r>
              <a:r>
                <a:rPr lang="es-ES" sz="1800" dirty="0" err="1">
                  <a:solidFill>
                    <a:schemeClr val="accent4">
                      <a:lumMod val="75000"/>
                    </a:schemeClr>
                  </a:solidFill>
                </a:rPr>
                <a:t>String</a:t>
              </a:r>
              <a:endParaRPr lang="es-ES" sz="1800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47035A-0844-3E87-638F-1601BB103B36}"/>
                </a:ext>
              </a:extLst>
            </p:cNvPr>
            <p:cNvSpPr/>
            <p:nvPr/>
          </p:nvSpPr>
          <p:spPr>
            <a:xfrm>
              <a:off x="9394257" y="3907858"/>
              <a:ext cx="2358189" cy="10202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2"/>
                  </a:solidFill>
                </a:rPr>
                <a:t>+ </a:t>
              </a:r>
              <a:r>
                <a:rPr lang="es-ES" sz="1800" dirty="0">
                  <a:solidFill>
                    <a:srgbClr val="00B050"/>
                  </a:solidFill>
                </a:rPr>
                <a:t>dibujar</a:t>
              </a:r>
              <a:r>
                <a:rPr lang="es-ES" sz="1800" dirty="0">
                  <a:solidFill>
                    <a:schemeClr val="bg2"/>
                  </a:solidFill>
                </a:rPr>
                <a:t>(): </a:t>
              </a:r>
              <a:r>
                <a:rPr lang="es-ES" sz="1800" dirty="0" err="1">
                  <a:solidFill>
                    <a:schemeClr val="bg2"/>
                  </a:solidFill>
                </a:rPr>
                <a:t>void</a:t>
              </a:r>
              <a:endParaRPr lang="es-ES" sz="1800" dirty="0">
                <a:solidFill>
                  <a:schemeClr val="bg2"/>
                </a:solidFill>
              </a:endParaRPr>
            </a:p>
            <a:p>
              <a:r>
                <a:rPr lang="es-ES" sz="1800" dirty="0">
                  <a:solidFill>
                    <a:schemeClr val="bg2"/>
                  </a:solidFill>
                </a:rPr>
                <a:t>+ </a:t>
              </a:r>
              <a:r>
                <a:rPr lang="es-ES" sz="1800" dirty="0">
                  <a:solidFill>
                    <a:srgbClr val="00B050"/>
                  </a:solidFill>
                </a:rPr>
                <a:t>mover</a:t>
              </a:r>
              <a:r>
                <a:rPr lang="es-ES" sz="1800" dirty="0">
                  <a:solidFill>
                    <a:schemeClr val="bg2"/>
                  </a:solidFill>
                </a:rPr>
                <a:t>(): </a:t>
              </a:r>
              <a:r>
                <a:rPr lang="es-ES" sz="1800" dirty="0" err="1">
                  <a:solidFill>
                    <a:schemeClr val="bg2"/>
                  </a:solidFill>
                </a:rPr>
                <a:t>void</a:t>
              </a:r>
              <a:endParaRPr lang="es-ES" sz="1800" dirty="0">
                <a:solidFill>
                  <a:schemeClr val="bg2"/>
                </a:solidFill>
              </a:endParaRPr>
            </a:p>
            <a:p>
              <a:r>
                <a:rPr lang="es-ES" sz="1800" dirty="0">
                  <a:solidFill>
                    <a:schemeClr val="bg2"/>
                  </a:solidFill>
                </a:rPr>
                <a:t>+ </a:t>
              </a:r>
              <a:r>
                <a:rPr lang="es-ES" sz="1800" dirty="0">
                  <a:solidFill>
                    <a:srgbClr val="00B050"/>
                  </a:solidFill>
                </a:rPr>
                <a:t>redimensionar</a:t>
              </a:r>
              <a:r>
                <a:rPr lang="es-ES" sz="1800" dirty="0">
                  <a:solidFill>
                    <a:schemeClr val="bg2"/>
                  </a:solidFill>
                </a:rPr>
                <a:t>(): </a:t>
              </a:r>
              <a:r>
                <a:rPr lang="es-ES" sz="1800" dirty="0" err="1">
                  <a:solidFill>
                    <a:schemeClr val="bg2"/>
                  </a:solidFill>
                </a:rPr>
                <a:t>void</a:t>
              </a:r>
              <a:endParaRPr lang="es-ES" sz="1800" dirty="0">
                <a:solidFill>
                  <a:schemeClr val="bg2"/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E2CEDF4-54B2-73FC-C9ED-9696B39040F5}"/>
              </a:ext>
            </a:extLst>
          </p:cNvPr>
          <p:cNvSpPr txBox="1"/>
          <p:nvPr/>
        </p:nvSpPr>
        <p:spPr>
          <a:xfrm>
            <a:off x="8203055" y="4797461"/>
            <a:ext cx="3031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Diagrama de la clase Rectángulo</a:t>
            </a:r>
          </a:p>
          <a:p>
            <a:pPr algn="ct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(notación UML)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431191-361F-A5C0-FAED-033CD9D24836}"/>
              </a:ext>
            </a:extLst>
          </p:cNvPr>
          <p:cNvGrpSpPr/>
          <p:nvPr/>
        </p:nvGrpSpPr>
        <p:grpSpPr>
          <a:xfrm>
            <a:off x="1714415" y="5604461"/>
            <a:ext cx="8138314" cy="785528"/>
            <a:chOff x="1203649" y="5656082"/>
            <a:chExt cx="8138314" cy="785528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9BB5C78-A287-45C8-DE7A-6E90663E99E3}"/>
                </a:ext>
              </a:extLst>
            </p:cNvPr>
            <p:cNvSpPr/>
            <p:nvPr/>
          </p:nvSpPr>
          <p:spPr>
            <a:xfrm>
              <a:off x="1203649" y="5656082"/>
              <a:ext cx="8138314" cy="78552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5AC6FF5-FD0F-7784-3271-9643245BEF7A}"/>
                </a:ext>
              </a:extLst>
            </p:cNvPr>
            <p:cNvSpPr txBox="1"/>
            <p:nvPr/>
          </p:nvSpPr>
          <p:spPr>
            <a:xfrm>
              <a:off x="1918010" y="5894958"/>
              <a:ext cx="72525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En el curso nos enfocaremos en trabajar solamente con modificadores </a:t>
              </a:r>
              <a:r>
                <a:rPr lang="es-ES" b="1" dirty="0" err="1">
                  <a:solidFill>
                    <a:schemeClr val="bg1">
                      <a:lumMod val="50000"/>
                    </a:schemeClr>
                  </a:solidFill>
                </a:rPr>
                <a:t>public</a:t>
              </a:r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 y </a:t>
              </a:r>
              <a:r>
                <a:rPr lang="es-ES" b="1" dirty="0" err="1">
                  <a:solidFill>
                    <a:schemeClr val="bg1">
                      <a:lumMod val="50000"/>
                    </a:schemeClr>
                  </a:solidFill>
                </a:rPr>
                <a:t>private</a:t>
              </a:r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6" name="Picture 15" descr="Icon&#10;&#10;Description automatically generated">
              <a:extLst>
                <a:ext uri="{FF2B5EF4-FFF2-40B4-BE49-F238E27FC236}">
                  <a16:creationId xmlns:a16="http://schemas.microsoft.com/office/drawing/2014/main" id="{8DB35EEE-4082-5ED2-1828-42BDB3CA6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350199" y="5778982"/>
              <a:ext cx="539729" cy="5397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919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62AFB-0CEC-BAF0-D18E-0539404E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Modificadores de acceso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1033E-B552-CF5C-BBFE-1B9AB0D29E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23022A-E219-0927-1952-BBC76C964F48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Getters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&amp;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Setters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BCF8A9-5320-591D-DC7E-FB87D53DD2F0}"/>
              </a:ext>
            </a:extLst>
          </p:cNvPr>
          <p:cNvGrpSpPr/>
          <p:nvPr/>
        </p:nvGrpSpPr>
        <p:grpSpPr>
          <a:xfrm>
            <a:off x="1393904" y="2241924"/>
            <a:ext cx="9769640" cy="2082416"/>
            <a:chOff x="1393904" y="2750281"/>
            <a:chExt cx="9769640" cy="208241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DCBC16-D64D-48AF-5F6C-B1B5D39230EF}"/>
                </a:ext>
              </a:extLst>
            </p:cNvPr>
            <p:cNvSpPr/>
            <p:nvPr/>
          </p:nvSpPr>
          <p:spPr>
            <a:xfrm>
              <a:off x="7255688" y="3793169"/>
              <a:ext cx="1953928" cy="51976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No</a:t>
              </a:r>
              <a:endParaRPr lang="en-US" sz="18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69ACB7-9302-D294-FAAF-4C3AC4AB69AB}"/>
                </a:ext>
              </a:extLst>
            </p:cNvPr>
            <p:cNvSpPr/>
            <p:nvPr/>
          </p:nvSpPr>
          <p:spPr>
            <a:xfrm>
              <a:off x="7255688" y="4312933"/>
              <a:ext cx="1953928" cy="51976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No</a:t>
              </a:r>
              <a:endParaRPr lang="en-US" sz="18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89F2AC5-6FE8-0BB1-1A5C-CAD98F9A6220}"/>
                </a:ext>
              </a:extLst>
            </p:cNvPr>
            <p:cNvSpPr/>
            <p:nvPr/>
          </p:nvSpPr>
          <p:spPr>
            <a:xfrm>
              <a:off x="9209616" y="4312933"/>
              <a:ext cx="1953928" cy="519764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/>
                <a:t>No</a:t>
              </a:r>
              <a:endParaRPr lang="en-US" sz="18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85663EF-8CB7-28B9-66A3-E8E6B49B3F91}"/>
                </a:ext>
              </a:extLst>
            </p:cNvPr>
            <p:cNvSpPr/>
            <p:nvPr/>
          </p:nvSpPr>
          <p:spPr>
            <a:xfrm>
              <a:off x="5301760" y="2750281"/>
              <a:ext cx="1953928" cy="5184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 err="1"/>
                <a:t>public</a:t>
              </a:r>
              <a:endParaRPr lang="en-US" sz="18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428F02A-168E-DE9C-F443-DBC1F4880E22}"/>
                </a:ext>
              </a:extLst>
            </p:cNvPr>
            <p:cNvSpPr/>
            <p:nvPr/>
          </p:nvSpPr>
          <p:spPr>
            <a:xfrm>
              <a:off x="7255688" y="2750281"/>
              <a:ext cx="1953928" cy="518400"/>
            </a:xfrm>
            <a:prstGeom prst="rect">
              <a:avLst/>
            </a:prstGeom>
            <a:solidFill>
              <a:srgbClr val="FF00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 err="1"/>
                <a:t>private</a:t>
              </a:r>
              <a:endParaRPr lang="en-US" sz="18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2C77C63-112F-DCA5-71EB-A541B0EA74BF}"/>
                </a:ext>
              </a:extLst>
            </p:cNvPr>
            <p:cNvSpPr/>
            <p:nvPr/>
          </p:nvSpPr>
          <p:spPr>
            <a:xfrm>
              <a:off x="9209616" y="2750281"/>
              <a:ext cx="1953928" cy="518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 err="1"/>
                <a:t>protected</a:t>
              </a:r>
              <a:endParaRPr lang="en-US" sz="18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9F412FD-9C97-4993-C621-029344DBE0FB}"/>
                </a:ext>
              </a:extLst>
            </p:cNvPr>
            <p:cNvSpPr/>
            <p:nvPr/>
          </p:nvSpPr>
          <p:spPr>
            <a:xfrm>
              <a:off x="5301760" y="3270046"/>
              <a:ext cx="1953928" cy="51976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accent4">
                      <a:lumMod val="50000"/>
                    </a:schemeClr>
                  </a:solidFill>
                </a:rPr>
                <a:t>Sí</a:t>
              </a:r>
              <a:endParaRPr lang="en-US" sz="18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A6F4876-9A0E-9377-F9AF-9384F9524A77}"/>
                </a:ext>
              </a:extLst>
            </p:cNvPr>
            <p:cNvSpPr/>
            <p:nvPr/>
          </p:nvSpPr>
          <p:spPr>
            <a:xfrm>
              <a:off x="7255688" y="3270046"/>
              <a:ext cx="1953928" cy="51976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accent4">
                      <a:lumMod val="50000"/>
                    </a:schemeClr>
                  </a:solidFill>
                </a:rPr>
                <a:t>Sí</a:t>
              </a:r>
              <a:endParaRPr lang="en-US" sz="18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ED16579-A163-9C68-AD07-58DA22C78467}"/>
                </a:ext>
              </a:extLst>
            </p:cNvPr>
            <p:cNvSpPr/>
            <p:nvPr/>
          </p:nvSpPr>
          <p:spPr>
            <a:xfrm>
              <a:off x="9209616" y="3270046"/>
              <a:ext cx="1953928" cy="51976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accent4">
                      <a:lumMod val="50000"/>
                    </a:schemeClr>
                  </a:solidFill>
                </a:rPr>
                <a:t>Sí</a:t>
              </a:r>
              <a:endParaRPr lang="en-US" sz="18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4F9000A-13E7-44DE-6FB6-72143DCB4CEA}"/>
                </a:ext>
              </a:extLst>
            </p:cNvPr>
            <p:cNvSpPr/>
            <p:nvPr/>
          </p:nvSpPr>
          <p:spPr>
            <a:xfrm>
              <a:off x="3344625" y="3270046"/>
              <a:ext cx="1953928" cy="519764"/>
            </a:xfrm>
            <a:prstGeom prst="rect">
              <a:avLst/>
            </a:prstGeom>
            <a:solidFill>
              <a:srgbClr val="0099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clase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447A4E6-5891-BBA2-3844-75C0D717A6E7}"/>
                </a:ext>
              </a:extLst>
            </p:cNvPr>
            <p:cNvSpPr/>
            <p:nvPr/>
          </p:nvSpPr>
          <p:spPr>
            <a:xfrm>
              <a:off x="5301760" y="3793169"/>
              <a:ext cx="1953928" cy="51976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accent4">
                      <a:lumMod val="50000"/>
                    </a:schemeClr>
                  </a:solidFill>
                </a:rPr>
                <a:t>Sí</a:t>
              </a:r>
              <a:endParaRPr lang="en-US" sz="18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FF1B3C-5693-FD5D-3F06-FADB94D7C598}"/>
                </a:ext>
              </a:extLst>
            </p:cNvPr>
            <p:cNvSpPr/>
            <p:nvPr/>
          </p:nvSpPr>
          <p:spPr>
            <a:xfrm>
              <a:off x="9209616" y="3793169"/>
              <a:ext cx="1953928" cy="51976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accent4">
                      <a:lumMod val="50000"/>
                    </a:schemeClr>
                  </a:solidFill>
                </a:rPr>
                <a:t>Sí</a:t>
              </a:r>
              <a:endParaRPr lang="en-US" sz="18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E9AA8DC-CB2A-7B8B-7269-900F2112C27F}"/>
                </a:ext>
              </a:extLst>
            </p:cNvPr>
            <p:cNvSpPr/>
            <p:nvPr/>
          </p:nvSpPr>
          <p:spPr>
            <a:xfrm>
              <a:off x="3344625" y="3793169"/>
              <a:ext cx="1953928" cy="519764"/>
            </a:xfrm>
            <a:prstGeom prst="rect">
              <a:avLst/>
            </a:prstGeom>
            <a:solidFill>
              <a:srgbClr val="0099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otras clases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B08508B-301B-E47C-B19A-AED7D23ACD66}"/>
                </a:ext>
              </a:extLst>
            </p:cNvPr>
            <p:cNvSpPr/>
            <p:nvPr/>
          </p:nvSpPr>
          <p:spPr>
            <a:xfrm>
              <a:off x="5301760" y="4312933"/>
              <a:ext cx="1953928" cy="51976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accent4">
                      <a:lumMod val="50000"/>
                    </a:schemeClr>
                  </a:solidFill>
                </a:rPr>
                <a:t>Sí</a:t>
              </a:r>
              <a:endParaRPr lang="en-US" sz="18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3F3B7F-F601-9623-6C8F-C488E72FB93A}"/>
                </a:ext>
              </a:extLst>
            </p:cNvPr>
            <p:cNvSpPr/>
            <p:nvPr/>
          </p:nvSpPr>
          <p:spPr>
            <a:xfrm>
              <a:off x="3344625" y="4312933"/>
              <a:ext cx="1953928" cy="519764"/>
            </a:xfrm>
            <a:prstGeom prst="rect">
              <a:avLst/>
            </a:prstGeom>
            <a:solidFill>
              <a:srgbClr val="0099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otras clases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4D663A7-DAC2-9243-A4CD-D5BA0936F421}"/>
                </a:ext>
              </a:extLst>
            </p:cNvPr>
            <p:cNvSpPr/>
            <p:nvPr/>
          </p:nvSpPr>
          <p:spPr>
            <a:xfrm>
              <a:off x="1393904" y="3270046"/>
              <a:ext cx="1953928" cy="1049153"/>
            </a:xfrm>
            <a:prstGeom prst="rect">
              <a:avLst/>
            </a:prstGeom>
            <a:solidFill>
              <a:srgbClr val="0085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Mismo </a:t>
              </a:r>
              <a:br>
                <a:rPr lang="es-ES" sz="1800" dirty="0">
                  <a:solidFill>
                    <a:schemeClr val="bg1"/>
                  </a:solidFill>
                </a:rPr>
              </a:br>
              <a:r>
                <a:rPr lang="es-ES" sz="1800" dirty="0">
                  <a:solidFill>
                    <a:schemeClr val="bg1"/>
                  </a:solidFill>
                </a:rPr>
                <a:t>paquete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C26E640-FADE-EB09-AC02-F981D46F6022}"/>
                </a:ext>
              </a:extLst>
            </p:cNvPr>
            <p:cNvSpPr/>
            <p:nvPr/>
          </p:nvSpPr>
          <p:spPr>
            <a:xfrm>
              <a:off x="1397115" y="4312933"/>
              <a:ext cx="1950717" cy="519764"/>
            </a:xfrm>
            <a:prstGeom prst="rect">
              <a:avLst/>
            </a:prstGeom>
            <a:solidFill>
              <a:srgbClr val="0085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Otro paquete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EA9ED5-484E-3E38-4EE9-121547D6D725}"/>
              </a:ext>
            </a:extLst>
          </p:cNvPr>
          <p:cNvGrpSpPr/>
          <p:nvPr/>
        </p:nvGrpSpPr>
        <p:grpSpPr>
          <a:xfrm>
            <a:off x="1714415" y="5604461"/>
            <a:ext cx="8138314" cy="785528"/>
            <a:chOff x="1203649" y="5656082"/>
            <a:chExt cx="8138314" cy="785528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AD09698-5B4D-C898-A485-7A54EB6F3DF9}"/>
                </a:ext>
              </a:extLst>
            </p:cNvPr>
            <p:cNvSpPr/>
            <p:nvPr/>
          </p:nvSpPr>
          <p:spPr>
            <a:xfrm>
              <a:off x="1203649" y="5656082"/>
              <a:ext cx="8138314" cy="78552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4C0CBA5-C44C-6BC8-DD0B-157A6AE505DF}"/>
                </a:ext>
              </a:extLst>
            </p:cNvPr>
            <p:cNvSpPr txBox="1"/>
            <p:nvPr/>
          </p:nvSpPr>
          <p:spPr>
            <a:xfrm>
              <a:off x="1918010" y="5894958"/>
              <a:ext cx="72525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En el curso nos enfocaremos en trabajar solamente con modificadores </a:t>
              </a:r>
              <a:r>
                <a:rPr lang="es-ES" b="1" dirty="0" err="1">
                  <a:solidFill>
                    <a:schemeClr val="bg1">
                      <a:lumMod val="50000"/>
                    </a:schemeClr>
                  </a:solidFill>
                </a:rPr>
                <a:t>public</a:t>
              </a:r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 y </a:t>
              </a:r>
              <a:r>
                <a:rPr lang="es-ES" b="1" dirty="0" err="1">
                  <a:solidFill>
                    <a:schemeClr val="bg1">
                      <a:lumMod val="50000"/>
                    </a:schemeClr>
                  </a:solidFill>
                </a:rPr>
                <a:t>private</a:t>
              </a:r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32" name="Picture 31" descr="Icon&#10;&#10;Description automatically generated">
              <a:extLst>
                <a:ext uri="{FF2B5EF4-FFF2-40B4-BE49-F238E27FC236}">
                  <a16:creationId xmlns:a16="http://schemas.microsoft.com/office/drawing/2014/main" id="{B60A36A7-6E77-5172-9C11-23919E302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350199" y="5778982"/>
              <a:ext cx="539729" cy="5397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355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436CE-AB07-D37C-4E39-6D1F8B7FB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Getters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F694EE-EE2A-705B-D42D-91313D187D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C935E-8937-8D7F-456E-D8362A955D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5013687" cy="4782911"/>
          </a:xfrm>
        </p:spPr>
        <p:txBody>
          <a:bodyPr/>
          <a:lstStyle/>
          <a:p>
            <a:r>
              <a:rPr lang="es-ES" dirty="0">
                <a:latin typeface="+mj-lt"/>
              </a:rPr>
              <a:t>Son métodos que permiten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obtener</a:t>
            </a:r>
            <a:r>
              <a:rPr lang="es-ES" dirty="0">
                <a:latin typeface="+mj-lt"/>
              </a:rPr>
              <a:t> (</a:t>
            </a:r>
            <a:r>
              <a:rPr lang="es-ES" dirty="0" err="1">
                <a:solidFill>
                  <a:srgbClr val="6CA62C"/>
                </a:solidFill>
                <a:latin typeface="+mj-lt"/>
              </a:rPr>
              <a:t>get</a:t>
            </a:r>
            <a:r>
              <a:rPr lang="es-ES" dirty="0">
                <a:latin typeface="+mj-lt"/>
              </a:rPr>
              <a:t>) el valor de un atributo.</a:t>
            </a:r>
          </a:p>
          <a:p>
            <a:endParaRPr lang="es-ES" dirty="0">
              <a:latin typeface="+mj-lt"/>
            </a:endParaRPr>
          </a:p>
          <a:p>
            <a:r>
              <a:rPr lang="es-ES" dirty="0">
                <a:latin typeface="+mj-lt"/>
              </a:rPr>
              <a:t>Sintaxis:</a:t>
            </a:r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5AD7DC-D8D4-9B69-E7ED-E3353CA17D73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Getters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&amp;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Setters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382C913-5659-F035-9F50-3D5655E27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813" y="4247919"/>
            <a:ext cx="3096525" cy="930744"/>
          </a:xfrm>
          <a:prstGeom prst="roundRect">
            <a:avLst>
              <a:gd name="adj" fmla="val 7883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tipoDato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getAtributo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US" altLang="en-US" sz="1200" dirty="0" err="1">
                <a:solidFill>
                  <a:srgbClr val="72CF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tributo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A36105D-3587-1079-0FA0-2584C6D14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289" y="1156420"/>
            <a:ext cx="3365370" cy="4032346"/>
          </a:xfrm>
          <a:prstGeom prst="roundRect">
            <a:avLst>
              <a:gd name="adj" fmla="val 2632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00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getNombre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getEdad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int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getPC1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DDF474B-2F1D-FB67-6192-A7A9FA0CA1E1}"/>
              </a:ext>
            </a:extLst>
          </p:cNvPr>
          <p:cNvSpPr/>
          <p:nvPr/>
        </p:nvSpPr>
        <p:spPr>
          <a:xfrm>
            <a:off x="6735455" y="1555766"/>
            <a:ext cx="86602" cy="86602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88910B-D5BD-7774-2E0C-4516D469AA2E}"/>
              </a:ext>
            </a:extLst>
          </p:cNvPr>
          <p:cNvSpPr/>
          <p:nvPr/>
        </p:nvSpPr>
        <p:spPr>
          <a:xfrm>
            <a:off x="6735455" y="1786814"/>
            <a:ext cx="86602" cy="86602"/>
          </a:xfrm>
          <a:prstGeom prst="roundRect">
            <a:avLst>
              <a:gd name="adj" fmla="val 50000"/>
            </a:avLst>
          </a:prstGeom>
          <a:solidFill>
            <a:srgbClr val="FF0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CDE3509-B495-DAF8-22B2-D2C2FDB0F8E4}"/>
              </a:ext>
            </a:extLst>
          </p:cNvPr>
          <p:cNvSpPr/>
          <p:nvPr/>
        </p:nvSpPr>
        <p:spPr>
          <a:xfrm>
            <a:off x="6735455" y="2007829"/>
            <a:ext cx="86602" cy="86602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905589B-914B-0C26-D053-6E42AA5C665E}"/>
              </a:ext>
            </a:extLst>
          </p:cNvPr>
          <p:cNvSpPr/>
          <p:nvPr/>
        </p:nvSpPr>
        <p:spPr>
          <a:xfrm>
            <a:off x="6735455" y="2436674"/>
            <a:ext cx="69163" cy="58603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E3BD46B-9A72-CF26-914B-B97470DDB7E3}"/>
              </a:ext>
            </a:extLst>
          </p:cNvPr>
          <p:cNvSpPr/>
          <p:nvPr/>
        </p:nvSpPr>
        <p:spPr>
          <a:xfrm>
            <a:off x="6735455" y="3361783"/>
            <a:ext cx="69163" cy="586039"/>
          </a:xfrm>
          <a:prstGeom prst="roundRect">
            <a:avLst>
              <a:gd name="adj" fmla="val 50000"/>
            </a:avLst>
          </a:prstGeom>
          <a:solidFill>
            <a:srgbClr val="FF0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6EACF0D-5548-ACEB-621C-5ECABBE60284}"/>
              </a:ext>
            </a:extLst>
          </p:cNvPr>
          <p:cNvSpPr/>
          <p:nvPr/>
        </p:nvSpPr>
        <p:spPr>
          <a:xfrm>
            <a:off x="6735455" y="4284500"/>
            <a:ext cx="69163" cy="58603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8D617E-05DE-9586-06BC-90B7D57EEBB0}"/>
              </a:ext>
            </a:extLst>
          </p:cNvPr>
          <p:cNvSpPr txBox="1"/>
          <p:nvPr/>
        </p:nvSpPr>
        <p:spPr>
          <a:xfrm>
            <a:off x="804494" y="6454309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https://parspng.com/wp-content/uploads/2022/10/Magnifierpng.parspng.com-5.png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CB8D323-F352-FE78-F71E-C9BA5E4B393D}"/>
              </a:ext>
            </a:extLst>
          </p:cNvPr>
          <p:cNvSpPr/>
          <p:nvPr/>
        </p:nvSpPr>
        <p:spPr>
          <a:xfrm>
            <a:off x="9117123" y="4505722"/>
            <a:ext cx="854321" cy="1201821"/>
          </a:xfrm>
          <a:custGeom>
            <a:avLst/>
            <a:gdLst>
              <a:gd name="connsiteX0" fmla="*/ 499148 w 499148"/>
              <a:gd name="connsiteY0" fmla="*/ 0 h 712892"/>
              <a:gd name="connsiteX1" fmla="*/ 499148 w 499148"/>
              <a:gd name="connsiteY1" fmla="*/ 591908 h 712892"/>
              <a:gd name="connsiteX2" fmla="*/ 378164 w 499148"/>
              <a:gd name="connsiteY2" fmla="*/ 712892 h 712892"/>
              <a:gd name="connsiteX3" fmla="*/ 8710 w 499148"/>
              <a:gd name="connsiteY3" fmla="*/ 712892 h 712892"/>
              <a:gd name="connsiteX4" fmla="*/ 0 w 499148"/>
              <a:gd name="connsiteY4" fmla="*/ 626495 h 712892"/>
              <a:gd name="connsiteX5" fmla="*/ 393539 w 499148"/>
              <a:gd name="connsiteY5" fmla="*/ 32783 h 71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148" h="712892">
                <a:moveTo>
                  <a:pt x="499148" y="0"/>
                </a:moveTo>
                <a:lnTo>
                  <a:pt x="499148" y="591908"/>
                </a:lnTo>
                <a:cubicBezTo>
                  <a:pt x="499148" y="658726"/>
                  <a:pt x="444982" y="712892"/>
                  <a:pt x="378164" y="712892"/>
                </a:cubicBezTo>
                <a:lnTo>
                  <a:pt x="8710" y="712892"/>
                </a:lnTo>
                <a:lnTo>
                  <a:pt x="0" y="626495"/>
                </a:lnTo>
                <a:cubicBezTo>
                  <a:pt x="0" y="359597"/>
                  <a:pt x="162273" y="130601"/>
                  <a:pt x="393539" y="32783"/>
                </a:cubicBezTo>
                <a:close/>
              </a:path>
            </a:pathLst>
          </a:custGeom>
          <a:solidFill>
            <a:srgbClr val="1E1F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B86D3ED-EFAA-98DE-014C-21BECDDB9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662" y="4486672"/>
            <a:ext cx="3396338" cy="27803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CA4EE7D-CA4F-6EFE-A8C0-04B1878EF0CF}"/>
              </a:ext>
            </a:extLst>
          </p:cNvPr>
          <p:cNvSpPr txBox="1"/>
          <p:nvPr/>
        </p:nvSpPr>
        <p:spPr>
          <a:xfrm>
            <a:off x="1723159" y="5560744"/>
            <a:ext cx="40451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Un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getter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solo </a:t>
            </a:r>
            <a:r>
              <a:rPr lang="en-US" sz="1200" b="1" dirty="0" err="1">
                <a:solidFill>
                  <a:schemeClr val="bg1">
                    <a:lumMod val="50000"/>
                  </a:schemeClr>
                </a:solidFill>
              </a:rPr>
              <a:t>retorna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el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valor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de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un </a:t>
            </a:r>
            <a:r>
              <a:rPr lang="en-US" sz="1200" b="1" dirty="0" err="1">
                <a:solidFill>
                  <a:schemeClr val="bg1">
                    <a:lumMod val="50000"/>
                  </a:schemeClr>
                </a:solidFill>
              </a:rPr>
              <a:t>atributo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340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6F91586F-2FFD-A137-C0E7-AFDBD6CFE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8686" y="1146317"/>
            <a:ext cx="3514186" cy="4032346"/>
          </a:xfrm>
          <a:prstGeom prst="roundRect">
            <a:avLst>
              <a:gd name="adj" fmla="val 3563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 {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PC1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setNombre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setEdad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setPC1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PC1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PC1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PC1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665D90-2E11-657C-836E-C4E642B334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5600" t="15880" r="11558" b="20840"/>
          <a:stretch/>
        </p:blipFill>
        <p:spPr>
          <a:xfrm flipH="1">
            <a:off x="8314440" y="4247918"/>
            <a:ext cx="3886101" cy="26100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C6A976-8936-CE8D-ABBC-FD6AA1A66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Setters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81379D-AD42-B815-B212-EA5EA09DF1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85000"/>
                  </a:schemeClr>
                </a:solidFill>
              </a:rPr>
              <a:t>27</a:t>
            </a:fld>
            <a:endParaRPr lang="es-P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E4511-51E4-BF0D-30C5-376F7F2937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5006651" cy="4782911"/>
          </a:xfrm>
        </p:spPr>
        <p:txBody>
          <a:bodyPr/>
          <a:lstStyle/>
          <a:p>
            <a:r>
              <a:rPr lang="es-ES" dirty="0">
                <a:latin typeface="+mj-lt"/>
              </a:rPr>
              <a:t>Son métodos que permiten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asignar</a:t>
            </a:r>
            <a:r>
              <a:rPr lang="es-ES" dirty="0">
                <a:latin typeface="+mj-lt"/>
              </a:rPr>
              <a:t> (</a:t>
            </a:r>
            <a:r>
              <a:rPr lang="es-ES" dirty="0">
                <a:solidFill>
                  <a:srgbClr val="0099CC"/>
                </a:solidFill>
                <a:latin typeface="+mj-lt"/>
              </a:rPr>
              <a:t>set</a:t>
            </a:r>
            <a:r>
              <a:rPr lang="es-ES" dirty="0">
                <a:latin typeface="+mj-lt"/>
              </a:rPr>
              <a:t>) un valor a un atributo.</a:t>
            </a:r>
          </a:p>
          <a:p>
            <a:endParaRPr lang="es-ES" dirty="0">
              <a:latin typeface="+mj-lt"/>
            </a:endParaRPr>
          </a:p>
          <a:p>
            <a:r>
              <a:rPr lang="es-ES" dirty="0">
                <a:latin typeface="+mj-lt"/>
              </a:rPr>
              <a:t>Sintaxis:</a:t>
            </a:r>
            <a:endParaRPr lang="en-US" dirty="0">
              <a:latin typeface="+mj-lt"/>
            </a:endParaRP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F711B2-40B9-640A-21ED-C36D602DCFC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Getters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&amp;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Setters</a:t>
            </a:r>
            <a:endParaRPr lang="es-ES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4F4F4B7-957A-150C-E103-98E76B7EF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813" y="4247919"/>
            <a:ext cx="4035259" cy="930744"/>
          </a:xfrm>
          <a:prstGeom prst="roundRect">
            <a:avLst>
              <a:gd name="adj" fmla="val 7883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setAtributo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99C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tipoDato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valor)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lang="en-US" altLang="en-US" sz="1200" dirty="0" err="1">
                <a:solidFill>
                  <a:srgbClr val="72CF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tributo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0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E30E8-E868-FACE-EBF6-D33E1627FECF}"/>
              </a:ext>
            </a:extLst>
          </p:cNvPr>
          <p:cNvSpPr txBox="1"/>
          <p:nvPr/>
        </p:nvSpPr>
        <p:spPr>
          <a:xfrm>
            <a:off x="1723159" y="5560744"/>
            <a:ext cx="40451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Un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setter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solo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debe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bg1">
                    <a:lumMod val="50000"/>
                  </a:schemeClr>
                </a:solidFill>
              </a:rPr>
              <a:t>asinar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un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valor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un </a:t>
            </a:r>
            <a:r>
              <a:rPr lang="en-US" sz="1200" b="1" dirty="0" err="1">
                <a:solidFill>
                  <a:schemeClr val="bg1">
                    <a:lumMod val="50000"/>
                  </a:schemeClr>
                </a:solidFill>
              </a:rPr>
              <a:t>atributo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F703F5-3489-F5D6-C4FE-3A5F6DEA28A6}"/>
              </a:ext>
            </a:extLst>
          </p:cNvPr>
          <p:cNvSpPr txBox="1"/>
          <p:nvPr/>
        </p:nvSpPr>
        <p:spPr>
          <a:xfrm>
            <a:off x="804493" y="6246918"/>
            <a:ext cx="63127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https://res.cloudinary.com/yourmechanic/image/upload/dpr_auto,f_auto,q_auto/v1/article_images/How_to_Test_Car_Paint_1_a_car_half_painted_with_a_set_of_paint_swatches_behind_it_above_a_picture_of_the_same_car_fully_painted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8AB2BA1-2A27-BF30-402B-F279E3EA7B3C}"/>
              </a:ext>
            </a:extLst>
          </p:cNvPr>
          <p:cNvSpPr/>
          <p:nvPr/>
        </p:nvSpPr>
        <p:spPr>
          <a:xfrm>
            <a:off x="6735455" y="1555766"/>
            <a:ext cx="86602" cy="86602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1B67992-DDD1-76A8-1DE6-9CA8F9C2FF46}"/>
              </a:ext>
            </a:extLst>
          </p:cNvPr>
          <p:cNvSpPr/>
          <p:nvPr/>
        </p:nvSpPr>
        <p:spPr>
          <a:xfrm>
            <a:off x="6735455" y="1786814"/>
            <a:ext cx="86602" cy="86602"/>
          </a:xfrm>
          <a:prstGeom prst="roundRect">
            <a:avLst>
              <a:gd name="adj" fmla="val 50000"/>
            </a:avLst>
          </a:prstGeom>
          <a:solidFill>
            <a:srgbClr val="FF0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20880D-2C2E-BF35-C226-8D3C28167A86}"/>
              </a:ext>
            </a:extLst>
          </p:cNvPr>
          <p:cNvSpPr/>
          <p:nvPr/>
        </p:nvSpPr>
        <p:spPr>
          <a:xfrm>
            <a:off x="6735455" y="2007829"/>
            <a:ext cx="86602" cy="86602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A4FF22D-A323-F781-6950-FB92482C291E}"/>
              </a:ext>
            </a:extLst>
          </p:cNvPr>
          <p:cNvSpPr/>
          <p:nvPr/>
        </p:nvSpPr>
        <p:spPr>
          <a:xfrm>
            <a:off x="6735455" y="2436674"/>
            <a:ext cx="69163" cy="58603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1C5B49-5BF4-B788-54FA-E9F15FCA6BF2}"/>
              </a:ext>
            </a:extLst>
          </p:cNvPr>
          <p:cNvSpPr/>
          <p:nvPr/>
        </p:nvSpPr>
        <p:spPr>
          <a:xfrm>
            <a:off x="6735455" y="3361783"/>
            <a:ext cx="69163" cy="586039"/>
          </a:xfrm>
          <a:prstGeom prst="roundRect">
            <a:avLst>
              <a:gd name="adj" fmla="val 50000"/>
            </a:avLst>
          </a:prstGeom>
          <a:solidFill>
            <a:srgbClr val="FF0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28BDE24-9FFB-C12F-EF00-6D84CD85B774}"/>
              </a:ext>
            </a:extLst>
          </p:cNvPr>
          <p:cNvSpPr/>
          <p:nvPr/>
        </p:nvSpPr>
        <p:spPr>
          <a:xfrm>
            <a:off x="6735455" y="4284500"/>
            <a:ext cx="69163" cy="586039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30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Introducción a la POO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Estructura de una Clase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Getters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 &amp;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Setters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4FF591F-98E3-B3D3-9D6F-C155AEECBE39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291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C442F1E-291C-1137-4FF7-474C402911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453" b="16071"/>
          <a:stretch/>
        </p:blipFill>
        <p:spPr>
          <a:xfrm>
            <a:off x="7424149" y="2130118"/>
            <a:ext cx="4767852" cy="47278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86D1A7-A3A8-8146-2ACF-496615E04D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797" b="8499"/>
          <a:stretch/>
        </p:blipFill>
        <p:spPr>
          <a:xfrm>
            <a:off x="7899662" y="2598385"/>
            <a:ext cx="4292338" cy="42596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2D2412-C8AB-2541-ACC5-3C51C06A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83659-8255-0D93-DD9B-5C209559D0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E66FC4-5EE5-1E98-6054-E41EDC54C2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4945" y="1436914"/>
            <a:ext cx="7926507" cy="4782911"/>
          </a:xfrm>
        </p:spPr>
        <p:txBody>
          <a:bodyPr/>
          <a:lstStyle/>
          <a:p>
            <a:r>
              <a:rPr lang="es-ES" dirty="0"/>
              <a:t>Diseñar la clase </a:t>
            </a:r>
            <a:r>
              <a:rPr lang="es-ES" b="1" dirty="0"/>
              <a:t>Canción</a:t>
            </a:r>
            <a:r>
              <a:rPr lang="es-ES" dirty="0"/>
              <a:t> con notación </a:t>
            </a:r>
            <a:r>
              <a:rPr lang="es-ES" b="1" dirty="0"/>
              <a:t>UML</a:t>
            </a:r>
            <a:r>
              <a:rPr lang="es-ES" dirty="0"/>
              <a:t>.</a:t>
            </a:r>
          </a:p>
          <a:p>
            <a:r>
              <a:rPr lang="es-ES" dirty="0"/>
              <a:t>La clase debe tener los siguientes atributos: </a:t>
            </a:r>
            <a:r>
              <a:rPr lang="es-ES" b="1" dirty="0"/>
              <a:t>nombre</a:t>
            </a:r>
            <a:r>
              <a:rPr lang="es-ES" dirty="0"/>
              <a:t>, </a:t>
            </a:r>
            <a:r>
              <a:rPr lang="es-ES" b="1" dirty="0"/>
              <a:t>cantante</a:t>
            </a:r>
            <a:r>
              <a:rPr lang="es-ES" dirty="0"/>
              <a:t>, </a:t>
            </a:r>
            <a:r>
              <a:rPr lang="es-ES" b="1" dirty="0"/>
              <a:t>género</a:t>
            </a:r>
            <a:r>
              <a:rPr lang="es-ES" dirty="0"/>
              <a:t> y </a:t>
            </a:r>
            <a:r>
              <a:rPr lang="es-ES" b="1" dirty="0"/>
              <a:t>duración</a:t>
            </a:r>
            <a:r>
              <a:rPr lang="es-ES" dirty="0"/>
              <a:t>.</a:t>
            </a:r>
          </a:p>
          <a:p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ser </a:t>
            </a:r>
            <a:br>
              <a:rPr lang="en-US" dirty="0"/>
            </a:br>
            <a:r>
              <a:rPr lang="en-US" b="1" dirty="0"/>
              <a:t>privados</a:t>
            </a:r>
            <a:r>
              <a:rPr lang="en-US" dirty="0"/>
              <a:t>.</a:t>
            </a:r>
          </a:p>
          <a:p>
            <a:r>
              <a:rPr lang="en-US" dirty="0" err="1"/>
              <a:t>Implementar</a:t>
            </a:r>
            <a:r>
              <a:rPr lang="en-US" dirty="0"/>
              <a:t> la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/>
              <a:t>Java</a:t>
            </a:r>
            <a:r>
              <a:rPr lang="en-US" dirty="0"/>
              <a:t>.</a:t>
            </a:r>
          </a:p>
          <a:p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correspondientes</a:t>
            </a: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getters</a:t>
            </a:r>
            <a:r>
              <a:rPr lang="en-US" dirty="0"/>
              <a:t> y </a:t>
            </a:r>
            <a:r>
              <a:rPr lang="en-US" b="1" dirty="0"/>
              <a:t>setters</a:t>
            </a:r>
            <a:r>
              <a:rPr lang="en-U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5BEDD-EE00-8838-E562-22007BEA1C1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7D329C-98C5-273B-CF23-3C7C149806D9}"/>
              </a:ext>
            </a:extLst>
          </p:cNvPr>
          <p:cNvSpPr txBox="1"/>
          <p:nvPr/>
        </p:nvSpPr>
        <p:spPr>
          <a:xfrm>
            <a:off x="786912" y="6481814"/>
            <a:ext cx="60977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https://m.media-amazon.com/images/I/71Mpsg+LzLL.png</a:t>
            </a:r>
          </a:p>
        </p:txBody>
      </p:sp>
    </p:spTree>
    <p:extLst>
      <p:ext uri="{BB962C8B-B14F-4D97-AF65-F5344CB8AC3E}">
        <p14:creationId xmlns:p14="http://schemas.microsoft.com/office/powerpoint/2010/main" val="337283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BB69766-1C96-2880-C6F7-783F9F128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84" y="1510645"/>
            <a:ext cx="4719152" cy="38367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2D2412-C8AB-2541-ACC5-3C51C06A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83659-8255-0D93-DD9B-5C209559D0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0A34ACBB-FC51-038B-0740-E139D992A7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4610" y="1215392"/>
            <a:ext cx="6853288" cy="481776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Diseñar la clase </a:t>
            </a:r>
            <a:r>
              <a:rPr lang="es-ES" b="1" dirty="0"/>
              <a:t>Libro</a:t>
            </a:r>
            <a:r>
              <a:rPr lang="es-ES" dirty="0"/>
              <a:t> con notación </a:t>
            </a:r>
            <a:r>
              <a:rPr lang="es-ES" b="1" dirty="0"/>
              <a:t>UML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Debe tener los siguientes atributos: </a:t>
            </a:r>
            <a:r>
              <a:rPr lang="es-ES" b="1" dirty="0"/>
              <a:t>título</a:t>
            </a:r>
            <a:r>
              <a:rPr lang="es-ES" dirty="0"/>
              <a:t>, </a:t>
            </a:r>
            <a:r>
              <a:rPr lang="es-ES" b="1" dirty="0"/>
              <a:t>autor</a:t>
            </a:r>
            <a:r>
              <a:rPr lang="es-ES" dirty="0"/>
              <a:t>, </a:t>
            </a:r>
            <a:r>
              <a:rPr lang="es-ES" b="1" dirty="0"/>
              <a:t>stock</a:t>
            </a:r>
            <a:r>
              <a:rPr lang="es-ES" dirty="0"/>
              <a:t>, </a:t>
            </a:r>
            <a:r>
              <a:rPr lang="es-ES" b="1" dirty="0"/>
              <a:t>ISBN</a:t>
            </a:r>
            <a:r>
              <a:rPr lang="es-ES" dirty="0"/>
              <a:t> y </a:t>
            </a:r>
            <a:r>
              <a:rPr lang="es-ES" b="1" dirty="0"/>
              <a:t>precio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 </a:t>
            </a:r>
            <a:r>
              <a:rPr lang="en-US" dirty="0" err="1"/>
              <a:t>deben</a:t>
            </a:r>
            <a:r>
              <a:rPr lang="en-US" dirty="0"/>
              <a:t> ser </a:t>
            </a:r>
            <a:r>
              <a:rPr lang="en-US" b="1" dirty="0"/>
              <a:t>privados</a:t>
            </a:r>
            <a:r>
              <a:rPr lang="en-US" dirty="0"/>
              <a:t>, </a:t>
            </a:r>
            <a:r>
              <a:rPr lang="en-US" dirty="0" err="1"/>
              <a:t>excepto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b="1" dirty="0"/>
              <a:t>ISBN</a:t>
            </a:r>
            <a:r>
              <a:rPr lang="en-US" dirty="0"/>
              <a:t>, que es </a:t>
            </a:r>
            <a:r>
              <a:rPr lang="en-US" dirty="0" err="1"/>
              <a:t>público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Implementar</a:t>
            </a:r>
            <a:r>
              <a:rPr lang="en-US" dirty="0"/>
              <a:t> la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/>
              <a:t>Java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correspondientes</a:t>
            </a:r>
            <a:r>
              <a:rPr lang="en-US" dirty="0"/>
              <a:t> </a:t>
            </a:r>
            <a:r>
              <a:rPr lang="en-US" b="1" dirty="0"/>
              <a:t>getters</a:t>
            </a:r>
            <a:r>
              <a:rPr lang="en-US" dirty="0"/>
              <a:t> y </a:t>
            </a:r>
            <a:r>
              <a:rPr lang="en-US" b="1" dirty="0"/>
              <a:t>setters</a:t>
            </a:r>
            <a:r>
              <a:rPr lang="en-US" dirty="0"/>
              <a:t>, solo para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 privados, </a:t>
            </a:r>
            <a:r>
              <a:rPr lang="en-US" dirty="0" err="1"/>
              <a:t>excepto</a:t>
            </a:r>
            <a:r>
              <a:rPr lang="en-US" dirty="0"/>
              <a:t> para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b="1" dirty="0" err="1"/>
              <a:t>precio</a:t>
            </a:r>
            <a:r>
              <a:rPr lang="en-US" dirty="0"/>
              <a:t>, que </a:t>
            </a:r>
            <a:r>
              <a:rPr lang="en-US" dirty="0" err="1"/>
              <a:t>deberá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solo getter.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5BEDD-EE00-8838-E562-22007BEA1C1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B9A751-F93E-DF0F-C1F6-5F47996CCFF7}"/>
              </a:ext>
            </a:extLst>
          </p:cNvPr>
          <p:cNvSpPr txBox="1"/>
          <p:nvPr/>
        </p:nvSpPr>
        <p:spPr>
          <a:xfrm>
            <a:off x="786912" y="6481814"/>
            <a:ext cx="60977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https://s3-eu-west-1.amazonaws.com/cover2.galileo-press.de/print/9781493222957_800.png</a:t>
            </a:r>
          </a:p>
        </p:txBody>
      </p:sp>
    </p:spTree>
    <p:extLst>
      <p:ext uri="{BB962C8B-B14F-4D97-AF65-F5344CB8AC3E}">
        <p14:creationId xmlns:p14="http://schemas.microsoft.com/office/powerpoint/2010/main" val="257646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E28E1BE8-38F5-6108-A3F3-217635F4FC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10000"/>
          </a:blip>
          <a:srcRect l="47042" t="22818" r="2077" b="17663"/>
          <a:stretch/>
        </p:blipFill>
        <p:spPr>
          <a:xfrm>
            <a:off x="4150745" y="0"/>
            <a:ext cx="804125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8B34C4-9B01-772D-51C1-8EECFB69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99" y="429863"/>
            <a:ext cx="10580802" cy="785528"/>
          </a:xfrm>
        </p:spPr>
        <p:txBody>
          <a:bodyPr/>
          <a:lstStyle/>
          <a:p>
            <a:r>
              <a:rPr lang="es-ES" dirty="0"/>
              <a:t>Recursos para modelar con UML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71C2A8-831F-BB77-3CBD-1D7B8088B7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FBD9E-0E13-E5FB-0A88-A5FD3015E78C}"/>
              </a:ext>
            </a:extLst>
          </p:cNvPr>
          <p:cNvSpPr txBox="1"/>
          <p:nvPr/>
        </p:nvSpPr>
        <p:spPr>
          <a:xfrm>
            <a:off x="942680" y="1455560"/>
            <a:ext cx="23214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1E1F22"/>
                </a:solidFill>
              </a:rPr>
              <a:t>Para descargar e </a:t>
            </a:r>
            <a:br>
              <a:rPr lang="es-ES" sz="2000" b="1" dirty="0">
                <a:solidFill>
                  <a:srgbClr val="1E1F22"/>
                </a:solidFill>
              </a:rPr>
            </a:br>
            <a:r>
              <a:rPr lang="es-ES" sz="2000" b="1" dirty="0">
                <a:solidFill>
                  <a:srgbClr val="1E1F22"/>
                </a:solidFill>
              </a:rPr>
              <a:t>instalar en la PC</a:t>
            </a:r>
            <a:endParaRPr lang="en-US" sz="2000" b="1" dirty="0">
              <a:solidFill>
                <a:srgbClr val="1E1F2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AA7B38-FCDC-621E-0C74-80B560397EC3}"/>
              </a:ext>
            </a:extLst>
          </p:cNvPr>
          <p:cNvSpPr txBox="1"/>
          <p:nvPr/>
        </p:nvSpPr>
        <p:spPr>
          <a:xfrm>
            <a:off x="6476215" y="1455560"/>
            <a:ext cx="1879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1E1F22"/>
                </a:solidFill>
              </a:rPr>
              <a:t>Para modelar </a:t>
            </a:r>
            <a:br>
              <a:rPr lang="es-ES" sz="2000" b="1" dirty="0">
                <a:solidFill>
                  <a:srgbClr val="1E1F22"/>
                </a:solidFill>
              </a:rPr>
            </a:br>
            <a:r>
              <a:rPr lang="es-ES" sz="2000" b="1" dirty="0">
                <a:solidFill>
                  <a:srgbClr val="1E1F22"/>
                </a:solidFill>
              </a:rPr>
              <a:t>en línea</a:t>
            </a:r>
            <a:endParaRPr lang="en-US" sz="2000" b="1" dirty="0">
              <a:solidFill>
                <a:srgbClr val="1E1F2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CAE48-7D1E-E229-4728-8CCD0C0F2748}"/>
              </a:ext>
            </a:extLst>
          </p:cNvPr>
          <p:cNvSpPr txBox="1"/>
          <p:nvPr/>
        </p:nvSpPr>
        <p:spPr>
          <a:xfrm>
            <a:off x="6580899" y="6143217"/>
            <a:ext cx="38060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https://plantuml.com/es/class-diagram</a:t>
            </a:r>
            <a:r>
              <a:rPr lang="en-US" sz="1600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49AA0E-6E10-B50A-78DA-7C3A13326E26}"/>
              </a:ext>
            </a:extLst>
          </p:cNvPr>
          <p:cNvSpPr txBox="1"/>
          <p:nvPr/>
        </p:nvSpPr>
        <p:spPr>
          <a:xfrm>
            <a:off x="942680" y="6143217"/>
            <a:ext cx="27408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4"/>
              </a:rPr>
              <a:t>https://staruml.io/</a:t>
            </a:r>
            <a:r>
              <a:rPr lang="en-US" sz="1600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5400A5-0F21-925F-6C35-7194E0922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680" y="2376266"/>
            <a:ext cx="4310425" cy="3634033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 descr="Shape&#10;&#10;Description automatically generated with medium confidence">
            <a:extLst>
              <a:ext uri="{FF2B5EF4-FFF2-40B4-BE49-F238E27FC236}">
                <a16:creationId xmlns:a16="http://schemas.microsoft.com/office/drawing/2014/main" id="{3A96BCC0-8614-813A-9AB3-D90A1C438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8874" y="1348690"/>
            <a:ext cx="921627" cy="9216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65DBC6A-681A-A14C-FB2E-EB6B17FFC19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66010" y="1348690"/>
            <a:ext cx="1493420" cy="9216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F86375-D717-0ECC-14A9-EF6AEE10FF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0899" y="2376265"/>
            <a:ext cx="4348283" cy="3634034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 descr="Shape&#10;&#10;Description automatically generated with medium confidence">
            <a:extLst>
              <a:ext uri="{FF2B5EF4-FFF2-40B4-BE49-F238E27FC236}">
                <a16:creationId xmlns:a16="http://schemas.microsoft.com/office/drawing/2014/main" id="{F4876153-2151-EEBC-C876-2589A232F1E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  <a:alphaModFix amt="50000"/>
          </a:blip>
          <a:stretch>
            <a:fillRect/>
          </a:stretch>
        </p:blipFill>
        <p:spPr>
          <a:xfrm rot="5400000">
            <a:off x="3167795" y="2822687"/>
            <a:ext cx="5506085" cy="229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3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E9576-177F-AC2B-3010-6C3B05812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065"/>
          <a:stretch/>
        </p:blipFill>
        <p:spPr>
          <a:xfrm>
            <a:off x="8721213" y="343004"/>
            <a:ext cx="347078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4"/>
            <a:ext cx="7288244" cy="4782911"/>
          </a:xfrm>
        </p:spPr>
        <p:txBody>
          <a:bodyPr/>
          <a:lstStyle/>
          <a:p>
            <a:r>
              <a:rPr lang="es-ES" dirty="0"/>
              <a:t>¿Qué es </a:t>
            </a:r>
            <a:r>
              <a:rPr lang="es-ES" b="1" dirty="0"/>
              <a:t>POO</a:t>
            </a:r>
            <a:r>
              <a:rPr lang="es-ES" dirty="0"/>
              <a:t>?</a:t>
            </a:r>
          </a:p>
          <a:p>
            <a:r>
              <a:rPr lang="es-ES" dirty="0"/>
              <a:t>¿Qué es un </a:t>
            </a:r>
            <a:r>
              <a:rPr lang="es-ES" b="1" dirty="0"/>
              <a:t>objeto</a:t>
            </a:r>
            <a:r>
              <a:rPr lang="es-ES" dirty="0"/>
              <a:t>?</a:t>
            </a:r>
          </a:p>
          <a:p>
            <a:r>
              <a:rPr lang="es-ES" dirty="0"/>
              <a:t>¿Qué es una </a:t>
            </a:r>
            <a:r>
              <a:rPr lang="es-ES" b="1" dirty="0"/>
              <a:t>clase</a:t>
            </a:r>
            <a:r>
              <a:rPr lang="es-ES" dirty="0"/>
              <a:t>?</a:t>
            </a:r>
          </a:p>
          <a:p>
            <a:r>
              <a:rPr lang="es-ES" dirty="0"/>
              <a:t>¿De qué partes consta una clase?</a:t>
            </a:r>
          </a:p>
          <a:p>
            <a:r>
              <a:rPr lang="es-ES" dirty="0"/>
              <a:t>¿Qué son </a:t>
            </a:r>
            <a:r>
              <a:rPr lang="es-ES" b="1" dirty="0" err="1"/>
              <a:t>getters</a:t>
            </a:r>
            <a:r>
              <a:rPr lang="es-ES" dirty="0"/>
              <a:t> y </a:t>
            </a:r>
            <a:r>
              <a:rPr lang="es-ES" b="1" dirty="0" err="1"/>
              <a:t>setters</a:t>
            </a:r>
            <a:r>
              <a:rPr lang="es-ES" dirty="0"/>
              <a:t>?</a:t>
            </a:r>
          </a:p>
          <a:p>
            <a:r>
              <a:rPr lang="es-ES" dirty="0"/>
              <a:t>¿Cuál es la utilidad de los </a:t>
            </a:r>
            <a:r>
              <a:rPr lang="es-ES" b="1" dirty="0" err="1"/>
              <a:t>getters</a:t>
            </a:r>
            <a:r>
              <a:rPr lang="es-ES" dirty="0"/>
              <a:t> y </a:t>
            </a:r>
            <a:r>
              <a:rPr lang="es-ES" b="1" dirty="0" err="1"/>
              <a:t>setters</a:t>
            </a:r>
            <a:r>
              <a:rPr lang="es-ES" dirty="0"/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631082">
            <a:off x="8209846" y="2177225"/>
            <a:ext cx="1134497" cy="599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9" t="3247" r="24723" b="2817"/>
          <a:stretch/>
        </p:blipFill>
        <p:spPr>
          <a:xfrm rot="2451020">
            <a:off x="9215462" y="362186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409" b="34623"/>
          <a:stretch/>
        </p:blipFill>
        <p:spPr>
          <a:xfrm rot="4648148">
            <a:off x="10093013" y="4746420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377240" flipH="1">
            <a:off x="9325178" y="3292719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Fundamentos de Programación</a:t>
            </a:r>
            <a:r>
              <a:rPr lang="es-ES" dirty="0"/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Cuarta edición</a:t>
            </a:r>
            <a:r>
              <a:rPr lang="es-ES" dirty="0"/>
              <a:t>. McGraw-Hill.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3207</TotalTime>
  <Words>2298</Words>
  <Application>Microsoft Office PowerPoint</Application>
  <PresentationFormat>Panorámica</PresentationFormat>
  <Paragraphs>336</Paragraphs>
  <Slides>34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9" baseType="lpstr">
      <vt:lpstr>Arial</vt:lpstr>
      <vt:lpstr>Arial Black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Introducción a la Programación Orientada a Objetos (POO)</vt:lpstr>
      <vt:lpstr>Conocimientos previos</vt:lpstr>
      <vt:lpstr>Logro de aprendizaje</vt:lpstr>
      <vt:lpstr>Utilidad</vt:lpstr>
      <vt:lpstr>Presentación de PowerPoint</vt:lpstr>
      <vt:lpstr>Presentación de PowerPoint</vt:lpstr>
      <vt:lpstr>Programación Orientada a Objetos</vt:lpstr>
      <vt:lpstr>Ventajas de la POO</vt:lpstr>
      <vt:lpstr>Definiciones: “Objeto”</vt:lpstr>
      <vt:lpstr>Ejemplo de Objeto</vt:lpstr>
      <vt:lpstr>Definiciones: “Clase”</vt:lpstr>
      <vt:lpstr>Definiciones: “Instancia de Clase”</vt:lpstr>
      <vt:lpstr>Presentación de PowerPoint</vt:lpstr>
      <vt:lpstr>Representación de una Clase</vt:lpstr>
      <vt:lpstr>Clase y Objeto</vt:lpstr>
      <vt:lpstr>Clases en Java</vt:lpstr>
      <vt:lpstr>Clases en Java</vt:lpstr>
      <vt:lpstr>Presentación de PowerPoint</vt:lpstr>
      <vt:lpstr>¿Qué son los atributos?</vt:lpstr>
      <vt:lpstr>¿Qué son los atributos?</vt:lpstr>
      <vt:lpstr>Modificadores de acceso</vt:lpstr>
      <vt:lpstr>Getters</vt:lpstr>
      <vt:lpstr>Setters</vt:lpstr>
      <vt:lpstr>Presentación de PowerPoint</vt:lpstr>
      <vt:lpstr>Ejercicio 1</vt:lpstr>
      <vt:lpstr>Ejercicio 2</vt:lpstr>
      <vt:lpstr>Recursos para modelar con UML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12-Sesión 23</dc:title>
  <dc:creator>jorgerodcas@hotmail.com</dc:creator>
  <cp:lastModifiedBy>Juan Carlos García</cp:lastModifiedBy>
  <cp:revision>217</cp:revision>
  <dcterms:modified xsi:type="dcterms:W3CDTF">2023-10-23T15:54:28Z</dcterms:modified>
</cp:coreProperties>
</file>