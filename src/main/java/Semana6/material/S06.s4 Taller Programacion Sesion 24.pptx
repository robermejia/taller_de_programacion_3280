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449" r:id="rId3"/>
    <p:sldId id="450" r:id="rId4"/>
    <p:sldId id="451" r:id="rId5"/>
    <p:sldId id="452" r:id="rId6"/>
    <p:sldId id="453" r:id="rId7"/>
    <p:sldId id="258" r:id="rId8"/>
    <p:sldId id="257" r:id="rId9"/>
    <p:sldId id="263" r:id="rId10"/>
    <p:sldId id="264" r:id="rId11"/>
    <p:sldId id="380" r:id="rId12"/>
    <p:sldId id="439" r:id="rId13"/>
    <p:sldId id="395" r:id="rId14"/>
    <p:sldId id="443" r:id="rId15"/>
    <p:sldId id="440" r:id="rId16"/>
    <p:sldId id="406" r:id="rId17"/>
    <p:sldId id="444" r:id="rId18"/>
    <p:sldId id="447" r:id="rId19"/>
    <p:sldId id="445" r:id="rId20"/>
    <p:sldId id="446" r:id="rId21"/>
    <p:sldId id="441" r:id="rId22"/>
    <p:sldId id="410" r:id="rId23"/>
    <p:sldId id="442" r:id="rId24"/>
    <p:sldId id="415" r:id="rId25"/>
    <p:sldId id="448" r:id="rId26"/>
    <p:sldId id="432" r:id="rId27"/>
    <p:sldId id="261" r:id="rId28"/>
    <p:sldId id="329" r:id="rId29"/>
    <p:sldId id="259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7F9F"/>
    <a:srgbClr val="404F64"/>
    <a:srgbClr val="074D67"/>
    <a:srgbClr val="42AFB6"/>
    <a:srgbClr val="007A7D"/>
    <a:srgbClr val="FCB414"/>
    <a:srgbClr val="CB1B4A"/>
    <a:srgbClr val="313E60"/>
    <a:srgbClr val="0099CC"/>
    <a:srgbClr val="ACB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11422B-4623-41E7-847F-BAD160671EDF}" v="2" dt="2023-02-28T19:05:47.7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86599" autoAdjust="0"/>
  </p:normalViewPr>
  <p:slideViewPr>
    <p:cSldViewPr snapToGrid="0">
      <p:cViewPr varScale="1">
        <p:scale>
          <a:sx n="124" d="100"/>
          <a:sy n="124" d="100"/>
        </p:scale>
        <p:origin x="422" y="10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8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Izquierda: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- Modificador de acceso o visibilidad privado.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Modificador de acceso o visibilidad protegido.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Modificador de acceso o visibilidad público.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lang="es-ES" dirty="0"/>
              <a:t>Derecha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Nombre de la clase.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Atributos.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Métodos.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219008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78298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266804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3341402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</a:p>
          <a:p>
            <a:r>
              <a:rPr lang="es-ES" dirty="0"/>
              <a:t>El bucle recorre la diagonal de la matriz.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180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</a:p>
          <a:p>
            <a:r>
              <a:rPr lang="es-ES" dirty="0"/>
              <a:t>El bucle recorre la diagonal de la matriz.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473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svg"/><Relationship Id="rId7" Type="http://schemas.openxmlformats.org/officeDocument/2006/relationships/image" Target="../media/image26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4.svg"/><Relationship Id="rId7" Type="http://schemas.openxmlformats.org/officeDocument/2006/relationships/image" Target="../media/image20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Relationship Id="rId9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AC83-667F-E55A-0E0C-E15000D84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719" y="429862"/>
            <a:ext cx="10609082" cy="2784677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Dudas de la clase anterior</a:t>
            </a:r>
            <a:br>
              <a:rPr lang="es-ES" dirty="0">
                <a:solidFill>
                  <a:schemeClr val="bg1"/>
                </a:solidFill>
              </a:rPr>
            </a:b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rgbClr val="697F9F"/>
                </a:solidFill>
              </a:rPr>
              <a:t>Programación Orientada a Objetos</a:t>
            </a:r>
            <a:br>
              <a:rPr lang="es-E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064773-C720-4999-A16A-62B12387E1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BCFE7E-000D-1656-3848-5709C5B0B8D0}"/>
              </a:ext>
            </a:extLst>
          </p:cNvPr>
          <p:cNvSpPr/>
          <p:nvPr/>
        </p:nvSpPr>
        <p:spPr>
          <a:xfrm>
            <a:off x="2436828" y="3563333"/>
            <a:ext cx="2436829" cy="3294668"/>
          </a:xfrm>
          <a:prstGeom prst="rect">
            <a:avLst/>
          </a:prstGeom>
          <a:solidFill>
            <a:srgbClr val="FCB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CFC59-33C7-5B09-932E-73D652D2CD6B}"/>
              </a:ext>
            </a:extLst>
          </p:cNvPr>
          <p:cNvSpPr/>
          <p:nvPr/>
        </p:nvSpPr>
        <p:spPr>
          <a:xfrm>
            <a:off x="4873657" y="3563333"/>
            <a:ext cx="2436829" cy="3294668"/>
          </a:xfrm>
          <a:prstGeom prst="rect">
            <a:avLst/>
          </a:prstGeom>
          <a:solidFill>
            <a:srgbClr val="00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7188FA-7997-5248-527D-94D6FB8428D7}"/>
              </a:ext>
            </a:extLst>
          </p:cNvPr>
          <p:cNvSpPr/>
          <p:nvPr/>
        </p:nvSpPr>
        <p:spPr>
          <a:xfrm>
            <a:off x="7310486" y="3563333"/>
            <a:ext cx="2436829" cy="3294668"/>
          </a:xfrm>
          <a:prstGeom prst="rect">
            <a:avLst/>
          </a:prstGeom>
          <a:solidFill>
            <a:srgbClr val="42AF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9A1732-31E3-9B12-6280-05A8261CBDA7}"/>
              </a:ext>
            </a:extLst>
          </p:cNvPr>
          <p:cNvSpPr/>
          <p:nvPr/>
        </p:nvSpPr>
        <p:spPr>
          <a:xfrm>
            <a:off x="9747315" y="3563333"/>
            <a:ext cx="2436829" cy="3294668"/>
          </a:xfrm>
          <a:prstGeom prst="rect">
            <a:avLst/>
          </a:prstGeom>
          <a:solidFill>
            <a:srgbClr val="074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E179AA-5F25-B4E7-00F7-D0E6AF3188AF}"/>
              </a:ext>
            </a:extLst>
          </p:cNvPr>
          <p:cNvSpPr txBox="1"/>
          <p:nvPr/>
        </p:nvSpPr>
        <p:spPr>
          <a:xfrm>
            <a:off x="2817435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Clase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5E2504-7697-676F-3483-32A08BFDD334}"/>
              </a:ext>
            </a:extLst>
          </p:cNvPr>
          <p:cNvSpPr txBox="1"/>
          <p:nvPr/>
        </p:nvSpPr>
        <p:spPr>
          <a:xfrm>
            <a:off x="5254264" y="3871357"/>
            <a:ext cx="16756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Partes de una clase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31565-6118-C612-A2A0-9E1D360047F3}"/>
              </a:ext>
            </a:extLst>
          </p:cNvPr>
          <p:cNvSpPr txBox="1"/>
          <p:nvPr/>
        </p:nvSpPr>
        <p:spPr>
          <a:xfrm>
            <a:off x="7698951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Objeto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9F7E65-3F86-0AD2-7400-9FAE409ADA8D}"/>
              </a:ext>
            </a:extLst>
          </p:cNvPr>
          <p:cNvSpPr txBox="1"/>
          <p:nvPr/>
        </p:nvSpPr>
        <p:spPr>
          <a:xfrm>
            <a:off x="10030120" y="3871357"/>
            <a:ext cx="18712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 err="1">
                <a:solidFill>
                  <a:schemeClr val="bg1"/>
                </a:solidFill>
              </a:rPr>
              <a:t>Getters</a:t>
            </a:r>
            <a:r>
              <a:rPr lang="es-ES" sz="3200" dirty="0">
                <a:solidFill>
                  <a:schemeClr val="bg1"/>
                </a:solidFill>
              </a:rPr>
              <a:t> y </a:t>
            </a:r>
            <a:r>
              <a:rPr lang="es-ES" sz="3200" dirty="0" err="1">
                <a:solidFill>
                  <a:schemeClr val="bg1"/>
                </a:solidFill>
              </a:rPr>
              <a:t>Setters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510BD0-A85A-9210-93D2-949BFFAA9872}"/>
              </a:ext>
            </a:extLst>
          </p:cNvPr>
          <p:cNvGrpSpPr/>
          <p:nvPr/>
        </p:nvGrpSpPr>
        <p:grpSpPr>
          <a:xfrm>
            <a:off x="10322154" y="5720814"/>
            <a:ext cx="1287150" cy="914400"/>
            <a:chOff x="10133029" y="5709329"/>
            <a:chExt cx="1287150" cy="914400"/>
          </a:xfrm>
        </p:grpSpPr>
        <p:pic>
          <p:nvPicPr>
            <p:cNvPr id="19" name="Graphic 18" descr="Paint brush with solid fill">
              <a:extLst>
                <a:ext uri="{FF2B5EF4-FFF2-40B4-BE49-F238E27FC236}">
                  <a16:creationId xmlns:a16="http://schemas.microsoft.com/office/drawing/2014/main" id="{9B00BF6A-5BC4-D6CB-656A-DF322E5A8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505779" y="5709329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Magnifying glass with solid fill">
              <a:extLst>
                <a:ext uri="{FF2B5EF4-FFF2-40B4-BE49-F238E27FC236}">
                  <a16:creationId xmlns:a16="http://schemas.microsoft.com/office/drawing/2014/main" id="{773D80F3-D2B4-415B-D7DB-C3C7D6F77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33029" y="5709329"/>
              <a:ext cx="914400" cy="914400"/>
            </a:xfrm>
            <a:prstGeom prst="rect">
              <a:avLst/>
            </a:prstGeom>
          </p:spPr>
        </p:pic>
      </p:grpSp>
      <p:pic>
        <p:nvPicPr>
          <p:cNvPr id="23" name="Graphic 22" descr="Basic Shapes with solid fill">
            <a:extLst>
              <a:ext uri="{FF2B5EF4-FFF2-40B4-BE49-F238E27FC236}">
                <a16:creationId xmlns:a16="http://schemas.microsoft.com/office/drawing/2014/main" id="{751889F4-F08D-6BB2-D537-9B217B05C5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71700" y="5720814"/>
            <a:ext cx="914400" cy="914400"/>
          </a:xfrm>
          <a:prstGeom prst="rect">
            <a:avLst/>
          </a:prstGeom>
        </p:spPr>
      </p:pic>
      <p:pic>
        <p:nvPicPr>
          <p:cNvPr id="25" name="Graphic 24" descr="Blueprint with solid fill">
            <a:extLst>
              <a:ext uri="{FF2B5EF4-FFF2-40B4-BE49-F238E27FC236}">
                <a16:creationId xmlns:a16="http://schemas.microsoft.com/office/drawing/2014/main" id="{25EC7358-1ED1-17C9-D1E8-4218B293D7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90579" y="5720814"/>
            <a:ext cx="914400" cy="9144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72EDC8F-F008-C5AE-F446-D029E692C716}"/>
              </a:ext>
            </a:extLst>
          </p:cNvPr>
          <p:cNvGrpSpPr/>
          <p:nvPr/>
        </p:nvGrpSpPr>
        <p:grpSpPr>
          <a:xfrm>
            <a:off x="5853296" y="5885696"/>
            <a:ext cx="477550" cy="584636"/>
            <a:chOff x="5704001" y="5863472"/>
            <a:chExt cx="658897" cy="806647"/>
          </a:xfrm>
          <a:noFill/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46AF13D-0632-72BC-2809-3D2F8D38BEE1}"/>
                </a:ext>
              </a:extLst>
            </p:cNvPr>
            <p:cNvSpPr/>
            <p:nvPr/>
          </p:nvSpPr>
          <p:spPr>
            <a:xfrm>
              <a:off x="5704001" y="5863472"/>
              <a:ext cx="658897" cy="17910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CF3A307-D2E4-B543-34C8-DB34959EAB64}"/>
                </a:ext>
              </a:extLst>
            </p:cNvPr>
            <p:cNvSpPr/>
            <p:nvPr/>
          </p:nvSpPr>
          <p:spPr>
            <a:xfrm>
              <a:off x="5704001" y="6042581"/>
              <a:ext cx="658897" cy="31376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C06583-02B5-707D-ADAD-6A530F530B9A}"/>
                </a:ext>
              </a:extLst>
            </p:cNvPr>
            <p:cNvSpPr/>
            <p:nvPr/>
          </p:nvSpPr>
          <p:spPr>
            <a:xfrm>
              <a:off x="5704001" y="6356350"/>
              <a:ext cx="658897" cy="31376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B96AAF0C-D60E-84F9-90C0-5F366542B612}"/>
              </a:ext>
            </a:extLst>
          </p:cNvPr>
          <p:cNvSpPr/>
          <p:nvPr/>
        </p:nvSpPr>
        <p:spPr>
          <a:xfrm>
            <a:off x="7856" y="3563332"/>
            <a:ext cx="12184144" cy="3294668"/>
          </a:xfrm>
          <a:prstGeom prst="rect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E535A0-5E59-E64E-A4C9-4E9616DD6291}"/>
              </a:ext>
            </a:extLst>
          </p:cNvPr>
          <p:cNvSpPr/>
          <p:nvPr/>
        </p:nvSpPr>
        <p:spPr>
          <a:xfrm>
            <a:off x="7856" y="3091992"/>
            <a:ext cx="2436829" cy="3766009"/>
          </a:xfrm>
          <a:prstGeom prst="rect">
            <a:avLst/>
          </a:prstGeom>
          <a:solidFill>
            <a:srgbClr val="CB1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875744-14B5-E9AD-DB72-64F3C6FA7A3B}"/>
              </a:ext>
            </a:extLst>
          </p:cNvPr>
          <p:cNvSpPr txBox="1"/>
          <p:nvPr/>
        </p:nvSpPr>
        <p:spPr>
          <a:xfrm>
            <a:off x="388463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POO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B4F47F-3DBC-C4FA-19E1-DDAE8AD1A44C}"/>
              </a:ext>
            </a:extLst>
          </p:cNvPr>
          <p:cNvGrpSpPr/>
          <p:nvPr/>
        </p:nvGrpSpPr>
        <p:grpSpPr>
          <a:xfrm>
            <a:off x="956093" y="5816183"/>
            <a:ext cx="554416" cy="723662"/>
            <a:chOff x="1136518" y="5450895"/>
            <a:chExt cx="554416" cy="72366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24F090-28E4-512A-F169-A799AE3EB285}"/>
                </a:ext>
              </a:extLst>
            </p:cNvPr>
            <p:cNvSpPr/>
            <p:nvPr/>
          </p:nvSpPr>
          <p:spPr>
            <a:xfrm>
              <a:off x="1136518" y="5450895"/>
              <a:ext cx="554416" cy="723662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CA15FFD-A2DF-E6FA-FAD1-F898F2610F00}"/>
                </a:ext>
              </a:extLst>
            </p:cNvPr>
            <p:cNvSpPr/>
            <p:nvPr/>
          </p:nvSpPr>
          <p:spPr>
            <a:xfrm>
              <a:off x="1230818" y="5548010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90C4293-DE1D-801C-BF4C-F85EB2321AD9}"/>
                </a:ext>
              </a:extLst>
            </p:cNvPr>
            <p:cNvSpPr/>
            <p:nvPr/>
          </p:nvSpPr>
          <p:spPr>
            <a:xfrm>
              <a:off x="1312418" y="5632366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2AFB9E-A6C3-2977-DDFF-24EF9FCA06A4}"/>
                </a:ext>
              </a:extLst>
            </p:cNvPr>
            <p:cNvSpPr/>
            <p:nvPr/>
          </p:nvSpPr>
          <p:spPr>
            <a:xfrm>
              <a:off x="1383623" y="5716722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C9022A9-08B1-9688-209E-A04A5BE49333}"/>
                </a:ext>
              </a:extLst>
            </p:cNvPr>
            <p:cNvSpPr/>
            <p:nvPr/>
          </p:nvSpPr>
          <p:spPr>
            <a:xfrm>
              <a:off x="1296407" y="5801078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3FDBCC8-CC51-DDC0-3ED3-402C82F6A157}"/>
                </a:ext>
              </a:extLst>
            </p:cNvPr>
            <p:cNvSpPr/>
            <p:nvPr/>
          </p:nvSpPr>
          <p:spPr>
            <a:xfrm>
              <a:off x="1398684" y="5885434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F488B14-5791-2FA8-51D2-BCC7A3485DE6}"/>
                </a:ext>
              </a:extLst>
            </p:cNvPr>
            <p:cNvSpPr/>
            <p:nvPr/>
          </p:nvSpPr>
          <p:spPr>
            <a:xfrm>
              <a:off x="1296407" y="5959645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50FEEE8-6591-C6C8-9B19-127A711EF0E0}"/>
                </a:ext>
              </a:extLst>
            </p:cNvPr>
            <p:cNvSpPr/>
            <p:nvPr/>
          </p:nvSpPr>
          <p:spPr>
            <a:xfrm>
              <a:off x="1230818" y="6033857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2361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AC83-667F-E55A-0E0C-E15000D84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719" y="429862"/>
            <a:ext cx="10609082" cy="2784677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Dudas de la clase anterior</a:t>
            </a:r>
            <a:br>
              <a:rPr lang="es-ES" dirty="0">
                <a:solidFill>
                  <a:schemeClr val="bg1"/>
                </a:solidFill>
              </a:rPr>
            </a:b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rgbClr val="697F9F"/>
                </a:solidFill>
              </a:rPr>
              <a:t>Programación Orientada a Objetos</a:t>
            </a:r>
            <a:br>
              <a:rPr lang="es-E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064773-C720-4999-A16A-62B12387E1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E535A0-5E59-E64E-A4C9-4E9616DD6291}"/>
              </a:ext>
            </a:extLst>
          </p:cNvPr>
          <p:cNvSpPr/>
          <p:nvPr/>
        </p:nvSpPr>
        <p:spPr>
          <a:xfrm>
            <a:off x="7856" y="3563333"/>
            <a:ext cx="2436829" cy="3294668"/>
          </a:xfrm>
          <a:prstGeom prst="rect">
            <a:avLst/>
          </a:prstGeom>
          <a:solidFill>
            <a:srgbClr val="CB1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CFC59-33C7-5B09-932E-73D652D2CD6B}"/>
              </a:ext>
            </a:extLst>
          </p:cNvPr>
          <p:cNvSpPr/>
          <p:nvPr/>
        </p:nvSpPr>
        <p:spPr>
          <a:xfrm>
            <a:off x="4873657" y="3563333"/>
            <a:ext cx="2436829" cy="3294668"/>
          </a:xfrm>
          <a:prstGeom prst="rect">
            <a:avLst/>
          </a:prstGeom>
          <a:solidFill>
            <a:srgbClr val="00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7188FA-7997-5248-527D-94D6FB8428D7}"/>
              </a:ext>
            </a:extLst>
          </p:cNvPr>
          <p:cNvSpPr/>
          <p:nvPr/>
        </p:nvSpPr>
        <p:spPr>
          <a:xfrm>
            <a:off x="7310486" y="3563333"/>
            <a:ext cx="2436829" cy="3294668"/>
          </a:xfrm>
          <a:prstGeom prst="rect">
            <a:avLst/>
          </a:prstGeom>
          <a:solidFill>
            <a:srgbClr val="42AF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9A1732-31E3-9B12-6280-05A8261CBDA7}"/>
              </a:ext>
            </a:extLst>
          </p:cNvPr>
          <p:cNvSpPr/>
          <p:nvPr/>
        </p:nvSpPr>
        <p:spPr>
          <a:xfrm>
            <a:off x="9747315" y="3563333"/>
            <a:ext cx="2436829" cy="3294668"/>
          </a:xfrm>
          <a:prstGeom prst="rect">
            <a:avLst/>
          </a:prstGeom>
          <a:solidFill>
            <a:srgbClr val="074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875744-14B5-E9AD-DB72-64F3C6FA7A3B}"/>
              </a:ext>
            </a:extLst>
          </p:cNvPr>
          <p:cNvSpPr txBox="1"/>
          <p:nvPr/>
        </p:nvSpPr>
        <p:spPr>
          <a:xfrm>
            <a:off x="388463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POO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5E2504-7697-676F-3483-32A08BFDD334}"/>
              </a:ext>
            </a:extLst>
          </p:cNvPr>
          <p:cNvSpPr txBox="1"/>
          <p:nvPr/>
        </p:nvSpPr>
        <p:spPr>
          <a:xfrm>
            <a:off x="5254264" y="3871357"/>
            <a:ext cx="16756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Partes de una clase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31565-6118-C612-A2A0-9E1D360047F3}"/>
              </a:ext>
            </a:extLst>
          </p:cNvPr>
          <p:cNvSpPr txBox="1"/>
          <p:nvPr/>
        </p:nvSpPr>
        <p:spPr>
          <a:xfrm>
            <a:off x="7698951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Objeto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9F7E65-3F86-0AD2-7400-9FAE409ADA8D}"/>
              </a:ext>
            </a:extLst>
          </p:cNvPr>
          <p:cNvSpPr txBox="1"/>
          <p:nvPr/>
        </p:nvSpPr>
        <p:spPr>
          <a:xfrm>
            <a:off x="10030120" y="3871357"/>
            <a:ext cx="18712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 err="1">
                <a:solidFill>
                  <a:schemeClr val="bg1"/>
                </a:solidFill>
              </a:rPr>
              <a:t>Getters</a:t>
            </a:r>
            <a:r>
              <a:rPr lang="es-ES" sz="3200" dirty="0">
                <a:solidFill>
                  <a:schemeClr val="bg1"/>
                </a:solidFill>
              </a:rPr>
              <a:t> y </a:t>
            </a:r>
            <a:r>
              <a:rPr lang="es-ES" sz="3200" dirty="0" err="1">
                <a:solidFill>
                  <a:schemeClr val="bg1"/>
                </a:solidFill>
              </a:rPr>
              <a:t>Setters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510BD0-A85A-9210-93D2-949BFFAA9872}"/>
              </a:ext>
            </a:extLst>
          </p:cNvPr>
          <p:cNvGrpSpPr/>
          <p:nvPr/>
        </p:nvGrpSpPr>
        <p:grpSpPr>
          <a:xfrm>
            <a:off x="10322154" y="5720814"/>
            <a:ext cx="1287150" cy="914400"/>
            <a:chOff x="10133029" y="5709329"/>
            <a:chExt cx="1287150" cy="914400"/>
          </a:xfrm>
        </p:grpSpPr>
        <p:pic>
          <p:nvPicPr>
            <p:cNvPr id="19" name="Graphic 18" descr="Paint brush with solid fill">
              <a:extLst>
                <a:ext uri="{FF2B5EF4-FFF2-40B4-BE49-F238E27FC236}">
                  <a16:creationId xmlns:a16="http://schemas.microsoft.com/office/drawing/2014/main" id="{9B00BF6A-5BC4-D6CB-656A-DF322E5A8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505779" y="5709329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Magnifying glass with solid fill">
              <a:extLst>
                <a:ext uri="{FF2B5EF4-FFF2-40B4-BE49-F238E27FC236}">
                  <a16:creationId xmlns:a16="http://schemas.microsoft.com/office/drawing/2014/main" id="{773D80F3-D2B4-415B-D7DB-C3C7D6F77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33029" y="5709329"/>
              <a:ext cx="914400" cy="914400"/>
            </a:xfrm>
            <a:prstGeom prst="rect">
              <a:avLst/>
            </a:prstGeom>
          </p:spPr>
        </p:pic>
      </p:grpSp>
      <p:pic>
        <p:nvPicPr>
          <p:cNvPr id="23" name="Graphic 22" descr="Basic Shapes with solid fill">
            <a:extLst>
              <a:ext uri="{FF2B5EF4-FFF2-40B4-BE49-F238E27FC236}">
                <a16:creationId xmlns:a16="http://schemas.microsoft.com/office/drawing/2014/main" id="{751889F4-F08D-6BB2-D537-9B217B05C5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71700" y="5720814"/>
            <a:ext cx="914400" cy="9144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72EDC8F-F008-C5AE-F446-D029E692C716}"/>
              </a:ext>
            </a:extLst>
          </p:cNvPr>
          <p:cNvGrpSpPr/>
          <p:nvPr/>
        </p:nvGrpSpPr>
        <p:grpSpPr>
          <a:xfrm>
            <a:off x="5853296" y="5885696"/>
            <a:ext cx="477550" cy="584636"/>
            <a:chOff x="5704001" y="5863472"/>
            <a:chExt cx="658897" cy="806647"/>
          </a:xfrm>
          <a:noFill/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46AF13D-0632-72BC-2809-3D2F8D38BEE1}"/>
                </a:ext>
              </a:extLst>
            </p:cNvPr>
            <p:cNvSpPr/>
            <p:nvPr/>
          </p:nvSpPr>
          <p:spPr>
            <a:xfrm>
              <a:off x="5704001" y="5863472"/>
              <a:ext cx="658897" cy="17910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CF3A307-D2E4-B543-34C8-DB34959EAB64}"/>
                </a:ext>
              </a:extLst>
            </p:cNvPr>
            <p:cNvSpPr/>
            <p:nvPr/>
          </p:nvSpPr>
          <p:spPr>
            <a:xfrm>
              <a:off x="5704001" y="6042581"/>
              <a:ext cx="658897" cy="31376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C06583-02B5-707D-ADAD-6A530F530B9A}"/>
                </a:ext>
              </a:extLst>
            </p:cNvPr>
            <p:cNvSpPr/>
            <p:nvPr/>
          </p:nvSpPr>
          <p:spPr>
            <a:xfrm>
              <a:off x="5704001" y="6356350"/>
              <a:ext cx="658897" cy="31376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B4F47F-3DBC-C4FA-19E1-DDAE8AD1A44C}"/>
              </a:ext>
            </a:extLst>
          </p:cNvPr>
          <p:cNvGrpSpPr/>
          <p:nvPr/>
        </p:nvGrpSpPr>
        <p:grpSpPr>
          <a:xfrm>
            <a:off x="956093" y="5816183"/>
            <a:ext cx="554416" cy="723662"/>
            <a:chOff x="1136518" y="5450895"/>
            <a:chExt cx="554416" cy="72366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24F090-28E4-512A-F169-A799AE3EB285}"/>
                </a:ext>
              </a:extLst>
            </p:cNvPr>
            <p:cNvSpPr/>
            <p:nvPr/>
          </p:nvSpPr>
          <p:spPr>
            <a:xfrm>
              <a:off x="1136518" y="5450895"/>
              <a:ext cx="554416" cy="723662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CA15FFD-A2DF-E6FA-FAD1-F898F2610F00}"/>
                </a:ext>
              </a:extLst>
            </p:cNvPr>
            <p:cNvSpPr/>
            <p:nvPr/>
          </p:nvSpPr>
          <p:spPr>
            <a:xfrm>
              <a:off x="1230818" y="5548010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90C4293-DE1D-801C-BF4C-F85EB2321AD9}"/>
                </a:ext>
              </a:extLst>
            </p:cNvPr>
            <p:cNvSpPr/>
            <p:nvPr/>
          </p:nvSpPr>
          <p:spPr>
            <a:xfrm>
              <a:off x="1312418" y="5632366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2AFB9E-A6C3-2977-DDFF-24EF9FCA06A4}"/>
                </a:ext>
              </a:extLst>
            </p:cNvPr>
            <p:cNvSpPr/>
            <p:nvPr/>
          </p:nvSpPr>
          <p:spPr>
            <a:xfrm>
              <a:off x="1383623" y="5716722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C9022A9-08B1-9688-209E-A04A5BE49333}"/>
                </a:ext>
              </a:extLst>
            </p:cNvPr>
            <p:cNvSpPr/>
            <p:nvPr/>
          </p:nvSpPr>
          <p:spPr>
            <a:xfrm>
              <a:off x="1296407" y="5801078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3FDBCC8-CC51-DDC0-3ED3-402C82F6A157}"/>
                </a:ext>
              </a:extLst>
            </p:cNvPr>
            <p:cNvSpPr/>
            <p:nvPr/>
          </p:nvSpPr>
          <p:spPr>
            <a:xfrm>
              <a:off x="1398684" y="5885434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F488B14-5791-2FA8-51D2-BCC7A3485DE6}"/>
                </a:ext>
              </a:extLst>
            </p:cNvPr>
            <p:cNvSpPr/>
            <p:nvPr/>
          </p:nvSpPr>
          <p:spPr>
            <a:xfrm>
              <a:off x="1296407" y="5959645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50FEEE8-6591-C6C8-9B19-127A711EF0E0}"/>
                </a:ext>
              </a:extLst>
            </p:cNvPr>
            <p:cNvSpPr/>
            <p:nvPr/>
          </p:nvSpPr>
          <p:spPr>
            <a:xfrm>
              <a:off x="1230818" y="6033857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B96AAF0C-D60E-84F9-90C0-5F366542B612}"/>
              </a:ext>
            </a:extLst>
          </p:cNvPr>
          <p:cNvSpPr/>
          <p:nvPr/>
        </p:nvSpPr>
        <p:spPr>
          <a:xfrm>
            <a:off x="7856" y="3563332"/>
            <a:ext cx="12184144" cy="3294668"/>
          </a:xfrm>
          <a:prstGeom prst="rect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BCFE7E-000D-1656-3848-5709C5B0B8D0}"/>
              </a:ext>
            </a:extLst>
          </p:cNvPr>
          <p:cNvSpPr/>
          <p:nvPr/>
        </p:nvSpPr>
        <p:spPr>
          <a:xfrm>
            <a:off x="2436828" y="3091991"/>
            <a:ext cx="2436829" cy="3766009"/>
          </a:xfrm>
          <a:prstGeom prst="rect">
            <a:avLst/>
          </a:prstGeom>
          <a:solidFill>
            <a:srgbClr val="FCB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E179AA-5F25-B4E7-00F7-D0E6AF3188AF}"/>
              </a:ext>
            </a:extLst>
          </p:cNvPr>
          <p:cNvSpPr txBox="1"/>
          <p:nvPr/>
        </p:nvSpPr>
        <p:spPr>
          <a:xfrm>
            <a:off x="2817435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Clase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25" name="Graphic 24" descr="Blueprint with solid fill">
            <a:extLst>
              <a:ext uri="{FF2B5EF4-FFF2-40B4-BE49-F238E27FC236}">
                <a16:creationId xmlns:a16="http://schemas.microsoft.com/office/drawing/2014/main" id="{25EC7358-1ED1-17C9-D1E8-4218B293D7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90579" y="572081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1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AC83-667F-E55A-0E0C-E15000D84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719" y="429862"/>
            <a:ext cx="10609082" cy="2784677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Dudas de la clase anterior</a:t>
            </a:r>
            <a:br>
              <a:rPr lang="es-ES" dirty="0">
                <a:solidFill>
                  <a:schemeClr val="bg1"/>
                </a:solidFill>
              </a:rPr>
            </a:b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rgbClr val="697F9F"/>
                </a:solidFill>
              </a:rPr>
              <a:t>Programación Orientada a Objetos</a:t>
            </a:r>
            <a:br>
              <a:rPr lang="es-E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064773-C720-4999-A16A-62B12387E1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E535A0-5E59-E64E-A4C9-4E9616DD6291}"/>
              </a:ext>
            </a:extLst>
          </p:cNvPr>
          <p:cNvSpPr/>
          <p:nvPr/>
        </p:nvSpPr>
        <p:spPr>
          <a:xfrm>
            <a:off x="7856" y="3563333"/>
            <a:ext cx="2436829" cy="3294668"/>
          </a:xfrm>
          <a:prstGeom prst="rect">
            <a:avLst/>
          </a:prstGeom>
          <a:solidFill>
            <a:srgbClr val="CB1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BCFE7E-000D-1656-3848-5709C5B0B8D0}"/>
              </a:ext>
            </a:extLst>
          </p:cNvPr>
          <p:cNvSpPr/>
          <p:nvPr/>
        </p:nvSpPr>
        <p:spPr>
          <a:xfrm>
            <a:off x="2436828" y="3563333"/>
            <a:ext cx="2436829" cy="3294668"/>
          </a:xfrm>
          <a:prstGeom prst="rect">
            <a:avLst/>
          </a:prstGeom>
          <a:solidFill>
            <a:srgbClr val="FCB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7188FA-7997-5248-527D-94D6FB8428D7}"/>
              </a:ext>
            </a:extLst>
          </p:cNvPr>
          <p:cNvSpPr/>
          <p:nvPr/>
        </p:nvSpPr>
        <p:spPr>
          <a:xfrm>
            <a:off x="7310486" y="3563333"/>
            <a:ext cx="2436829" cy="3294668"/>
          </a:xfrm>
          <a:prstGeom prst="rect">
            <a:avLst/>
          </a:prstGeom>
          <a:solidFill>
            <a:srgbClr val="42AF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9A1732-31E3-9B12-6280-05A8261CBDA7}"/>
              </a:ext>
            </a:extLst>
          </p:cNvPr>
          <p:cNvSpPr/>
          <p:nvPr/>
        </p:nvSpPr>
        <p:spPr>
          <a:xfrm>
            <a:off x="9747315" y="3563333"/>
            <a:ext cx="2436829" cy="3294668"/>
          </a:xfrm>
          <a:prstGeom prst="rect">
            <a:avLst/>
          </a:prstGeom>
          <a:solidFill>
            <a:srgbClr val="074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875744-14B5-E9AD-DB72-64F3C6FA7A3B}"/>
              </a:ext>
            </a:extLst>
          </p:cNvPr>
          <p:cNvSpPr txBox="1"/>
          <p:nvPr/>
        </p:nvSpPr>
        <p:spPr>
          <a:xfrm>
            <a:off x="388463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POO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E179AA-5F25-B4E7-00F7-D0E6AF3188AF}"/>
              </a:ext>
            </a:extLst>
          </p:cNvPr>
          <p:cNvSpPr txBox="1"/>
          <p:nvPr/>
        </p:nvSpPr>
        <p:spPr>
          <a:xfrm>
            <a:off x="2817435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Clase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31565-6118-C612-A2A0-9E1D360047F3}"/>
              </a:ext>
            </a:extLst>
          </p:cNvPr>
          <p:cNvSpPr txBox="1"/>
          <p:nvPr/>
        </p:nvSpPr>
        <p:spPr>
          <a:xfrm>
            <a:off x="7698951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Objeto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9F7E65-3F86-0AD2-7400-9FAE409ADA8D}"/>
              </a:ext>
            </a:extLst>
          </p:cNvPr>
          <p:cNvSpPr txBox="1"/>
          <p:nvPr/>
        </p:nvSpPr>
        <p:spPr>
          <a:xfrm>
            <a:off x="10030120" y="3871357"/>
            <a:ext cx="18712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 err="1">
                <a:solidFill>
                  <a:schemeClr val="bg1"/>
                </a:solidFill>
              </a:rPr>
              <a:t>Getters</a:t>
            </a:r>
            <a:r>
              <a:rPr lang="es-ES" sz="3200" dirty="0">
                <a:solidFill>
                  <a:schemeClr val="bg1"/>
                </a:solidFill>
              </a:rPr>
              <a:t> y </a:t>
            </a:r>
            <a:r>
              <a:rPr lang="es-ES" sz="3200" dirty="0" err="1">
                <a:solidFill>
                  <a:schemeClr val="bg1"/>
                </a:solidFill>
              </a:rPr>
              <a:t>Setters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510BD0-A85A-9210-93D2-949BFFAA9872}"/>
              </a:ext>
            </a:extLst>
          </p:cNvPr>
          <p:cNvGrpSpPr/>
          <p:nvPr/>
        </p:nvGrpSpPr>
        <p:grpSpPr>
          <a:xfrm>
            <a:off x="10322154" y="5720814"/>
            <a:ext cx="1287150" cy="914400"/>
            <a:chOff x="10133029" y="5709329"/>
            <a:chExt cx="1287150" cy="914400"/>
          </a:xfrm>
        </p:grpSpPr>
        <p:pic>
          <p:nvPicPr>
            <p:cNvPr id="19" name="Graphic 18" descr="Paint brush with solid fill">
              <a:extLst>
                <a:ext uri="{FF2B5EF4-FFF2-40B4-BE49-F238E27FC236}">
                  <a16:creationId xmlns:a16="http://schemas.microsoft.com/office/drawing/2014/main" id="{9B00BF6A-5BC4-D6CB-656A-DF322E5A8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505779" y="5709329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Magnifying glass with solid fill">
              <a:extLst>
                <a:ext uri="{FF2B5EF4-FFF2-40B4-BE49-F238E27FC236}">
                  <a16:creationId xmlns:a16="http://schemas.microsoft.com/office/drawing/2014/main" id="{773D80F3-D2B4-415B-D7DB-C3C7D6F77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33029" y="5709329"/>
              <a:ext cx="914400" cy="914400"/>
            </a:xfrm>
            <a:prstGeom prst="rect">
              <a:avLst/>
            </a:prstGeom>
          </p:spPr>
        </p:pic>
      </p:grpSp>
      <p:pic>
        <p:nvPicPr>
          <p:cNvPr id="23" name="Graphic 22" descr="Basic Shapes with solid fill">
            <a:extLst>
              <a:ext uri="{FF2B5EF4-FFF2-40B4-BE49-F238E27FC236}">
                <a16:creationId xmlns:a16="http://schemas.microsoft.com/office/drawing/2014/main" id="{751889F4-F08D-6BB2-D537-9B217B05C5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71700" y="5720814"/>
            <a:ext cx="914400" cy="914400"/>
          </a:xfrm>
          <a:prstGeom prst="rect">
            <a:avLst/>
          </a:prstGeom>
        </p:spPr>
      </p:pic>
      <p:pic>
        <p:nvPicPr>
          <p:cNvPr id="25" name="Graphic 24" descr="Blueprint with solid fill">
            <a:extLst>
              <a:ext uri="{FF2B5EF4-FFF2-40B4-BE49-F238E27FC236}">
                <a16:creationId xmlns:a16="http://schemas.microsoft.com/office/drawing/2014/main" id="{25EC7358-1ED1-17C9-D1E8-4218B293D7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90579" y="5720814"/>
            <a:ext cx="914400" cy="914400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63B4F47F-3DBC-C4FA-19E1-DDAE8AD1A44C}"/>
              </a:ext>
            </a:extLst>
          </p:cNvPr>
          <p:cNvGrpSpPr/>
          <p:nvPr/>
        </p:nvGrpSpPr>
        <p:grpSpPr>
          <a:xfrm>
            <a:off x="956093" y="5816183"/>
            <a:ext cx="554416" cy="723662"/>
            <a:chOff x="1136518" y="5450895"/>
            <a:chExt cx="554416" cy="72366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24F090-28E4-512A-F169-A799AE3EB285}"/>
                </a:ext>
              </a:extLst>
            </p:cNvPr>
            <p:cNvSpPr/>
            <p:nvPr/>
          </p:nvSpPr>
          <p:spPr>
            <a:xfrm>
              <a:off x="1136518" y="5450895"/>
              <a:ext cx="554416" cy="723662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CA15FFD-A2DF-E6FA-FAD1-F898F2610F00}"/>
                </a:ext>
              </a:extLst>
            </p:cNvPr>
            <p:cNvSpPr/>
            <p:nvPr/>
          </p:nvSpPr>
          <p:spPr>
            <a:xfrm>
              <a:off x="1230818" y="5548010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90C4293-DE1D-801C-BF4C-F85EB2321AD9}"/>
                </a:ext>
              </a:extLst>
            </p:cNvPr>
            <p:cNvSpPr/>
            <p:nvPr/>
          </p:nvSpPr>
          <p:spPr>
            <a:xfrm>
              <a:off x="1312418" y="5632366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2AFB9E-A6C3-2977-DDFF-24EF9FCA06A4}"/>
                </a:ext>
              </a:extLst>
            </p:cNvPr>
            <p:cNvSpPr/>
            <p:nvPr/>
          </p:nvSpPr>
          <p:spPr>
            <a:xfrm>
              <a:off x="1383623" y="5716722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C9022A9-08B1-9688-209E-A04A5BE49333}"/>
                </a:ext>
              </a:extLst>
            </p:cNvPr>
            <p:cNvSpPr/>
            <p:nvPr/>
          </p:nvSpPr>
          <p:spPr>
            <a:xfrm>
              <a:off x="1296407" y="5801078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3FDBCC8-CC51-DDC0-3ED3-402C82F6A157}"/>
                </a:ext>
              </a:extLst>
            </p:cNvPr>
            <p:cNvSpPr/>
            <p:nvPr/>
          </p:nvSpPr>
          <p:spPr>
            <a:xfrm>
              <a:off x="1398684" y="5885434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F488B14-5791-2FA8-51D2-BCC7A3485DE6}"/>
                </a:ext>
              </a:extLst>
            </p:cNvPr>
            <p:cNvSpPr/>
            <p:nvPr/>
          </p:nvSpPr>
          <p:spPr>
            <a:xfrm>
              <a:off x="1296407" y="5959645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50FEEE8-6591-C6C8-9B19-127A711EF0E0}"/>
                </a:ext>
              </a:extLst>
            </p:cNvPr>
            <p:cNvSpPr/>
            <p:nvPr/>
          </p:nvSpPr>
          <p:spPr>
            <a:xfrm>
              <a:off x="1230818" y="6033857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B96AAF0C-D60E-84F9-90C0-5F366542B612}"/>
              </a:ext>
            </a:extLst>
          </p:cNvPr>
          <p:cNvSpPr/>
          <p:nvPr/>
        </p:nvSpPr>
        <p:spPr>
          <a:xfrm>
            <a:off x="7856" y="3563332"/>
            <a:ext cx="12184144" cy="3294668"/>
          </a:xfrm>
          <a:prstGeom prst="rect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CFC59-33C7-5B09-932E-73D652D2CD6B}"/>
              </a:ext>
            </a:extLst>
          </p:cNvPr>
          <p:cNvSpPr/>
          <p:nvPr/>
        </p:nvSpPr>
        <p:spPr>
          <a:xfrm>
            <a:off x="4873657" y="3091992"/>
            <a:ext cx="2436829" cy="3766009"/>
          </a:xfrm>
          <a:prstGeom prst="rect">
            <a:avLst/>
          </a:prstGeom>
          <a:solidFill>
            <a:srgbClr val="00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5E2504-7697-676F-3483-32A08BFDD334}"/>
              </a:ext>
            </a:extLst>
          </p:cNvPr>
          <p:cNvSpPr txBox="1"/>
          <p:nvPr/>
        </p:nvSpPr>
        <p:spPr>
          <a:xfrm>
            <a:off x="5254264" y="3871357"/>
            <a:ext cx="16756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Partes de una clase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72EDC8F-F008-C5AE-F446-D029E692C716}"/>
              </a:ext>
            </a:extLst>
          </p:cNvPr>
          <p:cNvGrpSpPr/>
          <p:nvPr/>
        </p:nvGrpSpPr>
        <p:grpSpPr>
          <a:xfrm>
            <a:off x="5853296" y="5885696"/>
            <a:ext cx="477550" cy="584636"/>
            <a:chOff x="5704001" y="5863472"/>
            <a:chExt cx="658897" cy="806647"/>
          </a:xfrm>
          <a:noFill/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46AF13D-0632-72BC-2809-3D2F8D38BEE1}"/>
                </a:ext>
              </a:extLst>
            </p:cNvPr>
            <p:cNvSpPr/>
            <p:nvPr/>
          </p:nvSpPr>
          <p:spPr>
            <a:xfrm>
              <a:off x="5704001" y="5863472"/>
              <a:ext cx="658897" cy="17910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CF3A307-D2E4-B543-34C8-DB34959EAB64}"/>
                </a:ext>
              </a:extLst>
            </p:cNvPr>
            <p:cNvSpPr/>
            <p:nvPr/>
          </p:nvSpPr>
          <p:spPr>
            <a:xfrm>
              <a:off x="5704001" y="6042581"/>
              <a:ext cx="658897" cy="31376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C06583-02B5-707D-ADAD-6A530F530B9A}"/>
                </a:ext>
              </a:extLst>
            </p:cNvPr>
            <p:cNvSpPr/>
            <p:nvPr/>
          </p:nvSpPr>
          <p:spPr>
            <a:xfrm>
              <a:off x="5704001" y="6356350"/>
              <a:ext cx="658897" cy="31376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393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AC83-667F-E55A-0E0C-E15000D84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719" y="429862"/>
            <a:ext cx="10609082" cy="2784677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Dudas de la clase anterior</a:t>
            </a:r>
            <a:br>
              <a:rPr lang="es-ES" dirty="0">
                <a:solidFill>
                  <a:schemeClr val="bg1"/>
                </a:solidFill>
              </a:rPr>
            </a:b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rgbClr val="697F9F"/>
                </a:solidFill>
              </a:rPr>
              <a:t>Programación Orientada a Objetos</a:t>
            </a:r>
            <a:br>
              <a:rPr lang="es-E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064773-C720-4999-A16A-62B12387E1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E535A0-5E59-E64E-A4C9-4E9616DD6291}"/>
              </a:ext>
            </a:extLst>
          </p:cNvPr>
          <p:cNvSpPr/>
          <p:nvPr/>
        </p:nvSpPr>
        <p:spPr>
          <a:xfrm>
            <a:off x="7856" y="3563333"/>
            <a:ext cx="2436829" cy="3294668"/>
          </a:xfrm>
          <a:prstGeom prst="rect">
            <a:avLst/>
          </a:prstGeom>
          <a:solidFill>
            <a:srgbClr val="CB1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BCFE7E-000D-1656-3848-5709C5B0B8D0}"/>
              </a:ext>
            </a:extLst>
          </p:cNvPr>
          <p:cNvSpPr/>
          <p:nvPr/>
        </p:nvSpPr>
        <p:spPr>
          <a:xfrm>
            <a:off x="2436828" y="3563333"/>
            <a:ext cx="2436829" cy="3294668"/>
          </a:xfrm>
          <a:prstGeom prst="rect">
            <a:avLst/>
          </a:prstGeom>
          <a:solidFill>
            <a:srgbClr val="FCB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CFC59-33C7-5B09-932E-73D652D2CD6B}"/>
              </a:ext>
            </a:extLst>
          </p:cNvPr>
          <p:cNvSpPr/>
          <p:nvPr/>
        </p:nvSpPr>
        <p:spPr>
          <a:xfrm>
            <a:off x="4873657" y="3563333"/>
            <a:ext cx="2436829" cy="3294668"/>
          </a:xfrm>
          <a:prstGeom prst="rect">
            <a:avLst/>
          </a:prstGeom>
          <a:solidFill>
            <a:srgbClr val="00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9A1732-31E3-9B12-6280-05A8261CBDA7}"/>
              </a:ext>
            </a:extLst>
          </p:cNvPr>
          <p:cNvSpPr/>
          <p:nvPr/>
        </p:nvSpPr>
        <p:spPr>
          <a:xfrm>
            <a:off x="9747315" y="3563333"/>
            <a:ext cx="2436829" cy="3294668"/>
          </a:xfrm>
          <a:prstGeom prst="rect">
            <a:avLst/>
          </a:prstGeom>
          <a:solidFill>
            <a:srgbClr val="074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875744-14B5-E9AD-DB72-64F3C6FA7A3B}"/>
              </a:ext>
            </a:extLst>
          </p:cNvPr>
          <p:cNvSpPr txBox="1"/>
          <p:nvPr/>
        </p:nvSpPr>
        <p:spPr>
          <a:xfrm>
            <a:off x="388463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POO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E179AA-5F25-B4E7-00F7-D0E6AF3188AF}"/>
              </a:ext>
            </a:extLst>
          </p:cNvPr>
          <p:cNvSpPr txBox="1"/>
          <p:nvPr/>
        </p:nvSpPr>
        <p:spPr>
          <a:xfrm>
            <a:off x="2817435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Clase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5E2504-7697-676F-3483-32A08BFDD334}"/>
              </a:ext>
            </a:extLst>
          </p:cNvPr>
          <p:cNvSpPr txBox="1"/>
          <p:nvPr/>
        </p:nvSpPr>
        <p:spPr>
          <a:xfrm>
            <a:off x="5254264" y="3871357"/>
            <a:ext cx="16756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Partes de una clase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9F7E65-3F86-0AD2-7400-9FAE409ADA8D}"/>
              </a:ext>
            </a:extLst>
          </p:cNvPr>
          <p:cNvSpPr txBox="1"/>
          <p:nvPr/>
        </p:nvSpPr>
        <p:spPr>
          <a:xfrm>
            <a:off x="10030120" y="3871357"/>
            <a:ext cx="18712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 err="1">
                <a:solidFill>
                  <a:schemeClr val="bg1"/>
                </a:solidFill>
              </a:rPr>
              <a:t>Getters</a:t>
            </a:r>
            <a:r>
              <a:rPr lang="es-ES" sz="3200" dirty="0">
                <a:solidFill>
                  <a:schemeClr val="bg1"/>
                </a:solidFill>
              </a:rPr>
              <a:t> y </a:t>
            </a:r>
            <a:r>
              <a:rPr lang="es-ES" sz="3200" dirty="0" err="1">
                <a:solidFill>
                  <a:schemeClr val="bg1"/>
                </a:solidFill>
              </a:rPr>
              <a:t>Setters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510BD0-A85A-9210-93D2-949BFFAA9872}"/>
              </a:ext>
            </a:extLst>
          </p:cNvPr>
          <p:cNvGrpSpPr/>
          <p:nvPr/>
        </p:nvGrpSpPr>
        <p:grpSpPr>
          <a:xfrm>
            <a:off x="10322154" y="5720814"/>
            <a:ext cx="1287150" cy="914400"/>
            <a:chOff x="10133029" y="5709329"/>
            <a:chExt cx="1287150" cy="914400"/>
          </a:xfrm>
        </p:grpSpPr>
        <p:pic>
          <p:nvPicPr>
            <p:cNvPr id="19" name="Graphic 18" descr="Paint brush with solid fill">
              <a:extLst>
                <a:ext uri="{FF2B5EF4-FFF2-40B4-BE49-F238E27FC236}">
                  <a16:creationId xmlns:a16="http://schemas.microsoft.com/office/drawing/2014/main" id="{9B00BF6A-5BC4-D6CB-656A-DF322E5A8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505779" y="5709329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Magnifying glass with solid fill">
              <a:extLst>
                <a:ext uri="{FF2B5EF4-FFF2-40B4-BE49-F238E27FC236}">
                  <a16:creationId xmlns:a16="http://schemas.microsoft.com/office/drawing/2014/main" id="{773D80F3-D2B4-415B-D7DB-C3C7D6F77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33029" y="5709329"/>
              <a:ext cx="914400" cy="914400"/>
            </a:xfrm>
            <a:prstGeom prst="rect">
              <a:avLst/>
            </a:prstGeom>
          </p:spPr>
        </p:pic>
      </p:grpSp>
      <p:pic>
        <p:nvPicPr>
          <p:cNvPr id="25" name="Graphic 24" descr="Blueprint with solid fill">
            <a:extLst>
              <a:ext uri="{FF2B5EF4-FFF2-40B4-BE49-F238E27FC236}">
                <a16:creationId xmlns:a16="http://schemas.microsoft.com/office/drawing/2014/main" id="{25EC7358-1ED1-17C9-D1E8-4218B293D7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90579" y="5720814"/>
            <a:ext cx="914400" cy="9144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72EDC8F-F008-C5AE-F446-D029E692C716}"/>
              </a:ext>
            </a:extLst>
          </p:cNvPr>
          <p:cNvGrpSpPr/>
          <p:nvPr/>
        </p:nvGrpSpPr>
        <p:grpSpPr>
          <a:xfrm>
            <a:off x="5853296" y="5885696"/>
            <a:ext cx="477550" cy="584636"/>
            <a:chOff x="5704001" y="5863472"/>
            <a:chExt cx="658897" cy="806647"/>
          </a:xfrm>
          <a:noFill/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46AF13D-0632-72BC-2809-3D2F8D38BEE1}"/>
                </a:ext>
              </a:extLst>
            </p:cNvPr>
            <p:cNvSpPr/>
            <p:nvPr/>
          </p:nvSpPr>
          <p:spPr>
            <a:xfrm>
              <a:off x="5704001" y="5863472"/>
              <a:ext cx="658897" cy="17910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CF3A307-D2E4-B543-34C8-DB34959EAB64}"/>
                </a:ext>
              </a:extLst>
            </p:cNvPr>
            <p:cNvSpPr/>
            <p:nvPr/>
          </p:nvSpPr>
          <p:spPr>
            <a:xfrm>
              <a:off x="5704001" y="6042581"/>
              <a:ext cx="658897" cy="31376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C06583-02B5-707D-ADAD-6A530F530B9A}"/>
                </a:ext>
              </a:extLst>
            </p:cNvPr>
            <p:cNvSpPr/>
            <p:nvPr/>
          </p:nvSpPr>
          <p:spPr>
            <a:xfrm>
              <a:off x="5704001" y="6356350"/>
              <a:ext cx="658897" cy="31376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B4F47F-3DBC-C4FA-19E1-DDAE8AD1A44C}"/>
              </a:ext>
            </a:extLst>
          </p:cNvPr>
          <p:cNvGrpSpPr/>
          <p:nvPr/>
        </p:nvGrpSpPr>
        <p:grpSpPr>
          <a:xfrm>
            <a:off x="956093" y="5816183"/>
            <a:ext cx="554416" cy="723662"/>
            <a:chOff x="1136518" y="5450895"/>
            <a:chExt cx="554416" cy="72366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24F090-28E4-512A-F169-A799AE3EB285}"/>
                </a:ext>
              </a:extLst>
            </p:cNvPr>
            <p:cNvSpPr/>
            <p:nvPr/>
          </p:nvSpPr>
          <p:spPr>
            <a:xfrm>
              <a:off x="1136518" y="5450895"/>
              <a:ext cx="554416" cy="723662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CA15FFD-A2DF-E6FA-FAD1-F898F2610F00}"/>
                </a:ext>
              </a:extLst>
            </p:cNvPr>
            <p:cNvSpPr/>
            <p:nvPr/>
          </p:nvSpPr>
          <p:spPr>
            <a:xfrm>
              <a:off x="1230818" y="5548010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90C4293-DE1D-801C-BF4C-F85EB2321AD9}"/>
                </a:ext>
              </a:extLst>
            </p:cNvPr>
            <p:cNvSpPr/>
            <p:nvPr/>
          </p:nvSpPr>
          <p:spPr>
            <a:xfrm>
              <a:off x="1312418" y="5632366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2AFB9E-A6C3-2977-DDFF-24EF9FCA06A4}"/>
                </a:ext>
              </a:extLst>
            </p:cNvPr>
            <p:cNvSpPr/>
            <p:nvPr/>
          </p:nvSpPr>
          <p:spPr>
            <a:xfrm>
              <a:off x="1383623" y="5716722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C9022A9-08B1-9688-209E-A04A5BE49333}"/>
                </a:ext>
              </a:extLst>
            </p:cNvPr>
            <p:cNvSpPr/>
            <p:nvPr/>
          </p:nvSpPr>
          <p:spPr>
            <a:xfrm>
              <a:off x="1296407" y="5801078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3FDBCC8-CC51-DDC0-3ED3-402C82F6A157}"/>
                </a:ext>
              </a:extLst>
            </p:cNvPr>
            <p:cNvSpPr/>
            <p:nvPr/>
          </p:nvSpPr>
          <p:spPr>
            <a:xfrm>
              <a:off x="1398684" y="5885434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F488B14-5791-2FA8-51D2-BCC7A3485DE6}"/>
                </a:ext>
              </a:extLst>
            </p:cNvPr>
            <p:cNvSpPr/>
            <p:nvPr/>
          </p:nvSpPr>
          <p:spPr>
            <a:xfrm>
              <a:off x="1296407" y="5959645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50FEEE8-6591-C6C8-9B19-127A711EF0E0}"/>
                </a:ext>
              </a:extLst>
            </p:cNvPr>
            <p:cNvSpPr/>
            <p:nvPr/>
          </p:nvSpPr>
          <p:spPr>
            <a:xfrm>
              <a:off x="1230818" y="6033857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B96AAF0C-D60E-84F9-90C0-5F366542B612}"/>
              </a:ext>
            </a:extLst>
          </p:cNvPr>
          <p:cNvSpPr/>
          <p:nvPr/>
        </p:nvSpPr>
        <p:spPr>
          <a:xfrm>
            <a:off x="7856" y="3563332"/>
            <a:ext cx="12184144" cy="3294668"/>
          </a:xfrm>
          <a:prstGeom prst="rect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7188FA-7997-5248-527D-94D6FB8428D7}"/>
              </a:ext>
            </a:extLst>
          </p:cNvPr>
          <p:cNvSpPr/>
          <p:nvPr/>
        </p:nvSpPr>
        <p:spPr>
          <a:xfrm>
            <a:off x="7310486" y="3073138"/>
            <a:ext cx="2436829" cy="3784863"/>
          </a:xfrm>
          <a:prstGeom prst="rect">
            <a:avLst/>
          </a:prstGeom>
          <a:solidFill>
            <a:srgbClr val="42AF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31565-6118-C612-A2A0-9E1D360047F3}"/>
              </a:ext>
            </a:extLst>
          </p:cNvPr>
          <p:cNvSpPr txBox="1"/>
          <p:nvPr/>
        </p:nvSpPr>
        <p:spPr>
          <a:xfrm>
            <a:off x="7698951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Objeto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23" name="Graphic 22" descr="Basic Shapes with solid fill">
            <a:extLst>
              <a:ext uri="{FF2B5EF4-FFF2-40B4-BE49-F238E27FC236}">
                <a16:creationId xmlns:a16="http://schemas.microsoft.com/office/drawing/2014/main" id="{751889F4-F08D-6BB2-D537-9B217B05C5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71700" y="572081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9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AC83-667F-E55A-0E0C-E15000D84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719" y="429862"/>
            <a:ext cx="10609082" cy="2784677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Dudas de la clase anterior</a:t>
            </a:r>
            <a:br>
              <a:rPr lang="es-ES" dirty="0">
                <a:solidFill>
                  <a:schemeClr val="bg1"/>
                </a:solidFill>
              </a:rPr>
            </a:b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rgbClr val="697F9F"/>
                </a:solidFill>
              </a:rPr>
              <a:t>Programación Orientada a Objetos</a:t>
            </a:r>
            <a:br>
              <a:rPr lang="es-E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064773-C720-4999-A16A-62B12387E1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E535A0-5E59-E64E-A4C9-4E9616DD6291}"/>
              </a:ext>
            </a:extLst>
          </p:cNvPr>
          <p:cNvSpPr/>
          <p:nvPr/>
        </p:nvSpPr>
        <p:spPr>
          <a:xfrm>
            <a:off x="7856" y="3563333"/>
            <a:ext cx="2436829" cy="3294668"/>
          </a:xfrm>
          <a:prstGeom prst="rect">
            <a:avLst/>
          </a:prstGeom>
          <a:solidFill>
            <a:srgbClr val="CB1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BCFE7E-000D-1656-3848-5709C5B0B8D0}"/>
              </a:ext>
            </a:extLst>
          </p:cNvPr>
          <p:cNvSpPr/>
          <p:nvPr/>
        </p:nvSpPr>
        <p:spPr>
          <a:xfrm>
            <a:off x="2436828" y="3563333"/>
            <a:ext cx="2436829" cy="3294668"/>
          </a:xfrm>
          <a:prstGeom prst="rect">
            <a:avLst/>
          </a:prstGeom>
          <a:solidFill>
            <a:srgbClr val="FCB4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CFC59-33C7-5B09-932E-73D652D2CD6B}"/>
              </a:ext>
            </a:extLst>
          </p:cNvPr>
          <p:cNvSpPr/>
          <p:nvPr/>
        </p:nvSpPr>
        <p:spPr>
          <a:xfrm>
            <a:off x="4873657" y="3563333"/>
            <a:ext cx="2436829" cy="3294668"/>
          </a:xfrm>
          <a:prstGeom prst="rect">
            <a:avLst/>
          </a:prstGeom>
          <a:solidFill>
            <a:srgbClr val="00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7188FA-7997-5248-527D-94D6FB8428D7}"/>
              </a:ext>
            </a:extLst>
          </p:cNvPr>
          <p:cNvSpPr/>
          <p:nvPr/>
        </p:nvSpPr>
        <p:spPr>
          <a:xfrm>
            <a:off x="7310486" y="3563333"/>
            <a:ext cx="2436829" cy="3294668"/>
          </a:xfrm>
          <a:prstGeom prst="rect">
            <a:avLst/>
          </a:prstGeom>
          <a:solidFill>
            <a:srgbClr val="42AF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875744-14B5-E9AD-DB72-64F3C6FA7A3B}"/>
              </a:ext>
            </a:extLst>
          </p:cNvPr>
          <p:cNvSpPr txBox="1"/>
          <p:nvPr/>
        </p:nvSpPr>
        <p:spPr>
          <a:xfrm>
            <a:off x="388463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POO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E179AA-5F25-B4E7-00F7-D0E6AF3188AF}"/>
              </a:ext>
            </a:extLst>
          </p:cNvPr>
          <p:cNvSpPr txBox="1"/>
          <p:nvPr/>
        </p:nvSpPr>
        <p:spPr>
          <a:xfrm>
            <a:off x="2817435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Clase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5E2504-7697-676F-3483-32A08BFDD334}"/>
              </a:ext>
            </a:extLst>
          </p:cNvPr>
          <p:cNvSpPr txBox="1"/>
          <p:nvPr/>
        </p:nvSpPr>
        <p:spPr>
          <a:xfrm>
            <a:off x="5254264" y="3871357"/>
            <a:ext cx="16756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Partes de una clase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31565-6118-C612-A2A0-9E1D360047F3}"/>
              </a:ext>
            </a:extLst>
          </p:cNvPr>
          <p:cNvSpPr txBox="1"/>
          <p:nvPr/>
        </p:nvSpPr>
        <p:spPr>
          <a:xfrm>
            <a:off x="7698951" y="3871357"/>
            <a:ext cx="16756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Objeto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23" name="Graphic 22" descr="Basic Shapes with solid fill">
            <a:extLst>
              <a:ext uri="{FF2B5EF4-FFF2-40B4-BE49-F238E27FC236}">
                <a16:creationId xmlns:a16="http://schemas.microsoft.com/office/drawing/2014/main" id="{751889F4-F08D-6BB2-D537-9B217B05C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1700" y="5720814"/>
            <a:ext cx="914400" cy="914400"/>
          </a:xfrm>
          <a:prstGeom prst="rect">
            <a:avLst/>
          </a:prstGeom>
        </p:spPr>
      </p:pic>
      <p:pic>
        <p:nvPicPr>
          <p:cNvPr id="25" name="Graphic 24" descr="Blueprint with solid fill">
            <a:extLst>
              <a:ext uri="{FF2B5EF4-FFF2-40B4-BE49-F238E27FC236}">
                <a16:creationId xmlns:a16="http://schemas.microsoft.com/office/drawing/2014/main" id="{25EC7358-1ED1-17C9-D1E8-4218B293D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90579" y="5720814"/>
            <a:ext cx="914400" cy="9144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72EDC8F-F008-C5AE-F446-D029E692C716}"/>
              </a:ext>
            </a:extLst>
          </p:cNvPr>
          <p:cNvGrpSpPr/>
          <p:nvPr/>
        </p:nvGrpSpPr>
        <p:grpSpPr>
          <a:xfrm>
            <a:off x="5853296" y="5885696"/>
            <a:ext cx="477550" cy="584636"/>
            <a:chOff x="5704001" y="5863472"/>
            <a:chExt cx="658897" cy="806647"/>
          </a:xfrm>
          <a:noFill/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46AF13D-0632-72BC-2809-3D2F8D38BEE1}"/>
                </a:ext>
              </a:extLst>
            </p:cNvPr>
            <p:cNvSpPr/>
            <p:nvPr/>
          </p:nvSpPr>
          <p:spPr>
            <a:xfrm>
              <a:off x="5704001" y="5863472"/>
              <a:ext cx="658897" cy="17910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CF3A307-D2E4-B543-34C8-DB34959EAB64}"/>
                </a:ext>
              </a:extLst>
            </p:cNvPr>
            <p:cNvSpPr/>
            <p:nvPr/>
          </p:nvSpPr>
          <p:spPr>
            <a:xfrm>
              <a:off x="5704001" y="6042581"/>
              <a:ext cx="658897" cy="31376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6C06583-02B5-707D-ADAD-6A530F530B9A}"/>
                </a:ext>
              </a:extLst>
            </p:cNvPr>
            <p:cNvSpPr/>
            <p:nvPr/>
          </p:nvSpPr>
          <p:spPr>
            <a:xfrm>
              <a:off x="5704001" y="6356350"/>
              <a:ext cx="658897" cy="313769"/>
            </a:xfrm>
            <a:prstGeom prst="rect">
              <a:avLst/>
            </a:pr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3B4F47F-3DBC-C4FA-19E1-DDAE8AD1A44C}"/>
              </a:ext>
            </a:extLst>
          </p:cNvPr>
          <p:cNvGrpSpPr/>
          <p:nvPr/>
        </p:nvGrpSpPr>
        <p:grpSpPr>
          <a:xfrm>
            <a:off x="956093" y="5816183"/>
            <a:ext cx="554416" cy="723662"/>
            <a:chOff x="1136518" y="5450895"/>
            <a:chExt cx="554416" cy="72366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524F090-28E4-512A-F169-A799AE3EB285}"/>
                </a:ext>
              </a:extLst>
            </p:cNvPr>
            <p:cNvSpPr/>
            <p:nvPr/>
          </p:nvSpPr>
          <p:spPr>
            <a:xfrm>
              <a:off x="1136518" y="5450895"/>
              <a:ext cx="554416" cy="723662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CA15FFD-A2DF-E6FA-FAD1-F898F2610F00}"/>
                </a:ext>
              </a:extLst>
            </p:cNvPr>
            <p:cNvSpPr/>
            <p:nvPr/>
          </p:nvSpPr>
          <p:spPr>
            <a:xfrm>
              <a:off x="1230818" y="5548010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90C4293-DE1D-801C-BF4C-F85EB2321AD9}"/>
                </a:ext>
              </a:extLst>
            </p:cNvPr>
            <p:cNvSpPr/>
            <p:nvPr/>
          </p:nvSpPr>
          <p:spPr>
            <a:xfrm>
              <a:off x="1312418" y="5632366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D2AFB9E-A6C3-2977-DDFF-24EF9FCA06A4}"/>
                </a:ext>
              </a:extLst>
            </p:cNvPr>
            <p:cNvSpPr/>
            <p:nvPr/>
          </p:nvSpPr>
          <p:spPr>
            <a:xfrm>
              <a:off x="1383623" y="5716722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C9022A9-08B1-9688-209E-A04A5BE49333}"/>
                </a:ext>
              </a:extLst>
            </p:cNvPr>
            <p:cNvSpPr/>
            <p:nvPr/>
          </p:nvSpPr>
          <p:spPr>
            <a:xfrm>
              <a:off x="1296407" y="5801078"/>
              <a:ext cx="172532" cy="5586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3FDBCC8-CC51-DDC0-3ED3-402C82F6A157}"/>
                </a:ext>
              </a:extLst>
            </p:cNvPr>
            <p:cNvSpPr/>
            <p:nvPr/>
          </p:nvSpPr>
          <p:spPr>
            <a:xfrm>
              <a:off x="1398684" y="5885434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F488B14-5791-2FA8-51D2-BCC7A3485DE6}"/>
                </a:ext>
              </a:extLst>
            </p:cNvPr>
            <p:cNvSpPr/>
            <p:nvPr/>
          </p:nvSpPr>
          <p:spPr>
            <a:xfrm>
              <a:off x="1296407" y="5959645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50FEEE8-6591-C6C8-9B19-127A711EF0E0}"/>
                </a:ext>
              </a:extLst>
            </p:cNvPr>
            <p:cNvSpPr/>
            <p:nvPr/>
          </p:nvSpPr>
          <p:spPr>
            <a:xfrm>
              <a:off x="1230818" y="6033857"/>
              <a:ext cx="172532" cy="457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B96AAF0C-D60E-84F9-90C0-5F366542B612}"/>
              </a:ext>
            </a:extLst>
          </p:cNvPr>
          <p:cNvSpPr/>
          <p:nvPr/>
        </p:nvSpPr>
        <p:spPr>
          <a:xfrm>
            <a:off x="7856" y="3563332"/>
            <a:ext cx="12184144" cy="3294668"/>
          </a:xfrm>
          <a:prstGeom prst="rect">
            <a:avLst/>
          </a:prstGeom>
          <a:solidFill>
            <a:schemeClr val="bg2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9A1732-31E3-9B12-6280-05A8261CBDA7}"/>
              </a:ext>
            </a:extLst>
          </p:cNvPr>
          <p:cNvSpPr/>
          <p:nvPr/>
        </p:nvSpPr>
        <p:spPr>
          <a:xfrm>
            <a:off x="9747315" y="3091992"/>
            <a:ext cx="2436829" cy="3766009"/>
          </a:xfrm>
          <a:prstGeom prst="rect">
            <a:avLst/>
          </a:prstGeom>
          <a:solidFill>
            <a:srgbClr val="074D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9F7E65-3F86-0AD2-7400-9FAE409ADA8D}"/>
              </a:ext>
            </a:extLst>
          </p:cNvPr>
          <p:cNvSpPr txBox="1"/>
          <p:nvPr/>
        </p:nvSpPr>
        <p:spPr>
          <a:xfrm>
            <a:off x="10030120" y="3871357"/>
            <a:ext cx="18712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3200" dirty="0" err="1">
                <a:solidFill>
                  <a:schemeClr val="bg1"/>
                </a:solidFill>
              </a:rPr>
              <a:t>Getters</a:t>
            </a:r>
            <a:r>
              <a:rPr lang="es-ES" sz="3200" dirty="0">
                <a:solidFill>
                  <a:schemeClr val="bg1"/>
                </a:solidFill>
              </a:rPr>
              <a:t> y </a:t>
            </a:r>
            <a:r>
              <a:rPr lang="es-ES" sz="3200" dirty="0" err="1">
                <a:solidFill>
                  <a:schemeClr val="bg1"/>
                </a:solidFill>
              </a:rPr>
              <a:t>Setters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510BD0-A85A-9210-93D2-949BFFAA9872}"/>
              </a:ext>
            </a:extLst>
          </p:cNvPr>
          <p:cNvGrpSpPr/>
          <p:nvPr/>
        </p:nvGrpSpPr>
        <p:grpSpPr>
          <a:xfrm>
            <a:off x="10322154" y="5720814"/>
            <a:ext cx="1287150" cy="914400"/>
            <a:chOff x="10133029" y="5709329"/>
            <a:chExt cx="1287150" cy="914400"/>
          </a:xfrm>
        </p:grpSpPr>
        <p:pic>
          <p:nvPicPr>
            <p:cNvPr id="19" name="Graphic 18" descr="Paint brush with solid fill">
              <a:extLst>
                <a:ext uri="{FF2B5EF4-FFF2-40B4-BE49-F238E27FC236}">
                  <a16:creationId xmlns:a16="http://schemas.microsoft.com/office/drawing/2014/main" id="{9B00BF6A-5BC4-D6CB-656A-DF322E5A8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0800000">
              <a:off x="10505779" y="5709329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Magnifying glass with solid fill">
              <a:extLst>
                <a:ext uri="{FF2B5EF4-FFF2-40B4-BE49-F238E27FC236}">
                  <a16:creationId xmlns:a16="http://schemas.microsoft.com/office/drawing/2014/main" id="{773D80F3-D2B4-415B-D7DB-C3C7D6F77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33029" y="5709329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750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883580"/>
            <a:ext cx="7364361" cy="2227062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sz="4800" dirty="0">
                <a:latin typeface="Helvetica"/>
              </a:rPr>
              <a:t>POO: </a:t>
            </a:r>
            <a:br>
              <a:rPr lang="es-ES" sz="4800" dirty="0">
                <a:latin typeface="Helvetica"/>
              </a:rPr>
            </a:br>
            <a:r>
              <a:rPr lang="es-ES" sz="4800" dirty="0">
                <a:latin typeface="Helvetica"/>
              </a:rPr>
              <a:t>Trabajando con Objetos</a:t>
            </a:r>
            <a:endParaRPr lang="en-US" sz="4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3425816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-174523"/>
            <a:ext cx="2949677" cy="6858000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CDDD8500-1C7C-40B4-BF81-37EF6FE42E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2FC16903-0321-97AF-1574-4174195CCAA3}"/>
              </a:ext>
            </a:extLst>
          </p:cNvPr>
          <p:cNvGrpSpPr/>
          <p:nvPr/>
        </p:nvGrpSpPr>
        <p:grpSpPr>
          <a:xfrm>
            <a:off x="1287245" y="1614340"/>
            <a:ext cx="9617509" cy="4605485"/>
            <a:chOff x="1524973" y="1614340"/>
            <a:chExt cx="9617509" cy="460548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54904B1-F5D6-F37D-A62B-F95E0ECF8D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20282" y="2370247"/>
              <a:ext cx="3084843" cy="3097036"/>
            </a:xfrm>
            <a:prstGeom prst="rect">
              <a:avLst/>
            </a:prstGeom>
          </p:spPr>
        </p:pic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E57EB28C-0A13-E02E-FF05-12792084DF3C}"/>
                </a:ext>
              </a:extLst>
            </p:cNvPr>
            <p:cNvSpPr/>
            <p:nvPr/>
          </p:nvSpPr>
          <p:spPr>
            <a:xfrm>
              <a:off x="8286161" y="3023124"/>
              <a:ext cx="361363" cy="1208345"/>
            </a:xfrm>
            <a:prstGeom prst="rightBrace">
              <a:avLst>
                <a:gd name="adj1" fmla="val 0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748CFA15-85F1-1285-A11C-237DC7C4A29E}"/>
                </a:ext>
              </a:extLst>
            </p:cNvPr>
            <p:cNvSpPr/>
            <p:nvPr/>
          </p:nvSpPr>
          <p:spPr>
            <a:xfrm>
              <a:off x="8286161" y="4395580"/>
              <a:ext cx="361363" cy="896241"/>
            </a:xfrm>
            <a:prstGeom prst="rightBrace">
              <a:avLst>
                <a:gd name="adj1" fmla="val 0"/>
                <a:gd name="adj2" fmla="val 50000"/>
              </a:avLst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77BB9B5-90FB-A65E-CA6A-EF92C626352F}"/>
                </a:ext>
              </a:extLst>
            </p:cNvPr>
            <p:cNvSpPr/>
            <p:nvPr/>
          </p:nvSpPr>
          <p:spPr>
            <a:xfrm>
              <a:off x="8748074" y="3391626"/>
              <a:ext cx="2394408" cy="47134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844F251-6987-7F1F-F206-95C771B3E4E9}"/>
                </a:ext>
              </a:extLst>
            </p:cNvPr>
            <p:cNvSpPr/>
            <p:nvPr/>
          </p:nvSpPr>
          <p:spPr>
            <a:xfrm>
              <a:off x="8748074" y="4587814"/>
              <a:ext cx="2394408" cy="47134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86635BBE-C4BB-03B2-309E-9EBF2E4FA7BE}"/>
                </a:ext>
              </a:extLst>
            </p:cNvPr>
            <p:cNvSpPr/>
            <p:nvPr/>
          </p:nvSpPr>
          <p:spPr>
            <a:xfrm>
              <a:off x="8748074" y="1614340"/>
              <a:ext cx="2394408" cy="47134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7C55057-A33E-6B5B-5490-52428B0C5F57}"/>
                </a:ext>
              </a:extLst>
            </p:cNvPr>
            <p:cNvSpPr/>
            <p:nvPr/>
          </p:nvSpPr>
          <p:spPr>
            <a:xfrm>
              <a:off x="5389704" y="3074389"/>
              <a:ext cx="203916" cy="508071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A5F26BC-B4AA-0A22-593A-9F1E22752439}"/>
                </a:ext>
              </a:extLst>
            </p:cNvPr>
            <p:cNvSpPr/>
            <p:nvPr/>
          </p:nvSpPr>
          <p:spPr>
            <a:xfrm>
              <a:off x="7337199" y="1841417"/>
              <a:ext cx="1310326" cy="801282"/>
            </a:xfrm>
            <a:custGeom>
              <a:avLst/>
              <a:gdLst>
                <a:gd name="connsiteX0" fmla="*/ 0 w 782425"/>
                <a:gd name="connsiteY0" fmla="*/ 0 h 650450"/>
                <a:gd name="connsiteX1" fmla="*/ 782425 w 782425"/>
                <a:gd name="connsiteY1" fmla="*/ 650450 h 65045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643569 w 738153"/>
                <a:gd name="connsiteY0" fmla="*/ 1465896 h 1465929"/>
                <a:gd name="connsiteX1" fmla="*/ 2546 w 738153"/>
                <a:gd name="connsiteY1" fmla="*/ 127290 h 1465929"/>
                <a:gd name="connsiteX0" fmla="*/ 641023 w 749102"/>
                <a:gd name="connsiteY0" fmla="*/ 1338606 h 1338947"/>
                <a:gd name="connsiteX1" fmla="*/ 0 w 749102"/>
                <a:gd name="connsiteY1" fmla="*/ 0 h 1338947"/>
                <a:gd name="connsiteX0" fmla="*/ 2639506 w 2680799"/>
                <a:gd name="connsiteY0" fmla="*/ 1423448 h 1423688"/>
                <a:gd name="connsiteX1" fmla="*/ 0 w 2680799"/>
                <a:gd name="connsiteY1" fmla="*/ 0 h 1423688"/>
                <a:gd name="connsiteX0" fmla="*/ 2639506 w 2639506"/>
                <a:gd name="connsiteY0" fmla="*/ 1423448 h 1459380"/>
                <a:gd name="connsiteX1" fmla="*/ 0 w 2639506"/>
                <a:gd name="connsiteY1" fmla="*/ 0 h 1459380"/>
                <a:gd name="connsiteX0" fmla="*/ 2639506 w 2639506"/>
                <a:gd name="connsiteY0" fmla="*/ 1423448 h 1464157"/>
                <a:gd name="connsiteX1" fmla="*/ 0 w 2639506"/>
                <a:gd name="connsiteY1" fmla="*/ 0 h 1464157"/>
                <a:gd name="connsiteX0" fmla="*/ 1630838 w 1630838"/>
                <a:gd name="connsiteY0" fmla="*/ 848413 h 985120"/>
                <a:gd name="connsiteX1" fmla="*/ 0 w 1630838"/>
                <a:gd name="connsiteY1" fmla="*/ 0 h 985120"/>
                <a:gd name="connsiteX0" fmla="*/ 1630838 w 1630838"/>
                <a:gd name="connsiteY0" fmla="*/ 848413 h 882597"/>
                <a:gd name="connsiteX1" fmla="*/ 0 w 1630838"/>
                <a:gd name="connsiteY1" fmla="*/ 0 h 882597"/>
                <a:gd name="connsiteX0" fmla="*/ 1602558 w 1602558"/>
                <a:gd name="connsiteY0" fmla="*/ 933255 h 963543"/>
                <a:gd name="connsiteX1" fmla="*/ 0 w 1602558"/>
                <a:gd name="connsiteY1" fmla="*/ 0 h 963543"/>
                <a:gd name="connsiteX0" fmla="*/ 1602558 w 1602558"/>
                <a:gd name="connsiteY0" fmla="*/ 933255 h 944777"/>
                <a:gd name="connsiteX1" fmla="*/ 0 w 1602558"/>
                <a:gd name="connsiteY1" fmla="*/ 0 h 944777"/>
                <a:gd name="connsiteX0" fmla="*/ 1606213 w 1606213"/>
                <a:gd name="connsiteY0" fmla="*/ 933255 h 949697"/>
                <a:gd name="connsiteX1" fmla="*/ 3655 w 1606213"/>
                <a:gd name="connsiteY1" fmla="*/ 0 h 949697"/>
                <a:gd name="connsiteX0" fmla="*/ 1615561 w 1615561"/>
                <a:gd name="connsiteY0" fmla="*/ 1150072 h 1160981"/>
                <a:gd name="connsiteX1" fmla="*/ 3576 w 1615561"/>
                <a:gd name="connsiteY1" fmla="*/ 0 h 1160981"/>
                <a:gd name="connsiteX0" fmla="*/ 1616182 w 1616182"/>
                <a:gd name="connsiteY0" fmla="*/ 1150072 h 1150072"/>
                <a:gd name="connsiteX1" fmla="*/ 4197 w 1616182"/>
                <a:gd name="connsiteY1" fmla="*/ 0 h 1150072"/>
                <a:gd name="connsiteX0" fmla="*/ 1135686 w 1135686"/>
                <a:gd name="connsiteY0" fmla="*/ 40 h 1147490"/>
                <a:gd name="connsiteX1" fmla="*/ 42175 w 1135686"/>
                <a:gd name="connsiteY1" fmla="*/ 970999 h 1147490"/>
                <a:gd name="connsiteX0" fmla="*/ 1093511 w 1093511"/>
                <a:gd name="connsiteY0" fmla="*/ 403 h 971362"/>
                <a:gd name="connsiteX1" fmla="*/ 0 w 1093511"/>
                <a:gd name="connsiteY1" fmla="*/ 971362 h 971362"/>
                <a:gd name="connsiteX0" fmla="*/ 1093511 w 1093511"/>
                <a:gd name="connsiteY0" fmla="*/ 0 h 970959"/>
                <a:gd name="connsiteX1" fmla="*/ 0 w 1093511"/>
                <a:gd name="connsiteY1" fmla="*/ 970959 h 970959"/>
                <a:gd name="connsiteX0" fmla="*/ 1376315 w 1376315"/>
                <a:gd name="connsiteY0" fmla="*/ 114 h 801391"/>
                <a:gd name="connsiteX1" fmla="*/ 0 w 1376315"/>
                <a:gd name="connsiteY1" fmla="*/ 801391 h 801391"/>
                <a:gd name="connsiteX0" fmla="*/ 1376315 w 1376315"/>
                <a:gd name="connsiteY0" fmla="*/ 5 h 801282"/>
                <a:gd name="connsiteX1" fmla="*/ 0 w 1376315"/>
                <a:gd name="connsiteY1" fmla="*/ 801282 h 801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6315" h="801282">
                  <a:moveTo>
                    <a:pt x="1376315" y="5"/>
                  </a:moveTo>
                  <a:cubicBezTo>
                    <a:pt x="986672" y="7"/>
                    <a:pt x="446201" y="-9424"/>
                    <a:pt x="0" y="801282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B29C223-1270-53C9-86AC-14738623274C}"/>
                </a:ext>
              </a:extLst>
            </p:cNvPr>
            <p:cNvSpPr/>
            <p:nvPr/>
          </p:nvSpPr>
          <p:spPr>
            <a:xfrm rot="10800000">
              <a:off x="4004224" y="4821546"/>
              <a:ext cx="1253766" cy="1173762"/>
            </a:xfrm>
            <a:custGeom>
              <a:avLst/>
              <a:gdLst>
                <a:gd name="connsiteX0" fmla="*/ 0 w 782425"/>
                <a:gd name="connsiteY0" fmla="*/ 0 h 650450"/>
                <a:gd name="connsiteX1" fmla="*/ 782425 w 782425"/>
                <a:gd name="connsiteY1" fmla="*/ 650450 h 65045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643569 w 738153"/>
                <a:gd name="connsiteY0" fmla="*/ 1465896 h 1465929"/>
                <a:gd name="connsiteX1" fmla="*/ 2546 w 738153"/>
                <a:gd name="connsiteY1" fmla="*/ 127290 h 1465929"/>
                <a:gd name="connsiteX0" fmla="*/ 641023 w 749102"/>
                <a:gd name="connsiteY0" fmla="*/ 1338606 h 1338947"/>
                <a:gd name="connsiteX1" fmla="*/ 0 w 749102"/>
                <a:gd name="connsiteY1" fmla="*/ 0 h 1338947"/>
                <a:gd name="connsiteX0" fmla="*/ 2639506 w 2680799"/>
                <a:gd name="connsiteY0" fmla="*/ 1423448 h 1423688"/>
                <a:gd name="connsiteX1" fmla="*/ 0 w 2680799"/>
                <a:gd name="connsiteY1" fmla="*/ 0 h 1423688"/>
                <a:gd name="connsiteX0" fmla="*/ 2639506 w 2639506"/>
                <a:gd name="connsiteY0" fmla="*/ 1423448 h 1459380"/>
                <a:gd name="connsiteX1" fmla="*/ 0 w 2639506"/>
                <a:gd name="connsiteY1" fmla="*/ 0 h 1459380"/>
                <a:gd name="connsiteX0" fmla="*/ 2639506 w 2639506"/>
                <a:gd name="connsiteY0" fmla="*/ 1423448 h 1464157"/>
                <a:gd name="connsiteX1" fmla="*/ 0 w 2639506"/>
                <a:gd name="connsiteY1" fmla="*/ 0 h 1464157"/>
                <a:gd name="connsiteX0" fmla="*/ 1630838 w 1630838"/>
                <a:gd name="connsiteY0" fmla="*/ 848413 h 985120"/>
                <a:gd name="connsiteX1" fmla="*/ 0 w 1630838"/>
                <a:gd name="connsiteY1" fmla="*/ 0 h 985120"/>
                <a:gd name="connsiteX0" fmla="*/ 1630838 w 1630838"/>
                <a:gd name="connsiteY0" fmla="*/ 848413 h 882597"/>
                <a:gd name="connsiteX1" fmla="*/ 0 w 1630838"/>
                <a:gd name="connsiteY1" fmla="*/ 0 h 882597"/>
                <a:gd name="connsiteX0" fmla="*/ 1602558 w 1602558"/>
                <a:gd name="connsiteY0" fmla="*/ 933255 h 963543"/>
                <a:gd name="connsiteX1" fmla="*/ 0 w 1602558"/>
                <a:gd name="connsiteY1" fmla="*/ 0 h 963543"/>
                <a:gd name="connsiteX0" fmla="*/ 1602558 w 1602558"/>
                <a:gd name="connsiteY0" fmla="*/ 933255 h 944777"/>
                <a:gd name="connsiteX1" fmla="*/ 0 w 1602558"/>
                <a:gd name="connsiteY1" fmla="*/ 0 h 944777"/>
                <a:gd name="connsiteX0" fmla="*/ 1606213 w 1606213"/>
                <a:gd name="connsiteY0" fmla="*/ 933255 h 949697"/>
                <a:gd name="connsiteX1" fmla="*/ 3655 w 1606213"/>
                <a:gd name="connsiteY1" fmla="*/ 0 h 949697"/>
                <a:gd name="connsiteX0" fmla="*/ 1615561 w 1615561"/>
                <a:gd name="connsiteY0" fmla="*/ 1150072 h 1160981"/>
                <a:gd name="connsiteX1" fmla="*/ 3576 w 1615561"/>
                <a:gd name="connsiteY1" fmla="*/ 0 h 1160981"/>
                <a:gd name="connsiteX0" fmla="*/ 1616182 w 1616182"/>
                <a:gd name="connsiteY0" fmla="*/ 1150072 h 1150072"/>
                <a:gd name="connsiteX1" fmla="*/ 4197 w 1616182"/>
                <a:gd name="connsiteY1" fmla="*/ 0 h 1150072"/>
                <a:gd name="connsiteX0" fmla="*/ 1135686 w 1135686"/>
                <a:gd name="connsiteY0" fmla="*/ 40 h 1147490"/>
                <a:gd name="connsiteX1" fmla="*/ 42175 w 1135686"/>
                <a:gd name="connsiteY1" fmla="*/ 970999 h 1147490"/>
                <a:gd name="connsiteX0" fmla="*/ 1093511 w 1093511"/>
                <a:gd name="connsiteY0" fmla="*/ 403 h 971362"/>
                <a:gd name="connsiteX1" fmla="*/ 0 w 1093511"/>
                <a:gd name="connsiteY1" fmla="*/ 971362 h 971362"/>
                <a:gd name="connsiteX0" fmla="*/ 1093511 w 1093511"/>
                <a:gd name="connsiteY0" fmla="*/ 0 h 970959"/>
                <a:gd name="connsiteX1" fmla="*/ 0 w 1093511"/>
                <a:gd name="connsiteY1" fmla="*/ 970959 h 970959"/>
                <a:gd name="connsiteX0" fmla="*/ 1376315 w 1376315"/>
                <a:gd name="connsiteY0" fmla="*/ 114 h 801391"/>
                <a:gd name="connsiteX1" fmla="*/ 0 w 1376315"/>
                <a:gd name="connsiteY1" fmla="*/ 801391 h 801391"/>
                <a:gd name="connsiteX0" fmla="*/ 1376315 w 1376315"/>
                <a:gd name="connsiteY0" fmla="*/ 5 h 801282"/>
                <a:gd name="connsiteX1" fmla="*/ 0 w 1376315"/>
                <a:gd name="connsiteY1" fmla="*/ 801282 h 801282"/>
                <a:gd name="connsiteX0" fmla="*/ 1316907 w 1316907"/>
                <a:gd name="connsiteY0" fmla="*/ 0 h 1159496"/>
                <a:gd name="connsiteX1" fmla="*/ 0 w 1316907"/>
                <a:gd name="connsiteY1" fmla="*/ 1159496 h 1159496"/>
                <a:gd name="connsiteX0" fmla="*/ 1316907 w 1316907"/>
                <a:gd name="connsiteY0" fmla="*/ 0 h 1159719"/>
                <a:gd name="connsiteX1" fmla="*/ 0 w 1316907"/>
                <a:gd name="connsiteY1" fmla="*/ 1159496 h 1159719"/>
                <a:gd name="connsiteX0" fmla="*/ 1316907 w 1316907"/>
                <a:gd name="connsiteY0" fmla="*/ 1325 h 1161036"/>
                <a:gd name="connsiteX1" fmla="*/ 0 w 1316907"/>
                <a:gd name="connsiteY1" fmla="*/ 1160821 h 1161036"/>
                <a:gd name="connsiteX0" fmla="*/ 1316907 w 1316907"/>
                <a:gd name="connsiteY0" fmla="*/ 1193 h 1173762"/>
                <a:gd name="connsiteX1" fmla="*/ 0 w 1316907"/>
                <a:gd name="connsiteY1" fmla="*/ 1160689 h 117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6907" h="1173762">
                  <a:moveTo>
                    <a:pt x="1316907" y="1193"/>
                  </a:moveTo>
                  <a:cubicBezTo>
                    <a:pt x="560906" y="-45939"/>
                    <a:pt x="822460" y="1320943"/>
                    <a:pt x="0" y="1160689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B89070C-1D5B-4A4C-1C2C-A1A84A7AF710}"/>
                </a:ext>
              </a:extLst>
            </p:cNvPr>
            <p:cNvSpPr/>
            <p:nvPr/>
          </p:nvSpPr>
          <p:spPr>
            <a:xfrm>
              <a:off x="1524973" y="5748485"/>
              <a:ext cx="2394408" cy="47134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62E535F-9273-8DBF-E9D7-D8A72FF04F2C}"/>
                </a:ext>
              </a:extLst>
            </p:cNvPr>
            <p:cNvSpPr/>
            <p:nvPr/>
          </p:nvSpPr>
          <p:spPr>
            <a:xfrm>
              <a:off x="5391274" y="3632143"/>
              <a:ext cx="203916" cy="592098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77EAC6A-B79B-846B-9FC9-4CC03B5E29FC}"/>
                </a:ext>
              </a:extLst>
            </p:cNvPr>
            <p:cNvSpPr/>
            <p:nvPr/>
          </p:nvSpPr>
          <p:spPr>
            <a:xfrm>
              <a:off x="5402270" y="4384134"/>
              <a:ext cx="203916" cy="788083"/>
            </a:xfrm>
            <a:prstGeom prst="roundRect">
              <a:avLst>
                <a:gd name="adj" fmla="val 50000"/>
              </a:avLst>
            </a:prstGeom>
            <a:noFill/>
            <a:ln w="19050">
              <a:solidFill>
                <a:schemeClr val="accent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A4A7A0F4-91EA-F48E-9E0C-83ACAF227C5C}"/>
                </a:ext>
              </a:extLst>
            </p:cNvPr>
            <p:cNvSpPr/>
            <p:nvPr/>
          </p:nvSpPr>
          <p:spPr>
            <a:xfrm>
              <a:off x="1524973" y="4957169"/>
              <a:ext cx="2394408" cy="47134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0ABF48B-3287-1160-0EC2-44AF2A16F4DA}"/>
                </a:ext>
              </a:extLst>
            </p:cNvPr>
            <p:cNvSpPr/>
            <p:nvPr/>
          </p:nvSpPr>
          <p:spPr>
            <a:xfrm>
              <a:off x="1524973" y="4165853"/>
              <a:ext cx="2394408" cy="471340"/>
            </a:xfrm>
            <a:prstGeom prst="roundRect">
              <a:avLst>
                <a:gd name="adj" fmla="val 5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27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6268EA6-6274-986A-C9FB-3566E0160A43}"/>
                </a:ext>
              </a:extLst>
            </p:cNvPr>
            <p:cNvSpPr/>
            <p:nvPr/>
          </p:nvSpPr>
          <p:spPr>
            <a:xfrm rot="10800000">
              <a:off x="4004224" y="4050312"/>
              <a:ext cx="1253766" cy="1173762"/>
            </a:xfrm>
            <a:custGeom>
              <a:avLst/>
              <a:gdLst>
                <a:gd name="connsiteX0" fmla="*/ 0 w 782425"/>
                <a:gd name="connsiteY0" fmla="*/ 0 h 650450"/>
                <a:gd name="connsiteX1" fmla="*/ 782425 w 782425"/>
                <a:gd name="connsiteY1" fmla="*/ 650450 h 65045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643569 w 738153"/>
                <a:gd name="connsiteY0" fmla="*/ 1465896 h 1465929"/>
                <a:gd name="connsiteX1" fmla="*/ 2546 w 738153"/>
                <a:gd name="connsiteY1" fmla="*/ 127290 h 1465929"/>
                <a:gd name="connsiteX0" fmla="*/ 641023 w 749102"/>
                <a:gd name="connsiteY0" fmla="*/ 1338606 h 1338947"/>
                <a:gd name="connsiteX1" fmla="*/ 0 w 749102"/>
                <a:gd name="connsiteY1" fmla="*/ 0 h 1338947"/>
                <a:gd name="connsiteX0" fmla="*/ 2639506 w 2680799"/>
                <a:gd name="connsiteY0" fmla="*/ 1423448 h 1423688"/>
                <a:gd name="connsiteX1" fmla="*/ 0 w 2680799"/>
                <a:gd name="connsiteY1" fmla="*/ 0 h 1423688"/>
                <a:gd name="connsiteX0" fmla="*/ 2639506 w 2639506"/>
                <a:gd name="connsiteY0" fmla="*/ 1423448 h 1459380"/>
                <a:gd name="connsiteX1" fmla="*/ 0 w 2639506"/>
                <a:gd name="connsiteY1" fmla="*/ 0 h 1459380"/>
                <a:gd name="connsiteX0" fmla="*/ 2639506 w 2639506"/>
                <a:gd name="connsiteY0" fmla="*/ 1423448 h 1464157"/>
                <a:gd name="connsiteX1" fmla="*/ 0 w 2639506"/>
                <a:gd name="connsiteY1" fmla="*/ 0 h 1464157"/>
                <a:gd name="connsiteX0" fmla="*/ 1630838 w 1630838"/>
                <a:gd name="connsiteY0" fmla="*/ 848413 h 985120"/>
                <a:gd name="connsiteX1" fmla="*/ 0 w 1630838"/>
                <a:gd name="connsiteY1" fmla="*/ 0 h 985120"/>
                <a:gd name="connsiteX0" fmla="*/ 1630838 w 1630838"/>
                <a:gd name="connsiteY0" fmla="*/ 848413 h 882597"/>
                <a:gd name="connsiteX1" fmla="*/ 0 w 1630838"/>
                <a:gd name="connsiteY1" fmla="*/ 0 h 882597"/>
                <a:gd name="connsiteX0" fmla="*/ 1602558 w 1602558"/>
                <a:gd name="connsiteY0" fmla="*/ 933255 h 963543"/>
                <a:gd name="connsiteX1" fmla="*/ 0 w 1602558"/>
                <a:gd name="connsiteY1" fmla="*/ 0 h 963543"/>
                <a:gd name="connsiteX0" fmla="*/ 1602558 w 1602558"/>
                <a:gd name="connsiteY0" fmla="*/ 933255 h 944777"/>
                <a:gd name="connsiteX1" fmla="*/ 0 w 1602558"/>
                <a:gd name="connsiteY1" fmla="*/ 0 h 944777"/>
                <a:gd name="connsiteX0" fmla="*/ 1606213 w 1606213"/>
                <a:gd name="connsiteY0" fmla="*/ 933255 h 949697"/>
                <a:gd name="connsiteX1" fmla="*/ 3655 w 1606213"/>
                <a:gd name="connsiteY1" fmla="*/ 0 h 949697"/>
                <a:gd name="connsiteX0" fmla="*/ 1615561 w 1615561"/>
                <a:gd name="connsiteY0" fmla="*/ 1150072 h 1160981"/>
                <a:gd name="connsiteX1" fmla="*/ 3576 w 1615561"/>
                <a:gd name="connsiteY1" fmla="*/ 0 h 1160981"/>
                <a:gd name="connsiteX0" fmla="*/ 1616182 w 1616182"/>
                <a:gd name="connsiteY0" fmla="*/ 1150072 h 1150072"/>
                <a:gd name="connsiteX1" fmla="*/ 4197 w 1616182"/>
                <a:gd name="connsiteY1" fmla="*/ 0 h 1150072"/>
                <a:gd name="connsiteX0" fmla="*/ 1135686 w 1135686"/>
                <a:gd name="connsiteY0" fmla="*/ 40 h 1147490"/>
                <a:gd name="connsiteX1" fmla="*/ 42175 w 1135686"/>
                <a:gd name="connsiteY1" fmla="*/ 970999 h 1147490"/>
                <a:gd name="connsiteX0" fmla="*/ 1093511 w 1093511"/>
                <a:gd name="connsiteY0" fmla="*/ 403 h 971362"/>
                <a:gd name="connsiteX1" fmla="*/ 0 w 1093511"/>
                <a:gd name="connsiteY1" fmla="*/ 971362 h 971362"/>
                <a:gd name="connsiteX0" fmla="*/ 1093511 w 1093511"/>
                <a:gd name="connsiteY0" fmla="*/ 0 h 970959"/>
                <a:gd name="connsiteX1" fmla="*/ 0 w 1093511"/>
                <a:gd name="connsiteY1" fmla="*/ 970959 h 970959"/>
                <a:gd name="connsiteX0" fmla="*/ 1376315 w 1376315"/>
                <a:gd name="connsiteY0" fmla="*/ 114 h 801391"/>
                <a:gd name="connsiteX1" fmla="*/ 0 w 1376315"/>
                <a:gd name="connsiteY1" fmla="*/ 801391 h 801391"/>
                <a:gd name="connsiteX0" fmla="*/ 1376315 w 1376315"/>
                <a:gd name="connsiteY0" fmla="*/ 5 h 801282"/>
                <a:gd name="connsiteX1" fmla="*/ 0 w 1376315"/>
                <a:gd name="connsiteY1" fmla="*/ 801282 h 801282"/>
                <a:gd name="connsiteX0" fmla="*/ 1316907 w 1316907"/>
                <a:gd name="connsiteY0" fmla="*/ 0 h 1159496"/>
                <a:gd name="connsiteX1" fmla="*/ 0 w 1316907"/>
                <a:gd name="connsiteY1" fmla="*/ 1159496 h 1159496"/>
                <a:gd name="connsiteX0" fmla="*/ 1316907 w 1316907"/>
                <a:gd name="connsiteY0" fmla="*/ 0 h 1159719"/>
                <a:gd name="connsiteX1" fmla="*/ 0 w 1316907"/>
                <a:gd name="connsiteY1" fmla="*/ 1159496 h 1159719"/>
                <a:gd name="connsiteX0" fmla="*/ 1316907 w 1316907"/>
                <a:gd name="connsiteY0" fmla="*/ 1325 h 1161036"/>
                <a:gd name="connsiteX1" fmla="*/ 0 w 1316907"/>
                <a:gd name="connsiteY1" fmla="*/ 1160821 h 1161036"/>
                <a:gd name="connsiteX0" fmla="*/ 1316907 w 1316907"/>
                <a:gd name="connsiteY0" fmla="*/ 1193 h 1173762"/>
                <a:gd name="connsiteX1" fmla="*/ 0 w 1316907"/>
                <a:gd name="connsiteY1" fmla="*/ 1160689 h 117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6907" h="1173762">
                  <a:moveTo>
                    <a:pt x="1316907" y="1193"/>
                  </a:moveTo>
                  <a:cubicBezTo>
                    <a:pt x="560906" y="-45939"/>
                    <a:pt x="822460" y="1320943"/>
                    <a:pt x="0" y="1160689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41BA62A-CBF5-19F0-E843-22B88C1BB9C9}"/>
                </a:ext>
              </a:extLst>
            </p:cNvPr>
            <p:cNvSpPr/>
            <p:nvPr/>
          </p:nvSpPr>
          <p:spPr>
            <a:xfrm rot="10800000">
              <a:off x="4004224" y="3344490"/>
              <a:ext cx="1253766" cy="1051089"/>
            </a:xfrm>
            <a:custGeom>
              <a:avLst/>
              <a:gdLst>
                <a:gd name="connsiteX0" fmla="*/ 0 w 782425"/>
                <a:gd name="connsiteY0" fmla="*/ 0 h 650450"/>
                <a:gd name="connsiteX1" fmla="*/ 782425 w 782425"/>
                <a:gd name="connsiteY1" fmla="*/ 650450 h 65045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0 w 1018095"/>
                <a:gd name="connsiteY0" fmla="*/ 0 h 622170"/>
                <a:gd name="connsiteX1" fmla="*/ 1018095 w 1018095"/>
                <a:gd name="connsiteY1" fmla="*/ 622170 h 622170"/>
                <a:gd name="connsiteX0" fmla="*/ 643569 w 738153"/>
                <a:gd name="connsiteY0" fmla="*/ 1465896 h 1465929"/>
                <a:gd name="connsiteX1" fmla="*/ 2546 w 738153"/>
                <a:gd name="connsiteY1" fmla="*/ 127290 h 1465929"/>
                <a:gd name="connsiteX0" fmla="*/ 641023 w 749102"/>
                <a:gd name="connsiteY0" fmla="*/ 1338606 h 1338947"/>
                <a:gd name="connsiteX1" fmla="*/ 0 w 749102"/>
                <a:gd name="connsiteY1" fmla="*/ 0 h 1338947"/>
                <a:gd name="connsiteX0" fmla="*/ 2639506 w 2680799"/>
                <a:gd name="connsiteY0" fmla="*/ 1423448 h 1423688"/>
                <a:gd name="connsiteX1" fmla="*/ 0 w 2680799"/>
                <a:gd name="connsiteY1" fmla="*/ 0 h 1423688"/>
                <a:gd name="connsiteX0" fmla="*/ 2639506 w 2639506"/>
                <a:gd name="connsiteY0" fmla="*/ 1423448 h 1459380"/>
                <a:gd name="connsiteX1" fmla="*/ 0 w 2639506"/>
                <a:gd name="connsiteY1" fmla="*/ 0 h 1459380"/>
                <a:gd name="connsiteX0" fmla="*/ 2639506 w 2639506"/>
                <a:gd name="connsiteY0" fmla="*/ 1423448 h 1464157"/>
                <a:gd name="connsiteX1" fmla="*/ 0 w 2639506"/>
                <a:gd name="connsiteY1" fmla="*/ 0 h 1464157"/>
                <a:gd name="connsiteX0" fmla="*/ 1630838 w 1630838"/>
                <a:gd name="connsiteY0" fmla="*/ 848413 h 985120"/>
                <a:gd name="connsiteX1" fmla="*/ 0 w 1630838"/>
                <a:gd name="connsiteY1" fmla="*/ 0 h 985120"/>
                <a:gd name="connsiteX0" fmla="*/ 1630838 w 1630838"/>
                <a:gd name="connsiteY0" fmla="*/ 848413 h 882597"/>
                <a:gd name="connsiteX1" fmla="*/ 0 w 1630838"/>
                <a:gd name="connsiteY1" fmla="*/ 0 h 882597"/>
                <a:gd name="connsiteX0" fmla="*/ 1602558 w 1602558"/>
                <a:gd name="connsiteY0" fmla="*/ 933255 h 963543"/>
                <a:gd name="connsiteX1" fmla="*/ 0 w 1602558"/>
                <a:gd name="connsiteY1" fmla="*/ 0 h 963543"/>
                <a:gd name="connsiteX0" fmla="*/ 1602558 w 1602558"/>
                <a:gd name="connsiteY0" fmla="*/ 933255 h 944777"/>
                <a:gd name="connsiteX1" fmla="*/ 0 w 1602558"/>
                <a:gd name="connsiteY1" fmla="*/ 0 h 944777"/>
                <a:gd name="connsiteX0" fmla="*/ 1606213 w 1606213"/>
                <a:gd name="connsiteY0" fmla="*/ 933255 h 949697"/>
                <a:gd name="connsiteX1" fmla="*/ 3655 w 1606213"/>
                <a:gd name="connsiteY1" fmla="*/ 0 h 949697"/>
                <a:gd name="connsiteX0" fmla="*/ 1615561 w 1615561"/>
                <a:gd name="connsiteY0" fmla="*/ 1150072 h 1160981"/>
                <a:gd name="connsiteX1" fmla="*/ 3576 w 1615561"/>
                <a:gd name="connsiteY1" fmla="*/ 0 h 1160981"/>
                <a:gd name="connsiteX0" fmla="*/ 1616182 w 1616182"/>
                <a:gd name="connsiteY0" fmla="*/ 1150072 h 1150072"/>
                <a:gd name="connsiteX1" fmla="*/ 4197 w 1616182"/>
                <a:gd name="connsiteY1" fmla="*/ 0 h 1150072"/>
                <a:gd name="connsiteX0" fmla="*/ 1135686 w 1135686"/>
                <a:gd name="connsiteY0" fmla="*/ 40 h 1147490"/>
                <a:gd name="connsiteX1" fmla="*/ 42175 w 1135686"/>
                <a:gd name="connsiteY1" fmla="*/ 970999 h 1147490"/>
                <a:gd name="connsiteX0" fmla="*/ 1093511 w 1093511"/>
                <a:gd name="connsiteY0" fmla="*/ 403 h 971362"/>
                <a:gd name="connsiteX1" fmla="*/ 0 w 1093511"/>
                <a:gd name="connsiteY1" fmla="*/ 971362 h 971362"/>
                <a:gd name="connsiteX0" fmla="*/ 1093511 w 1093511"/>
                <a:gd name="connsiteY0" fmla="*/ 0 h 970959"/>
                <a:gd name="connsiteX1" fmla="*/ 0 w 1093511"/>
                <a:gd name="connsiteY1" fmla="*/ 970959 h 970959"/>
                <a:gd name="connsiteX0" fmla="*/ 1376315 w 1376315"/>
                <a:gd name="connsiteY0" fmla="*/ 114 h 801391"/>
                <a:gd name="connsiteX1" fmla="*/ 0 w 1376315"/>
                <a:gd name="connsiteY1" fmla="*/ 801391 h 801391"/>
                <a:gd name="connsiteX0" fmla="*/ 1376315 w 1376315"/>
                <a:gd name="connsiteY0" fmla="*/ 5 h 801282"/>
                <a:gd name="connsiteX1" fmla="*/ 0 w 1376315"/>
                <a:gd name="connsiteY1" fmla="*/ 801282 h 801282"/>
                <a:gd name="connsiteX0" fmla="*/ 1316907 w 1316907"/>
                <a:gd name="connsiteY0" fmla="*/ 0 h 1159496"/>
                <a:gd name="connsiteX1" fmla="*/ 0 w 1316907"/>
                <a:gd name="connsiteY1" fmla="*/ 1159496 h 1159496"/>
                <a:gd name="connsiteX0" fmla="*/ 1316907 w 1316907"/>
                <a:gd name="connsiteY0" fmla="*/ 0 h 1159719"/>
                <a:gd name="connsiteX1" fmla="*/ 0 w 1316907"/>
                <a:gd name="connsiteY1" fmla="*/ 1159496 h 1159719"/>
                <a:gd name="connsiteX0" fmla="*/ 1316907 w 1316907"/>
                <a:gd name="connsiteY0" fmla="*/ 1325 h 1161036"/>
                <a:gd name="connsiteX1" fmla="*/ 0 w 1316907"/>
                <a:gd name="connsiteY1" fmla="*/ 1160821 h 1161036"/>
                <a:gd name="connsiteX0" fmla="*/ 1316907 w 1316907"/>
                <a:gd name="connsiteY0" fmla="*/ 1193 h 1173762"/>
                <a:gd name="connsiteX1" fmla="*/ 0 w 1316907"/>
                <a:gd name="connsiteY1" fmla="*/ 1160689 h 1173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6907" h="1173762">
                  <a:moveTo>
                    <a:pt x="1316907" y="1193"/>
                  </a:moveTo>
                  <a:cubicBezTo>
                    <a:pt x="560906" y="-45939"/>
                    <a:pt x="822460" y="1320943"/>
                    <a:pt x="0" y="1160689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71" y="429863"/>
            <a:ext cx="10590229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3572" y="1436914"/>
            <a:ext cx="3938234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Indica el término que corresponde en cada recuadro.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desarrollar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programas con clases y objetos </a:t>
            </a:r>
            <a:r>
              <a:rPr lang="es-ES" dirty="0">
                <a:solidFill>
                  <a:srgbClr val="D3052C"/>
                </a:solidFill>
              </a:rPr>
              <a:t>mediante el uso de un IDE Java </a:t>
            </a:r>
            <a:r>
              <a:rPr lang="es-ES" dirty="0">
                <a:solidFill>
                  <a:srgbClr val="7030A0"/>
                </a:solidFill>
              </a:rPr>
              <a:t>para aplicar el paradigma de la Programación Orientada a Objetos.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60" y="1436915"/>
            <a:ext cx="5797482" cy="3841860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muestra la imagen?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tipo de documento es?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estructura de datos podría servirnos para elaborar reportes HTML?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¿Cómo te podría servir en tu futuro profesional elaborar reportes HTML en Java?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278775"/>
            <a:ext cx="6117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Desarrollar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reportes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HTML </a:t>
            </a:r>
            <a:r>
              <a:rPr lang="en-US" sz="2800" dirty="0" err="1">
                <a:latin typeface="Helvetica" pitchFamily="2" charset="0"/>
              </a:rPr>
              <a:t>aplicando</a:t>
            </a:r>
            <a:r>
              <a:rPr lang="en-US" sz="2800" dirty="0">
                <a:latin typeface="Helvetica" pitchFamily="2" charset="0"/>
              </a:rPr>
              <a:t> la </a:t>
            </a:r>
            <a:r>
              <a:rPr lang="en-US" sz="2800" dirty="0" err="1">
                <a:latin typeface="Helvetica" pitchFamily="2" charset="0"/>
              </a:rPr>
              <a:t>orientación</a:t>
            </a:r>
            <a:r>
              <a:rPr lang="en-US" sz="2800" dirty="0">
                <a:latin typeface="Helvetica" pitchFamily="2" charset="0"/>
              </a:rPr>
              <a:t> a </a:t>
            </a:r>
            <a:r>
              <a:rPr lang="en-US" sz="2800" dirty="0" err="1">
                <a:latin typeface="Helvetica" pitchFamily="2" charset="0"/>
              </a:rPr>
              <a:t>objetos</a:t>
            </a:r>
            <a:r>
              <a:rPr lang="en-US" sz="2800" dirty="0">
                <a:latin typeface="Helvetica" pitchFamily="2" charset="0"/>
              </a:rPr>
              <a:t>.</a:t>
            </a:r>
            <a:endParaRPr lang="es-ES" sz="2800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90F7AF-0545-22D7-731F-2E06981ADDE9}"/>
              </a:ext>
            </a:extLst>
          </p:cNvPr>
          <p:cNvSpPr txBox="1"/>
          <p:nvPr/>
        </p:nvSpPr>
        <p:spPr>
          <a:xfrm>
            <a:off x="202753" y="6502565"/>
            <a:ext cx="933624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https://ae01.alicdn.com/kf/Hadcfe0e42be94fc784e8953ff29c01a4C.jpg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EFDCFB-4F6C-1C73-42EA-C1D35D7C15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5" b="719"/>
          <a:stretch/>
        </p:blipFill>
        <p:spPr>
          <a:xfrm>
            <a:off x="6485642" y="2030542"/>
            <a:ext cx="5106283" cy="32248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F2F956D-DE2F-1954-C93F-9D60D0708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6" y="2784446"/>
            <a:ext cx="3896948" cy="12803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Instanciación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Constructores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Puntero </a:t>
              </a:r>
              <a:r>
                <a:rPr lang="es-ES" sz="1800" b="1" dirty="0" err="1">
                  <a:solidFill>
                    <a:schemeClr val="bg1">
                      <a:lumMod val="50000"/>
                    </a:schemeClr>
                  </a:solidFill>
                </a:rPr>
                <a:t>this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Constructores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Puntero </a:t>
              </a:r>
              <a:r>
                <a:rPr lang="es-ES" sz="1800" b="1" dirty="0" err="1">
                  <a:solidFill>
                    <a:schemeClr val="bg1">
                      <a:lumMod val="50000"/>
                    </a:schemeClr>
                  </a:solidFill>
                </a:rPr>
                <a:t>this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0CB71EB-13A3-8722-388A-D995E9FD8B22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Instanciación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531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Instanciación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0D5800-7384-9DDF-6208-C950799DD71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El proceso de crear un objeto a partir de la definición de una clase se denomina </a:t>
            </a:r>
            <a:r>
              <a:rPr lang="es-ES" b="1" dirty="0">
                <a:solidFill>
                  <a:schemeClr val="accent2"/>
                </a:solidFill>
              </a:rPr>
              <a:t>instanciación</a:t>
            </a:r>
            <a:r>
              <a:rPr lang="es-ES" dirty="0"/>
              <a:t>.</a:t>
            </a:r>
          </a:p>
          <a:p>
            <a:r>
              <a:rPr lang="es-ES" dirty="0"/>
              <a:t>“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Crear una instancia de clase</a:t>
            </a:r>
            <a:r>
              <a:rPr lang="es-ES" dirty="0"/>
              <a:t>” o “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Crear un objeto</a:t>
            </a:r>
            <a:r>
              <a:rPr lang="es-ES" dirty="0"/>
              <a:t>” son expresiones equivalentes.</a:t>
            </a:r>
          </a:p>
          <a:p>
            <a:r>
              <a:rPr lang="es-ES" dirty="0"/>
              <a:t>La instanciación consta de dos pasos: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0F16F-F121-84F9-5675-DD0B133A83B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Instanciación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02C4175-64BC-F8C5-EADB-9B99CB558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9996" y="5490659"/>
            <a:ext cx="6774732" cy="578882"/>
          </a:xfrm>
          <a:prstGeom prst="roundRect">
            <a:avLst/>
          </a:prstGeom>
          <a:solidFill>
            <a:srgbClr val="2B2B2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0099C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E4CA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410BF-C1B7-F819-AE5E-2954FB7705B2}"/>
              </a:ext>
            </a:extLst>
          </p:cNvPr>
          <p:cNvSpPr txBox="1"/>
          <p:nvPr/>
        </p:nvSpPr>
        <p:spPr>
          <a:xfrm>
            <a:off x="1751629" y="4492365"/>
            <a:ext cx="28633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1º Se </a:t>
            </a:r>
            <a:r>
              <a:rPr lang="en-US" sz="1600" dirty="0" err="1"/>
              <a:t>declara</a:t>
            </a:r>
            <a:r>
              <a:rPr lang="en-US" sz="1600" dirty="0"/>
              <a:t> </a:t>
            </a:r>
            <a:r>
              <a:rPr lang="en-US" sz="1600" dirty="0" err="1"/>
              <a:t>una</a:t>
            </a:r>
            <a:r>
              <a:rPr lang="en-US" sz="1600" dirty="0"/>
              <a:t> variable </a:t>
            </a:r>
            <a:r>
              <a:rPr lang="en-US" sz="1600" dirty="0" err="1"/>
              <a:t>indicando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tipo</a:t>
            </a:r>
            <a:r>
              <a:rPr lang="en-US" sz="1600" dirty="0"/>
              <a:t> de la </a:t>
            </a:r>
            <a:r>
              <a:rPr lang="en-US" sz="1600" dirty="0" err="1"/>
              <a:t>clase</a:t>
            </a: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B9AEFB-8D14-D0F4-6AAE-3F2B5E566F7E}"/>
              </a:ext>
            </a:extLst>
          </p:cNvPr>
          <p:cNvSpPr txBox="1"/>
          <p:nvPr/>
        </p:nvSpPr>
        <p:spPr>
          <a:xfrm>
            <a:off x="8485106" y="4492365"/>
            <a:ext cx="22097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2º Se le </a:t>
            </a:r>
            <a:r>
              <a:rPr lang="en-US" sz="1600" dirty="0" err="1"/>
              <a:t>asigna</a:t>
            </a:r>
            <a:r>
              <a:rPr lang="en-US" sz="1600" dirty="0"/>
              <a:t> </a:t>
            </a:r>
            <a:r>
              <a:rPr lang="en-US" sz="1600" dirty="0" err="1"/>
              <a:t>memoria</a:t>
            </a:r>
            <a:r>
              <a:rPr lang="en-US" sz="1600" dirty="0"/>
              <a:t> </a:t>
            </a:r>
            <a:r>
              <a:rPr lang="en-US" sz="1600" dirty="0" err="1"/>
              <a:t>usando</a:t>
            </a:r>
            <a:r>
              <a:rPr lang="en-US" sz="1600" dirty="0"/>
              <a:t> </a:t>
            </a:r>
            <a:r>
              <a:rPr lang="en-US" sz="1600" b="1" dirty="0"/>
              <a:t>new</a:t>
            </a:r>
            <a:endParaRPr lang="en-US" sz="16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EB7C6AD-94AD-0B22-E5F6-825280F7BEDF}"/>
              </a:ext>
            </a:extLst>
          </p:cNvPr>
          <p:cNvSpPr/>
          <p:nvPr/>
        </p:nvSpPr>
        <p:spPr>
          <a:xfrm>
            <a:off x="4487162" y="4711090"/>
            <a:ext cx="1018095" cy="622170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8095" h="622170">
                <a:moveTo>
                  <a:pt x="0" y="0"/>
                </a:moveTo>
                <a:cubicBezTo>
                  <a:pt x="421063" y="9428"/>
                  <a:pt x="955249" y="-18853"/>
                  <a:pt x="1018095" y="62217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D0803BA-1A83-0297-DEF8-CD2ACE92FA32}"/>
              </a:ext>
            </a:extLst>
          </p:cNvPr>
          <p:cNvSpPr/>
          <p:nvPr/>
        </p:nvSpPr>
        <p:spPr>
          <a:xfrm flipH="1">
            <a:off x="7350554" y="4711090"/>
            <a:ext cx="1018095" cy="622170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8095" h="622170">
                <a:moveTo>
                  <a:pt x="0" y="0"/>
                </a:moveTo>
                <a:cubicBezTo>
                  <a:pt x="421063" y="9428"/>
                  <a:pt x="955249" y="-18853"/>
                  <a:pt x="1018095" y="62217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0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30BDF-77BA-2889-B23F-A22D96EE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Instanciación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869F1A-E235-D1B6-D326-DA10D92AC5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ACBA8-F658-F9BC-DC9E-E0DABB3CDD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4788657" cy="4782911"/>
          </a:xfrm>
        </p:spPr>
        <p:txBody>
          <a:bodyPr/>
          <a:lstStyle/>
          <a:p>
            <a:r>
              <a:rPr lang="es-ES" dirty="0"/>
              <a:t>Se pueden crear tantas instancias de clase como se requieran.</a:t>
            </a:r>
          </a:p>
          <a:p>
            <a:r>
              <a:rPr lang="es-ES" u="sng" dirty="0"/>
              <a:t>Cada instancia</a:t>
            </a:r>
            <a:r>
              <a:rPr lang="es-ES" dirty="0"/>
              <a:t> constituye un </a:t>
            </a:r>
            <a:r>
              <a:rPr lang="es-ES" u="sng" dirty="0"/>
              <a:t>objeto independiente</a:t>
            </a:r>
            <a:r>
              <a:rPr lang="es-ES" dirty="0"/>
              <a:t>.</a:t>
            </a:r>
          </a:p>
          <a:p>
            <a:r>
              <a:rPr lang="es-ES" dirty="0"/>
              <a:t>Usa los </a:t>
            </a:r>
            <a:r>
              <a:rPr lang="es-ES" b="1" dirty="0" err="1"/>
              <a:t>setters</a:t>
            </a:r>
            <a:r>
              <a:rPr lang="es-ES" dirty="0"/>
              <a:t> y </a:t>
            </a:r>
            <a:r>
              <a:rPr lang="es-ES" b="1" dirty="0" err="1"/>
              <a:t>getters</a:t>
            </a:r>
            <a:r>
              <a:rPr lang="es-ES" dirty="0"/>
              <a:t> para asignar o leer los valores de cada objeto.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D67E9-7108-1C0C-1EE0-67834FD1B6F2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Instanciación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34CFFF-E5A7-0C21-B374-A518F607E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490" y="1647018"/>
            <a:ext cx="5283127" cy="4014694"/>
          </a:xfrm>
          <a:prstGeom prst="roundRect">
            <a:avLst>
              <a:gd name="adj" fmla="val 376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miAmigo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Persona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"Jorge"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apellidos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"Rodríguez"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miAmigo.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"Fernando"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miAmigo.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apellidos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"Díaz"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%s, %s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apellidos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"Mi amigo: %s, %s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miAmigo.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apellidos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miAmigo.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565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Puntero </a:t>
              </a:r>
              <a:r>
                <a:rPr lang="es-ES" sz="1800" b="1" dirty="0" err="1">
                  <a:solidFill>
                    <a:schemeClr val="bg1">
                      <a:lumMod val="50000"/>
                    </a:schemeClr>
                  </a:solidFill>
                </a:rPr>
                <a:t>this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Instanciación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0CB71EB-13A3-8722-388A-D995E9FD8B22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Constructores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265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7A91826-70E7-8433-BA5B-745E4667FD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771"/>
          <a:stretch/>
        </p:blipFill>
        <p:spPr>
          <a:xfrm>
            <a:off x="8610600" y="193291"/>
            <a:ext cx="3581400" cy="666470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69E16A1-753F-5E8B-BA74-6A42DA790183}"/>
              </a:ext>
            </a:extLst>
          </p:cNvPr>
          <p:cNvSpPr/>
          <p:nvPr/>
        </p:nvSpPr>
        <p:spPr>
          <a:xfrm>
            <a:off x="8191893" y="3233395"/>
            <a:ext cx="3638746" cy="2982672"/>
          </a:xfrm>
          <a:prstGeom prst="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CB0E49-6053-8122-E67E-2F63286A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son los constructores?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4B12D6-EF30-DBB3-3E0E-E089F310FE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18C3FE5-6811-CAF4-424B-58D5C851FE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686586" cy="4782911"/>
          </a:xfrm>
        </p:spPr>
        <p:txBody>
          <a:bodyPr/>
          <a:lstStyle/>
          <a:p>
            <a:r>
              <a:rPr lang="es-ES" dirty="0"/>
              <a:t>Un constructor es un </a:t>
            </a:r>
            <a:r>
              <a:rPr lang="es-ES" b="1" dirty="0">
                <a:solidFill>
                  <a:schemeClr val="accent2"/>
                </a:solidFill>
              </a:rPr>
              <a:t>método</a:t>
            </a:r>
            <a:r>
              <a:rPr lang="es-ES" dirty="0"/>
              <a:t> especial de una </a:t>
            </a:r>
            <a:r>
              <a:rPr lang="es-ES" b="1" dirty="0"/>
              <a:t>clase</a:t>
            </a:r>
            <a:r>
              <a:rPr lang="es-ES" dirty="0"/>
              <a:t>.</a:t>
            </a:r>
          </a:p>
          <a:p>
            <a:r>
              <a:rPr lang="es-ES" dirty="0"/>
              <a:t>Permiten </a:t>
            </a:r>
            <a:r>
              <a:rPr lang="es-ES" b="1" dirty="0"/>
              <a:t>inicializar los atributos</a:t>
            </a:r>
            <a:r>
              <a:rPr lang="es-ES" dirty="0"/>
              <a:t> cuando un objeto es creado con </a:t>
            </a:r>
            <a:r>
              <a:rPr lang="es-ES" b="1" dirty="0">
                <a:solidFill>
                  <a:schemeClr val="accent2"/>
                </a:solidFill>
              </a:rPr>
              <a:t>new</a:t>
            </a:r>
            <a:r>
              <a:rPr lang="es-ES" dirty="0"/>
              <a:t>.</a:t>
            </a:r>
          </a:p>
          <a:p>
            <a:r>
              <a:rPr lang="es-ES" dirty="0"/>
              <a:t>Es </a:t>
            </a:r>
            <a:r>
              <a:rPr lang="es-ES" b="1" dirty="0">
                <a:solidFill>
                  <a:schemeClr val="accent2"/>
                </a:solidFill>
              </a:rPr>
              <a:t>invocado automáticamente</a:t>
            </a:r>
            <a:r>
              <a:rPr lang="es-ES" dirty="0"/>
              <a:t>.</a:t>
            </a:r>
          </a:p>
          <a:p>
            <a:r>
              <a:rPr lang="es-ES" dirty="0"/>
              <a:t>Su </a:t>
            </a:r>
            <a:r>
              <a:rPr lang="es-ES" b="1" dirty="0"/>
              <a:t>nombre</a:t>
            </a:r>
            <a:r>
              <a:rPr lang="es-ES" dirty="0"/>
              <a:t> debe ser el </a:t>
            </a:r>
            <a:r>
              <a:rPr lang="es-ES" b="1" dirty="0"/>
              <a:t>mismo</a:t>
            </a:r>
            <a:r>
              <a:rPr lang="es-ES" dirty="0"/>
              <a:t> de la </a:t>
            </a:r>
            <a:r>
              <a:rPr lang="es-ES" b="1" dirty="0"/>
              <a:t>clase</a:t>
            </a:r>
            <a:r>
              <a:rPr lang="es-ES" dirty="0"/>
              <a:t>.</a:t>
            </a:r>
          </a:p>
          <a:p>
            <a:r>
              <a:rPr lang="es-ES" dirty="0"/>
              <a:t>Una clase puede definir </a:t>
            </a:r>
            <a:r>
              <a:rPr lang="es-ES" b="1" dirty="0"/>
              <a:t>varios constructores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FCE26-7273-E35A-8A6E-4699658AEB3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Constructores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963CC9C-EBD3-7A3D-AC1F-A75C6C7A0DDF}"/>
              </a:ext>
            </a:extLst>
          </p:cNvPr>
          <p:cNvGrpSpPr/>
          <p:nvPr/>
        </p:nvGrpSpPr>
        <p:grpSpPr>
          <a:xfrm>
            <a:off x="8290094" y="3429000"/>
            <a:ext cx="3384211" cy="2533252"/>
            <a:chOff x="8210747" y="3066270"/>
            <a:chExt cx="3384211" cy="25332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799C907D-47FC-9E7C-F324-DAFC4DD7C895}"/>
                </a:ext>
              </a:extLst>
            </p:cNvPr>
            <p:cNvSpPr/>
            <p:nvPr/>
          </p:nvSpPr>
          <p:spPr>
            <a:xfrm rot="16200000">
              <a:off x="9511079" y="3298022"/>
              <a:ext cx="785527" cy="1760851"/>
            </a:xfrm>
            <a:prstGeom prst="rightBrace">
              <a:avLst>
                <a:gd name="adj1" fmla="val 0"/>
                <a:gd name="adj2" fmla="val 5000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EA3878A-6A92-F0BF-1E71-0AD5D5831638}"/>
                </a:ext>
              </a:extLst>
            </p:cNvPr>
            <p:cNvSpPr/>
            <p:nvPr/>
          </p:nvSpPr>
          <p:spPr>
            <a:xfrm>
              <a:off x="8610600" y="3066270"/>
              <a:ext cx="2584504" cy="785528"/>
            </a:xfrm>
            <a:prstGeom prst="roundRect">
              <a:avLst>
                <a:gd name="adj" fmla="val 826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bg2">
                      <a:lumMod val="75000"/>
                    </a:schemeClr>
                  </a:solidFill>
                </a:rPr>
                <a:t>Tipos de constructor</a:t>
              </a:r>
              <a:endParaRPr lang="en-US" sz="1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81C4F15-B8C3-F7C6-9422-40E5EB2D803F}"/>
                </a:ext>
              </a:extLst>
            </p:cNvPr>
            <p:cNvSpPr/>
            <p:nvPr/>
          </p:nvSpPr>
          <p:spPr>
            <a:xfrm>
              <a:off x="8210747" y="4488770"/>
              <a:ext cx="1611044" cy="1110752"/>
            </a:xfrm>
            <a:prstGeom prst="roundRect">
              <a:avLst>
                <a:gd name="adj" fmla="val 7331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bg2">
                      <a:lumMod val="75000"/>
                    </a:schemeClr>
                  </a:solidFill>
                </a:rPr>
                <a:t>Constructor Vacío</a:t>
              </a:r>
              <a:endParaRPr lang="en-US" sz="1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4498776-184C-BAD6-CFB9-3E969FC99411}"/>
                </a:ext>
              </a:extLst>
            </p:cNvPr>
            <p:cNvSpPr/>
            <p:nvPr/>
          </p:nvSpPr>
          <p:spPr>
            <a:xfrm>
              <a:off x="9983914" y="4488770"/>
              <a:ext cx="1611044" cy="1110752"/>
            </a:xfrm>
            <a:prstGeom prst="roundRect">
              <a:avLst>
                <a:gd name="adj" fmla="val 6483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1600" dirty="0">
                  <a:solidFill>
                    <a:schemeClr val="bg2">
                      <a:lumMod val="75000"/>
                    </a:schemeClr>
                  </a:solidFill>
                </a:rPr>
                <a:t>Constructor Parametrizado</a:t>
              </a:r>
              <a:endParaRPr lang="en-US" sz="1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B88FCB9-5135-4CAF-289C-13ED7B814439}"/>
              </a:ext>
            </a:extLst>
          </p:cNvPr>
          <p:cNvSpPr txBox="1"/>
          <p:nvPr/>
        </p:nvSpPr>
        <p:spPr>
          <a:xfrm>
            <a:off x="838200" y="6490643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https://pngimg.com/uploads/industrial_worker/industrial_worker_PNG11403.png</a:t>
            </a:r>
          </a:p>
        </p:txBody>
      </p:sp>
    </p:spTree>
    <p:extLst>
      <p:ext uri="{BB962C8B-B14F-4D97-AF65-F5344CB8AC3E}">
        <p14:creationId xmlns:p14="http://schemas.microsoft.com/office/powerpoint/2010/main" val="288212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16254A-4BB9-5227-C3FC-8F876692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67600" y="598837"/>
            <a:ext cx="3886200" cy="5829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BAB400-2BE6-1ED0-2218-725DE2BB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Constructores vacíos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609A17-2BA6-EED7-7AD5-20C9E1B34E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29CA8-0DF9-ED87-25BC-880C642418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620598" cy="4782911"/>
          </a:xfrm>
        </p:spPr>
        <p:txBody>
          <a:bodyPr/>
          <a:lstStyle/>
          <a:p>
            <a:r>
              <a:rPr lang="es-ES" dirty="0"/>
              <a:t>Denominado también “</a:t>
            </a:r>
            <a:r>
              <a:rPr lang="es-ES" u="sng" dirty="0"/>
              <a:t>constructor por defecto</a:t>
            </a:r>
            <a:r>
              <a:rPr lang="es-ES" dirty="0"/>
              <a:t>”.</a:t>
            </a:r>
            <a:endParaRPr lang="en-US" dirty="0"/>
          </a:p>
          <a:p>
            <a:r>
              <a:rPr lang="es-ES" dirty="0"/>
              <a:t>Se crea el método pero </a:t>
            </a:r>
            <a:r>
              <a:rPr lang="es-ES" u="sng" dirty="0"/>
              <a:t>sin valor de retorno ni parámetros</a:t>
            </a:r>
            <a:r>
              <a:rPr lang="es-ES" dirty="0"/>
              <a:t>.</a:t>
            </a:r>
          </a:p>
          <a:p>
            <a:r>
              <a:rPr lang="es-ES" dirty="0"/>
              <a:t>Puede incluir código para inicializar los atributos.</a:t>
            </a:r>
          </a:p>
          <a:p>
            <a:r>
              <a:rPr lang="es-ES" dirty="0"/>
              <a:t>Solo puede haber uno por clase.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4FA02C-6416-F78B-A2BB-969975AF4D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Constructores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A0D37-79F0-DE4E-4F42-2B38A6A4B1D8}"/>
              </a:ext>
            </a:extLst>
          </p:cNvPr>
          <p:cNvSpPr txBox="1"/>
          <p:nvPr/>
        </p:nvSpPr>
        <p:spPr>
          <a:xfrm>
            <a:off x="838200" y="6327463"/>
            <a:ext cx="8930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https://media.istockphoto.com/id/1325940358/photo/colorful-wooden-cubes.jpg?s=612x612&amp;w=0&amp;k=20&amp;c=6zAltZ9SAcbCIj18lZj2FVpI7wHbPB5uA9KmSiSqHHg=</a:t>
            </a:r>
          </a:p>
        </p:txBody>
      </p:sp>
    </p:spTree>
    <p:extLst>
      <p:ext uri="{BB962C8B-B14F-4D97-AF65-F5344CB8AC3E}">
        <p14:creationId xmlns:p14="http://schemas.microsoft.com/office/powerpoint/2010/main" val="403262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2F81BF5-68B0-B44B-0247-313B7025E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922" y="3695805"/>
            <a:ext cx="3162195" cy="3162195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DD351D9E-4BA4-19E1-5896-3D5799686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2310" y="1425963"/>
            <a:ext cx="3913837" cy="3981201"/>
          </a:xfrm>
          <a:prstGeom prst="roundRect">
            <a:avLst>
              <a:gd name="adj" fmla="val 2472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"Constructing box"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D4C78-A544-238D-97E9-62501D98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Constructores vacíos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0DF43B-AACB-633C-46D4-1107EAEE9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C53C6C-49A0-9C50-3BB4-03E58B7125E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Constructores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B9ECD41-4621-D9DC-5A1E-C4D0B0A5DF4F}"/>
              </a:ext>
            </a:extLst>
          </p:cNvPr>
          <p:cNvSpPr/>
          <p:nvPr/>
        </p:nvSpPr>
        <p:spPr>
          <a:xfrm>
            <a:off x="1762532" y="2731206"/>
            <a:ext cx="3177116" cy="2495286"/>
          </a:xfrm>
          <a:prstGeom prst="roundRect">
            <a:avLst>
              <a:gd name="adj" fmla="val 4352"/>
            </a:avLst>
          </a:prstGeom>
          <a:noFill/>
          <a:ln w="190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27830C-BAC7-0CB8-399D-ADAF70FDBD2E}"/>
              </a:ext>
            </a:extLst>
          </p:cNvPr>
          <p:cNvSpPr txBox="1"/>
          <p:nvPr/>
        </p:nvSpPr>
        <p:spPr>
          <a:xfrm>
            <a:off x="1384814" y="5617736"/>
            <a:ext cx="6467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B0F0"/>
                </a:solidFill>
              </a:rPr>
              <a:t>Nota: El mensaje dentro del constructor se ha incluido solo con fines didácticos, para demostrar que un constructor se ejecuta de manera automática.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D0BE14-CBB3-0CCA-F4DA-850887862C82}"/>
              </a:ext>
            </a:extLst>
          </p:cNvPr>
          <p:cNvSpPr txBox="1"/>
          <p:nvPr/>
        </p:nvSpPr>
        <p:spPr>
          <a:xfrm>
            <a:off x="5676369" y="3733695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01F5DAA-A642-306B-2EDD-1E797AAA0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369" y="1425963"/>
            <a:ext cx="5631106" cy="2062220"/>
          </a:xfrm>
          <a:prstGeom prst="roundRect">
            <a:avLst>
              <a:gd name="adj" fmla="val 5106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Box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"Volume = %9.2f cm3"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676343-DF2F-EA23-0C81-EF45FDA8C93C}"/>
              </a:ext>
            </a:extLst>
          </p:cNvPr>
          <p:cNvSpPr txBox="1"/>
          <p:nvPr/>
        </p:nvSpPr>
        <p:spPr>
          <a:xfrm>
            <a:off x="5735328" y="4069449"/>
            <a:ext cx="2476893" cy="68494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Constructing box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Volume =   1000.00 cm3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C06F7E-8CFE-F495-4936-815D0F1EF97B}"/>
              </a:ext>
            </a:extLst>
          </p:cNvPr>
          <p:cNvSpPr txBox="1"/>
          <p:nvPr/>
        </p:nvSpPr>
        <p:spPr>
          <a:xfrm>
            <a:off x="911701" y="6469758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https://freepngimg.com/thumb/machine/46517-8-box-png-file-hd.png</a:t>
            </a:r>
          </a:p>
        </p:txBody>
      </p:sp>
    </p:spTree>
    <p:extLst>
      <p:ext uri="{BB962C8B-B14F-4D97-AF65-F5344CB8AC3E}">
        <p14:creationId xmlns:p14="http://schemas.microsoft.com/office/powerpoint/2010/main" val="375697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AAD1C7-2D01-B840-8790-B7BB0CDC0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367" y="2738437"/>
            <a:ext cx="5962650" cy="38004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95D427-A055-5EEF-725B-9F24315A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Constructores parametrizados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EEE021-35CA-7110-29D8-93A2FE13C7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BD115-2AB3-305D-14F0-9779FD7FF7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Se crea el método pero </a:t>
            </a:r>
            <a:r>
              <a:rPr lang="es-ES" u="sng" dirty="0"/>
              <a:t>sin valor de retorno</a:t>
            </a:r>
            <a:r>
              <a:rPr lang="es-ES" dirty="0"/>
              <a:t>.</a:t>
            </a:r>
          </a:p>
          <a:p>
            <a:r>
              <a:rPr lang="en-US" u="sng" dirty="0" err="1"/>
              <a:t>Incluye</a:t>
            </a:r>
            <a:r>
              <a:rPr lang="en-US" u="sng" dirty="0"/>
              <a:t> uno o </a:t>
            </a:r>
            <a:r>
              <a:rPr lang="en-US" u="sng" dirty="0" err="1"/>
              <a:t>varios</a:t>
            </a:r>
            <a:r>
              <a:rPr lang="en-US" u="sng" dirty="0"/>
              <a:t> </a:t>
            </a:r>
            <a:r>
              <a:rPr lang="en-US" u="sng" dirty="0" err="1"/>
              <a:t>parámetros</a:t>
            </a:r>
            <a:r>
              <a:rPr lang="en-US" dirty="0"/>
              <a:t>, </a:t>
            </a:r>
            <a:r>
              <a:rPr lang="en-US" dirty="0" err="1"/>
              <a:t>utilizados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para </a:t>
            </a:r>
            <a:r>
              <a:rPr lang="en-US" dirty="0" err="1"/>
              <a:t>inicializar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.</a:t>
            </a:r>
          </a:p>
          <a:p>
            <a:r>
              <a:rPr lang="en-US" dirty="0"/>
              <a:t>Si </a:t>
            </a:r>
            <a:r>
              <a:rPr lang="en-US" dirty="0" err="1"/>
              <a:t>incluye</a:t>
            </a:r>
            <a:r>
              <a:rPr lang="en-US" dirty="0"/>
              <a:t> </a:t>
            </a:r>
            <a:r>
              <a:rPr lang="en-US" dirty="0" err="1"/>
              <a:t>parámetros</a:t>
            </a:r>
            <a:r>
              <a:rPr lang="en-US" dirty="0"/>
              <a:t> para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se </a:t>
            </a:r>
            <a:r>
              <a:rPr lang="en-US" dirty="0" err="1"/>
              <a:t>denomina</a:t>
            </a:r>
            <a:r>
              <a:rPr lang="en-US" dirty="0"/>
              <a:t> </a:t>
            </a:r>
            <a:r>
              <a:rPr lang="en-US" b="1" dirty="0"/>
              <a:t>constructor </a:t>
            </a:r>
            <a:r>
              <a:rPr lang="en-US" b="1" dirty="0" err="1"/>
              <a:t>completo</a:t>
            </a:r>
            <a:r>
              <a:rPr lang="en-US" dirty="0"/>
              <a:t>.</a:t>
            </a:r>
          </a:p>
          <a:p>
            <a:r>
              <a:rPr lang="en-US" dirty="0"/>
              <a:t>Una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varios</a:t>
            </a:r>
            <a:r>
              <a:rPr lang="en-US" dirty="0"/>
              <a:t> </a:t>
            </a:r>
            <a:r>
              <a:rPr lang="en-US" dirty="0" err="1"/>
              <a:t>constructores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parametrizados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137494-AFAF-79DC-1C31-A00AB45E9004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Constructores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40420-612F-8979-8644-DAD8AD1DEABF}"/>
              </a:ext>
            </a:extLst>
          </p:cNvPr>
          <p:cNvSpPr txBox="1"/>
          <p:nvPr/>
        </p:nvSpPr>
        <p:spPr>
          <a:xfrm>
            <a:off x="838200" y="6327463"/>
            <a:ext cx="89303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https://img.freepik.com/premium-photo/toy-wooden-blocks-stack-tower-blank-multicolor-box-cubes-white-background_488220-15575.jpg</a:t>
            </a:r>
          </a:p>
        </p:txBody>
      </p:sp>
    </p:spTree>
    <p:extLst>
      <p:ext uri="{BB962C8B-B14F-4D97-AF65-F5344CB8AC3E}">
        <p14:creationId xmlns:p14="http://schemas.microsoft.com/office/powerpoint/2010/main" val="1910735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5D427-A055-5EEF-725B-9F24315A9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Constructores parametrizados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EEE021-35CA-7110-29D8-93A2FE13C7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137494-AFAF-79DC-1C31-A00AB45E9004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Constructores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E339E37-FF58-277F-90AE-4F2CE4C91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0326" y="1348833"/>
            <a:ext cx="5247520" cy="5195404"/>
          </a:xfrm>
          <a:prstGeom prst="roundRect">
            <a:avLst>
              <a:gd name="adj" fmla="val 1930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"Constructing box"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50F62F1-60BC-B9B7-A05D-616F896E0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590700"/>
            <a:ext cx="5676424" cy="2915725"/>
          </a:xfrm>
          <a:prstGeom prst="roundRect">
            <a:avLst>
              <a:gd name="adj" fmla="val 4582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Box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"Volume = %9.2f cm3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Box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yourBox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12.5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13.7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10.4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"Volume = %9.2f cm3"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yourBox.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yourBox.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yourBox.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2E6864-14DE-9529-01BD-563D5E62E9DE}"/>
              </a:ext>
            </a:extLst>
          </p:cNvPr>
          <p:cNvSpPr txBox="1"/>
          <p:nvPr/>
        </p:nvSpPr>
        <p:spPr>
          <a:xfrm>
            <a:off x="7189781" y="474829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Salida: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42A36B-2CA5-75DC-0859-0C4AD4B2F5D9}"/>
              </a:ext>
            </a:extLst>
          </p:cNvPr>
          <p:cNvSpPr txBox="1"/>
          <p:nvPr/>
        </p:nvSpPr>
        <p:spPr>
          <a:xfrm>
            <a:off x="7248740" y="5084046"/>
            <a:ext cx="2476893" cy="991407"/>
          </a:xfrm>
          <a:prstGeom prst="roundRect">
            <a:avLst>
              <a:gd name="adj" fmla="val 8109"/>
            </a:avLst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Constructing box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Volume =   1000.00 cm3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Volume =   1781.00 cm3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F3298AC-0F32-A368-A887-7BF83D859836}"/>
              </a:ext>
            </a:extLst>
          </p:cNvPr>
          <p:cNvSpPr/>
          <p:nvPr/>
        </p:nvSpPr>
        <p:spPr>
          <a:xfrm>
            <a:off x="1592850" y="4840240"/>
            <a:ext cx="4921071" cy="1461871"/>
          </a:xfrm>
          <a:prstGeom prst="roundRect">
            <a:avLst>
              <a:gd name="adj" fmla="val 4352"/>
            </a:avLst>
          </a:prstGeom>
          <a:noFill/>
          <a:ln w="190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5375597-AB68-B6DB-F0C7-92399394AEC2}"/>
              </a:ext>
            </a:extLst>
          </p:cNvPr>
          <p:cNvSpPr/>
          <p:nvPr/>
        </p:nvSpPr>
        <p:spPr>
          <a:xfrm>
            <a:off x="6770588" y="3066068"/>
            <a:ext cx="4921071" cy="1098325"/>
          </a:xfrm>
          <a:prstGeom prst="roundRect">
            <a:avLst>
              <a:gd name="adj" fmla="val 4352"/>
            </a:avLst>
          </a:prstGeom>
          <a:noFill/>
          <a:ln w="190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Instanciación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Constructores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0CB71EB-13A3-8722-388A-D995E9FD8B22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Puntero </a:t>
              </a:r>
              <a:r>
                <a:rPr lang="es-ES" sz="1800" b="1" dirty="0" err="1">
                  <a:solidFill>
                    <a:schemeClr val="bg1">
                      <a:lumMod val="50000"/>
                    </a:schemeClr>
                  </a:solidFill>
                </a:rPr>
                <a:t>this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422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8EE92D8-4C85-0B47-EA42-E0C12C621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393" y="221017"/>
            <a:ext cx="4009374" cy="28629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80CD3C-DDD8-41F2-A0D4-A9B416F28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this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863586-458B-A76A-505D-5177333991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F683F3B-A3FD-A481-0E41-B25797B35F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4009374" cy="4782911"/>
          </a:xfrm>
        </p:spPr>
        <p:txBody>
          <a:bodyPr/>
          <a:lstStyle/>
          <a:p>
            <a:r>
              <a:rPr lang="es-ES" dirty="0"/>
              <a:t>Es una </a:t>
            </a:r>
            <a:r>
              <a:rPr lang="es-ES" b="1" dirty="0">
                <a:solidFill>
                  <a:schemeClr val="accent2"/>
                </a:solidFill>
              </a:rPr>
              <a:t>referencia</a:t>
            </a:r>
            <a:r>
              <a:rPr lang="es-ES" dirty="0"/>
              <a:t> que un </a:t>
            </a:r>
            <a:r>
              <a:rPr lang="es-ES" b="1" dirty="0"/>
              <a:t>objeto</a:t>
            </a:r>
            <a:r>
              <a:rPr lang="es-ES" dirty="0"/>
              <a:t> se hace </a:t>
            </a:r>
            <a:r>
              <a:rPr lang="es-ES" b="1" dirty="0"/>
              <a:t>a sí mismo</a:t>
            </a:r>
            <a:r>
              <a:rPr lang="es-ES" dirty="0"/>
              <a:t>.</a:t>
            </a:r>
          </a:p>
          <a:p>
            <a:r>
              <a:rPr lang="es-ES" dirty="0"/>
              <a:t>Utilizado para resolver casos de </a:t>
            </a:r>
            <a:r>
              <a:rPr lang="es-ES" u="sng" dirty="0"/>
              <a:t>colisión de nombres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A6244-AF8A-7575-49E3-856BF047E9D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Puntero </a:t>
            </a:r>
            <a:r>
              <a:rPr lang="es-ES" sz="2400" b="1" dirty="0" err="1">
                <a:solidFill>
                  <a:schemeClr val="bg1">
                    <a:lumMod val="75000"/>
                  </a:schemeClr>
                </a:solidFill>
              </a:rPr>
              <a:t>this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F5E22-E287-106C-00FD-EF59BEE61B02}"/>
              </a:ext>
            </a:extLst>
          </p:cNvPr>
          <p:cNvSpPr txBox="1"/>
          <p:nvPr/>
        </p:nvSpPr>
        <p:spPr>
          <a:xfrm>
            <a:off x="947395" y="6441348"/>
            <a:ext cx="99876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https://static.vecteezy.com/system/resources/previews/013/442/362/original/smart-boy-in-black-suit-pointing-self-3d-illustration-of-man-in-black-suit-pointing-self-png.png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2534D0C-696E-FB2A-701F-4C3CB89EB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835" y="1974841"/>
            <a:ext cx="5724979" cy="3172265"/>
          </a:xfrm>
          <a:prstGeom prst="roundRect">
            <a:avLst>
              <a:gd name="adj" fmla="val 4215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Box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width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height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depth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BAF2242-9692-54FC-13FC-2498CF0AAAFB}"/>
              </a:ext>
            </a:extLst>
          </p:cNvPr>
          <p:cNvSpPr/>
          <p:nvPr/>
        </p:nvSpPr>
        <p:spPr>
          <a:xfrm>
            <a:off x="7870352" y="4606825"/>
            <a:ext cx="1616182" cy="1150072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1615561 w 1615561"/>
              <a:gd name="connsiteY0" fmla="*/ 1150072 h 1160981"/>
              <a:gd name="connsiteX1" fmla="*/ 3576 w 1615561"/>
              <a:gd name="connsiteY1" fmla="*/ 0 h 1160981"/>
              <a:gd name="connsiteX0" fmla="*/ 1616182 w 1616182"/>
              <a:gd name="connsiteY0" fmla="*/ 1150072 h 1150072"/>
              <a:gd name="connsiteX1" fmla="*/ 4197 w 1616182"/>
              <a:gd name="connsiteY1" fmla="*/ 0 h 1150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16182" h="1150072">
                <a:moveTo>
                  <a:pt x="1616182" y="1150072"/>
                </a:moveTo>
                <a:cubicBezTo>
                  <a:pt x="246151" y="1140647"/>
                  <a:pt x="-39795" y="716437"/>
                  <a:pt x="4197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B85A43-D9A0-460D-3761-541F06EBA972}"/>
              </a:ext>
            </a:extLst>
          </p:cNvPr>
          <p:cNvSpPr txBox="1"/>
          <p:nvPr/>
        </p:nvSpPr>
        <p:spPr>
          <a:xfrm>
            <a:off x="5488526" y="5399993"/>
            <a:ext cx="1459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Se refiere al atributo de la clase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DBF447-E551-6AAD-0CE3-3783FAA14D28}"/>
              </a:ext>
            </a:extLst>
          </p:cNvPr>
          <p:cNvSpPr txBox="1"/>
          <p:nvPr/>
        </p:nvSpPr>
        <p:spPr>
          <a:xfrm>
            <a:off x="9606974" y="5399993"/>
            <a:ext cx="14590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Se refiere al parámetro del método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E464E1C-6160-1CD3-BE0C-707BD6ACED6D}"/>
              </a:ext>
            </a:extLst>
          </p:cNvPr>
          <p:cNvSpPr/>
          <p:nvPr/>
        </p:nvSpPr>
        <p:spPr>
          <a:xfrm>
            <a:off x="7030574" y="4614551"/>
            <a:ext cx="261215" cy="1142346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545182 w 724290"/>
              <a:gd name="connsiteY0" fmla="*/ 942682 h 958778"/>
              <a:gd name="connsiteX1" fmla="*/ 724290 w 724290"/>
              <a:gd name="connsiteY1" fmla="*/ 0 h 958778"/>
              <a:gd name="connsiteX0" fmla="*/ 0 w 179108"/>
              <a:gd name="connsiteY0" fmla="*/ 942682 h 942682"/>
              <a:gd name="connsiteX1" fmla="*/ 179108 w 179108"/>
              <a:gd name="connsiteY1" fmla="*/ 0 h 942682"/>
              <a:gd name="connsiteX0" fmla="*/ 0 w 244201"/>
              <a:gd name="connsiteY0" fmla="*/ 942682 h 942682"/>
              <a:gd name="connsiteX1" fmla="*/ 179108 w 244201"/>
              <a:gd name="connsiteY1" fmla="*/ 0 h 942682"/>
              <a:gd name="connsiteX0" fmla="*/ 0 w 261215"/>
              <a:gd name="connsiteY0" fmla="*/ 942682 h 942682"/>
              <a:gd name="connsiteX1" fmla="*/ 179108 w 261215"/>
              <a:gd name="connsiteY1" fmla="*/ 0 h 94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1215" h="942682">
                <a:moveTo>
                  <a:pt x="0" y="942682"/>
                </a:moveTo>
                <a:cubicBezTo>
                  <a:pt x="251380" y="942685"/>
                  <a:pt x="342506" y="546754"/>
                  <a:pt x="179108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E8244F1-35C0-72BA-6113-8C2C895F1C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87" t="38242" r="64578" b="28353"/>
          <a:stretch/>
        </p:blipFill>
        <p:spPr>
          <a:xfrm>
            <a:off x="5291224" y="1317056"/>
            <a:ext cx="1035845" cy="95635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1811CBD-6C89-7AD8-2D29-F17302276E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634" t="38242" b="28353"/>
          <a:stretch/>
        </p:blipFill>
        <p:spPr>
          <a:xfrm>
            <a:off x="7493793" y="1316753"/>
            <a:ext cx="1417967" cy="95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2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Instanciación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Constructores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Puntero </a:t>
              </a:r>
              <a:r>
                <a:rPr lang="es-ES" sz="1800" b="1" dirty="0" err="1">
                  <a:solidFill>
                    <a:schemeClr val="bg1">
                      <a:lumMod val="50000"/>
                    </a:schemeClr>
                  </a:solidFill>
                </a:rPr>
                <a:t>this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0CB71EB-13A3-8722-388A-D995E9FD8B22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67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DAAD45D-5CC0-89C0-1FF5-0A75AFDE7F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423" r="12105"/>
          <a:stretch/>
        </p:blipFill>
        <p:spPr>
          <a:xfrm>
            <a:off x="8678444" y="772998"/>
            <a:ext cx="3513556" cy="6085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2D2412-C8AB-2541-ACC5-3C51C06A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83659-8255-0D93-DD9B-5C209559D0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31487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/>
                </a:solidFill>
              </a:rPr>
              <a:t>24</a:t>
            </a:fld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E66FC4-5EE5-1E98-6054-E41EDC54C2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4945" y="1436914"/>
            <a:ext cx="7926507" cy="478291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>
                <a:latin typeface="+mj-lt"/>
              </a:rPr>
              <a:t>Crear en Java la clase </a:t>
            </a:r>
            <a:r>
              <a:rPr lang="es-ES" b="1" dirty="0">
                <a:latin typeface="+mj-lt"/>
              </a:rPr>
              <a:t>Alumno</a:t>
            </a:r>
            <a:r>
              <a:rPr lang="es-ES" dirty="0">
                <a:latin typeface="+mj-lt"/>
              </a:rPr>
              <a:t> con los siguientes atributos </a:t>
            </a:r>
            <a:r>
              <a:rPr lang="es-ES" b="1" dirty="0">
                <a:latin typeface="+mj-lt"/>
              </a:rPr>
              <a:t>privados</a:t>
            </a:r>
            <a:r>
              <a:rPr lang="es-ES" dirty="0">
                <a:latin typeface="+mj-lt"/>
              </a:rPr>
              <a:t>:</a:t>
            </a:r>
          </a:p>
          <a:p>
            <a:pPr lvl="1">
              <a:lnSpc>
                <a:spcPct val="120000"/>
              </a:lnSpc>
            </a:pPr>
            <a:r>
              <a:rPr lang="es-ES" dirty="0">
                <a:latin typeface="+mj-lt"/>
              </a:rPr>
              <a:t>foto, nombre (</a:t>
            </a:r>
            <a:r>
              <a:rPr lang="es-ES" dirty="0" err="1">
                <a:latin typeface="+mj-lt"/>
              </a:rPr>
              <a:t>String</a:t>
            </a:r>
            <a:r>
              <a:rPr lang="es-ES" dirty="0">
                <a:latin typeface="+mj-lt"/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es-ES" dirty="0">
                <a:latin typeface="+mj-lt"/>
              </a:rPr>
              <a:t>edad, pc1, pc2, pc3, </a:t>
            </a:r>
            <a:r>
              <a:rPr lang="es-ES" dirty="0" err="1">
                <a:latin typeface="+mj-lt"/>
              </a:rPr>
              <a:t>ef</a:t>
            </a:r>
            <a:r>
              <a:rPr lang="es-ES" dirty="0">
                <a:latin typeface="+mj-lt"/>
              </a:rPr>
              <a:t> (</a:t>
            </a:r>
            <a:r>
              <a:rPr lang="es-ES" dirty="0" err="1">
                <a:latin typeface="+mj-lt"/>
              </a:rPr>
              <a:t>int</a:t>
            </a:r>
            <a:r>
              <a:rPr lang="es-ES" dirty="0">
                <a:latin typeface="+mj-lt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latin typeface="+mj-lt"/>
              </a:rPr>
              <a:t>Crear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los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correspondientes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getters</a:t>
            </a:r>
            <a:r>
              <a:rPr lang="en-US" dirty="0">
                <a:latin typeface="+mj-lt"/>
              </a:rPr>
              <a:t> y </a:t>
            </a:r>
            <a:r>
              <a:rPr lang="en-US" b="1" dirty="0">
                <a:latin typeface="+mj-lt"/>
              </a:rPr>
              <a:t>setters</a:t>
            </a:r>
            <a:r>
              <a:rPr lang="en-US" dirty="0">
                <a:latin typeface="+mj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latin typeface="+mj-lt"/>
              </a:rPr>
              <a:t>Implementar</a:t>
            </a:r>
            <a:r>
              <a:rPr lang="en-US" dirty="0">
                <a:latin typeface="+mj-lt"/>
              </a:rPr>
              <a:t> un constructor </a:t>
            </a:r>
            <a:r>
              <a:rPr lang="en-US" dirty="0" err="1">
                <a:latin typeface="+mj-lt"/>
              </a:rPr>
              <a:t>parametrizado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completo</a:t>
            </a:r>
            <a:r>
              <a:rPr lang="en-US" dirty="0">
                <a:latin typeface="+mj-lt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dirty="0" err="1">
                <a:latin typeface="+mj-lt"/>
              </a:rPr>
              <a:t>Crear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en</a:t>
            </a:r>
            <a:r>
              <a:rPr lang="en-US" dirty="0">
                <a:latin typeface="+mj-lt"/>
              </a:rPr>
              <a:t> Java la </a:t>
            </a:r>
            <a:r>
              <a:rPr lang="en-US" dirty="0" err="1">
                <a:latin typeface="+mj-lt"/>
              </a:rPr>
              <a:t>clase</a:t>
            </a:r>
            <a:r>
              <a:rPr lang="en-US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PruebaAlumno</a:t>
            </a:r>
            <a:r>
              <a:rPr lang="en-US" b="1" dirty="0">
                <a:latin typeface="+mj-lt"/>
              </a:rPr>
              <a:t>.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Crear</a:t>
            </a:r>
            <a:r>
              <a:rPr lang="en-US" dirty="0">
                <a:latin typeface="+mj-lt"/>
              </a:rPr>
              <a:t> un </a:t>
            </a:r>
            <a:r>
              <a:rPr lang="en-US" dirty="0" err="1">
                <a:latin typeface="+mj-lt"/>
              </a:rPr>
              <a:t>objeto</a:t>
            </a:r>
            <a:r>
              <a:rPr lang="en-US" dirty="0">
                <a:latin typeface="+mj-lt"/>
              </a:rPr>
              <a:t> de </a:t>
            </a:r>
            <a:r>
              <a:rPr lang="en-US" dirty="0" err="1">
                <a:latin typeface="+mj-lt"/>
              </a:rPr>
              <a:t>tipo</a:t>
            </a:r>
            <a:r>
              <a:rPr lang="en-US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Alumno</a:t>
            </a:r>
            <a:r>
              <a:rPr lang="en-US" dirty="0">
                <a:latin typeface="+mj-lt"/>
              </a:rPr>
              <a:t> y </a:t>
            </a:r>
            <a:r>
              <a:rPr lang="en-US" dirty="0" err="1">
                <a:latin typeface="+mj-lt"/>
              </a:rPr>
              <a:t>poner</a:t>
            </a:r>
            <a:r>
              <a:rPr lang="en-US" dirty="0">
                <a:latin typeface="+mj-lt"/>
              </a:rPr>
              <a:t> a </a:t>
            </a:r>
            <a:r>
              <a:rPr lang="en-US" dirty="0" err="1">
                <a:latin typeface="+mj-lt"/>
              </a:rPr>
              <a:t>prueba</a:t>
            </a:r>
            <a:r>
              <a:rPr lang="en-US" dirty="0">
                <a:latin typeface="+mj-lt"/>
              </a:rPr>
              <a:t> la </a:t>
            </a:r>
            <a:r>
              <a:rPr lang="en-US" dirty="0" err="1">
                <a:latin typeface="+mj-lt"/>
              </a:rPr>
              <a:t>implementación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realizada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5BEDD-EE00-8838-E562-22007BEA1C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7D329C-98C5-273B-CF23-3C7C149806D9}"/>
              </a:ext>
            </a:extLst>
          </p:cNvPr>
          <p:cNvSpPr txBox="1"/>
          <p:nvPr/>
        </p:nvSpPr>
        <p:spPr>
          <a:xfrm>
            <a:off x="786912" y="6481814"/>
            <a:ext cx="60977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https://www.pngmart.com/files/African-American-PNG-Transparent.png</a:t>
            </a:r>
          </a:p>
        </p:txBody>
      </p:sp>
    </p:spTree>
    <p:extLst>
      <p:ext uri="{BB962C8B-B14F-4D97-AF65-F5344CB8AC3E}">
        <p14:creationId xmlns:p14="http://schemas.microsoft.com/office/powerpoint/2010/main" val="337283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D2412-C8AB-2541-ACC5-3C51C06A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83659-8255-0D93-DD9B-5C209559D0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/>
                </a:solidFill>
              </a:rPr>
              <a:t>25</a:t>
            </a:fld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E66FC4-5EE5-1E98-6054-E41EDC54C2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11885" y="1436914"/>
            <a:ext cx="4996207" cy="4782911"/>
          </a:xfrm>
        </p:spPr>
        <p:txBody>
          <a:bodyPr>
            <a:normAutofit fontScale="925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Elaborar un reporte </a:t>
            </a:r>
            <a:r>
              <a:rPr lang="es-ES" b="1" dirty="0">
                <a:latin typeface="+mj-lt"/>
              </a:rPr>
              <a:t>HTML</a:t>
            </a:r>
            <a:r>
              <a:rPr lang="es-ES" dirty="0">
                <a:latin typeface="+mj-lt"/>
              </a:rPr>
              <a:t> con la lista de notas de un alumno​.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Utilice la clase </a:t>
            </a:r>
            <a:r>
              <a:rPr lang="es-ES" b="1" dirty="0">
                <a:latin typeface="+mj-lt"/>
              </a:rPr>
              <a:t>Alumno</a:t>
            </a:r>
            <a:r>
              <a:rPr lang="es-ES" dirty="0">
                <a:latin typeface="+mj-lt"/>
              </a:rPr>
              <a:t>​ creada en el ejercicio anterior.</a:t>
            </a:r>
          </a:p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El reporte HTML debe implementarse en el método </a:t>
            </a:r>
            <a:r>
              <a:rPr lang="es-ES" b="1" dirty="0" err="1">
                <a:latin typeface="+mj-lt"/>
              </a:rPr>
              <a:t>main</a:t>
            </a:r>
            <a:r>
              <a:rPr lang="es-ES" dirty="0">
                <a:latin typeface="+mj-lt"/>
              </a:rPr>
              <a:t> de la clase </a:t>
            </a:r>
            <a:r>
              <a:rPr lang="es-ES" b="1" dirty="0" err="1">
                <a:latin typeface="+mj-lt"/>
              </a:rPr>
              <a:t>ReporteAlumno</a:t>
            </a:r>
            <a:r>
              <a:rPr lang="es-ES" dirty="0">
                <a:latin typeface="+mj-lt"/>
              </a:rPr>
              <a:t>.</a:t>
            </a:r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5BEDD-EE00-8838-E562-22007BEA1C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357897-A221-C569-B1A5-2DABED990F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5" b="719"/>
          <a:stretch/>
        </p:blipFill>
        <p:spPr>
          <a:xfrm>
            <a:off x="1282626" y="1739748"/>
            <a:ext cx="5106283" cy="322487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91B596D-37A0-E195-EAD0-12E2EB7AF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326" y="2524387"/>
            <a:ext cx="4154910" cy="13650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1877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AD71-8E5E-5C2C-29AC-8C902C166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07" y="429863"/>
            <a:ext cx="10543094" cy="785528"/>
          </a:xfrm>
        </p:spPr>
        <p:txBody>
          <a:bodyPr/>
          <a:lstStyle/>
          <a:p>
            <a:r>
              <a:rPr lang="es-ES" dirty="0"/>
              <a:t>Tarea grupal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071F5-2A32-65F7-067E-10C53496A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EA7A3DC-024F-B251-3BF8-9E4CDFA1FE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0707" y="1436914"/>
            <a:ext cx="7381187" cy="4782911"/>
          </a:xfrm>
        </p:spPr>
        <p:txBody>
          <a:bodyPr>
            <a:normAutofit fontScale="92500"/>
          </a:bodyPr>
          <a:lstStyle/>
          <a:p>
            <a:pPr marL="565150" indent="-514350">
              <a:lnSpc>
                <a:spcPct val="120000"/>
              </a:lnSpc>
              <a:buAutoNum type="arabicPeriod"/>
            </a:pPr>
            <a:r>
              <a:rPr lang="es-ES" dirty="0">
                <a:latin typeface="+mj-lt"/>
              </a:rPr>
              <a:t>Proponer 10 ejemplos de clases y realizar su respectivo diagrama UML. Cada clase debe tener al menos 6 atributos.</a:t>
            </a:r>
          </a:p>
          <a:p>
            <a:pPr marL="565150" indent="-514350">
              <a:lnSpc>
                <a:spcPct val="120000"/>
              </a:lnSpc>
              <a:buAutoNum type="arabicPeriod"/>
            </a:pPr>
            <a:r>
              <a:rPr lang="es-ES" dirty="0">
                <a:latin typeface="+mj-lt"/>
              </a:rPr>
              <a:t>Implementar dichas clases en Java (clases, atributos, visibilidad, </a:t>
            </a:r>
            <a:r>
              <a:rPr lang="es-ES" dirty="0" err="1">
                <a:latin typeface="+mj-lt"/>
              </a:rPr>
              <a:t>getters</a:t>
            </a:r>
            <a:r>
              <a:rPr lang="es-ES" dirty="0">
                <a:latin typeface="+mj-lt"/>
              </a:rPr>
              <a:t> y </a:t>
            </a:r>
            <a:r>
              <a:rPr lang="es-ES" dirty="0" err="1">
                <a:latin typeface="+mj-lt"/>
              </a:rPr>
              <a:t>setters</a:t>
            </a:r>
            <a:r>
              <a:rPr lang="es-ES" dirty="0">
                <a:latin typeface="+mj-lt"/>
              </a:rPr>
              <a:t>, constructor vacío y completo, etc.)</a:t>
            </a:r>
          </a:p>
          <a:p>
            <a:pPr marL="565150" indent="-514350">
              <a:lnSpc>
                <a:spcPct val="120000"/>
              </a:lnSpc>
              <a:buAutoNum type="arabicPeriod"/>
            </a:pPr>
            <a:r>
              <a:rPr lang="es-ES" dirty="0">
                <a:latin typeface="+mj-lt"/>
              </a:rPr>
              <a:t>Escribir un programa en Java que genere un reporte HTML que haga uso de una de las clases creadas y al menos una imagen.</a:t>
            </a:r>
          </a:p>
          <a:p>
            <a:pPr marL="565150" indent="-514350">
              <a:lnSpc>
                <a:spcPct val="120000"/>
              </a:lnSpc>
              <a:buAutoNum type="arabicPeriod"/>
            </a:pPr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2A737-B6D7-F93F-3DB0-01891C897A21}"/>
              </a:ext>
            </a:extLst>
          </p:cNvPr>
          <p:cNvSpPr txBox="1"/>
          <p:nvPr/>
        </p:nvSpPr>
        <p:spPr>
          <a:xfrm>
            <a:off x="8610600" y="2028889"/>
            <a:ext cx="2770693" cy="3105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1" dirty="0" err="1">
                <a:solidFill>
                  <a:srgbClr val="5485A5"/>
                </a:solidFill>
                <a:latin typeface="+mj-lt"/>
              </a:rPr>
              <a:t>Indicaciones</a:t>
            </a:r>
            <a:br>
              <a:rPr lang="en-US" sz="1200" b="1" dirty="0">
                <a:solidFill>
                  <a:srgbClr val="5485A5"/>
                </a:solidFill>
                <a:latin typeface="+mj-lt"/>
              </a:rPr>
            </a:br>
            <a:endParaRPr lang="en-US" sz="1200" b="1" dirty="0">
              <a:solidFill>
                <a:srgbClr val="5485A5"/>
              </a:solidFill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Grupos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Entregables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: a). Video de 3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minutos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(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máximo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)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propuestas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; b).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Archivo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ZIP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conteniendo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Proyecto java con las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soluciones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485A5"/>
                </a:solidFill>
                <a:latin typeface="+mj-lt"/>
              </a:rPr>
              <a:t>Todos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integrantes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deben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aparecer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en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el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video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explicando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los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 </a:t>
            </a:r>
            <a:r>
              <a:rPr lang="en-US" sz="1200" dirty="0" err="1">
                <a:solidFill>
                  <a:srgbClr val="5485A5"/>
                </a:solidFill>
                <a:latin typeface="+mj-lt"/>
              </a:rPr>
              <a:t>ejercicios</a:t>
            </a:r>
            <a:r>
              <a:rPr lang="en-US" sz="1200" dirty="0">
                <a:solidFill>
                  <a:srgbClr val="5485A5"/>
                </a:solidFill>
                <a:latin typeface="+mj-lt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A53CF-B8F1-AC07-92CB-D7BAEF75967B}"/>
              </a:ext>
            </a:extLst>
          </p:cNvPr>
          <p:cNvSpPr/>
          <p:nvPr/>
        </p:nvSpPr>
        <p:spPr>
          <a:xfrm>
            <a:off x="8323872" y="829559"/>
            <a:ext cx="45719" cy="559857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62AC4A-37B6-8C2E-A679-FA146449B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607" y="727152"/>
            <a:ext cx="1189112" cy="11891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D7791A-315B-43C9-CDA2-EB8F8AF70E4B}"/>
              </a:ext>
            </a:extLst>
          </p:cNvPr>
          <p:cNvSpPr txBox="1"/>
          <p:nvPr/>
        </p:nvSpPr>
        <p:spPr>
          <a:xfrm>
            <a:off x="238026" y="6455777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https://upload.wikimedia.org/wikipedia/commons/0/0a/AnantP%40java.png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FBE75A-E6B2-8472-CA16-ECF23EC50B2D}"/>
              </a:ext>
            </a:extLst>
          </p:cNvPr>
          <p:cNvGrpSpPr/>
          <p:nvPr/>
        </p:nvGrpSpPr>
        <p:grpSpPr>
          <a:xfrm>
            <a:off x="8672114" y="5435206"/>
            <a:ext cx="2590250" cy="815188"/>
            <a:chOff x="8672114" y="5435206"/>
            <a:chExt cx="2590250" cy="8151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3FF30B7-717B-C6A2-D46B-0467356FF044}"/>
                </a:ext>
              </a:extLst>
            </p:cNvPr>
            <p:cNvSpPr txBox="1"/>
            <p:nvPr/>
          </p:nvSpPr>
          <p:spPr>
            <a:xfrm>
              <a:off x="8672114" y="5435206"/>
              <a:ext cx="2590250" cy="815188"/>
            </a:xfrm>
            <a:prstGeom prst="round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54000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Recuerda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revisar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en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dirty="0" err="1">
                  <a:solidFill>
                    <a:srgbClr val="C00000"/>
                  </a:solidFill>
                  <a:latin typeface="+mj-lt"/>
                </a:rPr>
                <a:t>plataforma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rúbrica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 de la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tarea</a:t>
              </a:r>
              <a:r>
                <a:rPr lang="en-US" sz="1200" b="1" dirty="0">
                  <a:solidFill>
                    <a:srgbClr val="C00000"/>
                  </a:solidFill>
                  <a:latin typeface="+mj-lt"/>
                </a:rPr>
                <a:t> </a:t>
              </a:r>
              <a:r>
                <a:rPr lang="en-US" sz="1200" b="1" dirty="0" err="1">
                  <a:solidFill>
                    <a:srgbClr val="C00000"/>
                  </a:solidFill>
                  <a:latin typeface="+mj-lt"/>
                </a:rPr>
                <a:t>grupal</a:t>
              </a:r>
              <a:r>
                <a:rPr lang="en-US" sz="1200" dirty="0">
                  <a:solidFill>
                    <a:srgbClr val="C00000"/>
                  </a:solidFill>
                  <a:latin typeface="+mj-lt"/>
                </a:rPr>
                <a:t>.</a:t>
              </a:r>
            </a:p>
          </p:txBody>
        </p:sp>
        <p:pic>
          <p:nvPicPr>
            <p:cNvPr id="7" name="Graphic 6" descr="Clipboard Checked with solid fill">
              <a:extLst>
                <a:ext uri="{FF2B5EF4-FFF2-40B4-BE49-F238E27FC236}">
                  <a16:creationId xmlns:a16="http://schemas.microsoft.com/office/drawing/2014/main" id="{56A6BEB9-E94A-9672-69A0-BA27FDFAE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61702" y="5508797"/>
              <a:ext cx="418135" cy="418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0326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5"/>
            <a:ext cx="7288244" cy="4337622"/>
          </a:xfrm>
        </p:spPr>
        <p:txBody>
          <a:bodyPr/>
          <a:lstStyle/>
          <a:p>
            <a:r>
              <a:rPr lang="es-ES" dirty="0"/>
              <a:t>¿Cómo creo una instancia de clase?</a:t>
            </a:r>
          </a:p>
          <a:p>
            <a:r>
              <a:rPr lang="es-ES" dirty="0"/>
              <a:t>¿Qué es un constructor?</a:t>
            </a:r>
          </a:p>
          <a:p>
            <a:r>
              <a:rPr lang="es-ES" dirty="0"/>
              <a:t>¿Qué tipo de constructores existen?</a:t>
            </a:r>
          </a:p>
          <a:p>
            <a:r>
              <a:rPr lang="es-ES" dirty="0"/>
              <a:t>¿Para qué sirve el apuntador </a:t>
            </a:r>
            <a:r>
              <a:rPr lang="es-ES" b="1" dirty="0" err="1"/>
              <a:t>this</a:t>
            </a:r>
            <a:r>
              <a:rPr lang="es-ES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31082">
            <a:off x="8209846" y="2177225"/>
            <a:ext cx="1134497" cy="59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2451020">
            <a:off x="9215462" y="362186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409" b="34623"/>
          <a:stretch/>
        </p:blipFill>
        <p:spPr>
          <a:xfrm rot="4648148">
            <a:off x="10093013" y="4746420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377240" flipH="1">
            <a:off x="9325178" y="3292719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4153</TotalTime>
  <Words>2038</Words>
  <Application>Microsoft Office PowerPoint</Application>
  <PresentationFormat>Panorámica</PresentationFormat>
  <Paragraphs>246</Paragraphs>
  <Slides>29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Arial</vt:lpstr>
      <vt:lpstr>Arial Black</vt:lpstr>
      <vt:lpstr>Helvetica</vt:lpstr>
      <vt:lpstr>JetBrains Mono</vt:lpstr>
      <vt:lpstr>TemaUTP</vt:lpstr>
      <vt:lpstr>Taller de Programación</vt:lpstr>
      <vt:lpstr>Dudas de la clase anterior  Programación Orientada a Objetos </vt:lpstr>
      <vt:lpstr>Dudas de la clase anterior  Programación Orientada a Objetos </vt:lpstr>
      <vt:lpstr>Dudas de la clase anterior  Programación Orientada a Objetos </vt:lpstr>
      <vt:lpstr>Dudas de la clase anterior  Programación Orientada a Objetos </vt:lpstr>
      <vt:lpstr>Dudas de la clase anterior  Programación Orientada a Objetos </vt:lpstr>
      <vt:lpstr>POO:  Trabajando con Objetos</vt:lpstr>
      <vt:lpstr>Conocimientos previos</vt:lpstr>
      <vt:lpstr>Logro de aprendizaje</vt:lpstr>
      <vt:lpstr>Utilidad</vt:lpstr>
      <vt:lpstr>Presentación de PowerPoint</vt:lpstr>
      <vt:lpstr>Presentación de PowerPoint</vt:lpstr>
      <vt:lpstr>Instanciación</vt:lpstr>
      <vt:lpstr>Instanciación</vt:lpstr>
      <vt:lpstr>Presentación de PowerPoint</vt:lpstr>
      <vt:lpstr>¿Qué son los constructores?</vt:lpstr>
      <vt:lpstr>Constructores vacíos</vt:lpstr>
      <vt:lpstr>Constructores vacíos</vt:lpstr>
      <vt:lpstr>Constructores parametrizados</vt:lpstr>
      <vt:lpstr>Constructores parametrizados</vt:lpstr>
      <vt:lpstr>Presentación de PowerPoint</vt:lpstr>
      <vt:lpstr>this</vt:lpstr>
      <vt:lpstr>Presentación de PowerPoint</vt:lpstr>
      <vt:lpstr>Ejercicio 1</vt:lpstr>
      <vt:lpstr>Ejercicio 2</vt:lpstr>
      <vt:lpstr>Tarea grupal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12-Sesión 24</dc:title>
  <dc:creator>jorgerodcas@hotmail.com</dc:creator>
  <cp:lastModifiedBy>Juan Carlos García</cp:lastModifiedBy>
  <cp:revision>242</cp:revision>
  <dcterms:modified xsi:type="dcterms:W3CDTF">2023-10-23T15:55:18Z</dcterms:modified>
</cp:coreProperties>
</file>