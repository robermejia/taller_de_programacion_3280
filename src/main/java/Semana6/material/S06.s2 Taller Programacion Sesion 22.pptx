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433" r:id="rId3"/>
    <p:sldId id="434" r:id="rId4"/>
    <p:sldId id="435" r:id="rId5"/>
    <p:sldId id="436" r:id="rId6"/>
    <p:sldId id="258" r:id="rId7"/>
    <p:sldId id="257" r:id="rId8"/>
    <p:sldId id="263" r:id="rId9"/>
    <p:sldId id="264" r:id="rId10"/>
    <p:sldId id="380" r:id="rId11"/>
    <p:sldId id="421" r:id="rId12"/>
    <p:sldId id="395" r:id="rId13"/>
    <p:sldId id="422" r:id="rId14"/>
    <p:sldId id="406" r:id="rId15"/>
    <p:sldId id="427" r:id="rId16"/>
    <p:sldId id="429" r:id="rId17"/>
    <p:sldId id="428" r:id="rId18"/>
    <p:sldId id="423" r:id="rId19"/>
    <p:sldId id="410" r:id="rId20"/>
    <p:sldId id="425" r:id="rId21"/>
    <p:sldId id="432" r:id="rId22"/>
    <p:sldId id="261" r:id="rId23"/>
    <p:sldId id="329" r:id="rId24"/>
    <p:sldId id="25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FF"/>
    <a:srgbClr val="FFCCFF"/>
    <a:srgbClr val="33CCCC"/>
    <a:srgbClr val="27A09D"/>
    <a:srgbClr val="000000"/>
    <a:srgbClr val="1A001A"/>
    <a:srgbClr val="320032"/>
    <a:srgbClr val="50005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1656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9640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78584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0131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3391-73EE-9ADD-BCB0-D36FAAAD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863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9395E-A6E0-B02D-0226-7A48E3D04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447015-4B3D-8AC8-031E-F411EF908C13}"/>
              </a:ext>
            </a:extLst>
          </p:cNvPr>
          <p:cNvGrpSpPr/>
          <p:nvPr/>
        </p:nvGrpSpPr>
        <p:grpSpPr>
          <a:xfrm>
            <a:off x="3130645" y="2641508"/>
            <a:ext cx="8223155" cy="1680457"/>
            <a:chOff x="3130645" y="2641508"/>
            <a:chExt cx="8223155" cy="168045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477900B-8EF1-79A4-F46C-DF8B09CD2013}"/>
                </a:ext>
              </a:extLst>
            </p:cNvPr>
            <p:cNvGrpSpPr/>
            <p:nvPr/>
          </p:nvGrpSpPr>
          <p:grpSpPr>
            <a:xfrm>
              <a:off x="3130645" y="2641508"/>
              <a:ext cx="8223155" cy="1680457"/>
              <a:chOff x="1992474" y="3481736"/>
              <a:chExt cx="8223155" cy="168045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035357-FA8B-AE6E-308A-92516E1B12C3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859898D-1081-334E-3FD7-9EDA1D0C36A5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31FF24D-9E1D-77A9-0136-0F85103FEA5F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00C9FD7-8E61-196F-A20B-FCB8E1622B10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D337119-703F-1824-57B5-D45CF632D34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95F726-9D26-9CE0-8626-EFF72A8148A2}"/>
                </a:ext>
              </a:extLst>
            </p:cNvPr>
            <p:cNvSpPr txBox="1"/>
            <p:nvPr/>
          </p:nvSpPr>
          <p:spPr>
            <a:xfrm>
              <a:off x="5124019" y="3074826"/>
              <a:ext cx="3966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crear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A37041-5C8C-276D-94B9-318C62D9C20F}"/>
              </a:ext>
            </a:extLst>
          </p:cNvPr>
          <p:cNvGrpSpPr/>
          <p:nvPr/>
        </p:nvGrpSpPr>
        <p:grpSpPr>
          <a:xfrm>
            <a:off x="838200" y="3429000"/>
            <a:ext cx="8223155" cy="1680457"/>
            <a:chOff x="838200" y="3429000"/>
            <a:chExt cx="8223155" cy="16804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4C06FB-B490-2D05-7714-0F93F24B7A3B}"/>
                </a:ext>
              </a:extLst>
            </p:cNvPr>
            <p:cNvGrpSpPr/>
            <p:nvPr/>
          </p:nvGrpSpPr>
          <p:grpSpPr>
            <a:xfrm>
              <a:off x="838200" y="3429000"/>
              <a:ext cx="8223155" cy="1680457"/>
              <a:chOff x="1203650" y="1695807"/>
              <a:chExt cx="8223155" cy="168045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BD5696A-8E58-3F43-AAD1-024D593E23C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39" name="Graphic 38" descr="Female Profile with solid fill">
                <a:extLst>
                  <a:ext uri="{FF2B5EF4-FFF2-40B4-BE49-F238E27FC236}">
                    <a16:creationId xmlns:a16="http://schemas.microsoft.com/office/drawing/2014/main" id="{11D96D53-AB9C-C870-65DF-5323BB1C3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69D9A1-8110-D2B5-D2CF-9CB69846441A}"/>
                </a:ext>
              </a:extLst>
            </p:cNvPr>
            <p:cNvSpPr txBox="1"/>
            <p:nvPr/>
          </p:nvSpPr>
          <p:spPr>
            <a:xfrm>
              <a:off x="2902478" y="3872427"/>
              <a:ext cx="4342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recorrer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E7131A1-23E9-8C5A-4456-D7474240CB15}"/>
              </a:ext>
            </a:extLst>
          </p:cNvPr>
          <p:cNvGrpSpPr/>
          <p:nvPr/>
        </p:nvGrpSpPr>
        <p:grpSpPr>
          <a:xfrm>
            <a:off x="3130645" y="4501189"/>
            <a:ext cx="8223155" cy="1680457"/>
            <a:chOff x="3130645" y="4501189"/>
            <a:chExt cx="8223155" cy="16804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76C664-1C51-A097-90A3-E2CA2FC5D13F}"/>
                </a:ext>
              </a:extLst>
            </p:cNvPr>
            <p:cNvGrpSpPr/>
            <p:nvPr/>
          </p:nvGrpSpPr>
          <p:grpSpPr>
            <a:xfrm>
              <a:off x="3130645" y="4501189"/>
              <a:ext cx="8223155" cy="1680457"/>
              <a:chOff x="1992474" y="3481736"/>
              <a:chExt cx="8223155" cy="1680457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06BA6A0-628B-F194-F29D-8699885B457F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01A7DCD-3FC5-FEB1-2B4E-E1B9EA13B034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203CB445-E9D9-D1E4-1C02-5CBA08E9CB55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2D0A008-54DD-BCA1-B702-061B856C9AE1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C679FB23-A41D-0695-0454-90AE87431F9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5FF5A0-0CFD-CF5A-330A-B1CA65A2F7FA}"/>
                </a:ext>
              </a:extLst>
            </p:cNvPr>
            <p:cNvSpPr txBox="1"/>
            <p:nvPr/>
          </p:nvSpPr>
          <p:spPr>
            <a:xfrm>
              <a:off x="4951703" y="4902848"/>
              <a:ext cx="43107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Matrices vs Arreglos paralelos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A8E4E0E4-AFDD-9127-41C1-C2B964C4886E}"/>
              </a:ext>
            </a:extLst>
          </p:cNvPr>
          <p:cNvSpPr/>
          <p:nvPr/>
        </p:nvSpPr>
        <p:spPr>
          <a:xfrm>
            <a:off x="650449" y="1338606"/>
            <a:ext cx="10897386" cy="501774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AEBDA0-5472-81AC-FCAF-B999B1F62147}"/>
              </a:ext>
            </a:extLst>
          </p:cNvPr>
          <p:cNvGrpSpPr/>
          <p:nvPr/>
        </p:nvGrpSpPr>
        <p:grpSpPr>
          <a:xfrm>
            <a:off x="838200" y="1569319"/>
            <a:ext cx="8223155" cy="1680457"/>
            <a:chOff x="838200" y="1569319"/>
            <a:chExt cx="8223155" cy="16804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BFE888D-E3CA-75FB-42B5-12CC7A7A999C}"/>
                </a:ext>
              </a:extLst>
            </p:cNvPr>
            <p:cNvGrpSpPr/>
            <p:nvPr/>
          </p:nvGrpSpPr>
          <p:grpSpPr>
            <a:xfrm>
              <a:off x="838200" y="1569319"/>
              <a:ext cx="8223155" cy="1680457"/>
              <a:chOff x="1203650" y="1695807"/>
              <a:chExt cx="8223155" cy="1680457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6990FB1-3298-FA42-F5AE-F38516781D0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8" name="Graphic 7" descr="Female Profile with solid fill">
                <a:extLst>
                  <a:ext uri="{FF2B5EF4-FFF2-40B4-BE49-F238E27FC236}">
                    <a16:creationId xmlns:a16="http://schemas.microsoft.com/office/drawing/2014/main" id="{A78DCD13-DB73-541F-4B09-52E33C115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9724C6-2BCE-1488-4FFA-C3F21D9AC8C0}"/>
                </a:ext>
              </a:extLst>
            </p:cNvPr>
            <p:cNvSpPr txBox="1"/>
            <p:nvPr/>
          </p:nvSpPr>
          <p:spPr>
            <a:xfrm>
              <a:off x="3544481" y="1885341"/>
              <a:ext cx="3058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¿Qué es una matriz?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167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3391-73EE-9ADD-BCB0-D36FAAAD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863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9395E-A6E0-B02D-0226-7A48E3D04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AEBDA0-5472-81AC-FCAF-B999B1F62147}"/>
              </a:ext>
            </a:extLst>
          </p:cNvPr>
          <p:cNvGrpSpPr/>
          <p:nvPr/>
        </p:nvGrpSpPr>
        <p:grpSpPr>
          <a:xfrm>
            <a:off x="838200" y="1569319"/>
            <a:ext cx="8223155" cy="1680457"/>
            <a:chOff x="838200" y="1569319"/>
            <a:chExt cx="8223155" cy="168045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BFE888D-E3CA-75FB-42B5-12CC7A7A999C}"/>
                </a:ext>
              </a:extLst>
            </p:cNvPr>
            <p:cNvGrpSpPr/>
            <p:nvPr/>
          </p:nvGrpSpPr>
          <p:grpSpPr>
            <a:xfrm>
              <a:off x="838200" y="1569319"/>
              <a:ext cx="8223155" cy="1680457"/>
              <a:chOff x="1203650" y="1695807"/>
              <a:chExt cx="8223155" cy="1680457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6990FB1-3298-FA42-F5AE-F38516781D0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8" name="Graphic 7" descr="Female Profile with solid fill">
                <a:extLst>
                  <a:ext uri="{FF2B5EF4-FFF2-40B4-BE49-F238E27FC236}">
                    <a16:creationId xmlns:a16="http://schemas.microsoft.com/office/drawing/2014/main" id="{A78DCD13-DB73-541F-4B09-52E33C115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9724C6-2BCE-1488-4FFA-C3F21D9AC8C0}"/>
                </a:ext>
              </a:extLst>
            </p:cNvPr>
            <p:cNvSpPr txBox="1"/>
            <p:nvPr/>
          </p:nvSpPr>
          <p:spPr>
            <a:xfrm>
              <a:off x="3544481" y="1885341"/>
              <a:ext cx="3058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¿Qué es una matriz?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A37041-5C8C-276D-94B9-318C62D9C20F}"/>
              </a:ext>
            </a:extLst>
          </p:cNvPr>
          <p:cNvGrpSpPr/>
          <p:nvPr/>
        </p:nvGrpSpPr>
        <p:grpSpPr>
          <a:xfrm>
            <a:off x="838200" y="3429000"/>
            <a:ext cx="8223155" cy="1680457"/>
            <a:chOff x="838200" y="3429000"/>
            <a:chExt cx="8223155" cy="16804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4C06FB-B490-2D05-7714-0F93F24B7A3B}"/>
                </a:ext>
              </a:extLst>
            </p:cNvPr>
            <p:cNvGrpSpPr/>
            <p:nvPr/>
          </p:nvGrpSpPr>
          <p:grpSpPr>
            <a:xfrm>
              <a:off x="838200" y="3429000"/>
              <a:ext cx="8223155" cy="1680457"/>
              <a:chOff x="1203650" y="1695807"/>
              <a:chExt cx="8223155" cy="168045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BD5696A-8E58-3F43-AAD1-024D593E23C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39" name="Graphic 38" descr="Female Profile with solid fill">
                <a:extLst>
                  <a:ext uri="{FF2B5EF4-FFF2-40B4-BE49-F238E27FC236}">
                    <a16:creationId xmlns:a16="http://schemas.microsoft.com/office/drawing/2014/main" id="{11D96D53-AB9C-C870-65DF-5323BB1C3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69D9A1-8110-D2B5-D2CF-9CB69846441A}"/>
                </a:ext>
              </a:extLst>
            </p:cNvPr>
            <p:cNvSpPr txBox="1"/>
            <p:nvPr/>
          </p:nvSpPr>
          <p:spPr>
            <a:xfrm>
              <a:off x="2902478" y="3872427"/>
              <a:ext cx="4342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recorrer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E7131A1-23E9-8C5A-4456-D7474240CB15}"/>
              </a:ext>
            </a:extLst>
          </p:cNvPr>
          <p:cNvGrpSpPr/>
          <p:nvPr/>
        </p:nvGrpSpPr>
        <p:grpSpPr>
          <a:xfrm>
            <a:off x="3130645" y="4501189"/>
            <a:ext cx="8223155" cy="1680457"/>
            <a:chOff x="3130645" y="4501189"/>
            <a:chExt cx="8223155" cy="16804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76C664-1C51-A097-90A3-E2CA2FC5D13F}"/>
                </a:ext>
              </a:extLst>
            </p:cNvPr>
            <p:cNvGrpSpPr/>
            <p:nvPr/>
          </p:nvGrpSpPr>
          <p:grpSpPr>
            <a:xfrm>
              <a:off x="3130645" y="4501189"/>
              <a:ext cx="8223155" cy="1680457"/>
              <a:chOff x="1992474" y="3481736"/>
              <a:chExt cx="8223155" cy="1680457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06BA6A0-628B-F194-F29D-8699885B457F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01A7DCD-3FC5-FEB1-2B4E-E1B9EA13B034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203CB445-E9D9-D1E4-1C02-5CBA08E9CB55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2D0A008-54DD-BCA1-B702-061B856C9AE1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C679FB23-A41D-0695-0454-90AE87431F9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5FF5A0-0CFD-CF5A-330A-B1CA65A2F7FA}"/>
                </a:ext>
              </a:extLst>
            </p:cNvPr>
            <p:cNvSpPr txBox="1"/>
            <p:nvPr/>
          </p:nvSpPr>
          <p:spPr>
            <a:xfrm>
              <a:off x="4951703" y="4902848"/>
              <a:ext cx="43107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Matrices vs Arreglos paralelos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A8E4E0E4-AFDD-9127-41C1-C2B964C4886E}"/>
              </a:ext>
            </a:extLst>
          </p:cNvPr>
          <p:cNvSpPr/>
          <p:nvPr/>
        </p:nvSpPr>
        <p:spPr>
          <a:xfrm>
            <a:off x="650449" y="1338606"/>
            <a:ext cx="10897386" cy="501774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447015-4B3D-8AC8-031E-F411EF908C13}"/>
              </a:ext>
            </a:extLst>
          </p:cNvPr>
          <p:cNvGrpSpPr/>
          <p:nvPr/>
        </p:nvGrpSpPr>
        <p:grpSpPr>
          <a:xfrm>
            <a:off x="3130645" y="2641508"/>
            <a:ext cx="8223155" cy="1680457"/>
            <a:chOff x="3130645" y="2641508"/>
            <a:chExt cx="8223155" cy="16804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477900B-8EF1-79A4-F46C-DF8B09CD2013}"/>
                </a:ext>
              </a:extLst>
            </p:cNvPr>
            <p:cNvGrpSpPr/>
            <p:nvPr/>
          </p:nvGrpSpPr>
          <p:grpSpPr>
            <a:xfrm>
              <a:off x="3130645" y="2641508"/>
              <a:ext cx="8223155" cy="1680457"/>
              <a:chOff x="1992474" y="3481736"/>
              <a:chExt cx="8223155" cy="168045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035357-FA8B-AE6E-308A-92516E1B12C3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859898D-1081-334E-3FD7-9EDA1D0C36A5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31FF24D-9E1D-77A9-0136-0F85103FEA5F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00C9FD7-8E61-196F-A20B-FCB8E1622B10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D337119-703F-1824-57B5-D45CF632D34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95F726-9D26-9CE0-8626-EFF72A8148A2}"/>
                </a:ext>
              </a:extLst>
            </p:cNvPr>
            <p:cNvSpPr txBox="1"/>
            <p:nvPr/>
          </p:nvSpPr>
          <p:spPr>
            <a:xfrm>
              <a:off x="5124019" y="3074826"/>
              <a:ext cx="3966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crear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95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3391-73EE-9ADD-BCB0-D36FAAAD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863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9395E-A6E0-B02D-0226-7A48E3D04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AEBDA0-5472-81AC-FCAF-B999B1F62147}"/>
              </a:ext>
            </a:extLst>
          </p:cNvPr>
          <p:cNvGrpSpPr/>
          <p:nvPr/>
        </p:nvGrpSpPr>
        <p:grpSpPr>
          <a:xfrm>
            <a:off x="838200" y="1569319"/>
            <a:ext cx="8223155" cy="1680457"/>
            <a:chOff x="838200" y="1569319"/>
            <a:chExt cx="8223155" cy="168045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BFE888D-E3CA-75FB-42B5-12CC7A7A999C}"/>
                </a:ext>
              </a:extLst>
            </p:cNvPr>
            <p:cNvGrpSpPr/>
            <p:nvPr/>
          </p:nvGrpSpPr>
          <p:grpSpPr>
            <a:xfrm>
              <a:off x="838200" y="1569319"/>
              <a:ext cx="8223155" cy="1680457"/>
              <a:chOff x="1203650" y="1695807"/>
              <a:chExt cx="8223155" cy="1680457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6990FB1-3298-FA42-F5AE-F38516781D0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8" name="Graphic 7" descr="Female Profile with solid fill">
                <a:extLst>
                  <a:ext uri="{FF2B5EF4-FFF2-40B4-BE49-F238E27FC236}">
                    <a16:creationId xmlns:a16="http://schemas.microsoft.com/office/drawing/2014/main" id="{A78DCD13-DB73-541F-4B09-52E33C115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9724C6-2BCE-1488-4FFA-C3F21D9AC8C0}"/>
                </a:ext>
              </a:extLst>
            </p:cNvPr>
            <p:cNvSpPr txBox="1"/>
            <p:nvPr/>
          </p:nvSpPr>
          <p:spPr>
            <a:xfrm>
              <a:off x="3544481" y="1885341"/>
              <a:ext cx="3058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¿Qué es una matriz?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447015-4B3D-8AC8-031E-F411EF908C13}"/>
              </a:ext>
            </a:extLst>
          </p:cNvPr>
          <p:cNvGrpSpPr/>
          <p:nvPr/>
        </p:nvGrpSpPr>
        <p:grpSpPr>
          <a:xfrm>
            <a:off x="3130645" y="2641508"/>
            <a:ext cx="8223155" cy="1680457"/>
            <a:chOff x="3130645" y="2641508"/>
            <a:chExt cx="8223155" cy="168045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477900B-8EF1-79A4-F46C-DF8B09CD2013}"/>
                </a:ext>
              </a:extLst>
            </p:cNvPr>
            <p:cNvGrpSpPr/>
            <p:nvPr/>
          </p:nvGrpSpPr>
          <p:grpSpPr>
            <a:xfrm>
              <a:off x="3130645" y="2641508"/>
              <a:ext cx="8223155" cy="1680457"/>
              <a:chOff x="1992474" y="3481736"/>
              <a:chExt cx="8223155" cy="168045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035357-FA8B-AE6E-308A-92516E1B12C3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859898D-1081-334E-3FD7-9EDA1D0C36A5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31FF24D-9E1D-77A9-0136-0F85103FEA5F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00C9FD7-8E61-196F-A20B-FCB8E1622B10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D337119-703F-1824-57B5-D45CF632D34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95F726-9D26-9CE0-8626-EFF72A8148A2}"/>
                </a:ext>
              </a:extLst>
            </p:cNvPr>
            <p:cNvSpPr txBox="1"/>
            <p:nvPr/>
          </p:nvSpPr>
          <p:spPr>
            <a:xfrm>
              <a:off x="5124019" y="3074826"/>
              <a:ext cx="3966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crear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E7131A1-23E9-8C5A-4456-D7474240CB15}"/>
              </a:ext>
            </a:extLst>
          </p:cNvPr>
          <p:cNvGrpSpPr/>
          <p:nvPr/>
        </p:nvGrpSpPr>
        <p:grpSpPr>
          <a:xfrm>
            <a:off x="3130645" y="4501189"/>
            <a:ext cx="8223155" cy="1680457"/>
            <a:chOff x="3130645" y="4501189"/>
            <a:chExt cx="8223155" cy="168045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76C664-1C51-A097-90A3-E2CA2FC5D13F}"/>
                </a:ext>
              </a:extLst>
            </p:cNvPr>
            <p:cNvGrpSpPr/>
            <p:nvPr/>
          </p:nvGrpSpPr>
          <p:grpSpPr>
            <a:xfrm>
              <a:off x="3130645" y="4501189"/>
              <a:ext cx="8223155" cy="1680457"/>
              <a:chOff x="1992474" y="3481736"/>
              <a:chExt cx="8223155" cy="1680457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06BA6A0-628B-F194-F29D-8699885B457F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01A7DCD-3FC5-FEB1-2B4E-E1B9EA13B034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203CB445-E9D9-D1E4-1C02-5CBA08E9CB55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2D0A008-54DD-BCA1-B702-061B856C9AE1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C679FB23-A41D-0695-0454-90AE87431F9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5FF5A0-0CFD-CF5A-330A-B1CA65A2F7FA}"/>
                </a:ext>
              </a:extLst>
            </p:cNvPr>
            <p:cNvSpPr txBox="1"/>
            <p:nvPr/>
          </p:nvSpPr>
          <p:spPr>
            <a:xfrm>
              <a:off x="4951703" y="4902848"/>
              <a:ext cx="43107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Matrices vs Arreglos paralelos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A8E4E0E4-AFDD-9127-41C1-C2B964C4886E}"/>
              </a:ext>
            </a:extLst>
          </p:cNvPr>
          <p:cNvSpPr/>
          <p:nvPr/>
        </p:nvSpPr>
        <p:spPr>
          <a:xfrm>
            <a:off x="650449" y="1338606"/>
            <a:ext cx="10897386" cy="501774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A37041-5C8C-276D-94B9-318C62D9C20F}"/>
              </a:ext>
            </a:extLst>
          </p:cNvPr>
          <p:cNvGrpSpPr/>
          <p:nvPr/>
        </p:nvGrpSpPr>
        <p:grpSpPr>
          <a:xfrm>
            <a:off x="838200" y="3429000"/>
            <a:ext cx="8223155" cy="1680457"/>
            <a:chOff x="838200" y="3429000"/>
            <a:chExt cx="8223155" cy="16804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4C06FB-B490-2D05-7714-0F93F24B7A3B}"/>
                </a:ext>
              </a:extLst>
            </p:cNvPr>
            <p:cNvGrpSpPr/>
            <p:nvPr/>
          </p:nvGrpSpPr>
          <p:grpSpPr>
            <a:xfrm>
              <a:off x="838200" y="3429000"/>
              <a:ext cx="8223155" cy="1680457"/>
              <a:chOff x="1203650" y="1695807"/>
              <a:chExt cx="8223155" cy="168045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BD5696A-8E58-3F43-AAD1-024D593E23C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39" name="Graphic 38" descr="Female Profile with solid fill">
                <a:extLst>
                  <a:ext uri="{FF2B5EF4-FFF2-40B4-BE49-F238E27FC236}">
                    <a16:creationId xmlns:a16="http://schemas.microsoft.com/office/drawing/2014/main" id="{11D96D53-AB9C-C870-65DF-5323BB1C3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69D9A1-8110-D2B5-D2CF-9CB69846441A}"/>
                </a:ext>
              </a:extLst>
            </p:cNvPr>
            <p:cNvSpPr txBox="1"/>
            <p:nvPr/>
          </p:nvSpPr>
          <p:spPr>
            <a:xfrm>
              <a:off x="2902478" y="3872427"/>
              <a:ext cx="4342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recorrer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498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13391-73EE-9ADD-BCB0-D36FAAAD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9863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9395E-A6E0-B02D-0226-7A48E3D04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AEBDA0-5472-81AC-FCAF-B999B1F62147}"/>
              </a:ext>
            </a:extLst>
          </p:cNvPr>
          <p:cNvGrpSpPr/>
          <p:nvPr/>
        </p:nvGrpSpPr>
        <p:grpSpPr>
          <a:xfrm>
            <a:off x="838200" y="1569319"/>
            <a:ext cx="8223155" cy="1680457"/>
            <a:chOff x="838200" y="1569319"/>
            <a:chExt cx="8223155" cy="168045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BFE888D-E3CA-75FB-42B5-12CC7A7A999C}"/>
                </a:ext>
              </a:extLst>
            </p:cNvPr>
            <p:cNvGrpSpPr/>
            <p:nvPr/>
          </p:nvGrpSpPr>
          <p:grpSpPr>
            <a:xfrm>
              <a:off x="838200" y="1569319"/>
              <a:ext cx="8223155" cy="1680457"/>
              <a:chOff x="1203650" y="1695807"/>
              <a:chExt cx="8223155" cy="1680457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6990FB1-3298-FA42-F5AE-F38516781D0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8" name="Graphic 7" descr="Female Profile with solid fill">
                <a:extLst>
                  <a:ext uri="{FF2B5EF4-FFF2-40B4-BE49-F238E27FC236}">
                    <a16:creationId xmlns:a16="http://schemas.microsoft.com/office/drawing/2014/main" id="{A78DCD13-DB73-541F-4B09-52E33C115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9724C6-2BCE-1488-4FFA-C3F21D9AC8C0}"/>
                </a:ext>
              </a:extLst>
            </p:cNvPr>
            <p:cNvSpPr txBox="1"/>
            <p:nvPr/>
          </p:nvSpPr>
          <p:spPr>
            <a:xfrm>
              <a:off x="3544481" y="1885341"/>
              <a:ext cx="305885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¿Qué es una matriz?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447015-4B3D-8AC8-031E-F411EF908C13}"/>
              </a:ext>
            </a:extLst>
          </p:cNvPr>
          <p:cNvGrpSpPr/>
          <p:nvPr/>
        </p:nvGrpSpPr>
        <p:grpSpPr>
          <a:xfrm>
            <a:off x="3130645" y="2641508"/>
            <a:ext cx="8223155" cy="1680457"/>
            <a:chOff x="3130645" y="2641508"/>
            <a:chExt cx="8223155" cy="168045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477900B-8EF1-79A4-F46C-DF8B09CD2013}"/>
                </a:ext>
              </a:extLst>
            </p:cNvPr>
            <p:cNvGrpSpPr/>
            <p:nvPr/>
          </p:nvGrpSpPr>
          <p:grpSpPr>
            <a:xfrm>
              <a:off x="3130645" y="2641508"/>
              <a:ext cx="8223155" cy="1680457"/>
              <a:chOff x="1992474" y="3481736"/>
              <a:chExt cx="8223155" cy="168045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035357-FA8B-AE6E-308A-92516E1B12C3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2859898D-1081-334E-3FD7-9EDA1D0C36A5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731FF24D-9E1D-77A9-0136-0F85103FEA5F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500C9FD7-8E61-196F-A20B-FCB8E1622B10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0D337119-703F-1824-57B5-D45CF632D34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595F726-9D26-9CE0-8626-EFF72A8148A2}"/>
                </a:ext>
              </a:extLst>
            </p:cNvPr>
            <p:cNvSpPr txBox="1"/>
            <p:nvPr/>
          </p:nvSpPr>
          <p:spPr>
            <a:xfrm>
              <a:off x="5124019" y="3074826"/>
              <a:ext cx="3966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crear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1A37041-5C8C-276D-94B9-318C62D9C20F}"/>
              </a:ext>
            </a:extLst>
          </p:cNvPr>
          <p:cNvGrpSpPr/>
          <p:nvPr/>
        </p:nvGrpSpPr>
        <p:grpSpPr>
          <a:xfrm>
            <a:off x="838200" y="3429000"/>
            <a:ext cx="8223155" cy="1680457"/>
            <a:chOff x="838200" y="3429000"/>
            <a:chExt cx="8223155" cy="1680457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14C06FB-B490-2D05-7714-0F93F24B7A3B}"/>
                </a:ext>
              </a:extLst>
            </p:cNvPr>
            <p:cNvGrpSpPr/>
            <p:nvPr/>
          </p:nvGrpSpPr>
          <p:grpSpPr>
            <a:xfrm>
              <a:off x="838200" y="3429000"/>
              <a:ext cx="8223155" cy="1680457"/>
              <a:chOff x="1203650" y="1695807"/>
              <a:chExt cx="8223155" cy="168045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BD5696A-8E58-3F43-AAD1-024D593E23C2}"/>
                  </a:ext>
                </a:extLst>
              </p:cNvPr>
              <p:cNvSpPr/>
              <p:nvPr/>
            </p:nvSpPr>
            <p:spPr>
              <a:xfrm rot="5400000">
                <a:off x="4474999" y="-1575542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rgbClr val="33CC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39" name="Graphic 38" descr="Female Profile with solid fill">
                <a:extLst>
                  <a:ext uri="{FF2B5EF4-FFF2-40B4-BE49-F238E27FC236}">
                    <a16:creationId xmlns:a16="http://schemas.microsoft.com/office/drawing/2014/main" id="{11D96D53-AB9C-C870-65DF-5323BB1C3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flipH="1">
                <a:off x="1376907" y="1718906"/>
                <a:ext cx="1287693" cy="1287693"/>
              </a:xfrm>
              <a:prstGeom prst="rect">
                <a:avLst/>
              </a:prstGeom>
            </p:spPr>
          </p:pic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69D9A1-8110-D2B5-D2CF-9CB69846441A}"/>
                </a:ext>
              </a:extLst>
            </p:cNvPr>
            <p:cNvSpPr txBox="1"/>
            <p:nvPr/>
          </p:nvSpPr>
          <p:spPr>
            <a:xfrm>
              <a:off x="2902478" y="3872427"/>
              <a:ext cx="43428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Formas de recorrer una matriz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A8E4E0E4-AFDD-9127-41C1-C2B964C4886E}"/>
              </a:ext>
            </a:extLst>
          </p:cNvPr>
          <p:cNvSpPr/>
          <p:nvPr/>
        </p:nvSpPr>
        <p:spPr>
          <a:xfrm>
            <a:off x="650449" y="1338606"/>
            <a:ext cx="10897386" cy="501774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E7131A1-23E9-8C5A-4456-D7474240CB15}"/>
              </a:ext>
            </a:extLst>
          </p:cNvPr>
          <p:cNvGrpSpPr/>
          <p:nvPr/>
        </p:nvGrpSpPr>
        <p:grpSpPr>
          <a:xfrm>
            <a:off x="3130645" y="4501189"/>
            <a:ext cx="8223155" cy="1680457"/>
            <a:chOff x="3130645" y="4501189"/>
            <a:chExt cx="8223155" cy="16804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76C664-1C51-A097-90A3-E2CA2FC5D13F}"/>
                </a:ext>
              </a:extLst>
            </p:cNvPr>
            <p:cNvGrpSpPr/>
            <p:nvPr/>
          </p:nvGrpSpPr>
          <p:grpSpPr>
            <a:xfrm>
              <a:off x="3130645" y="4501189"/>
              <a:ext cx="8223155" cy="1680457"/>
              <a:chOff x="1992474" y="3481736"/>
              <a:chExt cx="8223155" cy="1680457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06BA6A0-628B-F194-F29D-8699885B457F}"/>
                  </a:ext>
                </a:extLst>
              </p:cNvPr>
              <p:cNvSpPr/>
              <p:nvPr/>
            </p:nvSpPr>
            <p:spPr>
              <a:xfrm rot="16200000" flipH="1">
                <a:off x="5263823" y="210387"/>
                <a:ext cx="1680457" cy="8223155"/>
              </a:xfrm>
              <a:custGeom>
                <a:avLst/>
                <a:gdLst>
                  <a:gd name="connsiteX0" fmla="*/ 0 w 1680457"/>
                  <a:gd name="connsiteY0" fmla="*/ 8008535 h 8223155"/>
                  <a:gd name="connsiteX1" fmla="*/ 0 w 1680457"/>
                  <a:gd name="connsiteY1" fmla="*/ 214620 h 8223155"/>
                  <a:gd name="connsiteX2" fmla="*/ 214620 w 1680457"/>
                  <a:gd name="connsiteY2" fmla="*/ 0 h 8223155"/>
                  <a:gd name="connsiteX3" fmla="*/ 1073073 w 1680457"/>
                  <a:gd name="connsiteY3" fmla="*/ 0 h 8223155"/>
                  <a:gd name="connsiteX4" fmla="*/ 1287693 w 1680457"/>
                  <a:gd name="connsiteY4" fmla="*/ 214620 h 8223155"/>
                  <a:gd name="connsiteX5" fmla="*/ 1287693 w 1680457"/>
                  <a:gd name="connsiteY5" fmla="*/ 7830391 h 8223155"/>
                  <a:gd name="connsiteX6" fmla="*/ 1680457 w 1680457"/>
                  <a:gd name="connsiteY6" fmla="*/ 8223155 h 8223155"/>
                  <a:gd name="connsiteX7" fmla="*/ 1073073 w 1680457"/>
                  <a:gd name="connsiteY7" fmla="*/ 8223155 h 8223155"/>
                  <a:gd name="connsiteX8" fmla="*/ 894929 w 1680457"/>
                  <a:gd name="connsiteY8" fmla="*/ 8223155 h 8223155"/>
                  <a:gd name="connsiteX9" fmla="*/ 214620 w 1680457"/>
                  <a:gd name="connsiteY9" fmla="*/ 8223155 h 8223155"/>
                  <a:gd name="connsiteX10" fmla="*/ 0 w 1680457"/>
                  <a:gd name="connsiteY10" fmla="*/ 8008535 h 8223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80457" h="8223155">
                    <a:moveTo>
                      <a:pt x="0" y="8008535"/>
                    </a:moveTo>
                    <a:lnTo>
                      <a:pt x="0" y="214620"/>
                    </a:lnTo>
                    <a:cubicBezTo>
                      <a:pt x="0" y="96089"/>
                      <a:pt x="96089" y="0"/>
                      <a:pt x="214620" y="0"/>
                    </a:cubicBezTo>
                    <a:lnTo>
                      <a:pt x="1073073" y="0"/>
                    </a:lnTo>
                    <a:cubicBezTo>
                      <a:pt x="1191604" y="0"/>
                      <a:pt x="1287693" y="96089"/>
                      <a:pt x="1287693" y="214620"/>
                    </a:cubicBezTo>
                    <a:lnTo>
                      <a:pt x="1287693" y="7830391"/>
                    </a:lnTo>
                    <a:lnTo>
                      <a:pt x="1680457" y="8223155"/>
                    </a:lnTo>
                    <a:lnTo>
                      <a:pt x="1073073" y="8223155"/>
                    </a:lnTo>
                    <a:lnTo>
                      <a:pt x="894929" y="8223155"/>
                    </a:lnTo>
                    <a:lnTo>
                      <a:pt x="214620" y="8223155"/>
                    </a:lnTo>
                    <a:cubicBezTo>
                      <a:pt x="96089" y="8223155"/>
                      <a:pt x="0" y="8127066"/>
                      <a:pt x="0" y="800853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01A7DCD-3FC5-FEB1-2B4E-E1B9EA13B034}"/>
                  </a:ext>
                </a:extLst>
              </p:cNvPr>
              <p:cNvGrpSpPr/>
              <p:nvPr/>
            </p:nvGrpSpPr>
            <p:grpSpPr>
              <a:xfrm>
                <a:off x="8980717" y="3646227"/>
                <a:ext cx="858462" cy="952475"/>
                <a:chOff x="10215629" y="2551529"/>
                <a:chExt cx="858462" cy="952475"/>
              </a:xfrm>
            </p:grpSpPr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203CB445-E9D9-D1E4-1C02-5CBA08E9CB55}"/>
                    </a:ext>
                  </a:extLst>
                </p:cNvPr>
                <p:cNvSpPr/>
                <p:nvPr/>
              </p:nvSpPr>
              <p:spPr>
                <a:xfrm flipH="1">
                  <a:off x="10215629" y="3074773"/>
                  <a:ext cx="858462" cy="429231"/>
                </a:xfrm>
                <a:custGeom>
                  <a:avLst/>
                  <a:gdLst>
                    <a:gd name="connsiteX0" fmla="*/ 976323 w 976322"/>
                    <a:gd name="connsiteY0" fmla="*/ 244081 h 488161"/>
                    <a:gd name="connsiteX1" fmla="*/ 927507 w 976322"/>
                    <a:gd name="connsiteY1" fmla="*/ 146448 h 488161"/>
                    <a:gd name="connsiteX2" fmla="*/ 689528 w 976322"/>
                    <a:gd name="connsiteY2" fmla="*/ 30510 h 488161"/>
                    <a:gd name="connsiteX3" fmla="*/ 488161 w 976322"/>
                    <a:gd name="connsiteY3" fmla="*/ 0 h 488161"/>
                    <a:gd name="connsiteX4" fmla="*/ 286795 w 976322"/>
                    <a:gd name="connsiteY4" fmla="*/ 30510 h 488161"/>
                    <a:gd name="connsiteX5" fmla="*/ 48816 w 976322"/>
                    <a:gd name="connsiteY5" fmla="*/ 146448 h 488161"/>
                    <a:gd name="connsiteX6" fmla="*/ 0 w 976322"/>
                    <a:gd name="connsiteY6" fmla="*/ 244081 h 488161"/>
                    <a:gd name="connsiteX7" fmla="*/ 0 w 976322"/>
                    <a:gd name="connsiteY7" fmla="*/ 488161 h 488161"/>
                    <a:gd name="connsiteX8" fmla="*/ 976323 w 976322"/>
                    <a:gd name="connsiteY8" fmla="*/ 488161 h 488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76322" h="488161">
                      <a:moveTo>
                        <a:pt x="976323" y="244081"/>
                      </a:moveTo>
                      <a:cubicBezTo>
                        <a:pt x="975526" y="205861"/>
                        <a:pt x="957605" y="170019"/>
                        <a:pt x="927507" y="146448"/>
                      </a:cubicBezTo>
                      <a:cubicBezTo>
                        <a:pt x="860384" y="91530"/>
                        <a:pt x="774956" y="54918"/>
                        <a:pt x="689528" y="30510"/>
                      </a:cubicBezTo>
                      <a:cubicBezTo>
                        <a:pt x="624262" y="10531"/>
                        <a:pt x="556415" y="252"/>
                        <a:pt x="488161" y="0"/>
                      </a:cubicBezTo>
                      <a:cubicBezTo>
                        <a:pt x="419982" y="1176"/>
                        <a:pt x="352263" y="11437"/>
                        <a:pt x="286795" y="30510"/>
                      </a:cubicBezTo>
                      <a:cubicBezTo>
                        <a:pt x="201478" y="55406"/>
                        <a:pt x="121008" y="94610"/>
                        <a:pt x="48816" y="146448"/>
                      </a:cubicBezTo>
                      <a:cubicBezTo>
                        <a:pt x="18718" y="170019"/>
                        <a:pt x="796" y="205861"/>
                        <a:pt x="0" y="244081"/>
                      </a:cubicBezTo>
                      <a:lnTo>
                        <a:pt x="0" y="488161"/>
                      </a:lnTo>
                      <a:lnTo>
                        <a:pt x="976323" y="4881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92D0A008-54DD-BCA1-B702-061B856C9AE1}"/>
                    </a:ext>
                  </a:extLst>
                </p:cNvPr>
                <p:cNvSpPr/>
                <p:nvPr/>
              </p:nvSpPr>
              <p:spPr>
                <a:xfrm flipH="1">
                  <a:off x="10425079" y="2551529"/>
                  <a:ext cx="459148" cy="241560"/>
                </a:xfrm>
                <a:custGeom>
                  <a:avLst/>
                  <a:gdLst>
                    <a:gd name="connsiteX0" fmla="*/ 226466 w 522186"/>
                    <a:gd name="connsiteY0" fmla="*/ 225146 h 274724"/>
                    <a:gd name="connsiteX1" fmla="*/ 363761 w 522186"/>
                    <a:gd name="connsiteY1" fmla="*/ 126446 h 274724"/>
                    <a:gd name="connsiteX2" fmla="*/ 363761 w 522186"/>
                    <a:gd name="connsiteY2" fmla="*/ 126446 h 274724"/>
                    <a:gd name="connsiteX3" fmla="*/ 405865 w 522186"/>
                    <a:gd name="connsiteY3" fmla="*/ 143379 h 274724"/>
                    <a:gd name="connsiteX4" fmla="*/ 478784 w 522186"/>
                    <a:gd name="connsiteY4" fmla="*/ 220722 h 274724"/>
                    <a:gd name="connsiteX5" fmla="*/ 514633 w 522186"/>
                    <a:gd name="connsiteY5" fmla="*/ 272589 h 274724"/>
                    <a:gd name="connsiteX6" fmla="*/ 514633 w 522186"/>
                    <a:gd name="connsiteY6" fmla="*/ 272589 h 274724"/>
                    <a:gd name="connsiteX7" fmla="*/ 516312 w 522186"/>
                    <a:gd name="connsiteY7" fmla="*/ 274725 h 274724"/>
                    <a:gd name="connsiteX8" fmla="*/ 516312 w 522186"/>
                    <a:gd name="connsiteY8" fmla="*/ 274725 h 274724"/>
                    <a:gd name="connsiteX9" fmla="*/ 518295 w 522186"/>
                    <a:gd name="connsiteY9" fmla="*/ 178160 h 274724"/>
                    <a:gd name="connsiteX10" fmla="*/ 470546 w 522186"/>
                    <a:gd name="connsiteY10" fmla="*/ 80223 h 274724"/>
                    <a:gd name="connsiteX11" fmla="*/ 390457 w 522186"/>
                    <a:gd name="connsiteY11" fmla="*/ 53527 h 274724"/>
                    <a:gd name="connsiteX12" fmla="*/ 252857 w 522186"/>
                    <a:gd name="connsiteY12" fmla="*/ 134 h 274724"/>
                    <a:gd name="connsiteX13" fmla="*/ 57898 w 522186"/>
                    <a:gd name="connsiteY13" fmla="*/ 83884 h 274724"/>
                    <a:gd name="connsiteX14" fmla="*/ 10302 w 522186"/>
                    <a:gd name="connsiteY14" fmla="*/ 216145 h 274724"/>
                    <a:gd name="connsiteX15" fmla="*/ 4657 w 522186"/>
                    <a:gd name="connsiteY15" fmla="*/ 260843 h 274724"/>
                    <a:gd name="connsiteX16" fmla="*/ 30133 w 522186"/>
                    <a:gd name="connsiteY16" fmla="*/ 260843 h 274724"/>
                    <a:gd name="connsiteX17" fmla="*/ 30133 w 522186"/>
                    <a:gd name="connsiteY17" fmla="*/ 260843 h 274724"/>
                    <a:gd name="connsiteX18" fmla="*/ 226466 w 522186"/>
                    <a:gd name="connsiteY18" fmla="*/ 225146 h 27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22186" h="274724">
                      <a:moveTo>
                        <a:pt x="226466" y="225146"/>
                      </a:moveTo>
                      <a:cubicBezTo>
                        <a:pt x="266129" y="201806"/>
                        <a:pt x="363761" y="126446"/>
                        <a:pt x="363761" y="126446"/>
                      </a:cubicBezTo>
                      <a:lnTo>
                        <a:pt x="363761" y="126446"/>
                      </a:lnTo>
                      <a:cubicBezTo>
                        <a:pt x="379167" y="127781"/>
                        <a:pt x="393826" y="133675"/>
                        <a:pt x="405865" y="143379"/>
                      </a:cubicBezTo>
                      <a:cubicBezTo>
                        <a:pt x="435162" y="163950"/>
                        <a:pt x="459972" y="190265"/>
                        <a:pt x="478784" y="220722"/>
                      </a:cubicBezTo>
                      <a:cubicBezTo>
                        <a:pt x="495717" y="246045"/>
                        <a:pt x="510209" y="266487"/>
                        <a:pt x="514633" y="272589"/>
                      </a:cubicBezTo>
                      <a:lnTo>
                        <a:pt x="514633" y="272589"/>
                      </a:lnTo>
                      <a:lnTo>
                        <a:pt x="516312" y="274725"/>
                      </a:lnTo>
                      <a:lnTo>
                        <a:pt x="516312" y="274725"/>
                      </a:lnTo>
                      <a:cubicBezTo>
                        <a:pt x="523939" y="259470"/>
                        <a:pt x="523634" y="216908"/>
                        <a:pt x="518295" y="178160"/>
                      </a:cubicBezTo>
                      <a:cubicBezTo>
                        <a:pt x="510820" y="124768"/>
                        <a:pt x="504718" y="108903"/>
                        <a:pt x="470546" y="80223"/>
                      </a:cubicBezTo>
                      <a:cubicBezTo>
                        <a:pt x="448773" y="60491"/>
                        <a:pt x="419715" y="50804"/>
                        <a:pt x="390457" y="53527"/>
                      </a:cubicBezTo>
                      <a:cubicBezTo>
                        <a:pt x="350761" y="22722"/>
                        <a:pt x="302941" y="4168"/>
                        <a:pt x="252857" y="134"/>
                      </a:cubicBezTo>
                      <a:cubicBezTo>
                        <a:pt x="176582" y="-2612"/>
                        <a:pt x="93289" y="37204"/>
                        <a:pt x="57898" y="83884"/>
                      </a:cubicBezTo>
                      <a:cubicBezTo>
                        <a:pt x="4352" y="154057"/>
                        <a:pt x="10302" y="199823"/>
                        <a:pt x="10302" y="216145"/>
                      </a:cubicBezTo>
                      <a:cubicBezTo>
                        <a:pt x="10302" y="232468"/>
                        <a:pt x="-8462" y="260843"/>
                        <a:pt x="4657" y="260843"/>
                      </a:cubicBezTo>
                      <a:cubicBezTo>
                        <a:pt x="13200" y="260843"/>
                        <a:pt x="21591" y="260843"/>
                        <a:pt x="30133" y="260843"/>
                      </a:cubicBezTo>
                      <a:lnTo>
                        <a:pt x="30133" y="260843"/>
                      </a:lnTo>
                      <a:cubicBezTo>
                        <a:pt x="78492" y="259470"/>
                        <a:pt x="177192" y="254131"/>
                        <a:pt x="226466" y="225146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C679FB23-A41D-0695-0454-90AE87431F96}"/>
                    </a:ext>
                  </a:extLst>
                </p:cNvPr>
                <p:cNvSpPr/>
                <p:nvPr/>
              </p:nvSpPr>
              <p:spPr>
                <a:xfrm flipH="1">
                  <a:off x="10432257" y="2691147"/>
                  <a:ext cx="427084" cy="328383"/>
                </a:xfrm>
                <a:custGeom>
                  <a:avLst/>
                  <a:gdLst>
                    <a:gd name="connsiteX0" fmla="*/ 463906 w 485720"/>
                    <a:gd name="connsiteY0" fmla="*/ 133787 h 373467"/>
                    <a:gd name="connsiteX1" fmla="*/ 425921 w 485720"/>
                    <a:gd name="connsiteY1" fmla="*/ 79021 h 373467"/>
                    <a:gd name="connsiteX2" fmla="*/ 360477 w 485720"/>
                    <a:gd name="connsiteY2" fmla="*/ 9153 h 373467"/>
                    <a:gd name="connsiteX3" fmla="*/ 343849 w 485720"/>
                    <a:gd name="connsiteY3" fmla="*/ 0 h 373467"/>
                    <a:gd name="connsiteX4" fmla="*/ 213571 w 485720"/>
                    <a:gd name="connsiteY4" fmla="*/ 92446 h 373467"/>
                    <a:gd name="connsiteX5" fmla="*/ 0 w 485720"/>
                    <a:gd name="connsiteY5" fmla="*/ 132414 h 373467"/>
                    <a:gd name="connsiteX6" fmla="*/ 247089 w 485720"/>
                    <a:gd name="connsiteY6" fmla="*/ 373448 h 373467"/>
                    <a:gd name="connsiteX7" fmla="*/ 485721 w 485720"/>
                    <a:gd name="connsiteY7" fmla="*/ 163687 h 373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5720" h="373467">
                      <a:moveTo>
                        <a:pt x="463906" y="133787"/>
                      </a:moveTo>
                      <a:cubicBezTo>
                        <a:pt x="463143" y="132719"/>
                        <a:pt x="446363" y="109379"/>
                        <a:pt x="425921" y="79021"/>
                      </a:cubicBezTo>
                      <a:cubicBezTo>
                        <a:pt x="409133" y="51487"/>
                        <a:pt x="386856" y="27703"/>
                        <a:pt x="360477" y="9153"/>
                      </a:cubicBezTo>
                      <a:cubicBezTo>
                        <a:pt x="355342" y="5414"/>
                        <a:pt x="349755" y="2339"/>
                        <a:pt x="343849" y="0"/>
                      </a:cubicBezTo>
                      <a:cubicBezTo>
                        <a:pt x="316695" y="20594"/>
                        <a:pt x="246827" y="73072"/>
                        <a:pt x="213571" y="92446"/>
                      </a:cubicBezTo>
                      <a:cubicBezTo>
                        <a:pt x="160788" y="122956"/>
                        <a:pt x="64529" y="131041"/>
                        <a:pt x="0" y="132414"/>
                      </a:cubicBezTo>
                      <a:cubicBezTo>
                        <a:pt x="1672" y="267206"/>
                        <a:pt x="112297" y="375120"/>
                        <a:pt x="247089" y="373448"/>
                      </a:cubicBezTo>
                      <a:cubicBezTo>
                        <a:pt x="367482" y="371956"/>
                        <a:pt x="468801" y="282894"/>
                        <a:pt x="485721" y="163687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151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C5FF5A0-0CFD-CF5A-330A-B1CA65A2F7FA}"/>
                </a:ext>
              </a:extLst>
            </p:cNvPr>
            <p:cNvSpPr txBox="1"/>
            <p:nvPr/>
          </p:nvSpPr>
          <p:spPr>
            <a:xfrm>
              <a:off x="4951703" y="4902848"/>
              <a:ext cx="43107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400" dirty="0">
                  <a:solidFill>
                    <a:schemeClr val="bg1"/>
                  </a:solidFill>
                </a:rPr>
                <a:t>Matrices vs Arreglos paralelos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56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200968"/>
            <a:ext cx="7364361" cy="3053510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5400" dirty="0">
                <a:latin typeface="Helvetica"/>
              </a:rPr>
              <a:t>Arreglos de dos dimensiones (II)</a:t>
            </a:r>
            <a:endParaRPr lang="en-US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2871019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3513C8B-EE94-4A54-90F7-B06F1EF55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rrow: Right 33">
            <a:extLst>
              <a:ext uri="{FF2B5EF4-FFF2-40B4-BE49-F238E27FC236}">
                <a16:creationId xmlns:a16="http://schemas.microsoft.com/office/drawing/2014/main" id="{16121136-F74B-DEE5-0666-DC5DBF47BAD0}"/>
              </a:ext>
            </a:extLst>
          </p:cNvPr>
          <p:cNvSpPr/>
          <p:nvPr/>
        </p:nvSpPr>
        <p:spPr>
          <a:xfrm rot="5400000">
            <a:off x="5151826" y="3589909"/>
            <a:ext cx="3692539" cy="854580"/>
          </a:xfrm>
          <a:prstGeom prst="rightArrow">
            <a:avLst>
              <a:gd name="adj1" fmla="val 65443"/>
              <a:gd name="adj2" fmla="val 50000"/>
            </a:avLst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20F89E6E-46C6-FEA4-36E9-84FCDC4724A8}"/>
              </a:ext>
            </a:extLst>
          </p:cNvPr>
          <p:cNvSpPr/>
          <p:nvPr/>
        </p:nvSpPr>
        <p:spPr>
          <a:xfrm>
            <a:off x="4468306" y="2170929"/>
            <a:ext cx="4496586" cy="854580"/>
          </a:xfrm>
          <a:prstGeom prst="rightArrow">
            <a:avLst>
              <a:gd name="adj1" fmla="val 65443"/>
              <a:gd name="adj2" fmla="val 50000"/>
            </a:avLst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5" y="429863"/>
            <a:ext cx="10599656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1" y="6404619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145" y="1436914"/>
            <a:ext cx="2992242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/>
              <a:t>Indica qué representa cada casilla en el diagrama: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B36FB9-F1ED-9A7B-097E-ADD98D74F73E}"/>
              </a:ext>
            </a:extLst>
          </p:cNvPr>
          <p:cNvGrpSpPr/>
          <p:nvPr/>
        </p:nvGrpSpPr>
        <p:grpSpPr>
          <a:xfrm>
            <a:off x="3861406" y="1638813"/>
            <a:ext cx="4469187" cy="3672348"/>
            <a:chOff x="6428456" y="1914452"/>
            <a:chExt cx="4469187" cy="3672348"/>
          </a:xfrm>
        </p:grpSpPr>
        <p:sp>
          <p:nvSpPr>
            <p:cNvPr id="4" name="CuadroTexto 12">
              <a:extLst>
                <a:ext uri="{FF2B5EF4-FFF2-40B4-BE49-F238E27FC236}">
                  <a16:creationId xmlns:a16="http://schemas.microsoft.com/office/drawing/2014/main" id="{15FA7F00-2FFA-6E04-F65D-129D0419FC83}"/>
                </a:ext>
              </a:extLst>
            </p:cNvPr>
            <p:cNvSpPr txBox="1"/>
            <p:nvPr/>
          </p:nvSpPr>
          <p:spPr>
            <a:xfrm>
              <a:off x="7219303" y="191445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5" name="CuadroTexto 13">
              <a:extLst>
                <a:ext uri="{FF2B5EF4-FFF2-40B4-BE49-F238E27FC236}">
                  <a16:creationId xmlns:a16="http://schemas.microsoft.com/office/drawing/2014/main" id="{0517BABD-D505-7541-4C34-86BC4D0BB5E3}"/>
                </a:ext>
              </a:extLst>
            </p:cNvPr>
            <p:cNvSpPr txBox="1"/>
            <p:nvPr/>
          </p:nvSpPr>
          <p:spPr>
            <a:xfrm>
              <a:off x="8375148" y="191445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7" name="CuadroTexto 14">
              <a:extLst>
                <a:ext uri="{FF2B5EF4-FFF2-40B4-BE49-F238E27FC236}">
                  <a16:creationId xmlns:a16="http://schemas.microsoft.com/office/drawing/2014/main" id="{665BC996-4A7B-1400-3A0F-C158C4E1040B}"/>
                </a:ext>
              </a:extLst>
            </p:cNvPr>
            <p:cNvSpPr txBox="1"/>
            <p:nvPr/>
          </p:nvSpPr>
          <p:spPr>
            <a:xfrm>
              <a:off x="9389682" y="1923879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850E53-EA82-16A3-DA1F-5E4591396608}"/>
                </a:ext>
              </a:extLst>
            </p:cNvPr>
            <p:cNvGrpSpPr/>
            <p:nvPr/>
          </p:nvGrpSpPr>
          <p:grpSpPr>
            <a:xfrm>
              <a:off x="6841841" y="2318710"/>
              <a:ext cx="3265614" cy="3268090"/>
              <a:chOff x="6561213" y="2037869"/>
              <a:chExt cx="3826869" cy="3829772"/>
            </a:xfrm>
          </p:grpSpPr>
          <p:sp>
            <p:nvSpPr>
              <p:cNvPr id="18" name="Rectángulo 6">
                <a:extLst>
                  <a:ext uri="{FF2B5EF4-FFF2-40B4-BE49-F238E27FC236}">
                    <a16:creationId xmlns:a16="http://schemas.microsoft.com/office/drawing/2014/main" id="{7651194A-0071-E3BD-CAD2-49BC376CB252}"/>
                  </a:ext>
                </a:extLst>
              </p:cNvPr>
              <p:cNvSpPr/>
              <p:nvPr/>
            </p:nvSpPr>
            <p:spPr>
              <a:xfrm>
                <a:off x="6561213" y="2037870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36</a:t>
                </a:r>
              </a:p>
            </p:txBody>
          </p:sp>
          <p:sp>
            <p:nvSpPr>
              <p:cNvPr id="19" name="Rectángulo 10">
                <a:extLst>
                  <a:ext uri="{FF2B5EF4-FFF2-40B4-BE49-F238E27FC236}">
                    <a16:creationId xmlns:a16="http://schemas.microsoft.com/office/drawing/2014/main" id="{3515CDAB-718F-BF30-882C-9F6A4E682E7F}"/>
                  </a:ext>
                </a:extLst>
              </p:cNvPr>
              <p:cNvSpPr/>
              <p:nvPr/>
            </p:nvSpPr>
            <p:spPr>
              <a:xfrm>
                <a:off x="7838543" y="2039418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75</a:t>
                </a:r>
              </a:p>
            </p:txBody>
          </p:sp>
          <p:sp>
            <p:nvSpPr>
              <p:cNvPr id="20" name="Rectángulo 11">
                <a:extLst>
                  <a:ext uri="{FF2B5EF4-FFF2-40B4-BE49-F238E27FC236}">
                    <a16:creationId xmlns:a16="http://schemas.microsoft.com/office/drawing/2014/main" id="{CE392644-223E-9F8A-4D01-4F1EFDF1B2DD}"/>
                  </a:ext>
                </a:extLst>
              </p:cNvPr>
              <p:cNvSpPr/>
              <p:nvPr/>
            </p:nvSpPr>
            <p:spPr>
              <a:xfrm>
                <a:off x="9115873" y="2037869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60</a:t>
                </a:r>
              </a:p>
            </p:txBody>
          </p:sp>
          <p:sp>
            <p:nvSpPr>
              <p:cNvPr id="21" name="Rectángulo 18">
                <a:extLst>
                  <a:ext uri="{FF2B5EF4-FFF2-40B4-BE49-F238E27FC236}">
                    <a16:creationId xmlns:a16="http://schemas.microsoft.com/office/drawing/2014/main" id="{6F897C09-74BE-CA5B-F9F9-8972EA126567}"/>
                  </a:ext>
                </a:extLst>
              </p:cNvPr>
              <p:cNvSpPr/>
              <p:nvPr/>
            </p:nvSpPr>
            <p:spPr>
              <a:xfrm>
                <a:off x="6561213" y="3315877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18</a:t>
                </a:r>
              </a:p>
            </p:txBody>
          </p:sp>
          <p:sp>
            <p:nvSpPr>
              <p:cNvPr id="22" name="Rectángulo 19">
                <a:extLst>
                  <a:ext uri="{FF2B5EF4-FFF2-40B4-BE49-F238E27FC236}">
                    <a16:creationId xmlns:a16="http://schemas.microsoft.com/office/drawing/2014/main" id="{79D8622B-1E4B-EC18-F381-A436505351C7}"/>
                  </a:ext>
                </a:extLst>
              </p:cNvPr>
              <p:cNvSpPr/>
              <p:nvPr/>
            </p:nvSpPr>
            <p:spPr>
              <a:xfrm>
                <a:off x="7838543" y="3317425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92</a:t>
                </a:r>
              </a:p>
            </p:txBody>
          </p:sp>
          <p:sp>
            <p:nvSpPr>
              <p:cNvPr id="23" name="Rectángulo 20">
                <a:extLst>
                  <a:ext uri="{FF2B5EF4-FFF2-40B4-BE49-F238E27FC236}">
                    <a16:creationId xmlns:a16="http://schemas.microsoft.com/office/drawing/2014/main" id="{DB7CCC27-F631-08C4-53B8-3595D58222B6}"/>
                  </a:ext>
                </a:extLst>
              </p:cNvPr>
              <p:cNvSpPr/>
              <p:nvPr/>
            </p:nvSpPr>
            <p:spPr>
              <a:xfrm>
                <a:off x="9115873" y="3315876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24</a:t>
                </a:r>
              </a:p>
            </p:txBody>
          </p:sp>
          <p:sp>
            <p:nvSpPr>
              <p:cNvPr id="24" name="Rectángulo 21">
                <a:extLst>
                  <a:ext uri="{FF2B5EF4-FFF2-40B4-BE49-F238E27FC236}">
                    <a16:creationId xmlns:a16="http://schemas.microsoft.com/office/drawing/2014/main" id="{A464CC2B-4775-9C77-F0CE-8F19A21E9458}"/>
                  </a:ext>
                </a:extLst>
              </p:cNvPr>
              <p:cNvSpPr/>
              <p:nvPr/>
            </p:nvSpPr>
            <p:spPr>
              <a:xfrm>
                <a:off x="6561213" y="4593884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54</a:t>
                </a:r>
              </a:p>
            </p:txBody>
          </p:sp>
          <p:sp>
            <p:nvSpPr>
              <p:cNvPr id="25" name="Rectángulo 22">
                <a:extLst>
                  <a:ext uri="{FF2B5EF4-FFF2-40B4-BE49-F238E27FC236}">
                    <a16:creationId xmlns:a16="http://schemas.microsoft.com/office/drawing/2014/main" id="{78CA9B0E-D2FE-B880-097D-C95C3BDF8DD3}"/>
                  </a:ext>
                </a:extLst>
              </p:cNvPr>
              <p:cNvSpPr/>
              <p:nvPr/>
            </p:nvSpPr>
            <p:spPr>
              <a:xfrm>
                <a:off x="7838543" y="4595432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11</a:t>
                </a:r>
              </a:p>
            </p:txBody>
          </p:sp>
          <p:sp>
            <p:nvSpPr>
              <p:cNvPr id="26" name="Rectángulo 23">
                <a:extLst>
                  <a:ext uri="{FF2B5EF4-FFF2-40B4-BE49-F238E27FC236}">
                    <a16:creationId xmlns:a16="http://schemas.microsoft.com/office/drawing/2014/main" id="{04E89361-27A1-D92A-F7CE-D129D22219FE}"/>
                  </a:ext>
                </a:extLst>
              </p:cNvPr>
              <p:cNvSpPr/>
              <p:nvPr/>
            </p:nvSpPr>
            <p:spPr>
              <a:xfrm>
                <a:off x="9115873" y="4593883"/>
                <a:ext cx="1272209" cy="1272209"/>
              </a:xfrm>
              <a:prstGeom prst="rect">
                <a:avLst/>
              </a:prstGeom>
              <a:solidFill>
                <a:srgbClr val="FFCCFF">
                  <a:alpha val="75000"/>
                </a:srgbClr>
              </a:solidFill>
              <a:ln w="19050">
                <a:solidFill>
                  <a:srgbClr val="FF66FF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7030A0"/>
                    </a:solidFill>
                  </a:rPr>
                  <a:t>78</a:t>
                </a:r>
              </a:p>
            </p:txBody>
          </p:sp>
        </p:grpSp>
        <p:sp>
          <p:nvSpPr>
            <p:cNvPr id="13" name="CuadroTexto 24">
              <a:extLst>
                <a:ext uri="{FF2B5EF4-FFF2-40B4-BE49-F238E27FC236}">
                  <a16:creationId xmlns:a16="http://schemas.microsoft.com/office/drawing/2014/main" id="{F845A0F2-2383-D339-5F7C-B08225570856}"/>
                </a:ext>
              </a:extLst>
            </p:cNvPr>
            <p:cNvSpPr txBox="1"/>
            <p:nvPr/>
          </p:nvSpPr>
          <p:spPr>
            <a:xfrm>
              <a:off x="6474351" y="258940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uadroTexto 25">
              <a:extLst>
                <a:ext uri="{FF2B5EF4-FFF2-40B4-BE49-F238E27FC236}">
                  <a16:creationId xmlns:a16="http://schemas.microsoft.com/office/drawing/2014/main" id="{EAE13942-3F77-B349-DAAB-E36BFFBB7653}"/>
                </a:ext>
              </a:extLst>
            </p:cNvPr>
            <p:cNvSpPr txBox="1"/>
            <p:nvPr/>
          </p:nvSpPr>
          <p:spPr>
            <a:xfrm>
              <a:off x="6437002" y="3721147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5" name="CuadroTexto 26">
              <a:extLst>
                <a:ext uri="{FF2B5EF4-FFF2-40B4-BE49-F238E27FC236}">
                  <a16:creationId xmlns:a16="http://schemas.microsoft.com/office/drawing/2014/main" id="{A7C65ACC-588E-6F4D-A5B3-B3C99CDEA122}"/>
                </a:ext>
              </a:extLst>
            </p:cNvPr>
            <p:cNvSpPr txBox="1"/>
            <p:nvPr/>
          </p:nvSpPr>
          <p:spPr>
            <a:xfrm>
              <a:off x="6428456" y="484574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Cerrar llave 31">
              <a:extLst>
                <a:ext uri="{FF2B5EF4-FFF2-40B4-BE49-F238E27FC236}">
                  <a16:creationId xmlns:a16="http://schemas.microsoft.com/office/drawing/2014/main" id="{64247A06-1219-B6EE-E172-2C395EA6AF8F}"/>
                </a:ext>
              </a:extLst>
            </p:cNvPr>
            <p:cNvSpPr/>
            <p:nvPr/>
          </p:nvSpPr>
          <p:spPr>
            <a:xfrm>
              <a:off x="10492654" y="2299884"/>
              <a:ext cx="404989" cy="3261489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F838C66-0DAF-9889-5893-A9F1DDCC64A3}"/>
              </a:ext>
            </a:extLst>
          </p:cNvPr>
          <p:cNvSpPr/>
          <p:nvPr/>
        </p:nvSpPr>
        <p:spPr>
          <a:xfrm>
            <a:off x="7048413" y="1470415"/>
            <a:ext cx="1934294" cy="382571"/>
          </a:xfrm>
          <a:custGeom>
            <a:avLst/>
            <a:gdLst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3" fmla="*/ 509048 w 537328"/>
              <a:gd name="connsiteY3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28686 h 777462"/>
              <a:gd name="connsiteX1" fmla="*/ 667503 w 667503"/>
              <a:gd name="connsiteY1" fmla="*/ 777462 h 777462"/>
              <a:gd name="connsiteX0" fmla="*/ 0 w 676809"/>
              <a:gd name="connsiteY0" fmla="*/ 29328 h 778104"/>
              <a:gd name="connsiteX1" fmla="*/ 667503 w 676809"/>
              <a:gd name="connsiteY1" fmla="*/ 778104 h 778104"/>
              <a:gd name="connsiteX0" fmla="*/ 0 w 680692"/>
              <a:gd name="connsiteY0" fmla="*/ 2636 h 751412"/>
              <a:gd name="connsiteX1" fmla="*/ 667503 w 680692"/>
              <a:gd name="connsiteY1" fmla="*/ 751412 h 751412"/>
              <a:gd name="connsiteX0" fmla="*/ 0 w 1425243"/>
              <a:gd name="connsiteY0" fmla="*/ 157233 h 264986"/>
              <a:gd name="connsiteX1" fmla="*/ 1421648 w 1425243"/>
              <a:gd name="connsiteY1" fmla="*/ 264986 h 264986"/>
              <a:gd name="connsiteX0" fmla="*/ 0 w 1421648"/>
              <a:gd name="connsiteY0" fmla="*/ 5128 h 112881"/>
              <a:gd name="connsiteX1" fmla="*/ 1421648 w 1421648"/>
              <a:gd name="connsiteY1" fmla="*/ 112881 h 112881"/>
              <a:gd name="connsiteX0" fmla="*/ 126959 w 285158"/>
              <a:gd name="connsiteY0" fmla="*/ 3346 h 195940"/>
              <a:gd name="connsiteX1" fmla="*/ 153440 w 285158"/>
              <a:gd name="connsiteY1" fmla="*/ 195940 h 195940"/>
              <a:gd name="connsiteX0" fmla="*/ 512457 w 538938"/>
              <a:gd name="connsiteY0" fmla="*/ 1826 h 194420"/>
              <a:gd name="connsiteX1" fmla="*/ 538938 w 538938"/>
              <a:gd name="connsiteY1" fmla="*/ 194420 h 194420"/>
              <a:gd name="connsiteX0" fmla="*/ 2064113 w 2064113"/>
              <a:gd name="connsiteY0" fmla="*/ 801 h 485626"/>
              <a:gd name="connsiteX1" fmla="*/ 101538 w 2064113"/>
              <a:gd name="connsiteY1" fmla="*/ 485626 h 485626"/>
              <a:gd name="connsiteX0" fmla="*/ 1962575 w 1962575"/>
              <a:gd name="connsiteY0" fmla="*/ 15678 h 500503"/>
              <a:gd name="connsiteX1" fmla="*/ 0 w 1962575"/>
              <a:gd name="connsiteY1" fmla="*/ 500503 h 500503"/>
              <a:gd name="connsiteX0" fmla="*/ 2000282 w 2000282"/>
              <a:gd name="connsiteY0" fmla="*/ 420614 h 420614"/>
              <a:gd name="connsiteX1" fmla="*/ 0 w 2000282"/>
              <a:gd name="connsiteY1" fmla="*/ 217282 h 420614"/>
              <a:gd name="connsiteX0" fmla="*/ 1934294 w 1934294"/>
              <a:gd name="connsiteY0" fmla="*/ 382571 h 382571"/>
              <a:gd name="connsiteX1" fmla="*/ 0 w 1934294"/>
              <a:gd name="connsiteY1" fmla="*/ 226373 h 38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34294" h="382571">
                <a:moveTo>
                  <a:pt x="1934294" y="382571"/>
                </a:moveTo>
                <a:cubicBezTo>
                  <a:pt x="1082205" y="359015"/>
                  <a:pt x="418392" y="-352633"/>
                  <a:pt x="0" y="226373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5458FC-22F8-DE99-9FE8-411D77387265}"/>
              </a:ext>
            </a:extLst>
          </p:cNvPr>
          <p:cNvSpPr/>
          <p:nvPr/>
        </p:nvSpPr>
        <p:spPr>
          <a:xfrm>
            <a:off x="9116551" y="1654489"/>
            <a:ext cx="2243397" cy="4193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605FA8-C900-FA37-456A-5DD6B25AB703}"/>
              </a:ext>
            </a:extLst>
          </p:cNvPr>
          <p:cNvSpPr/>
          <p:nvPr/>
        </p:nvSpPr>
        <p:spPr>
          <a:xfrm>
            <a:off x="2494072" y="5717385"/>
            <a:ext cx="2243397" cy="4193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B881BDC-0910-F4D1-E6A6-20CA0FD0B23D}"/>
              </a:ext>
            </a:extLst>
          </p:cNvPr>
          <p:cNvSpPr/>
          <p:nvPr/>
        </p:nvSpPr>
        <p:spPr>
          <a:xfrm flipV="1">
            <a:off x="3506860" y="4796992"/>
            <a:ext cx="353080" cy="814342"/>
          </a:xfrm>
          <a:custGeom>
            <a:avLst/>
            <a:gdLst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3" fmla="*/ 509048 w 537328"/>
              <a:gd name="connsiteY3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28686 h 777462"/>
              <a:gd name="connsiteX1" fmla="*/ 667503 w 667503"/>
              <a:gd name="connsiteY1" fmla="*/ 777462 h 777462"/>
              <a:gd name="connsiteX0" fmla="*/ 0 w 676809"/>
              <a:gd name="connsiteY0" fmla="*/ 29328 h 778104"/>
              <a:gd name="connsiteX1" fmla="*/ 667503 w 676809"/>
              <a:gd name="connsiteY1" fmla="*/ 778104 h 778104"/>
              <a:gd name="connsiteX0" fmla="*/ 0 w 680692"/>
              <a:gd name="connsiteY0" fmla="*/ 2636 h 751412"/>
              <a:gd name="connsiteX1" fmla="*/ 667503 w 680692"/>
              <a:gd name="connsiteY1" fmla="*/ 751412 h 751412"/>
              <a:gd name="connsiteX0" fmla="*/ 0 w 1425243"/>
              <a:gd name="connsiteY0" fmla="*/ 157233 h 264986"/>
              <a:gd name="connsiteX1" fmla="*/ 1421648 w 1425243"/>
              <a:gd name="connsiteY1" fmla="*/ 264986 h 264986"/>
              <a:gd name="connsiteX0" fmla="*/ 0 w 1421648"/>
              <a:gd name="connsiteY0" fmla="*/ 5128 h 112881"/>
              <a:gd name="connsiteX1" fmla="*/ 1421648 w 1421648"/>
              <a:gd name="connsiteY1" fmla="*/ 112881 h 112881"/>
              <a:gd name="connsiteX0" fmla="*/ 0 w 629797"/>
              <a:gd name="connsiteY0" fmla="*/ 1080035 h 1080035"/>
              <a:gd name="connsiteX1" fmla="*/ 629797 w 629797"/>
              <a:gd name="connsiteY1" fmla="*/ 11 h 1080035"/>
              <a:gd name="connsiteX0" fmla="*/ 287512 w 426665"/>
              <a:gd name="connsiteY0" fmla="*/ 1603063 h 1603063"/>
              <a:gd name="connsiteX1" fmla="*/ 134884 w 426665"/>
              <a:gd name="connsiteY1" fmla="*/ 8 h 1603063"/>
              <a:gd name="connsiteX0" fmla="*/ 468286 w 468286"/>
              <a:gd name="connsiteY0" fmla="*/ 1603063 h 1603536"/>
              <a:gd name="connsiteX1" fmla="*/ 315658 w 468286"/>
              <a:gd name="connsiteY1" fmla="*/ 8 h 1603536"/>
              <a:gd name="connsiteX0" fmla="*/ 504448 w 504448"/>
              <a:gd name="connsiteY0" fmla="*/ 1603055 h 1603625"/>
              <a:gd name="connsiteX1" fmla="*/ 351820 w 504448"/>
              <a:gd name="connsiteY1" fmla="*/ 0 h 1603625"/>
              <a:gd name="connsiteX0" fmla="*/ 475206 w 475206"/>
              <a:gd name="connsiteY0" fmla="*/ 1406918 h 1407583"/>
              <a:gd name="connsiteX1" fmla="*/ 369712 w 475206"/>
              <a:gd name="connsiteY1" fmla="*/ 0 h 1407583"/>
              <a:gd name="connsiteX0" fmla="*/ 416663 w 416663"/>
              <a:gd name="connsiteY0" fmla="*/ 1406918 h 1407723"/>
              <a:gd name="connsiteX1" fmla="*/ 311169 w 416663"/>
              <a:gd name="connsiteY1" fmla="*/ 0 h 1407723"/>
              <a:gd name="connsiteX0" fmla="*/ 609225 w 609225"/>
              <a:gd name="connsiteY0" fmla="*/ 1457600 h 1458365"/>
              <a:gd name="connsiteX1" fmla="*/ 215747 w 609225"/>
              <a:gd name="connsiteY1" fmla="*/ 0 h 1458365"/>
              <a:gd name="connsiteX0" fmla="*/ 481355 w 481355"/>
              <a:gd name="connsiteY0" fmla="*/ 1457600 h 1458419"/>
              <a:gd name="connsiteX1" fmla="*/ 87877 w 481355"/>
              <a:gd name="connsiteY1" fmla="*/ 0 h 1458419"/>
              <a:gd name="connsiteX0" fmla="*/ 449436 w 449436"/>
              <a:gd name="connsiteY0" fmla="*/ 1457600 h 1459360"/>
              <a:gd name="connsiteX1" fmla="*/ 55958 w 449436"/>
              <a:gd name="connsiteY1" fmla="*/ 0 h 145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9436" h="1459360">
                <a:moveTo>
                  <a:pt x="449436" y="1457600"/>
                </a:moveTo>
                <a:cubicBezTo>
                  <a:pt x="-44434" y="1489995"/>
                  <a:pt x="-51788" y="1077647"/>
                  <a:pt x="55958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4290FD-8593-E071-2B18-E5755B9831A8}"/>
              </a:ext>
            </a:extLst>
          </p:cNvPr>
          <p:cNvSpPr/>
          <p:nvPr/>
        </p:nvSpPr>
        <p:spPr>
          <a:xfrm>
            <a:off x="8531527" y="3466760"/>
            <a:ext cx="2243397" cy="4193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AD6A46-B53A-9592-2645-30176FC43256}"/>
              </a:ext>
            </a:extLst>
          </p:cNvPr>
          <p:cNvSpPr/>
          <p:nvPr/>
        </p:nvSpPr>
        <p:spPr>
          <a:xfrm>
            <a:off x="9116551" y="2376188"/>
            <a:ext cx="2243397" cy="4193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249BEA-AAA6-9F40-1508-FFADFE200C44}"/>
              </a:ext>
            </a:extLst>
          </p:cNvPr>
          <p:cNvSpPr/>
          <p:nvPr/>
        </p:nvSpPr>
        <p:spPr>
          <a:xfrm>
            <a:off x="5875274" y="5960115"/>
            <a:ext cx="2243397" cy="4193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resuelve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problemas con arreglos bidimensionales </a:t>
            </a:r>
            <a:r>
              <a:rPr lang="es-ES" dirty="0">
                <a:solidFill>
                  <a:srgbClr val="D3052C"/>
                </a:solidFill>
              </a:rPr>
              <a:t>usando un IDE Java </a:t>
            </a:r>
            <a:r>
              <a:rPr lang="es-ES" dirty="0">
                <a:solidFill>
                  <a:srgbClr val="7030A0"/>
                </a:solidFill>
              </a:rPr>
              <a:t>para operar con datos en estructuras de dos dimensiones.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58" y="1436915"/>
            <a:ext cx="5825763" cy="3841860"/>
          </a:xfrm>
        </p:spPr>
        <p:txBody>
          <a:bodyPr>
            <a:normAutofit fontScale="77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tipo de documento es?​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¿Porqué crees que aún existen </a:t>
            </a:r>
            <a:br>
              <a:rPr lang="es-E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este tipo de documentos?​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¿Cuántas partes tiene el documento?​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¿Alguna parte del documento tiene un patrón similar? ¿Cuál?​</a:t>
            </a:r>
          </a:p>
          <a:p>
            <a:pPr>
              <a:lnSpc>
                <a:spcPct val="120000"/>
              </a:lnSpc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¿Cómo te podría servir en tu futuro profesional elaborar Reportes ASCII utilizando arreglos?​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278775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reportes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ASCII </a:t>
            </a:r>
            <a:r>
              <a:rPr lang="en-US" sz="2800" dirty="0" err="1">
                <a:latin typeface="Helvetica" pitchFamily="2" charset="0"/>
              </a:rPr>
              <a:t>usando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estructuras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bidimensionales</a:t>
            </a:r>
            <a:r>
              <a:rPr lang="en-US" sz="2800" dirty="0">
                <a:latin typeface="Helvetica" pitchFamily="2" charset="0"/>
              </a:rPr>
              <a:t>.</a:t>
            </a:r>
            <a:endParaRPr lang="es-ES" sz="2800" dirty="0">
              <a:latin typeface="Helvetica" pitchFamily="2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B801A9-F150-81AC-F545-F20874DDA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941" y="1856568"/>
            <a:ext cx="4998086" cy="232820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matrices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matrices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FFF31EF-9C69-1549-49FE-594C40907BB0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4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Arreglos de dos dimensiones (repaso)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Arreglos de dos dimensiones (repaso)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444E85-A7EB-E34E-79B6-D8114ABA9F5F}"/>
              </a:ext>
            </a:extLst>
          </p:cNvPr>
          <p:cNvGrpSpPr/>
          <p:nvPr/>
        </p:nvGrpSpPr>
        <p:grpSpPr>
          <a:xfrm>
            <a:off x="7133382" y="1336441"/>
            <a:ext cx="4054334" cy="5115420"/>
            <a:chOff x="6053121" y="1498954"/>
            <a:chExt cx="4054334" cy="5115420"/>
          </a:xfrm>
        </p:grpSpPr>
        <p:sp>
          <p:nvSpPr>
            <p:cNvPr id="6" name="CuadroTexto 12">
              <a:extLst>
                <a:ext uri="{FF2B5EF4-FFF2-40B4-BE49-F238E27FC236}">
                  <a16:creationId xmlns:a16="http://schemas.microsoft.com/office/drawing/2014/main" id="{774A0F5D-9F62-C58C-3CF2-69BF2B083F5F}"/>
                </a:ext>
              </a:extLst>
            </p:cNvPr>
            <p:cNvSpPr txBox="1"/>
            <p:nvPr/>
          </p:nvSpPr>
          <p:spPr>
            <a:xfrm>
              <a:off x="7219303" y="191445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3603AEC1-5946-6A6B-3A29-B1FD1A135C9A}"/>
                </a:ext>
              </a:extLst>
            </p:cNvPr>
            <p:cNvSpPr txBox="1"/>
            <p:nvPr/>
          </p:nvSpPr>
          <p:spPr>
            <a:xfrm>
              <a:off x="8375148" y="1914452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8" name="CuadroTexto 14">
              <a:extLst>
                <a:ext uri="{FF2B5EF4-FFF2-40B4-BE49-F238E27FC236}">
                  <a16:creationId xmlns:a16="http://schemas.microsoft.com/office/drawing/2014/main" id="{F2131EE9-BC6F-EBFB-F427-1CFAE70FE748}"/>
                </a:ext>
              </a:extLst>
            </p:cNvPr>
            <p:cNvSpPr txBox="1"/>
            <p:nvPr/>
          </p:nvSpPr>
          <p:spPr>
            <a:xfrm>
              <a:off x="9389682" y="1923879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9" name="Rectángulo: esquinas redondeadas 15">
              <a:extLst>
                <a:ext uri="{FF2B5EF4-FFF2-40B4-BE49-F238E27FC236}">
                  <a16:creationId xmlns:a16="http://schemas.microsoft.com/office/drawing/2014/main" id="{2A8532E7-7D69-64A8-B32E-07ECA017FE13}"/>
                </a:ext>
              </a:extLst>
            </p:cNvPr>
            <p:cNvSpPr/>
            <p:nvPr/>
          </p:nvSpPr>
          <p:spPr>
            <a:xfrm>
              <a:off x="7175693" y="1498954"/>
              <a:ext cx="2655056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dirty="0">
                  <a:solidFill>
                    <a:schemeClr val="bg1">
                      <a:lumMod val="50000"/>
                    </a:schemeClr>
                  </a:solidFill>
                </a:rPr>
                <a:t>índices de columna</a:t>
              </a:r>
            </a:p>
          </p:txBody>
        </p:sp>
        <p:sp>
          <p:nvSpPr>
            <p:cNvPr id="10" name="Rectángulo: esquinas redondeadas 16">
              <a:extLst>
                <a:ext uri="{FF2B5EF4-FFF2-40B4-BE49-F238E27FC236}">
                  <a16:creationId xmlns:a16="http://schemas.microsoft.com/office/drawing/2014/main" id="{DF8F9A38-BE63-A66F-6A57-49336D8EFA2D}"/>
                </a:ext>
              </a:extLst>
            </p:cNvPr>
            <p:cNvSpPr/>
            <p:nvPr/>
          </p:nvSpPr>
          <p:spPr>
            <a:xfrm>
              <a:off x="7981817" y="6152709"/>
              <a:ext cx="985662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  <a:t>tamaño:</a:t>
              </a:r>
              <a:b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419" sz="1600" dirty="0">
                  <a:solidFill>
                    <a:schemeClr val="bg1">
                      <a:lumMod val="50000"/>
                    </a:schemeClr>
                  </a:solidFill>
                </a:rPr>
                <a:t>3x3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D34098-CA6A-3860-AAD0-6F64FCC94E8F}"/>
                </a:ext>
              </a:extLst>
            </p:cNvPr>
            <p:cNvGrpSpPr/>
            <p:nvPr/>
          </p:nvGrpSpPr>
          <p:grpSpPr>
            <a:xfrm>
              <a:off x="6841841" y="2318710"/>
              <a:ext cx="3265614" cy="3268090"/>
              <a:chOff x="6561213" y="2037869"/>
              <a:chExt cx="3826869" cy="3829772"/>
            </a:xfrm>
          </p:grpSpPr>
          <p:sp>
            <p:nvSpPr>
              <p:cNvPr id="20" name="Rectángulo 6">
                <a:extLst>
                  <a:ext uri="{FF2B5EF4-FFF2-40B4-BE49-F238E27FC236}">
                    <a16:creationId xmlns:a16="http://schemas.microsoft.com/office/drawing/2014/main" id="{40B33545-6276-CE3C-1646-D56D34C45C18}"/>
                  </a:ext>
                </a:extLst>
              </p:cNvPr>
              <p:cNvSpPr/>
              <p:nvPr/>
            </p:nvSpPr>
            <p:spPr>
              <a:xfrm>
                <a:off x="6561213" y="2037870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1" name="Rectángulo 10">
                <a:extLst>
                  <a:ext uri="{FF2B5EF4-FFF2-40B4-BE49-F238E27FC236}">
                    <a16:creationId xmlns:a16="http://schemas.microsoft.com/office/drawing/2014/main" id="{7F9D6327-649D-08EF-74A5-1CBBB626B10F}"/>
                  </a:ext>
                </a:extLst>
              </p:cNvPr>
              <p:cNvSpPr/>
              <p:nvPr/>
            </p:nvSpPr>
            <p:spPr>
              <a:xfrm>
                <a:off x="7838543" y="2039418"/>
                <a:ext cx="1272209" cy="1272209"/>
              </a:xfrm>
              <a:prstGeom prst="rect">
                <a:avLst/>
              </a:prstGeom>
              <a:solidFill>
                <a:srgbClr val="009ED6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33</a:t>
                </a:r>
              </a:p>
            </p:txBody>
          </p:sp>
          <p:sp>
            <p:nvSpPr>
              <p:cNvPr id="22" name="Rectángulo 11">
                <a:extLst>
                  <a:ext uri="{FF2B5EF4-FFF2-40B4-BE49-F238E27FC236}">
                    <a16:creationId xmlns:a16="http://schemas.microsoft.com/office/drawing/2014/main" id="{9C03AA1B-EA9E-FF5A-EFFD-D0ABEAC79FD6}"/>
                  </a:ext>
                </a:extLst>
              </p:cNvPr>
              <p:cNvSpPr/>
              <p:nvPr/>
            </p:nvSpPr>
            <p:spPr>
              <a:xfrm>
                <a:off x="9115873" y="2037869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3" name="Rectángulo 18">
                <a:extLst>
                  <a:ext uri="{FF2B5EF4-FFF2-40B4-BE49-F238E27FC236}">
                    <a16:creationId xmlns:a16="http://schemas.microsoft.com/office/drawing/2014/main" id="{57EF5583-5D62-D334-8674-07C909076F18}"/>
                  </a:ext>
                </a:extLst>
              </p:cNvPr>
              <p:cNvSpPr/>
              <p:nvPr/>
            </p:nvSpPr>
            <p:spPr>
              <a:xfrm>
                <a:off x="6561213" y="3315877"/>
                <a:ext cx="1272209" cy="1272209"/>
              </a:xfrm>
              <a:prstGeom prst="rect">
                <a:avLst/>
              </a:prstGeom>
              <a:solidFill>
                <a:srgbClr val="009ED6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18</a:t>
                </a:r>
              </a:p>
            </p:txBody>
          </p:sp>
          <p:sp>
            <p:nvSpPr>
              <p:cNvPr id="24" name="Rectángulo 19">
                <a:extLst>
                  <a:ext uri="{FF2B5EF4-FFF2-40B4-BE49-F238E27FC236}">
                    <a16:creationId xmlns:a16="http://schemas.microsoft.com/office/drawing/2014/main" id="{EB2A14FF-B83C-CD6F-80A4-4B950EA76F46}"/>
                  </a:ext>
                </a:extLst>
              </p:cNvPr>
              <p:cNvSpPr/>
              <p:nvPr/>
            </p:nvSpPr>
            <p:spPr>
              <a:xfrm>
                <a:off x="7838543" y="3317425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5" name="Rectángulo 20">
                <a:extLst>
                  <a:ext uri="{FF2B5EF4-FFF2-40B4-BE49-F238E27FC236}">
                    <a16:creationId xmlns:a16="http://schemas.microsoft.com/office/drawing/2014/main" id="{78F60AED-FA0E-CEF0-2E21-EDFF7DA9FBA6}"/>
                  </a:ext>
                </a:extLst>
              </p:cNvPr>
              <p:cNvSpPr/>
              <p:nvPr/>
            </p:nvSpPr>
            <p:spPr>
              <a:xfrm>
                <a:off x="9115873" y="3315876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6" name="Rectángulo 21">
                <a:extLst>
                  <a:ext uri="{FF2B5EF4-FFF2-40B4-BE49-F238E27FC236}">
                    <a16:creationId xmlns:a16="http://schemas.microsoft.com/office/drawing/2014/main" id="{FEF2EBA0-302F-BCD5-691E-5C138B0C5A9C}"/>
                  </a:ext>
                </a:extLst>
              </p:cNvPr>
              <p:cNvSpPr/>
              <p:nvPr/>
            </p:nvSpPr>
            <p:spPr>
              <a:xfrm>
                <a:off x="6561213" y="4593884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7" name="Rectángulo 22">
                <a:extLst>
                  <a:ext uri="{FF2B5EF4-FFF2-40B4-BE49-F238E27FC236}">
                    <a16:creationId xmlns:a16="http://schemas.microsoft.com/office/drawing/2014/main" id="{82A2CBF7-8DBF-1B2A-FF35-E3070F3155A7}"/>
                  </a:ext>
                </a:extLst>
              </p:cNvPr>
              <p:cNvSpPr/>
              <p:nvPr/>
            </p:nvSpPr>
            <p:spPr>
              <a:xfrm>
                <a:off x="7838543" y="4595432"/>
                <a:ext cx="1272209" cy="1272209"/>
              </a:xfrm>
              <a:prstGeom prst="rect">
                <a:avLst/>
              </a:prstGeom>
              <a:solidFill>
                <a:srgbClr val="00B0F0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0</a:t>
                </a:r>
              </a:p>
            </p:txBody>
          </p:sp>
          <p:sp>
            <p:nvSpPr>
              <p:cNvPr id="28" name="Rectángulo 23">
                <a:extLst>
                  <a:ext uri="{FF2B5EF4-FFF2-40B4-BE49-F238E27FC236}">
                    <a16:creationId xmlns:a16="http://schemas.microsoft.com/office/drawing/2014/main" id="{69820117-8762-72A2-631F-55B99DE0AC70}"/>
                  </a:ext>
                </a:extLst>
              </p:cNvPr>
              <p:cNvSpPr/>
              <p:nvPr/>
            </p:nvSpPr>
            <p:spPr>
              <a:xfrm>
                <a:off x="9115873" y="4593883"/>
                <a:ext cx="1272209" cy="1272209"/>
              </a:xfrm>
              <a:prstGeom prst="rect">
                <a:avLst/>
              </a:prstGeom>
              <a:solidFill>
                <a:srgbClr val="009ED6"/>
              </a:solidFill>
              <a:ln w="19050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419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419" sz="3200" dirty="0">
                    <a:solidFill>
                      <a:srgbClr val="FFFF00"/>
                    </a:solidFill>
                  </a:rPr>
                  <a:t>78</a:t>
                </a:r>
              </a:p>
            </p:txBody>
          </p:sp>
        </p:grpSp>
        <p:sp>
          <p:nvSpPr>
            <p:cNvPr id="13" name="CuadroTexto 24">
              <a:extLst>
                <a:ext uri="{FF2B5EF4-FFF2-40B4-BE49-F238E27FC236}">
                  <a16:creationId xmlns:a16="http://schemas.microsoft.com/office/drawing/2014/main" id="{95D7169C-7C8D-C184-AE8A-985050B1C7B2}"/>
                </a:ext>
              </a:extLst>
            </p:cNvPr>
            <p:cNvSpPr txBox="1"/>
            <p:nvPr/>
          </p:nvSpPr>
          <p:spPr>
            <a:xfrm>
              <a:off x="6474351" y="258940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uadroTexto 25">
              <a:extLst>
                <a:ext uri="{FF2B5EF4-FFF2-40B4-BE49-F238E27FC236}">
                  <a16:creationId xmlns:a16="http://schemas.microsoft.com/office/drawing/2014/main" id="{8F77FDCB-EE1F-D324-6D94-4DD9FA4A5D4F}"/>
                </a:ext>
              </a:extLst>
            </p:cNvPr>
            <p:cNvSpPr txBox="1"/>
            <p:nvPr/>
          </p:nvSpPr>
          <p:spPr>
            <a:xfrm>
              <a:off x="6437002" y="3721147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1</a:t>
              </a:r>
            </a:p>
          </p:txBody>
        </p:sp>
        <p:sp>
          <p:nvSpPr>
            <p:cNvPr id="15" name="CuadroTexto 26">
              <a:extLst>
                <a:ext uri="{FF2B5EF4-FFF2-40B4-BE49-F238E27FC236}">
                  <a16:creationId xmlns:a16="http://schemas.microsoft.com/office/drawing/2014/main" id="{F80EC9FE-D581-2B3F-47D1-90A370C8F57E}"/>
                </a:ext>
              </a:extLst>
            </p:cNvPr>
            <p:cNvSpPr txBox="1"/>
            <p:nvPr/>
          </p:nvSpPr>
          <p:spPr>
            <a:xfrm>
              <a:off x="6428456" y="4845746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s-419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2</a:t>
              </a:r>
            </a:p>
          </p:txBody>
        </p:sp>
        <p:sp>
          <p:nvSpPr>
            <p:cNvPr id="17" name="Rectángulo: esquinas redondeadas 30">
              <a:extLst>
                <a:ext uri="{FF2B5EF4-FFF2-40B4-BE49-F238E27FC236}">
                  <a16:creationId xmlns:a16="http://schemas.microsoft.com/office/drawing/2014/main" id="{A8C0CBE7-B9C2-9C77-C26B-7C2C69B0C380}"/>
                </a:ext>
              </a:extLst>
            </p:cNvPr>
            <p:cNvSpPr/>
            <p:nvPr/>
          </p:nvSpPr>
          <p:spPr>
            <a:xfrm rot="16200000">
              <a:off x="5213654" y="3721147"/>
              <a:ext cx="2140599" cy="461665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419" dirty="0">
                  <a:solidFill>
                    <a:schemeClr val="bg1">
                      <a:lumMod val="50000"/>
                    </a:schemeClr>
                  </a:solidFill>
                </a:rPr>
                <a:t>índices de fila</a:t>
              </a:r>
            </a:p>
          </p:txBody>
        </p:sp>
        <p:sp>
          <p:nvSpPr>
            <p:cNvPr id="18" name="Cerrar llave 31">
              <a:extLst>
                <a:ext uri="{FF2B5EF4-FFF2-40B4-BE49-F238E27FC236}">
                  <a16:creationId xmlns:a16="http://schemas.microsoft.com/office/drawing/2014/main" id="{DED84198-4675-4AD1-C94B-77F31566AEDF}"/>
                </a:ext>
              </a:extLst>
            </p:cNvPr>
            <p:cNvSpPr/>
            <p:nvPr/>
          </p:nvSpPr>
          <p:spPr>
            <a:xfrm rot="5400000">
              <a:off x="8274216" y="4246604"/>
              <a:ext cx="404989" cy="3261489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419"/>
            </a:p>
          </p:txBody>
        </p:sp>
      </p:grpSp>
      <p:sp>
        <p:nvSpPr>
          <p:cNvPr id="29" name="Rectangle 2">
            <a:extLst>
              <a:ext uri="{FF2B5EF4-FFF2-40B4-BE49-F238E27FC236}">
                <a16:creationId xmlns:a16="http://schemas.microsoft.com/office/drawing/2014/main" id="{A2E837A6-138A-31E4-183A-D120A297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447" y="1950243"/>
            <a:ext cx="4965703" cy="340519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A7C63986-C308-92E1-1D3C-F11B7092E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609" y="2898566"/>
            <a:ext cx="2158852" cy="1069872"/>
          </a:xfrm>
          <a:prstGeom prst="roundRect">
            <a:avLst>
              <a:gd name="adj" fmla="val 6678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1" name="Rectángulo: esquinas redondeadas 15">
            <a:extLst>
              <a:ext uri="{FF2B5EF4-FFF2-40B4-BE49-F238E27FC236}">
                <a16:creationId xmlns:a16="http://schemas.microsoft.com/office/drawing/2014/main" id="{EE5F46F8-69DC-2093-9FD2-AD73246C19C5}"/>
              </a:ext>
            </a:extLst>
          </p:cNvPr>
          <p:cNvSpPr/>
          <p:nvPr/>
        </p:nvSpPr>
        <p:spPr>
          <a:xfrm>
            <a:off x="1327447" y="1432965"/>
            <a:ext cx="2655056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Declaración y creación</a:t>
            </a:r>
          </a:p>
        </p:txBody>
      </p:sp>
      <p:sp>
        <p:nvSpPr>
          <p:cNvPr id="32" name="Rectángulo: esquinas redondeadas 15">
            <a:extLst>
              <a:ext uri="{FF2B5EF4-FFF2-40B4-BE49-F238E27FC236}">
                <a16:creationId xmlns:a16="http://schemas.microsoft.com/office/drawing/2014/main" id="{BFCD58AD-018F-F670-9166-0E8F0A960848}"/>
              </a:ext>
            </a:extLst>
          </p:cNvPr>
          <p:cNvSpPr/>
          <p:nvPr/>
        </p:nvSpPr>
        <p:spPr>
          <a:xfrm>
            <a:off x="1327447" y="2417971"/>
            <a:ext cx="2655056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Asignación</a:t>
            </a: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479B6E42-7BAC-DC9B-05AD-85994948E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609" y="4467925"/>
            <a:ext cx="5447395" cy="2038197"/>
          </a:xfrm>
          <a:prstGeom prst="roundRect">
            <a:avLst>
              <a:gd name="adj" fmla="val 3677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 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f++)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c &lt;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[0].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[f][c]);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Rectángulo: esquinas redondeadas 15">
            <a:extLst>
              <a:ext uri="{FF2B5EF4-FFF2-40B4-BE49-F238E27FC236}">
                <a16:creationId xmlns:a16="http://schemas.microsoft.com/office/drawing/2014/main" id="{ED0878FE-7858-0646-4EC6-973DA3D8C190}"/>
              </a:ext>
            </a:extLst>
          </p:cNvPr>
          <p:cNvSpPr/>
          <p:nvPr/>
        </p:nvSpPr>
        <p:spPr>
          <a:xfrm>
            <a:off x="1327447" y="4016487"/>
            <a:ext cx="2655056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>
                <a:solidFill>
                  <a:schemeClr val="bg1">
                    <a:lumMod val="50000"/>
                  </a:schemeClr>
                </a:solidFill>
              </a:rPr>
              <a:t>Recorrido</a:t>
            </a:r>
          </a:p>
        </p:txBody>
      </p: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FFF31EF-9C69-1549-49FE-594C40907BB0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matrices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93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ED5D25D-88B0-79F7-FD40-A7937435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Copiado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CA8C8BE-E26C-971D-BE31-0548EC2C9C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Al igual que con vectores, </a:t>
            </a:r>
            <a:r>
              <a:rPr lang="es-ES" b="1" dirty="0" err="1">
                <a:solidFill>
                  <a:schemeClr val="accent2"/>
                </a:solidFill>
              </a:rPr>
              <a:t>System.arraycopy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/>
              <a:t> se utiliza para copiar matrices.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Operaciones con arreglos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B5F9B-BE22-3A21-E344-DBC72E981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676" y="3049256"/>
            <a:ext cx="6677404" cy="3202363"/>
          </a:xfrm>
          <a:prstGeom prst="roundRect">
            <a:avLst>
              <a:gd name="adj" fmla="val 517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}};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j &lt;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"%2d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][j]);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53423-3E8F-8314-C789-583A9C3D1F65}"/>
              </a:ext>
            </a:extLst>
          </p:cNvPr>
          <p:cNvSpPr txBox="1"/>
          <p:nvPr/>
        </p:nvSpPr>
        <p:spPr>
          <a:xfrm>
            <a:off x="8977297" y="5112016"/>
            <a:ext cx="1741601" cy="113960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24 32 19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11 45 78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36 11 90 </a:t>
            </a:r>
          </a:p>
        </p:txBody>
      </p:sp>
      <p:sp>
        <p:nvSpPr>
          <p:cNvPr id="7" name="Rectángulo: esquinas redondeadas 15">
            <a:extLst>
              <a:ext uri="{FF2B5EF4-FFF2-40B4-BE49-F238E27FC236}">
                <a16:creationId xmlns:a16="http://schemas.microsoft.com/office/drawing/2014/main" id="{08788064-B2AC-A4B8-D11E-AF98DD7DF028}"/>
              </a:ext>
            </a:extLst>
          </p:cNvPr>
          <p:cNvSpPr/>
          <p:nvPr/>
        </p:nvSpPr>
        <p:spPr>
          <a:xfrm>
            <a:off x="8977297" y="4618557"/>
            <a:ext cx="1128237" cy="461665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dirty="0">
                <a:solidFill>
                  <a:schemeClr val="bg1">
                    <a:lumMod val="50000"/>
                  </a:schemeClr>
                </a:solidFill>
              </a:rPr>
              <a:t>Salida:</a:t>
            </a:r>
          </a:p>
        </p:txBody>
      </p:sp>
    </p:spTree>
    <p:extLst>
      <p:ext uri="{BB962C8B-B14F-4D97-AF65-F5344CB8AC3E}">
        <p14:creationId xmlns:p14="http://schemas.microsoft.com/office/powerpoint/2010/main" val="2882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642315-5E3A-EA97-005A-FFF8C938F2F1}"/>
              </a:ext>
            </a:extLst>
          </p:cNvPr>
          <p:cNvSpPr/>
          <p:nvPr/>
        </p:nvSpPr>
        <p:spPr>
          <a:xfrm>
            <a:off x="1338607" y="2252062"/>
            <a:ext cx="3171794" cy="4176075"/>
          </a:xfrm>
          <a:prstGeom prst="roundRect">
            <a:avLst>
              <a:gd name="adj" fmla="val 239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29AE69-6DD3-90B7-BA97-A4F7188B5A9B}"/>
              </a:ext>
            </a:extLst>
          </p:cNvPr>
          <p:cNvSpPr/>
          <p:nvPr/>
        </p:nvSpPr>
        <p:spPr>
          <a:xfrm>
            <a:off x="4664825" y="2252062"/>
            <a:ext cx="3171794" cy="4176075"/>
          </a:xfrm>
          <a:prstGeom prst="roundRect">
            <a:avLst>
              <a:gd name="adj" fmla="val 239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9BB565-B208-FCF2-541C-8A5C5BE22300}"/>
              </a:ext>
            </a:extLst>
          </p:cNvPr>
          <p:cNvSpPr/>
          <p:nvPr/>
        </p:nvSpPr>
        <p:spPr>
          <a:xfrm>
            <a:off x="7991043" y="2252062"/>
            <a:ext cx="3171794" cy="4176075"/>
          </a:xfrm>
          <a:prstGeom prst="roundRect">
            <a:avLst>
              <a:gd name="adj" fmla="val 239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ED5D25D-88B0-79F7-FD40-A7937435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Ordenamiento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CA8C8BE-E26C-971D-BE31-0548EC2C9C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Tipos de ordenamiento de matrices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Operaciones con arreglos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76917-267D-C9A6-B8A8-84379F8E956C}"/>
              </a:ext>
            </a:extLst>
          </p:cNvPr>
          <p:cNvSpPr txBox="1"/>
          <p:nvPr/>
        </p:nvSpPr>
        <p:spPr>
          <a:xfrm>
            <a:off x="1758624" y="2474154"/>
            <a:ext cx="2255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Ordenamiento de matriz completa</a:t>
            </a: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AF2B9-BD5F-B551-5E0E-B37ECC7F15F9}"/>
              </a:ext>
            </a:extLst>
          </p:cNvPr>
          <p:cNvSpPr txBox="1"/>
          <p:nvPr/>
        </p:nvSpPr>
        <p:spPr>
          <a:xfrm>
            <a:off x="5229576" y="2474154"/>
            <a:ext cx="1944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Ordenamiento por fila</a:t>
            </a: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C9F7C-AABD-78EE-66A3-2E1DF5B94565}"/>
              </a:ext>
            </a:extLst>
          </p:cNvPr>
          <p:cNvSpPr txBox="1"/>
          <p:nvPr/>
        </p:nvSpPr>
        <p:spPr>
          <a:xfrm>
            <a:off x="8652382" y="2474154"/>
            <a:ext cx="1849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Ordenamiento por columna</a:t>
            </a: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82242B4-03AF-AB9E-3EB4-8AFB8D272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87924"/>
              </p:ext>
            </p:extLst>
          </p:nvPr>
        </p:nvGraphicFramePr>
        <p:xfrm>
          <a:off x="1758624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2CD88E-1075-2F21-F444-18EDCE0C7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444550"/>
              </p:ext>
            </p:extLst>
          </p:nvPr>
        </p:nvGraphicFramePr>
        <p:xfrm>
          <a:off x="3044789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06A226F1-D33C-224C-8CA1-52C1FBFDC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54625"/>
              </p:ext>
            </p:extLst>
          </p:nvPr>
        </p:nvGraphicFramePr>
        <p:xfrm>
          <a:off x="5108081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735F88A-AC73-BC04-6400-7D71C558A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03894"/>
              </p:ext>
            </p:extLst>
          </p:nvPr>
        </p:nvGraphicFramePr>
        <p:xfrm>
          <a:off x="9750271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A7E0380F-C5CF-8378-38C1-1AF1D3AFD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34955"/>
              </p:ext>
            </p:extLst>
          </p:nvPr>
        </p:nvGraphicFramePr>
        <p:xfrm>
          <a:off x="8417025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8971FA-9A1D-E47F-9886-FC8586EF1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70884"/>
              </p:ext>
            </p:extLst>
          </p:nvPr>
        </p:nvGraphicFramePr>
        <p:xfrm>
          <a:off x="6414884" y="3415140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A3D8DC3-0994-97DD-C841-D65180D0C215}"/>
              </a:ext>
            </a:extLst>
          </p:cNvPr>
          <p:cNvSpPr txBox="1"/>
          <p:nvPr/>
        </p:nvSpPr>
        <p:spPr>
          <a:xfrm>
            <a:off x="1602557" y="4966770"/>
            <a:ext cx="25891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el ejemplo, se toma a la matriz como un conjunto completo de valores, se ordenan y se disponen desde el principio de la matriz.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26E670-DEDB-F020-BFED-8A5F13D07EB8}"/>
              </a:ext>
            </a:extLst>
          </p:cNvPr>
          <p:cNvSpPr txBox="1"/>
          <p:nvPr/>
        </p:nvSpPr>
        <p:spPr>
          <a:xfrm>
            <a:off x="4851813" y="4966770"/>
            <a:ext cx="2803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el ejemplo, se ordenan los datos de la primera fila, y, como corresponde, se mueven los datos de las columnas respectivas.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C4AE97-54A7-8F1C-CC1C-1629F47479DE}"/>
              </a:ext>
            </a:extLst>
          </p:cNvPr>
          <p:cNvSpPr txBox="1"/>
          <p:nvPr/>
        </p:nvSpPr>
        <p:spPr>
          <a:xfrm>
            <a:off x="8251593" y="4966770"/>
            <a:ext cx="26486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el ejemplo, se ordenan los datos de la primera columna, y, como corresponde, se mueven los datos de las filas respectivas.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84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C9C9-1F39-7B7E-4208-21264533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Ordenamiento.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5ACC8B-371A-0113-95AD-2975AB7D02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2F907-D05F-9783-52C8-70F7F6DDC6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257805"/>
            <a:ext cx="10150151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Ordenamiento de matriz completa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F5C5C2-8868-7A93-E18E-66E9A9628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029" y="2138835"/>
            <a:ext cx="5330001" cy="4474068"/>
          </a:xfrm>
          <a:prstGeom prst="roundRect">
            <a:avLst>
              <a:gd name="adj" fmla="val 315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{{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altLang="en-US" sz="1050" dirty="0">
                <a:solidFill>
                  <a:srgbClr val="D981D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lang="en-US" altLang="en-US" sz="1050" dirty="0">
                <a:solidFill>
                  <a:srgbClr val="D981D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altLang="en-US" sz="1050" dirty="0">
                <a:solidFill>
                  <a:srgbClr val="D981D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}};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vector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j &lt;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vector[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++] =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][j];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(vector);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j &lt;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j++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matriz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][j] = vector[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++];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F4AFC-529B-95EB-CDAF-7FECA3E86D2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Operaciones con arreglos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E64C9D3-1C59-7C56-E0C1-058A59844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908334"/>
              </p:ext>
            </p:extLst>
          </p:nvPr>
        </p:nvGraphicFramePr>
        <p:xfrm>
          <a:off x="7324435" y="2393359"/>
          <a:ext cx="1041138" cy="111252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F2A979-FBF4-D6E9-0CE9-F947D0857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50038"/>
              </p:ext>
            </p:extLst>
          </p:nvPr>
        </p:nvGraphicFramePr>
        <p:xfrm>
          <a:off x="7324435" y="5208152"/>
          <a:ext cx="1041138" cy="111252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0EE558F7-756B-D7F1-E325-FA152DABD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69620"/>
              </p:ext>
            </p:extLst>
          </p:nvPr>
        </p:nvGraphicFramePr>
        <p:xfrm>
          <a:off x="7324434" y="3826077"/>
          <a:ext cx="3045051" cy="37084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38339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192293748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948534033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7843741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386834446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267616427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96569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45F38631-5463-4E19-23A7-B92C304FB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20369"/>
              </p:ext>
            </p:extLst>
          </p:nvPr>
        </p:nvGraphicFramePr>
        <p:xfrm>
          <a:off x="7324434" y="4517115"/>
          <a:ext cx="3045051" cy="37084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338339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192293748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948534033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7843741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386834446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267616427"/>
                    </a:ext>
                  </a:extLst>
                </a:gridCol>
                <a:gridCol w="338339">
                  <a:extLst>
                    <a:ext uri="{9D8B030D-6E8A-4147-A177-3AD203B41FA5}">
                      <a16:colId xmlns:a16="http://schemas.microsoft.com/office/drawing/2014/main" val="196569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</a:tbl>
          </a:graphicData>
        </a:graphic>
      </p:graphicFrame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FBD4799-9EC2-ED1A-0C24-94F27871EBA2}"/>
              </a:ext>
            </a:extLst>
          </p:cNvPr>
          <p:cNvSpPr/>
          <p:nvPr/>
        </p:nvSpPr>
        <p:spPr>
          <a:xfrm>
            <a:off x="8506613" y="2949619"/>
            <a:ext cx="680692" cy="751412"/>
          </a:xfrm>
          <a:custGeom>
            <a:avLst/>
            <a:gdLst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3" fmla="*/ 509048 w 537328"/>
              <a:gd name="connsiteY3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28686 h 777462"/>
              <a:gd name="connsiteX1" fmla="*/ 667503 w 667503"/>
              <a:gd name="connsiteY1" fmla="*/ 777462 h 777462"/>
              <a:gd name="connsiteX0" fmla="*/ 0 w 676809"/>
              <a:gd name="connsiteY0" fmla="*/ 29328 h 778104"/>
              <a:gd name="connsiteX1" fmla="*/ 667503 w 676809"/>
              <a:gd name="connsiteY1" fmla="*/ 778104 h 778104"/>
              <a:gd name="connsiteX0" fmla="*/ 0 w 680692"/>
              <a:gd name="connsiteY0" fmla="*/ 2636 h 751412"/>
              <a:gd name="connsiteX1" fmla="*/ 667503 w 680692"/>
              <a:gd name="connsiteY1" fmla="*/ 751412 h 75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0692" h="751412">
                <a:moveTo>
                  <a:pt x="0" y="2636"/>
                </a:moveTo>
                <a:cubicBezTo>
                  <a:pt x="533651" y="-30347"/>
                  <a:pt x="737102" y="247820"/>
                  <a:pt x="667503" y="75141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185CF4-5E48-CC68-F4F6-C6F58B52246D}"/>
              </a:ext>
            </a:extLst>
          </p:cNvPr>
          <p:cNvSpPr/>
          <p:nvPr/>
        </p:nvSpPr>
        <p:spPr>
          <a:xfrm rot="5400000">
            <a:off x="8534028" y="5074118"/>
            <a:ext cx="680692" cy="751412"/>
          </a:xfrm>
          <a:custGeom>
            <a:avLst/>
            <a:gdLst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3" fmla="*/ 509048 w 537328"/>
              <a:gd name="connsiteY3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28686 h 777462"/>
              <a:gd name="connsiteX1" fmla="*/ 667503 w 667503"/>
              <a:gd name="connsiteY1" fmla="*/ 777462 h 777462"/>
              <a:gd name="connsiteX0" fmla="*/ 0 w 676809"/>
              <a:gd name="connsiteY0" fmla="*/ 29328 h 778104"/>
              <a:gd name="connsiteX1" fmla="*/ 667503 w 676809"/>
              <a:gd name="connsiteY1" fmla="*/ 778104 h 778104"/>
              <a:gd name="connsiteX0" fmla="*/ 0 w 680692"/>
              <a:gd name="connsiteY0" fmla="*/ 2636 h 751412"/>
              <a:gd name="connsiteX1" fmla="*/ 667503 w 680692"/>
              <a:gd name="connsiteY1" fmla="*/ 751412 h 75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0692" h="751412">
                <a:moveTo>
                  <a:pt x="0" y="2636"/>
                </a:moveTo>
                <a:cubicBezTo>
                  <a:pt x="533651" y="-30347"/>
                  <a:pt x="737102" y="247820"/>
                  <a:pt x="667503" y="75141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CAC3E0-9744-ED0A-6106-29713A3ADBFC}"/>
              </a:ext>
            </a:extLst>
          </p:cNvPr>
          <p:cNvSpPr/>
          <p:nvPr/>
        </p:nvSpPr>
        <p:spPr>
          <a:xfrm>
            <a:off x="10480785" y="4014134"/>
            <a:ext cx="378730" cy="663968"/>
          </a:xfrm>
          <a:custGeom>
            <a:avLst/>
            <a:gdLst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3" fmla="*/ 509048 w 537328"/>
              <a:gd name="connsiteY3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2" fmla="*/ 509048 w 537328"/>
              <a:gd name="connsiteY2" fmla="*/ 641022 h 659876"/>
              <a:gd name="connsiteX0" fmla="*/ 0 w 537328"/>
              <a:gd name="connsiteY0" fmla="*/ 0 h 659876"/>
              <a:gd name="connsiteX1" fmla="*/ 537328 w 537328"/>
              <a:gd name="connsiteY1" fmla="*/ 659876 h 6598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0 h 748776"/>
              <a:gd name="connsiteX1" fmla="*/ 667503 w 667503"/>
              <a:gd name="connsiteY1" fmla="*/ 748776 h 748776"/>
              <a:gd name="connsiteX0" fmla="*/ 0 w 667503"/>
              <a:gd name="connsiteY0" fmla="*/ 28686 h 777462"/>
              <a:gd name="connsiteX1" fmla="*/ 667503 w 667503"/>
              <a:gd name="connsiteY1" fmla="*/ 777462 h 777462"/>
              <a:gd name="connsiteX0" fmla="*/ 0 w 676809"/>
              <a:gd name="connsiteY0" fmla="*/ 29328 h 778104"/>
              <a:gd name="connsiteX1" fmla="*/ 667503 w 676809"/>
              <a:gd name="connsiteY1" fmla="*/ 778104 h 778104"/>
              <a:gd name="connsiteX0" fmla="*/ 0 w 680692"/>
              <a:gd name="connsiteY0" fmla="*/ 2636 h 751412"/>
              <a:gd name="connsiteX1" fmla="*/ 667503 w 680692"/>
              <a:gd name="connsiteY1" fmla="*/ 751412 h 751412"/>
              <a:gd name="connsiteX0" fmla="*/ 20654 w 268219"/>
              <a:gd name="connsiteY0" fmla="*/ 3573 h 667508"/>
              <a:gd name="connsiteX1" fmla="*/ 0 w 268219"/>
              <a:gd name="connsiteY1" fmla="*/ 667508 h 667508"/>
              <a:gd name="connsiteX0" fmla="*/ 20654 w 386136"/>
              <a:gd name="connsiteY0" fmla="*/ 1127 h 665093"/>
              <a:gd name="connsiteX1" fmla="*/ 0 w 386136"/>
              <a:gd name="connsiteY1" fmla="*/ 665062 h 665093"/>
              <a:gd name="connsiteX0" fmla="*/ 20654 w 382427"/>
              <a:gd name="connsiteY0" fmla="*/ 217 h 664184"/>
              <a:gd name="connsiteX1" fmla="*/ 0 w 382427"/>
              <a:gd name="connsiteY1" fmla="*/ 664152 h 664184"/>
              <a:gd name="connsiteX0" fmla="*/ 20654 w 378730"/>
              <a:gd name="connsiteY0" fmla="*/ 217 h 664184"/>
              <a:gd name="connsiteX1" fmla="*/ 0 w 378730"/>
              <a:gd name="connsiteY1" fmla="*/ 664152 h 664184"/>
              <a:gd name="connsiteX0" fmla="*/ 20654 w 378730"/>
              <a:gd name="connsiteY0" fmla="*/ 0 h 663968"/>
              <a:gd name="connsiteX1" fmla="*/ 0 w 378730"/>
              <a:gd name="connsiteY1" fmla="*/ 663935 h 663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8730" h="663968">
                <a:moveTo>
                  <a:pt x="20654" y="0"/>
                </a:moveTo>
                <a:cubicBezTo>
                  <a:pt x="535452" y="14152"/>
                  <a:pt x="465525" y="669390"/>
                  <a:pt x="0" y="663935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453CB-964B-E307-E9FA-B602FCAD994F}"/>
              </a:ext>
            </a:extLst>
          </p:cNvPr>
          <p:cNvSpPr txBox="1"/>
          <p:nvPr/>
        </p:nvSpPr>
        <p:spPr>
          <a:xfrm>
            <a:off x="7273497" y="2073881"/>
            <a:ext cx="258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matriz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26E432-85FF-61E6-2784-0A8AC4B22DE6}"/>
              </a:ext>
            </a:extLst>
          </p:cNvPr>
          <p:cNvSpPr txBox="1"/>
          <p:nvPr/>
        </p:nvSpPr>
        <p:spPr>
          <a:xfrm>
            <a:off x="7273497" y="4202194"/>
            <a:ext cx="258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vector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44BF25-0CF9-767F-B700-BAB6C626E61D}"/>
              </a:ext>
            </a:extLst>
          </p:cNvPr>
          <p:cNvSpPr txBox="1"/>
          <p:nvPr/>
        </p:nvSpPr>
        <p:spPr>
          <a:xfrm>
            <a:off x="9136046" y="2743309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1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BEB29-F3DC-26C9-C316-C6957724FC97}"/>
              </a:ext>
            </a:extLst>
          </p:cNvPr>
          <p:cNvSpPr txBox="1"/>
          <p:nvPr/>
        </p:nvSpPr>
        <p:spPr>
          <a:xfrm>
            <a:off x="10945820" y="4140885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42F155-42F8-279D-90D3-5C09C025E3FA}"/>
              </a:ext>
            </a:extLst>
          </p:cNvPr>
          <p:cNvSpPr txBox="1"/>
          <p:nvPr/>
        </p:nvSpPr>
        <p:spPr>
          <a:xfrm>
            <a:off x="9136046" y="5600669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446719-EFD7-ADD0-1ABF-8753AC7833AF}"/>
              </a:ext>
            </a:extLst>
          </p:cNvPr>
          <p:cNvSpPr txBox="1"/>
          <p:nvPr/>
        </p:nvSpPr>
        <p:spPr>
          <a:xfrm>
            <a:off x="4864791" y="2892533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1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ABD5E1-1863-92B3-0A9A-E75F686DCD50}"/>
              </a:ext>
            </a:extLst>
          </p:cNvPr>
          <p:cNvSpPr txBox="1"/>
          <p:nvPr/>
        </p:nvSpPr>
        <p:spPr>
          <a:xfrm>
            <a:off x="3196987" y="4455163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3653C8-D04C-FC85-01C9-7B624923EB94}"/>
              </a:ext>
            </a:extLst>
          </p:cNvPr>
          <p:cNvSpPr txBox="1"/>
          <p:nvPr/>
        </p:nvSpPr>
        <p:spPr>
          <a:xfrm>
            <a:off x="4864791" y="5109478"/>
            <a:ext cx="436748" cy="43279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2"/>
                </a:solidFill>
              </a:rPr>
              <a:t>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21CB4-9167-8FD9-3AB2-A83B5E06F608}"/>
              </a:ext>
            </a:extLst>
          </p:cNvPr>
          <p:cNvSpPr txBox="1"/>
          <p:nvPr/>
        </p:nvSpPr>
        <p:spPr>
          <a:xfrm>
            <a:off x="7273497" y="6310125"/>
            <a:ext cx="258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matriz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01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ED5D25D-88B0-79F7-FD40-A7937435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Comparación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CA8C8BE-E26C-971D-BE31-0548EC2C9C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Usamos </a:t>
            </a:r>
            <a:r>
              <a:rPr lang="es-ES" b="1" dirty="0" err="1">
                <a:solidFill>
                  <a:schemeClr val="accent2"/>
                </a:solidFill>
              </a:rPr>
              <a:t>Arrays.deepEquals</a:t>
            </a:r>
            <a:r>
              <a:rPr lang="es-ES" b="1" dirty="0">
                <a:solidFill>
                  <a:schemeClr val="accent2"/>
                </a:solidFill>
              </a:rPr>
              <a:t>()</a:t>
            </a:r>
            <a:r>
              <a:rPr lang="es-ES" dirty="0"/>
              <a:t> para comparar dos arreglos bidimensionales.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Operaciones con arreglos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6BB23D-C5A4-18D9-CC8D-B0910DBA3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959" y="3240693"/>
            <a:ext cx="7988996" cy="1630382"/>
          </a:xfrm>
          <a:prstGeom prst="roundRect">
            <a:avLst>
              <a:gd name="adj" fmla="val 689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matriz1 = {{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}};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[][] matriz2 = {{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}, 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}};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iguales = Arrays.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deepEquals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(matriz1, matriz2);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(iguales?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"Son iguales"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"Son diferentes"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345F5-678E-6275-7115-B410A8CEEA20}"/>
              </a:ext>
            </a:extLst>
          </p:cNvPr>
          <p:cNvSpPr txBox="1"/>
          <p:nvPr/>
        </p:nvSpPr>
        <p:spPr>
          <a:xfrm>
            <a:off x="1743959" y="5431554"/>
            <a:ext cx="7988996" cy="364331"/>
          </a:xfrm>
          <a:prstGeom prst="roundRect">
            <a:avLst>
              <a:gd name="adj" fmla="val 27812"/>
            </a:avLst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Son </a:t>
            </a:r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diferentes</a:t>
            </a:r>
            <a:endParaRPr lang="en-US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ángulo: esquinas redondeadas 15">
            <a:extLst>
              <a:ext uri="{FF2B5EF4-FFF2-40B4-BE49-F238E27FC236}">
                <a16:creationId xmlns:a16="http://schemas.microsoft.com/office/drawing/2014/main" id="{DE6EE117-646A-455B-9E61-C52F4B97F0A5}"/>
              </a:ext>
            </a:extLst>
          </p:cNvPr>
          <p:cNvSpPr/>
          <p:nvPr/>
        </p:nvSpPr>
        <p:spPr>
          <a:xfrm>
            <a:off x="1671524" y="5110351"/>
            <a:ext cx="1128237" cy="310736"/>
          </a:xfrm>
          <a:prstGeom prst="round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419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400" dirty="0">
                <a:solidFill>
                  <a:schemeClr val="bg1">
                    <a:lumMod val="50000"/>
                  </a:schemeClr>
                </a:solidFill>
              </a:rPr>
              <a:t>Salida:</a:t>
            </a:r>
          </a:p>
        </p:txBody>
      </p:sp>
    </p:spTree>
    <p:extLst>
      <p:ext uri="{BB962C8B-B14F-4D97-AF65-F5344CB8AC3E}">
        <p14:creationId xmlns:p14="http://schemas.microsoft.com/office/powerpoint/2010/main" val="148008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Arreglos de dos dimensiones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(repaso)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Operaciones con matrices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FFF31EF-9C69-1549-49FE-594C40907BB0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01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1. Reporte ASCII.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1A32E72-EAF5-7D9E-19E4-040F3A4D4D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5083159" cy="478291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Debe utilizarse arreglos paralelos, siendo uno de ellos una matriz que almacene las notas de PC1, PC2, PC3 y EF.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Los arreglos deben inicializarse con los datos mostrados.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Todos los promedios deben ser calculados por el programa.</a:t>
            </a:r>
          </a:p>
          <a:p>
            <a:pPr>
              <a:lnSpc>
                <a:spcPct val="12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Deberá mostrarse el reporte ordenado por nombre.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Práctica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09112-7FBD-088C-DEF6-98490522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808" y="2572217"/>
            <a:ext cx="5083159" cy="242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2. Ordenar una matriz.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1A32E72-EAF5-7D9E-19E4-040F3A4D4D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Escribir un programa en Java que implemente el ordenamiento de una matriz por fila o columna.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Práctica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88288F-660A-52D8-F04F-A685C552059B}"/>
              </a:ext>
            </a:extLst>
          </p:cNvPr>
          <p:cNvSpPr/>
          <p:nvPr/>
        </p:nvSpPr>
        <p:spPr>
          <a:xfrm>
            <a:off x="2930291" y="3193327"/>
            <a:ext cx="3171794" cy="2602742"/>
          </a:xfrm>
          <a:prstGeom prst="roundRect">
            <a:avLst>
              <a:gd name="adj" fmla="val 239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ABD719-2D52-1B41-048A-1EAB6E103BF2}"/>
              </a:ext>
            </a:extLst>
          </p:cNvPr>
          <p:cNvSpPr/>
          <p:nvPr/>
        </p:nvSpPr>
        <p:spPr>
          <a:xfrm>
            <a:off x="6548740" y="3193327"/>
            <a:ext cx="3171794" cy="2602742"/>
          </a:xfrm>
          <a:prstGeom prst="roundRect">
            <a:avLst>
              <a:gd name="adj" fmla="val 239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E8B78-4614-246B-73FC-F0734CD0EAEE}"/>
              </a:ext>
            </a:extLst>
          </p:cNvPr>
          <p:cNvSpPr txBox="1"/>
          <p:nvPr/>
        </p:nvSpPr>
        <p:spPr>
          <a:xfrm>
            <a:off x="3495042" y="3415418"/>
            <a:ext cx="19440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Ordenamiento por fila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2C17E-546C-5125-1BCB-CD9CDB280510}"/>
              </a:ext>
            </a:extLst>
          </p:cNvPr>
          <p:cNvSpPr txBox="1"/>
          <p:nvPr/>
        </p:nvSpPr>
        <p:spPr>
          <a:xfrm>
            <a:off x="7210079" y="3415418"/>
            <a:ext cx="1849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Ordenamiento por columna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D41ED52F-8C9E-A374-22D0-6B5164A30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292452"/>
              </p:ext>
            </p:extLst>
          </p:nvPr>
        </p:nvGraphicFramePr>
        <p:xfrm>
          <a:off x="3373547" y="4356404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CCC058-7C83-D63C-94DB-EC4A9E61A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851277"/>
              </p:ext>
            </p:extLst>
          </p:nvPr>
        </p:nvGraphicFramePr>
        <p:xfrm>
          <a:off x="8307968" y="4356404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0DCDA6CA-78D3-84C7-0BF9-91FA967D5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629402"/>
              </p:ext>
            </p:extLst>
          </p:nvPr>
        </p:nvGraphicFramePr>
        <p:xfrm>
          <a:off x="6974722" y="4356404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E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B1682A-1F93-A2D0-1776-734955CB6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14858"/>
              </p:ext>
            </p:extLst>
          </p:nvPr>
        </p:nvGraphicFramePr>
        <p:xfrm>
          <a:off x="4680350" y="4356404"/>
          <a:ext cx="1041138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7046">
                  <a:extLst>
                    <a:ext uri="{9D8B030D-6E8A-4147-A177-3AD203B41FA5}">
                      <a16:colId xmlns:a16="http://schemas.microsoft.com/office/drawing/2014/main" val="2769202930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2921533804"/>
                    </a:ext>
                  </a:extLst>
                </a:gridCol>
                <a:gridCol w="347046">
                  <a:extLst>
                    <a:ext uri="{9D8B030D-6E8A-4147-A177-3AD203B41FA5}">
                      <a16:colId xmlns:a16="http://schemas.microsoft.com/office/drawing/2014/main" val="3790922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3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96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2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60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 fontScale="70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Implementar 5 programas en Java para: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dirty="0">
                <a:latin typeface="+mj-lt"/>
              </a:rPr>
              <a:t>Resolver un problema que haga uso de matrices y arreglos paralelos.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dirty="0">
                <a:latin typeface="+mj-lt"/>
              </a:rPr>
              <a:t>Resolver un problema que requiera el ordenamiento de una matriz por fila o columna.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dirty="0">
                <a:latin typeface="+mj-lt"/>
              </a:rPr>
              <a:t>Resolver un problema que genere un reporte ASCII con datos obtenidos de una matriz.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dirty="0">
                <a:latin typeface="+mj-lt"/>
              </a:rPr>
              <a:t>Resolver un problema que genere un reporte ASCII con datos obtenidos de una matriz y al menos dos arreglos paralelos.</a:t>
            </a:r>
          </a:p>
          <a:p>
            <a:pPr marL="5651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s-ES" dirty="0">
                <a:latin typeface="+mj-lt"/>
              </a:rPr>
              <a:t>Resolver un problema que haga uso de copiado y comparación de matrices.</a:t>
            </a: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191894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FCF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6851529" cy="4556998"/>
          </a:xfrm>
        </p:spPr>
        <p:txBody>
          <a:bodyPr/>
          <a:lstStyle/>
          <a:p>
            <a:r>
              <a:rPr lang="es-ES" dirty="0"/>
              <a:t>¿Cómo copiamos matrices?</a:t>
            </a:r>
          </a:p>
          <a:p>
            <a:r>
              <a:rPr lang="es-ES" dirty="0"/>
              <a:t>¿Qué tipos de ordenamiento de matrices existen?</a:t>
            </a:r>
          </a:p>
          <a:p>
            <a:r>
              <a:rPr lang="es-ES" dirty="0"/>
              <a:t>¿Cómo podemos comparar dos matrices?</a:t>
            </a:r>
          </a:p>
          <a:p>
            <a:endParaRPr lang="es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23687">
            <a:off x="9269482" y="3041293"/>
            <a:ext cx="1134497" cy="599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0308301">
            <a:off x="10734652" y="4326432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38350" flipH="1">
            <a:off x="8564312" y="384380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4409" b="34623"/>
          <a:stretch/>
        </p:blipFill>
        <p:spPr>
          <a:xfrm rot="19496666">
            <a:off x="8412092" y="16113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3249</TotalTime>
  <Words>1790</Words>
  <Application>Microsoft Office PowerPoint</Application>
  <PresentationFormat>Panorámica</PresentationFormat>
  <Paragraphs>333</Paragraphs>
  <Slides>24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Arreglos de dos dimensiones (II)</vt:lpstr>
      <vt:lpstr>Conocimientos previos</vt:lpstr>
      <vt:lpstr>Logro de aprendizaje</vt:lpstr>
      <vt:lpstr>Utilidad</vt:lpstr>
      <vt:lpstr>Presentación de PowerPoint</vt:lpstr>
      <vt:lpstr>Presentación de PowerPoint</vt:lpstr>
      <vt:lpstr>Arreglos de dos dimensiones (repaso)</vt:lpstr>
      <vt:lpstr>Presentación de PowerPoint</vt:lpstr>
      <vt:lpstr>Copiado</vt:lpstr>
      <vt:lpstr>Ordenamiento</vt:lpstr>
      <vt:lpstr>Ordenamiento. Ejemplo.</vt:lpstr>
      <vt:lpstr>Comparación</vt:lpstr>
      <vt:lpstr>Presentación de PowerPoint</vt:lpstr>
      <vt:lpstr>Ejercicio 1. Reporte ASCII.</vt:lpstr>
      <vt:lpstr>Ejercicio 2. Ordenar una matriz.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11-Sesión 22</dc:title>
  <dc:creator>jorgerodcas@hotmail.com</dc:creator>
  <cp:lastModifiedBy>Juan Carlos García</cp:lastModifiedBy>
  <cp:revision>200</cp:revision>
  <dcterms:modified xsi:type="dcterms:W3CDTF">2023-10-23T15:51:51Z</dcterms:modified>
</cp:coreProperties>
</file>