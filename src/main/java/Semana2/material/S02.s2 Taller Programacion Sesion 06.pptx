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648" r:id="rId1"/>
  </p:sldMasterIdLst>
  <p:notesMasterIdLst>
    <p:notesMasterId r:id="rId27"/>
  </p:notesMasterIdLst>
  <p:sldIdLst>
    <p:sldId id="256" r:id="rId2"/>
    <p:sldId id="400" r:id="rId3"/>
    <p:sldId id="401" r:id="rId4"/>
    <p:sldId id="402" r:id="rId5"/>
    <p:sldId id="403" r:id="rId6"/>
    <p:sldId id="258" r:id="rId7"/>
    <p:sldId id="257" r:id="rId8"/>
    <p:sldId id="263" r:id="rId9"/>
    <p:sldId id="264" r:id="rId10"/>
    <p:sldId id="330" r:id="rId11"/>
    <p:sldId id="404" r:id="rId12"/>
    <p:sldId id="357" r:id="rId13"/>
    <p:sldId id="399" r:id="rId14"/>
    <p:sldId id="396" r:id="rId15"/>
    <p:sldId id="397" r:id="rId16"/>
    <p:sldId id="398" r:id="rId17"/>
    <p:sldId id="406" r:id="rId18"/>
    <p:sldId id="407" r:id="rId19"/>
    <p:sldId id="405" r:id="rId20"/>
    <p:sldId id="408" r:id="rId21"/>
    <p:sldId id="361" r:id="rId22"/>
    <p:sldId id="327" r:id="rId23"/>
    <p:sldId id="261" r:id="rId24"/>
    <p:sldId id="329" r:id="rId25"/>
    <p:sldId id="259" r:id="rId26"/>
  </p:sldIdLst>
  <p:sldSz cx="12192000" cy="6858000"/>
  <p:notesSz cx="6858000" cy="9144000"/>
  <p:embeddedFontLst>
    <p:embeddedFont>
      <p:font typeface="Helvetica" panose="020B0604020202020204" pitchFamily="34" charset="0"/>
      <p:regular r:id="rId28"/>
      <p:bold r:id="rId29"/>
      <p:italic r:id="rId30"/>
      <p:boldItalic r:id="rId31"/>
    </p:embeddedFont>
    <p:embeddedFont>
      <p:font typeface="JetBrains Mono" panose="02000009000000000000" pitchFamily="49" charset="0"/>
      <p:regular r:id="rId32"/>
      <p:bold r:id="rId33"/>
      <p:italic r:id="rId34"/>
      <p:boldItalic r:id="rId35"/>
    </p:embeddedFont>
    <p:embeddedFont>
      <p:font typeface="Segoe UI" panose="020B0502040204020203" pitchFamily="34" charset="0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8" roundtripDataSignature="AMtx7mh2+CB7AwAKHevBYi6hg66TyKQME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CC"/>
    <a:srgbClr val="1B5E8B"/>
    <a:srgbClr val="8E927B"/>
    <a:srgbClr val="6C91D9"/>
    <a:srgbClr val="FF99FF"/>
    <a:srgbClr val="8FE2FF"/>
    <a:srgbClr val="C5E0F3"/>
    <a:srgbClr val="AFD5EF"/>
    <a:srgbClr val="8FC5E9"/>
    <a:srgbClr val="68B1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361" autoAdjust="0"/>
    <p:restoredTop sz="83944" autoAdjust="0"/>
  </p:normalViewPr>
  <p:slideViewPr>
    <p:cSldViewPr snapToGrid="0">
      <p:cViewPr varScale="1">
        <p:scale>
          <a:sx n="124" d="100"/>
          <a:sy n="124" d="100"/>
        </p:scale>
        <p:origin x="403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2.fntdata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82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78" Type="http://customschemas.google.com/relationships/presentationmetadata" Target="metadata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8" Type="http://schemas.openxmlformats.org/officeDocument/2006/relationships/slide" Target="slides/slide7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7819eedc26_1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g7819eedc26_1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7" name="Google Shape;6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None/>
            </a:pPr>
            <a:r>
              <a:rPr lang="es-ES" dirty="0"/>
              <a:t>Respuestas que deben buscarse:</a:t>
            </a:r>
          </a:p>
          <a:p>
            <a:pPr marL="228600" indent="0">
              <a:buNone/>
            </a:pPr>
            <a:endParaRPr lang="es-ES" dirty="0"/>
          </a:p>
          <a:p>
            <a:pPr>
              <a:buAutoNum type="arabicPeriod"/>
            </a:pPr>
            <a:r>
              <a:rPr lang="es-ES" dirty="0"/>
              <a:t>Elaborar un plan de solución.</a:t>
            </a:r>
          </a:p>
          <a:p>
            <a:pPr>
              <a:buAutoNum type="arabicPeriod"/>
            </a:pPr>
            <a:r>
              <a:rPr lang="es-ES" dirty="0"/>
              <a:t>En una secuencia de instrucciones o algoritmo.</a:t>
            </a:r>
          </a:p>
          <a:p>
            <a:pPr>
              <a:buAutoNum type="arabicPeriod"/>
            </a:pPr>
            <a:r>
              <a:rPr lang="es-ES" dirty="0"/>
              <a:t>Solucionar el problema.</a:t>
            </a:r>
          </a:p>
          <a:p>
            <a:pPr>
              <a:buAutoNum type="arabicPeriod"/>
            </a:pPr>
            <a:r>
              <a:rPr lang="es-ES" dirty="0"/>
              <a:t>Java</a:t>
            </a:r>
          </a:p>
          <a:p>
            <a:pPr marL="228600" indent="0">
              <a:buNone/>
            </a:pPr>
            <a:endParaRPr lang="en-US" dirty="0"/>
          </a:p>
          <a:p>
            <a:pPr marL="228600" indent="0">
              <a:buNone/>
            </a:pPr>
            <a:r>
              <a:rPr lang="en-US" dirty="0" err="1"/>
              <a:t>Utilidad</a:t>
            </a:r>
            <a:r>
              <a:rPr lang="en-US" dirty="0"/>
              <a:t>: </a:t>
            </a:r>
            <a:r>
              <a:rPr lang="en-US" dirty="0" err="1"/>
              <a:t>Programar</a:t>
            </a:r>
            <a:r>
              <a:rPr lang="en-US" dirty="0"/>
              <a:t> </a:t>
            </a:r>
            <a:r>
              <a:rPr lang="en-US" dirty="0" err="1"/>
              <a:t>instrucciones</a:t>
            </a:r>
            <a:r>
              <a:rPr lang="en-US" dirty="0"/>
              <a:t> </a:t>
            </a:r>
            <a:r>
              <a:rPr lang="en-US" dirty="0" err="1"/>
              <a:t>utilizando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lenguaje</a:t>
            </a:r>
            <a:r>
              <a:rPr lang="en-US" dirty="0"/>
              <a:t> Java para resolver un </a:t>
            </a:r>
            <a:r>
              <a:rPr lang="en-US" dirty="0" err="1"/>
              <a:t>problema</a:t>
            </a:r>
            <a:r>
              <a:rPr lang="en-US" dirty="0"/>
              <a:t>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565683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1936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1">
                <a:latin typeface="Helvetica" pitchFamily="2" charset="0"/>
                <a:ea typeface="Helvetica" pitchFamily="2" charset="0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4" name="Google Shape;14;p7"/>
          <p:cNvSpPr txBox="1">
            <a:spLocks noGrp="1"/>
          </p:cNvSpPr>
          <p:nvPr>
            <p:ph type="subTitle" idx="1"/>
          </p:nvPr>
        </p:nvSpPr>
        <p:spPr>
          <a:xfrm>
            <a:off x="1524000" y="3178688"/>
            <a:ext cx="9144000" cy="50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Helvetica" pitchFamily="2" charset="0"/>
                <a:ea typeface="Helvetica" pitchFamily="2" charset="0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F22F04-4BC9-41E2-B353-830397417302}"/>
              </a:ext>
            </a:extLst>
          </p:cNvPr>
          <p:cNvSpPr/>
          <p:nvPr userDrawn="1"/>
        </p:nvSpPr>
        <p:spPr>
          <a:xfrm>
            <a:off x="4058520" y="5231177"/>
            <a:ext cx="4063504" cy="9365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pic>
        <p:nvPicPr>
          <p:cNvPr id="5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4E2C1613-F647-4454-932D-F9B6B9380A9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1555" y="5135036"/>
            <a:ext cx="4173573" cy="1092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29555-3685-4E25-8B53-D766AA066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9745"/>
            <a:ext cx="10515600" cy="785528"/>
          </a:xfrm>
        </p:spPr>
        <p:txBody>
          <a:bodyPr>
            <a:normAutofit/>
          </a:bodyPr>
          <a:lstStyle>
            <a:lvl1pPr>
              <a:defRPr sz="4400" b="1">
                <a:solidFill>
                  <a:srgbClr val="D3052C"/>
                </a:solidFill>
                <a:latin typeface="Helvetica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88F942-990C-4C84-A1C3-F5F0BCBF93E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‹Nº›</a:t>
            </a:fld>
            <a:endParaRPr lang="es-PE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68538E7-9E81-474C-AD3B-32C2198C15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10515600" cy="4373562"/>
          </a:xfrm>
        </p:spPr>
        <p:txBody>
          <a:bodyPr/>
          <a:lstStyle>
            <a:lvl1pPr>
              <a:lnSpc>
                <a:spcPct val="100000"/>
              </a:lnSpc>
              <a:defRPr>
                <a:latin typeface="Helvetica" pitchFamily="2" charset="0"/>
              </a:defRPr>
            </a:lvl1pPr>
            <a:lvl2pPr>
              <a:lnSpc>
                <a:spcPct val="100000"/>
              </a:lnSpc>
              <a:defRPr>
                <a:latin typeface="Helvetica" pitchFamily="2" charset="0"/>
              </a:defRPr>
            </a:lvl2pPr>
            <a:lvl3pPr>
              <a:lnSpc>
                <a:spcPct val="100000"/>
              </a:lnSpc>
              <a:defRPr>
                <a:latin typeface="Helvetica" pitchFamily="2" charset="0"/>
              </a:defRPr>
            </a:lvl3pPr>
            <a:lvl4pPr>
              <a:lnSpc>
                <a:spcPct val="100000"/>
              </a:lnSpc>
              <a:defRPr>
                <a:latin typeface="Helvetica" pitchFamily="2" charset="0"/>
              </a:defRPr>
            </a:lvl4pPr>
            <a:lvl5pPr>
              <a:lnSpc>
                <a:spcPct val="100000"/>
              </a:lnSpc>
              <a:defRPr>
                <a:latin typeface="Helvetica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6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322DE48A-2D4F-4873-8D66-AF7F3593CA7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6428" y="136525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831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preserve="1" userDrawn="1">
  <p:cSld name="2_Solo el título"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240F2624-FBFA-46AE-9892-D42C673614F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2847" y="141009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835F4D67-4966-C21F-A09E-7658BEBF9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8217"/>
            <a:ext cx="10515600" cy="4959927"/>
          </a:xfrm>
        </p:spPr>
        <p:txBody>
          <a:bodyPr/>
          <a:lstStyle>
            <a:lvl1pPr algn="ctr">
              <a:defRPr b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96670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Encabezado de sección">
  <p:cSld name="1_Encabezado de sección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467" y="0"/>
            <a:ext cx="1218706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D22FCA6-0FCB-4C91-BEC5-A93A5D856507}"/>
              </a:ext>
            </a:extLst>
          </p:cNvPr>
          <p:cNvSpPr/>
          <p:nvPr userDrawn="1"/>
        </p:nvSpPr>
        <p:spPr>
          <a:xfrm>
            <a:off x="8713694" y="0"/>
            <a:ext cx="3478306" cy="14612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Google Shape;20;p9"/>
          <p:cNvSpPr txBox="1">
            <a:spLocks noGrp="1"/>
          </p:cNvSpPr>
          <p:nvPr>
            <p:ph type="body" idx="1"/>
          </p:nvPr>
        </p:nvSpPr>
        <p:spPr>
          <a:xfrm>
            <a:off x="831850" y="469339"/>
            <a:ext cx="10515600" cy="562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9"/>
          <p:cNvSpPr txBox="1"/>
          <p:nvPr/>
        </p:nvSpPr>
        <p:spPr>
          <a:xfrm>
            <a:off x="831850" y="6457444"/>
            <a:ext cx="105156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Datos/Observaciones</a:t>
            </a:r>
            <a:endParaRPr/>
          </a:p>
        </p:txBody>
      </p:sp>
      <p:pic>
        <p:nvPicPr>
          <p:cNvPr id="6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1B93EADB-A85F-4945-BEEA-1073EED2962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2847" y="122286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>
  <p:cSld name="Encabezado de sección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45ECD6E-A13D-41C4-A8AA-AC936BA167FF}"/>
              </a:ext>
            </a:extLst>
          </p:cNvPr>
          <p:cNvSpPr/>
          <p:nvPr userDrawn="1"/>
        </p:nvSpPr>
        <p:spPr>
          <a:xfrm>
            <a:off x="8713694" y="0"/>
            <a:ext cx="3478306" cy="14612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Google Shape;24;p10"/>
          <p:cNvSpPr txBox="1">
            <a:spLocks noGrp="1"/>
          </p:cNvSpPr>
          <p:nvPr>
            <p:ph type="body" idx="1"/>
          </p:nvPr>
        </p:nvSpPr>
        <p:spPr>
          <a:xfrm>
            <a:off x="831850" y="469339"/>
            <a:ext cx="10515600" cy="562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25" name="Google Shape;25;p10"/>
          <p:cNvSpPr txBox="1">
            <a:spLocks noGrp="1"/>
          </p:cNvSpPr>
          <p:nvPr>
            <p:ph type="body" idx="2"/>
          </p:nvPr>
        </p:nvSpPr>
        <p:spPr>
          <a:xfrm>
            <a:off x="831850" y="6382418"/>
            <a:ext cx="105156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6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E630A3B5-109D-4437-9425-DCBCCE7F66F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2847" y="122286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olo el título">
  <p:cSld name="1_Solo el título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639" y="0"/>
            <a:ext cx="1218072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>
  <p:cSld name="Contenido con título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tenido con título">
  <p:cSld name="1_Contenido con título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1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ontenido con título">
  <p:cSld name="2_Contenido con título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Contenido con título">
  <p:cSld name="3_Contenido con título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Contenido con título">
  <p:cSld name="4_Contenido con título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1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Contenido con título">
  <p:cSld name="5_Contenido con título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Contenido con título">
  <p:cSld name="6_Contenido con título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Contenido con título">
  <p:cSld name="7_Contenido con título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1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Contenido con título">
  <p:cSld name="8_Contenido con título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Contenido con título">
  <p:cSld name="9_Contenido con título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Contenido con título">
  <p:cSld name="10_Contenido con título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2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7" name="Google Shape;7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8" name="Google Shape;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65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1" i="0" u="none" strike="noStrike" cap="none">
          <a:solidFill>
            <a:srgbClr val="D3052C"/>
          </a:solidFill>
          <a:latin typeface="Helvetica" pitchFamily="2" charset="0"/>
          <a:ea typeface="Helvetica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Helvetica" pitchFamily="2" charset="0"/>
          <a:ea typeface="Helvetica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microsoft.com/office/2007/relationships/hdphoto" Target="../media/hdphoto3.wdp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sv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996C790-6468-2096-DC96-223AAF4804CF}"/>
              </a:ext>
            </a:extLst>
          </p:cNvPr>
          <p:cNvSpPr/>
          <p:nvPr/>
        </p:nvSpPr>
        <p:spPr>
          <a:xfrm>
            <a:off x="-9236" y="-13581"/>
            <a:ext cx="12210289" cy="6871581"/>
          </a:xfrm>
          <a:custGeom>
            <a:avLst/>
            <a:gdLst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85277"/>
              <a:gd name="connsiteY0" fmla="*/ 3802455 h 6871580"/>
              <a:gd name="connsiteX1" fmla="*/ 9190 w 12385277"/>
              <a:gd name="connsiteY1" fmla="*/ 6871580 h 6871580"/>
              <a:gd name="connsiteX2" fmla="*/ 9587756 w 12385277"/>
              <a:gd name="connsiteY2" fmla="*/ 6871580 h 6871580"/>
              <a:gd name="connsiteX3" fmla="*/ 12385277 w 12385277"/>
              <a:gd name="connsiteY3" fmla="*/ 2236205 h 6871580"/>
              <a:gd name="connsiteX4" fmla="*/ 12385277 w 12385277"/>
              <a:gd name="connsiteY4" fmla="*/ 0 h 6871580"/>
              <a:gd name="connsiteX5" fmla="*/ 8265950 w 12385277"/>
              <a:gd name="connsiteY5" fmla="*/ 0 h 6871580"/>
              <a:gd name="connsiteX6" fmla="*/ 0 w 12385277"/>
              <a:gd name="connsiteY6" fmla="*/ 3802455 h 6871580"/>
              <a:gd name="connsiteX0" fmla="*/ 0 w 12385277"/>
              <a:gd name="connsiteY0" fmla="*/ 3802455 h 6871580"/>
              <a:gd name="connsiteX1" fmla="*/ 9190 w 12385277"/>
              <a:gd name="connsiteY1" fmla="*/ 6871580 h 6871580"/>
              <a:gd name="connsiteX2" fmla="*/ 9587756 w 12385277"/>
              <a:gd name="connsiteY2" fmla="*/ 6871580 h 6871580"/>
              <a:gd name="connsiteX3" fmla="*/ 12385277 w 12385277"/>
              <a:gd name="connsiteY3" fmla="*/ 2236205 h 6871580"/>
              <a:gd name="connsiteX4" fmla="*/ 12385277 w 12385277"/>
              <a:gd name="connsiteY4" fmla="*/ 0 h 6871580"/>
              <a:gd name="connsiteX5" fmla="*/ 8265950 w 12385277"/>
              <a:gd name="connsiteY5" fmla="*/ 0 h 6871580"/>
              <a:gd name="connsiteX6" fmla="*/ 0 w 12385277"/>
              <a:gd name="connsiteY6" fmla="*/ 3802455 h 6871580"/>
              <a:gd name="connsiteX0" fmla="*/ 0 w 12394652"/>
              <a:gd name="connsiteY0" fmla="*/ 3543837 h 6871580"/>
              <a:gd name="connsiteX1" fmla="*/ 18565 w 12394652"/>
              <a:gd name="connsiteY1" fmla="*/ 6871580 h 6871580"/>
              <a:gd name="connsiteX2" fmla="*/ 9597131 w 12394652"/>
              <a:gd name="connsiteY2" fmla="*/ 6871580 h 6871580"/>
              <a:gd name="connsiteX3" fmla="*/ 12394652 w 12394652"/>
              <a:gd name="connsiteY3" fmla="*/ 2236205 h 6871580"/>
              <a:gd name="connsiteX4" fmla="*/ 12394652 w 12394652"/>
              <a:gd name="connsiteY4" fmla="*/ 0 h 6871580"/>
              <a:gd name="connsiteX5" fmla="*/ 8275325 w 12394652"/>
              <a:gd name="connsiteY5" fmla="*/ 0 h 6871580"/>
              <a:gd name="connsiteX6" fmla="*/ 0 w 12394652"/>
              <a:gd name="connsiteY6" fmla="*/ 3543837 h 6871580"/>
              <a:gd name="connsiteX0" fmla="*/ 0 w 12394652"/>
              <a:gd name="connsiteY0" fmla="*/ 3543837 h 6899290"/>
              <a:gd name="connsiteX1" fmla="*/ 18565 w 12394652"/>
              <a:gd name="connsiteY1" fmla="*/ 6871580 h 6899290"/>
              <a:gd name="connsiteX2" fmla="*/ 10412828 w 12394652"/>
              <a:gd name="connsiteY2" fmla="*/ 6899290 h 6899290"/>
              <a:gd name="connsiteX3" fmla="*/ 12394652 w 12394652"/>
              <a:gd name="connsiteY3" fmla="*/ 2236205 h 6899290"/>
              <a:gd name="connsiteX4" fmla="*/ 12394652 w 12394652"/>
              <a:gd name="connsiteY4" fmla="*/ 0 h 6899290"/>
              <a:gd name="connsiteX5" fmla="*/ 8275325 w 12394652"/>
              <a:gd name="connsiteY5" fmla="*/ 0 h 6899290"/>
              <a:gd name="connsiteX6" fmla="*/ 0 w 12394652"/>
              <a:gd name="connsiteY6" fmla="*/ 3543837 h 6899290"/>
              <a:gd name="connsiteX0" fmla="*/ 0 w 12394652"/>
              <a:gd name="connsiteY0" fmla="*/ 3543837 h 6871581"/>
              <a:gd name="connsiteX1" fmla="*/ 18565 w 12394652"/>
              <a:gd name="connsiteY1" fmla="*/ 6871580 h 6871581"/>
              <a:gd name="connsiteX2" fmla="*/ 10028419 w 12394652"/>
              <a:gd name="connsiteY2" fmla="*/ 6871581 h 6871581"/>
              <a:gd name="connsiteX3" fmla="*/ 12394652 w 12394652"/>
              <a:gd name="connsiteY3" fmla="*/ 2236205 h 6871581"/>
              <a:gd name="connsiteX4" fmla="*/ 12394652 w 12394652"/>
              <a:gd name="connsiteY4" fmla="*/ 0 h 6871581"/>
              <a:gd name="connsiteX5" fmla="*/ 8275325 w 12394652"/>
              <a:gd name="connsiteY5" fmla="*/ 0 h 6871581"/>
              <a:gd name="connsiteX6" fmla="*/ 0 w 12394652"/>
              <a:gd name="connsiteY6" fmla="*/ 3543837 h 6871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394652" h="6871581">
                <a:moveTo>
                  <a:pt x="0" y="3543837"/>
                </a:moveTo>
                <a:cubicBezTo>
                  <a:pt x="3063" y="4566879"/>
                  <a:pt x="15502" y="5848538"/>
                  <a:pt x="18565" y="6871580"/>
                </a:cubicBezTo>
                <a:lnTo>
                  <a:pt x="10028419" y="6871581"/>
                </a:lnTo>
                <a:cubicBezTo>
                  <a:pt x="11310153" y="5444150"/>
                  <a:pt x="11985983" y="4197789"/>
                  <a:pt x="12394652" y="2236205"/>
                </a:cubicBezTo>
                <a:lnTo>
                  <a:pt x="12394652" y="0"/>
                </a:lnTo>
                <a:lnTo>
                  <a:pt x="8275325" y="0"/>
                </a:lnTo>
                <a:cubicBezTo>
                  <a:pt x="8666108" y="4324539"/>
                  <a:pt x="2283555" y="4597057"/>
                  <a:pt x="0" y="3543837"/>
                </a:cubicBezTo>
                <a:close/>
              </a:path>
            </a:pathLst>
          </a:custGeom>
          <a:solidFill>
            <a:schemeClr val="tx2">
              <a:lumMod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EFDE1541-A8F6-99CE-A61B-085CFF7C2FE8}"/>
              </a:ext>
            </a:extLst>
          </p:cNvPr>
          <p:cNvSpPr/>
          <p:nvPr/>
        </p:nvSpPr>
        <p:spPr>
          <a:xfrm>
            <a:off x="-9053" y="-13580"/>
            <a:ext cx="12201053" cy="6871580"/>
          </a:xfrm>
          <a:custGeom>
            <a:avLst/>
            <a:gdLst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85277"/>
              <a:gd name="connsiteY0" fmla="*/ 3802455 h 6871580"/>
              <a:gd name="connsiteX1" fmla="*/ 9190 w 12385277"/>
              <a:gd name="connsiteY1" fmla="*/ 6871580 h 6871580"/>
              <a:gd name="connsiteX2" fmla="*/ 9587756 w 12385277"/>
              <a:gd name="connsiteY2" fmla="*/ 6871580 h 6871580"/>
              <a:gd name="connsiteX3" fmla="*/ 12385277 w 12385277"/>
              <a:gd name="connsiteY3" fmla="*/ 2236205 h 6871580"/>
              <a:gd name="connsiteX4" fmla="*/ 12385277 w 12385277"/>
              <a:gd name="connsiteY4" fmla="*/ 0 h 6871580"/>
              <a:gd name="connsiteX5" fmla="*/ 8265950 w 12385277"/>
              <a:gd name="connsiteY5" fmla="*/ 0 h 6871580"/>
              <a:gd name="connsiteX6" fmla="*/ 0 w 12385277"/>
              <a:gd name="connsiteY6" fmla="*/ 3802455 h 6871580"/>
              <a:gd name="connsiteX0" fmla="*/ 0 w 12385277"/>
              <a:gd name="connsiteY0" fmla="*/ 3802455 h 6871580"/>
              <a:gd name="connsiteX1" fmla="*/ 9190 w 12385277"/>
              <a:gd name="connsiteY1" fmla="*/ 6871580 h 6871580"/>
              <a:gd name="connsiteX2" fmla="*/ 9587756 w 12385277"/>
              <a:gd name="connsiteY2" fmla="*/ 6871580 h 6871580"/>
              <a:gd name="connsiteX3" fmla="*/ 12385277 w 12385277"/>
              <a:gd name="connsiteY3" fmla="*/ 2236205 h 6871580"/>
              <a:gd name="connsiteX4" fmla="*/ 12385277 w 12385277"/>
              <a:gd name="connsiteY4" fmla="*/ 0 h 6871580"/>
              <a:gd name="connsiteX5" fmla="*/ 8265950 w 12385277"/>
              <a:gd name="connsiteY5" fmla="*/ 0 h 6871580"/>
              <a:gd name="connsiteX6" fmla="*/ 0 w 12385277"/>
              <a:gd name="connsiteY6" fmla="*/ 3802455 h 6871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385277" h="6871580">
                <a:moveTo>
                  <a:pt x="0" y="3802455"/>
                </a:moveTo>
                <a:cubicBezTo>
                  <a:pt x="3063" y="4825497"/>
                  <a:pt x="6127" y="5848538"/>
                  <a:pt x="9190" y="6871580"/>
                </a:cubicBezTo>
                <a:lnTo>
                  <a:pt x="9587756" y="6871580"/>
                </a:lnTo>
                <a:cubicBezTo>
                  <a:pt x="10869490" y="5444149"/>
                  <a:pt x="11976608" y="4197789"/>
                  <a:pt x="12385277" y="2236205"/>
                </a:cubicBezTo>
                <a:lnTo>
                  <a:pt x="12385277" y="0"/>
                </a:lnTo>
                <a:lnTo>
                  <a:pt x="8265950" y="0"/>
                </a:lnTo>
                <a:cubicBezTo>
                  <a:pt x="8656733" y="4324539"/>
                  <a:pt x="2283555" y="4855675"/>
                  <a:pt x="0" y="3802455"/>
                </a:cubicBez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F66C8B-894E-49C8-97F0-0500C46A7D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3361" y="420110"/>
            <a:ext cx="7361383" cy="1936426"/>
          </a:xfrm>
        </p:spPr>
        <p:txBody>
          <a:bodyPr/>
          <a:lstStyle/>
          <a:p>
            <a:pPr algn="l"/>
            <a:r>
              <a:rPr lang="es-ES" dirty="0"/>
              <a:t>Taller de Programación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4B3F2A-9181-449D-AA57-948B7B8CEB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4068577"/>
            <a:ext cx="9144000" cy="500624"/>
          </a:xfrm>
        </p:spPr>
        <p:txBody>
          <a:bodyPr>
            <a:normAutofit fontScale="92500" lnSpcReduction="10000"/>
          </a:bodyPr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77311F-912E-F29A-7CC2-5367F66BE24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34114"/>
          <a:stretch/>
        </p:blipFill>
        <p:spPr>
          <a:xfrm>
            <a:off x="4177256" y="5291778"/>
            <a:ext cx="2528344" cy="8399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EBC89A-FF84-877C-D866-0A9D5D51CCD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lum bright="70000" contrast="-70000"/>
          </a:blip>
          <a:srcRect l="66576"/>
          <a:stretch/>
        </p:blipFill>
        <p:spPr>
          <a:xfrm>
            <a:off x="6732099" y="5291777"/>
            <a:ext cx="1282645" cy="83994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3B98E4C-CEFA-1581-AF50-FEF751C6337A}"/>
              </a:ext>
            </a:extLst>
          </p:cNvPr>
          <p:cNvSpPr/>
          <p:nvPr/>
        </p:nvSpPr>
        <p:spPr>
          <a:xfrm>
            <a:off x="803564" y="2576945"/>
            <a:ext cx="720435" cy="14778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110DC5-E042-6864-A9C7-29E21EDB9714}"/>
              </a:ext>
            </a:extLst>
          </p:cNvPr>
          <p:cNvSpPr txBox="1"/>
          <p:nvPr/>
        </p:nvSpPr>
        <p:spPr>
          <a:xfrm>
            <a:off x="-4618" y="6627169"/>
            <a:ext cx="773545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bg1">
                    <a:lumMod val="75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75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75000"/>
                  </a:schemeClr>
                </a:solidFill>
              </a:rPr>
              <a:t> de: https://www.pixelstalk.net/wp-content/uploads/images6/Abstract-Wallpaper-HD-Free-download.png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B8F78-802D-A9F9-DEA8-5510603A0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3344"/>
            <a:ext cx="10515600" cy="785528"/>
          </a:xfrm>
        </p:spPr>
        <p:txBody>
          <a:bodyPr/>
          <a:lstStyle/>
          <a:p>
            <a:r>
              <a:rPr lang="es-ES" dirty="0"/>
              <a:t>Dudas de la clase anterior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4A20267-D186-EA9A-B273-01FFE7205F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</a:t>
            </a:fld>
            <a:endParaRPr lang="es-P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63D57E-CE14-D9F7-A063-4CB74F0928A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997"/>
          <a:stretch/>
        </p:blipFill>
        <p:spPr>
          <a:xfrm>
            <a:off x="310882" y="2652675"/>
            <a:ext cx="5554209" cy="4200525"/>
          </a:xfrm>
          <a:prstGeom prst="rect">
            <a:avLst/>
          </a:prstGeom>
          <a:effectLst>
            <a:outerShdw blurRad="165100" dist="38100" dir="18900000" algn="bl" rotWithShape="0">
              <a:prstClr val="black">
                <a:alpha val="40000"/>
              </a:prstClr>
            </a:outerShdw>
          </a:effec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66E4CAA-0450-54F5-F68F-E660361267BD}"/>
              </a:ext>
            </a:extLst>
          </p:cNvPr>
          <p:cNvSpPr/>
          <p:nvPr/>
        </p:nvSpPr>
        <p:spPr>
          <a:xfrm>
            <a:off x="6502398" y="1467752"/>
            <a:ext cx="4017817" cy="960582"/>
          </a:xfrm>
          <a:prstGeom prst="rect">
            <a:avLst/>
          </a:prstGeom>
          <a:solidFill>
            <a:srgbClr val="CC00CC">
              <a:alpha val="20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/>
              <a:t>Estructura Condicional Simple</a:t>
            </a:r>
            <a:endParaRPr lang="en-US" sz="1800" dirty="0"/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2177DE58-5A64-5817-5493-3C9ADAA870E4}"/>
              </a:ext>
            </a:extLst>
          </p:cNvPr>
          <p:cNvSpPr/>
          <p:nvPr/>
        </p:nvSpPr>
        <p:spPr>
          <a:xfrm>
            <a:off x="7185041" y="3263123"/>
            <a:ext cx="4103255" cy="960582"/>
          </a:xfrm>
          <a:prstGeom prst="parallelogram">
            <a:avLst/>
          </a:prstGeom>
          <a:solidFill>
            <a:schemeClr val="accent4">
              <a:alpha val="2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/>
              <a:t>Estructura Condicional Doble</a:t>
            </a:r>
            <a:endParaRPr lang="en-US" sz="1800" dirty="0"/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27A3DE3A-F42B-A94C-EF6A-58621FE0BB6F}"/>
              </a:ext>
            </a:extLst>
          </p:cNvPr>
          <p:cNvSpPr/>
          <p:nvPr/>
        </p:nvSpPr>
        <p:spPr>
          <a:xfrm>
            <a:off x="4010889" y="2092867"/>
            <a:ext cx="2198255" cy="2198255"/>
          </a:xfrm>
          <a:prstGeom prst="diamond">
            <a:avLst/>
          </a:prstGeom>
          <a:solidFill>
            <a:srgbClr val="92D050"/>
          </a:solidFill>
          <a:ln>
            <a:noFill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800" dirty="0"/>
              <a:t>Condición</a:t>
            </a:r>
            <a:endParaRPr lang="en-US" sz="1800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FD83F3E-174E-C35D-F16E-4F02FD185276}"/>
              </a:ext>
            </a:extLst>
          </p:cNvPr>
          <p:cNvSpPr/>
          <p:nvPr/>
        </p:nvSpPr>
        <p:spPr>
          <a:xfrm>
            <a:off x="5257798" y="4792963"/>
            <a:ext cx="3435927" cy="960582"/>
          </a:xfrm>
          <a:prstGeom prst="roundRect">
            <a:avLst>
              <a:gd name="adj" fmla="val 50000"/>
            </a:avLst>
          </a:prstGeom>
          <a:solidFill>
            <a:srgbClr val="00B0F0">
              <a:alpha val="20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 err="1"/>
              <a:t>Check</a:t>
            </a:r>
            <a:endParaRPr lang="en-US" sz="1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F5B9EA-1661-E54C-68E5-993E4854A046}"/>
              </a:ext>
            </a:extLst>
          </p:cNvPr>
          <p:cNvSpPr txBox="1"/>
          <p:nvPr/>
        </p:nvSpPr>
        <p:spPr>
          <a:xfrm>
            <a:off x="3999345" y="642135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</a:t>
            </a:r>
            <a:br>
              <a:rPr lang="en-US" sz="9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https://www.pngall.com/wp-content/uploads/8/Thinking-Woman-PNG-Clipart.png</a:t>
            </a:r>
          </a:p>
        </p:txBody>
      </p:sp>
    </p:spTree>
    <p:extLst>
      <p:ext uri="{BB962C8B-B14F-4D97-AF65-F5344CB8AC3E}">
        <p14:creationId xmlns:p14="http://schemas.microsoft.com/office/powerpoint/2010/main" val="3749120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B8F78-802D-A9F9-DEA8-5510603A0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3344"/>
            <a:ext cx="10515600" cy="785528"/>
          </a:xfrm>
        </p:spPr>
        <p:txBody>
          <a:bodyPr/>
          <a:lstStyle/>
          <a:p>
            <a:r>
              <a:rPr lang="es-ES" dirty="0"/>
              <a:t>Dudas de la clase anterior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4A20267-D186-EA9A-B273-01FFE7205F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</a:t>
            </a:fld>
            <a:endParaRPr lang="es-P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63D57E-CE14-D9F7-A063-4CB74F0928A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997"/>
          <a:stretch/>
        </p:blipFill>
        <p:spPr>
          <a:xfrm>
            <a:off x="310882" y="2652675"/>
            <a:ext cx="5554209" cy="4200525"/>
          </a:xfrm>
          <a:prstGeom prst="rect">
            <a:avLst/>
          </a:prstGeom>
          <a:effectLst>
            <a:outerShdw blurRad="165100" dist="38100" dir="18900000" algn="bl" rotWithShape="0">
              <a:prstClr val="black">
                <a:alpha val="40000"/>
              </a:prstClr>
            </a:outerShdw>
          </a:effec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66E4CAA-0450-54F5-F68F-E660361267BD}"/>
              </a:ext>
            </a:extLst>
          </p:cNvPr>
          <p:cNvSpPr/>
          <p:nvPr/>
        </p:nvSpPr>
        <p:spPr>
          <a:xfrm>
            <a:off x="6502398" y="1467752"/>
            <a:ext cx="4017817" cy="960582"/>
          </a:xfrm>
          <a:prstGeom prst="rect">
            <a:avLst/>
          </a:prstGeom>
          <a:solidFill>
            <a:srgbClr val="CC00CC"/>
          </a:solidFill>
          <a:ln>
            <a:noFill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/>
              <a:t>Estructura Condicional Simple</a:t>
            </a:r>
            <a:endParaRPr lang="en-US" sz="1800" dirty="0"/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2177DE58-5A64-5817-5493-3C9ADAA870E4}"/>
              </a:ext>
            </a:extLst>
          </p:cNvPr>
          <p:cNvSpPr/>
          <p:nvPr/>
        </p:nvSpPr>
        <p:spPr>
          <a:xfrm>
            <a:off x="7185041" y="3263123"/>
            <a:ext cx="4103255" cy="960582"/>
          </a:xfrm>
          <a:prstGeom prst="parallelogram">
            <a:avLst/>
          </a:prstGeom>
          <a:solidFill>
            <a:schemeClr val="accent4">
              <a:alpha val="1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/>
              <a:t>Estructura Condicional Doble</a:t>
            </a:r>
            <a:endParaRPr lang="en-US" sz="1800" dirty="0"/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27A3DE3A-F42B-A94C-EF6A-58621FE0BB6F}"/>
              </a:ext>
            </a:extLst>
          </p:cNvPr>
          <p:cNvSpPr/>
          <p:nvPr/>
        </p:nvSpPr>
        <p:spPr>
          <a:xfrm>
            <a:off x="4010889" y="2092867"/>
            <a:ext cx="2198255" cy="2198255"/>
          </a:xfrm>
          <a:prstGeom prst="diamond">
            <a:avLst/>
          </a:prstGeom>
          <a:solidFill>
            <a:srgbClr val="92D050">
              <a:alpha val="15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800" dirty="0"/>
              <a:t>Condición</a:t>
            </a:r>
            <a:endParaRPr lang="en-US" sz="1800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FD83F3E-174E-C35D-F16E-4F02FD185276}"/>
              </a:ext>
            </a:extLst>
          </p:cNvPr>
          <p:cNvSpPr/>
          <p:nvPr/>
        </p:nvSpPr>
        <p:spPr>
          <a:xfrm>
            <a:off x="5257798" y="4792963"/>
            <a:ext cx="3435927" cy="960582"/>
          </a:xfrm>
          <a:prstGeom prst="roundRect">
            <a:avLst>
              <a:gd name="adj" fmla="val 50000"/>
            </a:avLst>
          </a:prstGeom>
          <a:solidFill>
            <a:srgbClr val="00B0F0">
              <a:alpha val="15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 err="1"/>
              <a:t>Check</a:t>
            </a:r>
            <a:endParaRPr lang="en-US" sz="1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F5B9EA-1661-E54C-68E5-993E4854A046}"/>
              </a:ext>
            </a:extLst>
          </p:cNvPr>
          <p:cNvSpPr txBox="1"/>
          <p:nvPr/>
        </p:nvSpPr>
        <p:spPr>
          <a:xfrm>
            <a:off x="3999345" y="642135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</a:t>
            </a:r>
            <a:br>
              <a:rPr lang="en-US" sz="9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https://www.pngall.com/wp-content/uploads/8/Thinking-Woman-PNG-Clipart.png</a:t>
            </a:r>
          </a:p>
        </p:txBody>
      </p:sp>
    </p:spTree>
    <p:extLst>
      <p:ext uri="{BB962C8B-B14F-4D97-AF65-F5344CB8AC3E}">
        <p14:creationId xmlns:p14="http://schemas.microsoft.com/office/powerpoint/2010/main" val="650957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B8F78-802D-A9F9-DEA8-5510603A0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3344"/>
            <a:ext cx="10515600" cy="785528"/>
          </a:xfrm>
        </p:spPr>
        <p:txBody>
          <a:bodyPr/>
          <a:lstStyle/>
          <a:p>
            <a:r>
              <a:rPr lang="es-ES" dirty="0"/>
              <a:t>Dudas de la clase anterior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4A20267-D186-EA9A-B273-01FFE7205F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4</a:t>
            </a:fld>
            <a:endParaRPr lang="es-P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63D57E-CE14-D9F7-A063-4CB74F0928A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997"/>
          <a:stretch/>
        </p:blipFill>
        <p:spPr>
          <a:xfrm>
            <a:off x="310882" y="2652675"/>
            <a:ext cx="5554209" cy="4200525"/>
          </a:xfrm>
          <a:prstGeom prst="rect">
            <a:avLst/>
          </a:prstGeom>
          <a:effectLst>
            <a:outerShdw blurRad="165100" dist="38100" dir="18900000" algn="bl" rotWithShape="0">
              <a:prstClr val="black">
                <a:alpha val="40000"/>
              </a:prstClr>
            </a:outerShdw>
          </a:effec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66E4CAA-0450-54F5-F68F-E660361267BD}"/>
              </a:ext>
            </a:extLst>
          </p:cNvPr>
          <p:cNvSpPr/>
          <p:nvPr/>
        </p:nvSpPr>
        <p:spPr>
          <a:xfrm>
            <a:off x="6502398" y="1467752"/>
            <a:ext cx="4017817" cy="960582"/>
          </a:xfrm>
          <a:prstGeom prst="rect">
            <a:avLst/>
          </a:prstGeom>
          <a:solidFill>
            <a:srgbClr val="CC00CC">
              <a:alpha val="15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/>
              <a:t>Estructura Condicional Simple</a:t>
            </a:r>
            <a:endParaRPr lang="en-US" sz="1800" dirty="0"/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2177DE58-5A64-5817-5493-3C9ADAA870E4}"/>
              </a:ext>
            </a:extLst>
          </p:cNvPr>
          <p:cNvSpPr/>
          <p:nvPr/>
        </p:nvSpPr>
        <p:spPr>
          <a:xfrm>
            <a:off x="7185041" y="3263123"/>
            <a:ext cx="4103255" cy="960582"/>
          </a:xfrm>
          <a:prstGeom prst="parallelogram">
            <a:avLst/>
          </a:prstGeom>
          <a:solidFill>
            <a:schemeClr val="accent4"/>
          </a:solidFill>
          <a:ln>
            <a:noFill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/>
              <a:t>Estructura Condicional Doble</a:t>
            </a:r>
            <a:endParaRPr lang="en-US" sz="1800" dirty="0"/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27A3DE3A-F42B-A94C-EF6A-58621FE0BB6F}"/>
              </a:ext>
            </a:extLst>
          </p:cNvPr>
          <p:cNvSpPr/>
          <p:nvPr/>
        </p:nvSpPr>
        <p:spPr>
          <a:xfrm>
            <a:off x="4010889" y="2092867"/>
            <a:ext cx="2198255" cy="2198255"/>
          </a:xfrm>
          <a:prstGeom prst="diamond">
            <a:avLst/>
          </a:prstGeom>
          <a:solidFill>
            <a:srgbClr val="92D050">
              <a:alpha val="15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800" dirty="0"/>
              <a:t>Condición</a:t>
            </a:r>
            <a:endParaRPr lang="en-US" sz="1800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FD83F3E-174E-C35D-F16E-4F02FD185276}"/>
              </a:ext>
            </a:extLst>
          </p:cNvPr>
          <p:cNvSpPr/>
          <p:nvPr/>
        </p:nvSpPr>
        <p:spPr>
          <a:xfrm>
            <a:off x="5257798" y="4792963"/>
            <a:ext cx="3435927" cy="960582"/>
          </a:xfrm>
          <a:prstGeom prst="roundRect">
            <a:avLst>
              <a:gd name="adj" fmla="val 50000"/>
            </a:avLst>
          </a:prstGeom>
          <a:solidFill>
            <a:srgbClr val="00B0F0">
              <a:alpha val="15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 err="1"/>
              <a:t>Check</a:t>
            </a:r>
            <a:endParaRPr lang="en-US" sz="1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F5B9EA-1661-E54C-68E5-993E4854A046}"/>
              </a:ext>
            </a:extLst>
          </p:cNvPr>
          <p:cNvSpPr txBox="1"/>
          <p:nvPr/>
        </p:nvSpPr>
        <p:spPr>
          <a:xfrm>
            <a:off x="3999345" y="642135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</a:t>
            </a:r>
            <a:br>
              <a:rPr lang="en-US" sz="9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https://www.pngall.com/wp-content/uploads/8/Thinking-Woman-PNG-Clipart.png</a:t>
            </a:r>
          </a:p>
        </p:txBody>
      </p:sp>
    </p:spTree>
    <p:extLst>
      <p:ext uri="{BB962C8B-B14F-4D97-AF65-F5344CB8AC3E}">
        <p14:creationId xmlns:p14="http://schemas.microsoft.com/office/powerpoint/2010/main" val="775363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B8F78-802D-A9F9-DEA8-5510603A0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3344"/>
            <a:ext cx="10515600" cy="785528"/>
          </a:xfrm>
        </p:spPr>
        <p:txBody>
          <a:bodyPr/>
          <a:lstStyle/>
          <a:p>
            <a:r>
              <a:rPr lang="es-ES" dirty="0"/>
              <a:t>Dudas de la clase anterior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4A20267-D186-EA9A-B273-01FFE7205F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5</a:t>
            </a:fld>
            <a:endParaRPr lang="es-P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63D57E-CE14-D9F7-A063-4CB74F0928A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997"/>
          <a:stretch/>
        </p:blipFill>
        <p:spPr>
          <a:xfrm>
            <a:off x="310882" y="2652675"/>
            <a:ext cx="5554209" cy="4200525"/>
          </a:xfrm>
          <a:prstGeom prst="rect">
            <a:avLst/>
          </a:prstGeom>
          <a:effectLst>
            <a:outerShdw blurRad="165100" dist="38100" dir="18900000" algn="bl" rotWithShape="0">
              <a:prstClr val="black">
                <a:alpha val="40000"/>
              </a:prstClr>
            </a:outerShdw>
          </a:effec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66E4CAA-0450-54F5-F68F-E660361267BD}"/>
              </a:ext>
            </a:extLst>
          </p:cNvPr>
          <p:cNvSpPr/>
          <p:nvPr/>
        </p:nvSpPr>
        <p:spPr>
          <a:xfrm>
            <a:off x="6502398" y="1467752"/>
            <a:ext cx="4017817" cy="960582"/>
          </a:xfrm>
          <a:prstGeom prst="rect">
            <a:avLst/>
          </a:prstGeom>
          <a:solidFill>
            <a:srgbClr val="CC00CC">
              <a:alpha val="15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/>
              <a:t>Estructura Condicional Simple</a:t>
            </a:r>
            <a:endParaRPr lang="en-US" sz="1800" dirty="0"/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2177DE58-5A64-5817-5493-3C9ADAA870E4}"/>
              </a:ext>
            </a:extLst>
          </p:cNvPr>
          <p:cNvSpPr/>
          <p:nvPr/>
        </p:nvSpPr>
        <p:spPr>
          <a:xfrm>
            <a:off x="7185041" y="3263123"/>
            <a:ext cx="4103255" cy="960582"/>
          </a:xfrm>
          <a:prstGeom prst="parallelogram">
            <a:avLst/>
          </a:prstGeom>
          <a:solidFill>
            <a:schemeClr val="accent4">
              <a:alpha val="1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/>
              <a:t>Estructura Condicional Doble</a:t>
            </a:r>
            <a:endParaRPr lang="en-US" sz="1800" dirty="0"/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27A3DE3A-F42B-A94C-EF6A-58621FE0BB6F}"/>
              </a:ext>
            </a:extLst>
          </p:cNvPr>
          <p:cNvSpPr/>
          <p:nvPr/>
        </p:nvSpPr>
        <p:spPr>
          <a:xfrm>
            <a:off x="4010889" y="2092867"/>
            <a:ext cx="2198255" cy="2198255"/>
          </a:xfrm>
          <a:prstGeom prst="diamond">
            <a:avLst/>
          </a:prstGeom>
          <a:solidFill>
            <a:srgbClr val="92D050">
              <a:alpha val="15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800" dirty="0"/>
              <a:t>Condición</a:t>
            </a:r>
            <a:endParaRPr lang="en-US" sz="1800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FD83F3E-174E-C35D-F16E-4F02FD185276}"/>
              </a:ext>
            </a:extLst>
          </p:cNvPr>
          <p:cNvSpPr/>
          <p:nvPr/>
        </p:nvSpPr>
        <p:spPr>
          <a:xfrm>
            <a:off x="5257798" y="4792963"/>
            <a:ext cx="3435927" cy="960582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 err="1"/>
              <a:t>Check</a:t>
            </a:r>
            <a:endParaRPr lang="en-US" sz="1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F5B9EA-1661-E54C-68E5-993E4854A046}"/>
              </a:ext>
            </a:extLst>
          </p:cNvPr>
          <p:cNvSpPr txBox="1"/>
          <p:nvPr/>
        </p:nvSpPr>
        <p:spPr>
          <a:xfrm>
            <a:off x="3999345" y="642135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</a:t>
            </a:r>
            <a:br>
              <a:rPr lang="en-US" sz="9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https://www.pngall.com/wp-content/uploads/8/Thinking-Woman-PNG-Clipart.png</a:t>
            </a:r>
          </a:p>
        </p:txBody>
      </p:sp>
    </p:spTree>
    <p:extLst>
      <p:ext uri="{BB962C8B-B14F-4D97-AF65-F5344CB8AC3E}">
        <p14:creationId xmlns:p14="http://schemas.microsoft.com/office/powerpoint/2010/main" val="3554722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3B54F9E4-73EC-5803-C251-20C8EB58177E}"/>
              </a:ext>
            </a:extLst>
          </p:cNvPr>
          <p:cNvSpPr/>
          <p:nvPr/>
        </p:nvSpPr>
        <p:spPr>
          <a:xfrm>
            <a:off x="-9053" y="-13580"/>
            <a:ext cx="12201053" cy="6871580"/>
          </a:xfrm>
          <a:custGeom>
            <a:avLst/>
            <a:gdLst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85277"/>
              <a:gd name="connsiteY0" fmla="*/ 3802455 h 6871580"/>
              <a:gd name="connsiteX1" fmla="*/ 9190 w 12385277"/>
              <a:gd name="connsiteY1" fmla="*/ 6871580 h 6871580"/>
              <a:gd name="connsiteX2" fmla="*/ 9587756 w 12385277"/>
              <a:gd name="connsiteY2" fmla="*/ 6871580 h 6871580"/>
              <a:gd name="connsiteX3" fmla="*/ 12385277 w 12385277"/>
              <a:gd name="connsiteY3" fmla="*/ 2236205 h 6871580"/>
              <a:gd name="connsiteX4" fmla="*/ 12385277 w 12385277"/>
              <a:gd name="connsiteY4" fmla="*/ 0 h 6871580"/>
              <a:gd name="connsiteX5" fmla="*/ 8265950 w 12385277"/>
              <a:gd name="connsiteY5" fmla="*/ 0 h 6871580"/>
              <a:gd name="connsiteX6" fmla="*/ 0 w 12385277"/>
              <a:gd name="connsiteY6" fmla="*/ 3802455 h 6871580"/>
              <a:gd name="connsiteX0" fmla="*/ 0 w 12385277"/>
              <a:gd name="connsiteY0" fmla="*/ 3802455 h 6871580"/>
              <a:gd name="connsiteX1" fmla="*/ 9190 w 12385277"/>
              <a:gd name="connsiteY1" fmla="*/ 6871580 h 6871580"/>
              <a:gd name="connsiteX2" fmla="*/ 9587756 w 12385277"/>
              <a:gd name="connsiteY2" fmla="*/ 6871580 h 6871580"/>
              <a:gd name="connsiteX3" fmla="*/ 12385277 w 12385277"/>
              <a:gd name="connsiteY3" fmla="*/ 2236205 h 6871580"/>
              <a:gd name="connsiteX4" fmla="*/ 12385277 w 12385277"/>
              <a:gd name="connsiteY4" fmla="*/ 0 h 6871580"/>
              <a:gd name="connsiteX5" fmla="*/ 8265950 w 12385277"/>
              <a:gd name="connsiteY5" fmla="*/ 0 h 6871580"/>
              <a:gd name="connsiteX6" fmla="*/ 0 w 12385277"/>
              <a:gd name="connsiteY6" fmla="*/ 3802455 h 6871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385277" h="6871580">
                <a:moveTo>
                  <a:pt x="0" y="3802455"/>
                </a:moveTo>
                <a:cubicBezTo>
                  <a:pt x="3063" y="4825497"/>
                  <a:pt x="6127" y="5848538"/>
                  <a:pt x="9190" y="6871580"/>
                </a:cubicBezTo>
                <a:lnTo>
                  <a:pt x="9587756" y="6871580"/>
                </a:lnTo>
                <a:cubicBezTo>
                  <a:pt x="10869490" y="5444149"/>
                  <a:pt x="11976608" y="4197789"/>
                  <a:pt x="12385277" y="2236205"/>
                </a:cubicBezTo>
                <a:lnTo>
                  <a:pt x="12385277" y="0"/>
                </a:lnTo>
                <a:lnTo>
                  <a:pt x="8265950" y="0"/>
                </a:lnTo>
                <a:cubicBezTo>
                  <a:pt x="8656733" y="4324539"/>
                  <a:pt x="2283555" y="4855675"/>
                  <a:pt x="0" y="3802455"/>
                </a:cubicBezTo>
                <a:close/>
              </a:path>
            </a:pathLst>
          </a:custGeom>
          <a:blipFill dpi="0" rotWithShape="1">
            <a:blip r:embed="rId3">
              <a:alphaModFix amt="15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4600F7-1DA8-4B6F-94D5-F0D0A43E92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37398"/>
            <a:ext cx="9144000" cy="2858703"/>
          </a:xfrm>
        </p:spPr>
        <p:txBody>
          <a:bodyPr>
            <a:normAutofit/>
          </a:bodyPr>
          <a:lstStyle/>
          <a:p>
            <a:r>
              <a:rPr lang="es-ES" dirty="0"/>
              <a:t>Estructura Condicional </a:t>
            </a:r>
            <a:r>
              <a:rPr lang="es-ES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if</a:t>
            </a:r>
            <a:r>
              <a:rPr lang="es-E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..</a:t>
            </a:r>
            <a:r>
              <a:rPr lang="es-ES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else</a:t>
            </a:r>
            <a:r>
              <a:rPr lang="es-ES" dirty="0"/>
              <a:t> Anidada</a:t>
            </a:r>
            <a:endParaRPr lang="en-US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6" name="Subtítulo 5">
            <a:extLst>
              <a:ext uri="{FF2B5EF4-FFF2-40B4-BE49-F238E27FC236}">
                <a16:creationId xmlns:a16="http://schemas.microsoft.com/office/drawing/2014/main" id="{A1FEFAE4-5908-426E-8E6D-FD904D0C84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endParaRPr lang="es-P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077C684-06B1-44CA-9235-D863CE038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Conocimientos previos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BE97547-6358-4D01-A970-DA2F4BB5922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5381531" cy="4373562"/>
          </a:xfrm>
        </p:spPr>
        <p:txBody>
          <a:bodyPr>
            <a:noAutofit/>
          </a:bodyPr>
          <a:lstStyle/>
          <a:p>
            <a:pPr marL="50800" indent="0">
              <a:buNone/>
            </a:pPr>
            <a:r>
              <a:rPr lang="es-ES" dirty="0"/>
              <a:t>Observa y responde:</a:t>
            </a:r>
          </a:p>
          <a:p>
            <a:r>
              <a:rPr lang="es-ES" dirty="0"/>
              <a:t>¿Qué objetos muestra la imagen?</a:t>
            </a:r>
          </a:p>
          <a:p>
            <a:r>
              <a:rPr lang="es-ES" dirty="0"/>
              <a:t>¿De qué forma se encuentran dispuestos los objetos?</a:t>
            </a:r>
          </a:p>
          <a:p>
            <a:r>
              <a:rPr lang="es-ES" dirty="0"/>
              <a:t>¿Qué similitud puede tener con la programación?</a:t>
            </a:r>
          </a:p>
          <a:p>
            <a:endParaRPr lang="es-E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D4DF39-413F-41FB-80F6-1CF57DEA76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7</a:t>
            </a:fld>
            <a:endParaRPr lang="es-PE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C828E4-C870-7AD2-3392-BE498C0B80B5}"/>
              </a:ext>
            </a:extLst>
          </p:cNvPr>
          <p:cNvSpPr txBox="1"/>
          <p:nvPr/>
        </p:nvSpPr>
        <p:spPr>
          <a:xfrm>
            <a:off x="83126" y="6268584"/>
            <a:ext cx="10603346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http://sc04.alicdn.com/kf/H5bd4cc6a4bd64f2097aaca3df9c71456w.jpg</a:t>
            </a:r>
            <a:br>
              <a:rPr lang="en-US" sz="9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https://m.media-amazon.com/images/I/81wChdtzFjL._SL1500_.jpg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7421007-C544-0075-4572-E9CAC201967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310254" y="1037211"/>
            <a:ext cx="2481001" cy="3429955"/>
          </a:xfrm>
          <a:prstGeom prst="rect">
            <a:avLst/>
          </a:prstGeom>
          <a:effectLst>
            <a:glow rad="101600">
              <a:schemeClr val="bg1">
                <a:alpha val="60000"/>
              </a:schemeClr>
            </a:glo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F0FE3AD-7074-F73D-3722-CF32373E0C8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575" t="26921" r="7307" b="19596"/>
          <a:stretch/>
        </p:blipFill>
        <p:spPr>
          <a:xfrm>
            <a:off x="6391562" y="3840258"/>
            <a:ext cx="4294910" cy="2698654"/>
          </a:xfrm>
          <a:prstGeom prst="rect">
            <a:avLst/>
          </a:prstGeom>
          <a:effectLst>
            <a:glow rad="101600">
              <a:schemeClr val="bg1">
                <a:alpha val="60000"/>
              </a:schemeClr>
            </a:glo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F7B0424-13E9-17D5-303C-3898AE35A5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938644" y="1045027"/>
            <a:ext cx="5253356" cy="525335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161FBA0-0CED-4DB2-9F90-291CADA87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Logro de aprendizaje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37DCA-ED6E-428D-A48F-1565A2EA97A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6105808" cy="4373562"/>
          </a:xfrm>
        </p:spPr>
        <p:txBody>
          <a:bodyPr>
            <a:normAutofit/>
          </a:bodyPr>
          <a:lstStyle/>
          <a:p>
            <a:pPr marL="50800" indent="0">
              <a:lnSpc>
                <a:spcPct val="100000"/>
              </a:lnSpc>
              <a:buNone/>
            </a:pPr>
            <a:r>
              <a:rPr lang="es-ES" dirty="0">
                <a:solidFill>
                  <a:srgbClr val="00B050"/>
                </a:solidFill>
              </a:rPr>
              <a:t>Al finalizar la sesión, </a:t>
            </a:r>
            <a:r>
              <a:rPr lang="es-ES" dirty="0">
                <a:solidFill>
                  <a:schemeClr val="accent2"/>
                </a:solidFill>
              </a:rPr>
              <a:t>el estudiante</a:t>
            </a:r>
            <a:r>
              <a:rPr lang="es-ES" dirty="0">
                <a:solidFill>
                  <a:srgbClr val="00B050"/>
                </a:solidFill>
              </a:rPr>
              <a:t> </a:t>
            </a:r>
            <a:r>
              <a:rPr lang="es-ES" dirty="0">
                <a:solidFill>
                  <a:schemeClr val="accent1"/>
                </a:solidFill>
              </a:rPr>
              <a:t>desarrolla</a:t>
            </a:r>
            <a:r>
              <a:rPr lang="es-ES" dirty="0">
                <a:solidFill>
                  <a:srgbClr val="00B050"/>
                </a:solidFill>
              </a:rPr>
              <a:t> </a:t>
            </a:r>
            <a:r>
              <a:rPr lang="es-ES" dirty="0">
                <a:solidFill>
                  <a:schemeClr val="accent4"/>
                </a:solidFill>
              </a:rPr>
              <a:t>programas utilizando estructuras </a:t>
            </a:r>
            <a:r>
              <a:rPr lang="es-ES" dirty="0" err="1">
                <a:solidFill>
                  <a:schemeClr val="accent4"/>
                </a:solidFill>
              </a:rPr>
              <a:t>if</a:t>
            </a:r>
            <a:r>
              <a:rPr lang="es-ES" dirty="0">
                <a:solidFill>
                  <a:schemeClr val="accent4"/>
                </a:solidFill>
              </a:rPr>
              <a:t>..</a:t>
            </a:r>
            <a:r>
              <a:rPr lang="es-ES" dirty="0" err="1">
                <a:solidFill>
                  <a:schemeClr val="accent4"/>
                </a:solidFill>
              </a:rPr>
              <a:t>else</a:t>
            </a:r>
            <a:r>
              <a:rPr lang="es-ES" dirty="0">
                <a:solidFill>
                  <a:schemeClr val="accent4"/>
                </a:solidFill>
              </a:rPr>
              <a:t> anidadas</a:t>
            </a:r>
            <a:r>
              <a:rPr lang="es-ES" dirty="0">
                <a:solidFill>
                  <a:srgbClr val="00B050"/>
                </a:solidFill>
              </a:rPr>
              <a:t> </a:t>
            </a:r>
            <a:r>
              <a:rPr lang="es-ES" dirty="0">
                <a:solidFill>
                  <a:srgbClr val="C00000"/>
                </a:solidFill>
              </a:rPr>
              <a:t>utilizando un IDE Java</a:t>
            </a:r>
            <a:r>
              <a:rPr lang="es-ES" dirty="0">
                <a:solidFill>
                  <a:srgbClr val="00B050"/>
                </a:solidFill>
              </a:rPr>
              <a:t> </a:t>
            </a:r>
            <a:r>
              <a:rPr lang="es-ES" dirty="0">
                <a:solidFill>
                  <a:srgbClr val="7030A0"/>
                </a:solidFill>
              </a:rPr>
              <a:t>para resolver problemas condicionales o de decisión.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BAA4A-C973-4872-991F-677E20FF8B8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8</a:t>
            </a:fld>
            <a:endParaRPr lang="es-P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ADFA50-2D5F-464F-91EF-0F1911F9CA8D}"/>
              </a:ext>
            </a:extLst>
          </p:cNvPr>
          <p:cNvSpPr txBox="1"/>
          <p:nvPr/>
        </p:nvSpPr>
        <p:spPr>
          <a:xfrm>
            <a:off x="126748" y="6376940"/>
            <a:ext cx="10583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accent3"/>
                </a:solidFill>
              </a:rPr>
              <a:t>Imagen </a:t>
            </a:r>
            <a:r>
              <a:rPr lang="en-US" sz="900" dirty="0" err="1">
                <a:solidFill>
                  <a:schemeClr val="accent3"/>
                </a:solidFill>
              </a:rPr>
              <a:t>obtenida</a:t>
            </a:r>
            <a:r>
              <a:rPr lang="en-US" sz="900" dirty="0">
                <a:solidFill>
                  <a:schemeClr val="accent3"/>
                </a:solidFill>
              </a:rPr>
              <a:t> de:</a:t>
            </a:r>
            <a:br>
              <a:rPr lang="en-US" sz="900" dirty="0">
                <a:solidFill>
                  <a:schemeClr val="accent3"/>
                </a:solidFill>
              </a:rPr>
            </a:br>
            <a:r>
              <a:rPr lang="en-US" sz="900" dirty="0">
                <a:solidFill>
                  <a:schemeClr val="accent3"/>
                </a:solidFill>
              </a:rPr>
              <a:t>https://img.freepik.com/free-vector/clever-man-student-standing-books-stack-with-flag-self-learning-personal-improvement-knowledge-obtaining-educational-achievement_335657-3461.jpg</a:t>
            </a:r>
          </a:p>
        </p:txBody>
      </p:sp>
    </p:spTree>
    <p:extLst>
      <p:ext uri="{BB962C8B-B14F-4D97-AF65-F5344CB8AC3E}">
        <p14:creationId xmlns:p14="http://schemas.microsoft.com/office/powerpoint/2010/main" val="2948176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B7613-AEC1-4435-8375-CCB96C0E8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Utilidad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4C16D3-358F-4224-9D29-22D3C58B56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9</a:t>
            </a:fld>
            <a:endParaRPr lang="es-PE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C378254-1DCE-E852-BEB1-333FE86E811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1" y="1846263"/>
            <a:ext cx="6338454" cy="3377587"/>
          </a:xfrm>
        </p:spPr>
        <p:txBody>
          <a:bodyPr>
            <a:normAutofit/>
          </a:bodyPr>
          <a:lstStyle/>
          <a:p>
            <a:r>
              <a:rPr lang="es-ES" dirty="0"/>
              <a:t>¿Qué expresa la imagen?</a:t>
            </a:r>
          </a:p>
          <a:p>
            <a:r>
              <a:rPr lang="es-ES" dirty="0"/>
              <a:t>¿Podrían considerarse condiciones anidadas?</a:t>
            </a:r>
          </a:p>
          <a:p>
            <a:r>
              <a:rPr lang="es-ES" dirty="0"/>
              <a:t>¿Cómo podría servirte utilizar condiciones anidadas en situaciones reales?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5A9BBA-17E0-A72D-51DD-816280634240}"/>
              </a:ext>
            </a:extLst>
          </p:cNvPr>
          <p:cNvSpPr txBox="1"/>
          <p:nvPr/>
        </p:nvSpPr>
        <p:spPr>
          <a:xfrm>
            <a:off x="1255303" y="5131586"/>
            <a:ext cx="517429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0800" indent="0">
              <a:buNone/>
            </a:pPr>
            <a:r>
              <a:rPr lang="en-US" sz="2800" dirty="0" err="1">
                <a:solidFill>
                  <a:schemeClr val="accent2">
                    <a:lumMod val="75000"/>
                  </a:schemeClr>
                </a:solidFill>
                <a:latin typeface="Helvetica" pitchFamily="2" charset="0"/>
              </a:rPr>
              <a:t>Expresar</a:t>
            </a:r>
            <a:r>
              <a:rPr lang="en-US" sz="2800" dirty="0">
                <a:latin typeface="Helvetica" pitchFamily="2" charset="0"/>
              </a:rPr>
              <a:t> </a:t>
            </a:r>
            <a:r>
              <a:rPr lang="en-US" sz="2800" dirty="0" err="1">
                <a:solidFill>
                  <a:srgbClr val="00B050"/>
                </a:solidFill>
                <a:latin typeface="Helvetica" pitchFamily="2" charset="0"/>
              </a:rPr>
              <a:t>condiciones</a:t>
            </a:r>
            <a:r>
              <a:rPr lang="en-US" sz="2800" dirty="0">
                <a:solidFill>
                  <a:srgbClr val="00B050"/>
                </a:solidFill>
                <a:latin typeface="Helvetica" pitchFamily="2" charset="0"/>
              </a:rPr>
              <a:t> </a:t>
            </a:r>
            <a:r>
              <a:rPr lang="en-US" sz="2800" dirty="0" err="1">
                <a:solidFill>
                  <a:srgbClr val="00B050"/>
                </a:solidFill>
                <a:latin typeface="Helvetica" pitchFamily="2" charset="0"/>
              </a:rPr>
              <a:t>anidadas</a:t>
            </a:r>
            <a:r>
              <a:rPr lang="en-US" sz="2800" dirty="0">
                <a:latin typeface="Helvetica" pitchFamily="2" charset="0"/>
              </a:rPr>
              <a:t> </a:t>
            </a:r>
            <a:r>
              <a:rPr lang="en-US" sz="2800" dirty="0" err="1">
                <a:solidFill>
                  <a:schemeClr val="accent1">
                    <a:lumMod val="75000"/>
                  </a:schemeClr>
                </a:solidFill>
                <a:latin typeface="Helvetica" pitchFamily="2" charset="0"/>
              </a:rPr>
              <a:t>en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Helvetica" pitchFamily="2" charset="0"/>
              </a:rPr>
              <a:t> Java.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856503-6F6C-FB79-C41E-7CB083AF13E0}"/>
              </a:ext>
            </a:extLst>
          </p:cNvPr>
          <p:cNvSpPr txBox="1"/>
          <p:nvPr/>
        </p:nvSpPr>
        <p:spPr>
          <a:xfrm>
            <a:off x="231034" y="6314029"/>
            <a:ext cx="93362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</a:t>
            </a:r>
            <a:br>
              <a:rPr lang="en-US" sz="9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https://slidebazaar.com/wp-content/uploads/2016/06/Decision-Tree-Diagram-3.png​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FADC224A-92DD-7CC1-D683-0D3807DA56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8866" y="1905930"/>
            <a:ext cx="4863134" cy="3360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2465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10</a:t>
            </a:fld>
            <a:endParaRPr lang="es-PE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D8EC2C4-D534-A87E-5305-9BD92B9838D9}"/>
              </a:ext>
            </a:extLst>
          </p:cNvPr>
          <p:cNvGrpSpPr/>
          <p:nvPr/>
        </p:nvGrpSpPr>
        <p:grpSpPr>
          <a:xfrm>
            <a:off x="1955128" y="892964"/>
            <a:ext cx="4629752" cy="1015663"/>
            <a:chOff x="924025" y="1526961"/>
            <a:chExt cx="4629752" cy="10156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FE41E11-2903-D4AD-BABB-046EDBE4AABD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FB12F7A-F286-0B30-D30E-E9A916CC839B}"/>
                </a:ext>
              </a:extLst>
            </p:cNvPr>
            <p:cNvSpPr txBox="1"/>
            <p:nvPr/>
          </p:nvSpPr>
          <p:spPr>
            <a:xfrm>
              <a:off x="1501541" y="1663444"/>
              <a:ext cx="3062398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Estructura Condicional </a:t>
              </a:r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if</a:t>
              </a:r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..</a:t>
              </a:r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else</a:t>
              </a:r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 anidada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3EEA1CE-79B2-915B-2C77-2F1212A1BF6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30C6426-CF18-244B-D9EC-4576E393467C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C62550A-9487-0FB4-AEF5-18BF59D1D1BB}"/>
              </a:ext>
            </a:extLst>
          </p:cNvPr>
          <p:cNvGrpSpPr/>
          <p:nvPr/>
        </p:nvGrpSpPr>
        <p:grpSpPr>
          <a:xfrm>
            <a:off x="1955128" y="1782509"/>
            <a:ext cx="4629752" cy="1015663"/>
            <a:chOff x="924025" y="1526961"/>
            <a:chExt cx="4629752" cy="10156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9EE3C4A-25E0-0661-5719-DFD8A408196E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F03E694-3539-B74F-A7F9-A90BF4FC7172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Práctica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BD6589-A9C6-D2FD-D50D-C5AAC8113E8A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E0265B7-9BAF-D770-6E56-5AE1A9C41973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552306" y="2760043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 dirty="0">
                <a:solidFill>
                  <a:schemeClr val="bg1">
                    <a:lumMod val="85000"/>
                  </a:schemeClr>
                </a:solidFill>
                <a:latin typeface="Helvetica" pitchFamily="2" charset="0"/>
              </a:rPr>
              <a:t>contenido</a:t>
            </a:r>
            <a:endParaRPr lang="en-US" sz="8800" b="1" dirty="0">
              <a:solidFill>
                <a:schemeClr val="bg1">
                  <a:lumMod val="85000"/>
                </a:schemeClr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4082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11</a:t>
            </a:fld>
            <a:endParaRPr lang="es-PE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C62550A-9487-0FB4-AEF5-18BF59D1D1BB}"/>
              </a:ext>
            </a:extLst>
          </p:cNvPr>
          <p:cNvGrpSpPr/>
          <p:nvPr/>
        </p:nvGrpSpPr>
        <p:grpSpPr>
          <a:xfrm>
            <a:off x="1955128" y="1782509"/>
            <a:ext cx="4629752" cy="1015663"/>
            <a:chOff x="924025" y="1526961"/>
            <a:chExt cx="4629752" cy="10156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9EE3C4A-25E0-0661-5719-DFD8A408196E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F03E694-3539-B74F-A7F9-A90BF4FC7172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Práctica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BD6589-A9C6-D2FD-D50D-C5AAC8113E8A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E0265B7-9BAF-D770-6E56-5AE1A9C41973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552306" y="2760043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 dirty="0">
                <a:solidFill>
                  <a:schemeClr val="bg1">
                    <a:lumMod val="85000"/>
                  </a:schemeClr>
                </a:solidFill>
                <a:latin typeface="Helvetica" pitchFamily="2" charset="0"/>
              </a:rPr>
              <a:t>contenido</a:t>
            </a:r>
            <a:endParaRPr lang="en-US" sz="8800" b="1" dirty="0">
              <a:solidFill>
                <a:schemeClr val="bg1">
                  <a:lumMod val="85000"/>
                </a:schemeClr>
              </a:solidFill>
              <a:latin typeface="Helvetica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787605-338E-D768-956B-A8C52CD5822F}"/>
              </a:ext>
            </a:extLst>
          </p:cNvPr>
          <p:cNvSpPr/>
          <p:nvPr/>
        </p:nvSpPr>
        <p:spPr>
          <a:xfrm>
            <a:off x="1801640" y="683513"/>
            <a:ext cx="9678154" cy="5599610"/>
          </a:xfrm>
          <a:prstGeom prst="rect">
            <a:avLst/>
          </a:prstGeom>
          <a:solidFill>
            <a:schemeClr val="bg1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D8EC2C4-D534-A87E-5305-9BD92B9838D9}"/>
              </a:ext>
            </a:extLst>
          </p:cNvPr>
          <p:cNvGrpSpPr/>
          <p:nvPr/>
        </p:nvGrpSpPr>
        <p:grpSpPr>
          <a:xfrm>
            <a:off x="1955128" y="892964"/>
            <a:ext cx="4629752" cy="1015663"/>
            <a:chOff x="924025" y="1526961"/>
            <a:chExt cx="4629752" cy="10156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FE41E11-2903-D4AD-BABB-046EDBE4AABD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FB12F7A-F286-0B30-D30E-E9A916CC839B}"/>
                </a:ext>
              </a:extLst>
            </p:cNvPr>
            <p:cNvSpPr txBox="1"/>
            <p:nvPr/>
          </p:nvSpPr>
          <p:spPr>
            <a:xfrm>
              <a:off x="1501541" y="1663444"/>
              <a:ext cx="3062398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Estructura Condicional </a:t>
              </a:r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if</a:t>
              </a:r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..</a:t>
              </a:r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else</a:t>
              </a:r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 anidada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3EEA1CE-79B2-915B-2C77-2F1212A1BF6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30C6426-CF18-244B-D9EC-4576E393467C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54741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B5BCAB5-C040-644F-A904-0BBCCB8D6631}"/>
              </a:ext>
            </a:extLst>
          </p:cNvPr>
          <p:cNvGrpSpPr/>
          <p:nvPr/>
        </p:nvGrpSpPr>
        <p:grpSpPr>
          <a:xfrm>
            <a:off x="838200" y="-36377"/>
            <a:ext cx="4629752" cy="1015663"/>
            <a:chOff x="924025" y="1526961"/>
            <a:chExt cx="4629752" cy="101566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7A6778F-2CA2-3A55-B395-176ED8C4F042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EC3BEDF-E6BD-C10B-D660-1680609A537F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Estructura condicional </a:t>
              </a:r>
              <a:br>
                <a:rPr lang="es-ES" dirty="0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if</a:t>
              </a:r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..</a:t>
              </a:r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else</a:t>
              </a:r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 anidada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EC1DE63-768B-EDC5-7250-2DD90FE33DBC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2CD0E52-BE02-3208-ED7F-96A0A279C38B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864A96E-FE1F-DD8B-F02B-3F2A1FB1D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Anidamiento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E6D38B-89CE-4804-188C-6F68B0C16C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12</a:t>
            </a:fld>
            <a:endParaRPr lang="es-PE" dirty="0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84BADA09-F75D-A2CA-47AC-95179677140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6649016" cy="4373562"/>
          </a:xfrm>
        </p:spPr>
        <p:txBody>
          <a:bodyPr/>
          <a:lstStyle/>
          <a:p>
            <a:r>
              <a:rPr lang="es-ES" dirty="0"/>
              <a:t>Es la capacidad de incluir una estructura de control dentro de otra.</a:t>
            </a:r>
          </a:p>
          <a:p>
            <a:r>
              <a:rPr lang="es-ES" dirty="0"/>
              <a:t>Se pueden crear muchos niveles de anidamiento, pero se recomienda no tener demasiados.</a:t>
            </a:r>
          </a:p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1070F0A-1EEB-4F12-2291-F165D73D50C8}"/>
              </a:ext>
            </a:extLst>
          </p:cNvPr>
          <p:cNvGrpSpPr/>
          <p:nvPr/>
        </p:nvGrpSpPr>
        <p:grpSpPr>
          <a:xfrm>
            <a:off x="8349296" y="1565605"/>
            <a:ext cx="2816192" cy="4373562"/>
            <a:chOff x="8720488" y="1846263"/>
            <a:chExt cx="2816192" cy="4373562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8FA89471-154F-D027-B650-5486A1CCAAAD}"/>
                </a:ext>
              </a:extLst>
            </p:cNvPr>
            <p:cNvSpPr/>
            <p:nvPr/>
          </p:nvSpPr>
          <p:spPr>
            <a:xfrm>
              <a:off x="8720488" y="1846263"/>
              <a:ext cx="2816192" cy="4373562"/>
            </a:xfrm>
            <a:prstGeom prst="roundRect">
              <a:avLst>
                <a:gd name="adj" fmla="val 2963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s-ES" dirty="0"/>
                <a:t>Estructura de control</a:t>
              </a:r>
              <a:endParaRPr lang="en-US" dirty="0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6128F8C3-F694-2FBE-2B38-AB9AEC88EAA7}"/>
                </a:ext>
              </a:extLst>
            </p:cNvPr>
            <p:cNvSpPr/>
            <p:nvPr/>
          </p:nvSpPr>
          <p:spPr>
            <a:xfrm>
              <a:off x="9259503" y="2261161"/>
              <a:ext cx="2084672" cy="1433153"/>
            </a:xfrm>
            <a:prstGeom prst="roundRect">
              <a:avLst>
                <a:gd name="adj" fmla="val 2963"/>
              </a:avLst>
            </a:prstGeom>
            <a:solidFill>
              <a:srgbClr val="FF416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s-ES" dirty="0"/>
                <a:t>Estructura de control</a:t>
              </a:r>
              <a:endParaRPr lang="en-US" dirty="0"/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F5B623DA-810D-5B27-0332-66983449BF11}"/>
                </a:ext>
              </a:extLst>
            </p:cNvPr>
            <p:cNvSpPr/>
            <p:nvPr/>
          </p:nvSpPr>
          <p:spPr>
            <a:xfrm>
              <a:off x="9790830" y="2641617"/>
              <a:ext cx="1437841" cy="917944"/>
            </a:xfrm>
            <a:prstGeom prst="roundRect">
              <a:avLst>
                <a:gd name="adj" fmla="val 2963"/>
              </a:avLst>
            </a:prstGeom>
            <a:solidFill>
              <a:srgbClr val="FA9B9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s-ES" dirty="0"/>
                <a:t>Estructura de control</a:t>
              </a:r>
              <a:endParaRPr lang="en-US" dirty="0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2CAF66F7-57AC-E6BE-F7A4-3D38EA071F3D}"/>
                </a:ext>
              </a:extLst>
            </p:cNvPr>
            <p:cNvSpPr/>
            <p:nvPr/>
          </p:nvSpPr>
          <p:spPr>
            <a:xfrm>
              <a:off x="9269128" y="3831783"/>
              <a:ext cx="2084672" cy="722111"/>
            </a:xfrm>
            <a:prstGeom prst="roundRect">
              <a:avLst>
                <a:gd name="adj" fmla="val 2963"/>
              </a:avLst>
            </a:prstGeom>
            <a:solidFill>
              <a:srgbClr val="FF416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s-ES" dirty="0"/>
                <a:t>Estructura de control</a:t>
              </a:r>
              <a:endParaRPr lang="en-US" dirty="0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29475ADC-5EE8-567C-8861-89675D1382E4}"/>
                </a:ext>
              </a:extLst>
            </p:cNvPr>
            <p:cNvSpPr/>
            <p:nvPr/>
          </p:nvSpPr>
          <p:spPr>
            <a:xfrm>
              <a:off x="9269128" y="4673801"/>
              <a:ext cx="2084672" cy="1361239"/>
            </a:xfrm>
            <a:prstGeom prst="roundRect">
              <a:avLst>
                <a:gd name="adj" fmla="val 2963"/>
              </a:avLst>
            </a:prstGeom>
            <a:solidFill>
              <a:srgbClr val="FF416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s-ES" dirty="0"/>
                <a:t>Estructura de control</a:t>
              </a:r>
              <a:endParaRPr lang="en-US" dirty="0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B7D67EC7-4145-2934-94BF-C4F907EB1F80}"/>
                </a:ext>
              </a:extLst>
            </p:cNvPr>
            <p:cNvSpPr/>
            <p:nvPr/>
          </p:nvSpPr>
          <p:spPr>
            <a:xfrm>
              <a:off x="9790830" y="5019057"/>
              <a:ext cx="1437841" cy="917944"/>
            </a:xfrm>
            <a:prstGeom prst="roundRect">
              <a:avLst>
                <a:gd name="adj" fmla="val 2963"/>
              </a:avLst>
            </a:prstGeom>
            <a:solidFill>
              <a:srgbClr val="FA9B9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s-ES" dirty="0"/>
                <a:t>Estructura de control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38858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B5BCAB5-C040-644F-A904-0BBCCB8D6631}"/>
              </a:ext>
            </a:extLst>
          </p:cNvPr>
          <p:cNvGrpSpPr/>
          <p:nvPr/>
        </p:nvGrpSpPr>
        <p:grpSpPr>
          <a:xfrm>
            <a:off x="838200" y="-36377"/>
            <a:ext cx="4629752" cy="1015663"/>
            <a:chOff x="924025" y="1526961"/>
            <a:chExt cx="4629752" cy="101566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7A6778F-2CA2-3A55-B395-176ED8C4F042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EC3BEDF-E6BD-C10B-D660-1680609A537F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Estructura condicional </a:t>
              </a:r>
              <a:br>
                <a:rPr lang="es-ES" dirty="0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if</a:t>
              </a:r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..</a:t>
              </a:r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else</a:t>
              </a:r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 anidada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EC1DE63-768B-EDC5-7250-2DD90FE33DBC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2CD0E52-BE02-3208-ED7F-96A0A279C38B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864A96E-FE1F-DD8B-F02B-3F2A1FB1D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Anidamiento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E6D38B-89CE-4804-188C-6F68B0C16C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13</a:t>
            </a:fld>
            <a:endParaRPr lang="es-PE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28E95EF-7C11-8862-222E-D6021D319314}"/>
              </a:ext>
            </a:extLst>
          </p:cNvPr>
          <p:cNvSpPr txBox="1"/>
          <p:nvPr/>
        </p:nvSpPr>
        <p:spPr>
          <a:xfrm>
            <a:off x="906444" y="2081079"/>
            <a:ext cx="244823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>
                <a:solidFill>
                  <a:schemeClr val="bg1">
                    <a:lumMod val="65000"/>
                  </a:schemeClr>
                </a:solidFill>
                <a:latin typeface="Helvetica" pitchFamily="2" charset="0"/>
                <a:cs typeface="Arial" panose="020B0604020202020204" pitchFamily="34" charset="0"/>
              </a:rPr>
              <a:t>¿Cómo se pueden anidar las estructuras condicionales?</a:t>
            </a:r>
            <a:endParaRPr lang="en-US" sz="2000" dirty="0">
              <a:solidFill>
                <a:schemeClr val="bg1">
                  <a:lumMod val="65000"/>
                </a:schemeClr>
              </a:solidFill>
              <a:latin typeface="Helvetica" pitchFamily="2" charset="0"/>
              <a:cs typeface="Arial" panose="020B0604020202020204" pitchFamily="34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BFC0F60-B884-F308-A004-A6600D8D32EB}"/>
              </a:ext>
            </a:extLst>
          </p:cNvPr>
          <p:cNvGrpSpPr/>
          <p:nvPr/>
        </p:nvGrpSpPr>
        <p:grpSpPr>
          <a:xfrm>
            <a:off x="2898388" y="1176373"/>
            <a:ext cx="7382577" cy="4831882"/>
            <a:chOff x="2599623" y="1206733"/>
            <a:chExt cx="7382577" cy="4831882"/>
          </a:xfrm>
        </p:grpSpPr>
        <p:sp>
          <p:nvSpPr>
            <p:cNvPr id="21" name="Diamond 20">
              <a:extLst>
                <a:ext uri="{FF2B5EF4-FFF2-40B4-BE49-F238E27FC236}">
                  <a16:creationId xmlns:a16="http://schemas.microsoft.com/office/drawing/2014/main" id="{74F6CADE-E0E3-9590-433C-FC631D5E1D75}"/>
                </a:ext>
              </a:extLst>
            </p:cNvPr>
            <p:cNvSpPr/>
            <p:nvPr/>
          </p:nvSpPr>
          <p:spPr>
            <a:xfrm>
              <a:off x="5206466" y="1562868"/>
              <a:ext cx="2194560" cy="2194560"/>
            </a:xfrm>
            <a:prstGeom prst="diamond">
              <a:avLst/>
            </a:prstGeom>
            <a:solidFill>
              <a:schemeClr val="accent2"/>
            </a:solidFill>
            <a:ln>
              <a:noFill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s-ES" sz="1600" dirty="0"/>
                <a:t>Estructura Condicional</a:t>
              </a:r>
            </a:p>
            <a:p>
              <a:pPr algn="ctr"/>
              <a:r>
                <a:rPr lang="es-ES" sz="1600" dirty="0"/>
                <a:t>Simple</a:t>
              </a:r>
            </a:p>
            <a:p>
              <a:pPr algn="ctr"/>
              <a:r>
                <a:rPr lang="es-ES" sz="1600" dirty="0"/>
                <a:t>( </a:t>
              </a:r>
              <a:r>
                <a:rPr lang="es-ES" sz="1600" dirty="0" err="1"/>
                <a:t>if</a:t>
              </a:r>
              <a:r>
                <a:rPr lang="es-ES" sz="1600" dirty="0"/>
                <a:t> )</a:t>
              </a:r>
              <a:endParaRPr lang="en-US" sz="1600" dirty="0"/>
            </a:p>
          </p:txBody>
        </p:sp>
        <p:sp>
          <p:nvSpPr>
            <p:cNvPr id="22" name="Diamond 21">
              <a:extLst>
                <a:ext uri="{FF2B5EF4-FFF2-40B4-BE49-F238E27FC236}">
                  <a16:creationId xmlns:a16="http://schemas.microsoft.com/office/drawing/2014/main" id="{23408876-D1BF-C4EE-FD15-8F28C6EDAB8A}"/>
                </a:ext>
              </a:extLst>
            </p:cNvPr>
            <p:cNvSpPr/>
            <p:nvPr/>
          </p:nvSpPr>
          <p:spPr>
            <a:xfrm>
              <a:off x="3011906" y="3844055"/>
              <a:ext cx="2194560" cy="2194560"/>
            </a:xfrm>
            <a:prstGeom prst="diamond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s-ES" sz="1600" dirty="0"/>
                <a:t>Estructura Condicional Doble</a:t>
              </a:r>
            </a:p>
            <a:p>
              <a:pPr algn="ctr"/>
              <a:r>
                <a:rPr lang="es-ES" sz="1600" dirty="0"/>
                <a:t>( </a:t>
              </a:r>
              <a:r>
                <a:rPr lang="es-ES" sz="1600" dirty="0" err="1"/>
                <a:t>if</a:t>
              </a:r>
              <a:r>
                <a:rPr lang="es-ES" sz="1600" dirty="0"/>
                <a:t>..</a:t>
              </a:r>
              <a:r>
                <a:rPr lang="es-ES" sz="1600" dirty="0" err="1"/>
                <a:t>else</a:t>
              </a:r>
              <a:r>
                <a:rPr lang="es-ES" sz="1600" dirty="0"/>
                <a:t> )</a:t>
              </a:r>
              <a:endParaRPr lang="en-US" sz="1600" dirty="0"/>
            </a:p>
          </p:txBody>
        </p:sp>
        <p:sp>
          <p:nvSpPr>
            <p:cNvPr id="23" name="Diamond 22">
              <a:extLst>
                <a:ext uri="{FF2B5EF4-FFF2-40B4-BE49-F238E27FC236}">
                  <a16:creationId xmlns:a16="http://schemas.microsoft.com/office/drawing/2014/main" id="{0E4C3C66-4336-22AF-EADB-45973C545901}"/>
                </a:ext>
              </a:extLst>
            </p:cNvPr>
            <p:cNvSpPr/>
            <p:nvPr/>
          </p:nvSpPr>
          <p:spPr>
            <a:xfrm>
              <a:off x="7401026" y="3844055"/>
              <a:ext cx="2194560" cy="2194560"/>
            </a:xfrm>
            <a:prstGeom prst="diamond">
              <a:avLst/>
            </a:prstGeom>
            <a:solidFill>
              <a:srgbClr val="82AF9B"/>
            </a:solidFill>
            <a:ln>
              <a:noFill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s-ES" sz="1600" dirty="0"/>
                <a:t>Estructura Condicional</a:t>
              </a:r>
            </a:p>
            <a:p>
              <a:pPr algn="ctr"/>
              <a:r>
                <a:rPr lang="es-ES" sz="1600" dirty="0"/>
                <a:t>Múltiple</a:t>
              </a:r>
            </a:p>
            <a:p>
              <a:pPr algn="ctr"/>
              <a:r>
                <a:rPr lang="es-ES" sz="1600" dirty="0"/>
                <a:t>( switch )</a:t>
              </a:r>
              <a:endParaRPr lang="en-US" sz="1600" dirty="0"/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65A9D8D-2E8F-E561-15AE-16A48F4AA2F5}"/>
                </a:ext>
              </a:extLst>
            </p:cNvPr>
            <p:cNvCxnSpPr>
              <a:cxnSpLocks/>
            </p:cNvCxnSpPr>
            <p:nvPr/>
          </p:nvCxnSpPr>
          <p:spPr>
            <a:xfrm>
              <a:off x="6975914" y="3191099"/>
              <a:ext cx="1068405" cy="1023636"/>
            </a:xfrm>
            <a:prstGeom prst="line">
              <a:avLst/>
            </a:prstGeom>
            <a:ln w="28575"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EE37FA5-C58B-D352-C233-6820287D1E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88842" y="3147786"/>
              <a:ext cx="1029907" cy="1066949"/>
            </a:xfrm>
            <a:prstGeom prst="line">
              <a:avLst/>
            </a:prstGeom>
            <a:ln w="28575"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31F39D4-57EA-35EA-F072-82E75924105D}"/>
                </a:ext>
              </a:extLst>
            </p:cNvPr>
            <p:cNvCxnSpPr>
              <a:cxnSpLocks/>
            </p:cNvCxnSpPr>
            <p:nvPr/>
          </p:nvCxnSpPr>
          <p:spPr>
            <a:xfrm>
              <a:off x="5131066" y="5340782"/>
              <a:ext cx="2415140" cy="0"/>
            </a:xfrm>
            <a:prstGeom prst="line">
              <a:avLst/>
            </a:prstGeom>
            <a:ln w="28575"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Arc 26">
              <a:extLst>
                <a:ext uri="{FF2B5EF4-FFF2-40B4-BE49-F238E27FC236}">
                  <a16:creationId xmlns:a16="http://schemas.microsoft.com/office/drawing/2014/main" id="{847A4287-9C92-4698-0381-FE1BE3A67812}"/>
                </a:ext>
              </a:extLst>
            </p:cNvPr>
            <p:cNvSpPr/>
            <p:nvPr/>
          </p:nvSpPr>
          <p:spPr>
            <a:xfrm rot="16200000">
              <a:off x="5904297" y="1206733"/>
              <a:ext cx="798897" cy="798897"/>
            </a:xfrm>
            <a:prstGeom prst="arc">
              <a:avLst>
                <a:gd name="adj1" fmla="val 14606096"/>
                <a:gd name="adj2" fmla="val 7108453"/>
              </a:avLst>
            </a:prstGeom>
            <a:ln w="28575"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Arc 27">
              <a:extLst>
                <a:ext uri="{FF2B5EF4-FFF2-40B4-BE49-F238E27FC236}">
                  <a16:creationId xmlns:a16="http://schemas.microsoft.com/office/drawing/2014/main" id="{A54F3E28-A927-A7E0-44C0-28D4338F6686}"/>
                </a:ext>
              </a:extLst>
            </p:cNvPr>
            <p:cNvSpPr/>
            <p:nvPr/>
          </p:nvSpPr>
          <p:spPr>
            <a:xfrm>
              <a:off x="9183303" y="4541886"/>
              <a:ext cx="798897" cy="798897"/>
            </a:xfrm>
            <a:prstGeom prst="arc">
              <a:avLst>
                <a:gd name="adj1" fmla="val 14606096"/>
                <a:gd name="adj2" fmla="val 7108453"/>
              </a:avLst>
            </a:prstGeom>
            <a:ln w="28575"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Arc 28">
              <a:extLst>
                <a:ext uri="{FF2B5EF4-FFF2-40B4-BE49-F238E27FC236}">
                  <a16:creationId xmlns:a16="http://schemas.microsoft.com/office/drawing/2014/main" id="{9D995F05-B69E-C091-80EE-C8311908AB31}"/>
                </a:ext>
              </a:extLst>
            </p:cNvPr>
            <p:cNvSpPr/>
            <p:nvPr/>
          </p:nvSpPr>
          <p:spPr>
            <a:xfrm flipH="1">
              <a:off x="2599623" y="4541885"/>
              <a:ext cx="798897" cy="798897"/>
            </a:xfrm>
            <a:prstGeom prst="arc">
              <a:avLst>
                <a:gd name="adj1" fmla="val 14606096"/>
                <a:gd name="adj2" fmla="val 7108453"/>
              </a:avLst>
            </a:prstGeom>
            <a:ln w="28575"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6862763-2ED3-2998-DE1F-0DDDD2A668D8}"/>
                </a:ext>
              </a:extLst>
            </p:cNvPr>
            <p:cNvCxnSpPr>
              <a:cxnSpLocks/>
            </p:cNvCxnSpPr>
            <p:nvPr/>
          </p:nvCxnSpPr>
          <p:spPr>
            <a:xfrm>
              <a:off x="6702398" y="3439352"/>
              <a:ext cx="1068405" cy="1023636"/>
            </a:xfrm>
            <a:prstGeom prst="line">
              <a:avLst/>
            </a:prstGeom>
            <a:ln w="28575"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23B7928-B85D-69DB-3B0C-879D096F73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19852" y="3417696"/>
              <a:ext cx="1029907" cy="1066949"/>
            </a:xfrm>
            <a:prstGeom prst="line">
              <a:avLst/>
            </a:prstGeom>
            <a:ln w="28575"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ADD493E6-B5E1-F3C5-4EA3-9D8B65BB13EA}"/>
                </a:ext>
              </a:extLst>
            </p:cNvPr>
            <p:cNvCxnSpPr>
              <a:cxnSpLocks/>
            </p:cNvCxnSpPr>
            <p:nvPr/>
          </p:nvCxnSpPr>
          <p:spPr>
            <a:xfrm>
              <a:off x="5111816" y="5745043"/>
              <a:ext cx="2415140" cy="0"/>
            </a:xfrm>
            <a:prstGeom prst="line">
              <a:avLst/>
            </a:prstGeom>
            <a:ln w="28575"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8BA3D637-A7F6-E872-B9F6-47BE72C952CC}"/>
              </a:ext>
            </a:extLst>
          </p:cNvPr>
          <p:cNvSpPr txBox="1"/>
          <p:nvPr/>
        </p:nvSpPr>
        <p:spPr>
          <a:xfrm>
            <a:off x="838200" y="6334051"/>
            <a:ext cx="66949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i="1" dirty="0">
                <a:solidFill>
                  <a:srgbClr val="00B0F0"/>
                </a:solidFill>
                <a:latin typeface="Helvetica" pitchFamily="2" charset="0"/>
                <a:cs typeface="Arial" panose="020B0604020202020204" pitchFamily="34" charset="0"/>
              </a:rPr>
              <a:t>Nota: la estructura condicional múltiple (switch) será cubierta más adelante en el curso.</a:t>
            </a:r>
            <a:endParaRPr lang="en-US" sz="1200" i="1" dirty="0">
              <a:solidFill>
                <a:srgbClr val="00B0F0"/>
              </a:solidFill>
              <a:latin typeface="Helvetica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2909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B5BCAB5-C040-644F-A904-0BBCCB8D6631}"/>
              </a:ext>
            </a:extLst>
          </p:cNvPr>
          <p:cNvGrpSpPr/>
          <p:nvPr/>
        </p:nvGrpSpPr>
        <p:grpSpPr>
          <a:xfrm>
            <a:off x="838200" y="-36377"/>
            <a:ext cx="4629752" cy="1015663"/>
            <a:chOff x="924025" y="1526961"/>
            <a:chExt cx="4629752" cy="101566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7A6778F-2CA2-3A55-B395-176ED8C4F042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EC3BEDF-E6BD-C10B-D660-1680609A537F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Estructura condicional </a:t>
              </a:r>
              <a:br>
                <a:rPr lang="es-ES" dirty="0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if</a:t>
              </a:r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..</a:t>
              </a:r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else</a:t>
              </a:r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 anidada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EC1DE63-768B-EDC5-7250-2DD90FE33DBC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2CD0E52-BE02-3208-ED7F-96A0A279C38B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864A96E-FE1F-DD8B-F02B-3F2A1FB1D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Condicional Simple Anidada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E6D38B-89CE-4804-188C-6F68B0C16C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14</a:t>
            </a:fld>
            <a:endParaRPr lang="es-PE" dirty="0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84BADA09-F75D-A2CA-47AC-95179677140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6649016" cy="4373562"/>
          </a:xfrm>
        </p:spPr>
        <p:txBody>
          <a:bodyPr/>
          <a:lstStyle/>
          <a:p>
            <a:r>
              <a:rPr lang="es-ES" dirty="0"/>
              <a:t>Es aquella donde una condicional simple se encuentra dentro de otra condicional simple.</a:t>
            </a:r>
          </a:p>
          <a:p>
            <a:r>
              <a:rPr lang="es-ES" dirty="0"/>
              <a:t>Las instrucciones se ejecutan solo si las condiciones son verdaderas.</a:t>
            </a:r>
          </a:p>
          <a:p>
            <a:r>
              <a:rPr lang="es-ES" dirty="0"/>
              <a:t>Se pueden incluir más instrucciones antes y después de las condiciones anidadas.</a:t>
            </a:r>
          </a:p>
          <a:p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889135D-E7C1-CDEC-2A58-F1A2758582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7289" y="2317880"/>
            <a:ext cx="3866583" cy="3355862"/>
          </a:xfrm>
          <a:prstGeom prst="roundRect">
            <a:avLst>
              <a:gd name="adj" fmla="val 3731"/>
            </a:avLst>
          </a:prstGeom>
          <a:solidFill>
            <a:srgbClr val="1E1F22"/>
          </a:solidFill>
          <a:ln>
            <a:noFill/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if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&lt;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accent4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condición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//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instrucciones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opcional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CED0D6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if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&lt;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accent4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condición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//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instrucción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1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//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instrucción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2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// ...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//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instrucción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N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//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instrucciones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opcional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CED0D6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5127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B5BCAB5-C040-644F-A904-0BBCCB8D6631}"/>
              </a:ext>
            </a:extLst>
          </p:cNvPr>
          <p:cNvGrpSpPr/>
          <p:nvPr/>
        </p:nvGrpSpPr>
        <p:grpSpPr>
          <a:xfrm>
            <a:off x="838200" y="-36377"/>
            <a:ext cx="4629752" cy="1015663"/>
            <a:chOff x="924025" y="1526961"/>
            <a:chExt cx="4629752" cy="101566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7A6778F-2CA2-3A55-B395-176ED8C4F042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EC3BEDF-E6BD-C10B-D660-1680609A537F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Estructura condicional </a:t>
              </a:r>
              <a:br>
                <a:rPr lang="es-ES" dirty="0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if</a:t>
              </a:r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..</a:t>
              </a:r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else</a:t>
              </a:r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 anidada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EC1DE63-768B-EDC5-7250-2DD90FE33DBC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2CD0E52-BE02-3208-ED7F-96A0A279C38B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864A96E-FE1F-DD8B-F02B-3F2A1FB1D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Condicional Simple Anidada. Ejemplo 1.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E6D38B-89CE-4804-188C-6F68B0C16C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15</a:t>
            </a:fld>
            <a:endParaRPr lang="es-PE" dirty="0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84BADA09-F75D-A2CA-47AC-95179677140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199" y="1846263"/>
            <a:ext cx="4786745" cy="4373562"/>
          </a:xfrm>
        </p:spPr>
        <p:txBody>
          <a:bodyPr/>
          <a:lstStyle/>
          <a:p>
            <a:pPr marL="50800" indent="0">
              <a:buNone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Escribir un programa en Java que determine si a una persona le corresponde recibir un bono. Los requisitos son que la persona tenga al menos 65 años y sus ingresos no sean mayores a 800 soles.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17F0CAC-17BC-8EDD-47E9-1D335C0CEE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967165"/>
            <a:ext cx="5406636" cy="2523741"/>
          </a:xfrm>
          <a:prstGeom prst="roundRect">
            <a:avLst>
              <a:gd name="adj" fmla="val 4470"/>
            </a:avLst>
          </a:prstGeom>
          <a:solidFill>
            <a:srgbClr val="1E1F22"/>
          </a:solidFill>
          <a:ln>
            <a:noFill/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edad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67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float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ingresos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1300.0f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if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edad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&gt;=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65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if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ingresos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&lt;=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800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Usted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obtendrá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bono."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9746781-51FA-4EB7-B445-907A403F449C}"/>
              </a:ext>
            </a:extLst>
          </p:cNvPr>
          <p:cNvGrpSpPr/>
          <p:nvPr/>
        </p:nvGrpSpPr>
        <p:grpSpPr>
          <a:xfrm>
            <a:off x="6096000" y="4730317"/>
            <a:ext cx="5406636" cy="1653309"/>
            <a:chOff x="5684981" y="4849091"/>
            <a:chExt cx="5406636" cy="1653309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12004CB8-4D64-E2C0-EB1E-C9AB2B738AB3}"/>
                </a:ext>
              </a:extLst>
            </p:cNvPr>
            <p:cNvSpPr/>
            <p:nvPr/>
          </p:nvSpPr>
          <p:spPr>
            <a:xfrm>
              <a:off x="5684981" y="4849091"/>
              <a:ext cx="5406636" cy="1653309"/>
            </a:xfrm>
            <a:prstGeom prst="roundRect">
              <a:avLst>
                <a:gd name="adj" fmla="val 5494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8DA6A31-5A18-43DC-1DC4-86DB0A86CF25}"/>
                </a:ext>
              </a:extLst>
            </p:cNvPr>
            <p:cNvCxnSpPr/>
            <p:nvPr/>
          </p:nvCxnSpPr>
          <p:spPr>
            <a:xfrm flipV="1">
              <a:off x="6289963" y="5407914"/>
              <a:ext cx="1311564" cy="392522"/>
            </a:xfrm>
            <a:prstGeom prst="line">
              <a:avLst/>
            </a:prstGeom>
            <a:ln w="3810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578D370-8B65-98C9-6840-0820DCA35E84}"/>
                </a:ext>
              </a:extLst>
            </p:cNvPr>
            <p:cNvCxnSpPr>
              <a:cxnSpLocks/>
              <a:endCxn id="12" idx="1"/>
            </p:cNvCxnSpPr>
            <p:nvPr/>
          </p:nvCxnSpPr>
          <p:spPr>
            <a:xfrm flipV="1">
              <a:off x="7693892" y="5213952"/>
              <a:ext cx="858982" cy="193962"/>
            </a:xfrm>
            <a:prstGeom prst="line">
              <a:avLst/>
            </a:prstGeom>
            <a:ln w="3810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65A4244-8ED0-D9E4-E9CF-5BBD23B996D4}"/>
                </a:ext>
              </a:extLst>
            </p:cNvPr>
            <p:cNvSpPr/>
            <p:nvPr/>
          </p:nvSpPr>
          <p:spPr>
            <a:xfrm>
              <a:off x="6096000" y="5606473"/>
              <a:ext cx="387927" cy="387927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E0D370F-8B39-7372-F94C-393F81EE11BD}"/>
                </a:ext>
              </a:extLst>
            </p:cNvPr>
            <p:cNvSpPr/>
            <p:nvPr/>
          </p:nvSpPr>
          <p:spPr>
            <a:xfrm>
              <a:off x="7407564" y="5213951"/>
              <a:ext cx="387927" cy="387927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12C2839E-06A9-D8E4-064E-2AA9D0903360}"/>
                </a:ext>
              </a:extLst>
            </p:cNvPr>
            <p:cNvSpPr/>
            <p:nvPr/>
          </p:nvSpPr>
          <p:spPr>
            <a:xfrm>
              <a:off x="8552874" y="5019988"/>
              <a:ext cx="2339109" cy="387927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/>
                <a:t>Obtiene el bono</a:t>
              </a:r>
              <a:endParaRPr lang="en-US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47931C8-A4C8-81EB-3D29-B5CDD37CE1DC}"/>
                </a:ext>
              </a:extLst>
            </p:cNvPr>
            <p:cNvSpPr txBox="1"/>
            <p:nvPr/>
          </p:nvSpPr>
          <p:spPr>
            <a:xfrm>
              <a:off x="7802925" y="5002006"/>
              <a:ext cx="35458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>
                  <a:solidFill>
                    <a:schemeClr val="bg1">
                      <a:lumMod val="50000"/>
                    </a:schemeClr>
                  </a:solidFill>
                </a:rPr>
                <a:t>Sí</a:t>
              </a:r>
              <a:endParaRPr 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5D566BE-8C56-7D4A-00C8-F5E4E7BBCE1C}"/>
                </a:ext>
              </a:extLst>
            </p:cNvPr>
            <p:cNvSpPr txBox="1"/>
            <p:nvPr/>
          </p:nvSpPr>
          <p:spPr>
            <a:xfrm>
              <a:off x="6426710" y="5327913"/>
              <a:ext cx="35458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>
                  <a:solidFill>
                    <a:schemeClr val="bg1">
                      <a:lumMod val="50000"/>
                    </a:schemeClr>
                  </a:solidFill>
                </a:rPr>
                <a:t>Sí</a:t>
              </a:r>
              <a:endParaRPr 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21F8BF7-CA09-D123-7FF1-29D4E428E787}"/>
                </a:ext>
              </a:extLst>
            </p:cNvPr>
            <p:cNvSpPr txBox="1"/>
            <p:nvPr/>
          </p:nvSpPr>
          <p:spPr>
            <a:xfrm>
              <a:off x="5684981" y="6026258"/>
              <a:ext cx="120996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solidFill>
                    <a:schemeClr val="bg1">
                      <a:lumMod val="50000"/>
                    </a:schemeClr>
                  </a:solidFill>
                </a:rPr>
                <a:t>edad</a:t>
              </a:r>
              <a:r>
                <a:rPr lang="en-US" dirty="0">
                  <a:solidFill>
                    <a:schemeClr val="bg1">
                      <a:lumMod val="50000"/>
                    </a:schemeClr>
                  </a:solidFill>
                </a:rPr>
                <a:t> &gt;= 65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8403719-4FA0-3EC2-F3CE-97DADC2E1F2C}"/>
                </a:ext>
              </a:extLst>
            </p:cNvPr>
            <p:cNvSpPr txBox="1"/>
            <p:nvPr/>
          </p:nvSpPr>
          <p:spPr>
            <a:xfrm>
              <a:off x="6751784" y="5611457"/>
              <a:ext cx="170872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solidFill>
                    <a:schemeClr val="bg1">
                      <a:lumMod val="50000"/>
                    </a:schemeClr>
                  </a:solidFill>
                </a:rPr>
                <a:t>Ingresos</a:t>
              </a:r>
              <a:r>
                <a:rPr lang="en-US" dirty="0">
                  <a:solidFill>
                    <a:schemeClr val="bg1">
                      <a:lumMod val="50000"/>
                    </a:schemeClr>
                  </a:solidFill>
                </a:rPr>
                <a:t> &lt;= 800</a:t>
              </a: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2DC9EDE6-6FCE-3D26-6CD7-7F34282C444B}"/>
              </a:ext>
            </a:extLst>
          </p:cNvPr>
          <p:cNvSpPr txBox="1"/>
          <p:nvPr/>
        </p:nvSpPr>
        <p:spPr>
          <a:xfrm>
            <a:off x="7917874" y="5946161"/>
            <a:ext cx="34359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i="1" dirty="0" err="1">
                <a:solidFill>
                  <a:srgbClr val="00B0F0"/>
                </a:solidFill>
              </a:rPr>
              <a:t>Diagrama</a:t>
            </a:r>
            <a:r>
              <a:rPr lang="en-US" i="1" dirty="0">
                <a:solidFill>
                  <a:srgbClr val="00B0F0"/>
                </a:solidFill>
              </a:rPr>
              <a:t> de árbol de </a:t>
            </a:r>
            <a:r>
              <a:rPr lang="en-US" i="1" dirty="0" err="1">
                <a:solidFill>
                  <a:srgbClr val="00B0F0"/>
                </a:solidFill>
              </a:rPr>
              <a:t>decisión</a:t>
            </a:r>
            <a:endParaRPr lang="en-US" i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22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B5BCAB5-C040-644F-A904-0BBCCB8D6631}"/>
              </a:ext>
            </a:extLst>
          </p:cNvPr>
          <p:cNvGrpSpPr/>
          <p:nvPr/>
        </p:nvGrpSpPr>
        <p:grpSpPr>
          <a:xfrm>
            <a:off x="838200" y="-36377"/>
            <a:ext cx="4629752" cy="1015663"/>
            <a:chOff x="924025" y="1526961"/>
            <a:chExt cx="4629752" cy="101566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7A6778F-2CA2-3A55-B395-176ED8C4F042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EC3BEDF-E6BD-C10B-D660-1680609A537F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Estructura condicional </a:t>
              </a:r>
              <a:br>
                <a:rPr lang="es-ES" dirty="0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if</a:t>
              </a:r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..</a:t>
              </a:r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else</a:t>
              </a:r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 anidada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EC1DE63-768B-EDC5-7250-2DD90FE33DBC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2CD0E52-BE02-3208-ED7F-96A0A279C38B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864A96E-FE1F-DD8B-F02B-3F2A1FB1D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Condicional simple anidada. Ejemplo 2.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E6D38B-89CE-4804-188C-6F68B0C16C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16</a:t>
            </a:fld>
            <a:endParaRPr lang="es-PE" dirty="0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84BADA09-F75D-A2CA-47AC-95179677140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5257800" cy="4373562"/>
          </a:xfrm>
        </p:spPr>
        <p:txBody>
          <a:bodyPr>
            <a:normAutofit/>
          </a:bodyPr>
          <a:lstStyle/>
          <a:p>
            <a:pPr marL="50800" indent="0">
              <a:buNone/>
            </a:pPr>
            <a:r>
              <a:rPr lang="es-ES" sz="2400" dirty="0">
                <a:solidFill>
                  <a:schemeClr val="bg1">
                    <a:lumMod val="50000"/>
                  </a:schemeClr>
                </a:solidFill>
              </a:rPr>
              <a:t>Escribir un programa en Java en el que, dada una nota, muestre “Aprobado” si ésta es mayor o igual a 12. Mostrar además “¡Muy bien hecho!” si obtuvo más de 15, y “Felicitaciones” si obtuvo al menos 18.</a:t>
            </a:r>
            <a:endParaRPr lang="en-US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5068D4E-C915-6C2B-48E6-8FD6544060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976998"/>
            <a:ext cx="5406636" cy="2164735"/>
          </a:xfrm>
          <a:prstGeom prst="roundRect">
            <a:avLst>
              <a:gd name="adj" fmla="val 4059"/>
            </a:avLst>
          </a:prstGeom>
          <a:solidFill>
            <a:srgbClr val="1E1F22"/>
          </a:solidFill>
          <a:ln>
            <a:noFill/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ts val="1200"/>
              </a:spcBef>
              <a:spcAft>
                <a:spcPts val="120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nota 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19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if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(nota &gt;=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12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Aprobado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if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(nota &gt;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15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"¡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Muy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bien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hecho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!"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if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(nota &gt;=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18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Felicitaciones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}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EDCE638-E227-E1D8-B046-C51127D2DCD6}"/>
              </a:ext>
            </a:extLst>
          </p:cNvPr>
          <p:cNvGrpSpPr/>
          <p:nvPr/>
        </p:nvGrpSpPr>
        <p:grpSpPr>
          <a:xfrm>
            <a:off x="1925855" y="4730317"/>
            <a:ext cx="9576781" cy="1653309"/>
            <a:chOff x="1925855" y="4730317"/>
            <a:chExt cx="9576781" cy="1653309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3670C660-55B9-24EA-4190-897C37D758C9}"/>
                </a:ext>
              </a:extLst>
            </p:cNvPr>
            <p:cNvSpPr/>
            <p:nvPr/>
          </p:nvSpPr>
          <p:spPr>
            <a:xfrm>
              <a:off x="1925855" y="4730317"/>
              <a:ext cx="9576781" cy="1653309"/>
            </a:xfrm>
            <a:prstGeom prst="roundRect">
              <a:avLst>
                <a:gd name="adj" fmla="val 5494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FE5C6A2-A19E-A419-7FFF-8C5D5E4BD808}"/>
                </a:ext>
              </a:extLst>
            </p:cNvPr>
            <p:cNvCxnSpPr>
              <a:cxnSpLocks/>
              <a:endCxn id="24" idx="1"/>
            </p:cNvCxnSpPr>
            <p:nvPr/>
          </p:nvCxnSpPr>
          <p:spPr>
            <a:xfrm flipV="1">
              <a:off x="2657890" y="5451246"/>
              <a:ext cx="806275" cy="189399"/>
            </a:xfrm>
            <a:prstGeom prst="line">
              <a:avLst/>
            </a:prstGeom>
            <a:ln w="3810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63995A9-1094-239D-8E8E-C232BBCE852E}"/>
                </a:ext>
              </a:extLst>
            </p:cNvPr>
            <p:cNvCxnSpPr>
              <a:cxnSpLocks/>
              <a:endCxn id="16" idx="2"/>
            </p:cNvCxnSpPr>
            <p:nvPr/>
          </p:nvCxnSpPr>
          <p:spPr>
            <a:xfrm>
              <a:off x="4676072" y="5448166"/>
              <a:ext cx="761937" cy="3080"/>
            </a:xfrm>
            <a:prstGeom prst="line">
              <a:avLst/>
            </a:prstGeom>
            <a:ln w="3810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5088C73-598D-4527-AE82-B30A6B0140B4}"/>
                </a:ext>
              </a:extLst>
            </p:cNvPr>
            <p:cNvSpPr txBox="1"/>
            <p:nvPr/>
          </p:nvSpPr>
          <p:spPr>
            <a:xfrm>
              <a:off x="8806954" y="4792523"/>
              <a:ext cx="35458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>
                  <a:solidFill>
                    <a:schemeClr val="bg1">
                      <a:lumMod val="50000"/>
                    </a:schemeClr>
                  </a:solidFill>
                </a:rPr>
                <a:t>Sí</a:t>
              </a:r>
              <a:endParaRPr 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3BCDA6E-FC3C-138D-46CD-0BB17F8761E8}"/>
                </a:ext>
              </a:extLst>
            </p:cNvPr>
            <p:cNvSpPr txBox="1"/>
            <p:nvPr/>
          </p:nvSpPr>
          <p:spPr>
            <a:xfrm>
              <a:off x="2681353" y="5271254"/>
              <a:ext cx="35458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>
                  <a:solidFill>
                    <a:schemeClr val="bg1">
                      <a:lumMod val="50000"/>
                    </a:schemeClr>
                  </a:solidFill>
                </a:rPr>
                <a:t>Sí</a:t>
              </a:r>
              <a:endParaRPr 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544BEF3-2677-C7DC-6FB8-656C26BF9F6B}"/>
                </a:ext>
              </a:extLst>
            </p:cNvPr>
            <p:cNvSpPr txBox="1"/>
            <p:nvPr/>
          </p:nvSpPr>
          <p:spPr>
            <a:xfrm>
              <a:off x="2014781" y="5902889"/>
              <a:ext cx="120996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chemeClr val="bg1">
                      <a:lumMod val="50000"/>
                    </a:schemeClr>
                  </a:solidFill>
                </a:rPr>
                <a:t>nota &gt;= 12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18DBEF0-ADEF-6B6B-9FD4-6B578E1F6D5F}"/>
                </a:ext>
              </a:extLst>
            </p:cNvPr>
            <p:cNvSpPr txBox="1"/>
            <p:nvPr/>
          </p:nvSpPr>
          <p:spPr>
            <a:xfrm>
              <a:off x="4826577" y="5660245"/>
              <a:ext cx="170872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chemeClr val="bg1">
                      <a:lumMod val="50000"/>
                    </a:schemeClr>
                  </a:solidFill>
                </a:rPr>
                <a:t>nota &gt; 15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B9BB013-84F7-B4DE-F942-9AEDEFF7A93F}"/>
                </a:ext>
              </a:extLst>
            </p:cNvPr>
            <p:cNvSpPr txBox="1"/>
            <p:nvPr/>
          </p:nvSpPr>
          <p:spPr>
            <a:xfrm>
              <a:off x="7917874" y="6014513"/>
              <a:ext cx="343592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i="1" dirty="0" err="1">
                  <a:solidFill>
                    <a:srgbClr val="00B0F0"/>
                  </a:solidFill>
                </a:rPr>
                <a:t>Diagrama</a:t>
              </a:r>
              <a:r>
                <a:rPr lang="en-US" i="1" dirty="0">
                  <a:solidFill>
                    <a:srgbClr val="00B0F0"/>
                  </a:solidFill>
                </a:rPr>
                <a:t> de árbol de </a:t>
              </a:r>
              <a:r>
                <a:rPr lang="en-US" i="1" dirty="0" err="1">
                  <a:solidFill>
                    <a:srgbClr val="00B0F0"/>
                  </a:solidFill>
                </a:rPr>
                <a:t>decisión</a:t>
              </a:r>
              <a:endParaRPr lang="en-US" i="1" dirty="0">
                <a:solidFill>
                  <a:srgbClr val="00B0F0"/>
                </a:solidFill>
              </a:endParaRP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375B4918-DFFB-84A4-80C2-B7FF928CCED4}"/>
                </a:ext>
              </a:extLst>
            </p:cNvPr>
            <p:cNvCxnSpPr>
              <a:cxnSpLocks/>
              <a:endCxn id="25" idx="1"/>
            </p:cNvCxnSpPr>
            <p:nvPr/>
          </p:nvCxnSpPr>
          <p:spPr>
            <a:xfrm flipV="1">
              <a:off x="5680226" y="5218924"/>
              <a:ext cx="759370" cy="241729"/>
            </a:xfrm>
            <a:prstGeom prst="line">
              <a:avLst/>
            </a:prstGeom>
            <a:ln w="3810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AB4D5E71-ADD4-33AD-478C-ED20FEAC90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30331" y="5026177"/>
              <a:ext cx="806275" cy="189399"/>
            </a:xfrm>
            <a:prstGeom prst="line">
              <a:avLst/>
            </a:prstGeom>
            <a:ln w="3810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4670586-5937-F140-E6B7-C668D468B23A}"/>
                </a:ext>
              </a:extLst>
            </p:cNvPr>
            <p:cNvCxnSpPr>
              <a:cxnSpLocks/>
              <a:stCxn id="25" idx="3"/>
              <a:endCxn id="30" idx="2"/>
            </p:cNvCxnSpPr>
            <p:nvPr/>
          </p:nvCxnSpPr>
          <p:spPr>
            <a:xfrm flipV="1">
              <a:off x="8148323" y="5215405"/>
              <a:ext cx="339791" cy="3519"/>
            </a:xfrm>
            <a:prstGeom prst="line">
              <a:avLst/>
            </a:prstGeom>
            <a:ln w="3810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CC59D60B-0C51-4D40-C0D2-C6DD5D8B59AD}"/>
                </a:ext>
              </a:extLst>
            </p:cNvPr>
            <p:cNvSpPr/>
            <p:nvPr/>
          </p:nvSpPr>
          <p:spPr>
            <a:xfrm>
              <a:off x="2425800" y="5483104"/>
              <a:ext cx="387927" cy="387927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FD052501-EC2D-6252-B999-CE37DD016DE8}"/>
                </a:ext>
              </a:extLst>
            </p:cNvPr>
            <p:cNvSpPr/>
            <p:nvPr/>
          </p:nvSpPr>
          <p:spPr>
            <a:xfrm>
              <a:off x="5438009" y="5257282"/>
              <a:ext cx="387927" cy="387927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7ADF3613-D54A-D218-8697-09F6D5A3F257}"/>
                </a:ext>
              </a:extLst>
            </p:cNvPr>
            <p:cNvSpPr/>
            <p:nvPr/>
          </p:nvSpPr>
          <p:spPr>
            <a:xfrm>
              <a:off x="9481190" y="4866645"/>
              <a:ext cx="1524502" cy="387927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/>
                <a:t>“Felicitaciones”</a:t>
              </a:r>
              <a:endParaRPr lang="en-US" dirty="0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84A5234D-A7A6-B150-D91C-51A2AD070377}"/>
                </a:ext>
              </a:extLst>
            </p:cNvPr>
            <p:cNvSpPr/>
            <p:nvPr/>
          </p:nvSpPr>
          <p:spPr>
            <a:xfrm>
              <a:off x="3464165" y="5257282"/>
              <a:ext cx="1262641" cy="387927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/>
                <a:t>“Aprobado”</a:t>
              </a:r>
              <a:endParaRPr lang="en-US" dirty="0"/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19925ED9-4E40-3CD6-00C5-CE98DC224503}"/>
                </a:ext>
              </a:extLst>
            </p:cNvPr>
            <p:cNvSpPr/>
            <p:nvPr/>
          </p:nvSpPr>
          <p:spPr>
            <a:xfrm>
              <a:off x="6439596" y="5024960"/>
              <a:ext cx="1708727" cy="387927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/>
                <a:t>“¡Muy bien hecho!”</a:t>
              </a:r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614A5FB6-FE48-F3DE-FD85-E66C0357500F}"/>
                </a:ext>
              </a:extLst>
            </p:cNvPr>
            <p:cNvSpPr/>
            <p:nvPr/>
          </p:nvSpPr>
          <p:spPr>
            <a:xfrm>
              <a:off x="8488114" y="5021441"/>
              <a:ext cx="387927" cy="387927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C48AB44-2449-231C-C099-561822AE4A3E}"/>
                </a:ext>
              </a:extLst>
            </p:cNvPr>
            <p:cNvSpPr txBox="1"/>
            <p:nvPr/>
          </p:nvSpPr>
          <p:spPr>
            <a:xfrm>
              <a:off x="5769753" y="5080880"/>
              <a:ext cx="35458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>
                  <a:solidFill>
                    <a:schemeClr val="bg1">
                      <a:lumMod val="50000"/>
                    </a:schemeClr>
                  </a:solidFill>
                </a:rPr>
                <a:t>Sí</a:t>
              </a:r>
              <a:endParaRPr 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2F23629-1AC6-8A03-F6A8-BA6258764717}"/>
                </a:ext>
              </a:extLst>
            </p:cNvPr>
            <p:cNvSpPr txBox="1"/>
            <p:nvPr/>
          </p:nvSpPr>
          <p:spPr>
            <a:xfrm>
              <a:off x="7801920" y="5421807"/>
              <a:ext cx="170872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chemeClr val="bg1">
                      <a:lumMod val="50000"/>
                    </a:schemeClr>
                  </a:solidFill>
                </a:rPr>
                <a:t>nota &gt;= 18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93267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B5BCAB5-C040-644F-A904-0BBCCB8D6631}"/>
              </a:ext>
            </a:extLst>
          </p:cNvPr>
          <p:cNvGrpSpPr/>
          <p:nvPr/>
        </p:nvGrpSpPr>
        <p:grpSpPr>
          <a:xfrm>
            <a:off x="838200" y="-36377"/>
            <a:ext cx="4629752" cy="1015663"/>
            <a:chOff x="924025" y="1526961"/>
            <a:chExt cx="4629752" cy="101566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7A6778F-2CA2-3A55-B395-176ED8C4F042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EC3BEDF-E6BD-C10B-D660-1680609A537F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Estructura condicional </a:t>
              </a:r>
              <a:br>
                <a:rPr lang="es-ES" dirty="0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if</a:t>
              </a:r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..</a:t>
              </a:r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else</a:t>
              </a:r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 anidada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EC1DE63-768B-EDC5-7250-2DD90FE33DBC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2CD0E52-BE02-3208-ED7F-96A0A279C38B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864A96E-FE1F-DD8B-F02B-3F2A1FB1D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Condicional Doble Anidada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E6D38B-89CE-4804-188C-6F68B0C16C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17</a:t>
            </a:fld>
            <a:endParaRPr lang="es-PE" dirty="0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84BADA09-F75D-A2CA-47AC-95179677140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6649016" cy="4373562"/>
          </a:xfrm>
        </p:spPr>
        <p:txBody>
          <a:bodyPr/>
          <a:lstStyle/>
          <a:p>
            <a:r>
              <a:rPr lang="es-ES" dirty="0"/>
              <a:t>Es aquella donde una condicional doble se encuentra dentro una otra condicional simple o doble.</a:t>
            </a:r>
          </a:p>
          <a:p>
            <a:r>
              <a:rPr lang="es-ES" dirty="0"/>
              <a:t>Se pueden incluir más instrucciones antes y después de las condiciones anidadas.</a:t>
            </a:r>
          </a:p>
          <a:p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889135D-E7C1-CDEC-2A58-F1A2758582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7289" y="2482588"/>
            <a:ext cx="3866583" cy="3026446"/>
          </a:xfrm>
          <a:prstGeom prst="roundRect">
            <a:avLst>
              <a:gd name="adj" fmla="val 3731"/>
            </a:avLst>
          </a:prstGeom>
          <a:solidFill>
            <a:srgbClr val="1E1F22"/>
          </a:solidFill>
          <a:ln>
            <a:noFill/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if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&lt;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accent4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condición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//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instrucciones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opcional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CED0D6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if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&lt;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accent4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condición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//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instrucciones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 else {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//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instrucciones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US" altLang="en-US" dirty="0">
                <a:solidFill>
                  <a:srgbClr val="CED0D6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//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instrucciones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opcional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CED0D6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3813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B5BCAB5-C040-644F-A904-0BBCCB8D6631}"/>
              </a:ext>
            </a:extLst>
          </p:cNvPr>
          <p:cNvGrpSpPr/>
          <p:nvPr/>
        </p:nvGrpSpPr>
        <p:grpSpPr>
          <a:xfrm>
            <a:off x="838200" y="-36377"/>
            <a:ext cx="4629752" cy="1015663"/>
            <a:chOff x="924025" y="1526961"/>
            <a:chExt cx="4629752" cy="101566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7A6778F-2CA2-3A55-B395-176ED8C4F042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EC3BEDF-E6BD-C10B-D660-1680609A537F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Estructura condicional </a:t>
              </a:r>
              <a:br>
                <a:rPr lang="es-ES" dirty="0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if</a:t>
              </a:r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..</a:t>
              </a:r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else</a:t>
              </a:r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 anidada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EC1DE63-768B-EDC5-7250-2DD90FE33DBC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2CD0E52-BE02-3208-ED7F-96A0A279C38B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864A96E-FE1F-DD8B-F02B-3F2A1FB1D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Condicional Doble Anidada. Ejemplo.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E6D38B-89CE-4804-188C-6F68B0C16C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18</a:t>
            </a:fld>
            <a:endParaRPr lang="es-PE" dirty="0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84BADA09-F75D-A2CA-47AC-95179677140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5424055" cy="4373562"/>
          </a:xfrm>
        </p:spPr>
        <p:txBody>
          <a:bodyPr/>
          <a:lstStyle/>
          <a:p>
            <a:pPr marL="50800" indent="0">
              <a:buNone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Escribir un programa que solicite un número entero y determine si es positivo, negativo o cero.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173F7C8-10C9-B935-5A6B-ABE9ED8179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6526" y="2351974"/>
            <a:ext cx="5119045" cy="3666887"/>
          </a:xfrm>
          <a:prstGeom prst="roundRect">
            <a:avLst>
              <a:gd name="adj" fmla="val 3247"/>
            </a:avLst>
          </a:prstGeom>
          <a:solidFill>
            <a:srgbClr val="1E1F22"/>
          </a:solidFill>
          <a:ln>
            <a:noFill/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import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java.util.Scanner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class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DemoCondicional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{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static void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main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(String[]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args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numero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Scanner lector =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Scanner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(System.</a:t>
            </a:r>
            <a: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0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Ingrese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un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número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entero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"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numero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lector.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nextInt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lector.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nextLine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if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numero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&gt;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0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Positivo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}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else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{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if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numero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&lt;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   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0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Negativo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}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else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{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   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0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"Cero"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}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}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000" dirty="0">
                <a:solidFill>
                  <a:srgbClr val="CED0D6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rgbClr val="CED0D6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000" dirty="0">
                <a:solidFill>
                  <a:srgbClr val="CED0D6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64C4CCD-27C9-DDA7-4C84-879458EACAC8}"/>
              </a:ext>
            </a:extLst>
          </p:cNvPr>
          <p:cNvGrpSpPr/>
          <p:nvPr/>
        </p:nvGrpSpPr>
        <p:grpSpPr>
          <a:xfrm>
            <a:off x="1071836" y="3777672"/>
            <a:ext cx="4710132" cy="2442153"/>
            <a:chOff x="813217" y="3777673"/>
            <a:chExt cx="4710132" cy="2442153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63595DB3-DCF5-B1E2-96B2-6B598D126241}"/>
                </a:ext>
              </a:extLst>
            </p:cNvPr>
            <p:cNvSpPr/>
            <p:nvPr/>
          </p:nvSpPr>
          <p:spPr>
            <a:xfrm>
              <a:off x="813217" y="3777673"/>
              <a:ext cx="4710132" cy="2442153"/>
            </a:xfrm>
            <a:prstGeom prst="roundRect">
              <a:avLst>
                <a:gd name="adj" fmla="val 5494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34A3ED5-3148-8C49-ACA7-FD29F51E93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39323" y="4590084"/>
              <a:ext cx="694728" cy="409781"/>
            </a:xfrm>
            <a:prstGeom prst="line">
              <a:avLst/>
            </a:prstGeom>
            <a:ln w="3810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30C70AC-B649-3CCC-5BE9-DA7455726525}"/>
                </a:ext>
              </a:extLst>
            </p:cNvPr>
            <p:cNvCxnSpPr>
              <a:cxnSpLocks/>
              <a:endCxn id="17" idx="1"/>
            </p:cNvCxnSpPr>
            <p:nvPr/>
          </p:nvCxnSpPr>
          <p:spPr>
            <a:xfrm flipV="1">
              <a:off x="2838427" y="4929963"/>
              <a:ext cx="1037356" cy="360109"/>
            </a:xfrm>
            <a:prstGeom prst="line">
              <a:avLst/>
            </a:prstGeom>
            <a:ln w="3810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13D472D-203F-1902-F179-35CF8D3A06D1}"/>
                </a:ext>
              </a:extLst>
            </p:cNvPr>
            <p:cNvSpPr txBox="1"/>
            <p:nvPr/>
          </p:nvSpPr>
          <p:spPr>
            <a:xfrm>
              <a:off x="2958868" y="4855956"/>
              <a:ext cx="35458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>
                  <a:solidFill>
                    <a:schemeClr val="bg1">
                      <a:lumMod val="50000"/>
                    </a:schemeClr>
                  </a:solidFill>
                </a:rPr>
                <a:t>Sí</a:t>
              </a:r>
              <a:endParaRPr 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8D71430-958E-45FA-A5BB-8965B7419415}"/>
                </a:ext>
              </a:extLst>
            </p:cNvPr>
            <p:cNvSpPr txBox="1"/>
            <p:nvPr/>
          </p:nvSpPr>
          <p:spPr>
            <a:xfrm>
              <a:off x="1565300" y="4555575"/>
              <a:ext cx="35458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>
                  <a:solidFill>
                    <a:schemeClr val="bg1">
                      <a:lumMod val="50000"/>
                    </a:schemeClr>
                  </a:solidFill>
                </a:rPr>
                <a:t>Sí</a:t>
              </a:r>
              <a:endParaRPr 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DC71FE7-30E5-AE74-7BFD-990B0F16A57D}"/>
                </a:ext>
              </a:extLst>
            </p:cNvPr>
            <p:cNvSpPr txBox="1"/>
            <p:nvPr/>
          </p:nvSpPr>
          <p:spPr>
            <a:xfrm>
              <a:off x="913820" y="5278980"/>
              <a:ext cx="120996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solidFill>
                    <a:schemeClr val="bg1">
                      <a:lumMod val="50000"/>
                    </a:schemeClr>
                  </a:solidFill>
                </a:rPr>
                <a:t>numero</a:t>
              </a:r>
              <a:r>
                <a:rPr lang="en-US" dirty="0">
                  <a:solidFill>
                    <a:schemeClr val="bg1">
                      <a:lumMod val="50000"/>
                    </a:schemeClr>
                  </a:solidFill>
                </a:rPr>
                <a:t> &gt; 0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E6527C9-767B-431D-DFA5-1B29DDDBDD0F}"/>
                </a:ext>
              </a:extLst>
            </p:cNvPr>
            <p:cNvSpPr txBox="1"/>
            <p:nvPr/>
          </p:nvSpPr>
          <p:spPr>
            <a:xfrm>
              <a:off x="1972380" y="5465407"/>
              <a:ext cx="170872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solidFill>
                    <a:schemeClr val="bg1">
                      <a:lumMod val="50000"/>
                    </a:schemeClr>
                  </a:solidFill>
                </a:rPr>
                <a:t>numero</a:t>
              </a:r>
              <a:r>
                <a:rPr lang="en-US" dirty="0">
                  <a:solidFill>
                    <a:schemeClr val="bg1">
                      <a:lumMod val="50000"/>
                    </a:schemeClr>
                  </a:solidFill>
                </a:rPr>
                <a:t> &lt; 0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867E0C3-B4E3-3675-7A4F-0A4DD477AB40}"/>
                </a:ext>
              </a:extLst>
            </p:cNvPr>
            <p:cNvSpPr txBox="1"/>
            <p:nvPr/>
          </p:nvSpPr>
          <p:spPr>
            <a:xfrm>
              <a:off x="1444395" y="3877642"/>
              <a:ext cx="343592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i="1" dirty="0" err="1">
                  <a:solidFill>
                    <a:srgbClr val="00B0F0"/>
                  </a:solidFill>
                </a:rPr>
                <a:t>Diagrama</a:t>
              </a:r>
              <a:r>
                <a:rPr lang="en-US" i="1" dirty="0">
                  <a:solidFill>
                    <a:srgbClr val="00B0F0"/>
                  </a:solidFill>
                </a:rPr>
                <a:t> de árbol de </a:t>
              </a:r>
              <a:r>
                <a:rPr lang="en-US" i="1" dirty="0" err="1">
                  <a:solidFill>
                    <a:srgbClr val="00B0F0"/>
                  </a:solidFill>
                </a:rPr>
                <a:t>decisión</a:t>
              </a:r>
              <a:endParaRPr lang="en-US" i="1" dirty="0">
                <a:solidFill>
                  <a:srgbClr val="00B0F0"/>
                </a:solidFill>
              </a:endParaRP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ECA0582-3B76-4168-AC10-104921E55F26}"/>
                </a:ext>
              </a:extLst>
            </p:cNvPr>
            <p:cNvCxnSpPr>
              <a:cxnSpLocks/>
              <a:endCxn id="28" idx="1"/>
            </p:cNvCxnSpPr>
            <p:nvPr/>
          </p:nvCxnSpPr>
          <p:spPr>
            <a:xfrm>
              <a:off x="2798342" y="5278980"/>
              <a:ext cx="1089952" cy="433815"/>
            </a:xfrm>
            <a:prstGeom prst="line">
              <a:avLst/>
            </a:prstGeom>
            <a:ln w="3810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5539104-27DA-9829-E28F-AB4AECDEF018}"/>
                </a:ext>
              </a:extLst>
            </p:cNvPr>
            <p:cNvSpPr txBox="1"/>
            <p:nvPr/>
          </p:nvSpPr>
          <p:spPr>
            <a:xfrm>
              <a:off x="3162358" y="5199020"/>
              <a:ext cx="41389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>
                  <a:solidFill>
                    <a:schemeClr val="bg1">
                      <a:lumMod val="50000"/>
                    </a:schemeClr>
                  </a:solidFill>
                </a:rPr>
                <a:t>No</a:t>
              </a:r>
              <a:endParaRPr 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5B2BDE10-E64C-88B9-2058-5918E867100E}"/>
                </a:ext>
              </a:extLst>
            </p:cNvPr>
            <p:cNvCxnSpPr>
              <a:cxnSpLocks/>
              <a:endCxn id="16" idx="2"/>
            </p:cNvCxnSpPr>
            <p:nvPr/>
          </p:nvCxnSpPr>
          <p:spPr>
            <a:xfrm>
              <a:off x="1549783" y="5126914"/>
              <a:ext cx="1078377" cy="134951"/>
            </a:xfrm>
            <a:prstGeom prst="line">
              <a:avLst/>
            </a:prstGeom>
            <a:ln w="3810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3841910-FFBC-C603-EEF0-AEB996CFDC71}"/>
                </a:ext>
              </a:extLst>
            </p:cNvPr>
            <p:cNvSpPr/>
            <p:nvPr/>
          </p:nvSpPr>
          <p:spPr>
            <a:xfrm>
              <a:off x="1324839" y="4859195"/>
              <a:ext cx="387927" cy="387927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7A6D3BDD-9513-EFB7-ED80-272AD702C401}"/>
                </a:ext>
              </a:extLst>
            </p:cNvPr>
            <p:cNvSpPr/>
            <p:nvPr/>
          </p:nvSpPr>
          <p:spPr>
            <a:xfrm>
              <a:off x="2628160" y="5067901"/>
              <a:ext cx="387927" cy="387927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E8732D1D-CA8B-3D33-A329-CC2388C01057}"/>
                </a:ext>
              </a:extLst>
            </p:cNvPr>
            <p:cNvSpPr/>
            <p:nvPr/>
          </p:nvSpPr>
          <p:spPr>
            <a:xfrm>
              <a:off x="3875783" y="4735999"/>
              <a:ext cx="1269585" cy="387927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/>
                <a:t>“Negativo”</a:t>
              </a:r>
              <a:endParaRPr lang="en-US" dirty="0"/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A094B788-6F94-8AA6-1795-B7025A0BDB0A}"/>
                </a:ext>
              </a:extLst>
            </p:cNvPr>
            <p:cNvSpPr/>
            <p:nvPr/>
          </p:nvSpPr>
          <p:spPr>
            <a:xfrm>
              <a:off x="2334051" y="4326724"/>
              <a:ext cx="1212713" cy="387927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/>
                <a:t>“Positivo”</a:t>
              </a:r>
              <a:endParaRPr lang="en-US" dirty="0"/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65A1346F-33C0-4758-B636-9D79CBD46361}"/>
                </a:ext>
              </a:extLst>
            </p:cNvPr>
            <p:cNvSpPr/>
            <p:nvPr/>
          </p:nvSpPr>
          <p:spPr>
            <a:xfrm>
              <a:off x="3888294" y="5518831"/>
              <a:ext cx="1269585" cy="387927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/>
                <a:t>“Cero”</a:t>
              </a:r>
              <a:endParaRPr lang="en-US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84FCC24-AEA2-ADB9-9C28-2FE56411C4F3}"/>
                </a:ext>
              </a:extLst>
            </p:cNvPr>
            <p:cNvSpPr txBox="1"/>
            <p:nvPr/>
          </p:nvSpPr>
          <p:spPr>
            <a:xfrm>
              <a:off x="1841302" y="4885346"/>
              <a:ext cx="41389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>
                  <a:solidFill>
                    <a:schemeClr val="bg1">
                      <a:lumMod val="50000"/>
                    </a:schemeClr>
                  </a:solidFill>
                </a:rPr>
                <a:t>No</a:t>
              </a:r>
              <a:endParaRPr 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05806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19</a:t>
            </a:fld>
            <a:endParaRPr lang="es-P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552306" y="2760043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 dirty="0">
                <a:solidFill>
                  <a:schemeClr val="bg1">
                    <a:lumMod val="85000"/>
                  </a:schemeClr>
                </a:solidFill>
                <a:latin typeface="Helvetica" pitchFamily="2" charset="0"/>
              </a:rPr>
              <a:t>contenido</a:t>
            </a:r>
            <a:endParaRPr lang="en-US" sz="8800" b="1" dirty="0">
              <a:solidFill>
                <a:schemeClr val="bg1">
                  <a:lumMod val="85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D8EC2C4-D534-A87E-5305-9BD92B9838D9}"/>
              </a:ext>
            </a:extLst>
          </p:cNvPr>
          <p:cNvGrpSpPr/>
          <p:nvPr/>
        </p:nvGrpSpPr>
        <p:grpSpPr>
          <a:xfrm>
            <a:off x="1955128" y="892964"/>
            <a:ext cx="4629752" cy="1015663"/>
            <a:chOff x="924025" y="1526961"/>
            <a:chExt cx="4629752" cy="10156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FE41E11-2903-D4AD-BABB-046EDBE4AABD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FB12F7A-F286-0B30-D30E-E9A916CC839B}"/>
                </a:ext>
              </a:extLst>
            </p:cNvPr>
            <p:cNvSpPr txBox="1"/>
            <p:nvPr/>
          </p:nvSpPr>
          <p:spPr>
            <a:xfrm>
              <a:off x="1501541" y="1663444"/>
              <a:ext cx="3062398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Estructura Condicional </a:t>
              </a:r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if</a:t>
              </a:r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..</a:t>
              </a:r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else</a:t>
              </a:r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 anidada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3EEA1CE-79B2-915B-2C77-2F1212A1BF6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30C6426-CF18-244B-D9EC-4576E393467C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E3787605-338E-D768-956B-A8C52CD5822F}"/>
              </a:ext>
            </a:extLst>
          </p:cNvPr>
          <p:cNvSpPr/>
          <p:nvPr/>
        </p:nvSpPr>
        <p:spPr>
          <a:xfrm>
            <a:off x="1801640" y="683513"/>
            <a:ext cx="9678154" cy="5599610"/>
          </a:xfrm>
          <a:prstGeom prst="rect">
            <a:avLst/>
          </a:prstGeom>
          <a:solidFill>
            <a:schemeClr val="bg1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C62550A-9487-0FB4-AEF5-18BF59D1D1BB}"/>
              </a:ext>
            </a:extLst>
          </p:cNvPr>
          <p:cNvGrpSpPr/>
          <p:nvPr/>
        </p:nvGrpSpPr>
        <p:grpSpPr>
          <a:xfrm>
            <a:off x="1955128" y="1782509"/>
            <a:ext cx="4629752" cy="1015663"/>
            <a:chOff x="924025" y="1526961"/>
            <a:chExt cx="4629752" cy="10156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9EE3C4A-25E0-0661-5719-DFD8A408196E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F03E694-3539-B74F-A7F9-A90BF4FC7172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Práctica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BD6589-A9C6-D2FD-D50D-C5AAC8113E8A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E0265B7-9BAF-D770-6E56-5AE1A9C41973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33207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C9F011D-5F64-FF4A-E276-093B5E30AF01}"/>
              </a:ext>
            </a:extLst>
          </p:cNvPr>
          <p:cNvGrpSpPr/>
          <p:nvPr/>
        </p:nvGrpSpPr>
        <p:grpSpPr>
          <a:xfrm>
            <a:off x="838200" y="-36378"/>
            <a:ext cx="4629752" cy="1015663"/>
            <a:chOff x="924025" y="1526961"/>
            <a:chExt cx="4629752" cy="10156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E3AC5FE-6663-61F3-E06A-FF6F57A7BE1F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095873A-A832-8E20-2283-44935F904461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Práctica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CA9F1CE-8435-C630-E10C-E837501C53E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5148D76-38AB-A8C5-DFBE-5BD3E1F6F5BA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BE1005E2-C1AE-8447-C3C1-6BCDDFBE2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Ejercicio 1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6E9820-73C4-A1C2-8C7C-288185F4E6E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20</a:t>
            </a:fld>
            <a:endParaRPr lang="es-PE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BA37955-1EF4-BF30-5DFB-F6C64B6D53C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2"/>
            <a:ext cx="10515600" cy="4510087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s-ES" sz="2400" dirty="0"/>
              <a:t>El gobierno ha decretado un aumento en los </a:t>
            </a:r>
            <a:br>
              <a:rPr lang="es-ES" sz="2400" dirty="0"/>
            </a:br>
            <a:r>
              <a:rPr lang="es-ES" sz="2400" dirty="0"/>
              <a:t>salarios de los altos funcionarios de acuerdo </a:t>
            </a:r>
            <a:br>
              <a:rPr lang="es-ES" sz="2400" dirty="0"/>
            </a:br>
            <a:r>
              <a:rPr lang="es-ES" sz="2400" dirty="0"/>
              <a:t>a la siguiente escala:</a:t>
            </a:r>
          </a:p>
          <a:p>
            <a:pPr>
              <a:lnSpc>
                <a:spcPct val="110000"/>
              </a:lnSpc>
            </a:pPr>
            <a:endParaRPr lang="es-ES" sz="2400" dirty="0"/>
          </a:p>
          <a:p>
            <a:pPr>
              <a:lnSpc>
                <a:spcPct val="110000"/>
              </a:lnSpc>
            </a:pPr>
            <a:endParaRPr lang="es-ES" sz="2400" dirty="0"/>
          </a:p>
          <a:p>
            <a:pPr>
              <a:lnSpc>
                <a:spcPct val="110000"/>
              </a:lnSpc>
            </a:pPr>
            <a:endParaRPr lang="es-ES" sz="2400" dirty="0"/>
          </a:p>
          <a:p>
            <a:pPr>
              <a:lnSpc>
                <a:spcPct val="110000"/>
              </a:lnSpc>
            </a:pPr>
            <a:r>
              <a:rPr lang="es-ES" sz="2400" dirty="0"/>
              <a:t>Los salarios actuales son: Salud (S/.15000), </a:t>
            </a:r>
            <a:br>
              <a:rPr lang="es-ES" sz="2400" dirty="0"/>
            </a:br>
            <a:r>
              <a:rPr lang="es-ES" sz="2400" dirty="0"/>
              <a:t>Educación (S/.12000), Transporte (S/. 18000)</a:t>
            </a:r>
          </a:p>
          <a:p>
            <a:pPr>
              <a:lnSpc>
                <a:spcPct val="110000"/>
              </a:lnSpc>
            </a:pPr>
            <a:r>
              <a:rPr lang="es-ES" sz="2400" dirty="0"/>
              <a:t>Escribir un programa en Java que solicite el sexo y sector de un funcionario y calcular el monto que percibirá luego de aplicado el aumento.</a:t>
            </a:r>
            <a:endParaRPr lang="en-US" sz="24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6FCCA4C-29B6-61C5-6E57-533724124D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6548215"/>
              </p:ext>
            </p:extLst>
          </p:nvPr>
        </p:nvGraphicFramePr>
        <p:xfrm>
          <a:off x="1406663" y="3146872"/>
          <a:ext cx="5219700" cy="1200150"/>
        </p:xfrm>
        <a:graphic>
          <a:graphicData uri="http://schemas.openxmlformats.org/drawingml/2006/table">
            <a:tbl>
              <a:tblPr firstRow="1">
                <a:tableStyleId>{10A1B5D5-9B99-4C35-A422-299274C87663}</a:tableStyleId>
              </a:tblPr>
              <a:tblGrid>
                <a:gridCol w="1304925">
                  <a:extLst>
                    <a:ext uri="{9D8B030D-6E8A-4147-A177-3AD203B41FA5}">
                      <a16:colId xmlns:a16="http://schemas.microsoft.com/office/drawing/2014/main" val="2680725869"/>
                    </a:ext>
                  </a:extLst>
                </a:gridCol>
                <a:gridCol w="1304925">
                  <a:extLst>
                    <a:ext uri="{9D8B030D-6E8A-4147-A177-3AD203B41FA5}">
                      <a16:colId xmlns:a16="http://schemas.microsoft.com/office/drawing/2014/main" val="732514981"/>
                    </a:ext>
                  </a:extLst>
                </a:gridCol>
                <a:gridCol w="1304925">
                  <a:extLst>
                    <a:ext uri="{9D8B030D-6E8A-4147-A177-3AD203B41FA5}">
                      <a16:colId xmlns:a16="http://schemas.microsoft.com/office/drawing/2014/main" val="969442964"/>
                    </a:ext>
                  </a:extLst>
                </a:gridCol>
                <a:gridCol w="1304925">
                  <a:extLst>
                    <a:ext uri="{9D8B030D-6E8A-4147-A177-3AD203B41FA5}">
                      <a16:colId xmlns:a16="http://schemas.microsoft.com/office/drawing/2014/main" val="3441209348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algn="l" fontAlgn="base"/>
                      <a:r>
                        <a:rPr lang="es-419" sz="1800" b="0" dirty="0">
                          <a:solidFill>
                            <a:schemeClr val="bg1"/>
                          </a:solidFill>
                          <a:effectLst/>
                        </a:rPr>
                        <a:t>Sexo​</a:t>
                      </a:r>
                      <a:endParaRPr lang="es-419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s-419" sz="1800" b="0" dirty="0">
                          <a:solidFill>
                            <a:schemeClr val="bg1"/>
                          </a:solidFill>
                          <a:effectLst/>
                        </a:rPr>
                        <a:t>Salud​</a:t>
                      </a:r>
                      <a:endParaRPr lang="es-419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s-419" sz="1800" b="0" dirty="0">
                          <a:solidFill>
                            <a:schemeClr val="bg1"/>
                          </a:solidFill>
                          <a:effectLst/>
                        </a:rPr>
                        <a:t>Educación​</a:t>
                      </a:r>
                      <a:endParaRPr lang="es-419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s-419" sz="1800" b="0" dirty="0">
                          <a:solidFill>
                            <a:schemeClr val="bg1"/>
                          </a:solidFill>
                          <a:effectLst/>
                        </a:rPr>
                        <a:t>Transporte​</a:t>
                      </a:r>
                      <a:endParaRPr lang="es-419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5567568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 fontAlgn="base"/>
                      <a:r>
                        <a:rPr lang="es-419" sz="1800" b="0" dirty="0">
                          <a:solidFill>
                            <a:srgbClr val="000000"/>
                          </a:solidFill>
                          <a:effectLst/>
                        </a:rPr>
                        <a:t>Femenino​</a:t>
                      </a:r>
                      <a:endParaRPr lang="es-419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s-419" sz="1800" b="0" dirty="0">
                          <a:solidFill>
                            <a:srgbClr val="000000"/>
                          </a:solidFill>
                          <a:effectLst/>
                        </a:rPr>
                        <a:t>25%​</a:t>
                      </a:r>
                      <a:endParaRPr lang="es-419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s-419" sz="1800" b="0">
                          <a:solidFill>
                            <a:srgbClr val="000000"/>
                          </a:solidFill>
                          <a:effectLst/>
                        </a:rPr>
                        <a:t>12%​</a:t>
                      </a:r>
                      <a:endParaRPr lang="es-419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s-419" sz="1800" b="0">
                          <a:solidFill>
                            <a:srgbClr val="000000"/>
                          </a:solidFill>
                          <a:effectLst/>
                        </a:rPr>
                        <a:t>20%​</a:t>
                      </a:r>
                      <a:endParaRPr lang="es-419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6279863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 fontAlgn="base"/>
                      <a:r>
                        <a:rPr lang="es-419" sz="1800" b="0">
                          <a:solidFill>
                            <a:srgbClr val="000000"/>
                          </a:solidFill>
                          <a:effectLst/>
                        </a:rPr>
                        <a:t>Masculino​</a:t>
                      </a:r>
                      <a:endParaRPr lang="es-419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s-419" sz="1800" b="0">
                          <a:solidFill>
                            <a:srgbClr val="000000"/>
                          </a:solidFill>
                          <a:effectLst/>
                        </a:rPr>
                        <a:t>20%​</a:t>
                      </a:r>
                      <a:endParaRPr lang="es-419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s-419" sz="1800" b="0" dirty="0">
                          <a:solidFill>
                            <a:srgbClr val="000000"/>
                          </a:solidFill>
                          <a:effectLst/>
                        </a:rPr>
                        <a:t>11%​</a:t>
                      </a:r>
                      <a:endParaRPr lang="es-419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s-419" sz="1800" b="0" dirty="0">
                          <a:solidFill>
                            <a:srgbClr val="000000"/>
                          </a:solidFill>
                          <a:effectLst/>
                        </a:rPr>
                        <a:t>15%​</a:t>
                      </a:r>
                      <a:endParaRPr lang="es-419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0639013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A01B1FE8-A910-40BD-4271-8AD9E810332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857" b="7135"/>
          <a:stretch/>
        </p:blipFill>
        <p:spPr>
          <a:xfrm>
            <a:off x="7351078" y="1636006"/>
            <a:ext cx="4840922" cy="3146896"/>
          </a:xfrm>
          <a:prstGeom prst="rect">
            <a:avLst/>
          </a:prstGeom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694B5BD-6584-8115-E2CE-F0F9F761B3CE}"/>
              </a:ext>
            </a:extLst>
          </p:cNvPr>
          <p:cNvSpPr txBox="1"/>
          <p:nvPr/>
        </p:nvSpPr>
        <p:spPr>
          <a:xfrm>
            <a:off x="104322" y="6527063"/>
            <a:ext cx="609750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https://www.huntsearch.com/assets/board-of-directors-lg.jpg</a:t>
            </a:r>
          </a:p>
        </p:txBody>
      </p:sp>
    </p:spTree>
    <p:extLst>
      <p:ext uri="{BB962C8B-B14F-4D97-AF65-F5344CB8AC3E}">
        <p14:creationId xmlns:p14="http://schemas.microsoft.com/office/powerpoint/2010/main" val="2585237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FB42F531-BE19-1EA6-E490-F387C5DA1E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351" y="3429000"/>
            <a:ext cx="4636649" cy="3118919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AC9F011D-5F64-FF4A-E276-093B5E30AF01}"/>
              </a:ext>
            </a:extLst>
          </p:cNvPr>
          <p:cNvGrpSpPr/>
          <p:nvPr/>
        </p:nvGrpSpPr>
        <p:grpSpPr>
          <a:xfrm>
            <a:off x="838200" y="-36378"/>
            <a:ext cx="4629752" cy="1015663"/>
            <a:chOff x="924025" y="1526961"/>
            <a:chExt cx="4629752" cy="10156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E3AC5FE-6663-61F3-E06A-FF6F57A7BE1F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095873A-A832-8E20-2283-44935F904461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Práctica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CA9F1CE-8435-C630-E10C-E837501C53E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5148D76-38AB-A8C5-DFBE-5BD3E1F6F5BA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BE1005E2-C1AE-8447-C3C1-6BCDDFBE2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Ejercicio 2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6E9820-73C4-A1C2-8C7C-288185F4E6E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21</a:t>
            </a:fld>
            <a:endParaRPr lang="es-PE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BA37955-1EF4-BF30-5DFB-F6C64B6D53C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s-ES" dirty="0"/>
              <a:t>Escribir un programa en Java que lea las horas, minutos y segundos individualmente, y calcule qué hora sería en el siguiente segundo.</a:t>
            </a:r>
          </a:p>
          <a:p>
            <a:r>
              <a:rPr lang="es-ES" dirty="0"/>
              <a:t>Validar los valores ingresados de </a:t>
            </a:r>
            <a:br>
              <a:rPr lang="es-ES" dirty="0"/>
            </a:br>
            <a:r>
              <a:rPr lang="es-ES" dirty="0"/>
              <a:t>las horas (0-23), minutos (0-59) </a:t>
            </a:r>
            <a:br>
              <a:rPr lang="es-ES" dirty="0"/>
            </a:br>
            <a:r>
              <a:rPr lang="es-ES" dirty="0"/>
              <a:t>y segundos (0-59).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7C0D842-94AF-096C-4244-C4301CE1E974}"/>
              </a:ext>
            </a:extLst>
          </p:cNvPr>
          <p:cNvSpPr txBox="1"/>
          <p:nvPr/>
        </p:nvSpPr>
        <p:spPr>
          <a:xfrm>
            <a:off x="104322" y="6527063"/>
            <a:ext cx="609750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https://m.media-amazon.com/images/I/61KspX+ht8S._AC_SL1500_.jpg</a:t>
            </a:r>
          </a:p>
        </p:txBody>
      </p:sp>
    </p:spTree>
    <p:extLst>
      <p:ext uri="{BB962C8B-B14F-4D97-AF65-F5344CB8AC3E}">
        <p14:creationId xmlns:p14="http://schemas.microsoft.com/office/powerpoint/2010/main" val="626727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963A0-764F-792D-3F43-7474BD7A8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24263"/>
            <a:ext cx="10515600" cy="785528"/>
          </a:xfrm>
        </p:spPr>
        <p:txBody>
          <a:bodyPr/>
          <a:lstStyle/>
          <a:p>
            <a:r>
              <a:rPr lang="es-ES" dirty="0"/>
              <a:t>Tarea grupal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18E3C7-3BFF-8F75-8E58-2C4F28BEF7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22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B71356-1799-139A-6FB0-2987604527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1" y="1607737"/>
            <a:ext cx="7144022" cy="4662434"/>
          </a:xfrm>
        </p:spPr>
        <p:txBody>
          <a:bodyPr>
            <a:normAutofit fontScale="55000" lnSpcReduction="20000"/>
          </a:bodyPr>
          <a:lstStyle/>
          <a:p>
            <a:pPr marL="565150" indent="-514350">
              <a:lnSpc>
                <a:spcPct val="120000"/>
              </a:lnSpc>
              <a:buSzPct val="99000"/>
              <a:buFont typeface="+mj-lt"/>
              <a:buAutoNum type="arabicPeriod"/>
            </a:pPr>
            <a:r>
              <a:rPr lang="es-ES" dirty="0"/>
              <a:t>Escribir un programa en Java que haga uso de estructuras condicionales dobles para realizar ciertas operaciones/procesos con datos, en cada caso.</a:t>
            </a:r>
          </a:p>
          <a:p>
            <a:pPr marL="565150" indent="-514350">
              <a:lnSpc>
                <a:spcPct val="120000"/>
              </a:lnSpc>
              <a:buSzPct val="99000"/>
              <a:buFont typeface="+mj-lt"/>
              <a:buAutoNum type="arabicPeriod"/>
            </a:pPr>
            <a:r>
              <a:rPr lang="es-ES" dirty="0"/>
              <a:t>Escribir un programa en Java que haga uso de estructuras condicionales dobles para realizar lecturas de datos distintos, en cada caso.</a:t>
            </a:r>
          </a:p>
          <a:p>
            <a:pPr marL="565150" indent="-514350">
              <a:lnSpc>
                <a:spcPct val="120000"/>
              </a:lnSpc>
              <a:buSzPct val="99000"/>
              <a:buFont typeface="+mj-lt"/>
              <a:buAutoNum type="arabicPeriod"/>
            </a:pPr>
            <a:r>
              <a:rPr lang="es-ES" dirty="0"/>
              <a:t>Escribir un programa en Java que haga uso de estructuras condicionales dobles para mostrar ciertos resultados en pantalla, en cada caso.</a:t>
            </a:r>
          </a:p>
          <a:p>
            <a:pPr marL="565150" indent="-514350">
              <a:lnSpc>
                <a:spcPct val="120000"/>
              </a:lnSpc>
              <a:buSzPct val="99000"/>
              <a:buFont typeface="+mj-lt"/>
              <a:buAutoNum type="arabicPeriod"/>
            </a:pPr>
            <a:r>
              <a:rPr lang="es-E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Implementar 4 programas en Java para:</a:t>
            </a:r>
          </a:p>
          <a:p>
            <a:pPr marL="1022350" lvl="1" indent="-514350">
              <a:lnSpc>
                <a:spcPct val="120000"/>
              </a:lnSpc>
            </a:pPr>
            <a:r>
              <a:rPr lang="es-E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Resolver un problema matemático que utilice una condicional simple anidada en una condición simple.</a:t>
            </a:r>
          </a:p>
          <a:p>
            <a:pPr marL="1022350" lvl="1" indent="-514350">
              <a:lnSpc>
                <a:spcPct val="120000"/>
              </a:lnSpc>
            </a:pPr>
            <a:r>
              <a:rPr lang="es-E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Resolver un problema matemático que utilice una condicional simple anidada en una condición doble.</a:t>
            </a:r>
          </a:p>
          <a:p>
            <a:pPr marL="1022350" lvl="1" indent="-514350">
              <a:lnSpc>
                <a:spcPct val="120000"/>
              </a:lnSpc>
            </a:pPr>
            <a:r>
              <a:rPr lang="es-E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Resolver un problema matemático que utilice una condicional doble anidada en una condición simple.</a:t>
            </a:r>
          </a:p>
          <a:p>
            <a:pPr marL="1022350" lvl="1" indent="-514350">
              <a:lnSpc>
                <a:spcPct val="120000"/>
              </a:lnSpc>
            </a:pPr>
            <a:r>
              <a:rPr lang="es-E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Resolver un problema matemático que utilice una condicional doble anidada en una condición doble.</a:t>
            </a:r>
          </a:p>
          <a:p>
            <a:pPr marL="565150" indent="-514350" algn="l">
              <a:buSzPct val="99000"/>
              <a:buFont typeface="+mj-lt"/>
              <a:buAutoNum type="arabicPeriod"/>
            </a:pPr>
            <a:r>
              <a:rPr lang="es-E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Incluir el diagrama de árbol de decisiones de todos los programas.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62361B-123A-158C-5022-4E64314B5E2C}"/>
              </a:ext>
            </a:extLst>
          </p:cNvPr>
          <p:cNvSpPr txBox="1"/>
          <p:nvPr/>
        </p:nvSpPr>
        <p:spPr>
          <a:xfrm>
            <a:off x="8610600" y="1911165"/>
            <a:ext cx="3136611" cy="33962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b="1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Indicaciones</a:t>
            </a:r>
            <a:br>
              <a:rPr lang="en-US" sz="1200" b="1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</a:br>
            <a:endParaRPr lang="en-US" sz="1200" b="1" dirty="0">
              <a:solidFill>
                <a:schemeClr val="bg1">
                  <a:lumMod val="50000"/>
                </a:schemeClr>
              </a:solidFill>
              <a:latin typeface="Helvetica" pitchFamily="2" charset="0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Grupos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: 3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integrantes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(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máximo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)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Entregables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: a). Video de 3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minutos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(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máximo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)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explicando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las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soluciones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propuestas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; b).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Archivo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ZIP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conteniendo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el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Proyecto java con las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soluciones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.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Todos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los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integrantes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deben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aparecer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en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el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video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explicando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las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soluciones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.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Luego de la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explicación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de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cada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solución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, se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deberá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introducir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un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cambio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en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el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código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que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genere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un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resultado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incorrecto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(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explicar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los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resultados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).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E59FA58-A78A-A9E9-3F96-6C468073FB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7285" y="575321"/>
            <a:ext cx="1906405" cy="126098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CBBA385-B0C6-89B3-B418-4A75081C9951}"/>
              </a:ext>
            </a:extLst>
          </p:cNvPr>
          <p:cNvSpPr/>
          <p:nvPr/>
        </p:nvSpPr>
        <p:spPr>
          <a:xfrm>
            <a:off x="8191894" y="829559"/>
            <a:ext cx="45719" cy="5598578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shade val="30000"/>
                  <a:satMod val="115000"/>
                </a:schemeClr>
              </a:gs>
              <a:gs pos="50000">
                <a:schemeClr val="bg1">
                  <a:lumMod val="75000"/>
                  <a:shade val="67500"/>
                  <a:satMod val="115000"/>
                </a:schemeClr>
              </a:gs>
              <a:gs pos="100000">
                <a:schemeClr val="bg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DE552FA-A2B9-C429-034B-F673A9AF1F11}"/>
              </a:ext>
            </a:extLst>
          </p:cNvPr>
          <p:cNvGrpSpPr/>
          <p:nvPr/>
        </p:nvGrpSpPr>
        <p:grpSpPr>
          <a:xfrm>
            <a:off x="8763549" y="5382272"/>
            <a:ext cx="2590250" cy="815188"/>
            <a:chOff x="8672114" y="5435206"/>
            <a:chExt cx="2590250" cy="815188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4980985-416A-00F2-EE63-03347F182C07}"/>
                </a:ext>
              </a:extLst>
            </p:cNvPr>
            <p:cNvSpPr txBox="1"/>
            <p:nvPr/>
          </p:nvSpPr>
          <p:spPr>
            <a:xfrm>
              <a:off x="8672114" y="5435206"/>
              <a:ext cx="2590250" cy="815188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lIns="54000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200" b="1" dirty="0" err="1">
                  <a:solidFill>
                    <a:srgbClr val="C00000"/>
                  </a:solidFill>
                  <a:latin typeface="+mj-lt"/>
                </a:rPr>
                <a:t>Recuerda</a:t>
              </a:r>
              <a:r>
                <a:rPr lang="en-US" sz="1200" dirty="0">
                  <a:solidFill>
                    <a:srgbClr val="C00000"/>
                  </a:solidFill>
                  <a:latin typeface="+mj-lt"/>
                </a:rPr>
                <a:t> </a:t>
              </a:r>
              <a:r>
                <a:rPr lang="en-US" sz="1200" b="1" dirty="0" err="1">
                  <a:solidFill>
                    <a:srgbClr val="C00000"/>
                  </a:solidFill>
                  <a:latin typeface="+mj-lt"/>
                </a:rPr>
                <a:t>revisar</a:t>
              </a:r>
              <a:r>
                <a:rPr lang="en-US" sz="1200" dirty="0">
                  <a:solidFill>
                    <a:srgbClr val="C00000"/>
                  </a:solidFill>
                  <a:latin typeface="+mj-lt"/>
                </a:rPr>
                <a:t> </a:t>
              </a:r>
              <a:r>
                <a:rPr lang="en-US" sz="1200" dirty="0" err="1">
                  <a:solidFill>
                    <a:srgbClr val="C00000"/>
                  </a:solidFill>
                  <a:latin typeface="+mj-lt"/>
                </a:rPr>
                <a:t>en</a:t>
              </a:r>
              <a:r>
                <a:rPr lang="en-US" sz="1200" dirty="0">
                  <a:solidFill>
                    <a:srgbClr val="C00000"/>
                  </a:solidFill>
                  <a:latin typeface="+mj-lt"/>
                </a:rPr>
                <a:t> la </a:t>
              </a:r>
              <a:r>
                <a:rPr lang="en-US" sz="1200" dirty="0" err="1">
                  <a:solidFill>
                    <a:srgbClr val="C00000"/>
                  </a:solidFill>
                  <a:latin typeface="+mj-lt"/>
                </a:rPr>
                <a:t>plataforma</a:t>
              </a:r>
              <a:r>
                <a:rPr lang="en-US" sz="1200" dirty="0">
                  <a:solidFill>
                    <a:srgbClr val="C00000"/>
                  </a:solidFill>
                  <a:latin typeface="+mj-lt"/>
                </a:rPr>
                <a:t> la </a:t>
              </a:r>
              <a:r>
                <a:rPr lang="en-US" sz="1200" b="1" dirty="0" err="1">
                  <a:solidFill>
                    <a:srgbClr val="C00000"/>
                  </a:solidFill>
                  <a:latin typeface="+mj-lt"/>
                </a:rPr>
                <a:t>rúbrica</a:t>
              </a:r>
              <a:r>
                <a:rPr lang="en-US" sz="1200" dirty="0">
                  <a:solidFill>
                    <a:srgbClr val="C00000"/>
                  </a:solidFill>
                  <a:latin typeface="+mj-lt"/>
                </a:rPr>
                <a:t> de la </a:t>
              </a:r>
              <a:r>
                <a:rPr lang="en-US" sz="1200" b="1" dirty="0" err="1">
                  <a:solidFill>
                    <a:srgbClr val="C00000"/>
                  </a:solidFill>
                  <a:latin typeface="+mj-lt"/>
                </a:rPr>
                <a:t>tarea</a:t>
              </a:r>
              <a:r>
                <a:rPr lang="en-US" sz="1200" b="1" dirty="0">
                  <a:solidFill>
                    <a:srgbClr val="C00000"/>
                  </a:solidFill>
                  <a:latin typeface="+mj-lt"/>
                </a:rPr>
                <a:t> </a:t>
              </a:r>
              <a:r>
                <a:rPr lang="en-US" sz="1200" b="1" dirty="0" err="1">
                  <a:solidFill>
                    <a:srgbClr val="C00000"/>
                  </a:solidFill>
                  <a:latin typeface="+mj-lt"/>
                </a:rPr>
                <a:t>grupal</a:t>
              </a:r>
              <a:r>
                <a:rPr lang="en-US" sz="1200" dirty="0">
                  <a:solidFill>
                    <a:srgbClr val="C00000"/>
                  </a:solidFill>
                  <a:latin typeface="+mj-lt"/>
                </a:rPr>
                <a:t>.</a:t>
              </a:r>
            </a:p>
          </p:txBody>
        </p:sp>
        <p:pic>
          <p:nvPicPr>
            <p:cNvPr id="11" name="Graphic 10" descr="Clipboard Checked with solid fill">
              <a:extLst>
                <a:ext uri="{FF2B5EF4-FFF2-40B4-BE49-F238E27FC236}">
                  <a16:creationId xmlns:a16="http://schemas.microsoft.com/office/drawing/2014/main" id="{AAF868F3-6574-3F27-F42D-9C3CE9E862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761702" y="5508797"/>
              <a:ext cx="418135" cy="4181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07001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6BB5845-9A47-FEDC-A85E-2D014CA2F3DA}"/>
              </a:ext>
            </a:extLst>
          </p:cNvPr>
          <p:cNvSpPr/>
          <p:nvPr/>
        </p:nvSpPr>
        <p:spPr>
          <a:xfrm>
            <a:off x="0" y="6356350"/>
            <a:ext cx="7320380" cy="501650"/>
          </a:xfrm>
          <a:prstGeom prst="rect">
            <a:avLst/>
          </a:prstGeom>
          <a:solidFill>
            <a:srgbClr val="E5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B03D496-97CF-4B26-B9D0-D39676049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Resumen de la sesión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A7D7EB-E94C-4379-ADE6-A12EB7C4CBC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1" y="1846263"/>
            <a:ext cx="6658068" cy="4373562"/>
          </a:xfrm>
        </p:spPr>
        <p:txBody>
          <a:bodyPr>
            <a:normAutofit/>
          </a:bodyPr>
          <a:lstStyle/>
          <a:p>
            <a:r>
              <a:rPr lang="es-ES" dirty="0"/>
              <a:t>¿Qué es anidamiento?</a:t>
            </a:r>
          </a:p>
          <a:p>
            <a:r>
              <a:rPr lang="es-ES" dirty="0"/>
              <a:t>¿En qué consiste el anidamiento de una estructura condicional simple?</a:t>
            </a:r>
          </a:p>
          <a:p>
            <a:r>
              <a:rPr lang="es-ES" dirty="0"/>
              <a:t>¿En qué consiste el anidamiento de una estructura condicional doble?</a:t>
            </a:r>
          </a:p>
          <a:p>
            <a:r>
              <a:rPr lang="es-ES" dirty="0"/>
              <a:t>¿Para qué nos sirve anidar estructuras condicionales?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714D7F-9F45-47C5-88DE-53E493F191F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906163" y="6356350"/>
            <a:ext cx="27432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23</a:t>
            </a:fld>
            <a:endParaRPr lang="es-P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EC220F-3C2B-B243-4B55-66FDD2674876}"/>
              </a:ext>
            </a:extLst>
          </p:cNvPr>
          <p:cNvSpPr txBox="1"/>
          <p:nvPr/>
        </p:nvSpPr>
        <p:spPr>
          <a:xfrm>
            <a:off x="101605" y="6421002"/>
            <a:ext cx="97351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https://dpemfoco.com.br/wp-content/uploads/2019/08/Departamento-de-Pessoal-em-Foco-Checklist-Check-list-Checklists.png</a:t>
            </a:r>
          </a:p>
        </p:txBody>
      </p:sp>
      <p:pic>
        <p:nvPicPr>
          <p:cNvPr id="4098" name="Picture 2" descr="Departamento de Pessoal em Foco - Checklist, Check list, Checklists |  Departamento de Pessoal em Foco">
            <a:extLst>
              <a:ext uri="{FF2B5EF4-FFF2-40B4-BE49-F238E27FC236}">
                <a16:creationId xmlns:a16="http://schemas.microsoft.com/office/drawing/2014/main" id="{F8CB8AA5-99DD-1396-1A63-3757190305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0380" y="2484438"/>
            <a:ext cx="4871619" cy="4373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5705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2AAE1-A89A-796E-F861-8B102D4BD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Bibliografía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7596FB-30E1-8EAC-F179-F56EE7A8D81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24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93BD92-8F52-2949-7992-63F50DB2A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8370455" cy="4373562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es-ES" dirty="0"/>
              <a:t>Tanenbaum &amp; Van </a:t>
            </a:r>
            <a:r>
              <a:rPr lang="es-ES" dirty="0" err="1"/>
              <a:t>Steen</a:t>
            </a:r>
            <a:r>
              <a:rPr lang="es-ES" dirty="0"/>
              <a:t> (2008). 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Algoritmos y Estructuras de Datos - Principios y Paradigmas, 2da Edición</a:t>
            </a:r>
            <a:r>
              <a:rPr lang="es-ES" dirty="0"/>
              <a:t>. Pearson </a:t>
            </a:r>
            <a:r>
              <a:rPr lang="es-ES" dirty="0" err="1"/>
              <a:t>Education</a:t>
            </a:r>
            <a:r>
              <a:rPr lang="es-ES" dirty="0"/>
              <a:t>​.</a:t>
            </a:r>
          </a:p>
          <a:p>
            <a:pPr>
              <a:lnSpc>
                <a:spcPct val="120000"/>
              </a:lnSpc>
            </a:pPr>
            <a:r>
              <a:rPr lang="en-US" dirty="0"/>
              <a:t>Khalid A. Mughal &amp; Rolf W. Rasmussen (2017). A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Programmer’s guide to Java SE 8 Oracle Certified Associate</a:t>
            </a:r>
            <a:r>
              <a:rPr lang="es-ES" dirty="0"/>
              <a:t>.</a:t>
            </a:r>
          </a:p>
          <a:p>
            <a:pPr>
              <a:lnSpc>
                <a:spcPct val="120000"/>
              </a:lnSpc>
            </a:pPr>
            <a:r>
              <a:rPr lang="es-ES" dirty="0" err="1"/>
              <a:t>Schildt</a:t>
            </a:r>
            <a:r>
              <a:rPr lang="es-ES" dirty="0"/>
              <a:t>, Herbert (2019). 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A Java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Beginner’s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 Guide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Eighth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Edition</a:t>
            </a:r>
            <a:r>
              <a:rPr lang="es-ES" dirty="0"/>
              <a:t>. Oracle </a:t>
            </a:r>
            <a:r>
              <a:rPr lang="es-ES" dirty="0" err="1"/>
              <a:t>Press</a:t>
            </a:r>
            <a:r>
              <a:rPr lang="es-ES" dirty="0"/>
              <a:t>.</a:t>
            </a:r>
          </a:p>
          <a:p>
            <a:pPr>
              <a:lnSpc>
                <a:spcPct val="120000"/>
              </a:lnSpc>
            </a:pPr>
            <a:r>
              <a:rPr lang="es-ES" dirty="0" err="1"/>
              <a:t>Schildt</a:t>
            </a:r>
            <a:r>
              <a:rPr lang="es-ES" dirty="0"/>
              <a:t>, Herbert (2019). 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Java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The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 Complete Reference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Eleventh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Edition</a:t>
            </a:r>
            <a:r>
              <a:rPr lang="es-ES" dirty="0"/>
              <a:t>. Oracle </a:t>
            </a:r>
            <a:r>
              <a:rPr lang="es-ES" dirty="0" err="1"/>
              <a:t>Press</a:t>
            </a:r>
            <a:r>
              <a:rPr lang="es-ES" dirty="0"/>
              <a:t>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021AEC-CD51-7E5F-26CB-5CDC143BC84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9118"/>
          <a:stretch/>
        </p:blipFill>
        <p:spPr>
          <a:xfrm>
            <a:off x="9208655" y="1057997"/>
            <a:ext cx="2983345" cy="5168601"/>
          </a:xfrm>
          <a:prstGeom prst="rect">
            <a:avLst/>
          </a:prstGeom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4B7CE11-3AE4-2A5E-0825-C0E9DFAB006E}"/>
              </a:ext>
            </a:extLst>
          </p:cNvPr>
          <p:cNvSpPr txBox="1"/>
          <p:nvPr/>
        </p:nvSpPr>
        <p:spPr>
          <a:xfrm>
            <a:off x="101605" y="6421002"/>
            <a:ext cx="97351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https://pngimg.com/d/book_PNG51088.png</a:t>
            </a:r>
          </a:p>
        </p:txBody>
      </p:sp>
    </p:spTree>
    <p:extLst>
      <p:ext uri="{BB962C8B-B14F-4D97-AF65-F5344CB8AC3E}">
        <p14:creationId xmlns:p14="http://schemas.microsoft.com/office/powerpoint/2010/main" val="3598108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UTP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7213</TotalTime>
  <Words>1788</Words>
  <Application>Microsoft Office PowerPoint</Application>
  <PresentationFormat>Panorámica</PresentationFormat>
  <Paragraphs>231</Paragraphs>
  <Slides>25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30" baseType="lpstr">
      <vt:lpstr>JetBrains Mono</vt:lpstr>
      <vt:lpstr>Segoe UI</vt:lpstr>
      <vt:lpstr>Helvetica</vt:lpstr>
      <vt:lpstr>Arial</vt:lpstr>
      <vt:lpstr>TemaUTP</vt:lpstr>
      <vt:lpstr>Taller de Programación</vt:lpstr>
      <vt:lpstr>Dudas de la clase anterior</vt:lpstr>
      <vt:lpstr>Dudas de la clase anterior</vt:lpstr>
      <vt:lpstr>Dudas de la clase anterior</vt:lpstr>
      <vt:lpstr>Dudas de la clase anterior</vt:lpstr>
      <vt:lpstr>Estructura Condicional if..else Anidada</vt:lpstr>
      <vt:lpstr>Conocimientos previos</vt:lpstr>
      <vt:lpstr>Logro de aprendizaje</vt:lpstr>
      <vt:lpstr>Utilidad</vt:lpstr>
      <vt:lpstr>Presentación de PowerPoint</vt:lpstr>
      <vt:lpstr>Presentación de PowerPoint</vt:lpstr>
      <vt:lpstr>Anidamiento</vt:lpstr>
      <vt:lpstr>Anidamiento</vt:lpstr>
      <vt:lpstr>Condicional Simple Anidada</vt:lpstr>
      <vt:lpstr>Condicional Simple Anidada. Ejemplo 1.</vt:lpstr>
      <vt:lpstr>Condicional simple anidada. Ejemplo 2.</vt:lpstr>
      <vt:lpstr>Condicional Doble Anidada</vt:lpstr>
      <vt:lpstr>Condicional Doble Anidada. Ejemplo.</vt:lpstr>
      <vt:lpstr>Presentación de PowerPoint</vt:lpstr>
      <vt:lpstr>Ejercicio 1</vt:lpstr>
      <vt:lpstr>Ejercicio 2</vt:lpstr>
      <vt:lpstr>Tarea grupal</vt:lpstr>
      <vt:lpstr>Resumen de la sesión</vt:lpstr>
      <vt:lpstr>Bibliografía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UTP - Taller Programación - Semana 03 - Sesión 06</dc:title>
  <dc:creator>jorgerodcas@hotmail.com</dc:creator>
  <cp:lastModifiedBy>Juan Carlos García</cp:lastModifiedBy>
  <cp:revision>282</cp:revision>
  <dcterms:modified xsi:type="dcterms:W3CDTF">2023-10-20T21:01:38Z</dcterms:modified>
</cp:coreProperties>
</file>