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5"/>
  </p:notesMasterIdLst>
  <p:sldIdLst>
    <p:sldId id="256" r:id="rId2"/>
    <p:sldId id="409" r:id="rId3"/>
    <p:sldId id="431" r:id="rId4"/>
    <p:sldId id="432" r:id="rId5"/>
    <p:sldId id="433" r:id="rId6"/>
    <p:sldId id="258" r:id="rId7"/>
    <p:sldId id="257" r:id="rId8"/>
    <p:sldId id="263" r:id="rId9"/>
    <p:sldId id="264" r:id="rId10"/>
    <p:sldId id="330" r:id="rId11"/>
    <p:sldId id="410" r:id="rId12"/>
    <p:sldId id="357" r:id="rId13"/>
    <p:sldId id="411" r:id="rId14"/>
    <p:sldId id="412" r:id="rId15"/>
    <p:sldId id="413" r:id="rId16"/>
    <p:sldId id="414" r:id="rId17"/>
    <p:sldId id="415" r:id="rId18"/>
    <p:sldId id="418" r:id="rId19"/>
    <p:sldId id="419" r:id="rId20"/>
    <p:sldId id="434" r:id="rId21"/>
    <p:sldId id="420" r:id="rId22"/>
    <p:sldId id="421" r:id="rId23"/>
    <p:sldId id="422" r:id="rId24"/>
    <p:sldId id="416" r:id="rId25"/>
    <p:sldId id="423" r:id="rId26"/>
    <p:sldId id="428" r:id="rId27"/>
    <p:sldId id="429" r:id="rId28"/>
    <p:sldId id="430" r:id="rId29"/>
    <p:sldId id="435" r:id="rId30"/>
    <p:sldId id="436" r:id="rId31"/>
    <p:sldId id="261" r:id="rId32"/>
    <p:sldId id="329" r:id="rId33"/>
    <p:sldId id="259" r:id="rId34"/>
  </p:sldIdLst>
  <p:sldSz cx="12192000" cy="6858000"/>
  <p:notesSz cx="6858000" cy="9144000"/>
  <p:embeddedFontLst>
    <p:embeddedFont>
      <p:font typeface="Helvetica" panose="020B0604020202020204" pitchFamily="34" charset="0"/>
      <p:regular r:id="rId36"/>
      <p:bold r:id="rId37"/>
      <p:italic r:id="rId38"/>
      <p:boldItalic r:id="rId39"/>
    </p:embeddedFont>
    <p:embeddedFont>
      <p:font typeface="JetBrains Mono" panose="02000009000000000000" pitchFamily="49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h2+CB7AwAKHevBYi6hg66TyKQ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1B5E8B"/>
    <a:srgbClr val="8E927B"/>
    <a:srgbClr val="6C91D9"/>
    <a:srgbClr val="FF99FF"/>
    <a:srgbClr val="8FE2FF"/>
    <a:srgbClr val="C5E0F3"/>
    <a:srgbClr val="AFD5EF"/>
    <a:srgbClr val="8FC5E9"/>
    <a:srgbClr val="68B1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0392" autoAdjust="0"/>
  </p:normalViewPr>
  <p:slideViewPr>
    <p:cSldViewPr snapToGrid="0">
      <p:cViewPr varScale="1">
        <p:scale>
          <a:sx n="124" d="100"/>
          <a:sy n="124" d="100"/>
        </p:scale>
        <p:origin x="403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668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6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6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461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pPr>
              <a:buAutoNum type="alphaUcPeriod" startAt="2"/>
            </a:pPr>
            <a:r>
              <a:rPr lang="es-ES" dirty="0"/>
              <a:t>1</a:t>
            </a:r>
          </a:p>
          <a:p>
            <a:pPr marL="228600" indent="0">
              <a:buNone/>
            </a:pPr>
            <a:r>
              <a:rPr lang="es-ES" dirty="0"/>
              <a:t>El orden en que se encuentran las opciones no es relevante en un switch-case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6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r>
              <a:rPr lang="es-ES" dirty="0"/>
              <a:t>C. Encendido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7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r>
              <a:rPr lang="es-ES" dirty="0"/>
              <a:t>D. Ninguna de las anteriores</a:t>
            </a:r>
          </a:p>
          <a:p>
            <a:r>
              <a:rPr lang="es-ES" dirty="0"/>
              <a:t>Imprimirá “</a:t>
            </a:r>
            <a:r>
              <a:rPr lang="es-ES" dirty="0" err="1"/>
              <a:t>abc</a:t>
            </a:r>
            <a:r>
              <a:rPr lang="es-ES" dirty="0"/>
              <a:t>”</a:t>
            </a:r>
          </a:p>
          <a:p>
            <a:r>
              <a:rPr lang="es-ES" dirty="0"/>
              <a:t>97 equivale a ‘a’ (hay una conversión automática) y como los casos no tienen break, se imprime desde el caso ‘a’ hasta el final.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873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pPr>
              <a:buAutoNum type="alphaUcPeriod"/>
            </a:pPr>
            <a:r>
              <a:rPr lang="es-ES" dirty="0"/>
              <a:t>Error de compilación</a:t>
            </a:r>
          </a:p>
          <a:p>
            <a:pPr marL="228600" indent="0">
              <a:buNone/>
            </a:pPr>
            <a:endParaRPr lang="es-ES" dirty="0"/>
          </a:p>
          <a:p>
            <a:pPr marL="228600" indent="0">
              <a:buNone/>
            </a:pPr>
            <a:r>
              <a:rPr lang="es-ES" dirty="0"/>
              <a:t>La variable grupo que se pretende imprimir no está declarada.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1854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pPr>
              <a:buAutoNum type="alphaUcPeriod"/>
            </a:pPr>
            <a:r>
              <a:rPr lang="es-ES" dirty="0"/>
              <a:t>Error de compilación</a:t>
            </a:r>
          </a:p>
          <a:p>
            <a:pPr marL="228600" indent="0">
              <a:buNone/>
            </a:pPr>
            <a:endParaRPr lang="es-ES" dirty="0"/>
          </a:p>
          <a:p>
            <a:pPr marL="228600" indent="0">
              <a:buNone/>
            </a:pPr>
            <a:r>
              <a:rPr lang="es-ES" dirty="0"/>
              <a:t>La variable grupo que se pretende imprimir no está declarada.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3552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pPr>
              <a:buAutoNum type="alphaUcPeriod"/>
            </a:pPr>
            <a:r>
              <a:rPr lang="es-ES" dirty="0"/>
              <a:t>Error de compilación</a:t>
            </a:r>
          </a:p>
          <a:p>
            <a:pPr marL="228600" indent="0">
              <a:buNone/>
            </a:pPr>
            <a:endParaRPr lang="es-ES" dirty="0"/>
          </a:p>
          <a:p>
            <a:pPr marL="228600" indent="0">
              <a:buNone/>
            </a:pPr>
            <a:r>
              <a:rPr lang="es-ES" dirty="0"/>
              <a:t>La variable grupo que se pretende imprimir no está declarada.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4485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A48DF20-2830-38CD-A9C1-EBDAB4DA4E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44853" y="-106417"/>
            <a:ext cx="11927184" cy="6960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1C5DB-1A0A-CA22-2E4F-C2CF7EED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98" y="3844657"/>
            <a:ext cx="5163203" cy="3013343"/>
          </a:xfrm>
          <a:prstGeom prst="rect">
            <a:avLst/>
          </a:prstGeo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E22663E-06A9-7729-2FC5-6FBF14789DDE}"/>
              </a:ext>
            </a:extLst>
          </p:cNvPr>
          <p:cNvSpPr/>
          <p:nvPr/>
        </p:nvSpPr>
        <p:spPr>
          <a:xfrm>
            <a:off x="838199" y="2869948"/>
            <a:ext cx="2752253" cy="1662592"/>
          </a:xfrm>
          <a:prstGeom prst="wedgeEllipseCallout">
            <a:avLst>
              <a:gd name="adj1" fmla="val 43641"/>
              <a:gd name="adj2" fmla="val 45619"/>
            </a:avLst>
          </a:prstGeom>
          <a:solidFill>
            <a:srgbClr val="00B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estructuras</a:t>
            </a:r>
            <a:endParaRPr lang="en-US" sz="2000" dirty="0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766F4CE4-7F45-EC38-6A37-CC86EE96B29D}"/>
              </a:ext>
            </a:extLst>
          </p:cNvPr>
          <p:cNvSpPr/>
          <p:nvPr/>
        </p:nvSpPr>
        <p:spPr>
          <a:xfrm>
            <a:off x="3847723" y="1766408"/>
            <a:ext cx="2752253" cy="1662592"/>
          </a:xfrm>
          <a:prstGeom prst="wedgeEllipseCallout">
            <a:avLst>
              <a:gd name="adj1" fmla="val -2741"/>
              <a:gd name="adj2" fmla="val 657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simple</a:t>
            </a:r>
            <a:endParaRPr lang="en-US" sz="2000" dirty="0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3BC0249-3A19-251C-5AB2-BC8458AB537E}"/>
              </a:ext>
            </a:extLst>
          </p:cNvPr>
          <p:cNvSpPr/>
          <p:nvPr/>
        </p:nvSpPr>
        <p:spPr>
          <a:xfrm>
            <a:off x="8787896" y="3951869"/>
            <a:ext cx="2752253" cy="1662592"/>
          </a:xfrm>
          <a:prstGeom prst="wedgeEllipseCallout">
            <a:avLst>
              <a:gd name="adj1" fmla="val -49122"/>
              <a:gd name="adj2" fmla="val 4616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doble</a:t>
            </a:r>
            <a:endParaRPr lang="en-US" sz="2000" dirty="0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CC71C3D-9D5C-65AF-E149-4478E23E3409}"/>
              </a:ext>
            </a:extLst>
          </p:cNvPr>
          <p:cNvSpPr/>
          <p:nvPr/>
        </p:nvSpPr>
        <p:spPr>
          <a:xfrm>
            <a:off x="6974563" y="1962275"/>
            <a:ext cx="2752253" cy="1662592"/>
          </a:xfrm>
          <a:prstGeom prst="wedgeEllipseCallout">
            <a:avLst>
              <a:gd name="adj1" fmla="val -26754"/>
              <a:gd name="adj2" fmla="val 630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Ventajas del anidamiento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251D0-FB08-590F-0DD8-6767127C64F6}"/>
              </a:ext>
            </a:extLst>
          </p:cNvPr>
          <p:cNvSpPr txBox="1"/>
          <p:nvPr/>
        </p:nvSpPr>
        <p:spPr>
          <a:xfrm>
            <a:off x="192387" y="6130282"/>
            <a:ext cx="2360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https://www.ddday.org/wp-content/uploads/2021/05/Raised-Hands-and-Questions-01.png</a:t>
            </a:r>
          </a:p>
        </p:txBody>
      </p:sp>
    </p:spTree>
    <p:extLst>
      <p:ext uri="{BB962C8B-B14F-4D97-AF65-F5344CB8AC3E}">
        <p14:creationId xmlns:p14="http://schemas.microsoft.com/office/powerpoint/2010/main" val="218804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A48DF20-2830-38CD-A9C1-EBDAB4DA4E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44853" y="-106417"/>
            <a:ext cx="11927184" cy="6960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1C5DB-1A0A-CA22-2E4F-C2CF7EED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98" y="3844657"/>
            <a:ext cx="5163203" cy="3013343"/>
          </a:xfrm>
          <a:prstGeom prst="rect">
            <a:avLst/>
          </a:prstGeo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E22663E-06A9-7729-2FC5-6FBF14789DDE}"/>
              </a:ext>
            </a:extLst>
          </p:cNvPr>
          <p:cNvSpPr/>
          <p:nvPr/>
        </p:nvSpPr>
        <p:spPr>
          <a:xfrm>
            <a:off x="838199" y="2869948"/>
            <a:ext cx="2752253" cy="1662592"/>
          </a:xfrm>
          <a:prstGeom prst="wedgeEllipseCallout">
            <a:avLst>
              <a:gd name="adj1" fmla="val 43641"/>
              <a:gd name="adj2" fmla="val 456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estructuras</a:t>
            </a:r>
            <a:endParaRPr lang="en-US" sz="2000" dirty="0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766F4CE4-7F45-EC38-6A37-CC86EE96B29D}"/>
              </a:ext>
            </a:extLst>
          </p:cNvPr>
          <p:cNvSpPr/>
          <p:nvPr/>
        </p:nvSpPr>
        <p:spPr>
          <a:xfrm>
            <a:off x="3847723" y="1766408"/>
            <a:ext cx="2752253" cy="1662592"/>
          </a:xfrm>
          <a:prstGeom prst="wedgeEllipseCallout">
            <a:avLst>
              <a:gd name="adj1" fmla="val -2741"/>
              <a:gd name="adj2" fmla="val 657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simple</a:t>
            </a:r>
            <a:endParaRPr lang="en-US" sz="2000" dirty="0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3BC0249-3A19-251C-5AB2-BC8458AB537E}"/>
              </a:ext>
            </a:extLst>
          </p:cNvPr>
          <p:cNvSpPr/>
          <p:nvPr/>
        </p:nvSpPr>
        <p:spPr>
          <a:xfrm>
            <a:off x="8787896" y="3951869"/>
            <a:ext cx="2752253" cy="1662592"/>
          </a:xfrm>
          <a:prstGeom prst="wedgeEllipseCallout">
            <a:avLst>
              <a:gd name="adj1" fmla="val -49122"/>
              <a:gd name="adj2" fmla="val 4616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doble</a:t>
            </a:r>
            <a:endParaRPr lang="en-US" sz="2000" dirty="0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CC71C3D-9D5C-65AF-E149-4478E23E3409}"/>
              </a:ext>
            </a:extLst>
          </p:cNvPr>
          <p:cNvSpPr/>
          <p:nvPr/>
        </p:nvSpPr>
        <p:spPr>
          <a:xfrm>
            <a:off x="6974563" y="1962275"/>
            <a:ext cx="2752253" cy="1662592"/>
          </a:xfrm>
          <a:prstGeom prst="wedgeEllipseCallout">
            <a:avLst>
              <a:gd name="adj1" fmla="val -26754"/>
              <a:gd name="adj2" fmla="val 630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Ventajas del anidamiento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251D0-FB08-590F-0DD8-6767127C64F6}"/>
              </a:ext>
            </a:extLst>
          </p:cNvPr>
          <p:cNvSpPr txBox="1"/>
          <p:nvPr/>
        </p:nvSpPr>
        <p:spPr>
          <a:xfrm>
            <a:off x="192387" y="6130282"/>
            <a:ext cx="2360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https://www.ddday.org/wp-content/uploads/2021/05/Raised-Hands-and-Questions-01.png</a:t>
            </a:r>
          </a:p>
        </p:txBody>
      </p:sp>
    </p:spTree>
    <p:extLst>
      <p:ext uri="{BB962C8B-B14F-4D97-AF65-F5344CB8AC3E}">
        <p14:creationId xmlns:p14="http://schemas.microsoft.com/office/powerpoint/2010/main" val="131141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A48DF20-2830-38CD-A9C1-EBDAB4DA4E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44853" y="-106417"/>
            <a:ext cx="11927184" cy="6960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1C5DB-1A0A-CA22-2E4F-C2CF7EED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98" y="3844657"/>
            <a:ext cx="5163203" cy="3013343"/>
          </a:xfrm>
          <a:prstGeom prst="rect">
            <a:avLst/>
          </a:prstGeo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E22663E-06A9-7729-2FC5-6FBF14789DDE}"/>
              </a:ext>
            </a:extLst>
          </p:cNvPr>
          <p:cNvSpPr/>
          <p:nvPr/>
        </p:nvSpPr>
        <p:spPr>
          <a:xfrm>
            <a:off x="838199" y="2869948"/>
            <a:ext cx="2752253" cy="1662592"/>
          </a:xfrm>
          <a:prstGeom prst="wedgeEllipseCallout">
            <a:avLst>
              <a:gd name="adj1" fmla="val 43641"/>
              <a:gd name="adj2" fmla="val 456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estructuras</a:t>
            </a:r>
            <a:endParaRPr lang="en-US" sz="2000" dirty="0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766F4CE4-7F45-EC38-6A37-CC86EE96B29D}"/>
              </a:ext>
            </a:extLst>
          </p:cNvPr>
          <p:cNvSpPr/>
          <p:nvPr/>
        </p:nvSpPr>
        <p:spPr>
          <a:xfrm>
            <a:off x="3847723" y="1766408"/>
            <a:ext cx="2752253" cy="1662592"/>
          </a:xfrm>
          <a:prstGeom prst="wedgeEllipseCallout">
            <a:avLst>
              <a:gd name="adj1" fmla="val -2741"/>
              <a:gd name="adj2" fmla="val 657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simple</a:t>
            </a:r>
            <a:endParaRPr lang="en-US" sz="2000" dirty="0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3BC0249-3A19-251C-5AB2-BC8458AB537E}"/>
              </a:ext>
            </a:extLst>
          </p:cNvPr>
          <p:cNvSpPr/>
          <p:nvPr/>
        </p:nvSpPr>
        <p:spPr>
          <a:xfrm>
            <a:off x="8787896" y="3951869"/>
            <a:ext cx="2752253" cy="1662592"/>
          </a:xfrm>
          <a:prstGeom prst="wedgeEllipseCallout">
            <a:avLst>
              <a:gd name="adj1" fmla="val -49122"/>
              <a:gd name="adj2" fmla="val 4616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doble</a:t>
            </a:r>
            <a:endParaRPr lang="en-US" sz="2000" dirty="0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CC71C3D-9D5C-65AF-E149-4478E23E3409}"/>
              </a:ext>
            </a:extLst>
          </p:cNvPr>
          <p:cNvSpPr/>
          <p:nvPr/>
        </p:nvSpPr>
        <p:spPr>
          <a:xfrm>
            <a:off x="6974563" y="1962275"/>
            <a:ext cx="2752253" cy="1662592"/>
          </a:xfrm>
          <a:prstGeom prst="wedgeEllipseCallout">
            <a:avLst>
              <a:gd name="adj1" fmla="val -26754"/>
              <a:gd name="adj2" fmla="val 63045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Ventajas del anidamiento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251D0-FB08-590F-0DD8-6767127C64F6}"/>
              </a:ext>
            </a:extLst>
          </p:cNvPr>
          <p:cNvSpPr txBox="1"/>
          <p:nvPr/>
        </p:nvSpPr>
        <p:spPr>
          <a:xfrm>
            <a:off x="192387" y="6130282"/>
            <a:ext cx="2360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https://www.ddday.org/wp-content/uploads/2021/05/Raised-Hands-and-Questions-01.png</a:t>
            </a:r>
          </a:p>
        </p:txBody>
      </p:sp>
    </p:spTree>
    <p:extLst>
      <p:ext uri="{BB962C8B-B14F-4D97-AF65-F5344CB8AC3E}">
        <p14:creationId xmlns:p14="http://schemas.microsoft.com/office/powerpoint/2010/main" val="276801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A48DF20-2830-38CD-A9C1-EBDAB4DA4E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44853" y="-106417"/>
            <a:ext cx="11927184" cy="6960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1C5DB-1A0A-CA22-2E4F-C2CF7EED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98" y="3844657"/>
            <a:ext cx="5163203" cy="3013343"/>
          </a:xfrm>
          <a:prstGeom prst="rect">
            <a:avLst/>
          </a:prstGeo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E22663E-06A9-7729-2FC5-6FBF14789DDE}"/>
              </a:ext>
            </a:extLst>
          </p:cNvPr>
          <p:cNvSpPr/>
          <p:nvPr/>
        </p:nvSpPr>
        <p:spPr>
          <a:xfrm>
            <a:off x="838199" y="2869948"/>
            <a:ext cx="2752253" cy="1662592"/>
          </a:xfrm>
          <a:prstGeom prst="wedgeEllipseCallout">
            <a:avLst>
              <a:gd name="adj1" fmla="val 43641"/>
              <a:gd name="adj2" fmla="val 456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estructuras</a:t>
            </a:r>
            <a:endParaRPr lang="en-US" sz="2000" dirty="0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766F4CE4-7F45-EC38-6A37-CC86EE96B29D}"/>
              </a:ext>
            </a:extLst>
          </p:cNvPr>
          <p:cNvSpPr/>
          <p:nvPr/>
        </p:nvSpPr>
        <p:spPr>
          <a:xfrm>
            <a:off x="3847723" y="1766408"/>
            <a:ext cx="2752253" cy="1662592"/>
          </a:xfrm>
          <a:prstGeom prst="wedgeEllipseCallout">
            <a:avLst>
              <a:gd name="adj1" fmla="val -2741"/>
              <a:gd name="adj2" fmla="val 657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simple</a:t>
            </a:r>
            <a:endParaRPr lang="en-US" sz="2000" dirty="0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3BC0249-3A19-251C-5AB2-BC8458AB537E}"/>
              </a:ext>
            </a:extLst>
          </p:cNvPr>
          <p:cNvSpPr/>
          <p:nvPr/>
        </p:nvSpPr>
        <p:spPr>
          <a:xfrm>
            <a:off x="8787896" y="3951869"/>
            <a:ext cx="2752253" cy="1662592"/>
          </a:xfrm>
          <a:prstGeom prst="wedgeEllipseCallout">
            <a:avLst>
              <a:gd name="adj1" fmla="val -49122"/>
              <a:gd name="adj2" fmla="val 46164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Anidamiento de condicional doble</a:t>
            </a:r>
            <a:endParaRPr lang="en-US" sz="2000" dirty="0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CC71C3D-9D5C-65AF-E149-4478E23E3409}"/>
              </a:ext>
            </a:extLst>
          </p:cNvPr>
          <p:cNvSpPr/>
          <p:nvPr/>
        </p:nvSpPr>
        <p:spPr>
          <a:xfrm>
            <a:off x="6974563" y="1962275"/>
            <a:ext cx="2752253" cy="1662592"/>
          </a:xfrm>
          <a:prstGeom prst="wedgeEllipseCallout">
            <a:avLst>
              <a:gd name="adj1" fmla="val -26754"/>
              <a:gd name="adj2" fmla="val 630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Ventajas del anidamiento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251D0-FB08-590F-0DD8-6767127C64F6}"/>
              </a:ext>
            </a:extLst>
          </p:cNvPr>
          <p:cNvSpPr txBox="1"/>
          <p:nvPr/>
        </p:nvSpPr>
        <p:spPr>
          <a:xfrm>
            <a:off x="192387" y="6130282"/>
            <a:ext cx="2360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https://www.ddday.org/wp-content/uploads/2021/05/Raised-Hands-and-Questions-01.png</a:t>
            </a:r>
          </a:p>
        </p:txBody>
      </p:sp>
    </p:spTree>
    <p:extLst>
      <p:ext uri="{BB962C8B-B14F-4D97-AF65-F5344CB8AC3E}">
        <p14:creationId xmlns:p14="http://schemas.microsoft.com/office/powerpoint/2010/main" val="56080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/>
              <a:t>Estructura Condicional </a:t>
            </a:r>
            <a:r>
              <a:rPr lang="es-E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switch-case </a:t>
            </a:r>
            <a:r>
              <a:rPr lang="es-ES" dirty="0"/>
              <a:t>(I)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07E17D19-0E33-49D3-904A-452E7B0F2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381531" cy="4373562"/>
          </a:xfrm>
        </p:spPr>
        <p:txBody>
          <a:bodyPr>
            <a:noAutofit/>
          </a:bodyPr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s-ES" dirty="0"/>
              <a:t>¿Qué muestran las imágenes?</a:t>
            </a:r>
          </a:p>
          <a:p>
            <a:r>
              <a:rPr lang="es-ES" dirty="0"/>
              <a:t>¿Entre cuántas opciones se puede elegir?</a:t>
            </a:r>
          </a:p>
          <a:p>
            <a:r>
              <a:rPr lang="es-ES" dirty="0"/>
              <a:t>¿Qué estructura condicional puede representar estos casos?</a:t>
            </a:r>
          </a:p>
          <a:p>
            <a:endParaRPr lang="es-E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828E4-C870-7AD2-3392-BE498C0B80B5}"/>
              </a:ext>
            </a:extLst>
          </p:cNvPr>
          <p:cNvSpPr txBox="1"/>
          <p:nvPr/>
        </p:nvSpPr>
        <p:spPr>
          <a:xfrm>
            <a:off x="137447" y="6118581"/>
            <a:ext cx="10603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https://www.pngitem.com/pimgs/m/384-3840589_stylish-restaurant-menu-template-preview-flyer-hd-png.png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https://as2.ftcdn.net/v2/jpg/01/30/82/11/1000_F_130821110_HPwqH7fIMI4nWaloiFFtTgUY5md2s9X0.jpg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https://static.wixstatic.com/media/cfc402_7114146ff4614b8ebda16e433d4b94f6~mv2.jpg/v1/fit/w_660%2Ch_440%2Cal_c%2Cq_80/file.jpg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6D5BF-6A7C-E49E-FF90-0287FDCC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115" y="862941"/>
            <a:ext cx="3320170" cy="22662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4C5587-F609-8CFE-E8C8-61866A3BD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837" y="2334158"/>
            <a:ext cx="3320171" cy="2213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18BEBD-3E3C-AC0E-004B-28C4B784B3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37" r="21422"/>
          <a:stretch/>
        </p:blipFill>
        <p:spPr>
          <a:xfrm>
            <a:off x="8906706" y="3670693"/>
            <a:ext cx="2329101" cy="26446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desarrolla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4"/>
                </a:solidFill>
              </a:rPr>
              <a:t>programas utilizando estructuras switch-case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utilizando un IDE Java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resolver problemas condicionales o de decisión múltiple.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378254-1DCE-E852-BEB1-333FE86E81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716508" cy="3377587"/>
          </a:xfrm>
        </p:spPr>
        <p:txBody>
          <a:bodyPr>
            <a:normAutofit/>
          </a:bodyPr>
          <a:lstStyle/>
          <a:p>
            <a:r>
              <a:rPr lang="es-ES" dirty="0"/>
              <a:t>¿Qué expresa la imagen?</a:t>
            </a:r>
          </a:p>
          <a:p>
            <a:r>
              <a:rPr lang="es-ES" dirty="0"/>
              <a:t>La condición de selección ¿es simple, doble o múltiple?</a:t>
            </a:r>
          </a:p>
          <a:p>
            <a:r>
              <a:rPr lang="es-ES" dirty="0"/>
              <a:t>¿Cómo podría servirte utilizar condiciones múltiples en situaciones reales?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A9BBA-17E0-A72D-51DD-816280634240}"/>
              </a:ext>
            </a:extLst>
          </p:cNvPr>
          <p:cNvSpPr txBox="1"/>
          <p:nvPr/>
        </p:nvSpPr>
        <p:spPr>
          <a:xfrm>
            <a:off x="1255303" y="5131586"/>
            <a:ext cx="51742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Expresar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condiciones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múltiples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Java.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856503-6F6C-FB79-C41E-7CB083AF13E0}"/>
              </a:ext>
            </a:extLst>
          </p:cNvPr>
          <p:cNvSpPr txBox="1"/>
          <p:nvPr/>
        </p:nvSpPr>
        <p:spPr>
          <a:xfrm>
            <a:off x="231034" y="6314029"/>
            <a:ext cx="9336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https://www.a2hosting.com/images/uploads/knowledgebase_images/kb-wordpress-language-plugin.png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B8A5D-C807-1815-BAF9-16CE5EBE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02" y="1459840"/>
            <a:ext cx="50482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6A98D-EC89-8C32-79DF-2172F1BBE23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C8BE8E-AFD4-4547-D81B-F71C18545E2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CDE804-39E8-9CCD-5E6C-0757EBB741EA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E3196B-0767-FCA2-82DF-9C9F7DC2A12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D240D0-6E76-3103-37D6-C5ED056B5B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6A98D-EC89-8C32-79DF-2172F1BBE23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C8BE8E-AFD4-4547-D81B-F71C18545E2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CDE804-39E8-9CCD-5E6C-0757EBB741EA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E3196B-0767-FCA2-82DF-9C9F7DC2A12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D240D0-6E76-3103-37D6-C5ED056B5B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9F30319-171D-2E62-3C64-EB4B3AB6689E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529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7C2D1E-079A-5D5A-3693-7D71F164B3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16" b="4308"/>
          <a:stretch/>
        </p:blipFill>
        <p:spPr>
          <a:xfrm>
            <a:off x="8017124" y="3825198"/>
            <a:ext cx="4174876" cy="30328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D87CD2B-8CA8-8D97-9549-DF0214AD6816}"/>
              </a:ext>
            </a:extLst>
          </p:cNvPr>
          <p:cNvGrpSpPr/>
          <p:nvPr/>
        </p:nvGrpSpPr>
        <p:grpSpPr>
          <a:xfrm>
            <a:off x="838200" y="-43919"/>
            <a:ext cx="4629752" cy="1015663"/>
            <a:chOff x="924025" y="1526961"/>
            <a:chExt cx="4629752" cy="10156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0DB7A3-AB7B-F6BA-F97F-9F6CD826CD1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36953F-6989-B6F6-F195-36A1AB955D7C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E7C9DA-DC45-9976-795E-A56C1333660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5C9D48C-E9A9-5CA2-61D6-36378E41313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Múltiple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2"/>
            <a:ext cx="7509096" cy="4510087"/>
          </a:xfrm>
        </p:spPr>
        <p:txBody>
          <a:bodyPr/>
          <a:lstStyle/>
          <a:p>
            <a:r>
              <a:rPr lang="es-ES" dirty="0"/>
              <a:t>Permite evaluar una expresión que puede tener N valores distintos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(Joyanes, 2008)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dirty="0"/>
              <a:t>Según se elijan estos valores, se podrán ejecutar una de las N alternativas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(Joyanes, 2008)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tx1"/>
                </a:solidFill>
              </a:rPr>
              <a:t>Cuando decimos N valores o alternativas nos referimos de 3 a más.</a:t>
            </a:r>
          </a:p>
          <a:p>
            <a:r>
              <a:rPr lang="es-ES" dirty="0">
                <a:solidFill>
                  <a:schemeClr val="tx1"/>
                </a:solidFill>
              </a:rPr>
              <a:t>Se denomina así pues existen </a:t>
            </a:r>
            <a:r>
              <a:rPr lang="es-ES" b="1" dirty="0">
                <a:solidFill>
                  <a:schemeClr val="tx1"/>
                </a:solidFill>
              </a:rPr>
              <a:t>muchas condiciones</a:t>
            </a:r>
            <a:r>
              <a:rPr lang="es-ES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66FE0-EE1C-A6C2-D7F5-EF5CB3FECD4E}"/>
              </a:ext>
            </a:extLst>
          </p:cNvPr>
          <p:cNvSpPr txBox="1"/>
          <p:nvPr/>
        </p:nvSpPr>
        <p:spPr>
          <a:xfrm>
            <a:off x="162349" y="6451922"/>
            <a:ext cx="85306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https://bmkltsly13vb.compat.objectstorage.ap-mumbai-1.oraclecloud.com/cdn.dailymirror.lk/media/images/rt(2).jpg</a:t>
            </a:r>
          </a:p>
        </p:txBody>
      </p:sp>
    </p:spTree>
    <p:extLst>
      <p:ext uri="{BB962C8B-B14F-4D97-AF65-F5344CB8AC3E}">
        <p14:creationId xmlns:p14="http://schemas.microsoft.com/office/powerpoint/2010/main" val="11388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D87CD2B-8CA8-8D97-9549-DF0214AD6816}"/>
              </a:ext>
            </a:extLst>
          </p:cNvPr>
          <p:cNvGrpSpPr/>
          <p:nvPr/>
        </p:nvGrpSpPr>
        <p:grpSpPr>
          <a:xfrm>
            <a:off x="838200" y="-43919"/>
            <a:ext cx="4629752" cy="1015663"/>
            <a:chOff x="924025" y="1526961"/>
            <a:chExt cx="4629752" cy="10156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0DB7A3-AB7B-F6BA-F97F-9F6CD826CD1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36953F-6989-B6F6-F195-36A1AB955D7C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E7C9DA-DC45-9976-795E-A56C1333660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5C9D48C-E9A9-5CA2-61D6-36378E41313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Múltiple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482CD-7EBD-00AC-859F-22CB4BB7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4" y="2163779"/>
            <a:ext cx="10437492" cy="37077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A5C6DC-D184-0087-01E8-AE2CD958418C}"/>
              </a:ext>
            </a:extLst>
          </p:cNvPr>
          <p:cNvSpPr txBox="1"/>
          <p:nvPr/>
        </p:nvSpPr>
        <p:spPr>
          <a:xfrm>
            <a:off x="8948660" y="2415663"/>
            <a:ext cx="22048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Diagrama de flujo de una estructura condicional múltiple en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PSeInt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50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D87CD2B-8CA8-8D97-9549-DF0214AD6816}"/>
              </a:ext>
            </a:extLst>
          </p:cNvPr>
          <p:cNvGrpSpPr/>
          <p:nvPr/>
        </p:nvGrpSpPr>
        <p:grpSpPr>
          <a:xfrm>
            <a:off x="838200" y="-43919"/>
            <a:ext cx="4629752" cy="1015663"/>
            <a:chOff x="924025" y="1526961"/>
            <a:chExt cx="4629752" cy="10156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0DB7A3-AB7B-F6BA-F97F-9F6CD826CD1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36953F-6989-B6F6-F195-36A1AB955D7C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E7C9DA-DC45-9976-795E-A56C1333660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5C9D48C-E9A9-5CA2-61D6-36378E41313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Flujo de una ECM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99132-51BD-63A1-2120-494A4292A3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2"/>
            <a:ext cx="7246545" cy="4328201"/>
          </a:xfrm>
        </p:spPr>
        <p:txBody>
          <a:bodyPr>
            <a:normAutofit fontScale="85000" lnSpcReduction="20000"/>
          </a:bodyPr>
          <a:lstStyle/>
          <a:p>
            <a:pPr marL="565150" indent="-514350">
              <a:lnSpc>
                <a:spcPct val="120000"/>
              </a:lnSpc>
              <a:buFont typeface="+mj-lt"/>
              <a:buAutoNum type="alphaLcPeriod"/>
            </a:pPr>
            <a:r>
              <a:rPr lang="es-ES" dirty="0"/>
              <a:t>Se evalúa una expresión.</a:t>
            </a:r>
          </a:p>
          <a:p>
            <a:pPr marL="565150" indent="-514350">
              <a:lnSpc>
                <a:spcPct val="120000"/>
              </a:lnSpc>
              <a:buFont typeface="+mj-lt"/>
              <a:buAutoNum type="alphaLcPeriod"/>
            </a:pPr>
            <a:r>
              <a:rPr lang="es-ES" dirty="0"/>
              <a:t>El resultado de la expresión es comparado en secuencia con cada valor de caso contemplado (condición)</a:t>
            </a:r>
          </a:p>
          <a:p>
            <a:pPr marL="565150" indent="-514350">
              <a:lnSpc>
                <a:spcPct val="120000"/>
              </a:lnSpc>
              <a:buFont typeface="+mj-lt"/>
              <a:buAutoNum type="alphaLcPeriod"/>
            </a:pPr>
            <a:r>
              <a:rPr lang="es-ES" dirty="0"/>
              <a:t>Si la condición se cumple entonces se ejecuta el código condicional. Si la condición no se cumple entonces el flujo continúa en el siguiente caso.</a:t>
            </a:r>
          </a:p>
          <a:p>
            <a:pPr marL="565150" indent="-514350">
              <a:lnSpc>
                <a:spcPct val="120000"/>
              </a:lnSpc>
              <a:buFont typeface="+mj-lt"/>
              <a:buAutoNum type="alphaLcPeriod"/>
            </a:pPr>
            <a:r>
              <a:rPr lang="es-ES" dirty="0"/>
              <a:t>Si no se cumple ninguna condición, se puede ejecutar instrucciones por defecto (</a:t>
            </a:r>
            <a:r>
              <a:rPr lang="es-ES" i="1" dirty="0"/>
              <a:t>default</a:t>
            </a:r>
            <a:r>
              <a:rPr lang="es-ES" dirty="0"/>
              <a:t>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03C46-731F-4D8E-A353-55D5928B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121" y="232939"/>
            <a:ext cx="3962253" cy="6305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838503-7761-3169-DEA5-67E047C98B40}"/>
              </a:ext>
            </a:extLst>
          </p:cNvPr>
          <p:cNvSpPr txBox="1"/>
          <p:nvPr/>
        </p:nvSpPr>
        <p:spPr>
          <a:xfrm>
            <a:off x="253644" y="6436197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https://www.programiz.com/sites/tutorial2program/files/java-switch-case-implementation.png</a:t>
            </a:r>
          </a:p>
        </p:txBody>
      </p:sp>
    </p:spTree>
    <p:extLst>
      <p:ext uri="{BB962C8B-B14F-4D97-AF65-F5344CB8AC3E}">
        <p14:creationId xmlns:p14="http://schemas.microsoft.com/office/powerpoint/2010/main" val="73193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D87CD2B-8CA8-8D97-9549-DF0214AD6816}"/>
              </a:ext>
            </a:extLst>
          </p:cNvPr>
          <p:cNvGrpSpPr/>
          <p:nvPr/>
        </p:nvGrpSpPr>
        <p:grpSpPr>
          <a:xfrm>
            <a:off x="838200" y="-43919"/>
            <a:ext cx="4629752" cy="1015663"/>
            <a:chOff x="924025" y="1526961"/>
            <a:chExt cx="4629752" cy="10156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0DB7A3-AB7B-F6BA-F97F-9F6CD826CD1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36953F-6989-B6F6-F195-36A1AB955D7C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E7C9DA-DC45-9976-795E-A56C1333660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5C9D48C-E9A9-5CA2-61D6-36378E41313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 Múltiple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2C622D74-8F25-2921-581C-74BA96AAC961}"/>
              </a:ext>
            </a:extLst>
          </p:cNvPr>
          <p:cNvSpPr/>
          <p:nvPr/>
        </p:nvSpPr>
        <p:spPr>
          <a:xfrm rot="16200000">
            <a:off x="5484890" y="1225799"/>
            <a:ext cx="823865" cy="5516580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37FEB7-48AC-0562-16B6-E998456F28F0}"/>
              </a:ext>
            </a:extLst>
          </p:cNvPr>
          <p:cNvSpPr/>
          <p:nvPr/>
        </p:nvSpPr>
        <p:spPr>
          <a:xfrm>
            <a:off x="4396966" y="2590091"/>
            <a:ext cx="2999714" cy="9914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Condicional Múltiple</a:t>
            </a:r>
            <a:br>
              <a:rPr lang="es-ES" sz="2000" dirty="0">
                <a:latin typeface="Helvetica" pitchFamily="2" charset="0"/>
              </a:rPr>
            </a:br>
            <a:r>
              <a:rPr lang="es-ES" sz="2000" dirty="0">
                <a:latin typeface="Helvetica" pitchFamily="2" charset="0"/>
              </a:rPr>
              <a:t>en Java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F2917D-06D1-C086-1A85-39BA75CF3282}"/>
              </a:ext>
            </a:extLst>
          </p:cNvPr>
          <p:cNvSpPr/>
          <p:nvPr/>
        </p:nvSpPr>
        <p:spPr>
          <a:xfrm>
            <a:off x="1663515" y="4410129"/>
            <a:ext cx="2968944" cy="991402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switch-case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DBC17B-601F-3941-B615-1A19E560C45E}"/>
              </a:ext>
            </a:extLst>
          </p:cNvPr>
          <p:cNvSpPr/>
          <p:nvPr/>
        </p:nvSpPr>
        <p:spPr>
          <a:xfrm>
            <a:off x="7188451" y="4410129"/>
            <a:ext cx="2968944" cy="99140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switch mejorado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E11D6-E42E-B01B-53C6-6C2A7D4857C9}"/>
              </a:ext>
            </a:extLst>
          </p:cNvPr>
          <p:cNvSpPr txBox="1"/>
          <p:nvPr/>
        </p:nvSpPr>
        <p:spPr>
          <a:xfrm>
            <a:off x="7659232" y="5571163"/>
            <a:ext cx="21964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rgbClr val="00B0F0"/>
                </a:solidFill>
              </a:rPr>
              <a:t>Disponible desde JDK 14</a:t>
            </a:r>
            <a:endParaRPr lang="en-US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28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6A98D-EC89-8C32-79DF-2172F1BBE23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C8BE8E-AFD4-4547-D81B-F71C18545E2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CDE804-39E8-9CCD-5E6C-0757EBB741EA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E3196B-0767-FCA2-82DF-9C9F7DC2A12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D240D0-6E76-3103-37D6-C5ED056B5B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9F30319-171D-2E62-3C64-EB4B3AB6689E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667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F08171-9D61-5C25-15A2-05DA7EE86D0C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C198F-A21C-5474-E1DD-540CC823A93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DE16A1-868E-045E-6549-DF494720ACF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2AFCC5-9F71-7669-86E6-4561028E674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A63230-4122-93E6-AAE9-C323BFC03F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 switch-case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6C4FACF-FD3E-5314-41C8-D3B4A11E52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2"/>
            <a:ext cx="6250663" cy="4510087"/>
          </a:xfrm>
        </p:spPr>
        <p:txBody>
          <a:bodyPr/>
          <a:lstStyle/>
          <a:p>
            <a:r>
              <a:rPr lang="es-ES" b="1" dirty="0">
                <a:solidFill>
                  <a:schemeClr val="accent2"/>
                </a:solidFill>
              </a:rPr>
              <a:t>switch</a:t>
            </a:r>
            <a:r>
              <a:rPr lang="es-ES" dirty="0"/>
              <a:t> provee una </a:t>
            </a:r>
            <a:r>
              <a:rPr lang="es-ES" b="1" dirty="0">
                <a:solidFill>
                  <a:schemeClr val="accent2"/>
                </a:solidFill>
              </a:rPr>
              <a:t>bifurcación</a:t>
            </a:r>
            <a:r>
              <a:rPr lang="es-ES" dirty="0"/>
              <a:t> </a:t>
            </a:r>
            <a:r>
              <a:rPr lang="es-ES" b="1" dirty="0">
                <a:solidFill>
                  <a:schemeClr val="accent2"/>
                </a:solidFill>
              </a:rPr>
              <a:t>múltiple</a:t>
            </a:r>
            <a:r>
              <a:rPr lang="es-ES" dirty="0"/>
              <a:t>, lo que habilita a un programa a seleccionar entre muchas alternativas.</a:t>
            </a:r>
          </a:p>
          <a:p>
            <a:r>
              <a:rPr lang="es-ES" b="1" dirty="0">
                <a:solidFill>
                  <a:schemeClr val="accent2"/>
                </a:solidFill>
              </a:rPr>
              <a:t>switch</a:t>
            </a:r>
            <a:r>
              <a:rPr lang="es-ES" dirty="0"/>
              <a:t> es mucho </a:t>
            </a:r>
            <a:r>
              <a:rPr lang="es-ES" b="1" dirty="0">
                <a:solidFill>
                  <a:schemeClr val="accent2"/>
                </a:solidFill>
              </a:rPr>
              <a:t>más</a:t>
            </a:r>
            <a:r>
              <a:rPr lang="es-ES" dirty="0"/>
              <a:t> </a:t>
            </a:r>
            <a:r>
              <a:rPr lang="es-ES" b="1" dirty="0">
                <a:solidFill>
                  <a:schemeClr val="accent2"/>
                </a:solidFill>
              </a:rPr>
              <a:t>eficiente</a:t>
            </a:r>
            <a:r>
              <a:rPr lang="es-ES" dirty="0"/>
              <a:t> que utilizar </a:t>
            </a:r>
            <a:r>
              <a:rPr lang="es-ES" b="1" dirty="0" err="1"/>
              <a:t>if</a:t>
            </a:r>
            <a:r>
              <a:rPr lang="es-ES" dirty="0"/>
              <a:t> anidados.</a:t>
            </a:r>
          </a:p>
          <a:p>
            <a:r>
              <a:rPr lang="es-ES" b="1" dirty="0">
                <a:solidFill>
                  <a:schemeClr val="accent2"/>
                </a:solidFill>
              </a:rPr>
              <a:t>Soporta</a:t>
            </a:r>
            <a:r>
              <a:rPr lang="es-ES" dirty="0"/>
              <a:t> tipos </a:t>
            </a:r>
            <a:r>
              <a:rPr lang="es-ES" b="1" dirty="0"/>
              <a:t>byte</a:t>
            </a:r>
            <a:r>
              <a:rPr lang="es-ES" dirty="0"/>
              <a:t>, </a:t>
            </a:r>
            <a:r>
              <a:rPr lang="es-ES" b="1" dirty="0"/>
              <a:t>short</a:t>
            </a:r>
            <a:r>
              <a:rPr lang="es-ES" dirty="0"/>
              <a:t>, </a:t>
            </a:r>
            <a:r>
              <a:rPr lang="es-ES" b="1" dirty="0" err="1"/>
              <a:t>int</a:t>
            </a:r>
            <a:r>
              <a:rPr lang="es-ES" dirty="0"/>
              <a:t>, </a:t>
            </a:r>
            <a:r>
              <a:rPr lang="es-ES" b="1" dirty="0" err="1"/>
              <a:t>char</a:t>
            </a:r>
            <a:r>
              <a:rPr lang="es-ES" dirty="0"/>
              <a:t>, </a:t>
            </a:r>
            <a:r>
              <a:rPr lang="es-ES" b="1" dirty="0" err="1"/>
              <a:t>String</a:t>
            </a:r>
            <a:r>
              <a:rPr lang="es-ES" dirty="0"/>
              <a:t> o </a:t>
            </a:r>
            <a:r>
              <a:rPr lang="es-ES" b="1" dirty="0"/>
              <a:t>enumeraciones.</a:t>
            </a:r>
            <a:endParaRPr lang="en-US" b="1" dirty="0"/>
          </a:p>
        </p:txBody>
      </p:sp>
      <p:sp>
        <p:nvSpPr>
          <p:cNvPr id="15" name="CuadroTexto 26">
            <a:extLst>
              <a:ext uri="{FF2B5EF4-FFF2-40B4-BE49-F238E27FC236}">
                <a16:creationId xmlns:a16="http://schemas.microsoft.com/office/drawing/2014/main" id="{A89A5D42-86BD-4B08-5A77-E7A463F2E24D}"/>
              </a:ext>
            </a:extLst>
          </p:cNvPr>
          <p:cNvSpPr txBox="1"/>
          <p:nvPr/>
        </p:nvSpPr>
        <p:spPr>
          <a:xfrm>
            <a:off x="7008506" y="1869721"/>
            <a:ext cx="4421875" cy="4344110"/>
          </a:xfrm>
          <a:prstGeom prst="roundRect">
            <a:avLst>
              <a:gd name="adj" fmla="val 3563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</a:t>
            </a:r>
            <a:r>
              <a:rPr lang="es-419" sz="1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es-419" sz="1400" dirty="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expresión</a:t>
            </a:r>
            <a:r>
              <a:rPr lang="es-419" sz="1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s-419" sz="14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</a:t>
            </a: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4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valor1</a:t>
            </a:r>
            <a:r>
              <a:rPr lang="es-419" sz="1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1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código condicional 1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s-419" sz="1400" dirty="0">
              <a:solidFill>
                <a:srgbClr val="00B05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</a:t>
            </a: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4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valor2</a:t>
            </a:r>
            <a:r>
              <a:rPr lang="es-419" sz="1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1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código condicional 2       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s-419" sz="1400" dirty="0">
              <a:solidFill>
                <a:srgbClr val="00B05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</a:t>
            </a: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1400" dirty="0" err="1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valorN</a:t>
            </a:r>
            <a:r>
              <a:rPr lang="es-419" sz="1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1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código condicional N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lang="es-419" sz="1400" dirty="0">
                <a:solidFill>
                  <a:schemeClr val="bg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419" sz="1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default</a:t>
            </a:r>
            <a:r>
              <a:rPr lang="es-419" sz="1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// código por defecto</a:t>
            </a:r>
          </a:p>
          <a:p>
            <a:pPr>
              <a:lnSpc>
                <a:spcPct val="150000"/>
              </a:lnSpc>
            </a:pPr>
            <a:r>
              <a:rPr lang="es-419" sz="14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9B43B5-539D-BDB2-4784-987577DC2F3B}"/>
              </a:ext>
            </a:extLst>
          </p:cNvPr>
          <p:cNvSpPr txBox="1"/>
          <p:nvPr/>
        </p:nvSpPr>
        <p:spPr>
          <a:xfrm>
            <a:off x="9614139" y="1499038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rgbClr val="00B0F0"/>
                </a:solidFill>
              </a:rPr>
              <a:t>Sintaxis switch-case</a:t>
            </a:r>
            <a:endParaRPr lang="en-US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52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F08171-9D61-5C25-15A2-05DA7EE86D0C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C198F-A21C-5474-E1DD-540CC823A93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DE16A1-868E-045E-6549-DF494720ACF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2AFCC5-9F71-7669-86E6-4561028E674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A63230-4122-93E6-AAE9-C323BFC03F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 switch-case.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40E938-A04E-0583-6B40-4EC0C166A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907" y="1984870"/>
            <a:ext cx="5504507" cy="4265411"/>
          </a:xfrm>
          <a:prstGeom prst="roundRect">
            <a:avLst>
              <a:gd name="adj" fmla="val 214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estadoProyecto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estadoProyecto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progreso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Finalizado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Cancelado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Suspendido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“El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Proyecto es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6D2F7-B5F1-19E6-077F-D088BBDBFE8D}"/>
              </a:ext>
            </a:extLst>
          </p:cNvPr>
          <p:cNvSpPr txBox="1"/>
          <p:nvPr/>
        </p:nvSpPr>
        <p:spPr>
          <a:xfrm>
            <a:off x="7657994" y="2056563"/>
            <a:ext cx="2404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Conocido el valor de la variable, se compara con cada valor hasta encontrar la coincidencia y se ejecutan las sentencias contenidas en ese bloque.</a:t>
            </a:r>
          </a:p>
          <a:p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instrucción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break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es importante para salir de la estructura y ejecutar la siguiente sentencia fuera de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switch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EB911A1D-CA62-0E05-68F6-E54B74440D81}"/>
              </a:ext>
            </a:extLst>
          </p:cNvPr>
          <p:cNvSpPr/>
          <p:nvPr/>
        </p:nvSpPr>
        <p:spPr>
          <a:xfrm flipH="1">
            <a:off x="1734499" y="3105982"/>
            <a:ext cx="530996" cy="444216"/>
          </a:xfrm>
          <a:prstGeom prst="arc">
            <a:avLst>
              <a:gd name="adj1" fmla="val 16200000"/>
              <a:gd name="adj2" fmla="val 5461387"/>
            </a:avLst>
          </a:prstGeom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A3B9BF5A-8171-5341-7BE7-364B75E71146}"/>
              </a:ext>
            </a:extLst>
          </p:cNvPr>
          <p:cNvSpPr/>
          <p:nvPr/>
        </p:nvSpPr>
        <p:spPr>
          <a:xfrm flipH="1">
            <a:off x="1734499" y="3639834"/>
            <a:ext cx="530996" cy="394853"/>
          </a:xfrm>
          <a:prstGeom prst="arc">
            <a:avLst>
              <a:gd name="adj1" fmla="val 16200000"/>
              <a:gd name="adj2" fmla="val 5461387"/>
            </a:avLst>
          </a:prstGeom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BE2EE26-9FBD-F1A8-7249-8C50AA9E0CF1}"/>
              </a:ext>
            </a:extLst>
          </p:cNvPr>
          <p:cNvSpPr/>
          <p:nvPr/>
        </p:nvSpPr>
        <p:spPr>
          <a:xfrm flipH="1">
            <a:off x="1713643" y="4113871"/>
            <a:ext cx="530996" cy="449069"/>
          </a:xfrm>
          <a:prstGeom prst="arc">
            <a:avLst>
              <a:gd name="adj1" fmla="val 16200000"/>
              <a:gd name="adj2" fmla="val 5461387"/>
            </a:avLst>
          </a:prstGeom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0277980-6781-0325-74CF-C60D17CCA8FE}"/>
              </a:ext>
            </a:extLst>
          </p:cNvPr>
          <p:cNvSpPr/>
          <p:nvPr/>
        </p:nvSpPr>
        <p:spPr>
          <a:xfrm>
            <a:off x="1252369" y="4744021"/>
            <a:ext cx="974763" cy="1357968"/>
          </a:xfrm>
          <a:custGeom>
            <a:avLst/>
            <a:gdLst>
              <a:gd name="connsiteX0" fmla="*/ 0 w 9053"/>
              <a:gd name="connsiteY0" fmla="*/ 0 h 2109457"/>
              <a:gd name="connsiteX1" fmla="*/ 9053 w 9053"/>
              <a:gd name="connsiteY1" fmla="*/ 2109457 h 2109457"/>
              <a:gd name="connsiteX0" fmla="*/ 1680093 w 1680096"/>
              <a:gd name="connsiteY0" fmla="*/ 33 h 1138"/>
              <a:gd name="connsiteX1" fmla="*/ 6 w 1680096"/>
              <a:gd name="connsiteY1" fmla="*/ 1106 h 1138"/>
              <a:gd name="connsiteX0" fmla="*/ 3989 w 3989"/>
              <a:gd name="connsiteY0" fmla="*/ 0 h 73543"/>
              <a:gd name="connsiteX1" fmla="*/ 1 w 3989"/>
              <a:gd name="connsiteY1" fmla="*/ 73543 h 73543"/>
              <a:gd name="connsiteX0" fmla="*/ 14650 w 14650"/>
              <a:gd name="connsiteY0" fmla="*/ 0 h 10000"/>
              <a:gd name="connsiteX1" fmla="*/ 4653 w 14650"/>
              <a:gd name="connsiteY1" fmla="*/ 10000 h 10000"/>
              <a:gd name="connsiteX0" fmla="*/ 17034 w 17034"/>
              <a:gd name="connsiteY0" fmla="*/ 0 h 10000"/>
              <a:gd name="connsiteX1" fmla="*/ 7037 w 17034"/>
              <a:gd name="connsiteY1" fmla="*/ 10000 h 10000"/>
              <a:gd name="connsiteX0" fmla="*/ 16601 w 16601"/>
              <a:gd name="connsiteY0" fmla="*/ 0 h 9897"/>
              <a:gd name="connsiteX1" fmla="*/ 7201 w 16601"/>
              <a:gd name="connsiteY1" fmla="*/ 9897 h 9897"/>
              <a:gd name="connsiteX0" fmla="*/ 10896 w 10896"/>
              <a:gd name="connsiteY0" fmla="*/ 0 h 10000"/>
              <a:gd name="connsiteX1" fmla="*/ 5234 w 10896"/>
              <a:gd name="connsiteY1" fmla="*/ 10000 h 10000"/>
              <a:gd name="connsiteX0" fmla="*/ 11129 w 11129"/>
              <a:gd name="connsiteY0" fmla="*/ 0 h 10000"/>
              <a:gd name="connsiteX1" fmla="*/ 5467 w 11129"/>
              <a:gd name="connsiteY1" fmla="*/ 10000 h 10000"/>
              <a:gd name="connsiteX0" fmla="*/ 11012 w 11012"/>
              <a:gd name="connsiteY0" fmla="*/ 0 h 8860"/>
              <a:gd name="connsiteX1" fmla="*/ 5530 w 11012"/>
              <a:gd name="connsiteY1" fmla="*/ 8860 h 8860"/>
              <a:gd name="connsiteX0" fmla="*/ 10212 w 10212"/>
              <a:gd name="connsiteY0" fmla="*/ 0 h 8772"/>
              <a:gd name="connsiteX1" fmla="*/ 4908 w 10212"/>
              <a:gd name="connsiteY1" fmla="*/ 8772 h 8772"/>
              <a:gd name="connsiteX0" fmla="*/ 8558 w 8558"/>
              <a:gd name="connsiteY0" fmla="*/ 0 h 10000"/>
              <a:gd name="connsiteX1" fmla="*/ 3364 w 8558"/>
              <a:gd name="connsiteY1" fmla="*/ 10000 h 10000"/>
              <a:gd name="connsiteX0" fmla="*/ 10056 w 10056"/>
              <a:gd name="connsiteY0" fmla="*/ 0 h 10000"/>
              <a:gd name="connsiteX1" fmla="*/ 3987 w 10056"/>
              <a:gd name="connsiteY1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56" h="10000">
                <a:moveTo>
                  <a:pt x="10056" y="0"/>
                </a:moveTo>
                <a:cubicBezTo>
                  <a:pt x="-2428" y="44"/>
                  <a:pt x="-1836" y="9956"/>
                  <a:pt x="3987" y="10000"/>
                </a:cubicBezTo>
              </a:path>
            </a:pathLst>
          </a:custGeom>
          <a:noFill/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4D90ED2D-4232-E7B8-54B5-032280C5B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7488" y="5977866"/>
            <a:ext cx="3097523" cy="27241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Proyecto es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Finalizado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0B16A4-42E8-5B29-E1F4-B149676C06FE}"/>
              </a:ext>
            </a:extLst>
          </p:cNvPr>
          <p:cNvSpPr txBox="1"/>
          <p:nvPr/>
        </p:nvSpPr>
        <p:spPr>
          <a:xfrm>
            <a:off x="7549413" y="5670089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4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4053-10E1-7D39-D5AA-46C75D8E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Instrucciones default y break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713C3-DA6B-D759-840C-2FACC717D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9F73F-DBF7-5204-A607-0F3AF09797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6546" y="1846263"/>
            <a:ext cx="8167254" cy="4637664"/>
          </a:xfrm>
        </p:spPr>
        <p:txBody>
          <a:bodyPr>
            <a:normAutofit/>
          </a:bodyPr>
          <a:lstStyle/>
          <a:p>
            <a:r>
              <a:rPr lang="es-ES" dirty="0"/>
              <a:t>Esta instrucción es </a:t>
            </a:r>
            <a:r>
              <a:rPr lang="es-ES" b="1" dirty="0"/>
              <a:t>opcional</a:t>
            </a:r>
            <a:r>
              <a:rPr lang="es-ES" dirty="0"/>
              <a:t>.</a:t>
            </a:r>
          </a:p>
          <a:p>
            <a:r>
              <a:rPr lang="es-ES" dirty="0"/>
              <a:t>El bloque </a:t>
            </a:r>
            <a:r>
              <a:rPr lang="es-ES" b="1" dirty="0">
                <a:solidFill>
                  <a:schemeClr val="accent2"/>
                </a:solidFill>
              </a:rPr>
              <a:t>default</a:t>
            </a:r>
            <a:r>
              <a:rPr lang="es-ES" dirty="0"/>
              <a:t> es ejecutado si no se ha encontrado ninguna coincidencia.</a:t>
            </a:r>
          </a:p>
          <a:p>
            <a:r>
              <a:rPr lang="es-ES" b="1" dirty="0">
                <a:solidFill>
                  <a:schemeClr val="accent2"/>
                </a:solidFill>
              </a:rPr>
              <a:t>Si se incluye</a:t>
            </a:r>
            <a:r>
              <a:rPr lang="es-ES" dirty="0"/>
              <a:t>, se </a:t>
            </a:r>
            <a:r>
              <a:rPr lang="es-ES" b="1" dirty="0">
                <a:solidFill>
                  <a:schemeClr val="accent2"/>
                </a:solidFill>
              </a:rPr>
              <a:t>recomienda colocarlo como último caso</a:t>
            </a:r>
            <a:r>
              <a:rPr lang="es-ES" dirty="0"/>
              <a:t> en la estructura </a:t>
            </a:r>
            <a:r>
              <a:rPr lang="es-ES" b="1" dirty="0">
                <a:solidFill>
                  <a:schemeClr val="accent2"/>
                </a:solidFill>
              </a:rPr>
              <a:t>switch</a:t>
            </a:r>
            <a:r>
              <a:rPr lang="es-ES" dirty="0"/>
              <a:t>, aunque puede colocarse en cualquier posición.</a:t>
            </a:r>
          </a:p>
          <a:p>
            <a:r>
              <a:rPr lang="es-ES" b="1" dirty="0">
                <a:solidFill>
                  <a:schemeClr val="accent2"/>
                </a:solidFill>
              </a:rPr>
              <a:t>Si no se incluye</a:t>
            </a:r>
            <a:r>
              <a:rPr lang="es-ES" b="1" dirty="0"/>
              <a:t>,</a:t>
            </a:r>
            <a:r>
              <a:rPr lang="es-ES" dirty="0"/>
              <a:t> debe cuidarse de </a:t>
            </a:r>
            <a:r>
              <a:rPr lang="es-ES" b="1" dirty="0">
                <a:solidFill>
                  <a:schemeClr val="accent2"/>
                </a:solidFill>
              </a:rPr>
              <a:t>no omitir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dirty="0"/>
              <a:t>la instrucción </a:t>
            </a:r>
            <a:r>
              <a:rPr lang="es-ES" b="1" dirty="0">
                <a:solidFill>
                  <a:schemeClr val="accent2"/>
                </a:solidFill>
              </a:rPr>
              <a:t>break</a:t>
            </a:r>
            <a:r>
              <a:rPr lang="es-ES" dirty="0"/>
              <a:t> en los casos evaluados.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481C5B-CB69-7FF1-FDC8-C1191EA4145B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4C5D1B-32E2-3B78-52D0-6E88FEC30BA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D40BC9-8EBD-6474-41FF-D6643048C20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D02719-C3C8-4112-D352-FEABC664B8E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7639B2-44CA-127A-6CB9-68019E12B14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86DDE8B-AA68-FDDA-C69D-B977EA01B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7" y="2147763"/>
            <a:ext cx="2098951" cy="121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3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4053-10E1-7D39-D5AA-46C75D8E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Instrucciones default y break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713C3-DA6B-D759-840C-2FACC717D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9F73F-DBF7-5204-A607-0F3AF09797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6546" y="1846263"/>
            <a:ext cx="8167254" cy="463766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dirty="0"/>
              <a:t>Esta instrucción es </a:t>
            </a:r>
            <a:r>
              <a:rPr lang="es-ES" b="1" dirty="0"/>
              <a:t>opcional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La instrucción </a:t>
            </a:r>
            <a:r>
              <a:rPr lang="es-ES" b="1" dirty="0">
                <a:solidFill>
                  <a:schemeClr val="accent2"/>
                </a:solidFill>
              </a:rPr>
              <a:t>break</a:t>
            </a:r>
            <a:r>
              <a:rPr lang="es-ES" dirty="0"/>
              <a:t> ocasiona la salida incondicional del bloque </a:t>
            </a:r>
            <a:r>
              <a:rPr lang="es-ES" b="1" dirty="0">
                <a:solidFill>
                  <a:schemeClr val="accent2"/>
                </a:solidFill>
              </a:rPr>
              <a:t>switch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Si no está presente, todas las opciones subsiguientes serán ejecutadas hasta encontrar la siguiente instrucción </a:t>
            </a:r>
            <a:r>
              <a:rPr lang="es-ES" b="1" dirty="0">
                <a:solidFill>
                  <a:schemeClr val="accent2"/>
                </a:solidFill>
              </a:rPr>
              <a:t>break</a:t>
            </a:r>
            <a:r>
              <a:rPr lang="es-ES" dirty="0"/>
              <a:t> o hasta finalizar el bloque </a:t>
            </a:r>
            <a:r>
              <a:rPr lang="es-ES" b="1" dirty="0">
                <a:solidFill>
                  <a:schemeClr val="accent2"/>
                </a:solidFill>
              </a:rPr>
              <a:t>switch</a:t>
            </a:r>
            <a:r>
              <a:rPr lang="es-ES" dirty="0"/>
              <a:t>.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481C5B-CB69-7FF1-FDC8-C1191EA4145B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4C5D1B-32E2-3B78-52D0-6E88FEC30BA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D40BC9-8EBD-6474-41FF-D6643048C20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D02719-C3C8-4112-D352-FEABC664B8E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7639B2-44CA-127A-6CB9-68019E12B14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DAE0F61-91ED-E02B-40D5-7087D1D05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7" y="2215024"/>
            <a:ext cx="2068532" cy="121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7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F08171-9D61-5C25-15A2-05DA7EE86D0C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C198F-A21C-5474-E1DD-540CC823A93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DE16A1-868E-045E-6549-DF494720ACF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2AFCC5-9F71-7669-86E6-4561028E674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A63230-4122-93E6-AAE9-C323BFC03F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default y break.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973572-B65D-620B-0698-F95A5D96D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090" y="1961555"/>
            <a:ext cx="5846495" cy="4269861"/>
          </a:xfrm>
          <a:prstGeom prst="roundRect">
            <a:avLst>
              <a:gd name="adj" fmla="val 362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estadoProyecto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String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estadoProyecto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progreso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Finalizado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Cancelado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Suspendido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default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Desconocido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"El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proyecto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506D7BE-016B-3009-7D1D-C5444CECE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9800" y="2959272"/>
            <a:ext cx="3714549" cy="28944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proyecto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Asignado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EA16E7-B226-EF7B-C73D-40D49AD393DA}"/>
              </a:ext>
            </a:extLst>
          </p:cNvPr>
          <p:cNvSpPr txBox="1"/>
          <p:nvPr/>
        </p:nvSpPr>
        <p:spPr>
          <a:xfrm>
            <a:off x="7549800" y="2562018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Salida si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estadoProyecto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 = 1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0F518670-AA2F-F83A-17D5-E1D482C97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9800" y="4104999"/>
            <a:ext cx="3714549" cy="28944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proyecto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Cancelado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21EFEA-A513-95BD-0BAF-E68C1D0B8CCD}"/>
              </a:ext>
            </a:extLst>
          </p:cNvPr>
          <p:cNvSpPr txBox="1"/>
          <p:nvPr/>
        </p:nvSpPr>
        <p:spPr>
          <a:xfrm>
            <a:off x="7549800" y="3707746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Salida si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estadoProyecto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 = 2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18329E49-6335-7AF4-B60E-A13D15FB6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9800" y="5250727"/>
            <a:ext cx="3714549" cy="28944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proyecto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Desconocido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C4F9E1-584D-1417-A35C-F08BEB2F8F2C}"/>
              </a:ext>
            </a:extLst>
          </p:cNvPr>
          <p:cNvSpPr txBox="1"/>
          <p:nvPr/>
        </p:nvSpPr>
        <p:spPr>
          <a:xfrm>
            <a:off x="7549800" y="4853474"/>
            <a:ext cx="2901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Salida si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estadoProyecto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 = 8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8FB158-6AD4-BFD3-4901-E93C999FB58E}"/>
              </a:ext>
            </a:extLst>
          </p:cNvPr>
          <p:cNvGrpSpPr/>
          <p:nvPr/>
        </p:nvGrpSpPr>
        <p:grpSpPr>
          <a:xfrm flipH="1">
            <a:off x="5198953" y="4079250"/>
            <a:ext cx="268999" cy="231896"/>
            <a:chOff x="9189267" y="167328"/>
            <a:chExt cx="2100404" cy="1810698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6B0CE0CF-E661-F518-FD9E-552B77B7D0A0}"/>
                </a:ext>
              </a:extLst>
            </p:cNvPr>
            <p:cNvSpPr/>
            <p:nvPr/>
          </p:nvSpPr>
          <p:spPr>
            <a:xfrm>
              <a:off x="9189267" y="167328"/>
              <a:ext cx="2100404" cy="1810698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61A4273-BC68-55F4-FBDC-5527FB745DE9}"/>
                </a:ext>
              </a:extLst>
            </p:cNvPr>
            <p:cNvSpPr/>
            <p:nvPr/>
          </p:nvSpPr>
          <p:spPr>
            <a:xfrm>
              <a:off x="10071980" y="617007"/>
              <a:ext cx="334978" cy="74920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C419189-A7E2-912C-16C9-DB0B49DF376A}"/>
                </a:ext>
              </a:extLst>
            </p:cNvPr>
            <p:cNvSpPr/>
            <p:nvPr/>
          </p:nvSpPr>
          <p:spPr>
            <a:xfrm>
              <a:off x="10021168" y="1447176"/>
              <a:ext cx="436602" cy="43660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0C4DC4-8579-AC4B-5710-AD5629B691F2}"/>
              </a:ext>
            </a:extLst>
          </p:cNvPr>
          <p:cNvGrpSpPr/>
          <p:nvPr/>
        </p:nvGrpSpPr>
        <p:grpSpPr>
          <a:xfrm flipH="1">
            <a:off x="5198953" y="4929355"/>
            <a:ext cx="268999" cy="231896"/>
            <a:chOff x="9189267" y="167328"/>
            <a:chExt cx="2100404" cy="1810698"/>
          </a:xfrm>
        </p:grpSpPr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D3BC185-859D-5F04-094C-11E57135FE66}"/>
                </a:ext>
              </a:extLst>
            </p:cNvPr>
            <p:cNvSpPr/>
            <p:nvPr/>
          </p:nvSpPr>
          <p:spPr>
            <a:xfrm>
              <a:off x="9189267" y="167328"/>
              <a:ext cx="2100404" cy="1810698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D8E9C6E-78CB-DB11-DEFA-F641044DFF2B}"/>
                </a:ext>
              </a:extLst>
            </p:cNvPr>
            <p:cNvSpPr/>
            <p:nvPr/>
          </p:nvSpPr>
          <p:spPr>
            <a:xfrm>
              <a:off x="10071980" y="617007"/>
              <a:ext cx="334978" cy="74920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708AA70-DA21-0448-4E3C-456E47D10ADC}"/>
                </a:ext>
              </a:extLst>
            </p:cNvPr>
            <p:cNvSpPr/>
            <p:nvPr/>
          </p:nvSpPr>
          <p:spPr>
            <a:xfrm>
              <a:off x="10021168" y="1447176"/>
              <a:ext cx="436602" cy="43660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522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F08171-9D61-5C25-15A2-05DA7EE86D0C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C198F-A21C-5474-E1DD-540CC823A93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DE16A1-868E-045E-6549-DF494720ACF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2AFCC5-9F71-7669-86E6-4561028E674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A63230-4122-93E6-AAE9-C323BFC03F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Agrupamiento de casos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954D78-177B-E0EA-6273-9A9EE9A44D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3815281" cy="4373562"/>
          </a:xfrm>
        </p:spPr>
        <p:txBody>
          <a:bodyPr/>
          <a:lstStyle/>
          <a:p>
            <a:r>
              <a:rPr lang="es-ES" dirty="0"/>
              <a:t>Es posible tener bloques </a:t>
            </a:r>
            <a:r>
              <a:rPr lang="es-ES" b="1" dirty="0"/>
              <a:t>case</a:t>
            </a:r>
            <a:r>
              <a:rPr lang="es-ES" dirty="0"/>
              <a:t> vacíos.</a:t>
            </a:r>
          </a:p>
          <a:p>
            <a:r>
              <a:rPr lang="es-ES" dirty="0"/>
              <a:t>Son útiles para agrupar opciones.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4E17C9B-964F-BC52-C88D-337AD28F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5716" y="1681039"/>
            <a:ext cx="3603280" cy="4964605"/>
          </a:xfrm>
          <a:prstGeom prst="roundRect">
            <a:avLst>
              <a:gd name="adj" fmla="val 362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"Detractor"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Pasivo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"Promotor"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416825-B2AB-B180-2E4E-A6B41111F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162" y="4035948"/>
            <a:ext cx="2438399" cy="27241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Pasivo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B77F3-1194-33F5-2373-6C8599E946F0}"/>
              </a:ext>
            </a:extLst>
          </p:cNvPr>
          <p:cNvSpPr txBox="1"/>
          <p:nvPr/>
        </p:nvSpPr>
        <p:spPr>
          <a:xfrm>
            <a:off x="8532162" y="3630182"/>
            <a:ext cx="2446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 si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scoreNPS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es 7 u 8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9D7F2848-3B98-4FA4-94C1-36A5B53EE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162" y="2630114"/>
            <a:ext cx="2438399" cy="27241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Detractor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82894-8EF4-8233-551C-75DDBD27EB65}"/>
              </a:ext>
            </a:extLst>
          </p:cNvPr>
          <p:cNvSpPr txBox="1"/>
          <p:nvPr/>
        </p:nvSpPr>
        <p:spPr>
          <a:xfrm>
            <a:off x="8532162" y="2017870"/>
            <a:ext cx="2513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 si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scoreNPS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es cualquier valor entre 0 y 6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10CB4F5-2D14-82BA-E148-99CB19D76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162" y="5369740"/>
            <a:ext cx="2438399" cy="27241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Promotor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E3B56-3B29-2ED4-A23C-ADEFB84FD8D8}"/>
              </a:ext>
            </a:extLst>
          </p:cNvPr>
          <p:cNvSpPr txBox="1"/>
          <p:nvPr/>
        </p:nvSpPr>
        <p:spPr>
          <a:xfrm>
            <a:off x="8532162" y="4963974"/>
            <a:ext cx="2545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 si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scoreNPS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es 9 o 10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70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4F08171-9D61-5C25-15A2-05DA7EE86D0C}"/>
              </a:ext>
            </a:extLst>
          </p:cNvPr>
          <p:cNvGrpSpPr/>
          <p:nvPr/>
        </p:nvGrpSpPr>
        <p:grpSpPr>
          <a:xfrm>
            <a:off x="838200" y="-39920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EC198F-A21C-5474-E1DD-540CC823A93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DE16A1-868E-045E-6549-DF494720ACF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2AFCC5-9F71-7669-86E6-4561028E674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A63230-4122-93E6-AAE9-C323BFC03F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Optimizando el agrupamiento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4E17C9B-964F-BC52-C88D-337AD28F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672" y="1635273"/>
            <a:ext cx="3603280" cy="4964605"/>
          </a:xfrm>
          <a:prstGeom prst="roundRect">
            <a:avLst>
              <a:gd name="adj" fmla="val 362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"Detractor"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Pasivo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"Promotor"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6D06A74D-346A-1C7F-0FA3-527E57D7B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8329" y="2430920"/>
            <a:ext cx="3603280" cy="3129781"/>
          </a:xfrm>
          <a:prstGeom prst="roundRect">
            <a:avLst>
              <a:gd name="adj" fmla="val 360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"Detractor"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Pasivo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"Promotor"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B2E764-4E18-91D5-27A8-5006137D0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379" y="1944759"/>
            <a:ext cx="700088" cy="7000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8DDA2-1508-1C28-ED0B-E2624738B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24" y="2080876"/>
            <a:ext cx="700088" cy="7000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809AF2-9266-60D4-18CB-18228F41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552" y="2080876"/>
            <a:ext cx="700088" cy="70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5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Múltiple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switch-case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9F30319-171D-2E62-3C64-EB4B3AB6689E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6A98D-EC89-8C32-79DF-2172F1BBE23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5C8BE8E-AFD4-4547-D81B-F71C18545E2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CDE804-39E8-9CCD-5E6C-0757EBB741EA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E3196B-0767-FCA2-82DF-9C9F7DC2A12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D240D0-6E76-3103-37D6-C5ED056B5BE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56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DE4A-13F7-24E1-A685-4EA4CB78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85CB-9357-64C1-B840-A341D306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42399-4A29-1E18-3398-E4A3F6BA75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1. ¿Qué se mostrará en pantalla si ejecutamos este código?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89AFE-5C3B-B370-5BE5-68C63072150F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D7669B-1DA3-EB34-7DE1-394F27A517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FE420C-5FB5-FF9D-4AEE-3DE0FA7ED12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B58B-FA2A-21E5-CBA4-BBEB971DF43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498A3-C7CE-FD99-9808-2E79DDFD22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22090ADE-C55E-8A89-920F-45E6C3A22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2832124"/>
            <a:ext cx="4348424" cy="3387701"/>
          </a:xfrm>
          <a:prstGeom prst="roundRect">
            <a:avLst>
              <a:gd name="adj" fmla="val 531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(i){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default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"Default"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"1"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"0"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232B95-8A8D-3E4D-EA42-6CF51CF7DD94}"/>
              </a:ext>
            </a:extLst>
          </p:cNvPr>
          <p:cNvSpPr txBox="1"/>
          <p:nvPr/>
        </p:nvSpPr>
        <p:spPr>
          <a:xfrm>
            <a:off x="7010971" y="3127668"/>
            <a:ext cx="4030270" cy="2597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Error de compilación.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1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Default 1 0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Default 1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50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DE4A-13F7-24E1-A685-4EA4CB78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85CB-9357-64C1-B840-A341D306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42399-4A29-1E18-3398-E4A3F6BA75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2. ¿Qué se mostrará en pantalla si ejecutamos este código?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89AFE-5C3B-B370-5BE5-68C63072150F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D7669B-1DA3-EB34-7DE1-394F27A517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FE420C-5FB5-FF9D-4AEE-3DE0FA7ED12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B58B-FA2A-21E5-CBA4-BBEB971DF43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498A3-C7CE-FD99-9808-2E79DDFD22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8232B95-8A8D-3E4D-EA42-6CF51CF7DD94}"/>
              </a:ext>
            </a:extLst>
          </p:cNvPr>
          <p:cNvSpPr txBox="1"/>
          <p:nvPr/>
        </p:nvSpPr>
        <p:spPr>
          <a:xfrm>
            <a:off x="7060667" y="3147546"/>
            <a:ext cx="3943708" cy="2597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Desconocido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Apagado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Encendido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Error de compilación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BE45463-8973-5649-7203-BC17C0815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2612965"/>
            <a:ext cx="4786339" cy="4014694"/>
          </a:xfrm>
          <a:prstGeom prst="roundRect">
            <a:avLst>
              <a:gd name="adj" fmla="val 417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ENCENDIDO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APAGADO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ENCENDIDO: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Encendido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default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Desconocido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APAGADO: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Apagado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4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DE4A-13F7-24E1-A685-4EA4CB78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85CB-9357-64C1-B840-A341D306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42399-4A29-1E18-3398-E4A3F6BA75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3. ¿Qué se mostrará en pantalla si ejecutamos este código?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89AFE-5C3B-B370-5BE5-68C63072150F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D7669B-1DA3-EB34-7DE1-394F27A517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FE420C-5FB5-FF9D-4AEE-3DE0FA7ED12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B58B-FA2A-21E5-CBA4-BBEB971DF43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498A3-C7CE-FD99-9808-2E79DDFD22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8232B95-8A8D-3E4D-EA42-6CF51CF7DD94}"/>
              </a:ext>
            </a:extLst>
          </p:cNvPr>
          <p:cNvSpPr txBox="1"/>
          <p:nvPr/>
        </p:nvSpPr>
        <p:spPr>
          <a:xfrm>
            <a:off x="6433267" y="3245678"/>
            <a:ext cx="4745210" cy="2597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Error de compilación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No imprimirá nada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9596abc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Ninguna de las anteriores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2A4049F-F5A4-A982-4FC5-1FA320C32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3080929"/>
            <a:ext cx="4440035" cy="2927326"/>
          </a:xfrm>
          <a:prstGeom prst="roundRect">
            <a:avLst>
              <a:gd name="adj" fmla="val 444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=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97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(i) {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95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"95"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96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"96"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'a'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'b'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"b"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'c'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System.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"c"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18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DE4A-13F7-24E1-A685-4EA4CB78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85CB-9357-64C1-B840-A341D306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42399-4A29-1E18-3398-E4A3F6BA75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4. ¿Qué se mostrará en pantalla si ejecutamos este código?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89AFE-5C3B-B370-5BE5-68C63072150F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D7669B-1DA3-EB34-7DE1-394F27A517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FE420C-5FB5-FF9D-4AEE-3DE0FA7ED12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B58B-FA2A-21E5-CBA4-BBEB971DF43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498A3-C7CE-FD99-9808-2E79DDFD22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8232B95-8A8D-3E4D-EA42-6CF51CF7DD94}"/>
              </a:ext>
            </a:extLst>
          </p:cNvPr>
          <p:cNvSpPr txBox="1"/>
          <p:nvPr/>
        </p:nvSpPr>
        <p:spPr>
          <a:xfrm>
            <a:off x="6433267" y="3245678"/>
            <a:ext cx="4745210" cy="2597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Error de compilación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No imprimirá nada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Ir al colegio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Ninguna de las anteriores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D9246F8-FA39-48CD-4786-5CC7745B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2893077"/>
            <a:ext cx="4745211" cy="3355862"/>
          </a:xfrm>
          <a:prstGeom prst="roundRect">
            <a:avLst>
              <a:gd name="adj" fmla="val 412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grupo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nido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grupo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al colegio"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grupo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14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DE4A-13F7-24E1-A685-4EA4CB78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01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85CB-9357-64C1-B840-A341D306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42399-4A29-1E18-3398-E4A3F6BA7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649016" cy="4875212"/>
          </a:xfrm>
        </p:spPr>
        <p:txBody>
          <a:bodyPr>
            <a:normAutofit fontScale="77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evaluación de un candidato para un puesto de trabajo resulta en una puntuación entre 0 y 10. Se desea mostrar una descripción de la evaluación alcanzada de acuerdo con los siguientes criterios: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0-4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descartado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5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en suspenso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6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aceptable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7,8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notable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9, 10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sobresaliente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Escriba un programa que solicite la puntuación de un candidato y muestre la descripción que le corresponda.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89AFE-5C3B-B370-5BE5-68C63072150F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D7669B-1DA3-EB34-7DE1-394F27A517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FE420C-5FB5-FF9D-4AEE-3DE0FA7ED12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B58B-FA2A-21E5-CBA4-BBEB971DF43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498A3-C7CE-FD99-9808-2E79DDFD22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A6C052C-481A-D209-DEDC-4147F79CE3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65" r="31023"/>
          <a:stretch/>
        </p:blipFill>
        <p:spPr>
          <a:xfrm>
            <a:off x="7750520" y="-7588"/>
            <a:ext cx="4463360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A29AE8-BCB9-C27A-207D-E4BF0B3A7023}"/>
              </a:ext>
            </a:extLst>
          </p:cNvPr>
          <p:cNvSpPr txBox="1"/>
          <p:nvPr/>
        </p:nvSpPr>
        <p:spPr>
          <a:xfrm>
            <a:off x="84535" y="6392106"/>
            <a:ext cx="1076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https://www.workitdaily.com/media-library/hiring-managers-looks-to-shake-the-hand-of-a-job-candidate.jpg?id=23564520&amp;width=2000&amp;height=1500&amp;quality=85&amp;coordinates=50%2C0%2C50%2C0</a:t>
            </a:r>
          </a:p>
        </p:txBody>
      </p:sp>
    </p:spTree>
    <p:extLst>
      <p:ext uri="{BB962C8B-B14F-4D97-AF65-F5344CB8AC3E}">
        <p14:creationId xmlns:p14="http://schemas.microsoft.com/office/powerpoint/2010/main" val="322796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BDE4A-13F7-24E1-A685-4EA4CB78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02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2C85CB-9357-64C1-B840-A341D306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42399-4A29-1E18-3398-E4A3F6BA7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649016" cy="4226250"/>
          </a:xfrm>
        </p:spPr>
        <p:txBody>
          <a:bodyPr>
            <a:normAutofit fontScale="925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Hoy en día la cotización del dólar y del euro son la siguientes:</a:t>
            </a:r>
          </a:p>
          <a:p>
            <a:pPr marL="508000" lvl="1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 dólar = 3.82 soles</a:t>
            </a:r>
          </a:p>
          <a:p>
            <a:pPr marL="508000" lvl="1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 euro = 4.17 soles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Escriba un programa que permita la conversión entre dólares, euros y soles. El usuario elegirá las monedas de origen y destino e ingresará el monto a convertir.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89AFE-5C3B-B370-5BE5-68C63072150F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D7669B-1DA3-EB34-7DE1-394F27A517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FE420C-5FB5-FF9D-4AEE-3DE0FA7ED12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DEB58B-FA2A-21E5-CBA4-BBEB971DF43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498A3-C7CE-FD99-9808-2E79DDFD22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Forex Currency Exchange Deals Store, Save 51% | jlcatj.gob.mx">
            <a:extLst>
              <a:ext uri="{FF2B5EF4-FFF2-40B4-BE49-F238E27FC236}">
                <a16:creationId xmlns:a16="http://schemas.microsoft.com/office/drawing/2014/main" id="{94B715A8-265B-EEB5-F970-E732A8D25E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88" r="25555"/>
          <a:stretch/>
        </p:blipFill>
        <p:spPr bwMode="auto">
          <a:xfrm>
            <a:off x="7767873" y="0"/>
            <a:ext cx="4439494" cy="685800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A29AE8-BCB9-C27A-207D-E4BF0B3A7023}"/>
              </a:ext>
            </a:extLst>
          </p:cNvPr>
          <p:cNvSpPr txBox="1"/>
          <p:nvPr/>
        </p:nvSpPr>
        <p:spPr>
          <a:xfrm>
            <a:off x="84535" y="6392106"/>
            <a:ext cx="10766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https://www.investopedia.com/thmb/knHvOGMNobhSMkYTlWC3WcupO8s=/1500x1000/filters:fill(auto,1)/GettyImages-1031084282-0a12713ac4234067baa62f6f34a48494.jpg</a:t>
            </a:r>
          </a:p>
        </p:txBody>
      </p:sp>
    </p:spTree>
    <p:extLst>
      <p:ext uri="{BB962C8B-B14F-4D97-AF65-F5344CB8AC3E}">
        <p14:creationId xmlns:p14="http://schemas.microsoft.com/office/powerpoint/2010/main" val="161308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658068" cy="4373562"/>
          </a:xfrm>
        </p:spPr>
        <p:txBody>
          <a:bodyPr>
            <a:normAutofit/>
          </a:bodyPr>
          <a:lstStyle/>
          <a:p>
            <a:r>
              <a:rPr lang="es-ES" dirty="0"/>
              <a:t>¿Qué es una condicional múltiple?</a:t>
            </a:r>
          </a:p>
          <a:p>
            <a:r>
              <a:rPr lang="es-ES" dirty="0"/>
              <a:t>¿En qué casos se utiliza?</a:t>
            </a:r>
          </a:p>
          <a:p>
            <a:r>
              <a:rPr lang="es-ES" dirty="0"/>
              <a:t>¿Cómo trabaja una estructura </a:t>
            </a:r>
            <a:r>
              <a:rPr lang="es-ES" b="1" dirty="0"/>
              <a:t>switch-case</a:t>
            </a:r>
            <a:r>
              <a:rPr lang="es-ES" dirty="0"/>
              <a:t>?</a:t>
            </a:r>
          </a:p>
          <a:p>
            <a:r>
              <a:rPr lang="es-ES" dirty="0"/>
              <a:t>¿Para qué sirven </a:t>
            </a:r>
            <a:r>
              <a:rPr lang="es-ES" b="1" dirty="0"/>
              <a:t>break</a:t>
            </a:r>
            <a:r>
              <a:rPr lang="es-ES" dirty="0"/>
              <a:t> y </a:t>
            </a:r>
            <a:r>
              <a:rPr lang="es-ES" b="1" dirty="0"/>
              <a:t>default</a:t>
            </a:r>
            <a:r>
              <a:rPr lang="es-ES" dirty="0"/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7519</TotalTime>
  <Words>2491</Words>
  <Application>Microsoft Office PowerPoint</Application>
  <PresentationFormat>Panorámica</PresentationFormat>
  <Paragraphs>289</Paragraphs>
  <Slides>33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Helvetica</vt:lpstr>
      <vt:lpstr>JetBrains Mono</vt:lpstr>
      <vt:lpstr>Arial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Estructura Condicional switch-case (I)</vt:lpstr>
      <vt:lpstr>Conocimientos previos</vt:lpstr>
      <vt:lpstr>Logro de aprendizaje</vt:lpstr>
      <vt:lpstr>Utilidad</vt:lpstr>
      <vt:lpstr>Presentación de PowerPoint</vt:lpstr>
      <vt:lpstr>Presentación de PowerPoint</vt:lpstr>
      <vt:lpstr>Estructura Condicional Múltiple</vt:lpstr>
      <vt:lpstr>Estructura Condicional Múltiple</vt:lpstr>
      <vt:lpstr>Flujo de una ECM</vt:lpstr>
      <vt:lpstr>Condicional Múltiple en Java</vt:lpstr>
      <vt:lpstr>Presentación de PowerPoint</vt:lpstr>
      <vt:lpstr>Sentencia switch-case</vt:lpstr>
      <vt:lpstr>Sentencia switch-case. Ejemplo.</vt:lpstr>
      <vt:lpstr>Instrucciones default y break</vt:lpstr>
      <vt:lpstr>Instrucciones default y break</vt:lpstr>
      <vt:lpstr>default y break. Ejemplo.</vt:lpstr>
      <vt:lpstr>Agrupamiento de casos</vt:lpstr>
      <vt:lpstr>Optimizando el agrupamiento</vt:lpstr>
      <vt:lpstr>Presentación de PowerPoint</vt:lpstr>
      <vt:lpstr>Cuestionario</vt:lpstr>
      <vt:lpstr>Cuestionario</vt:lpstr>
      <vt:lpstr>Cuestionario</vt:lpstr>
      <vt:lpstr>Cuestionario</vt:lpstr>
      <vt:lpstr>Ejercicio 01</vt:lpstr>
      <vt:lpstr>Ejercicio 02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04 - Sesión 07</dc:title>
  <dc:creator>jorgerodcas@hotmail.com</dc:creator>
  <cp:lastModifiedBy>Juan Carlos García</cp:lastModifiedBy>
  <cp:revision>314</cp:revision>
  <dcterms:modified xsi:type="dcterms:W3CDTF">2023-10-20T21:16:09Z</dcterms:modified>
</cp:coreProperties>
</file>