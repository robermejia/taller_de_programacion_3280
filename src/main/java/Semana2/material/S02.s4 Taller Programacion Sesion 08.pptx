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27"/>
  </p:notesMasterIdLst>
  <p:sldIdLst>
    <p:sldId id="256" r:id="rId2"/>
    <p:sldId id="409" r:id="rId3"/>
    <p:sldId id="429" r:id="rId4"/>
    <p:sldId id="430" r:id="rId5"/>
    <p:sldId id="431" r:id="rId6"/>
    <p:sldId id="258" r:id="rId7"/>
    <p:sldId id="257" r:id="rId8"/>
    <p:sldId id="263" r:id="rId9"/>
    <p:sldId id="264" r:id="rId10"/>
    <p:sldId id="330" r:id="rId11"/>
    <p:sldId id="433" r:id="rId12"/>
    <p:sldId id="417" r:id="rId13"/>
    <p:sldId id="423" r:id="rId14"/>
    <p:sldId id="434" r:id="rId15"/>
    <p:sldId id="436" r:id="rId16"/>
    <p:sldId id="437" r:id="rId17"/>
    <p:sldId id="435" r:id="rId18"/>
    <p:sldId id="425" r:id="rId19"/>
    <p:sldId id="426" r:id="rId20"/>
    <p:sldId id="427" r:id="rId21"/>
    <p:sldId id="438" r:id="rId22"/>
    <p:sldId id="432" r:id="rId23"/>
    <p:sldId id="261" r:id="rId24"/>
    <p:sldId id="329" r:id="rId25"/>
    <p:sldId id="259" r:id="rId26"/>
  </p:sldIdLst>
  <p:sldSz cx="12192000" cy="6858000"/>
  <p:notesSz cx="6858000" cy="9144000"/>
  <p:embeddedFontLst>
    <p:embeddedFont>
      <p:font typeface="Helvetica" panose="020B0604020202020204" pitchFamily="34" charset="0"/>
      <p:regular r:id="rId28"/>
      <p:bold r:id="rId29"/>
      <p:italic r:id="rId30"/>
      <p:boldItalic r:id="rId31"/>
    </p:embeddedFont>
    <p:embeddedFont>
      <p:font typeface="JetBrains Mono" panose="02000009000000000000" pitchFamily="49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h2+CB7AwAKHevBYi6hg66TyKQM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E29"/>
    <a:srgbClr val="102A5D"/>
    <a:srgbClr val="29C83F"/>
    <a:srgbClr val="FE5F57"/>
    <a:srgbClr val="CC00CC"/>
    <a:srgbClr val="C59EE2"/>
    <a:srgbClr val="1B5E8B"/>
    <a:srgbClr val="8E927B"/>
    <a:srgbClr val="6C91D9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1656" autoAdjust="0"/>
  </p:normalViewPr>
  <p:slideViewPr>
    <p:cSldViewPr snapToGrid="0">
      <p:cViewPr varScale="1">
        <p:scale>
          <a:sx n="124" d="100"/>
          <a:sy n="124" d="100"/>
        </p:scale>
        <p:origin x="403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La respuesta a la última pregunta es: A una función.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Hacer recordar a los estudiantes que han usado ciertas funciones preconstruidas en PSeInt.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El switch mejorado funciona al estilo de una función.</a:t>
            </a: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r>
              <a:rPr lang="es-ES" dirty="0"/>
              <a:t>Respuestas que deben buscarse:</a:t>
            </a:r>
          </a:p>
          <a:p>
            <a:pPr marL="228600" indent="0">
              <a:buNone/>
            </a:pPr>
            <a:endParaRPr lang="es-ES" dirty="0"/>
          </a:p>
          <a:p>
            <a:pPr>
              <a:buAutoNum type="arabicPeriod"/>
            </a:pPr>
            <a:r>
              <a:rPr lang="es-ES" dirty="0"/>
              <a:t>Elaborar un plan de solución.</a:t>
            </a:r>
          </a:p>
          <a:p>
            <a:pPr>
              <a:buAutoNum type="arabicPeriod"/>
            </a:pPr>
            <a:r>
              <a:rPr lang="es-ES" dirty="0"/>
              <a:t>En una secuencia de instrucciones o algoritmo.</a:t>
            </a:r>
          </a:p>
          <a:p>
            <a:pPr>
              <a:buAutoNum type="arabicPeriod"/>
            </a:pPr>
            <a:r>
              <a:rPr lang="es-ES" dirty="0"/>
              <a:t>Solucionar el problema.</a:t>
            </a:r>
          </a:p>
          <a:p>
            <a:pPr>
              <a:buAutoNum type="arabicPeriod"/>
            </a:pPr>
            <a:r>
              <a:rPr lang="es-ES" dirty="0"/>
              <a:t>Java</a:t>
            </a:r>
          </a:p>
          <a:p>
            <a:pPr marL="228600" indent="0">
              <a:buNone/>
            </a:pPr>
            <a:endParaRPr lang="en-US" dirty="0"/>
          </a:p>
          <a:p>
            <a:pPr marL="228600" indent="0">
              <a:buNone/>
            </a:pPr>
            <a:r>
              <a:rPr lang="en-US" dirty="0" err="1"/>
              <a:t>Utilidad</a:t>
            </a:r>
            <a:r>
              <a:rPr lang="en-US" dirty="0"/>
              <a:t>: </a:t>
            </a:r>
            <a:r>
              <a:rPr lang="en-US" dirty="0" err="1"/>
              <a:t>Programar</a:t>
            </a:r>
            <a:r>
              <a:rPr lang="en-US" dirty="0"/>
              <a:t> </a:t>
            </a:r>
            <a:r>
              <a:rPr lang="en-US" dirty="0" err="1"/>
              <a:t>instrucciones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Java para resolver un </a:t>
            </a:r>
            <a:r>
              <a:rPr lang="en-US" dirty="0" err="1"/>
              <a:t>problema</a:t>
            </a:r>
            <a:r>
              <a:rPr lang="en-US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9745"/>
            <a:ext cx="10515600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10515600" cy="4373562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996C790-6468-2096-DC96-223AAF4804CF}"/>
              </a:ext>
            </a:extLst>
          </p:cNvPr>
          <p:cNvSpPr/>
          <p:nvPr/>
        </p:nvSpPr>
        <p:spPr>
          <a:xfrm>
            <a:off x="-9236" y="-13581"/>
            <a:ext cx="12210289" cy="6871581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94652"/>
              <a:gd name="connsiteY0" fmla="*/ 3543837 h 6871580"/>
              <a:gd name="connsiteX1" fmla="*/ 18565 w 12394652"/>
              <a:gd name="connsiteY1" fmla="*/ 6871580 h 6871580"/>
              <a:gd name="connsiteX2" fmla="*/ 9597131 w 12394652"/>
              <a:gd name="connsiteY2" fmla="*/ 6871580 h 6871580"/>
              <a:gd name="connsiteX3" fmla="*/ 12394652 w 12394652"/>
              <a:gd name="connsiteY3" fmla="*/ 2236205 h 6871580"/>
              <a:gd name="connsiteX4" fmla="*/ 12394652 w 12394652"/>
              <a:gd name="connsiteY4" fmla="*/ 0 h 6871580"/>
              <a:gd name="connsiteX5" fmla="*/ 8275325 w 12394652"/>
              <a:gd name="connsiteY5" fmla="*/ 0 h 6871580"/>
              <a:gd name="connsiteX6" fmla="*/ 0 w 12394652"/>
              <a:gd name="connsiteY6" fmla="*/ 3543837 h 6871580"/>
              <a:gd name="connsiteX0" fmla="*/ 0 w 12394652"/>
              <a:gd name="connsiteY0" fmla="*/ 3543837 h 6899290"/>
              <a:gd name="connsiteX1" fmla="*/ 18565 w 12394652"/>
              <a:gd name="connsiteY1" fmla="*/ 6871580 h 6899290"/>
              <a:gd name="connsiteX2" fmla="*/ 10412828 w 12394652"/>
              <a:gd name="connsiteY2" fmla="*/ 6899290 h 6899290"/>
              <a:gd name="connsiteX3" fmla="*/ 12394652 w 12394652"/>
              <a:gd name="connsiteY3" fmla="*/ 2236205 h 6899290"/>
              <a:gd name="connsiteX4" fmla="*/ 12394652 w 12394652"/>
              <a:gd name="connsiteY4" fmla="*/ 0 h 6899290"/>
              <a:gd name="connsiteX5" fmla="*/ 8275325 w 12394652"/>
              <a:gd name="connsiteY5" fmla="*/ 0 h 6899290"/>
              <a:gd name="connsiteX6" fmla="*/ 0 w 12394652"/>
              <a:gd name="connsiteY6" fmla="*/ 3543837 h 6899290"/>
              <a:gd name="connsiteX0" fmla="*/ 0 w 12394652"/>
              <a:gd name="connsiteY0" fmla="*/ 3543837 h 6871581"/>
              <a:gd name="connsiteX1" fmla="*/ 18565 w 12394652"/>
              <a:gd name="connsiteY1" fmla="*/ 6871580 h 6871581"/>
              <a:gd name="connsiteX2" fmla="*/ 10028419 w 12394652"/>
              <a:gd name="connsiteY2" fmla="*/ 6871581 h 6871581"/>
              <a:gd name="connsiteX3" fmla="*/ 12394652 w 12394652"/>
              <a:gd name="connsiteY3" fmla="*/ 2236205 h 6871581"/>
              <a:gd name="connsiteX4" fmla="*/ 12394652 w 12394652"/>
              <a:gd name="connsiteY4" fmla="*/ 0 h 6871581"/>
              <a:gd name="connsiteX5" fmla="*/ 8275325 w 12394652"/>
              <a:gd name="connsiteY5" fmla="*/ 0 h 6871581"/>
              <a:gd name="connsiteX6" fmla="*/ 0 w 12394652"/>
              <a:gd name="connsiteY6" fmla="*/ 3543837 h 6871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94652" h="6871581">
                <a:moveTo>
                  <a:pt x="0" y="3543837"/>
                </a:moveTo>
                <a:cubicBezTo>
                  <a:pt x="3063" y="4566879"/>
                  <a:pt x="15502" y="5848538"/>
                  <a:pt x="18565" y="6871580"/>
                </a:cubicBezTo>
                <a:lnTo>
                  <a:pt x="10028419" y="6871581"/>
                </a:lnTo>
                <a:cubicBezTo>
                  <a:pt x="11310153" y="5444150"/>
                  <a:pt x="11985983" y="4197789"/>
                  <a:pt x="12394652" y="2236205"/>
                </a:cubicBezTo>
                <a:lnTo>
                  <a:pt x="12394652" y="0"/>
                </a:lnTo>
                <a:lnTo>
                  <a:pt x="8275325" y="0"/>
                </a:lnTo>
                <a:cubicBezTo>
                  <a:pt x="8666108" y="4324539"/>
                  <a:pt x="2283555" y="4597057"/>
                  <a:pt x="0" y="3543837"/>
                </a:cubicBezTo>
                <a:close/>
              </a:path>
            </a:pathLst>
          </a:custGeom>
          <a:solidFill>
            <a:schemeClr val="tx2">
              <a:lumMod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FDE1541-A8F6-99CE-A61B-085CFF7C2FE8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420110"/>
            <a:ext cx="7361383" cy="1936426"/>
          </a:xfrm>
        </p:spPr>
        <p:txBody>
          <a:bodyPr/>
          <a:lstStyle/>
          <a:p>
            <a:pPr algn="l"/>
            <a:r>
              <a:rPr lang="es-ES" dirty="0"/>
              <a:t>Taller de Programación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B3F2A-9181-449D-AA57-948B7B8C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068577"/>
            <a:ext cx="9144000" cy="50062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4177256" y="5291778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6732099" y="5291777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25769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7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75000"/>
                  </a:schemeClr>
                </a:solidFill>
              </a:rPr>
              <a:t> de: https://www.pixelstalk.net/wp-content/uploads/images6/Abstract-Wallpaper-HD-Free-download.png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758F-024B-2F50-B520-ED628F4B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B93E-B685-96FE-85AC-B18D0014E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C200FF1-E187-5964-6F48-B4B2B35E040B}"/>
              </a:ext>
            </a:extLst>
          </p:cNvPr>
          <p:cNvSpPr/>
          <p:nvPr/>
        </p:nvSpPr>
        <p:spPr>
          <a:xfrm>
            <a:off x="11672413" y="696202"/>
            <a:ext cx="297138" cy="546307"/>
          </a:xfrm>
          <a:custGeom>
            <a:avLst/>
            <a:gdLst>
              <a:gd name="connsiteX0" fmla="*/ 1208635 w 2606526"/>
              <a:gd name="connsiteY0" fmla="*/ 3533833 h 4792265"/>
              <a:gd name="connsiteX1" fmla="*/ 1837851 w 2606526"/>
              <a:gd name="connsiteY1" fmla="*/ 4163049 h 4792265"/>
              <a:gd name="connsiteX2" fmla="*/ 1208635 w 2606526"/>
              <a:gd name="connsiteY2" fmla="*/ 4792265 h 4792265"/>
              <a:gd name="connsiteX3" fmla="*/ 579419 w 2606526"/>
              <a:gd name="connsiteY3" fmla="*/ 4163049 h 4792265"/>
              <a:gd name="connsiteX4" fmla="*/ 1208635 w 2606526"/>
              <a:gd name="connsiteY4" fmla="*/ 3533833 h 4792265"/>
              <a:gd name="connsiteX5" fmla="*/ 1200716 w 2606526"/>
              <a:gd name="connsiteY5" fmla="*/ 151 h 4792265"/>
              <a:gd name="connsiteX6" fmla="*/ 2154725 w 2606526"/>
              <a:gd name="connsiteY6" fmla="*/ 265531 h 4792265"/>
              <a:gd name="connsiteX7" fmla="*/ 2118510 w 2606526"/>
              <a:gd name="connsiteY7" fmla="*/ 2157706 h 4792265"/>
              <a:gd name="connsiteX8" fmla="*/ 1702051 w 2606526"/>
              <a:gd name="connsiteY8" fmla="*/ 3171693 h 4792265"/>
              <a:gd name="connsiteX9" fmla="*/ 733331 w 2606526"/>
              <a:gd name="connsiteY9" fmla="*/ 3171693 h 4792265"/>
              <a:gd name="connsiteX10" fmla="*/ 1285592 w 2606526"/>
              <a:gd name="connsiteY10" fmla="*/ 1858941 h 4792265"/>
              <a:gd name="connsiteX11" fmla="*/ 534154 w 2606526"/>
              <a:gd name="connsiteY11" fmla="*/ 1134663 h 4792265"/>
              <a:gd name="connsiteX12" fmla="*/ 0 w 2606526"/>
              <a:gd name="connsiteY12" fmla="*/ 627669 h 4792265"/>
              <a:gd name="connsiteX13" fmla="*/ 1200716 w 2606526"/>
              <a:gd name="connsiteY13" fmla="*/ 151 h 479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6526" h="4792265">
                <a:moveTo>
                  <a:pt x="1208635" y="3533833"/>
                </a:moveTo>
                <a:cubicBezTo>
                  <a:pt x="1556141" y="3533833"/>
                  <a:pt x="1837851" y="3815543"/>
                  <a:pt x="1837851" y="4163049"/>
                </a:cubicBezTo>
                <a:cubicBezTo>
                  <a:pt x="1837851" y="4510555"/>
                  <a:pt x="1556141" y="4792265"/>
                  <a:pt x="1208635" y="4792265"/>
                </a:cubicBezTo>
                <a:cubicBezTo>
                  <a:pt x="861129" y="4792265"/>
                  <a:pt x="579419" y="4510555"/>
                  <a:pt x="579419" y="4163049"/>
                </a:cubicBezTo>
                <a:cubicBezTo>
                  <a:pt x="579419" y="3815543"/>
                  <a:pt x="861129" y="3533833"/>
                  <a:pt x="1208635" y="3533833"/>
                </a:cubicBezTo>
                <a:close/>
                <a:moveTo>
                  <a:pt x="1200716" y="151"/>
                </a:moveTo>
                <a:cubicBezTo>
                  <a:pt x="1610009" y="-5318"/>
                  <a:pt x="1978183" y="138028"/>
                  <a:pt x="2154725" y="265531"/>
                </a:cubicBezTo>
                <a:cubicBezTo>
                  <a:pt x="2507810" y="520537"/>
                  <a:pt x="2981607" y="1193513"/>
                  <a:pt x="2118510" y="2157706"/>
                </a:cubicBezTo>
                <a:cubicBezTo>
                  <a:pt x="1791563" y="2522949"/>
                  <a:pt x="1466659" y="2916688"/>
                  <a:pt x="1702051" y="3171693"/>
                </a:cubicBezTo>
                <a:lnTo>
                  <a:pt x="733331" y="3171693"/>
                </a:lnTo>
                <a:cubicBezTo>
                  <a:pt x="618654" y="2462505"/>
                  <a:pt x="982591" y="2224397"/>
                  <a:pt x="1285592" y="1858941"/>
                </a:cubicBezTo>
                <a:cubicBezTo>
                  <a:pt x="2169309" y="793071"/>
                  <a:pt x="974756" y="633704"/>
                  <a:pt x="534154" y="1134663"/>
                </a:cubicBezTo>
                <a:lnTo>
                  <a:pt x="0" y="627669"/>
                </a:lnTo>
                <a:cubicBezTo>
                  <a:pt x="341014" y="159907"/>
                  <a:pt x="791424" y="5621"/>
                  <a:pt x="1200716" y="1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D12120-79A2-349B-7D93-BE80DD02ECA2}"/>
              </a:ext>
            </a:extLst>
          </p:cNvPr>
          <p:cNvGrpSpPr/>
          <p:nvPr/>
        </p:nvGrpSpPr>
        <p:grpSpPr>
          <a:xfrm>
            <a:off x="4797036" y="2016614"/>
            <a:ext cx="2597927" cy="4457031"/>
            <a:chOff x="6701073" y="1989453"/>
            <a:chExt cx="2597927" cy="445703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53F68C-B3FB-EAD6-9D96-F41D6D66B8BA}"/>
                </a:ext>
              </a:extLst>
            </p:cNvPr>
            <p:cNvSpPr/>
            <p:nvPr/>
          </p:nvSpPr>
          <p:spPr>
            <a:xfrm>
              <a:off x="6701073" y="1989453"/>
              <a:ext cx="1563045" cy="1134664"/>
            </a:xfrm>
            <a:custGeom>
              <a:avLst/>
              <a:gdLst>
                <a:gd name="connsiteX0" fmla="*/ 1200716 w 1563045"/>
                <a:gd name="connsiteY0" fmla="*/ 152 h 1134664"/>
                <a:gd name="connsiteX1" fmla="*/ 1497624 w 1563045"/>
                <a:gd name="connsiteY1" fmla="*/ 21380 h 1134664"/>
                <a:gd name="connsiteX2" fmla="*/ 1563045 w 1563045"/>
                <a:gd name="connsiteY2" fmla="*/ 34022 h 1134664"/>
                <a:gd name="connsiteX3" fmla="*/ 1350085 w 1563045"/>
                <a:gd name="connsiteY3" fmla="*/ 890705 h 1134664"/>
                <a:gd name="connsiteX4" fmla="*/ 1308206 w 1563045"/>
                <a:gd name="connsiteY4" fmla="*/ 876942 h 1134664"/>
                <a:gd name="connsiteX5" fmla="*/ 534154 w 1563045"/>
                <a:gd name="connsiteY5" fmla="*/ 1134664 h 1134664"/>
                <a:gd name="connsiteX6" fmla="*/ 0 w 1563045"/>
                <a:gd name="connsiteY6" fmla="*/ 627670 h 1134664"/>
                <a:gd name="connsiteX7" fmla="*/ 1200716 w 1563045"/>
                <a:gd name="connsiteY7" fmla="*/ 152 h 113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63045" h="1134664">
                  <a:moveTo>
                    <a:pt x="1200716" y="152"/>
                  </a:moveTo>
                  <a:cubicBezTo>
                    <a:pt x="1303039" y="-1215"/>
                    <a:pt x="1402793" y="6719"/>
                    <a:pt x="1497624" y="21380"/>
                  </a:cubicBezTo>
                  <a:lnTo>
                    <a:pt x="1563045" y="34022"/>
                  </a:lnTo>
                  <a:lnTo>
                    <a:pt x="1350085" y="890705"/>
                  </a:lnTo>
                  <a:lnTo>
                    <a:pt x="1308206" y="876942"/>
                  </a:lnTo>
                  <a:cubicBezTo>
                    <a:pt x="1063992" y="822716"/>
                    <a:pt x="726918" y="915495"/>
                    <a:pt x="534154" y="1134664"/>
                  </a:cubicBezTo>
                  <a:lnTo>
                    <a:pt x="0" y="627670"/>
                  </a:lnTo>
                  <a:cubicBezTo>
                    <a:pt x="341014" y="159908"/>
                    <a:pt x="791424" y="5622"/>
                    <a:pt x="1200716" y="152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B05EA2E-1430-8A86-CCD9-30C15DEF29DA}"/>
                </a:ext>
              </a:extLst>
            </p:cNvPr>
            <p:cNvSpPr/>
            <p:nvPr/>
          </p:nvSpPr>
          <p:spPr>
            <a:xfrm>
              <a:off x="8042559" y="2021114"/>
              <a:ext cx="1256441" cy="2091405"/>
            </a:xfrm>
            <a:custGeom>
              <a:avLst/>
              <a:gdLst>
                <a:gd name="connsiteX0" fmla="*/ 212960 w 1256441"/>
                <a:gd name="connsiteY0" fmla="*/ 0 h 2091405"/>
                <a:gd name="connsiteX1" fmla="*/ 285800 w 1256441"/>
                <a:gd name="connsiteY1" fmla="*/ 14076 h 2091405"/>
                <a:gd name="connsiteX2" fmla="*/ 804639 w 1256441"/>
                <a:gd name="connsiteY2" fmla="*/ 231510 h 2091405"/>
                <a:gd name="connsiteX3" fmla="*/ 845467 w 1256441"/>
                <a:gd name="connsiteY3" fmla="*/ 2034149 h 2091405"/>
                <a:gd name="connsiteX4" fmla="*/ 796200 w 1256441"/>
                <a:gd name="connsiteY4" fmla="*/ 2091405 h 2091405"/>
                <a:gd name="connsiteX5" fmla="*/ 208272 w 1256441"/>
                <a:gd name="connsiteY5" fmla="*/ 1390894 h 2091405"/>
                <a:gd name="connsiteX6" fmla="*/ 208335 w 1256441"/>
                <a:gd name="connsiteY6" fmla="*/ 1390749 h 2091405"/>
                <a:gd name="connsiteX7" fmla="*/ 56407 w 1256441"/>
                <a:gd name="connsiteY7" fmla="*/ 875220 h 2091405"/>
                <a:gd name="connsiteX8" fmla="*/ 0 w 1256441"/>
                <a:gd name="connsiteY8" fmla="*/ 856683 h 20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6441" h="2091405">
                  <a:moveTo>
                    <a:pt x="212960" y="0"/>
                  </a:moveTo>
                  <a:lnTo>
                    <a:pt x="285800" y="14076"/>
                  </a:lnTo>
                  <a:cubicBezTo>
                    <a:pt x="509105" y="65943"/>
                    <a:pt x="694300" y="151821"/>
                    <a:pt x="804639" y="231510"/>
                  </a:cubicBezTo>
                  <a:cubicBezTo>
                    <a:pt x="1146690" y="478547"/>
                    <a:pt x="1602027" y="1117839"/>
                    <a:pt x="845467" y="2034149"/>
                  </a:cubicBezTo>
                  <a:lnTo>
                    <a:pt x="796200" y="2091405"/>
                  </a:lnTo>
                  <a:lnTo>
                    <a:pt x="208272" y="1390894"/>
                  </a:lnTo>
                  <a:lnTo>
                    <a:pt x="208335" y="1390749"/>
                  </a:lnTo>
                  <a:cubicBezTo>
                    <a:pt x="312630" y="1119668"/>
                    <a:pt x="223640" y="951159"/>
                    <a:pt x="56407" y="875220"/>
                  </a:cubicBezTo>
                  <a:lnTo>
                    <a:pt x="0" y="85668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B7E928-E0DE-41E8-74B3-4CCD9F408269}"/>
                </a:ext>
              </a:extLst>
            </p:cNvPr>
            <p:cNvSpPr/>
            <p:nvPr/>
          </p:nvSpPr>
          <p:spPr>
            <a:xfrm>
              <a:off x="7403470" y="3409219"/>
              <a:ext cx="1434600" cy="1746777"/>
            </a:xfrm>
            <a:custGeom>
              <a:avLst/>
              <a:gdLst>
                <a:gd name="connsiteX0" fmla="*/ 846672 w 1434600"/>
                <a:gd name="connsiteY0" fmla="*/ 0 h 1746777"/>
                <a:gd name="connsiteX1" fmla="*/ 1434600 w 1434600"/>
                <a:gd name="connsiteY1" fmla="*/ 700511 h 1746777"/>
                <a:gd name="connsiteX2" fmla="*/ 1406824 w 1434600"/>
                <a:gd name="connsiteY2" fmla="*/ 732790 h 1746777"/>
                <a:gd name="connsiteX3" fmla="*/ 990365 w 1434600"/>
                <a:gd name="connsiteY3" fmla="*/ 1746777 h 1746777"/>
                <a:gd name="connsiteX4" fmla="*/ 21645 w 1434600"/>
                <a:gd name="connsiteY4" fmla="*/ 1746777 h 1746777"/>
                <a:gd name="connsiteX5" fmla="*/ 573906 w 1434600"/>
                <a:gd name="connsiteY5" fmla="*/ 434025 h 1746777"/>
                <a:gd name="connsiteX6" fmla="*/ 813413 w 1434600"/>
                <a:gd name="connsiteY6" fmla="*/ 76335 h 174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4600" h="1746777">
                  <a:moveTo>
                    <a:pt x="846672" y="0"/>
                  </a:moveTo>
                  <a:lnTo>
                    <a:pt x="1434600" y="700511"/>
                  </a:lnTo>
                  <a:lnTo>
                    <a:pt x="1406824" y="732790"/>
                  </a:lnTo>
                  <a:cubicBezTo>
                    <a:pt x="1079877" y="1098033"/>
                    <a:pt x="754973" y="1491772"/>
                    <a:pt x="990365" y="1746777"/>
                  </a:cubicBezTo>
                  <a:lnTo>
                    <a:pt x="21645" y="1746777"/>
                  </a:lnTo>
                  <a:cubicBezTo>
                    <a:pt x="-93032" y="1037589"/>
                    <a:pt x="270905" y="799481"/>
                    <a:pt x="573906" y="434025"/>
                  </a:cubicBezTo>
                  <a:cubicBezTo>
                    <a:pt x="684371" y="300791"/>
                    <a:pt x="762362" y="181722"/>
                    <a:pt x="813413" y="7633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C93C34-C38B-4BD3-AD1E-04C3D8B5BF10}"/>
                </a:ext>
              </a:extLst>
            </p:cNvPr>
            <p:cNvSpPr/>
            <p:nvPr/>
          </p:nvSpPr>
          <p:spPr>
            <a:xfrm>
              <a:off x="7428277" y="5391825"/>
              <a:ext cx="1054659" cy="1054659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F112ED1-6548-F1B3-934D-4CF57E4D91B2}"/>
              </a:ext>
            </a:extLst>
          </p:cNvPr>
          <p:cNvSpPr txBox="1"/>
          <p:nvPr/>
        </p:nvSpPr>
        <p:spPr>
          <a:xfrm>
            <a:off x="1590015" y="2195318"/>
            <a:ext cx="29174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3600" b="1" dirty="0">
                <a:solidFill>
                  <a:srgbClr val="7030A0"/>
                </a:solidFill>
              </a:rPr>
              <a:t>Condicional múltiple</a:t>
            </a:r>
            <a:endParaRPr lang="en-US" sz="3600" b="1" dirty="0">
              <a:solidFill>
                <a:srgbClr val="7030A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20411A-A0AD-E780-03A5-0884363DC59B}"/>
              </a:ext>
            </a:extLst>
          </p:cNvPr>
          <p:cNvSpPr txBox="1"/>
          <p:nvPr/>
        </p:nvSpPr>
        <p:spPr>
          <a:xfrm>
            <a:off x="7573122" y="2347221"/>
            <a:ext cx="3236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Estructura switch-case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5C140-566F-E9FE-6A1E-990CC260BBE9}"/>
              </a:ext>
            </a:extLst>
          </p:cNvPr>
          <p:cNvSpPr txBox="1"/>
          <p:nvPr/>
        </p:nvSpPr>
        <p:spPr>
          <a:xfrm>
            <a:off x="3963153" y="4309768"/>
            <a:ext cx="307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break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49EC00-EBD5-A33A-7E51-935557A31076}"/>
              </a:ext>
            </a:extLst>
          </p:cNvPr>
          <p:cNvSpPr txBox="1"/>
          <p:nvPr/>
        </p:nvSpPr>
        <p:spPr>
          <a:xfrm>
            <a:off x="6766742" y="5575714"/>
            <a:ext cx="307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default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04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758F-024B-2F50-B520-ED628F4B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B93E-B685-96FE-85AC-B18D0014E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C200FF1-E187-5964-6F48-B4B2B35E040B}"/>
              </a:ext>
            </a:extLst>
          </p:cNvPr>
          <p:cNvSpPr/>
          <p:nvPr/>
        </p:nvSpPr>
        <p:spPr>
          <a:xfrm>
            <a:off x="11672413" y="696202"/>
            <a:ext cx="297138" cy="546307"/>
          </a:xfrm>
          <a:custGeom>
            <a:avLst/>
            <a:gdLst>
              <a:gd name="connsiteX0" fmla="*/ 1208635 w 2606526"/>
              <a:gd name="connsiteY0" fmla="*/ 3533833 h 4792265"/>
              <a:gd name="connsiteX1" fmla="*/ 1837851 w 2606526"/>
              <a:gd name="connsiteY1" fmla="*/ 4163049 h 4792265"/>
              <a:gd name="connsiteX2" fmla="*/ 1208635 w 2606526"/>
              <a:gd name="connsiteY2" fmla="*/ 4792265 h 4792265"/>
              <a:gd name="connsiteX3" fmla="*/ 579419 w 2606526"/>
              <a:gd name="connsiteY3" fmla="*/ 4163049 h 4792265"/>
              <a:gd name="connsiteX4" fmla="*/ 1208635 w 2606526"/>
              <a:gd name="connsiteY4" fmla="*/ 3533833 h 4792265"/>
              <a:gd name="connsiteX5" fmla="*/ 1200716 w 2606526"/>
              <a:gd name="connsiteY5" fmla="*/ 151 h 4792265"/>
              <a:gd name="connsiteX6" fmla="*/ 2154725 w 2606526"/>
              <a:gd name="connsiteY6" fmla="*/ 265531 h 4792265"/>
              <a:gd name="connsiteX7" fmla="*/ 2118510 w 2606526"/>
              <a:gd name="connsiteY7" fmla="*/ 2157706 h 4792265"/>
              <a:gd name="connsiteX8" fmla="*/ 1702051 w 2606526"/>
              <a:gd name="connsiteY8" fmla="*/ 3171693 h 4792265"/>
              <a:gd name="connsiteX9" fmla="*/ 733331 w 2606526"/>
              <a:gd name="connsiteY9" fmla="*/ 3171693 h 4792265"/>
              <a:gd name="connsiteX10" fmla="*/ 1285592 w 2606526"/>
              <a:gd name="connsiteY10" fmla="*/ 1858941 h 4792265"/>
              <a:gd name="connsiteX11" fmla="*/ 534154 w 2606526"/>
              <a:gd name="connsiteY11" fmla="*/ 1134663 h 4792265"/>
              <a:gd name="connsiteX12" fmla="*/ 0 w 2606526"/>
              <a:gd name="connsiteY12" fmla="*/ 627669 h 4792265"/>
              <a:gd name="connsiteX13" fmla="*/ 1200716 w 2606526"/>
              <a:gd name="connsiteY13" fmla="*/ 151 h 479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6526" h="4792265">
                <a:moveTo>
                  <a:pt x="1208635" y="3533833"/>
                </a:moveTo>
                <a:cubicBezTo>
                  <a:pt x="1556141" y="3533833"/>
                  <a:pt x="1837851" y="3815543"/>
                  <a:pt x="1837851" y="4163049"/>
                </a:cubicBezTo>
                <a:cubicBezTo>
                  <a:pt x="1837851" y="4510555"/>
                  <a:pt x="1556141" y="4792265"/>
                  <a:pt x="1208635" y="4792265"/>
                </a:cubicBezTo>
                <a:cubicBezTo>
                  <a:pt x="861129" y="4792265"/>
                  <a:pt x="579419" y="4510555"/>
                  <a:pt x="579419" y="4163049"/>
                </a:cubicBezTo>
                <a:cubicBezTo>
                  <a:pt x="579419" y="3815543"/>
                  <a:pt x="861129" y="3533833"/>
                  <a:pt x="1208635" y="3533833"/>
                </a:cubicBezTo>
                <a:close/>
                <a:moveTo>
                  <a:pt x="1200716" y="151"/>
                </a:moveTo>
                <a:cubicBezTo>
                  <a:pt x="1610009" y="-5318"/>
                  <a:pt x="1978183" y="138028"/>
                  <a:pt x="2154725" y="265531"/>
                </a:cubicBezTo>
                <a:cubicBezTo>
                  <a:pt x="2507810" y="520537"/>
                  <a:pt x="2981607" y="1193513"/>
                  <a:pt x="2118510" y="2157706"/>
                </a:cubicBezTo>
                <a:cubicBezTo>
                  <a:pt x="1791563" y="2522949"/>
                  <a:pt x="1466659" y="2916688"/>
                  <a:pt x="1702051" y="3171693"/>
                </a:cubicBezTo>
                <a:lnTo>
                  <a:pt x="733331" y="3171693"/>
                </a:lnTo>
                <a:cubicBezTo>
                  <a:pt x="618654" y="2462505"/>
                  <a:pt x="982591" y="2224397"/>
                  <a:pt x="1285592" y="1858941"/>
                </a:cubicBezTo>
                <a:cubicBezTo>
                  <a:pt x="2169309" y="793071"/>
                  <a:pt x="974756" y="633704"/>
                  <a:pt x="534154" y="1134663"/>
                </a:cubicBezTo>
                <a:lnTo>
                  <a:pt x="0" y="627669"/>
                </a:lnTo>
                <a:cubicBezTo>
                  <a:pt x="341014" y="159907"/>
                  <a:pt x="791424" y="5621"/>
                  <a:pt x="1200716" y="1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D12120-79A2-349B-7D93-BE80DD02ECA2}"/>
              </a:ext>
            </a:extLst>
          </p:cNvPr>
          <p:cNvGrpSpPr/>
          <p:nvPr/>
        </p:nvGrpSpPr>
        <p:grpSpPr>
          <a:xfrm>
            <a:off x="4797036" y="2016614"/>
            <a:ext cx="2597927" cy="4457031"/>
            <a:chOff x="6701073" y="1989453"/>
            <a:chExt cx="2597927" cy="445703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53F68C-B3FB-EAD6-9D96-F41D6D66B8BA}"/>
                </a:ext>
              </a:extLst>
            </p:cNvPr>
            <p:cNvSpPr/>
            <p:nvPr/>
          </p:nvSpPr>
          <p:spPr>
            <a:xfrm>
              <a:off x="6701073" y="1989453"/>
              <a:ext cx="1563045" cy="1134664"/>
            </a:xfrm>
            <a:custGeom>
              <a:avLst/>
              <a:gdLst>
                <a:gd name="connsiteX0" fmla="*/ 1200716 w 1563045"/>
                <a:gd name="connsiteY0" fmla="*/ 152 h 1134664"/>
                <a:gd name="connsiteX1" fmla="*/ 1497624 w 1563045"/>
                <a:gd name="connsiteY1" fmla="*/ 21380 h 1134664"/>
                <a:gd name="connsiteX2" fmla="*/ 1563045 w 1563045"/>
                <a:gd name="connsiteY2" fmla="*/ 34022 h 1134664"/>
                <a:gd name="connsiteX3" fmla="*/ 1350085 w 1563045"/>
                <a:gd name="connsiteY3" fmla="*/ 890705 h 1134664"/>
                <a:gd name="connsiteX4" fmla="*/ 1308206 w 1563045"/>
                <a:gd name="connsiteY4" fmla="*/ 876942 h 1134664"/>
                <a:gd name="connsiteX5" fmla="*/ 534154 w 1563045"/>
                <a:gd name="connsiteY5" fmla="*/ 1134664 h 1134664"/>
                <a:gd name="connsiteX6" fmla="*/ 0 w 1563045"/>
                <a:gd name="connsiteY6" fmla="*/ 627670 h 1134664"/>
                <a:gd name="connsiteX7" fmla="*/ 1200716 w 1563045"/>
                <a:gd name="connsiteY7" fmla="*/ 152 h 113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63045" h="1134664">
                  <a:moveTo>
                    <a:pt x="1200716" y="152"/>
                  </a:moveTo>
                  <a:cubicBezTo>
                    <a:pt x="1303039" y="-1215"/>
                    <a:pt x="1402793" y="6719"/>
                    <a:pt x="1497624" y="21380"/>
                  </a:cubicBezTo>
                  <a:lnTo>
                    <a:pt x="1563045" y="34022"/>
                  </a:lnTo>
                  <a:lnTo>
                    <a:pt x="1350085" y="890705"/>
                  </a:lnTo>
                  <a:lnTo>
                    <a:pt x="1308206" y="876942"/>
                  </a:lnTo>
                  <a:cubicBezTo>
                    <a:pt x="1063992" y="822716"/>
                    <a:pt x="726918" y="915495"/>
                    <a:pt x="534154" y="1134664"/>
                  </a:cubicBezTo>
                  <a:lnTo>
                    <a:pt x="0" y="627670"/>
                  </a:lnTo>
                  <a:cubicBezTo>
                    <a:pt x="341014" y="159908"/>
                    <a:pt x="791424" y="5622"/>
                    <a:pt x="1200716" y="152"/>
                  </a:cubicBezTo>
                  <a:close/>
                </a:path>
              </a:pathLst>
            </a:custGeom>
            <a:solidFill>
              <a:srgbClr val="C59E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B05EA2E-1430-8A86-CCD9-30C15DEF29DA}"/>
                </a:ext>
              </a:extLst>
            </p:cNvPr>
            <p:cNvSpPr/>
            <p:nvPr/>
          </p:nvSpPr>
          <p:spPr>
            <a:xfrm>
              <a:off x="8042559" y="2021114"/>
              <a:ext cx="1256441" cy="2091405"/>
            </a:xfrm>
            <a:custGeom>
              <a:avLst/>
              <a:gdLst>
                <a:gd name="connsiteX0" fmla="*/ 212960 w 1256441"/>
                <a:gd name="connsiteY0" fmla="*/ 0 h 2091405"/>
                <a:gd name="connsiteX1" fmla="*/ 285800 w 1256441"/>
                <a:gd name="connsiteY1" fmla="*/ 14076 h 2091405"/>
                <a:gd name="connsiteX2" fmla="*/ 804639 w 1256441"/>
                <a:gd name="connsiteY2" fmla="*/ 231510 h 2091405"/>
                <a:gd name="connsiteX3" fmla="*/ 845467 w 1256441"/>
                <a:gd name="connsiteY3" fmla="*/ 2034149 h 2091405"/>
                <a:gd name="connsiteX4" fmla="*/ 796200 w 1256441"/>
                <a:gd name="connsiteY4" fmla="*/ 2091405 h 2091405"/>
                <a:gd name="connsiteX5" fmla="*/ 208272 w 1256441"/>
                <a:gd name="connsiteY5" fmla="*/ 1390894 h 2091405"/>
                <a:gd name="connsiteX6" fmla="*/ 208335 w 1256441"/>
                <a:gd name="connsiteY6" fmla="*/ 1390749 h 2091405"/>
                <a:gd name="connsiteX7" fmla="*/ 56407 w 1256441"/>
                <a:gd name="connsiteY7" fmla="*/ 875220 h 2091405"/>
                <a:gd name="connsiteX8" fmla="*/ 0 w 1256441"/>
                <a:gd name="connsiteY8" fmla="*/ 856683 h 20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6441" h="2091405">
                  <a:moveTo>
                    <a:pt x="212960" y="0"/>
                  </a:moveTo>
                  <a:lnTo>
                    <a:pt x="285800" y="14076"/>
                  </a:lnTo>
                  <a:cubicBezTo>
                    <a:pt x="509105" y="65943"/>
                    <a:pt x="694300" y="151821"/>
                    <a:pt x="804639" y="231510"/>
                  </a:cubicBezTo>
                  <a:cubicBezTo>
                    <a:pt x="1146690" y="478547"/>
                    <a:pt x="1602027" y="1117839"/>
                    <a:pt x="845467" y="2034149"/>
                  </a:cubicBezTo>
                  <a:lnTo>
                    <a:pt x="796200" y="2091405"/>
                  </a:lnTo>
                  <a:lnTo>
                    <a:pt x="208272" y="1390894"/>
                  </a:lnTo>
                  <a:lnTo>
                    <a:pt x="208335" y="1390749"/>
                  </a:lnTo>
                  <a:cubicBezTo>
                    <a:pt x="312630" y="1119668"/>
                    <a:pt x="223640" y="951159"/>
                    <a:pt x="56407" y="875220"/>
                  </a:cubicBezTo>
                  <a:lnTo>
                    <a:pt x="0" y="85668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B7E928-E0DE-41E8-74B3-4CCD9F408269}"/>
                </a:ext>
              </a:extLst>
            </p:cNvPr>
            <p:cNvSpPr/>
            <p:nvPr/>
          </p:nvSpPr>
          <p:spPr>
            <a:xfrm>
              <a:off x="7403470" y="3409219"/>
              <a:ext cx="1434600" cy="1746777"/>
            </a:xfrm>
            <a:custGeom>
              <a:avLst/>
              <a:gdLst>
                <a:gd name="connsiteX0" fmla="*/ 846672 w 1434600"/>
                <a:gd name="connsiteY0" fmla="*/ 0 h 1746777"/>
                <a:gd name="connsiteX1" fmla="*/ 1434600 w 1434600"/>
                <a:gd name="connsiteY1" fmla="*/ 700511 h 1746777"/>
                <a:gd name="connsiteX2" fmla="*/ 1406824 w 1434600"/>
                <a:gd name="connsiteY2" fmla="*/ 732790 h 1746777"/>
                <a:gd name="connsiteX3" fmla="*/ 990365 w 1434600"/>
                <a:gd name="connsiteY3" fmla="*/ 1746777 h 1746777"/>
                <a:gd name="connsiteX4" fmla="*/ 21645 w 1434600"/>
                <a:gd name="connsiteY4" fmla="*/ 1746777 h 1746777"/>
                <a:gd name="connsiteX5" fmla="*/ 573906 w 1434600"/>
                <a:gd name="connsiteY5" fmla="*/ 434025 h 1746777"/>
                <a:gd name="connsiteX6" fmla="*/ 813413 w 1434600"/>
                <a:gd name="connsiteY6" fmla="*/ 76335 h 174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4600" h="1746777">
                  <a:moveTo>
                    <a:pt x="846672" y="0"/>
                  </a:moveTo>
                  <a:lnTo>
                    <a:pt x="1434600" y="700511"/>
                  </a:lnTo>
                  <a:lnTo>
                    <a:pt x="1406824" y="732790"/>
                  </a:lnTo>
                  <a:cubicBezTo>
                    <a:pt x="1079877" y="1098033"/>
                    <a:pt x="754973" y="1491772"/>
                    <a:pt x="990365" y="1746777"/>
                  </a:cubicBezTo>
                  <a:lnTo>
                    <a:pt x="21645" y="1746777"/>
                  </a:lnTo>
                  <a:cubicBezTo>
                    <a:pt x="-93032" y="1037589"/>
                    <a:pt x="270905" y="799481"/>
                    <a:pt x="573906" y="434025"/>
                  </a:cubicBezTo>
                  <a:cubicBezTo>
                    <a:pt x="684371" y="300791"/>
                    <a:pt x="762362" y="181722"/>
                    <a:pt x="813413" y="7633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C93C34-C38B-4BD3-AD1E-04C3D8B5BF10}"/>
                </a:ext>
              </a:extLst>
            </p:cNvPr>
            <p:cNvSpPr/>
            <p:nvPr/>
          </p:nvSpPr>
          <p:spPr>
            <a:xfrm>
              <a:off x="7428277" y="5391825"/>
              <a:ext cx="1054659" cy="1054659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F112ED1-6548-F1B3-934D-4CF57E4D91B2}"/>
              </a:ext>
            </a:extLst>
          </p:cNvPr>
          <p:cNvSpPr txBox="1"/>
          <p:nvPr/>
        </p:nvSpPr>
        <p:spPr>
          <a:xfrm>
            <a:off x="1590015" y="2195318"/>
            <a:ext cx="29174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Condicional múltiple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20411A-A0AD-E780-03A5-0884363DC59B}"/>
              </a:ext>
            </a:extLst>
          </p:cNvPr>
          <p:cNvSpPr txBox="1"/>
          <p:nvPr/>
        </p:nvSpPr>
        <p:spPr>
          <a:xfrm>
            <a:off x="7573122" y="2347221"/>
            <a:ext cx="3236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solidFill>
                  <a:srgbClr val="0070C0"/>
                </a:solidFill>
              </a:rPr>
              <a:t>Estructura switch-case</a:t>
            </a:r>
            <a:endParaRPr lang="en-US" sz="3600" b="1" dirty="0">
              <a:solidFill>
                <a:srgbClr val="0070C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5C140-566F-E9FE-6A1E-990CC260BBE9}"/>
              </a:ext>
            </a:extLst>
          </p:cNvPr>
          <p:cNvSpPr txBox="1"/>
          <p:nvPr/>
        </p:nvSpPr>
        <p:spPr>
          <a:xfrm>
            <a:off x="3963153" y="4309768"/>
            <a:ext cx="307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break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49EC00-EBD5-A33A-7E51-935557A31076}"/>
              </a:ext>
            </a:extLst>
          </p:cNvPr>
          <p:cNvSpPr txBox="1"/>
          <p:nvPr/>
        </p:nvSpPr>
        <p:spPr>
          <a:xfrm>
            <a:off x="6766742" y="5575714"/>
            <a:ext cx="307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default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76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758F-024B-2F50-B520-ED628F4B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B93E-B685-96FE-85AC-B18D0014E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C200FF1-E187-5964-6F48-B4B2B35E040B}"/>
              </a:ext>
            </a:extLst>
          </p:cNvPr>
          <p:cNvSpPr/>
          <p:nvPr/>
        </p:nvSpPr>
        <p:spPr>
          <a:xfrm>
            <a:off x="11672413" y="696202"/>
            <a:ext cx="297138" cy="546307"/>
          </a:xfrm>
          <a:custGeom>
            <a:avLst/>
            <a:gdLst>
              <a:gd name="connsiteX0" fmla="*/ 1208635 w 2606526"/>
              <a:gd name="connsiteY0" fmla="*/ 3533833 h 4792265"/>
              <a:gd name="connsiteX1" fmla="*/ 1837851 w 2606526"/>
              <a:gd name="connsiteY1" fmla="*/ 4163049 h 4792265"/>
              <a:gd name="connsiteX2" fmla="*/ 1208635 w 2606526"/>
              <a:gd name="connsiteY2" fmla="*/ 4792265 h 4792265"/>
              <a:gd name="connsiteX3" fmla="*/ 579419 w 2606526"/>
              <a:gd name="connsiteY3" fmla="*/ 4163049 h 4792265"/>
              <a:gd name="connsiteX4" fmla="*/ 1208635 w 2606526"/>
              <a:gd name="connsiteY4" fmla="*/ 3533833 h 4792265"/>
              <a:gd name="connsiteX5" fmla="*/ 1200716 w 2606526"/>
              <a:gd name="connsiteY5" fmla="*/ 151 h 4792265"/>
              <a:gd name="connsiteX6" fmla="*/ 2154725 w 2606526"/>
              <a:gd name="connsiteY6" fmla="*/ 265531 h 4792265"/>
              <a:gd name="connsiteX7" fmla="*/ 2118510 w 2606526"/>
              <a:gd name="connsiteY7" fmla="*/ 2157706 h 4792265"/>
              <a:gd name="connsiteX8" fmla="*/ 1702051 w 2606526"/>
              <a:gd name="connsiteY8" fmla="*/ 3171693 h 4792265"/>
              <a:gd name="connsiteX9" fmla="*/ 733331 w 2606526"/>
              <a:gd name="connsiteY9" fmla="*/ 3171693 h 4792265"/>
              <a:gd name="connsiteX10" fmla="*/ 1285592 w 2606526"/>
              <a:gd name="connsiteY10" fmla="*/ 1858941 h 4792265"/>
              <a:gd name="connsiteX11" fmla="*/ 534154 w 2606526"/>
              <a:gd name="connsiteY11" fmla="*/ 1134663 h 4792265"/>
              <a:gd name="connsiteX12" fmla="*/ 0 w 2606526"/>
              <a:gd name="connsiteY12" fmla="*/ 627669 h 4792265"/>
              <a:gd name="connsiteX13" fmla="*/ 1200716 w 2606526"/>
              <a:gd name="connsiteY13" fmla="*/ 151 h 479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6526" h="4792265">
                <a:moveTo>
                  <a:pt x="1208635" y="3533833"/>
                </a:moveTo>
                <a:cubicBezTo>
                  <a:pt x="1556141" y="3533833"/>
                  <a:pt x="1837851" y="3815543"/>
                  <a:pt x="1837851" y="4163049"/>
                </a:cubicBezTo>
                <a:cubicBezTo>
                  <a:pt x="1837851" y="4510555"/>
                  <a:pt x="1556141" y="4792265"/>
                  <a:pt x="1208635" y="4792265"/>
                </a:cubicBezTo>
                <a:cubicBezTo>
                  <a:pt x="861129" y="4792265"/>
                  <a:pt x="579419" y="4510555"/>
                  <a:pt x="579419" y="4163049"/>
                </a:cubicBezTo>
                <a:cubicBezTo>
                  <a:pt x="579419" y="3815543"/>
                  <a:pt x="861129" y="3533833"/>
                  <a:pt x="1208635" y="3533833"/>
                </a:cubicBezTo>
                <a:close/>
                <a:moveTo>
                  <a:pt x="1200716" y="151"/>
                </a:moveTo>
                <a:cubicBezTo>
                  <a:pt x="1610009" y="-5318"/>
                  <a:pt x="1978183" y="138028"/>
                  <a:pt x="2154725" y="265531"/>
                </a:cubicBezTo>
                <a:cubicBezTo>
                  <a:pt x="2507810" y="520537"/>
                  <a:pt x="2981607" y="1193513"/>
                  <a:pt x="2118510" y="2157706"/>
                </a:cubicBezTo>
                <a:cubicBezTo>
                  <a:pt x="1791563" y="2522949"/>
                  <a:pt x="1466659" y="2916688"/>
                  <a:pt x="1702051" y="3171693"/>
                </a:cubicBezTo>
                <a:lnTo>
                  <a:pt x="733331" y="3171693"/>
                </a:lnTo>
                <a:cubicBezTo>
                  <a:pt x="618654" y="2462505"/>
                  <a:pt x="982591" y="2224397"/>
                  <a:pt x="1285592" y="1858941"/>
                </a:cubicBezTo>
                <a:cubicBezTo>
                  <a:pt x="2169309" y="793071"/>
                  <a:pt x="974756" y="633704"/>
                  <a:pt x="534154" y="1134663"/>
                </a:cubicBezTo>
                <a:lnTo>
                  <a:pt x="0" y="627669"/>
                </a:lnTo>
                <a:cubicBezTo>
                  <a:pt x="341014" y="159907"/>
                  <a:pt x="791424" y="5621"/>
                  <a:pt x="1200716" y="1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D12120-79A2-349B-7D93-BE80DD02ECA2}"/>
              </a:ext>
            </a:extLst>
          </p:cNvPr>
          <p:cNvGrpSpPr/>
          <p:nvPr/>
        </p:nvGrpSpPr>
        <p:grpSpPr>
          <a:xfrm>
            <a:off x="4797036" y="2016614"/>
            <a:ext cx="2597927" cy="4457031"/>
            <a:chOff x="6701073" y="1989453"/>
            <a:chExt cx="2597927" cy="445703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53F68C-B3FB-EAD6-9D96-F41D6D66B8BA}"/>
                </a:ext>
              </a:extLst>
            </p:cNvPr>
            <p:cNvSpPr/>
            <p:nvPr/>
          </p:nvSpPr>
          <p:spPr>
            <a:xfrm>
              <a:off x="6701073" y="1989453"/>
              <a:ext cx="1563045" cy="1134664"/>
            </a:xfrm>
            <a:custGeom>
              <a:avLst/>
              <a:gdLst>
                <a:gd name="connsiteX0" fmla="*/ 1200716 w 1563045"/>
                <a:gd name="connsiteY0" fmla="*/ 152 h 1134664"/>
                <a:gd name="connsiteX1" fmla="*/ 1497624 w 1563045"/>
                <a:gd name="connsiteY1" fmla="*/ 21380 h 1134664"/>
                <a:gd name="connsiteX2" fmla="*/ 1563045 w 1563045"/>
                <a:gd name="connsiteY2" fmla="*/ 34022 h 1134664"/>
                <a:gd name="connsiteX3" fmla="*/ 1350085 w 1563045"/>
                <a:gd name="connsiteY3" fmla="*/ 890705 h 1134664"/>
                <a:gd name="connsiteX4" fmla="*/ 1308206 w 1563045"/>
                <a:gd name="connsiteY4" fmla="*/ 876942 h 1134664"/>
                <a:gd name="connsiteX5" fmla="*/ 534154 w 1563045"/>
                <a:gd name="connsiteY5" fmla="*/ 1134664 h 1134664"/>
                <a:gd name="connsiteX6" fmla="*/ 0 w 1563045"/>
                <a:gd name="connsiteY6" fmla="*/ 627670 h 1134664"/>
                <a:gd name="connsiteX7" fmla="*/ 1200716 w 1563045"/>
                <a:gd name="connsiteY7" fmla="*/ 152 h 113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63045" h="1134664">
                  <a:moveTo>
                    <a:pt x="1200716" y="152"/>
                  </a:moveTo>
                  <a:cubicBezTo>
                    <a:pt x="1303039" y="-1215"/>
                    <a:pt x="1402793" y="6719"/>
                    <a:pt x="1497624" y="21380"/>
                  </a:cubicBezTo>
                  <a:lnTo>
                    <a:pt x="1563045" y="34022"/>
                  </a:lnTo>
                  <a:lnTo>
                    <a:pt x="1350085" y="890705"/>
                  </a:lnTo>
                  <a:lnTo>
                    <a:pt x="1308206" y="876942"/>
                  </a:lnTo>
                  <a:cubicBezTo>
                    <a:pt x="1063992" y="822716"/>
                    <a:pt x="726918" y="915495"/>
                    <a:pt x="534154" y="1134664"/>
                  </a:cubicBezTo>
                  <a:lnTo>
                    <a:pt x="0" y="627670"/>
                  </a:lnTo>
                  <a:cubicBezTo>
                    <a:pt x="341014" y="159908"/>
                    <a:pt x="791424" y="5622"/>
                    <a:pt x="1200716" y="152"/>
                  </a:cubicBezTo>
                  <a:close/>
                </a:path>
              </a:pathLst>
            </a:custGeom>
            <a:solidFill>
              <a:srgbClr val="C59E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B05EA2E-1430-8A86-CCD9-30C15DEF29DA}"/>
                </a:ext>
              </a:extLst>
            </p:cNvPr>
            <p:cNvSpPr/>
            <p:nvPr/>
          </p:nvSpPr>
          <p:spPr>
            <a:xfrm>
              <a:off x="8042559" y="2021114"/>
              <a:ext cx="1256441" cy="2091405"/>
            </a:xfrm>
            <a:custGeom>
              <a:avLst/>
              <a:gdLst>
                <a:gd name="connsiteX0" fmla="*/ 212960 w 1256441"/>
                <a:gd name="connsiteY0" fmla="*/ 0 h 2091405"/>
                <a:gd name="connsiteX1" fmla="*/ 285800 w 1256441"/>
                <a:gd name="connsiteY1" fmla="*/ 14076 h 2091405"/>
                <a:gd name="connsiteX2" fmla="*/ 804639 w 1256441"/>
                <a:gd name="connsiteY2" fmla="*/ 231510 h 2091405"/>
                <a:gd name="connsiteX3" fmla="*/ 845467 w 1256441"/>
                <a:gd name="connsiteY3" fmla="*/ 2034149 h 2091405"/>
                <a:gd name="connsiteX4" fmla="*/ 796200 w 1256441"/>
                <a:gd name="connsiteY4" fmla="*/ 2091405 h 2091405"/>
                <a:gd name="connsiteX5" fmla="*/ 208272 w 1256441"/>
                <a:gd name="connsiteY5" fmla="*/ 1390894 h 2091405"/>
                <a:gd name="connsiteX6" fmla="*/ 208335 w 1256441"/>
                <a:gd name="connsiteY6" fmla="*/ 1390749 h 2091405"/>
                <a:gd name="connsiteX7" fmla="*/ 56407 w 1256441"/>
                <a:gd name="connsiteY7" fmla="*/ 875220 h 2091405"/>
                <a:gd name="connsiteX8" fmla="*/ 0 w 1256441"/>
                <a:gd name="connsiteY8" fmla="*/ 856683 h 20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6441" h="2091405">
                  <a:moveTo>
                    <a:pt x="212960" y="0"/>
                  </a:moveTo>
                  <a:lnTo>
                    <a:pt x="285800" y="14076"/>
                  </a:lnTo>
                  <a:cubicBezTo>
                    <a:pt x="509105" y="65943"/>
                    <a:pt x="694300" y="151821"/>
                    <a:pt x="804639" y="231510"/>
                  </a:cubicBezTo>
                  <a:cubicBezTo>
                    <a:pt x="1146690" y="478547"/>
                    <a:pt x="1602027" y="1117839"/>
                    <a:pt x="845467" y="2034149"/>
                  </a:cubicBezTo>
                  <a:lnTo>
                    <a:pt x="796200" y="2091405"/>
                  </a:lnTo>
                  <a:lnTo>
                    <a:pt x="208272" y="1390894"/>
                  </a:lnTo>
                  <a:lnTo>
                    <a:pt x="208335" y="1390749"/>
                  </a:lnTo>
                  <a:cubicBezTo>
                    <a:pt x="312630" y="1119668"/>
                    <a:pt x="223640" y="951159"/>
                    <a:pt x="56407" y="875220"/>
                  </a:cubicBezTo>
                  <a:lnTo>
                    <a:pt x="0" y="85668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B7E928-E0DE-41E8-74B3-4CCD9F408269}"/>
                </a:ext>
              </a:extLst>
            </p:cNvPr>
            <p:cNvSpPr/>
            <p:nvPr/>
          </p:nvSpPr>
          <p:spPr>
            <a:xfrm>
              <a:off x="7403470" y="3409219"/>
              <a:ext cx="1434600" cy="1746777"/>
            </a:xfrm>
            <a:custGeom>
              <a:avLst/>
              <a:gdLst>
                <a:gd name="connsiteX0" fmla="*/ 846672 w 1434600"/>
                <a:gd name="connsiteY0" fmla="*/ 0 h 1746777"/>
                <a:gd name="connsiteX1" fmla="*/ 1434600 w 1434600"/>
                <a:gd name="connsiteY1" fmla="*/ 700511 h 1746777"/>
                <a:gd name="connsiteX2" fmla="*/ 1406824 w 1434600"/>
                <a:gd name="connsiteY2" fmla="*/ 732790 h 1746777"/>
                <a:gd name="connsiteX3" fmla="*/ 990365 w 1434600"/>
                <a:gd name="connsiteY3" fmla="*/ 1746777 h 1746777"/>
                <a:gd name="connsiteX4" fmla="*/ 21645 w 1434600"/>
                <a:gd name="connsiteY4" fmla="*/ 1746777 h 1746777"/>
                <a:gd name="connsiteX5" fmla="*/ 573906 w 1434600"/>
                <a:gd name="connsiteY5" fmla="*/ 434025 h 1746777"/>
                <a:gd name="connsiteX6" fmla="*/ 813413 w 1434600"/>
                <a:gd name="connsiteY6" fmla="*/ 76335 h 174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4600" h="1746777">
                  <a:moveTo>
                    <a:pt x="846672" y="0"/>
                  </a:moveTo>
                  <a:lnTo>
                    <a:pt x="1434600" y="700511"/>
                  </a:lnTo>
                  <a:lnTo>
                    <a:pt x="1406824" y="732790"/>
                  </a:lnTo>
                  <a:cubicBezTo>
                    <a:pt x="1079877" y="1098033"/>
                    <a:pt x="754973" y="1491772"/>
                    <a:pt x="990365" y="1746777"/>
                  </a:cubicBezTo>
                  <a:lnTo>
                    <a:pt x="21645" y="1746777"/>
                  </a:lnTo>
                  <a:cubicBezTo>
                    <a:pt x="-93032" y="1037589"/>
                    <a:pt x="270905" y="799481"/>
                    <a:pt x="573906" y="434025"/>
                  </a:cubicBezTo>
                  <a:cubicBezTo>
                    <a:pt x="684371" y="300791"/>
                    <a:pt x="762362" y="181722"/>
                    <a:pt x="813413" y="763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C93C34-C38B-4BD3-AD1E-04C3D8B5BF10}"/>
                </a:ext>
              </a:extLst>
            </p:cNvPr>
            <p:cNvSpPr/>
            <p:nvPr/>
          </p:nvSpPr>
          <p:spPr>
            <a:xfrm>
              <a:off x="7428277" y="5391825"/>
              <a:ext cx="1054659" cy="1054659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F112ED1-6548-F1B3-934D-4CF57E4D91B2}"/>
              </a:ext>
            </a:extLst>
          </p:cNvPr>
          <p:cNvSpPr txBox="1"/>
          <p:nvPr/>
        </p:nvSpPr>
        <p:spPr>
          <a:xfrm>
            <a:off x="1590015" y="2195318"/>
            <a:ext cx="29174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Condicional múltiple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20411A-A0AD-E780-03A5-0884363DC59B}"/>
              </a:ext>
            </a:extLst>
          </p:cNvPr>
          <p:cNvSpPr txBox="1"/>
          <p:nvPr/>
        </p:nvSpPr>
        <p:spPr>
          <a:xfrm>
            <a:off x="7573122" y="2347221"/>
            <a:ext cx="3236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Estructura switch-case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5C140-566F-E9FE-6A1E-990CC260BBE9}"/>
              </a:ext>
            </a:extLst>
          </p:cNvPr>
          <p:cNvSpPr txBox="1"/>
          <p:nvPr/>
        </p:nvSpPr>
        <p:spPr>
          <a:xfrm>
            <a:off x="3963153" y="4309768"/>
            <a:ext cx="307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solidFill>
                  <a:schemeClr val="accent2"/>
                </a:solidFill>
              </a:rPr>
              <a:t>break</a:t>
            </a:r>
            <a:endParaRPr lang="en-US" sz="3600" b="1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49EC00-EBD5-A33A-7E51-935557A31076}"/>
              </a:ext>
            </a:extLst>
          </p:cNvPr>
          <p:cNvSpPr txBox="1"/>
          <p:nvPr/>
        </p:nvSpPr>
        <p:spPr>
          <a:xfrm>
            <a:off x="6766742" y="5575714"/>
            <a:ext cx="307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default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9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8758F-024B-2F50-B520-ED628F4B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FCB93E-B685-96FE-85AC-B18D0014EF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C200FF1-E187-5964-6F48-B4B2B35E040B}"/>
              </a:ext>
            </a:extLst>
          </p:cNvPr>
          <p:cNvSpPr/>
          <p:nvPr/>
        </p:nvSpPr>
        <p:spPr>
          <a:xfrm>
            <a:off x="11672413" y="696202"/>
            <a:ext cx="297138" cy="546307"/>
          </a:xfrm>
          <a:custGeom>
            <a:avLst/>
            <a:gdLst>
              <a:gd name="connsiteX0" fmla="*/ 1208635 w 2606526"/>
              <a:gd name="connsiteY0" fmla="*/ 3533833 h 4792265"/>
              <a:gd name="connsiteX1" fmla="*/ 1837851 w 2606526"/>
              <a:gd name="connsiteY1" fmla="*/ 4163049 h 4792265"/>
              <a:gd name="connsiteX2" fmla="*/ 1208635 w 2606526"/>
              <a:gd name="connsiteY2" fmla="*/ 4792265 h 4792265"/>
              <a:gd name="connsiteX3" fmla="*/ 579419 w 2606526"/>
              <a:gd name="connsiteY3" fmla="*/ 4163049 h 4792265"/>
              <a:gd name="connsiteX4" fmla="*/ 1208635 w 2606526"/>
              <a:gd name="connsiteY4" fmla="*/ 3533833 h 4792265"/>
              <a:gd name="connsiteX5" fmla="*/ 1200716 w 2606526"/>
              <a:gd name="connsiteY5" fmla="*/ 151 h 4792265"/>
              <a:gd name="connsiteX6" fmla="*/ 2154725 w 2606526"/>
              <a:gd name="connsiteY6" fmla="*/ 265531 h 4792265"/>
              <a:gd name="connsiteX7" fmla="*/ 2118510 w 2606526"/>
              <a:gd name="connsiteY7" fmla="*/ 2157706 h 4792265"/>
              <a:gd name="connsiteX8" fmla="*/ 1702051 w 2606526"/>
              <a:gd name="connsiteY8" fmla="*/ 3171693 h 4792265"/>
              <a:gd name="connsiteX9" fmla="*/ 733331 w 2606526"/>
              <a:gd name="connsiteY9" fmla="*/ 3171693 h 4792265"/>
              <a:gd name="connsiteX10" fmla="*/ 1285592 w 2606526"/>
              <a:gd name="connsiteY10" fmla="*/ 1858941 h 4792265"/>
              <a:gd name="connsiteX11" fmla="*/ 534154 w 2606526"/>
              <a:gd name="connsiteY11" fmla="*/ 1134663 h 4792265"/>
              <a:gd name="connsiteX12" fmla="*/ 0 w 2606526"/>
              <a:gd name="connsiteY12" fmla="*/ 627669 h 4792265"/>
              <a:gd name="connsiteX13" fmla="*/ 1200716 w 2606526"/>
              <a:gd name="connsiteY13" fmla="*/ 151 h 4792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06526" h="4792265">
                <a:moveTo>
                  <a:pt x="1208635" y="3533833"/>
                </a:moveTo>
                <a:cubicBezTo>
                  <a:pt x="1556141" y="3533833"/>
                  <a:pt x="1837851" y="3815543"/>
                  <a:pt x="1837851" y="4163049"/>
                </a:cubicBezTo>
                <a:cubicBezTo>
                  <a:pt x="1837851" y="4510555"/>
                  <a:pt x="1556141" y="4792265"/>
                  <a:pt x="1208635" y="4792265"/>
                </a:cubicBezTo>
                <a:cubicBezTo>
                  <a:pt x="861129" y="4792265"/>
                  <a:pt x="579419" y="4510555"/>
                  <a:pt x="579419" y="4163049"/>
                </a:cubicBezTo>
                <a:cubicBezTo>
                  <a:pt x="579419" y="3815543"/>
                  <a:pt x="861129" y="3533833"/>
                  <a:pt x="1208635" y="3533833"/>
                </a:cubicBezTo>
                <a:close/>
                <a:moveTo>
                  <a:pt x="1200716" y="151"/>
                </a:moveTo>
                <a:cubicBezTo>
                  <a:pt x="1610009" y="-5318"/>
                  <a:pt x="1978183" y="138028"/>
                  <a:pt x="2154725" y="265531"/>
                </a:cubicBezTo>
                <a:cubicBezTo>
                  <a:pt x="2507810" y="520537"/>
                  <a:pt x="2981607" y="1193513"/>
                  <a:pt x="2118510" y="2157706"/>
                </a:cubicBezTo>
                <a:cubicBezTo>
                  <a:pt x="1791563" y="2522949"/>
                  <a:pt x="1466659" y="2916688"/>
                  <a:pt x="1702051" y="3171693"/>
                </a:cubicBezTo>
                <a:lnTo>
                  <a:pt x="733331" y="3171693"/>
                </a:lnTo>
                <a:cubicBezTo>
                  <a:pt x="618654" y="2462505"/>
                  <a:pt x="982591" y="2224397"/>
                  <a:pt x="1285592" y="1858941"/>
                </a:cubicBezTo>
                <a:cubicBezTo>
                  <a:pt x="2169309" y="793071"/>
                  <a:pt x="974756" y="633704"/>
                  <a:pt x="534154" y="1134663"/>
                </a:cubicBezTo>
                <a:lnTo>
                  <a:pt x="0" y="627669"/>
                </a:lnTo>
                <a:cubicBezTo>
                  <a:pt x="341014" y="159907"/>
                  <a:pt x="791424" y="5621"/>
                  <a:pt x="1200716" y="1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2D12120-79A2-349B-7D93-BE80DD02ECA2}"/>
              </a:ext>
            </a:extLst>
          </p:cNvPr>
          <p:cNvGrpSpPr/>
          <p:nvPr/>
        </p:nvGrpSpPr>
        <p:grpSpPr>
          <a:xfrm>
            <a:off x="4797036" y="2016614"/>
            <a:ext cx="2597927" cy="4457031"/>
            <a:chOff x="6701073" y="1989453"/>
            <a:chExt cx="2597927" cy="4457031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453F68C-B3FB-EAD6-9D96-F41D6D66B8BA}"/>
                </a:ext>
              </a:extLst>
            </p:cNvPr>
            <p:cNvSpPr/>
            <p:nvPr/>
          </p:nvSpPr>
          <p:spPr>
            <a:xfrm>
              <a:off x="6701073" y="1989453"/>
              <a:ext cx="1563045" cy="1134664"/>
            </a:xfrm>
            <a:custGeom>
              <a:avLst/>
              <a:gdLst>
                <a:gd name="connsiteX0" fmla="*/ 1200716 w 1563045"/>
                <a:gd name="connsiteY0" fmla="*/ 152 h 1134664"/>
                <a:gd name="connsiteX1" fmla="*/ 1497624 w 1563045"/>
                <a:gd name="connsiteY1" fmla="*/ 21380 h 1134664"/>
                <a:gd name="connsiteX2" fmla="*/ 1563045 w 1563045"/>
                <a:gd name="connsiteY2" fmla="*/ 34022 h 1134664"/>
                <a:gd name="connsiteX3" fmla="*/ 1350085 w 1563045"/>
                <a:gd name="connsiteY3" fmla="*/ 890705 h 1134664"/>
                <a:gd name="connsiteX4" fmla="*/ 1308206 w 1563045"/>
                <a:gd name="connsiteY4" fmla="*/ 876942 h 1134664"/>
                <a:gd name="connsiteX5" fmla="*/ 534154 w 1563045"/>
                <a:gd name="connsiteY5" fmla="*/ 1134664 h 1134664"/>
                <a:gd name="connsiteX6" fmla="*/ 0 w 1563045"/>
                <a:gd name="connsiteY6" fmla="*/ 627670 h 1134664"/>
                <a:gd name="connsiteX7" fmla="*/ 1200716 w 1563045"/>
                <a:gd name="connsiteY7" fmla="*/ 152 h 1134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63045" h="1134664">
                  <a:moveTo>
                    <a:pt x="1200716" y="152"/>
                  </a:moveTo>
                  <a:cubicBezTo>
                    <a:pt x="1303039" y="-1215"/>
                    <a:pt x="1402793" y="6719"/>
                    <a:pt x="1497624" y="21380"/>
                  </a:cubicBezTo>
                  <a:lnTo>
                    <a:pt x="1563045" y="34022"/>
                  </a:lnTo>
                  <a:lnTo>
                    <a:pt x="1350085" y="890705"/>
                  </a:lnTo>
                  <a:lnTo>
                    <a:pt x="1308206" y="876942"/>
                  </a:lnTo>
                  <a:cubicBezTo>
                    <a:pt x="1063992" y="822716"/>
                    <a:pt x="726918" y="915495"/>
                    <a:pt x="534154" y="1134664"/>
                  </a:cubicBezTo>
                  <a:lnTo>
                    <a:pt x="0" y="627670"/>
                  </a:lnTo>
                  <a:cubicBezTo>
                    <a:pt x="341014" y="159908"/>
                    <a:pt x="791424" y="5622"/>
                    <a:pt x="1200716" y="152"/>
                  </a:cubicBezTo>
                  <a:close/>
                </a:path>
              </a:pathLst>
            </a:custGeom>
            <a:solidFill>
              <a:srgbClr val="C59E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B05EA2E-1430-8A86-CCD9-30C15DEF29DA}"/>
                </a:ext>
              </a:extLst>
            </p:cNvPr>
            <p:cNvSpPr/>
            <p:nvPr/>
          </p:nvSpPr>
          <p:spPr>
            <a:xfrm>
              <a:off x="8042559" y="2021114"/>
              <a:ext cx="1256441" cy="2091405"/>
            </a:xfrm>
            <a:custGeom>
              <a:avLst/>
              <a:gdLst>
                <a:gd name="connsiteX0" fmla="*/ 212960 w 1256441"/>
                <a:gd name="connsiteY0" fmla="*/ 0 h 2091405"/>
                <a:gd name="connsiteX1" fmla="*/ 285800 w 1256441"/>
                <a:gd name="connsiteY1" fmla="*/ 14076 h 2091405"/>
                <a:gd name="connsiteX2" fmla="*/ 804639 w 1256441"/>
                <a:gd name="connsiteY2" fmla="*/ 231510 h 2091405"/>
                <a:gd name="connsiteX3" fmla="*/ 845467 w 1256441"/>
                <a:gd name="connsiteY3" fmla="*/ 2034149 h 2091405"/>
                <a:gd name="connsiteX4" fmla="*/ 796200 w 1256441"/>
                <a:gd name="connsiteY4" fmla="*/ 2091405 h 2091405"/>
                <a:gd name="connsiteX5" fmla="*/ 208272 w 1256441"/>
                <a:gd name="connsiteY5" fmla="*/ 1390894 h 2091405"/>
                <a:gd name="connsiteX6" fmla="*/ 208335 w 1256441"/>
                <a:gd name="connsiteY6" fmla="*/ 1390749 h 2091405"/>
                <a:gd name="connsiteX7" fmla="*/ 56407 w 1256441"/>
                <a:gd name="connsiteY7" fmla="*/ 875220 h 2091405"/>
                <a:gd name="connsiteX8" fmla="*/ 0 w 1256441"/>
                <a:gd name="connsiteY8" fmla="*/ 856683 h 2091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6441" h="2091405">
                  <a:moveTo>
                    <a:pt x="212960" y="0"/>
                  </a:moveTo>
                  <a:lnTo>
                    <a:pt x="285800" y="14076"/>
                  </a:lnTo>
                  <a:cubicBezTo>
                    <a:pt x="509105" y="65943"/>
                    <a:pt x="694300" y="151821"/>
                    <a:pt x="804639" y="231510"/>
                  </a:cubicBezTo>
                  <a:cubicBezTo>
                    <a:pt x="1146690" y="478547"/>
                    <a:pt x="1602027" y="1117839"/>
                    <a:pt x="845467" y="2034149"/>
                  </a:cubicBezTo>
                  <a:lnTo>
                    <a:pt x="796200" y="2091405"/>
                  </a:lnTo>
                  <a:lnTo>
                    <a:pt x="208272" y="1390894"/>
                  </a:lnTo>
                  <a:lnTo>
                    <a:pt x="208335" y="1390749"/>
                  </a:lnTo>
                  <a:cubicBezTo>
                    <a:pt x="312630" y="1119668"/>
                    <a:pt x="223640" y="951159"/>
                    <a:pt x="56407" y="875220"/>
                  </a:cubicBezTo>
                  <a:lnTo>
                    <a:pt x="0" y="85668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B7E928-E0DE-41E8-74B3-4CCD9F408269}"/>
                </a:ext>
              </a:extLst>
            </p:cNvPr>
            <p:cNvSpPr/>
            <p:nvPr/>
          </p:nvSpPr>
          <p:spPr>
            <a:xfrm>
              <a:off x="7403470" y="3409219"/>
              <a:ext cx="1434600" cy="1746777"/>
            </a:xfrm>
            <a:custGeom>
              <a:avLst/>
              <a:gdLst>
                <a:gd name="connsiteX0" fmla="*/ 846672 w 1434600"/>
                <a:gd name="connsiteY0" fmla="*/ 0 h 1746777"/>
                <a:gd name="connsiteX1" fmla="*/ 1434600 w 1434600"/>
                <a:gd name="connsiteY1" fmla="*/ 700511 h 1746777"/>
                <a:gd name="connsiteX2" fmla="*/ 1406824 w 1434600"/>
                <a:gd name="connsiteY2" fmla="*/ 732790 h 1746777"/>
                <a:gd name="connsiteX3" fmla="*/ 990365 w 1434600"/>
                <a:gd name="connsiteY3" fmla="*/ 1746777 h 1746777"/>
                <a:gd name="connsiteX4" fmla="*/ 21645 w 1434600"/>
                <a:gd name="connsiteY4" fmla="*/ 1746777 h 1746777"/>
                <a:gd name="connsiteX5" fmla="*/ 573906 w 1434600"/>
                <a:gd name="connsiteY5" fmla="*/ 434025 h 1746777"/>
                <a:gd name="connsiteX6" fmla="*/ 813413 w 1434600"/>
                <a:gd name="connsiteY6" fmla="*/ 76335 h 174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4600" h="1746777">
                  <a:moveTo>
                    <a:pt x="846672" y="0"/>
                  </a:moveTo>
                  <a:lnTo>
                    <a:pt x="1434600" y="700511"/>
                  </a:lnTo>
                  <a:lnTo>
                    <a:pt x="1406824" y="732790"/>
                  </a:lnTo>
                  <a:cubicBezTo>
                    <a:pt x="1079877" y="1098033"/>
                    <a:pt x="754973" y="1491772"/>
                    <a:pt x="990365" y="1746777"/>
                  </a:cubicBezTo>
                  <a:lnTo>
                    <a:pt x="21645" y="1746777"/>
                  </a:lnTo>
                  <a:cubicBezTo>
                    <a:pt x="-93032" y="1037589"/>
                    <a:pt x="270905" y="799481"/>
                    <a:pt x="573906" y="434025"/>
                  </a:cubicBezTo>
                  <a:cubicBezTo>
                    <a:pt x="684371" y="300791"/>
                    <a:pt x="762362" y="181722"/>
                    <a:pt x="813413" y="76335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C93C34-C38B-4BD3-AD1E-04C3D8B5BF10}"/>
                </a:ext>
              </a:extLst>
            </p:cNvPr>
            <p:cNvSpPr/>
            <p:nvPr/>
          </p:nvSpPr>
          <p:spPr>
            <a:xfrm>
              <a:off x="7428277" y="5391825"/>
              <a:ext cx="1054659" cy="1054659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F112ED1-6548-F1B3-934D-4CF57E4D91B2}"/>
              </a:ext>
            </a:extLst>
          </p:cNvPr>
          <p:cNvSpPr txBox="1"/>
          <p:nvPr/>
        </p:nvSpPr>
        <p:spPr>
          <a:xfrm>
            <a:off x="1590015" y="2195318"/>
            <a:ext cx="29174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Condicional múltiple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20411A-A0AD-E780-03A5-0884363DC59B}"/>
              </a:ext>
            </a:extLst>
          </p:cNvPr>
          <p:cNvSpPr txBox="1"/>
          <p:nvPr/>
        </p:nvSpPr>
        <p:spPr>
          <a:xfrm>
            <a:off x="7573122" y="2347221"/>
            <a:ext cx="32368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Estructura switch-case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5C140-566F-E9FE-6A1E-990CC260BBE9}"/>
              </a:ext>
            </a:extLst>
          </p:cNvPr>
          <p:cNvSpPr txBox="1"/>
          <p:nvPr/>
        </p:nvSpPr>
        <p:spPr>
          <a:xfrm>
            <a:off x="3963153" y="4309768"/>
            <a:ext cx="307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chemeClr val="bg1">
                    <a:lumMod val="85000"/>
                  </a:schemeClr>
                </a:solidFill>
              </a:rPr>
              <a:t>break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49EC00-EBD5-A33A-7E51-935557A31076}"/>
              </a:ext>
            </a:extLst>
          </p:cNvPr>
          <p:cNvSpPr txBox="1"/>
          <p:nvPr/>
        </p:nvSpPr>
        <p:spPr>
          <a:xfrm>
            <a:off x="6766742" y="5575714"/>
            <a:ext cx="3072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b="1" dirty="0">
                <a:solidFill>
                  <a:srgbClr val="92D050"/>
                </a:solidFill>
              </a:rPr>
              <a:t>default</a:t>
            </a:r>
            <a:endParaRPr lang="en-US" sz="36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749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B54F9E4-73EC-5803-C251-20C8EB58177E}"/>
              </a:ext>
            </a:extLst>
          </p:cNvPr>
          <p:cNvSpPr/>
          <p:nvPr/>
        </p:nvSpPr>
        <p:spPr>
          <a:xfrm>
            <a:off x="-9053" y="-13580"/>
            <a:ext cx="12201053" cy="6871580"/>
          </a:xfrm>
          <a:custGeom>
            <a:avLst/>
            <a:gdLst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76087"/>
              <a:gd name="connsiteY0" fmla="*/ 5395865 h 6871580"/>
              <a:gd name="connsiteX1" fmla="*/ 0 w 12376087"/>
              <a:gd name="connsiteY1" fmla="*/ 6871580 h 6871580"/>
              <a:gd name="connsiteX2" fmla="*/ 9578566 w 12376087"/>
              <a:gd name="connsiteY2" fmla="*/ 6871580 h 6871580"/>
              <a:gd name="connsiteX3" fmla="*/ 12376087 w 12376087"/>
              <a:gd name="connsiteY3" fmla="*/ 2236205 h 6871580"/>
              <a:gd name="connsiteX4" fmla="*/ 12376087 w 12376087"/>
              <a:gd name="connsiteY4" fmla="*/ 0 h 6871580"/>
              <a:gd name="connsiteX5" fmla="*/ 8256760 w 12376087"/>
              <a:gd name="connsiteY5" fmla="*/ 0 h 6871580"/>
              <a:gd name="connsiteX6" fmla="*/ 0 w 12376087"/>
              <a:gd name="connsiteY6" fmla="*/ 539586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  <a:gd name="connsiteX0" fmla="*/ 0 w 12385277"/>
              <a:gd name="connsiteY0" fmla="*/ 3802455 h 6871580"/>
              <a:gd name="connsiteX1" fmla="*/ 9190 w 12385277"/>
              <a:gd name="connsiteY1" fmla="*/ 6871580 h 6871580"/>
              <a:gd name="connsiteX2" fmla="*/ 9587756 w 12385277"/>
              <a:gd name="connsiteY2" fmla="*/ 6871580 h 6871580"/>
              <a:gd name="connsiteX3" fmla="*/ 12385277 w 12385277"/>
              <a:gd name="connsiteY3" fmla="*/ 2236205 h 6871580"/>
              <a:gd name="connsiteX4" fmla="*/ 12385277 w 12385277"/>
              <a:gd name="connsiteY4" fmla="*/ 0 h 6871580"/>
              <a:gd name="connsiteX5" fmla="*/ 8265950 w 12385277"/>
              <a:gd name="connsiteY5" fmla="*/ 0 h 6871580"/>
              <a:gd name="connsiteX6" fmla="*/ 0 w 12385277"/>
              <a:gd name="connsiteY6" fmla="*/ 3802455 h 6871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385277" h="6871580">
                <a:moveTo>
                  <a:pt x="0" y="3802455"/>
                </a:moveTo>
                <a:cubicBezTo>
                  <a:pt x="3063" y="4825497"/>
                  <a:pt x="6127" y="5848538"/>
                  <a:pt x="9190" y="6871580"/>
                </a:cubicBezTo>
                <a:lnTo>
                  <a:pt x="9587756" y="6871580"/>
                </a:lnTo>
                <a:cubicBezTo>
                  <a:pt x="10869490" y="5444149"/>
                  <a:pt x="11976608" y="4197789"/>
                  <a:pt x="12385277" y="2236205"/>
                </a:cubicBezTo>
                <a:lnTo>
                  <a:pt x="12385277" y="0"/>
                </a:lnTo>
                <a:lnTo>
                  <a:pt x="8265950" y="0"/>
                </a:lnTo>
                <a:cubicBezTo>
                  <a:pt x="8656733" y="4324539"/>
                  <a:pt x="2283555" y="4855675"/>
                  <a:pt x="0" y="3802455"/>
                </a:cubicBezTo>
                <a:close/>
              </a:path>
            </a:pathLst>
          </a:custGeom>
          <a:blipFill dpi="0" rotWithShape="1">
            <a:blip r:embed="rId3">
              <a:alphaModFix amt="1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37398"/>
            <a:ext cx="9144000" cy="2858703"/>
          </a:xfrm>
        </p:spPr>
        <p:txBody>
          <a:bodyPr>
            <a:normAutofit/>
          </a:bodyPr>
          <a:lstStyle/>
          <a:p>
            <a:r>
              <a:rPr lang="es-ES" dirty="0"/>
              <a:t>Estructura Condicional </a:t>
            </a:r>
            <a:r>
              <a:rPr lang="es-ES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switch-case </a:t>
            </a:r>
            <a:r>
              <a:rPr lang="es-ES" dirty="0"/>
              <a:t>(II)</a:t>
            </a:r>
            <a:endParaRPr lang="en-US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42201D5B-07F0-48BD-A355-A89031C338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E97547-6358-4D01-A970-DA2F4BB592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381531" cy="4373562"/>
          </a:xfrm>
        </p:spPr>
        <p:txBody>
          <a:bodyPr>
            <a:noAutofit/>
          </a:bodyPr>
          <a:lstStyle/>
          <a:p>
            <a:pPr marL="50800" indent="0">
              <a:buNone/>
            </a:pPr>
            <a:r>
              <a:rPr lang="es-ES" dirty="0"/>
              <a:t>Observa y responde:</a:t>
            </a:r>
          </a:p>
          <a:p>
            <a:r>
              <a:rPr lang="es-ES" dirty="0"/>
              <a:t>¿La máquina ofrece una, dos o múltiples opciones de compra?</a:t>
            </a:r>
          </a:p>
          <a:p>
            <a:r>
              <a:rPr lang="es-ES" dirty="0"/>
              <a:t>¿Qué solicita como entradas?</a:t>
            </a:r>
          </a:p>
          <a:p>
            <a:r>
              <a:rPr lang="es-ES" dirty="0"/>
              <a:t>¿Qué devuelve?</a:t>
            </a:r>
          </a:p>
          <a:p>
            <a:r>
              <a:rPr lang="es-ES" dirty="0"/>
              <a:t>¿A qué se asemeja en el ámbito de la programación?</a:t>
            </a:r>
          </a:p>
          <a:p>
            <a:endParaRPr lang="es-E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828E4-C870-7AD2-3392-BE498C0B80B5}"/>
              </a:ext>
            </a:extLst>
          </p:cNvPr>
          <p:cNvSpPr txBox="1"/>
          <p:nvPr/>
        </p:nvSpPr>
        <p:spPr>
          <a:xfrm>
            <a:off x="245484" y="6345213"/>
            <a:ext cx="106033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https://coin-a-drink.co.uk/wp-content/uploads/2021/11/twist-snack-cold-drinks-vending-machine.png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52887F-0F4F-B2CE-738C-14B5AACD0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086" y="363157"/>
            <a:ext cx="5089467" cy="6442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7B0424-13E9-17D5-303C-3898AE35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38644" y="1045027"/>
            <a:ext cx="5253356" cy="5253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6105808" cy="4373562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1"/>
                </a:solidFill>
              </a:rPr>
              <a:t>desarrolla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chemeClr val="accent4"/>
                </a:solidFill>
              </a:rPr>
              <a:t>programas utilizando estructuras switch-case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C00000"/>
                </a:solidFill>
              </a:rPr>
              <a:t>utilizando un IDE Java</a:t>
            </a:r>
            <a:r>
              <a:rPr lang="es-ES" dirty="0">
                <a:solidFill>
                  <a:srgbClr val="00B050"/>
                </a:solidFill>
              </a:rPr>
              <a:t> </a:t>
            </a:r>
            <a:r>
              <a:rPr lang="es-ES" dirty="0">
                <a:solidFill>
                  <a:srgbClr val="7030A0"/>
                </a:solidFill>
              </a:rPr>
              <a:t>para resolver problemas condicionales o de decisión múltiple.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https://img.freepik.com/free-vector/clever-man-student-standing-books-stack-with-flag-self-learning-personal-improvement-knowledge-obtaining-educational-achievement_335657-3461.jpg</a:t>
            </a:r>
          </a:p>
        </p:txBody>
      </p:sp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C378254-1DCE-E852-BEB1-333FE86E81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5716508" cy="3377587"/>
          </a:xfrm>
        </p:spPr>
        <p:txBody>
          <a:bodyPr>
            <a:normAutofit/>
          </a:bodyPr>
          <a:lstStyle/>
          <a:p>
            <a:r>
              <a:rPr lang="es-ES" dirty="0"/>
              <a:t>¿Qué expresa la imagen?</a:t>
            </a:r>
          </a:p>
          <a:p>
            <a:r>
              <a:rPr lang="es-ES" dirty="0"/>
              <a:t>La condición de selección ¿es simple, doble o múltiple?</a:t>
            </a:r>
          </a:p>
          <a:p>
            <a:r>
              <a:rPr lang="es-ES" dirty="0"/>
              <a:t>¿Cómo podría servirte utilizar condiciones múltiples en situaciones reales?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5A9BBA-17E0-A72D-51DD-816280634240}"/>
              </a:ext>
            </a:extLst>
          </p:cNvPr>
          <p:cNvSpPr txBox="1"/>
          <p:nvPr/>
        </p:nvSpPr>
        <p:spPr>
          <a:xfrm>
            <a:off x="1255303" y="5131586"/>
            <a:ext cx="51742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indent="0">
              <a:buNone/>
            </a:pPr>
            <a:r>
              <a:rPr lang="en-US" sz="2800" dirty="0" err="1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Expresar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condiciones</a:t>
            </a:r>
            <a:r>
              <a:rPr lang="en-US" sz="2800" dirty="0">
                <a:solidFill>
                  <a:srgbClr val="00B050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00B050"/>
                </a:solidFill>
                <a:latin typeface="Helvetica" pitchFamily="2" charset="0"/>
              </a:rPr>
              <a:t>múltiples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en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Helvetica" pitchFamily="2" charset="0"/>
              </a:rPr>
              <a:t> Java.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856503-6F6C-FB79-C41E-7CB083AF13E0}"/>
              </a:ext>
            </a:extLst>
          </p:cNvPr>
          <p:cNvSpPr txBox="1"/>
          <p:nvPr/>
        </p:nvSpPr>
        <p:spPr>
          <a:xfrm>
            <a:off x="231034" y="6314029"/>
            <a:ext cx="9336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https://www.a2hosting.com/images/uploads/knowledgebase_images/kb-wordpress-language-plugin.png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B8A5D-C807-1815-BAF9-16CE5EBE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702" y="1459840"/>
            <a:ext cx="50482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 mejorada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 condicional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477FA4-18F3-30C1-7665-920AA55134DB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DBB22-D655-4E09-77A8-CBF9C7AEE8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0C5FAE-6C20-0A02-2E73-C1663229D93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EB6237-5B41-C2ED-0F24-DCF95C51AED8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A7CA94-2FDA-334C-3EF4-B740E51158A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5408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 condicional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477FA4-18F3-30C1-7665-920AA55134DB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DBB22-D655-4E09-77A8-CBF9C7AEE8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0C5FAE-6C20-0A02-2E73-C1663229D93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EB6237-5B41-C2ED-0F24-DCF95C51AED8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A7CA94-2FDA-334C-3EF4-B740E51158A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9555D52-A549-E826-EA37-A012B4FCA69C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 mejorada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669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0E7F402-2510-79E5-8EBB-D4FCCC358A4E}"/>
              </a:ext>
            </a:extLst>
          </p:cNvPr>
          <p:cNvGrpSpPr/>
          <p:nvPr/>
        </p:nvGrpSpPr>
        <p:grpSpPr>
          <a:xfrm>
            <a:off x="846912" y="-39920"/>
            <a:ext cx="4629752" cy="1015663"/>
            <a:chOff x="924025" y="1526961"/>
            <a:chExt cx="4629752" cy="10156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5E39CE9-DC9F-215B-F45A-DFF848F3E700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CB6E74-BFD1-2ECD-D661-78A2BA544AEC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 mejorada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11BA8A2-27E2-6EF9-2C67-70F94CA768A6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4DFA671-2DC5-84BD-D8E7-8B8B354054A7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64A96E-FE1F-DD8B-F02B-3F2A1FB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Sentencia switch mejorada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6D38B-89CE-4804-188C-6F68B0C16C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6C4FACF-FD3E-5314-41C8-D3B4A11E52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2"/>
            <a:ext cx="10515600" cy="4510088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s-ES" sz="3200" b="1" dirty="0">
                <a:solidFill>
                  <a:schemeClr val="accent2"/>
                </a:solidFill>
              </a:rPr>
              <a:t>JDK 14</a:t>
            </a:r>
            <a:r>
              <a:rPr lang="es-ES" sz="3200" dirty="0"/>
              <a:t> (2020) introduce </a:t>
            </a:r>
            <a:r>
              <a:rPr lang="es-ES" sz="3200" b="1" dirty="0"/>
              <a:t>switch</a:t>
            </a:r>
            <a:r>
              <a:rPr lang="es-ES" sz="3200" dirty="0"/>
              <a:t> al </a:t>
            </a:r>
            <a:r>
              <a:rPr lang="es-ES" sz="3200" b="1" dirty="0">
                <a:solidFill>
                  <a:schemeClr val="accent2"/>
                </a:solidFill>
              </a:rPr>
              <a:t>estilo</a:t>
            </a:r>
            <a:r>
              <a:rPr lang="es-ES" sz="3200" dirty="0"/>
              <a:t> de una </a:t>
            </a:r>
            <a:r>
              <a:rPr lang="es-ES" sz="3200" b="1" dirty="0">
                <a:solidFill>
                  <a:schemeClr val="accent2"/>
                </a:solidFill>
              </a:rPr>
              <a:t>función</a:t>
            </a:r>
            <a:r>
              <a:rPr lang="es-ES" sz="3200" dirty="0"/>
              <a:t> que retorna un valor.</a:t>
            </a:r>
          </a:p>
          <a:p>
            <a:pPr>
              <a:lnSpc>
                <a:spcPct val="110000"/>
              </a:lnSpc>
            </a:pPr>
            <a:r>
              <a:rPr lang="es-ES" sz="3200" dirty="0"/>
              <a:t>Mejoras:</a:t>
            </a:r>
          </a:p>
          <a:p>
            <a:pPr lvl="1">
              <a:lnSpc>
                <a:spcPct val="110000"/>
              </a:lnSpc>
            </a:pPr>
            <a:r>
              <a:rPr lang="es-ES" sz="2800" dirty="0"/>
              <a:t>Sólo el código ubicado a la derecha de la etiqueta es ejecutado si ocurre una coincidencia (obviamos </a:t>
            </a:r>
            <a:r>
              <a:rPr lang="es-ES" sz="2800" b="1" dirty="0"/>
              <a:t>break</a:t>
            </a:r>
            <a:r>
              <a:rPr lang="es-ES" sz="2800" dirty="0"/>
              <a:t>)</a:t>
            </a:r>
          </a:p>
          <a:p>
            <a:pPr lvl="1">
              <a:lnSpc>
                <a:spcPct val="110000"/>
              </a:lnSpc>
            </a:pPr>
            <a:r>
              <a:rPr lang="es-ES" sz="2800" dirty="0"/>
              <a:t>Una nueva instrucción </a:t>
            </a:r>
            <a:r>
              <a:rPr lang="es-ES" sz="2800" b="1" dirty="0" err="1">
                <a:solidFill>
                  <a:schemeClr val="accent2"/>
                </a:solidFill>
              </a:rPr>
              <a:t>yield</a:t>
            </a:r>
            <a:r>
              <a:rPr lang="es-ES" sz="2800" dirty="0"/>
              <a:t> para devolver el valor resultante.</a:t>
            </a:r>
          </a:p>
          <a:p>
            <a:pPr>
              <a:lnSpc>
                <a:spcPct val="110000"/>
              </a:lnSpc>
            </a:pPr>
            <a:r>
              <a:rPr lang="es-ES" sz="3200" b="1" dirty="0">
                <a:solidFill>
                  <a:srgbClr val="C00000"/>
                </a:solidFill>
              </a:rPr>
              <a:t>Importante</a:t>
            </a:r>
            <a:r>
              <a:rPr lang="es-ES" sz="3200" dirty="0"/>
              <a:t>: </a:t>
            </a:r>
            <a:r>
              <a:rPr lang="es-ES" sz="3200" dirty="0">
                <a:solidFill>
                  <a:schemeClr val="bg1">
                    <a:lumMod val="50000"/>
                  </a:schemeClr>
                </a:solidFill>
              </a:rPr>
              <a:t>el nuevo switch requiere que todos los posibles valores sean cubiertos</a:t>
            </a:r>
            <a:r>
              <a:rPr lang="es-E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1808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3D21D-62B2-5B2B-232E-ECAE2A0F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switch mejorado. Ejemplos.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A06B05-3580-8C9B-769A-536E9FE773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3A919B-F625-0180-919F-B9D5850BA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8693" y="2492486"/>
            <a:ext cx="3639264" cy="2446886"/>
          </a:xfrm>
          <a:prstGeom prst="roundRect">
            <a:avLst>
              <a:gd name="adj" fmla="val 568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scoreNPS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scoreNPS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"Detractor"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Pasivo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"Promotor"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default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Inválido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FF513E1-2D5C-FEA6-9CD6-7FCF6BB79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799" y="1780647"/>
            <a:ext cx="3367889" cy="4964605"/>
          </a:xfrm>
          <a:prstGeom prst="roundRect">
            <a:avLst>
              <a:gd name="adj" fmla="val 449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scoreNPS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detractorCounter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passiveCounter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promoterCounter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switch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scoreNPS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-&gt;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detractorCounter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yield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"Detractor"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-&gt;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passiveCounter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yield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"Passive"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case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9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-&gt;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promoterCounter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yield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"Promoter"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default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-&gt;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"Invalid"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descripcion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41607F-8668-766B-3EF4-DAE7F65639F3}"/>
              </a:ext>
            </a:extLst>
          </p:cNvPr>
          <p:cNvSpPr txBox="1"/>
          <p:nvPr/>
        </p:nvSpPr>
        <p:spPr>
          <a:xfrm>
            <a:off x="9166346" y="2492486"/>
            <a:ext cx="20501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switch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utilizando varias sentencias por caso y la instrucción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yield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D912B8-274B-A6B2-B7B7-E756445A7B9C}"/>
              </a:ext>
            </a:extLst>
          </p:cNvPr>
          <p:cNvSpPr txBox="1"/>
          <p:nvPr/>
        </p:nvSpPr>
        <p:spPr>
          <a:xfrm>
            <a:off x="1552382" y="5145151"/>
            <a:ext cx="20501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Nótese el uso obligatorio de 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default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en este ejemplo.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337C1B-164B-F784-5E24-3B4A3CD31DBF}"/>
              </a:ext>
            </a:extLst>
          </p:cNvPr>
          <p:cNvGrpSpPr/>
          <p:nvPr/>
        </p:nvGrpSpPr>
        <p:grpSpPr>
          <a:xfrm>
            <a:off x="846912" y="-39920"/>
            <a:ext cx="4629752" cy="1015663"/>
            <a:chOff x="924025" y="1526961"/>
            <a:chExt cx="4629752" cy="10156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5769019-E5AC-505C-F3C8-4918543D57E7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7DF140C-8133-F1B3-6644-890C33D20152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 mejorada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3324203-4789-D98D-32E4-1F7FA17DA7E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8DFCE2-C207-36B4-D8FC-A1B00052649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4896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 mejorada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477FA4-18F3-30C1-7665-920AA55134DB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DBB22-D655-4E09-77A8-CBF9C7AEE8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0C5FAE-6C20-0A02-2E73-C1663229D93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EB6237-5B41-C2ED-0F24-DCF95C51AED8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A7CA94-2FDA-334C-3EF4-B740E51158A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9555D52-A549-E826-EA37-A012B4FCA69C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 condicional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800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9B7C1D-F989-AD83-7CAF-48C076A0ADF4}"/>
              </a:ext>
            </a:extLst>
          </p:cNvPr>
          <p:cNvGrpSpPr/>
          <p:nvPr/>
        </p:nvGrpSpPr>
        <p:grpSpPr>
          <a:xfrm>
            <a:off x="838200" y="-36858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C93540-4140-F839-3EE9-40B74D3D83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D09D85-1892-1A19-F329-ED56DC6371C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 condicional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C24CB6-138A-1712-373F-2921B4882AB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47F983-5BB6-74BC-AC42-A836017AA5C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5BCCE4-AE07-2EEB-14B5-A435BF1E4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 condicional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AF6984-1EDD-DD73-E75D-476DAB77FE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418FDC-9619-5358-6F04-6AB1A76DFA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Conocido también como </a:t>
            </a:r>
            <a:r>
              <a:rPr lang="es-ES" b="1" dirty="0">
                <a:solidFill>
                  <a:schemeClr val="accent2"/>
                </a:solidFill>
              </a:rPr>
              <a:t>operador ternario</a:t>
            </a:r>
            <a:r>
              <a:rPr lang="es-ES" dirty="0"/>
              <a:t>.</a:t>
            </a:r>
          </a:p>
          <a:p>
            <a:r>
              <a:rPr lang="es-ES" dirty="0"/>
              <a:t>Provee una </a:t>
            </a:r>
            <a:r>
              <a:rPr lang="es-ES" b="1" dirty="0"/>
              <a:t>forma abreviada</a:t>
            </a:r>
            <a:r>
              <a:rPr lang="es-ES" dirty="0"/>
              <a:t> de </a:t>
            </a:r>
            <a:r>
              <a:rPr lang="es-ES" b="1" dirty="0"/>
              <a:t>evaluar</a:t>
            </a:r>
            <a:r>
              <a:rPr lang="es-ES" dirty="0"/>
              <a:t> una </a:t>
            </a:r>
            <a:r>
              <a:rPr lang="es-ES" b="1" dirty="0"/>
              <a:t>expresión condicional</a:t>
            </a:r>
            <a:r>
              <a:rPr lang="es-ES" dirty="0"/>
              <a:t>.</a:t>
            </a:r>
          </a:p>
          <a:p>
            <a:r>
              <a:rPr lang="es-ES" dirty="0"/>
              <a:t>Usado como alternativa a la estructura </a:t>
            </a:r>
            <a:r>
              <a:rPr lang="es-ES" b="1" dirty="0" err="1"/>
              <a:t>if</a:t>
            </a:r>
            <a:r>
              <a:rPr lang="es-ES" b="1" dirty="0"/>
              <a:t>..</a:t>
            </a:r>
            <a:r>
              <a:rPr lang="es-ES" b="1" dirty="0" err="1"/>
              <a:t>else</a:t>
            </a:r>
            <a:endParaRPr lang="es-ES" b="1" dirty="0"/>
          </a:p>
          <a:p>
            <a:r>
              <a:rPr lang="es-ES" dirty="0"/>
              <a:t>Hace uso de los símbolos:  </a:t>
            </a:r>
            <a:r>
              <a:rPr lang="es-ES" b="1" dirty="0">
                <a:solidFill>
                  <a:schemeClr val="accent2"/>
                </a:solidFill>
              </a:rPr>
              <a:t>?</a:t>
            </a:r>
            <a:r>
              <a:rPr lang="es-ES" dirty="0"/>
              <a:t> y </a:t>
            </a:r>
            <a:r>
              <a:rPr lang="es-ES" b="1" dirty="0">
                <a:solidFill>
                  <a:schemeClr val="accent2"/>
                </a:solidFill>
              </a:rPr>
              <a:t>:</a:t>
            </a:r>
          </a:p>
          <a:p>
            <a:r>
              <a:rPr lang="es-ES" dirty="0"/>
              <a:t>Sintaxis: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025AA-8F6B-A670-6EAF-97D1F9685E3E}"/>
              </a:ext>
            </a:extLst>
          </p:cNvPr>
          <p:cNvSpPr txBox="1"/>
          <p:nvPr/>
        </p:nvSpPr>
        <p:spPr>
          <a:xfrm>
            <a:off x="1415716" y="5481937"/>
            <a:ext cx="9938084" cy="40862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variable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(</a:t>
            </a:r>
            <a:r>
              <a:rPr lang="en-US" sz="1800" dirty="0" err="1">
                <a:solidFill>
                  <a:srgbClr val="CC00CC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condición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lang="en-U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?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retorno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 </a:t>
            </a:r>
            <a:r>
              <a:rPr lang="en-US" sz="1800" dirty="0">
                <a:solidFill>
                  <a:schemeClr val="accent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</a:t>
            </a:r>
            <a:r>
              <a:rPr lang="en-US" sz="18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retorno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1800" dirty="0" err="1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 </a:t>
            </a:r>
            <a:r>
              <a:rPr lang="en-US" sz="18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false</a:t>
            </a: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75461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9B7C1D-F989-AD83-7CAF-48C076A0ADF4}"/>
              </a:ext>
            </a:extLst>
          </p:cNvPr>
          <p:cNvGrpSpPr/>
          <p:nvPr/>
        </p:nvGrpSpPr>
        <p:grpSpPr>
          <a:xfrm>
            <a:off x="838200" y="-36858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C93540-4140-F839-3EE9-40B74D3D83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D09D85-1892-1A19-F329-ED56DC6371C1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 condicional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5C24CB6-138A-1712-373F-2921B4882AB1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47F983-5BB6-74BC-AC42-A836017AA5C5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5BCCE4-AE07-2EEB-14B5-A435BF1E4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 condicional. Ejemplos.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AF6984-1EDD-DD73-E75D-476DAB77FE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A455E41-AE66-1292-7AB0-DB4F54C5E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7223" y="1831350"/>
            <a:ext cx="6309712" cy="2040984"/>
          </a:xfrm>
          <a:prstGeom prst="roundRect">
            <a:avLst>
              <a:gd name="adj" fmla="val 690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mensaje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18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?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"Es mayor de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menor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edad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mensaje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D0C2AD-28EC-0CF1-36D0-9CBF75E967E1}"/>
              </a:ext>
            </a:extLst>
          </p:cNvPr>
          <p:cNvSpPr txBox="1"/>
          <p:nvPr/>
        </p:nvSpPr>
        <p:spPr>
          <a:xfrm>
            <a:off x="905577" y="1831350"/>
            <a:ext cx="39199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>
                    <a:lumMod val="50000"/>
                  </a:schemeClr>
                </a:solidFill>
              </a:rPr>
              <a:t>Ejemplo 1:</a:t>
            </a:r>
            <a:br>
              <a:rPr lang="es-ES" sz="2000" b="1" dirty="0">
                <a:solidFill>
                  <a:schemeClr val="bg1">
                    <a:lumMod val="50000"/>
                  </a:schemeClr>
                </a:solidFill>
              </a:rPr>
            </a:br>
            <a:endParaRPr lang="es-ES" sz="20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Escribir un programa que solicite la edad de una persona y muestre con un mensaje si es mayor o menor de edad.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D56DE-C84B-ED25-E5C6-13B9D2736305}"/>
              </a:ext>
            </a:extLst>
          </p:cNvPr>
          <p:cNvSpPr txBox="1"/>
          <p:nvPr/>
        </p:nvSpPr>
        <p:spPr>
          <a:xfrm>
            <a:off x="905577" y="4205058"/>
            <a:ext cx="39199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>
                    <a:lumMod val="50000"/>
                  </a:schemeClr>
                </a:solidFill>
              </a:rPr>
              <a:t>Ejemplo 2:</a:t>
            </a:r>
          </a:p>
          <a:p>
            <a:endParaRPr lang="es-ES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s-ES" sz="2000" dirty="0">
                <a:solidFill>
                  <a:schemeClr val="bg1">
                    <a:lumMod val="50000"/>
                  </a:schemeClr>
                </a:solidFill>
              </a:rPr>
              <a:t>Escribir un programa que solicite un número entero y muestre con un mensaje si es positivo, negativo o cero.</a:t>
            </a: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ACE887EC-3F70-B6C2-8B4B-692363502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7223" y="4205058"/>
            <a:ext cx="6309712" cy="2159541"/>
          </a:xfrm>
          <a:prstGeom prst="roundRect">
            <a:avLst>
              <a:gd name="adj" fmla="val 6139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 lector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Scanner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(System.</a:t>
            </a:r>
            <a:r>
              <a:rPr kumimoji="0" lang="en-US" altLang="en-US" sz="1100" b="0" i="1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Ingrese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un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número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entero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lector.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nextInt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mensaje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?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Positivo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?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Negativo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"Cero"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mensaje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12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552306" y="2760043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bg1">
                    <a:lumMod val="85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bg1">
                  <a:lumMod val="85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D8EC2C4-D534-A87E-5305-9BD92B9838D9}"/>
              </a:ext>
            </a:extLst>
          </p:cNvPr>
          <p:cNvGrpSpPr/>
          <p:nvPr/>
        </p:nvGrpSpPr>
        <p:grpSpPr>
          <a:xfrm>
            <a:off x="1955128" y="892964"/>
            <a:ext cx="4629752" cy="1015663"/>
            <a:chOff x="924025" y="1526961"/>
            <a:chExt cx="4629752" cy="10156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FE41E11-2903-D4AD-BABB-046EDBE4AAB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1B5E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B12F7A-F286-0B30-D30E-E9A916CC839B}"/>
                </a:ext>
              </a:extLst>
            </p:cNvPr>
            <p:cNvSpPr txBox="1"/>
            <p:nvPr/>
          </p:nvSpPr>
          <p:spPr>
            <a:xfrm>
              <a:off x="1501541" y="1663444"/>
              <a:ext cx="30623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Sentencia switch mejorada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EEA1CE-79B2-915B-2C77-2F1212A1BF67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1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0C6426-CF18-244B-D9EC-4576E393467C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62550A-9487-0FB4-AEF5-18BF59D1D1BB}"/>
              </a:ext>
            </a:extLst>
          </p:cNvPr>
          <p:cNvGrpSpPr/>
          <p:nvPr/>
        </p:nvGrpSpPr>
        <p:grpSpPr>
          <a:xfrm>
            <a:off x="1955128" y="1782509"/>
            <a:ext cx="4629752" cy="1015663"/>
            <a:chOff x="924025" y="1526961"/>
            <a:chExt cx="4629752" cy="10156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EE3C4A-25E0-0661-5719-DFD8A408196E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0E7D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03E694-3539-B74F-A7F9-A90BF4FC7172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Operador condicional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BD6589-A9C6-D2FD-D50D-C5AAC8113E8A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solidFill>
                    <a:schemeClr val="bg1"/>
                  </a:solidFill>
                  <a:latin typeface="Helvetica" pitchFamily="2" charset="0"/>
                </a:rPr>
                <a:t>2</a:t>
              </a:r>
              <a:endParaRPr lang="en-US" sz="6000" b="1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E0265B7-9BAF-D770-6E56-5AE1A9C4197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9555D52-A549-E826-EA37-A012B4FCA69C}"/>
              </a:ext>
            </a:extLst>
          </p:cNvPr>
          <p:cNvSpPr/>
          <p:nvPr/>
        </p:nvSpPr>
        <p:spPr>
          <a:xfrm>
            <a:off x="1801640" y="683513"/>
            <a:ext cx="9678154" cy="5599610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3477FA4-18F3-30C1-7665-920AA55134DB}"/>
              </a:ext>
            </a:extLst>
          </p:cNvPr>
          <p:cNvGrpSpPr/>
          <p:nvPr/>
        </p:nvGrpSpPr>
        <p:grpSpPr>
          <a:xfrm>
            <a:off x="1955128" y="2672054"/>
            <a:ext cx="4629752" cy="1015663"/>
            <a:chOff x="924025" y="1526961"/>
            <a:chExt cx="4629752" cy="10156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71DBB22-D655-4E09-77A8-CBF9C7AEE851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0C5FAE-6C20-0A02-2E73-C1663229D93C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6EB6237-5B41-C2ED-0F24-DCF95C51AED8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A7CA94-2FDA-334C-3EF4-B740E51158AD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04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E055D9B-2769-B4E6-C6CC-E33497F2FF56}"/>
              </a:ext>
            </a:extLst>
          </p:cNvPr>
          <p:cNvGrpSpPr/>
          <p:nvPr/>
        </p:nvGrpSpPr>
        <p:grpSpPr>
          <a:xfrm>
            <a:off x="838200" y="-39921"/>
            <a:ext cx="4629752" cy="1015663"/>
            <a:chOff x="924025" y="1526961"/>
            <a:chExt cx="4629752" cy="10156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30AC52-4D93-5D00-2BD9-D9D381946F2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202BB7-B8B1-9524-0B13-3E69ABB73A89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BDA823-8DF6-C883-5B02-6B40B81F253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87078AC-109B-8476-BB33-6E28264CAF1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AE16E32-A371-7CA9-FC10-A1CD2AA8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0F509D-479B-DC1E-F942-24FF5764D7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1D7AC-91EE-2C3C-CECE-0EE6F7E6214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Escribir un programa que le permita a un docente, ingresar la nota de un alumno y le devuelva el mensaje según el siguiente cuadro:​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F11EDD-18D0-883C-02AE-21DD32D26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405955"/>
              </p:ext>
            </p:extLst>
          </p:nvPr>
        </p:nvGraphicFramePr>
        <p:xfrm>
          <a:off x="3648075" y="3460314"/>
          <a:ext cx="4895850" cy="2524125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3539809793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894950069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</a:rPr>
                        <a:t>Nota</a:t>
                      </a:r>
                      <a:r>
                        <a:rPr lang="es-ES" sz="1800" b="1" dirty="0">
                          <a:solidFill>
                            <a:srgbClr val="FFFFFF"/>
                          </a:solidFill>
                          <a:effectLst/>
                        </a:rPr>
                        <a:t>​</a:t>
                      </a:r>
                      <a:endParaRPr lang="es-ES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</a:rPr>
                        <a:t>Mensaje</a:t>
                      </a:r>
                      <a:r>
                        <a:rPr lang="es-ES" sz="1800" b="1" dirty="0">
                          <a:solidFill>
                            <a:srgbClr val="FFFFFF"/>
                          </a:solidFill>
                          <a:effectLst/>
                        </a:rPr>
                        <a:t>​</a:t>
                      </a:r>
                      <a:endParaRPr lang="es-ES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44465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>
                          <a:solidFill>
                            <a:srgbClr val="000000"/>
                          </a:solidFill>
                          <a:effectLst/>
                        </a:rPr>
                        <a:t>&gt; 18 y &lt;= 20​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Excelente​</a:t>
                      </a:r>
                      <a:endParaRPr lang="es-ES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5526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>
                          <a:solidFill>
                            <a:srgbClr val="000000"/>
                          </a:solidFill>
                          <a:effectLst/>
                        </a:rPr>
                        <a:t>&gt; 15 y &lt;= 18​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Bueno​</a:t>
                      </a:r>
                      <a:endParaRPr lang="es-ES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844046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>
                          <a:solidFill>
                            <a:srgbClr val="000000"/>
                          </a:solidFill>
                          <a:effectLst/>
                        </a:rPr>
                        <a:t>&gt;= 13 y &lt;= 15​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Regular​</a:t>
                      </a:r>
                      <a:endParaRPr lang="es-ES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93574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>
                          <a:solidFill>
                            <a:srgbClr val="000000"/>
                          </a:solidFill>
                          <a:effectLst/>
                        </a:rPr>
                        <a:t>&lt; 13 y &gt;= 0​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Deficiente​</a:t>
                      </a:r>
                      <a:endParaRPr lang="es-ES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304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8014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EBF7A-1973-CB63-D038-8D6378A7F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A55E77-9A3F-1B15-8982-163840088E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95207-0CC4-7388-DB44-54E5AC3624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5692450" cy="4373562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Escribir un programa que lea un número entero entre 1 y 50 y lo escriba en números romanos.</a:t>
            </a:r>
          </a:p>
          <a:p>
            <a:pPr marL="508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D82357-EDD2-07AC-DD85-FDBB36A1B3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001"/>
          <a:stretch/>
        </p:blipFill>
        <p:spPr>
          <a:xfrm>
            <a:off x="6530650" y="1766445"/>
            <a:ext cx="4823150" cy="4533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FA8C92-82A2-C1A6-35C8-BEA705AF889D}"/>
              </a:ext>
            </a:extLst>
          </p:cNvPr>
          <p:cNvSpPr txBox="1"/>
          <p:nvPr/>
        </p:nvSpPr>
        <p:spPr>
          <a:xfrm>
            <a:off x="546233" y="6231135"/>
            <a:ext cx="7750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  <a:br>
              <a:rPr lang="en-US" sz="9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https://www.cuemath.com/numbers/roman-numerals-1-to-50/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9C5169-1FFF-17F6-C3C3-15BFA192D7FB}"/>
              </a:ext>
            </a:extLst>
          </p:cNvPr>
          <p:cNvGrpSpPr/>
          <p:nvPr/>
        </p:nvGrpSpPr>
        <p:grpSpPr>
          <a:xfrm>
            <a:off x="838200" y="-39921"/>
            <a:ext cx="4629752" cy="1015663"/>
            <a:chOff x="924025" y="1526961"/>
            <a:chExt cx="4629752" cy="10156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1172CEA-C00D-BEE6-0474-516B2791C904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8BA14AF-CCFE-9327-4B6B-2CB4A8F56B16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3505089-F1E8-DD66-5672-B0A9FFD2606D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8E742A-0FD5-3EE5-D082-C2D5F193FA83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189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044A3-13F2-B0A4-E254-1E55B401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3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F0ECAA-4006-F4F6-AD32-9EB3C7C17C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20816-01F7-E089-7269-DCE87D3EEC0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El banco ABC quiere aumentar el límite de </a:t>
            </a:r>
            <a:br>
              <a:rPr lang="es-ES" dirty="0"/>
            </a:br>
            <a:r>
              <a:rPr lang="es-ES" dirty="0"/>
              <a:t>crédito de sus clientes según el tipo de </a:t>
            </a:r>
            <a:br>
              <a:rPr lang="es-ES" dirty="0"/>
            </a:br>
            <a:r>
              <a:rPr lang="es-ES" dirty="0"/>
              <a:t>tarjetas que poseen (ver cuadro):​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solidFill>
                  <a:srgbClr val="C00000"/>
                </a:solidFill>
              </a:rPr>
              <a:t>Excepción</a:t>
            </a:r>
            <a:r>
              <a:rPr lang="es-ES" dirty="0"/>
              <a:t>:​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Si los clientes que tienen el tipo de tarjeta </a:t>
            </a:r>
            <a:br>
              <a:rPr lang="es-ES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1 o 2 tienen una deuda con el banco, solo podrán conseguir la mitad del aumento propuesto en el cuadro​.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Escribir un programa que permita ingresar la línea de crédito, el tipo de tarjeta y la deuda de un cliente (si la tiene) y calcule la nueva línea de crédito propuesta por el banco​.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11050F-0949-9DE7-F8C9-2E1064571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923784"/>
              </p:ext>
            </p:extLst>
          </p:nvPr>
        </p:nvGraphicFramePr>
        <p:xfrm>
          <a:off x="7116024" y="1036064"/>
          <a:ext cx="3648547" cy="2749360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1188797">
                  <a:extLst>
                    <a:ext uri="{9D8B030D-6E8A-4147-A177-3AD203B41FA5}">
                      <a16:colId xmlns:a16="http://schemas.microsoft.com/office/drawing/2014/main" val="385939038"/>
                    </a:ext>
                  </a:extLst>
                </a:gridCol>
                <a:gridCol w="2459750">
                  <a:extLst>
                    <a:ext uri="{9D8B030D-6E8A-4147-A177-3AD203B41FA5}">
                      <a16:colId xmlns:a16="http://schemas.microsoft.com/office/drawing/2014/main" val="410680112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400" b="0" dirty="0">
                          <a:solidFill>
                            <a:srgbClr val="FFFFFF"/>
                          </a:solidFill>
                          <a:effectLst/>
                        </a:rPr>
                        <a:t>Tipo de Tarjeta​</a:t>
                      </a:r>
                      <a:endParaRPr lang="es-ES" sz="11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400" b="0" dirty="0">
                          <a:solidFill>
                            <a:srgbClr val="FFFFFF"/>
                          </a:solidFill>
                          <a:effectLst/>
                        </a:rPr>
                        <a:t>Aumento de Límite de Crédito​</a:t>
                      </a:r>
                      <a:endParaRPr lang="es-ES" sz="11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562708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400" b="0" dirty="0">
                          <a:solidFill>
                            <a:srgbClr val="000000"/>
                          </a:solidFill>
                          <a:effectLst/>
                        </a:rPr>
                        <a:t>1​</a:t>
                      </a:r>
                      <a:endParaRPr lang="es-E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400" b="0" dirty="0">
                          <a:solidFill>
                            <a:srgbClr val="000000"/>
                          </a:solidFill>
                          <a:effectLst/>
                        </a:rPr>
                        <a:t>25% de la línea de crédito​</a:t>
                      </a:r>
                      <a:endParaRPr lang="es-E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15165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400" b="0">
                          <a:solidFill>
                            <a:srgbClr val="000000"/>
                          </a:solidFill>
                          <a:effectLst/>
                        </a:rPr>
                        <a:t>2​</a:t>
                      </a:r>
                      <a:endParaRPr lang="es-ES" sz="11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400" b="0" dirty="0">
                          <a:solidFill>
                            <a:srgbClr val="000000"/>
                          </a:solidFill>
                          <a:effectLst/>
                        </a:rPr>
                        <a:t>35% de la línea de crédito​</a:t>
                      </a:r>
                      <a:endParaRPr lang="es-E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60802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400" b="0" dirty="0">
                          <a:solidFill>
                            <a:srgbClr val="000000"/>
                          </a:solidFill>
                          <a:effectLst/>
                        </a:rPr>
                        <a:t>3​</a:t>
                      </a:r>
                      <a:endParaRPr lang="es-E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400" b="0" dirty="0">
                          <a:solidFill>
                            <a:srgbClr val="000000"/>
                          </a:solidFill>
                          <a:effectLst/>
                        </a:rPr>
                        <a:t>45% de la línea de crédito​</a:t>
                      </a:r>
                      <a:endParaRPr lang="es-E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873138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419" sz="1400" b="0" dirty="0">
                          <a:solidFill>
                            <a:srgbClr val="000000"/>
                          </a:solidFill>
                          <a:effectLst/>
                        </a:rPr>
                        <a:t>Otro</a:t>
                      </a:r>
                      <a:endParaRPr lang="es-419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400" b="0" dirty="0">
                          <a:solidFill>
                            <a:srgbClr val="000000"/>
                          </a:solidFill>
                          <a:effectLst/>
                        </a:rPr>
                        <a:t>50% de la línea de crédito​</a:t>
                      </a:r>
                      <a:endParaRPr lang="es-ES" sz="1100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246385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5D6C63FA-7E17-BBA0-1B0F-8E53D1105948}"/>
              </a:ext>
            </a:extLst>
          </p:cNvPr>
          <p:cNvGrpSpPr/>
          <p:nvPr/>
        </p:nvGrpSpPr>
        <p:grpSpPr>
          <a:xfrm>
            <a:off x="838200" y="-39921"/>
            <a:ext cx="4629752" cy="1015663"/>
            <a:chOff x="924025" y="1526961"/>
            <a:chExt cx="4629752" cy="10156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A65BD0-D8BE-56F3-FA9B-3DD9EE293A1A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7D0D6C-2049-6230-AAF8-4F1783D8FE67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A0F2292-7918-3977-6326-82021FD02A0E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605DC6-B6A0-A89B-967D-E90366432CF4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427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E055D9B-2769-B4E6-C6CC-E33497F2FF56}"/>
              </a:ext>
            </a:extLst>
          </p:cNvPr>
          <p:cNvGrpSpPr/>
          <p:nvPr/>
        </p:nvGrpSpPr>
        <p:grpSpPr>
          <a:xfrm>
            <a:off x="838200" y="-39921"/>
            <a:ext cx="4629752" cy="1015663"/>
            <a:chOff x="924025" y="1526961"/>
            <a:chExt cx="4629752" cy="10156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30AC52-4D93-5D00-2BD9-D9D381946F2D}"/>
                </a:ext>
              </a:extLst>
            </p:cNvPr>
            <p:cNvSpPr/>
            <p:nvPr/>
          </p:nvSpPr>
          <p:spPr>
            <a:xfrm>
              <a:off x="924025" y="1559294"/>
              <a:ext cx="4629752" cy="731520"/>
            </a:xfrm>
            <a:prstGeom prst="rect">
              <a:avLst/>
            </a:prstGeom>
            <a:solidFill>
              <a:srgbClr val="758F3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8202BB7-B8B1-9524-0B13-3E69ABB73A89}"/>
                </a:ext>
              </a:extLst>
            </p:cNvPr>
            <p:cNvSpPr txBox="1"/>
            <p:nvPr/>
          </p:nvSpPr>
          <p:spPr>
            <a:xfrm>
              <a:off x="1501541" y="1663444"/>
              <a:ext cx="25154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  <a:latin typeface="Helvetica" pitchFamily="2" charset="0"/>
                </a:rPr>
                <a:t>Práctica</a:t>
              </a:r>
              <a:endParaRPr lang="en-US" dirty="0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BDA823-8DF6-C883-5B02-6B40B81F2532}"/>
                </a:ext>
              </a:extLst>
            </p:cNvPr>
            <p:cNvSpPr txBox="1"/>
            <p:nvPr/>
          </p:nvSpPr>
          <p:spPr>
            <a:xfrm>
              <a:off x="991402" y="1526961"/>
              <a:ext cx="102027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>
                  <a:solidFill>
                    <a:schemeClr val="bg1"/>
                  </a:solidFill>
                  <a:latin typeface="Helvetica" pitchFamily="2" charset="0"/>
                </a:rPr>
                <a:t>3</a:t>
              </a:r>
              <a:endParaRPr lang="en-US" sz="6000" b="1">
                <a:solidFill>
                  <a:schemeClr val="bg1"/>
                </a:solidFill>
                <a:latin typeface="Helvetica" pitchFamily="2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87078AC-109B-8476-BB33-6E28264CAF18}"/>
                </a:ext>
              </a:extLst>
            </p:cNvPr>
            <p:cNvSpPr/>
            <p:nvPr/>
          </p:nvSpPr>
          <p:spPr>
            <a:xfrm>
              <a:off x="4812631" y="1559294"/>
              <a:ext cx="741146" cy="731520"/>
            </a:xfrm>
            <a:prstGeom prst="rect">
              <a:avLst/>
            </a:prstGeom>
            <a:solidFill>
              <a:schemeClr val="bg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AE16E32-A371-7CA9-FC10-A1CD2AA8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4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0F509D-479B-DC1E-F942-24FF5764D7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1D7AC-91EE-2C3C-CECE-0EE6F7E6214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s-ES" dirty="0"/>
              <a:t>Escribir un programa que le permita a un docente, ingresar la nota de un alumno y le devuelva el mensaje según el siguiente cuadro:​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1F11EDD-18D0-883C-02AE-21DD32D26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544076"/>
              </p:ext>
            </p:extLst>
          </p:nvPr>
        </p:nvGraphicFramePr>
        <p:xfrm>
          <a:off x="1232179" y="3695700"/>
          <a:ext cx="4895850" cy="2524125"/>
        </p:xfrm>
        <a:graphic>
          <a:graphicData uri="http://schemas.openxmlformats.org/drawingml/2006/table">
            <a:tbl>
              <a:tblPr firstRow="1">
                <a:tableStyleId>{1E171933-4619-4E11-9A3F-F7608DF75F80}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3539809793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894950069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</a:rPr>
                        <a:t>Nota</a:t>
                      </a:r>
                      <a:r>
                        <a:rPr lang="es-ES" sz="1800" b="1" dirty="0">
                          <a:solidFill>
                            <a:srgbClr val="FFFFFF"/>
                          </a:solidFill>
                          <a:effectLst/>
                        </a:rPr>
                        <a:t>​</a:t>
                      </a:r>
                      <a:endParaRPr lang="es-ES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1" dirty="0">
                          <a:solidFill>
                            <a:srgbClr val="000000"/>
                          </a:solidFill>
                          <a:effectLst/>
                        </a:rPr>
                        <a:t>Mensaje</a:t>
                      </a:r>
                      <a:r>
                        <a:rPr lang="es-ES" sz="1800" b="1" dirty="0">
                          <a:solidFill>
                            <a:srgbClr val="FFFFFF"/>
                          </a:solidFill>
                          <a:effectLst/>
                        </a:rPr>
                        <a:t>​</a:t>
                      </a:r>
                      <a:endParaRPr lang="es-ES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544465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>
                          <a:solidFill>
                            <a:srgbClr val="000000"/>
                          </a:solidFill>
                          <a:effectLst/>
                        </a:rPr>
                        <a:t>&gt; 18 y &lt;= 20​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Excelente​</a:t>
                      </a:r>
                      <a:endParaRPr lang="es-ES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5526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>
                          <a:solidFill>
                            <a:srgbClr val="000000"/>
                          </a:solidFill>
                          <a:effectLst/>
                        </a:rPr>
                        <a:t>&gt; 15 y &lt;= 18​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Bueno​</a:t>
                      </a:r>
                      <a:endParaRPr lang="es-ES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844046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>
                          <a:solidFill>
                            <a:srgbClr val="000000"/>
                          </a:solidFill>
                          <a:effectLst/>
                        </a:rPr>
                        <a:t>&gt;= 13 y &lt;= 15​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Regular​</a:t>
                      </a:r>
                      <a:endParaRPr lang="es-ES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93574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>
                          <a:solidFill>
                            <a:srgbClr val="000000"/>
                          </a:solidFill>
                          <a:effectLst/>
                        </a:rPr>
                        <a:t>&lt; 13 y &gt;= 0​</a:t>
                      </a:r>
                      <a:endParaRPr lang="es-ES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50000"/>
                        </a:lnSpc>
                      </a:pPr>
                      <a:r>
                        <a:rPr lang="es-ES" sz="1800" b="0" dirty="0">
                          <a:solidFill>
                            <a:srgbClr val="000000"/>
                          </a:solidFill>
                          <a:effectLst/>
                        </a:rPr>
                        <a:t>Deficiente​</a:t>
                      </a:r>
                      <a:endParaRPr lang="es-ES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30433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D1CED74-735B-5EB3-3F4F-DAC2F5C79972}"/>
              </a:ext>
            </a:extLst>
          </p:cNvPr>
          <p:cNvSpPr txBox="1"/>
          <p:nvPr/>
        </p:nvSpPr>
        <p:spPr>
          <a:xfrm>
            <a:off x="6414182" y="3689951"/>
            <a:ext cx="4551698" cy="2529874"/>
          </a:xfrm>
          <a:prstGeom prst="rect">
            <a:avLst/>
          </a:prstGeom>
          <a:solidFill>
            <a:srgbClr val="002060"/>
          </a:solidFill>
        </p:spPr>
        <p:txBody>
          <a:bodyPr wrap="square" lIns="360000" tIns="540000" rIns="360000" bIns="360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800" b="1" dirty="0">
                <a:solidFill>
                  <a:srgbClr val="FFBE29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Nota:</a:t>
            </a:r>
            <a:r>
              <a:rPr lang="es-ES" sz="18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8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 ejercicio debe ser resuelto utilizando solamente el operador ternario.</a:t>
            </a:r>
            <a:endParaRPr lang="en-US" sz="18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8D3C5F7-A80D-D1DD-5EBF-5C6E38C7BF65}"/>
              </a:ext>
            </a:extLst>
          </p:cNvPr>
          <p:cNvGrpSpPr/>
          <p:nvPr/>
        </p:nvGrpSpPr>
        <p:grpSpPr>
          <a:xfrm>
            <a:off x="6542719" y="3833251"/>
            <a:ext cx="670882" cy="176008"/>
            <a:chOff x="7315200" y="723932"/>
            <a:chExt cx="1887787" cy="49526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47A4E4B-735F-FBD9-FDF6-36CCBD48CDC8}"/>
                </a:ext>
              </a:extLst>
            </p:cNvPr>
            <p:cNvSpPr/>
            <p:nvPr/>
          </p:nvSpPr>
          <p:spPr>
            <a:xfrm>
              <a:off x="7315200" y="723932"/>
              <a:ext cx="495268" cy="495268"/>
            </a:xfrm>
            <a:prstGeom prst="ellipse">
              <a:avLst/>
            </a:prstGeom>
            <a:solidFill>
              <a:srgbClr val="FE5F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5424BF4-03FE-10F3-56D2-D6D0B48973F6}"/>
                </a:ext>
              </a:extLst>
            </p:cNvPr>
            <p:cNvSpPr/>
            <p:nvPr/>
          </p:nvSpPr>
          <p:spPr>
            <a:xfrm>
              <a:off x="8011459" y="723932"/>
              <a:ext cx="495268" cy="495268"/>
            </a:xfrm>
            <a:prstGeom prst="ellipse">
              <a:avLst/>
            </a:prstGeom>
            <a:solidFill>
              <a:srgbClr val="FFB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C297F6-E3EB-9260-C6A4-75226BEDD389}"/>
                </a:ext>
              </a:extLst>
            </p:cNvPr>
            <p:cNvSpPr/>
            <p:nvPr/>
          </p:nvSpPr>
          <p:spPr>
            <a:xfrm>
              <a:off x="8707719" y="723932"/>
              <a:ext cx="495268" cy="495268"/>
            </a:xfrm>
            <a:prstGeom prst="ellipse">
              <a:avLst/>
            </a:prstGeom>
            <a:solidFill>
              <a:srgbClr val="29C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767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AD71-8E5E-5C2C-29AC-8C902C16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071F5-2A32-65F7-067E-10C53496A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27DDB0-7BA3-B562-9D91-CB0201A97A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2"/>
            <a:ext cx="7352071" cy="437425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Escribir un programa en Java que muestre un menú de opciones y realice operaciones de acuerdo a condiciones dentro de una estructura </a:t>
            </a:r>
            <a:r>
              <a:rPr lang="es-ES" b="1" dirty="0"/>
              <a:t>switch</a:t>
            </a:r>
            <a:r>
              <a:rPr lang="es-ES" dirty="0"/>
              <a:t>. La variable a evaluar debe ser de tipo </a:t>
            </a:r>
            <a:r>
              <a:rPr lang="es-ES" b="1" dirty="0"/>
              <a:t>short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Escribir un programa en Java que haga uso de un </a:t>
            </a:r>
            <a:r>
              <a:rPr lang="es-ES" b="1" dirty="0"/>
              <a:t>switch</a:t>
            </a:r>
            <a:r>
              <a:rPr lang="es-ES" dirty="0"/>
              <a:t> mejorado y utilice además agrupamiento de opciones. La variable a evaluar debe ser de tipo </a:t>
            </a:r>
            <a:r>
              <a:rPr lang="es-ES" b="1" dirty="0" err="1"/>
              <a:t>char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Escribir un programa en Java que utilice un </a:t>
            </a:r>
            <a:r>
              <a:rPr lang="es-ES" b="1" dirty="0"/>
              <a:t>switch</a:t>
            </a:r>
            <a:r>
              <a:rPr lang="es-ES" dirty="0"/>
              <a:t> (clásico o mejorado) que trabaje con valores de tipo </a:t>
            </a:r>
            <a:r>
              <a:rPr lang="es-ES" b="1" dirty="0" err="1"/>
              <a:t>int</a:t>
            </a:r>
            <a:r>
              <a:rPr lang="es-ES" dirty="0"/>
              <a:t>. Utilizar constantes en lugar de valores directos o “en duro” dentro del </a:t>
            </a:r>
            <a:r>
              <a:rPr lang="es-ES" b="1" dirty="0"/>
              <a:t>switch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2A737-B6D7-F93F-3DB0-01891C897A21}"/>
              </a:ext>
            </a:extLst>
          </p:cNvPr>
          <p:cNvSpPr txBox="1"/>
          <p:nvPr/>
        </p:nvSpPr>
        <p:spPr>
          <a:xfrm>
            <a:off x="8610600" y="2273989"/>
            <a:ext cx="3343563" cy="39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Indicaciones</a:t>
            </a:r>
            <a:br>
              <a:rPr lang="en-US" b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</a:br>
            <a:endParaRPr lang="en-US" b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Grupos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3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Entregables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: a). Video de 3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minutos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máximo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las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propuestas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; b).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Archivo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ZIP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conteniendo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Proyecto java con las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soluciones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Cada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integrante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aparecerá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video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explicando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ejercicio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Luego de la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explicación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de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cada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solución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se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deberá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introducir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cambio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código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que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genere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un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resultado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incorrecto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explicar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los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resultados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591265-BD0B-D9C0-8C6E-B6232C032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285" y="938145"/>
            <a:ext cx="1906405" cy="126098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2AD2A6-2B02-A3E5-9212-0977E0D9B4CA}"/>
              </a:ext>
            </a:extLst>
          </p:cNvPr>
          <p:cNvCxnSpPr/>
          <p:nvPr/>
        </p:nvCxnSpPr>
        <p:spPr>
          <a:xfrm>
            <a:off x="8447285" y="803563"/>
            <a:ext cx="0" cy="54217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26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BB5845-9A47-FEDC-A85E-2D014CA2F3DA}"/>
              </a:ext>
            </a:extLst>
          </p:cNvPr>
          <p:cNvSpPr/>
          <p:nvPr/>
        </p:nvSpPr>
        <p:spPr>
          <a:xfrm>
            <a:off x="0" y="6356350"/>
            <a:ext cx="7320380" cy="501650"/>
          </a:xfrm>
          <a:prstGeom prst="rect">
            <a:avLst/>
          </a:prstGeom>
          <a:solidFill>
            <a:srgbClr val="E5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A7D7EB-E94C-4379-ADE6-A12EB7C4CB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846263"/>
            <a:ext cx="6658068" cy="4373562"/>
          </a:xfrm>
        </p:spPr>
        <p:txBody>
          <a:bodyPr>
            <a:normAutofit/>
          </a:bodyPr>
          <a:lstStyle/>
          <a:p>
            <a:r>
              <a:rPr lang="es-ES" dirty="0"/>
              <a:t>¿Cómo trabaja un </a:t>
            </a:r>
            <a:r>
              <a:rPr lang="es-ES" b="1" dirty="0"/>
              <a:t>switch</a:t>
            </a:r>
            <a:r>
              <a:rPr lang="es-ES" dirty="0"/>
              <a:t> mejorado?</a:t>
            </a:r>
          </a:p>
          <a:p>
            <a:r>
              <a:rPr lang="es-ES" dirty="0"/>
              <a:t>¿Cuál es la diferencia con el </a:t>
            </a:r>
            <a:r>
              <a:rPr lang="es-ES" b="1" dirty="0"/>
              <a:t>switch</a:t>
            </a:r>
            <a:r>
              <a:rPr lang="es-ES" dirty="0"/>
              <a:t> clásico?</a:t>
            </a:r>
          </a:p>
          <a:p>
            <a:r>
              <a:rPr lang="es-ES" dirty="0"/>
              <a:t>¿En qué casos utilizarías cada uno?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906163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https://dpemfoco.com.br/wp-content/uploads/2019/08/Departamento-de-Pessoal-em-Foco-Checklist-Check-list-Checklists.png</a:t>
            </a:r>
          </a:p>
        </p:txBody>
      </p:sp>
      <p:pic>
        <p:nvPicPr>
          <p:cNvPr id="4098" name="Picture 2" descr="Departamento de Pessoal em Foco - Checklist, Check list, Checklists |  Departamento de Pessoal em Foco">
            <a:extLst>
              <a:ext uri="{FF2B5EF4-FFF2-40B4-BE49-F238E27FC236}">
                <a16:creationId xmlns:a16="http://schemas.microsoft.com/office/drawing/2014/main" id="{F8CB8AA5-99DD-1396-1A63-37571903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380" y="2484438"/>
            <a:ext cx="4871619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46263"/>
            <a:ext cx="8370455" cy="43735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A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21AEC-CD51-7E5F-26CB-5CDC143B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118"/>
          <a:stretch/>
        </p:blipFill>
        <p:spPr>
          <a:xfrm>
            <a:off x="9208655" y="1057997"/>
            <a:ext cx="2983345" cy="5168601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5" y="6421002"/>
            <a:ext cx="9735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https://pngimg.com/d/book_PNG51088.png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7530</TotalTime>
  <Words>1589</Words>
  <Application>Microsoft Office PowerPoint</Application>
  <PresentationFormat>Panorámica</PresentationFormat>
  <Paragraphs>208</Paragraphs>
  <Slides>25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Helvetica</vt:lpstr>
      <vt:lpstr>Arial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Estructura Condicional switch-case (II)</vt:lpstr>
      <vt:lpstr>Conocimientos previos</vt:lpstr>
      <vt:lpstr>Logro de aprendizaje</vt:lpstr>
      <vt:lpstr>Utilidad</vt:lpstr>
      <vt:lpstr>Presentación de PowerPoint</vt:lpstr>
      <vt:lpstr>Presentación de PowerPoint</vt:lpstr>
      <vt:lpstr>Sentencia switch mejorada</vt:lpstr>
      <vt:lpstr>switch mejorado. Ejemplos.</vt:lpstr>
      <vt:lpstr>Presentación de PowerPoint</vt:lpstr>
      <vt:lpstr>Operador condicional</vt:lpstr>
      <vt:lpstr>Operador condicional. Ejemplos.</vt:lpstr>
      <vt:lpstr>Presentación de PowerPoint</vt:lpstr>
      <vt:lpstr>Ejercicio 1</vt:lpstr>
      <vt:lpstr>Ejercicio 2</vt:lpstr>
      <vt:lpstr>Ejercicio 3</vt:lpstr>
      <vt:lpstr>Ejercicio 4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04 - Sesión 08</dc:title>
  <dc:creator>jorgerodcas@hotmail.com</dc:creator>
  <cp:lastModifiedBy>Juan Carlos García</cp:lastModifiedBy>
  <cp:revision>307</cp:revision>
  <dcterms:modified xsi:type="dcterms:W3CDTF">2023-10-20T21:17:10Z</dcterms:modified>
</cp:coreProperties>
</file>