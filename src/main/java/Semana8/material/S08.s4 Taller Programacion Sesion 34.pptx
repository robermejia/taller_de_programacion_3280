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562" r:id="rId3"/>
    <p:sldId id="586" r:id="rId4"/>
    <p:sldId id="587" r:id="rId5"/>
    <p:sldId id="588" r:id="rId6"/>
    <p:sldId id="589" r:id="rId7"/>
    <p:sldId id="258" r:id="rId8"/>
    <p:sldId id="257" r:id="rId9"/>
    <p:sldId id="263" r:id="rId10"/>
    <p:sldId id="264" r:id="rId11"/>
    <p:sldId id="330" r:id="rId12"/>
    <p:sldId id="563" r:id="rId13"/>
    <p:sldId id="569" r:id="rId14"/>
    <p:sldId id="570" r:id="rId15"/>
    <p:sldId id="583" r:id="rId16"/>
    <p:sldId id="584" r:id="rId17"/>
    <p:sldId id="585" r:id="rId18"/>
    <p:sldId id="564" r:id="rId19"/>
    <p:sldId id="582" r:id="rId20"/>
    <p:sldId id="566" r:id="rId21"/>
    <p:sldId id="571" r:id="rId22"/>
    <p:sldId id="572" r:id="rId23"/>
    <p:sldId id="573" r:id="rId24"/>
    <p:sldId id="574" r:id="rId25"/>
    <p:sldId id="575" r:id="rId26"/>
    <p:sldId id="576" r:id="rId27"/>
    <p:sldId id="577" r:id="rId28"/>
    <p:sldId id="578" r:id="rId29"/>
    <p:sldId id="579" r:id="rId30"/>
    <p:sldId id="580" r:id="rId31"/>
    <p:sldId id="581" r:id="rId32"/>
    <p:sldId id="528" r:id="rId33"/>
    <p:sldId id="432" r:id="rId34"/>
    <p:sldId id="261" r:id="rId35"/>
    <p:sldId id="329" r:id="rId36"/>
    <p:sldId id="259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02" userDrawn="1">
          <p15:clr>
            <a:srgbClr val="A4A3A4"/>
          </p15:clr>
        </p15:guide>
        <p15:guide id="2" pos="7151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5969"/>
    <a:srgbClr val="E98100"/>
    <a:srgbClr val="92D050"/>
    <a:srgbClr val="00A0A8"/>
    <a:srgbClr val="81B2DF"/>
    <a:srgbClr val="FFB9C0"/>
    <a:srgbClr val="FFFCF3"/>
    <a:srgbClr val="5D7373"/>
    <a:srgbClr val="52C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89760" autoAdjust="0"/>
  </p:normalViewPr>
  <p:slideViewPr>
    <p:cSldViewPr snapToGrid="0">
      <p:cViewPr varScale="1">
        <p:scale>
          <a:sx n="124" d="100"/>
          <a:sy n="124" d="100"/>
        </p:scale>
        <p:origin x="422" y="101"/>
      </p:cViewPr>
      <p:guideLst>
        <p:guide orient="horz" pos="1502"/>
        <p:guide pos="715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411308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2359659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2475228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19725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j-lt"/>
              </a:defRPr>
            </a:lvl1pPr>
            <a:lvl2pPr>
              <a:lnSpc>
                <a:spcPct val="100000"/>
              </a:lnSpc>
              <a:defRPr>
                <a:latin typeface="+mj-lt"/>
              </a:defRPr>
            </a:lvl2pPr>
            <a:lvl3pPr>
              <a:lnSpc>
                <a:spcPct val="100000"/>
              </a:lnSpc>
              <a:defRPr>
                <a:latin typeface="+mj-lt"/>
              </a:defRPr>
            </a:lvl3pPr>
            <a:lvl4pPr>
              <a:lnSpc>
                <a:spcPct val="100000"/>
              </a:lnSpc>
              <a:defRPr>
                <a:latin typeface="+mj-lt"/>
              </a:defRPr>
            </a:lvl4pPr>
            <a:lvl5pPr>
              <a:lnSpc>
                <a:spcPct val="10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3D3358-F57A-9750-2881-9AFDD101C18C}"/>
              </a:ext>
            </a:extLst>
          </p:cNvPr>
          <p:cNvSpPr/>
          <p:nvPr/>
        </p:nvSpPr>
        <p:spPr>
          <a:xfrm>
            <a:off x="744718" y="429863"/>
            <a:ext cx="10699422" cy="599827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1F9192-AA23-F9D9-3B49-D3EE785F5838}"/>
              </a:ext>
            </a:extLst>
          </p:cNvPr>
          <p:cNvSpPr/>
          <p:nvPr/>
        </p:nvSpPr>
        <p:spPr>
          <a:xfrm>
            <a:off x="1036948" y="1855939"/>
            <a:ext cx="10269717" cy="8054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5EBFB-C5E0-A102-BBE6-57A90A66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189" y="669573"/>
            <a:ext cx="8959392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Dudas:\de\la\clase\anterior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E6877-EC37-2164-B200-BEE8C4501B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AF3AE-6523-D041-A931-CA75EE9A4E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70202" y="1694811"/>
            <a:ext cx="9336463" cy="4525014"/>
          </a:xfrm>
        </p:spPr>
        <p:txBody>
          <a:bodyPr/>
          <a:lstStyle/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bg1"/>
                </a:solidFill>
              </a:rPr>
              <a:t>Archivo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Stream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Buffer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File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Clases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FileWriter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FileReader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Clases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FileOuputStream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FileInputStream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9EBF5-5291-0EA6-EF38-63CAC328C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62" y="576994"/>
            <a:ext cx="952500" cy="952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A9EA27-7CE8-90AC-01CD-14DF18F8CB2D}"/>
              </a:ext>
            </a:extLst>
          </p:cNvPr>
          <p:cNvSpPr/>
          <p:nvPr/>
        </p:nvSpPr>
        <p:spPr>
          <a:xfrm>
            <a:off x="881878" y="576532"/>
            <a:ext cx="10424787" cy="952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643539F1-431F-19BA-9255-6128770CD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1887717"/>
            <a:ext cx="751788" cy="751788"/>
          </a:xfrm>
          <a:prstGeom prst="rect">
            <a:avLst/>
          </a:prstGeom>
        </p:spPr>
      </p:pic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27605E1C-4201-68FE-95B1-095641DB94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783" y="2742022"/>
            <a:ext cx="751788" cy="751788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783A9D88-4100-6A35-94CC-BF31915B00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783" y="3596327"/>
            <a:ext cx="751788" cy="751788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523F1230-5650-4ADA-72D1-DC2BF71871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783" y="4450632"/>
            <a:ext cx="751788" cy="751788"/>
          </a:xfrm>
          <a:prstGeom prst="rect">
            <a:avLst/>
          </a:prstGeom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E6937C78-820D-584F-39C4-79AE55FBD7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783" y="5304938"/>
            <a:ext cx="751788" cy="751788"/>
          </a:xfrm>
          <a:prstGeom prst="rect">
            <a:avLst/>
          </a:prstGeom>
        </p:spPr>
      </p:pic>
      <p:pic>
        <p:nvPicPr>
          <p:cNvPr id="14338" name="Picture 2" descr="Ante la situación... - UTP - Universidad Tecnológica del Perú | Facebook">
            <a:extLst>
              <a:ext uri="{FF2B5EF4-FFF2-40B4-BE49-F238E27FC236}">
                <a16:creationId xmlns:a16="http://schemas.microsoft.com/office/drawing/2014/main" id="{997371B7-66B7-711B-22BA-4512BC0F6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459" y="126233"/>
            <a:ext cx="1563789" cy="42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13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3D3358-F57A-9750-2881-9AFDD101C18C}"/>
              </a:ext>
            </a:extLst>
          </p:cNvPr>
          <p:cNvSpPr/>
          <p:nvPr/>
        </p:nvSpPr>
        <p:spPr>
          <a:xfrm>
            <a:off x="744718" y="429863"/>
            <a:ext cx="10699422" cy="599827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1F9192-AA23-F9D9-3B49-D3EE785F5838}"/>
              </a:ext>
            </a:extLst>
          </p:cNvPr>
          <p:cNvSpPr/>
          <p:nvPr/>
        </p:nvSpPr>
        <p:spPr>
          <a:xfrm>
            <a:off x="1036948" y="2704354"/>
            <a:ext cx="10269717" cy="8054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5EBFB-C5E0-A102-BBE6-57A90A66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189" y="669573"/>
            <a:ext cx="8959392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Dudas:\de\la\clase\anterior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E6877-EC37-2164-B200-BEE8C4501B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AF3AE-6523-D041-A931-CA75EE9A4E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70202" y="1694811"/>
            <a:ext cx="9336463" cy="4525014"/>
          </a:xfrm>
        </p:spPr>
        <p:txBody>
          <a:bodyPr/>
          <a:lstStyle/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Archivo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 err="1">
                <a:solidFill>
                  <a:schemeClr val="bg1"/>
                </a:solidFill>
              </a:rPr>
              <a:t>Stream</a:t>
            </a:r>
            <a:r>
              <a:rPr lang="es-ES" dirty="0">
                <a:solidFill>
                  <a:schemeClr val="bg1"/>
                </a:solidFill>
              </a:rPr>
              <a:t> y Buffer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File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Clases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FileWriter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FileReader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Clases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FileOuputStream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FileInputStream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9EBF5-5291-0EA6-EF38-63CAC328C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62" y="576994"/>
            <a:ext cx="952500" cy="952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A9EA27-7CE8-90AC-01CD-14DF18F8CB2D}"/>
              </a:ext>
            </a:extLst>
          </p:cNvPr>
          <p:cNvSpPr/>
          <p:nvPr/>
        </p:nvSpPr>
        <p:spPr>
          <a:xfrm>
            <a:off x="881878" y="576532"/>
            <a:ext cx="10424787" cy="952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643539F1-431F-19BA-9255-6128770CD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1887717"/>
            <a:ext cx="751788" cy="751788"/>
          </a:xfrm>
          <a:prstGeom prst="rect">
            <a:avLst/>
          </a:prstGeom>
        </p:spPr>
      </p:pic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27605E1C-4201-68FE-95B1-095641DB94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783" y="2742022"/>
            <a:ext cx="751788" cy="751788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783A9D88-4100-6A35-94CC-BF31915B0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3596327"/>
            <a:ext cx="751788" cy="751788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523F1230-5650-4ADA-72D1-DC2BF7187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4450632"/>
            <a:ext cx="751788" cy="751788"/>
          </a:xfrm>
          <a:prstGeom prst="rect">
            <a:avLst/>
          </a:prstGeom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E6937C78-820D-584F-39C4-79AE55FB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5304938"/>
            <a:ext cx="751788" cy="751788"/>
          </a:xfrm>
          <a:prstGeom prst="rect">
            <a:avLst/>
          </a:prstGeom>
        </p:spPr>
      </p:pic>
      <p:pic>
        <p:nvPicPr>
          <p:cNvPr id="8" name="Picture 2" descr="Ante la situación... - UTP - Universidad Tecnológica del Perú | Facebook">
            <a:extLst>
              <a:ext uri="{FF2B5EF4-FFF2-40B4-BE49-F238E27FC236}">
                <a16:creationId xmlns:a16="http://schemas.microsoft.com/office/drawing/2014/main" id="{16C523C6-EEB9-3C9A-781E-2D65BC53D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459" y="126233"/>
            <a:ext cx="1563789" cy="42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58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3D3358-F57A-9750-2881-9AFDD101C18C}"/>
              </a:ext>
            </a:extLst>
          </p:cNvPr>
          <p:cNvSpPr/>
          <p:nvPr/>
        </p:nvSpPr>
        <p:spPr>
          <a:xfrm>
            <a:off x="744718" y="429863"/>
            <a:ext cx="10699422" cy="599827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1F9192-AA23-F9D9-3B49-D3EE785F5838}"/>
              </a:ext>
            </a:extLst>
          </p:cNvPr>
          <p:cNvSpPr/>
          <p:nvPr/>
        </p:nvSpPr>
        <p:spPr>
          <a:xfrm>
            <a:off x="1036948" y="3571620"/>
            <a:ext cx="10269717" cy="8054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5EBFB-C5E0-A102-BBE6-57A90A66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189" y="669573"/>
            <a:ext cx="8959392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Dudas:\de\la\clase\anterior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E6877-EC37-2164-B200-BEE8C4501B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AF3AE-6523-D041-A931-CA75EE9A4E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70202" y="1694811"/>
            <a:ext cx="9336463" cy="4525014"/>
          </a:xfrm>
        </p:spPr>
        <p:txBody>
          <a:bodyPr/>
          <a:lstStyle/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Archivo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Stream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Buffer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bg1"/>
                </a:solidFill>
              </a:rPr>
              <a:t>Clase </a:t>
            </a:r>
            <a:r>
              <a:rPr lang="es-ES" b="1" dirty="0">
                <a:solidFill>
                  <a:schemeClr val="bg1"/>
                </a:solidFill>
              </a:rPr>
              <a:t>File</a:t>
            </a:r>
            <a:endParaRPr lang="es-ES" dirty="0">
              <a:solidFill>
                <a:schemeClr val="bg1"/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Clases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FileWriter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FileReader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Clases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FileOuputStream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FileInputStream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9EBF5-5291-0EA6-EF38-63CAC328C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62" y="576994"/>
            <a:ext cx="952500" cy="952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A9EA27-7CE8-90AC-01CD-14DF18F8CB2D}"/>
              </a:ext>
            </a:extLst>
          </p:cNvPr>
          <p:cNvSpPr/>
          <p:nvPr/>
        </p:nvSpPr>
        <p:spPr>
          <a:xfrm>
            <a:off x="881878" y="576532"/>
            <a:ext cx="10424787" cy="952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643539F1-431F-19BA-9255-6128770CD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1887717"/>
            <a:ext cx="751788" cy="751788"/>
          </a:xfrm>
          <a:prstGeom prst="rect">
            <a:avLst/>
          </a:prstGeom>
        </p:spPr>
      </p:pic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27605E1C-4201-68FE-95B1-095641DB9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2742022"/>
            <a:ext cx="751788" cy="751788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783A9D88-4100-6A35-94CC-BF31915B00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783" y="3596327"/>
            <a:ext cx="751788" cy="751788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523F1230-5650-4ADA-72D1-DC2BF7187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4450632"/>
            <a:ext cx="751788" cy="751788"/>
          </a:xfrm>
          <a:prstGeom prst="rect">
            <a:avLst/>
          </a:prstGeom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E6937C78-820D-584F-39C4-79AE55FB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5304938"/>
            <a:ext cx="751788" cy="751788"/>
          </a:xfrm>
          <a:prstGeom prst="rect">
            <a:avLst/>
          </a:prstGeom>
        </p:spPr>
      </p:pic>
      <p:pic>
        <p:nvPicPr>
          <p:cNvPr id="8" name="Picture 2" descr="Ante la situación... - UTP - Universidad Tecnológica del Perú | Facebook">
            <a:extLst>
              <a:ext uri="{FF2B5EF4-FFF2-40B4-BE49-F238E27FC236}">
                <a16:creationId xmlns:a16="http://schemas.microsoft.com/office/drawing/2014/main" id="{97BCA49B-B324-B900-CB91-B0A7D2537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459" y="126233"/>
            <a:ext cx="1563789" cy="42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47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3D3358-F57A-9750-2881-9AFDD101C18C}"/>
              </a:ext>
            </a:extLst>
          </p:cNvPr>
          <p:cNvSpPr/>
          <p:nvPr/>
        </p:nvSpPr>
        <p:spPr>
          <a:xfrm>
            <a:off x="744718" y="429863"/>
            <a:ext cx="10699422" cy="599827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1F9192-AA23-F9D9-3B49-D3EE785F5838}"/>
              </a:ext>
            </a:extLst>
          </p:cNvPr>
          <p:cNvSpPr/>
          <p:nvPr/>
        </p:nvSpPr>
        <p:spPr>
          <a:xfrm>
            <a:off x="1036948" y="4420030"/>
            <a:ext cx="10269717" cy="8054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5EBFB-C5E0-A102-BBE6-57A90A66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189" y="669573"/>
            <a:ext cx="8959392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Dudas:\de\la\clase\anterior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E6877-EC37-2164-B200-BEE8C4501B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AF3AE-6523-D041-A931-CA75EE9A4E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70202" y="1694811"/>
            <a:ext cx="9336463" cy="4525014"/>
          </a:xfrm>
        </p:spPr>
        <p:txBody>
          <a:bodyPr/>
          <a:lstStyle/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Archivo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Stream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Buffer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File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bg1"/>
                </a:solidFill>
              </a:rPr>
              <a:t>Clases </a:t>
            </a:r>
            <a:r>
              <a:rPr lang="es-ES" b="1" dirty="0" err="1">
                <a:solidFill>
                  <a:schemeClr val="bg1"/>
                </a:solidFill>
              </a:rPr>
              <a:t>FileWriter</a:t>
            </a:r>
            <a:r>
              <a:rPr lang="es-ES" dirty="0">
                <a:solidFill>
                  <a:schemeClr val="bg1"/>
                </a:solidFill>
              </a:rPr>
              <a:t> y </a:t>
            </a:r>
            <a:r>
              <a:rPr lang="es-ES" b="1" dirty="0" err="1">
                <a:solidFill>
                  <a:schemeClr val="bg1"/>
                </a:solidFill>
              </a:rPr>
              <a:t>FileReader</a:t>
            </a:r>
            <a:endParaRPr lang="es-ES" dirty="0">
              <a:solidFill>
                <a:schemeClr val="bg1"/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Clases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FileOuputStream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FileInputStream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9EBF5-5291-0EA6-EF38-63CAC328C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62" y="576994"/>
            <a:ext cx="952500" cy="952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A9EA27-7CE8-90AC-01CD-14DF18F8CB2D}"/>
              </a:ext>
            </a:extLst>
          </p:cNvPr>
          <p:cNvSpPr/>
          <p:nvPr/>
        </p:nvSpPr>
        <p:spPr>
          <a:xfrm>
            <a:off x="881878" y="576532"/>
            <a:ext cx="10424787" cy="952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643539F1-431F-19BA-9255-6128770CD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1887717"/>
            <a:ext cx="751788" cy="751788"/>
          </a:xfrm>
          <a:prstGeom prst="rect">
            <a:avLst/>
          </a:prstGeom>
        </p:spPr>
      </p:pic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27605E1C-4201-68FE-95B1-095641DB9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2742022"/>
            <a:ext cx="751788" cy="751788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783A9D88-4100-6A35-94CC-BF31915B0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3596327"/>
            <a:ext cx="751788" cy="751788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523F1230-5650-4ADA-72D1-DC2BF71871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783" y="4450632"/>
            <a:ext cx="751788" cy="751788"/>
          </a:xfrm>
          <a:prstGeom prst="rect">
            <a:avLst/>
          </a:prstGeom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E6937C78-820D-584F-39C4-79AE55FB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5304938"/>
            <a:ext cx="751788" cy="751788"/>
          </a:xfrm>
          <a:prstGeom prst="rect">
            <a:avLst/>
          </a:prstGeom>
        </p:spPr>
      </p:pic>
      <p:pic>
        <p:nvPicPr>
          <p:cNvPr id="8" name="Picture 2" descr="Ante la situación... - UTP - Universidad Tecnológica del Perú | Facebook">
            <a:extLst>
              <a:ext uri="{FF2B5EF4-FFF2-40B4-BE49-F238E27FC236}">
                <a16:creationId xmlns:a16="http://schemas.microsoft.com/office/drawing/2014/main" id="{DEF6C1B7-D28A-7FC8-D876-CC6AFB8FC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459" y="126233"/>
            <a:ext cx="1563789" cy="42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25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3D3358-F57A-9750-2881-9AFDD101C18C}"/>
              </a:ext>
            </a:extLst>
          </p:cNvPr>
          <p:cNvSpPr/>
          <p:nvPr/>
        </p:nvSpPr>
        <p:spPr>
          <a:xfrm>
            <a:off x="744718" y="429863"/>
            <a:ext cx="10699422" cy="599827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1F9192-AA23-F9D9-3B49-D3EE785F5838}"/>
              </a:ext>
            </a:extLst>
          </p:cNvPr>
          <p:cNvSpPr/>
          <p:nvPr/>
        </p:nvSpPr>
        <p:spPr>
          <a:xfrm>
            <a:off x="1036948" y="5268442"/>
            <a:ext cx="10269717" cy="8054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5EBFB-C5E0-A102-BBE6-57A90A66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189" y="669573"/>
            <a:ext cx="8959392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Dudas:\de\la\clase\anterior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E6877-EC37-2164-B200-BEE8C4501B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AF3AE-6523-D041-A931-CA75EE9A4E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70202" y="1694811"/>
            <a:ext cx="9336463" cy="4525014"/>
          </a:xfrm>
        </p:spPr>
        <p:txBody>
          <a:bodyPr/>
          <a:lstStyle/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Archivo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Stream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Buffer</a:t>
            </a: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File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Clases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FileWriter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FileReader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0800" indent="0">
              <a:lnSpc>
                <a:spcPts val="5600"/>
              </a:lnSpc>
              <a:buNone/>
            </a:pPr>
            <a:r>
              <a:rPr lang="es-ES" dirty="0">
                <a:solidFill>
                  <a:schemeClr val="bg1"/>
                </a:solidFill>
              </a:rPr>
              <a:t>Clases </a:t>
            </a:r>
            <a:r>
              <a:rPr lang="es-ES" b="1" dirty="0" err="1">
                <a:solidFill>
                  <a:schemeClr val="bg1"/>
                </a:solidFill>
              </a:rPr>
              <a:t>FileOuputStream</a:t>
            </a:r>
            <a:r>
              <a:rPr lang="es-ES" dirty="0">
                <a:solidFill>
                  <a:schemeClr val="bg1"/>
                </a:solidFill>
              </a:rPr>
              <a:t> y </a:t>
            </a:r>
            <a:r>
              <a:rPr lang="es-ES" b="1" dirty="0" err="1">
                <a:solidFill>
                  <a:schemeClr val="bg1"/>
                </a:solidFill>
              </a:rPr>
              <a:t>FileInputStream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9EBF5-5291-0EA6-EF38-63CAC328C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62" y="576994"/>
            <a:ext cx="952500" cy="952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A9EA27-7CE8-90AC-01CD-14DF18F8CB2D}"/>
              </a:ext>
            </a:extLst>
          </p:cNvPr>
          <p:cNvSpPr/>
          <p:nvPr/>
        </p:nvSpPr>
        <p:spPr>
          <a:xfrm>
            <a:off x="881878" y="576532"/>
            <a:ext cx="10424787" cy="9525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643539F1-431F-19BA-9255-6128770CD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1887717"/>
            <a:ext cx="751788" cy="751788"/>
          </a:xfrm>
          <a:prstGeom prst="rect">
            <a:avLst/>
          </a:prstGeom>
        </p:spPr>
      </p:pic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27605E1C-4201-68FE-95B1-095641DB9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2742022"/>
            <a:ext cx="751788" cy="751788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783A9D88-4100-6A35-94CC-BF31915B0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3596327"/>
            <a:ext cx="751788" cy="751788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523F1230-5650-4ADA-72D1-DC2BF7187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3" y="4450632"/>
            <a:ext cx="751788" cy="751788"/>
          </a:xfrm>
          <a:prstGeom prst="rect">
            <a:avLst/>
          </a:prstGeom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E6937C78-820D-584F-39C4-79AE55FBD7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783" y="5304938"/>
            <a:ext cx="751788" cy="751788"/>
          </a:xfrm>
          <a:prstGeom prst="rect">
            <a:avLst/>
          </a:prstGeom>
        </p:spPr>
      </p:pic>
      <p:pic>
        <p:nvPicPr>
          <p:cNvPr id="8" name="Picture 2" descr="Ante la situación... - UTP - Universidad Tecnológica del Perú | Facebook">
            <a:extLst>
              <a:ext uri="{FF2B5EF4-FFF2-40B4-BE49-F238E27FC236}">
                <a16:creationId xmlns:a16="http://schemas.microsoft.com/office/drawing/2014/main" id="{F8B96F25-A802-6F2D-87C4-058A8C4A1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459" y="126233"/>
            <a:ext cx="1563789" cy="42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56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788911"/>
            <a:ext cx="7364361" cy="232173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dirty="0">
                <a:latin typeface="Helvetica"/>
              </a:rPr>
              <a:t>Operaciones en Archivos de acceso secuencial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15913"/>
            <a:ext cx="2949677" cy="6667564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F4A76D15-FC30-4509-8418-83FD126BB2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9" y="429863"/>
            <a:ext cx="10552522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1279" y="1436914"/>
            <a:ext cx="6341933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Observa la imagen y responde: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muestra la imagen?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¿Cómo están dispuestos los datos?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¿Cómo se denomina a este tipo de archivo?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¿Cómo logramos crear este tipo de archivo en Java?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4B71C0-110B-565A-96C2-5C8BEBE02DAA}"/>
              </a:ext>
            </a:extLst>
          </p:cNvPr>
          <p:cNvSpPr/>
          <p:nvPr/>
        </p:nvSpPr>
        <p:spPr>
          <a:xfrm>
            <a:off x="7611359" y="3192517"/>
            <a:ext cx="3742441" cy="28312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903C633-3E1D-1BB3-A286-F9DF5FBB5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061062"/>
              </p:ext>
            </p:extLst>
          </p:nvPr>
        </p:nvGraphicFramePr>
        <p:xfrm>
          <a:off x="8123741" y="3428999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8055A9-A7C8-71CD-8A47-80C80BCB1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60860"/>
              </p:ext>
            </p:extLst>
          </p:nvPr>
        </p:nvGraphicFramePr>
        <p:xfrm>
          <a:off x="8123741" y="4088524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720666B8-69A7-7AE0-25E7-6B5264103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672311"/>
              </p:ext>
            </p:extLst>
          </p:nvPr>
        </p:nvGraphicFramePr>
        <p:xfrm>
          <a:off x="8123741" y="4798120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434D7A37-90D4-823D-F557-0E10E4A6F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71757"/>
              </p:ext>
            </p:extLst>
          </p:nvPr>
        </p:nvGraphicFramePr>
        <p:xfrm>
          <a:off x="8123741" y="5457645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E0C8355-8EF1-F452-583D-EE1DAE563667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H="1">
            <a:off x="8123741" y="3592077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9094AD9-C5EF-7D47-58A8-7F60CC1FD8F7}"/>
              </a:ext>
            </a:extLst>
          </p:cNvPr>
          <p:cNvCxnSpPr>
            <a:cxnSpLocks/>
          </p:cNvCxnSpPr>
          <p:nvPr/>
        </p:nvCxnSpPr>
        <p:spPr>
          <a:xfrm flipH="1">
            <a:off x="8123741" y="4301673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7BD82E8-2755-ED72-97CA-1E0608611166}"/>
              </a:ext>
            </a:extLst>
          </p:cNvPr>
          <p:cNvCxnSpPr>
            <a:cxnSpLocks/>
          </p:cNvCxnSpPr>
          <p:nvPr/>
        </p:nvCxnSpPr>
        <p:spPr>
          <a:xfrm flipH="1">
            <a:off x="8123741" y="4999248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FE9EDD8-6CD4-477F-90EF-8080F5A9FF0B}"/>
              </a:ext>
            </a:extLst>
          </p:cNvPr>
          <p:cNvSpPr/>
          <p:nvPr/>
        </p:nvSpPr>
        <p:spPr>
          <a:xfrm>
            <a:off x="7611359" y="2532992"/>
            <a:ext cx="3742441" cy="65952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B05C430-7912-5DA8-F1F0-5C0189037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656" y="1436914"/>
            <a:ext cx="1173628" cy="11736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resuelve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problemas con archivos </a:t>
            </a:r>
            <a:r>
              <a:rPr lang="es-ES" dirty="0">
                <a:solidFill>
                  <a:srgbClr val="C00000"/>
                </a:solidFill>
              </a:rPr>
              <a:t>utilizando un IDE Java</a:t>
            </a:r>
            <a:r>
              <a:rPr lang="es-ES" dirty="0">
                <a:solidFill>
                  <a:srgbClr val="D3052C"/>
                </a:solidFill>
              </a:rPr>
              <a:t> </a:t>
            </a:r>
            <a:r>
              <a:rPr lang="es-ES" dirty="0">
                <a:solidFill>
                  <a:srgbClr val="7030A0"/>
                </a:solidFill>
              </a:rPr>
              <a:t>para realizar operaciones de lectura/escritura con acceso secuencial.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25" y="429863"/>
            <a:ext cx="10571375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545377" y="4852408"/>
            <a:ext cx="65812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Implementar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Helvetica" pitchFamily="2" charset="0"/>
              </a:rPr>
              <a:t>operaciones de </a:t>
            </a:r>
            <a:r>
              <a:rPr lang="en-US" sz="2800" dirty="0" err="1">
                <a:solidFill>
                  <a:schemeClr val="accent2"/>
                </a:solidFill>
                <a:latin typeface="Helvetica" pitchFamily="2" charset="0"/>
              </a:rPr>
              <a:t>lectura</a:t>
            </a:r>
            <a:r>
              <a:rPr lang="en-US" sz="2800" dirty="0">
                <a:solidFill>
                  <a:schemeClr val="accent2"/>
                </a:solidFill>
                <a:latin typeface="Helvetica" pitchFamily="2" charset="0"/>
              </a:rPr>
              <a:t>/</a:t>
            </a:r>
            <a:r>
              <a:rPr lang="en-US" sz="2800" dirty="0" err="1">
                <a:solidFill>
                  <a:schemeClr val="accent2"/>
                </a:solidFill>
                <a:latin typeface="Helvetica" pitchFamily="2" charset="0"/>
              </a:rPr>
              <a:t>escritura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archivos</a:t>
            </a:r>
            <a:r>
              <a:rPr lang="en-US" sz="2800" dirty="0">
                <a:latin typeface="Helvetica" pitchFamily="2" charset="0"/>
              </a:rPr>
              <a:t> de </a:t>
            </a:r>
            <a:r>
              <a:rPr lang="en-US" sz="2800" dirty="0" err="1">
                <a:latin typeface="Helvetica" pitchFamily="2" charset="0"/>
              </a:rPr>
              <a:t>acceso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secuencial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Java.</a:t>
            </a:r>
            <a:endParaRPr lang="es-ES" sz="2800" dirty="0">
              <a:latin typeface="Helvetica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6E1AD46-0567-209E-433B-1CE58B38E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390" y="1273404"/>
            <a:ext cx="1510408" cy="15104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02DCF58-582F-D44D-96F9-982F8228EA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46" t="5653" r="2028" b="3351"/>
          <a:stretch/>
        </p:blipFill>
        <p:spPr>
          <a:xfrm>
            <a:off x="8724418" y="624079"/>
            <a:ext cx="1510408" cy="1198507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DEE98C0-6542-41E2-5A93-26DAB1382B5C}"/>
              </a:ext>
            </a:extLst>
          </p:cNvPr>
          <p:cNvSpPr/>
          <p:nvPr/>
        </p:nvSpPr>
        <p:spPr>
          <a:xfrm>
            <a:off x="9396943" y="2520501"/>
            <a:ext cx="716437" cy="850498"/>
          </a:xfrm>
          <a:custGeom>
            <a:avLst/>
            <a:gdLst>
              <a:gd name="connsiteX0" fmla="*/ 0 w 876693"/>
              <a:gd name="connsiteY0" fmla="*/ 0 h 452486"/>
              <a:gd name="connsiteX1" fmla="*/ 876693 w 876693"/>
              <a:gd name="connsiteY1" fmla="*/ 452486 h 452486"/>
              <a:gd name="connsiteX0" fmla="*/ 0 w 876693"/>
              <a:gd name="connsiteY0" fmla="*/ 0 h 452486"/>
              <a:gd name="connsiteX1" fmla="*/ 876693 w 876693"/>
              <a:gd name="connsiteY1" fmla="*/ 452486 h 452486"/>
              <a:gd name="connsiteX0" fmla="*/ 0 w 876693"/>
              <a:gd name="connsiteY0" fmla="*/ 8089 h 460575"/>
              <a:gd name="connsiteX1" fmla="*/ 876693 w 876693"/>
              <a:gd name="connsiteY1" fmla="*/ 460575 h 460575"/>
              <a:gd name="connsiteX0" fmla="*/ 0 w 716437"/>
              <a:gd name="connsiteY0" fmla="*/ 2087 h 850498"/>
              <a:gd name="connsiteX1" fmla="*/ 716437 w 716437"/>
              <a:gd name="connsiteY1" fmla="*/ 850498 h 85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6437" h="850498">
                <a:moveTo>
                  <a:pt x="0" y="2087"/>
                </a:moveTo>
                <a:cubicBezTo>
                  <a:pt x="339365" y="-35621"/>
                  <a:pt x="688156" y="445146"/>
                  <a:pt x="716437" y="850498"/>
                </a:cubicBezTo>
              </a:path>
            </a:pathLst>
          </a:custGeom>
          <a:noFill/>
          <a:ln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4C9FE9B-2CF9-889F-A6A0-D312FBF44461}"/>
              </a:ext>
            </a:extLst>
          </p:cNvPr>
          <p:cNvSpPr/>
          <p:nvPr/>
        </p:nvSpPr>
        <p:spPr>
          <a:xfrm>
            <a:off x="9396943" y="2078910"/>
            <a:ext cx="1157776" cy="1231638"/>
          </a:xfrm>
          <a:custGeom>
            <a:avLst/>
            <a:gdLst>
              <a:gd name="connsiteX0" fmla="*/ 0 w 876693"/>
              <a:gd name="connsiteY0" fmla="*/ 0 h 452486"/>
              <a:gd name="connsiteX1" fmla="*/ 876693 w 876693"/>
              <a:gd name="connsiteY1" fmla="*/ 452486 h 452486"/>
              <a:gd name="connsiteX0" fmla="*/ 0 w 876693"/>
              <a:gd name="connsiteY0" fmla="*/ 0 h 452486"/>
              <a:gd name="connsiteX1" fmla="*/ 876693 w 876693"/>
              <a:gd name="connsiteY1" fmla="*/ 452486 h 452486"/>
              <a:gd name="connsiteX0" fmla="*/ 0 w 876693"/>
              <a:gd name="connsiteY0" fmla="*/ 8089 h 460575"/>
              <a:gd name="connsiteX1" fmla="*/ 876693 w 876693"/>
              <a:gd name="connsiteY1" fmla="*/ 460575 h 460575"/>
              <a:gd name="connsiteX0" fmla="*/ 0 w 210951"/>
              <a:gd name="connsiteY0" fmla="*/ 267196 h 267196"/>
              <a:gd name="connsiteX1" fmla="*/ 188536 w 210951"/>
              <a:gd name="connsiteY1" fmla="*/ 163501 h 267196"/>
              <a:gd name="connsiteX0" fmla="*/ 1131612 w 1181654"/>
              <a:gd name="connsiteY0" fmla="*/ 710770 h 710770"/>
              <a:gd name="connsiteX1" fmla="*/ 395 w 1181654"/>
              <a:gd name="connsiteY1" fmla="*/ 98027 h 710770"/>
              <a:gd name="connsiteX0" fmla="*/ 1131217 w 1232600"/>
              <a:gd name="connsiteY0" fmla="*/ 614414 h 614414"/>
              <a:gd name="connsiteX1" fmla="*/ 0 w 1232600"/>
              <a:gd name="connsiteY1" fmla="*/ 1671 h 614414"/>
              <a:gd name="connsiteX0" fmla="*/ 1131217 w 1131217"/>
              <a:gd name="connsiteY0" fmla="*/ 615488 h 615488"/>
              <a:gd name="connsiteX1" fmla="*/ 0 w 1131217"/>
              <a:gd name="connsiteY1" fmla="*/ 2745 h 615488"/>
              <a:gd name="connsiteX0" fmla="*/ 1168924 w 1168924"/>
              <a:gd name="connsiteY0" fmla="*/ 699842 h 699842"/>
              <a:gd name="connsiteX1" fmla="*/ 0 w 1168924"/>
              <a:gd name="connsiteY1" fmla="*/ 2257 h 699842"/>
              <a:gd name="connsiteX0" fmla="*/ 1150070 w 1150070"/>
              <a:gd name="connsiteY0" fmla="*/ 671706 h 671706"/>
              <a:gd name="connsiteX1" fmla="*/ 0 w 1150070"/>
              <a:gd name="connsiteY1" fmla="*/ 2401 h 671706"/>
              <a:gd name="connsiteX0" fmla="*/ 1150070 w 1150070"/>
              <a:gd name="connsiteY0" fmla="*/ 675912 h 675912"/>
              <a:gd name="connsiteX1" fmla="*/ 0 w 1150070"/>
              <a:gd name="connsiteY1" fmla="*/ 6607 h 675912"/>
              <a:gd name="connsiteX0" fmla="*/ 1150070 w 1150070"/>
              <a:gd name="connsiteY0" fmla="*/ 690731 h 690731"/>
              <a:gd name="connsiteX1" fmla="*/ 0 w 1150070"/>
              <a:gd name="connsiteY1" fmla="*/ 21426 h 690731"/>
              <a:gd name="connsiteX0" fmla="*/ 1206631 w 1206631"/>
              <a:gd name="connsiteY0" fmla="*/ 564459 h 564459"/>
              <a:gd name="connsiteX1" fmla="*/ 0 w 1206631"/>
              <a:gd name="connsiteY1" fmla="*/ 27129 h 564459"/>
              <a:gd name="connsiteX0" fmla="*/ 1197204 w 1197204"/>
              <a:gd name="connsiteY0" fmla="*/ 745508 h 745508"/>
              <a:gd name="connsiteX1" fmla="*/ 0 w 1197204"/>
              <a:gd name="connsiteY1" fmla="*/ 19642 h 745508"/>
              <a:gd name="connsiteX0" fmla="*/ 1197204 w 1197204"/>
              <a:gd name="connsiteY0" fmla="*/ 748176 h 748176"/>
              <a:gd name="connsiteX1" fmla="*/ 0 w 1197204"/>
              <a:gd name="connsiteY1" fmla="*/ 22310 h 748176"/>
              <a:gd name="connsiteX0" fmla="*/ 881666 w 881666"/>
              <a:gd name="connsiteY0" fmla="*/ 1213987 h 1213988"/>
              <a:gd name="connsiteX1" fmla="*/ 0 w 881666"/>
              <a:gd name="connsiteY1" fmla="*/ 12402 h 1213988"/>
              <a:gd name="connsiteX0" fmla="*/ 865889 w 865889"/>
              <a:gd name="connsiteY0" fmla="*/ 986982 h 986983"/>
              <a:gd name="connsiteX1" fmla="*/ 0 w 865889"/>
              <a:gd name="connsiteY1" fmla="*/ 15824 h 986983"/>
              <a:gd name="connsiteX0" fmla="*/ 865889 w 865889"/>
              <a:gd name="connsiteY0" fmla="*/ 971158 h 971158"/>
              <a:gd name="connsiteX1" fmla="*/ 0 w 865889"/>
              <a:gd name="connsiteY1" fmla="*/ 0 h 97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5889" h="971158">
                <a:moveTo>
                  <a:pt x="865889" y="971158"/>
                </a:moveTo>
                <a:cubicBezTo>
                  <a:pt x="837609" y="594085"/>
                  <a:pt x="675062" y="9255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phic 34" descr="Calligraphy Pen with solid fill">
            <a:extLst>
              <a:ext uri="{FF2B5EF4-FFF2-40B4-BE49-F238E27FC236}">
                <a16:creationId xmlns:a16="http://schemas.microsoft.com/office/drawing/2014/main" id="{3B2EB6D7-F2B5-D063-181F-ECF10F0441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5105" y="2464396"/>
            <a:ext cx="740311" cy="740311"/>
          </a:xfrm>
          <a:prstGeom prst="rect">
            <a:avLst/>
          </a:prstGeom>
        </p:spPr>
      </p:pic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F368981-D8F5-0541-B80E-78E5879623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2425" y="1436914"/>
            <a:ext cx="6720913" cy="4782911"/>
          </a:xfrm>
        </p:spPr>
        <p:txBody>
          <a:bodyPr/>
          <a:lstStyle/>
          <a:p>
            <a:r>
              <a:rPr lang="es-ES" dirty="0"/>
              <a:t>¿Qué muestra la imagen?</a:t>
            </a:r>
          </a:p>
          <a:p>
            <a:r>
              <a:rPr lang="es-ES" dirty="0"/>
              <a:t>¿Qué tipo de operaciones se realizan sobre el archivo?</a:t>
            </a:r>
          </a:p>
          <a:p>
            <a:r>
              <a:rPr lang="es-ES" dirty="0"/>
              <a:t>¿Consideras importante para tu futuro profesional saber crear, escribir y leer archivos secuenciales?</a:t>
            </a:r>
          </a:p>
          <a:p>
            <a:endParaRPr lang="en-US" dirty="0"/>
          </a:p>
        </p:txBody>
      </p:sp>
      <p:pic>
        <p:nvPicPr>
          <p:cNvPr id="38" name="Content Placeholder 32" descr="Eye with solid fill">
            <a:extLst>
              <a:ext uri="{FF2B5EF4-FFF2-40B4-BE49-F238E27FC236}">
                <a16:creationId xmlns:a16="http://schemas.microsoft.com/office/drawing/2014/main" id="{48C4EE0D-7556-7C3D-0F8E-37BC162098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34826" y="1896991"/>
            <a:ext cx="740311" cy="74031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96EAB29-71AA-F3D4-EF8D-F90BFA434870}"/>
              </a:ext>
            </a:extLst>
          </p:cNvPr>
          <p:cNvSpPr/>
          <p:nvPr/>
        </p:nvSpPr>
        <p:spPr>
          <a:xfrm>
            <a:off x="8026730" y="3376736"/>
            <a:ext cx="3742441" cy="28312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Table 7">
            <a:extLst>
              <a:ext uri="{FF2B5EF4-FFF2-40B4-BE49-F238E27FC236}">
                <a16:creationId xmlns:a16="http://schemas.microsoft.com/office/drawing/2014/main" id="{94F30CA9-B28E-DB12-382B-FCE88F167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11343"/>
              </p:ext>
            </p:extLst>
          </p:nvPr>
        </p:nvGraphicFramePr>
        <p:xfrm>
          <a:off x="8539112" y="3613218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EB07AFAD-FF87-ACFE-1977-A0D8C770D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007747"/>
              </p:ext>
            </p:extLst>
          </p:nvPr>
        </p:nvGraphicFramePr>
        <p:xfrm>
          <a:off x="8539112" y="4272743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42" name="Table 7">
            <a:extLst>
              <a:ext uri="{FF2B5EF4-FFF2-40B4-BE49-F238E27FC236}">
                <a16:creationId xmlns:a16="http://schemas.microsoft.com/office/drawing/2014/main" id="{EB7DD9DD-D838-4F31-F8AE-942787DEE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660894"/>
              </p:ext>
            </p:extLst>
          </p:nvPr>
        </p:nvGraphicFramePr>
        <p:xfrm>
          <a:off x="8539112" y="4982339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43" name="Table 7">
            <a:extLst>
              <a:ext uri="{FF2B5EF4-FFF2-40B4-BE49-F238E27FC236}">
                <a16:creationId xmlns:a16="http://schemas.microsoft.com/office/drawing/2014/main" id="{B8E24FC3-4E36-E818-E4C2-270EC78A5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00799"/>
              </p:ext>
            </p:extLst>
          </p:nvPr>
        </p:nvGraphicFramePr>
        <p:xfrm>
          <a:off x="8539112" y="5641864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45DD889-240B-5932-629C-CEE0E0BCCA11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 flipH="1">
            <a:off x="8539112" y="3776296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7B44310-C98C-7ECE-A8F8-0631375A5ED1}"/>
              </a:ext>
            </a:extLst>
          </p:cNvPr>
          <p:cNvCxnSpPr>
            <a:cxnSpLocks/>
          </p:cNvCxnSpPr>
          <p:nvPr/>
        </p:nvCxnSpPr>
        <p:spPr>
          <a:xfrm flipH="1">
            <a:off x="8539112" y="4485892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CB7ED15-AFB9-5842-F840-7C11AE52B49E}"/>
              </a:ext>
            </a:extLst>
          </p:cNvPr>
          <p:cNvCxnSpPr>
            <a:cxnSpLocks/>
          </p:cNvCxnSpPr>
          <p:nvPr/>
        </p:nvCxnSpPr>
        <p:spPr>
          <a:xfrm flipH="1">
            <a:off x="8539112" y="5183467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27FA41E2-251B-2A77-D2C8-BE2175FF8B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4427" y="2591399"/>
            <a:ext cx="709738" cy="7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archivos de acceso secuencial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33BAE1A-D177-D325-7AE9-54FE1AE26FF6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archivos de acceso secuencial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84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0FD0-1ACE-76AA-EEBB-9CC9C6C3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Archivo secuenciales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70BBFE-DB6F-882F-BBF1-F1A3BFA2D4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DEC13-7DD0-5C4F-61AB-08FD642720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Contienen registros organizados </a:t>
            </a:r>
            <a:r>
              <a:rPr lang="es-ES" u="sng" dirty="0"/>
              <a:t>en el orden en que fueron escritos</a:t>
            </a:r>
            <a:r>
              <a:rPr lang="es-ES" dirty="0"/>
              <a:t>.</a:t>
            </a:r>
          </a:p>
          <a:p>
            <a:r>
              <a:rPr lang="es-ES" dirty="0"/>
              <a:t>El </a:t>
            </a:r>
            <a:r>
              <a:rPr lang="es-ES" b="1" dirty="0"/>
              <a:t>orden</a:t>
            </a:r>
            <a:r>
              <a:rPr lang="es-ES" dirty="0"/>
              <a:t> de los </a:t>
            </a:r>
            <a:r>
              <a:rPr lang="es-ES" b="1" dirty="0"/>
              <a:t>registros</a:t>
            </a:r>
            <a:r>
              <a:rPr lang="es-ES" dirty="0"/>
              <a:t> es </a:t>
            </a:r>
            <a:r>
              <a:rPr lang="es-ES" b="1" dirty="0"/>
              <a:t>fijo</a:t>
            </a:r>
            <a:r>
              <a:rPr lang="es-ES" dirty="0"/>
              <a:t>, por tanto, solo pueden leerse o escribirse secuencialmente.</a:t>
            </a:r>
          </a:p>
          <a:p>
            <a:r>
              <a:rPr lang="es-ES" dirty="0"/>
              <a:t>Operaciones como insertar, eliminar y modificar registros en archivos secuenciales, es posible, pero costosa.</a:t>
            </a:r>
          </a:p>
          <a:p>
            <a:r>
              <a:rPr lang="es-ES" dirty="0"/>
              <a:t>Los registros pueden ser de </a:t>
            </a:r>
            <a:r>
              <a:rPr lang="es-ES" b="1" dirty="0"/>
              <a:t>longitud variable o fija</a:t>
            </a:r>
            <a:r>
              <a:rPr lang="es-ES" dirty="0"/>
              <a:t>.</a:t>
            </a:r>
          </a:p>
          <a:p>
            <a:r>
              <a:rPr lang="es-ES" dirty="0"/>
              <a:t>Java no impone ningún tipo de estructura para archivos de acceso secuencial.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1FBF50-8E4B-8F41-22FA-5AB90A3071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000" dirty="0">
                <a:solidFill>
                  <a:srgbClr val="A36AAE"/>
                </a:solidFill>
              </a:rPr>
              <a:t>1. Operaciones con archivos de acceso secuencial</a:t>
            </a:r>
          </a:p>
        </p:txBody>
      </p:sp>
    </p:spTree>
    <p:extLst>
      <p:ext uri="{BB962C8B-B14F-4D97-AF65-F5344CB8AC3E}">
        <p14:creationId xmlns:p14="http://schemas.microsoft.com/office/powerpoint/2010/main" val="101684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1CB7-826D-AA71-4EAF-14BCAE3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Registros de longitud fija y variable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DC31-ABDF-F85D-5763-8C0206E67B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0BABE-949D-E98C-8A8D-F3B324DC07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8116075" cy="5161849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Si los registros de un archivo tienen una longitud diferente se denominan “registros de longitud variable”.</a:t>
            </a:r>
          </a:p>
          <a:p>
            <a:pPr>
              <a:lnSpc>
                <a:spcPct val="110000"/>
              </a:lnSpc>
            </a:pPr>
            <a:r>
              <a:rPr lang="es-ES" dirty="0"/>
              <a:t>Si los registros tienen la misma longitud se denominan “registros de longitud fija”.</a:t>
            </a:r>
          </a:p>
          <a:p>
            <a:pPr>
              <a:lnSpc>
                <a:spcPct val="110000"/>
              </a:lnSpc>
            </a:pPr>
            <a:r>
              <a:rPr lang="es-ES" dirty="0"/>
              <a:t>En el primer caso, se necesita un delimitador de campo para saber cuándo comienza y termina cada uno.</a:t>
            </a:r>
          </a:p>
          <a:p>
            <a:pPr>
              <a:lnSpc>
                <a:spcPct val="110000"/>
              </a:lnSpc>
            </a:pPr>
            <a:r>
              <a:rPr lang="es-ES" dirty="0"/>
              <a:t>En el segundo caso, la longitud fija establecida por cada dato determina su inicio y fin.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39703-C1D6-8CB8-9EE6-80CE47A8005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000" dirty="0">
                <a:solidFill>
                  <a:srgbClr val="A36AAE"/>
                </a:solidFill>
              </a:rPr>
              <a:t>1. Operaciones con archivos de acceso secuencial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FBCFA5-FB4A-E184-6F1E-3CCA92484368}"/>
              </a:ext>
            </a:extLst>
          </p:cNvPr>
          <p:cNvGrpSpPr/>
          <p:nvPr/>
        </p:nvGrpSpPr>
        <p:grpSpPr>
          <a:xfrm>
            <a:off x="9624767" y="2268821"/>
            <a:ext cx="1932495" cy="1307803"/>
            <a:chOff x="9624767" y="1857080"/>
            <a:chExt cx="1932495" cy="13078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DD7E29-0E3D-D723-5CBD-AAD22AEDBD7B}"/>
                </a:ext>
              </a:extLst>
            </p:cNvPr>
            <p:cNvSpPr/>
            <p:nvPr/>
          </p:nvSpPr>
          <p:spPr>
            <a:xfrm>
              <a:off x="9624767" y="1857080"/>
              <a:ext cx="377072" cy="36512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ED9110A-FAE3-70E8-5EF2-E959A39C3A1B}"/>
                </a:ext>
              </a:extLst>
            </p:cNvPr>
            <p:cNvSpPr/>
            <p:nvPr/>
          </p:nvSpPr>
          <p:spPr>
            <a:xfrm>
              <a:off x="10118345" y="1857080"/>
              <a:ext cx="769614" cy="3651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AC4E29-E932-C574-1B86-A9E320227D80}"/>
                </a:ext>
              </a:extLst>
            </p:cNvPr>
            <p:cNvSpPr/>
            <p:nvPr/>
          </p:nvSpPr>
          <p:spPr>
            <a:xfrm>
              <a:off x="11004465" y="1857080"/>
              <a:ext cx="552797" cy="365125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475548-C8B3-BF1A-AFFD-322F88BC917D}"/>
                </a:ext>
              </a:extLst>
            </p:cNvPr>
            <p:cNvSpPr/>
            <p:nvPr/>
          </p:nvSpPr>
          <p:spPr>
            <a:xfrm>
              <a:off x="9624767" y="2328419"/>
              <a:ext cx="565608" cy="36512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CDCFD3-410B-12A8-AF6E-1226173B9A0F}"/>
                </a:ext>
              </a:extLst>
            </p:cNvPr>
            <p:cNvSpPr/>
            <p:nvPr/>
          </p:nvSpPr>
          <p:spPr>
            <a:xfrm>
              <a:off x="10306881" y="2328419"/>
              <a:ext cx="769614" cy="3651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5DB074-657B-5D72-C39C-1335F415AB14}"/>
                </a:ext>
              </a:extLst>
            </p:cNvPr>
            <p:cNvSpPr/>
            <p:nvPr/>
          </p:nvSpPr>
          <p:spPr>
            <a:xfrm>
              <a:off x="11180190" y="2328419"/>
              <a:ext cx="377072" cy="365125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59041C-0DC4-38F5-2F70-27452B46B7BC}"/>
                </a:ext>
              </a:extLst>
            </p:cNvPr>
            <p:cNvSpPr/>
            <p:nvPr/>
          </p:nvSpPr>
          <p:spPr>
            <a:xfrm>
              <a:off x="9624767" y="2799758"/>
              <a:ext cx="377072" cy="36512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82661F-6587-B31B-C516-B4E75669C5F5}"/>
                </a:ext>
              </a:extLst>
            </p:cNvPr>
            <p:cNvSpPr/>
            <p:nvPr/>
          </p:nvSpPr>
          <p:spPr>
            <a:xfrm>
              <a:off x="10118345" y="2799758"/>
              <a:ext cx="1127832" cy="3651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396568-44F8-E2D7-186A-CCC3EBEB2D28}"/>
                </a:ext>
              </a:extLst>
            </p:cNvPr>
            <p:cNvSpPr/>
            <p:nvPr/>
          </p:nvSpPr>
          <p:spPr>
            <a:xfrm>
              <a:off x="11353800" y="2799758"/>
              <a:ext cx="203462" cy="365125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C801FCD-9FB7-6A38-727A-C7F474F67ABB}"/>
              </a:ext>
            </a:extLst>
          </p:cNvPr>
          <p:cNvGrpSpPr/>
          <p:nvPr/>
        </p:nvGrpSpPr>
        <p:grpSpPr>
          <a:xfrm>
            <a:off x="9624767" y="4295580"/>
            <a:ext cx="1932495" cy="1307803"/>
            <a:chOff x="9624767" y="3799332"/>
            <a:chExt cx="1932495" cy="130780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019000-CE5E-A7DF-CC07-3B0C2EACF281}"/>
                </a:ext>
              </a:extLst>
            </p:cNvPr>
            <p:cNvSpPr/>
            <p:nvPr/>
          </p:nvSpPr>
          <p:spPr>
            <a:xfrm>
              <a:off x="9624767" y="3799332"/>
              <a:ext cx="493578" cy="36512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81154D-BDED-82EB-ADBA-F9CF6D40C307}"/>
                </a:ext>
              </a:extLst>
            </p:cNvPr>
            <p:cNvSpPr/>
            <p:nvPr/>
          </p:nvSpPr>
          <p:spPr>
            <a:xfrm>
              <a:off x="10209229" y="3799332"/>
              <a:ext cx="867266" cy="3651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3332E0-0EEB-B21E-EAAE-FA3B0A1C82EA}"/>
                </a:ext>
              </a:extLst>
            </p:cNvPr>
            <p:cNvSpPr/>
            <p:nvPr/>
          </p:nvSpPr>
          <p:spPr>
            <a:xfrm>
              <a:off x="11167379" y="3799332"/>
              <a:ext cx="389883" cy="365125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CD3F77-139A-F2E5-47FD-2C268B4D87A1}"/>
                </a:ext>
              </a:extLst>
            </p:cNvPr>
            <p:cNvSpPr/>
            <p:nvPr/>
          </p:nvSpPr>
          <p:spPr>
            <a:xfrm>
              <a:off x="9624767" y="4270671"/>
              <a:ext cx="493578" cy="36512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D21ECD6-6524-883A-A92C-0A9BACD74408}"/>
                </a:ext>
              </a:extLst>
            </p:cNvPr>
            <p:cNvSpPr/>
            <p:nvPr/>
          </p:nvSpPr>
          <p:spPr>
            <a:xfrm>
              <a:off x="10209229" y="4270671"/>
              <a:ext cx="867266" cy="3651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2C09294-902A-C826-76D9-ADAE0B074276}"/>
                </a:ext>
              </a:extLst>
            </p:cNvPr>
            <p:cNvSpPr/>
            <p:nvPr/>
          </p:nvSpPr>
          <p:spPr>
            <a:xfrm>
              <a:off x="11167379" y="4270671"/>
              <a:ext cx="389883" cy="365125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5A8E70-C3B2-4068-905D-376DE713DB27}"/>
                </a:ext>
              </a:extLst>
            </p:cNvPr>
            <p:cNvSpPr/>
            <p:nvPr/>
          </p:nvSpPr>
          <p:spPr>
            <a:xfrm>
              <a:off x="9624767" y="4742010"/>
              <a:ext cx="493578" cy="36512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DA4BBCA-7B0D-3CEA-63A7-118101DC42F5}"/>
                </a:ext>
              </a:extLst>
            </p:cNvPr>
            <p:cNvSpPr/>
            <p:nvPr/>
          </p:nvSpPr>
          <p:spPr>
            <a:xfrm>
              <a:off x="10209229" y="4742010"/>
              <a:ext cx="867266" cy="3651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EFA507-113F-E3BD-4DA7-E4E655C8056B}"/>
                </a:ext>
              </a:extLst>
            </p:cNvPr>
            <p:cNvSpPr/>
            <p:nvPr/>
          </p:nvSpPr>
          <p:spPr>
            <a:xfrm>
              <a:off x="11167379" y="4742010"/>
              <a:ext cx="389883" cy="365125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85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9C7B-52CE-0F1B-8897-C43830E89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Registros de longitud fija y variable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A24A75-3C1D-52E1-CEDE-E224A03BA2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77832-74EB-7FB2-D4F8-80EF2F788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855" y="1710134"/>
            <a:ext cx="6444657" cy="19854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43BEDB-2E2A-5AA7-50A4-690974FD7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855" y="4161878"/>
            <a:ext cx="8060202" cy="19466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BCA201-D498-4260-7A4F-25C80331335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000" dirty="0">
                <a:solidFill>
                  <a:srgbClr val="A36AAE"/>
                </a:solidFill>
              </a:rPr>
              <a:t>1. Operaciones con archivos de acceso secuencial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75FF3-C7EA-3983-C041-CA1D378F3FEB}"/>
              </a:ext>
            </a:extLst>
          </p:cNvPr>
          <p:cNvSpPr txBox="1"/>
          <p:nvPr/>
        </p:nvSpPr>
        <p:spPr>
          <a:xfrm>
            <a:off x="8035018" y="1710134"/>
            <a:ext cx="24475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Archivo con registros de longitud variable. Se usa el tabulador como separador de dato y el salto de línea como marcador de registro.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1D429-0887-F80B-2E44-A7BA61302AF4}"/>
              </a:ext>
            </a:extLst>
          </p:cNvPr>
          <p:cNvSpPr txBox="1"/>
          <p:nvPr/>
        </p:nvSpPr>
        <p:spPr>
          <a:xfrm>
            <a:off x="9634194" y="4146675"/>
            <a:ext cx="20550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Archivo con registros de longitud fija. Las longitudes de los datos son determinadas en el programa y se usa el salto de línea como marcador de registro.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93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FEB9-F1D1-B036-8E9A-A720C2F50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Registros longitud variable.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7BE066-20AA-4A5E-73FE-C8208D8CD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A59F3-9062-1A46-FFDE-39187108CD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000" dirty="0">
                <a:solidFill>
                  <a:srgbClr val="A36AAE"/>
                </a:solidFill>
              </a:rPr>
              <a:t>1. Operaciones con archivos de acceso secuencial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A6714A5-F0A6-5ED6-BDD2-618CC73AB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649" y="1492942"/>
            <a:ext cx="9080994" cy="4673527"/>
          </a:xfrm>
          <a:prstGeom prst="roundRect">
            <a:avLst>
              <a:gd name="adj" fmla="val 459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FileOutputStream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FileOutputStream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temporary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registro_variable.txt"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(Persona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personas)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s,%s,%s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persona.getDNI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persona.getNombre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CC783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persona.getApellidos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flujoSalida.write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registro.getBytes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flujoSalida.close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IOException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e.getMessage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CA1F05-844C-2B43-4DC2-AA2D2B2D9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225" y="4185517"/>
            <a:ext cx="4191000" cy="23622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0823D0-86DF-15CB-ECE5-46ACA66C50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04" t="3875" r="541" b="1585"/>
          <a:stretch/>
        </p:blipFill>
        <p:spPr>
          <a:xfrm>
            <a:off x="9648337" y="1894401"/>
            <a:ext cx="1805770" cy="13955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37B3107-68D7-1339-47E3-86510B395FB1}"/>
              </a:ext>
            </a:extLst>
          </p:cNvPr>
          <p:cNvSpPr txBox="1"/>
          <p:nvPr/>
        </p:nvSpPr>
        <p:spPr>
          <a:xfrm>
            <a:off x="5635328" y="6242996"/>
            <a:ext cx="1588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Resultado/Salida: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4B494-0AC3-4407-DFF3-F40E3D83E6C2}"/>
              </a:ext>
            </a:extLst>
          </p:cNvPr>
          <p:cNvSpPr txBox="1"/>
          <p:nvPr/>
        </p:nvSpPr>
        <p:spPr>
          <a:xfrm>
            <a:off x="1285181" y="6242996"/>
            <a:ext cx="2672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Archivo: DemoLongitudRegistro.java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28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FEB9-F1D1-B036-8E9A-A720C2F50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Registros longitud fija.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7BE066-20AA-4A5E-73FE-C8208D8CD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A59F3-9062-1A46-FFDE-39187108CD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000" dirty="0">
                <a:solidFill>
                  <a:srgbClr val="A36AAE"/>
                </a:solidFill>
              </a:rPr>
              <a:t>1. Operaciones con archivos de acceso secuencial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42ECC1-D2BC-B8FE-AE84-B564F3893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795" y="1449463"/>
            <a:ext cx="9257122" cy="4302895"/>
          </a:xfrm>
          <a:prstGeom prst="roundRect">
            <a:avLst>
              <a:gd name="adj" fmla="val 3126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FileOutputStream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FileOutputStream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temporary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registro_fijo.txt"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(Persona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personas)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"%-10s%-36s%-36s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persona.getDNI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persona.getNombre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persona.getApellidos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flujoSalida.write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registro.getBytes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flujoSalida.close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IOException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e.getMessage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360C44-DF66-BA12-A680-AAE8F1930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48" y="4274432"/>
            <a:ext cx="5429250" cy="23622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B03F36-251F-CFB5-4AB3-4AEBB2AE18D2}"/>
              </a:ext>
            </a:extLst>
          </p:cNvPr>
          <p:cNvSpPr txBox="1"/>
          <p:nvPr/>
        </p:nvSpPr>
        <p:spPr>
          <a:xfrm>
            <a:off x="4512918" y="6318642"/>
            <a:ext cx="1588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Resultado/Salida: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93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archivos de acceso secuencial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33BAE1A-D177-D325-7AE9-54FE1AE26FF6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917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8D821-52B6-1508-B95D-78CC2220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Práctica guiada: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243A8-D621-8FD9-62A0-2238A908AF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CF4D8-8D33-0E88-A317-9099472EE5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354933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Se desarrollará un programa que guarde en un archivo un conjunto de registros de manera </a:t>
            </a:r>
            <a:r>
              <a:rPr lang="es-ES" u="sng" dirty="0"/>
              <a:t>secuencial</a:t>
            </a:r>
            <a:r>
              <a:rPr lang="es-ES" dirty="0"/>
              <a:t>.</a:t>
            </a:r>
          </a:p>
          <a:p>
            <a:pPr marL="50800" indent="0">
              <a:buNone/>
            </a:pPr>
            <a:r>
              <a:rPr lang="es-ES" dirty="0"/>
              <a:t>De igual forma, se implementará el método para leer y mostrar el contenido del archivo.</a:t>
            </a:r>
          </a:p>
          <a:p>
            <a:pPr marL="50800" indent="0">
              <a:buNone/>
            </a:pPr>
            <a:r>
              <a:rPr lang="es-ES" dirty="0"/>
              <a:t>Las operaciones de escritura y lectura se realizarán utilizando las clases </a:t>
            </a:r>
            <a:r>
              <a:rPr lang="es-ES" b="1" dirty="0" err="1"/>
              <a:t>FileOutputStream</a:t>
            </a:r>
            <a:r>
              <a:rPr lang="es-ES" dirty="0"/>
              <a:t> y </a:t>
            </a:r>
            <a:r>
              <a:rPr lang="es-ES" b="1" dirty="0" err="1"/>
              <a:t>FileInputStream</a:t>
            </a:r>
            <a:r>
              <a:rPr lang="es-ES" dirty="0"/>
              <a:t>, respectivamente.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BDD69-B5BB-B4CF-E9BC-6B38D369BDA6}"/>
              </a:ext>
            </a:extLst>
          </p:cNvPr>
          <p:cNvSpPr/>
          <p:nvPr/>
        </p:nvSpPr>
        <p:spPr>
          <a:xfrm>
            <a:off x="7803374" y="2943105"/>
            <a:ext cx="3742441" cy="28312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5F60578-87BA-77D0-EF05-0472B0C46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924059"/>
              </p:ext>
            </p:extLst>
          </p:nvPr>
        </p:nvGraphicFramePr>
        <p:xfrm>
          <a:off x="8315756" y="3179587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1BDFD6-675D-DE66-79E4-089A16C0F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78133"/>
              </p:ext>
            </p:extLst>
          </p:nvPr>
        </p:nvGraphicFramePr>
        <p:xfrm>
          <a:off x="8315756" y="3839112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FC6135B5-E2C0-68E9-259C-EA9574225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982155"/>
              </p:ext>
            </p:extLst>
          </p:nvPr>
        </p:nvGraphicFramePr>
        <p:xfrm>
          <a:off x="8315756" y="4548708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DD568ABB-D689-B417-9E32-89C1D766D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746364"/>
              </p:ext>
            </p:extLst>
          </p:nvPr>
        </p:nvGraphicFramePr>
        <p:xfrm>
          <a:off x="8315756" y="5208233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6952D43-1AA8-BA94-881D-C7CA5D3725C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H="1">
            <a:off x="8315756" y="3342665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F7E2488-BAE8-52D3-244E-488362E38580}"/>
              </a:ext>
            </a:extLst>
          </p:cNvPr>
          <p:cNvCxnSpPr>
            <a:cxnSpLocks/>
          </p:cNvCxnSpPr>
          <p:nvPr/>
        </p:nvCxnSpPr>
        <p:spPr>
          <a:xfrm flipH="1">
            <a:off x="8315756" y="4052261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8DE2118-7F62-2A3C-EAF4-AC54A58BF24D}"/>
              </a:ext>
            </a:extLst>
          </p:cNvPr>
          <p:cNvCxnSpPr>
            <a:cxnSpLocks/>
          </p:cNvCxnSpPr>
          <p:nvPr/>
        </p:nvCxnSpPr>
        <p:spPr>
          <a:xfrm flipH="1">
            <a:off x="8315756" y="4749836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BCF2468-6908-7FD1-3241-7477070B1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984" y="1588257"/>
            <a:ext cx="1333220" cy="133322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B919C7-65C2-CA11-9901-F2A5F83406E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77113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1CB7-826D-AA71-4EAF-14BCAE3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Práctica guiada: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DC31-ABDF-F85D-5763-8C0206E67B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0BABE-949D-E98C-8A8D-F3B324DC07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dirty="0"/>
              <a:t>Diagrama de clases.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C6105C-0A2E-2681-54B7-FC6EA6522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396" y="2183316"/>
            <a:ext cx="7645138" cy="441181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3B5DBE2-0703-AE32-D9AB-12AE35B2DB8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427000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Práctica guiada: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2680194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A. Creando la clase </a:t>
            </a:r>
            <a:r>
              <a:rPr lang="es-ES" b="1" dirty="0"/>
              <a:t>Canción.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DCAEA40-446D-7211-51DC-FE28777E1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3390" y="1389116"/>
            <a:ext cx="5889852" cy="5332359"/>
          </a:xfrm>
          <a:prstGeom prst="roundRect">
            <a:avLst>
              <a:gd name="adj" fmla="val 4082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private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titulo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private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artista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private 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duracion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public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titulo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CC783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artista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duracion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titulo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titulo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artista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artista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duracion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duracion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[Getters &amp; Setters]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C68F06-7A72-1D09-E5BC-9D78C0146A1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368524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B. Creando la clase </a:t>
            </a:r>
            <a:r>
              <a:rPr lang="es-ES" b="1" dirty="0" err="1"/>
              <a:t>RegistroCanciones</a:t>
            </a:r>
            <a:endParaRPr lang="en-US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AE52D8B-EE7D-4E19-10CD-9166E4B64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096" y="2813980"/>
            <a:ext cx="5253221" cy="2722618"/>
          </a:xfrm>
          <a:prstGeom prst="roundRect">
            <a:avLst>
              <a:gd name="adj" fmla="val 4893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java.io.FileInputStream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java.io.FileOutputStream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RegistroCanciones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private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FileOutputStream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private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FileInputStream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flujoEntrada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1B75CC-E70E-8B3E-B36E-EA971444D602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358010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C. Creando el método </a:t>
            </a:r>
            <a:r>
              <a:rPr lang="es-ES" b="1" dirty="0" err="1"/>
              <a:t>crearArchivo</a:t>
            </a:r>
            <a:r>
              <a:rPr lang="es-ES" b="1" dirty="0"/>
              <a:t>()</a:t>
            </a:r>
            <a:r>
              <a:rPr lang="es-ES" dirty="0"/>
              <a:t> en la clase </a:t>
            </a:r>
            <a:r>
              <a:rPr lang="es-ES" b="1" dirty="0" err="1"/>
              <a:t>RegistroCanciones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9D62C11-A472-79AE-1362-5894BDDD8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3968" y="3023260"/>
            <a:ext cx="6584406" cy="3055160"/>
          </a:xfrm>
          <a:prstGeom prst="roundRect">
            <a:avLst>
              <a:gd name="adj" fmla="val 5440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crearArchivo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 ruta)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ruta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ruta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try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FileOutputStream(ruta)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(FileNotFoundException fileNotFoundException)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err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"Error al crear el archivo."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exit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C515A-D9AB-E37B-1AE7-AD7668C7F02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65599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485588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C. Creando el método </a:t>
            </a:r>
            <a:r>
              <a:rPr lang="es-ES" sz="2400" b="1" dirty="0" err="1"/>
              <a:t>agregarRegistros</a:t>
            </a:r>
            <a:r>
              <a:rPr lang="es-ES" sz="2400" b="1" dirty="0"/>
              <a:t>()</a:t>
            </a:r>
            <a:r>
              <a:rPr lang="es-ES" sz="2400" dirty="0"/>
              <a:t> en la clase </a:t>
            </a:r>
            <a:r>
              <a:rPr lang="es-ES" sz="2400" b="1" dirty="0" err="1"/>
              <a:t>RegistroCanciones</a:t>
            </a:r>
            <a:endParaRPr lang="en-US" sz="2400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27618D8-9196-2AF3-DD07-307D8003F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950" y="2243577"/>
            <a:ext cx="8156389" cy="4344110"/>
          </a:xfrm>
          <a:prstGeom prst="roundRect">
            <a:avLst>
              <a:gd name="adj" fmla="val 3472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agregarRegistros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(Cancion[] canciones)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(Cancion cancion : canciones)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String datosFormateados = String.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%s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%s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%d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cancion.getId()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cancion.getTitulo()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cancion.getArtista()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cancion.getDuracion())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.write(datosFormateados.getBytes())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flujoSalida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.close()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(IOException ioException)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err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"Error al escribir en el archivo."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90F8B3-2326-A8C5-327C-D7BAB8E8D5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360504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485588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D. Creando la clase cliente </a:t>
            </a:r>
            <a:r>
              <a:rPr lang="es-ES" sz="2400" b="1" dirty="0" err="1"/>
              <a:t>RegistroCancionesApp</a:t>
            </a:r>
            <a:r>
              <a:rPr lang="es-ES" sz="2400" dirty="0"/>
              <a:t> con el método </a:t>
            </a:r>
            <a:r>
              <a:rPr lang="es-ES" sz="2400" b="1" dirty="0" err="1"/>
              <a:t>main</a:t>
            </a:r>
            <a:r>
              <a:rPr lang="es-ES" sz="2400" b="1" dirty="0"/>
              <a:t>()</a:t>
            </a:r>
            <a:r>
              <a:rPr lang="es-ES" sz="2400" dirty="0"/>
              <a:t> y probar la implementación realizada.</a:t>
            </a:r>
            <a:endParaRPr lang="en-US" sz="2400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1A6835E-24DB-4F55-E2CE-3C5C37BFA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830" y="2514648"/>
            <a:ext cx="9416101" cy="4098355"/>
          </a:xfrm>
          <a:prstGeom prst="roundRect">
            <a:avLst>
              <a:gd name="adj" fmla="val 3800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RegistroCancionesApp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Cancion[] canciones =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estoy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enamorando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"Pedro Suárez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Vértiz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407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Warmisitay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"Milena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Warthon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Contigo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Perú"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"Arturo 'Zambo'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Cavero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Probablemente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"Daniela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Darcourt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401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"Se me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olvidó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"Gian Marco"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RegistroCanciones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RegistroCanciones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registro.crearArchivo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Temporary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canciones.txt"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personalizar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registro.agregarRegistros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(canciones)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DED4C-C194-AD43-C2B6-2AA524B2F8D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2324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485588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Resultado esperado:</a:t>
            </a:r>
            <a:endParaRPr lang="en-US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6FB86B-8146-9546-5EAC-AAAE4C9BC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880" y="2383698"/>
            <a:ext cx="5191125" cy="40576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050BCB-F05E-8F2D-3717-E7C2662CCE4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42519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485588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E. Creando el método </a:t>
            </a:r>
            <a:r>
              <a:rPr lang="es-ES" sz="2400" b="1" dirty="0" err="1"/>
              <a:t>abrirArchivo</a:t>
            </a:r>
            <a:r>
              <a:rPr lang="es-ES" sz="2400" b="1" dirty="0"/>
              <a:t>()</a:t>
            </a:r>
            <a:r>
              <a:rPr lang="es-ES" sz="2400" dirty="0"/>
              <a:t> en la clase </a:t>
            </a:r>
            <a:r>
              <a:rPr lang="es-ES" sz="2400" b="1" dirty="0" err="1"/>
              <a:t>RegistroCanciones</a:t>
            </a:r>
            <a:endParaRPr lang="en-US" sz="24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9E96D79-F6AE-CC01-ABEF-06F177BD8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5529" y="2667971"/>
            <a:ext cx="6836682" cy="3284871"/>
          </a:xfrm>
          <a:prstGeom prst="roundRect">
            <a:avLst>
              <a:gd name="adj" fmla="val 4040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abrirArchivo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 ruta)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ruta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ruta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try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flujoEntrada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FileInputStream(ruta)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(FileNotFoundException fileNotFoundException)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err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"Error al abrir el archivo."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exit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8FCA73-F7C7-C3E7-E55A-6FA7F775823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290695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485588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F. Creando el método </a:t>
            </a:r>
            <a:r>
              <a:rPr lang="es-ES" sz="2400" b="1" dirty="0" err="1"/>
              <a:t>leerRegistros</a:t>
            </a:r>
            <a:r>
              <a:rPr lang="es-ES" sz="2400" b="1" dirty="0"/>
              <a:t>()</a:t>
            </a:r>
            <a:r>
              <a:rPr lang="es-ES" sz="2400" dirty="0"/>
              <a:t> en la clase </a:t>
            </a:r>
            <a:r>
              <a:rPr lang="es-ES" sz="2400" b="1" dirty="0" err="1"/>
              <a:t>RegistroCanciones</a:t>
            </a:r>
            <a:endParaRPr lang="en-US" sz="24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0AC1775-1750-0A4B-DABE-4DC13F7E8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1451" y="2127626"/>
            <a:ext cx="9260777" cy="4505597"/>
          </a:xfrm>
          <a:prstGeom prst="roundRect">
            <a:avLst>
              <a:gd name="adj" fmla="val 2301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leerRegistros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data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flujoEntrada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.readAllBytes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contenido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String(data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StandardCharsets.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UTF_8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lineasRegistros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contenido.split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lineasRegistros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linea.split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Cancion(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Integer.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parseInt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C783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     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Integer.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parseInt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"%2d %-24s %-24s %6d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cancion.getId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cancion.getTitulo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cancion.getArtista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cancion.getDuracion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flujoEntrada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.close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IOException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err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"Error al leer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FF7985-AEDF-DED7-50C1-7982FAE4DD7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318545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485588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G. Modificando la clase cliente para probar la implementación realizada.</a:t>
            </a:r>
            <a:endParaRPr lang="en-US" sz="24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D7B99E4-ADAF-EC4C-1751-1958EA28C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031" y="2723261"/>
            <a:ext cx="7425385" cy="3284871"/>
          </a:xfrm>
          <a:prstGeom prst="roundRect">
            <a:avLst>
              <a:gd name="adj" fmla="val 4327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RegistroCancionesApp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El Código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existente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debe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comentarse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momento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RegistroCanciones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RegistroCanciones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registro.abrirArchivo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Temporary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canciones.txt"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registro.leerRegistros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729EE-49F1-BB30-32B1-0E7B78F23E2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274627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Demo: Registro de Canciones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485588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Resultado esperado:</a:t>
            </a: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2B291B-E159-E30D-1181-39D83708C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413" y="2608301"/>
            <a:ext cx="8737849" cy="27179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D9486E8-87B5-BA73-5C73-B1B1AE1EFD9F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</p:spTree>
    <p:extLst>
      <p:ext uri="{BB962C8B-B14F-4D97-AF65-F5344CB8AC3E}">
        <p14:creationId xmlns:p14="http://schemas.microsoft.com/office/powerpoint/2010/main" val="374521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7D76-A475-145D-EFA8-6CDF279E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Práctica complementaria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587D6-4494-7A74-7693-FECC66CB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026C9-C89D-4D05-164F-2056C6456E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96823" y="1998482"/>
            <a:ext cx="3902697" cy="4221343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/>
              <a:t>Realizar las modificaciones necesarias para que los datos a registrar sean solicitados al usuario a través de </a:t>
            </a:r>
            <a:r>
              <a:rPr lang="es-ES" b="1" dirty="0"/>
              <a:t>Scanner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18325-8574-7B7B-B9B6-54127E229E8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1B0A26-B449-EACE-1F46-821422B79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408" y="1998482"/>
            <a:ext cx="5623826" cy="374921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B2A2F3-31F2-702C-108C-DB2D8ABF9249}"/>
              </a:ext>
            </a:extLst>
          </p:cNvPr>
          <p:cNvSpPr txBox="1"/>
          <p:nvPr/>
        </p:nvSpPr>
        <p:spPr>
          <a:xfrm>
            <a:off x="841342" y="6465845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https://oworkers.com/wp-content/uploads/2021/05/data-entry.jpeg</a:t>
            </a:r>
          </a:p>
        </p:txBody>
      </p:sp>
    </p:spTree>
    <p:extLst>
      <p:ext uri="{BB962C8B-B14F-4D97-AF65-F5344CB8AC3E}">
        <p14:creationId xmlns:p14="http://schemas.microsoft.com/office/powerpoint/2010/main" val="227451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8607-19AD-DDEC-F043-24FD229D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F925A3-C0B8-6F2D-626C-E61D3F644B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263D0-C8BC-0FB5-5D91-90EC18A2C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186965" cy="4782911"/>
          </a:xfrm>
        </p:spPr>
        <p:txBody>
          <a:bodyPr>
            <a:normAutofit fontScale="77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Desarrollar un programa en Java que registre en un archivo la información de cuentas (clase </a:t>
            </a:r>
            <a:r>
              <a:rPr lang="es-ES" b="1" dirty="0" err="1"/>
              <a:t>RegistroCuenta</a:t>
            </a:r>
            <a:r>
              <a:rPr lang="es-ES" dirty="0"/>
              <a:t>) ingresadas por el usuario.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La clase </a:t>
            </a:r>
            <a:r>
              <a:rPr lang="es-ES" b="1" dirty="0" err="1"/>
              <a:t>ArchivoSecuencial</a:t>
            </a:r>
            <a:r>
              <a:rPr lang="es-ES" dirty="0"/>
              <a:t> deberá contener los métodos necesarios para registrar y leer cuentas de un archivo.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La escritura y lectura de los datos se debe realizar con las clases </a:t>
            </a:r>
            <a:r>
              <a:rPr lang="es-ES" b="1" dirty="0" err="1"/>
              <a:t>FileOutputStream</a:t>
            </a:r>
            <a:r>
              <a:rPr lang="es-ES" dirty="0"/>
              <a:t> y </a:t>
            </a:r>
            <a:r>
              <a:rPr lang="es-ES" b="1" dirty="0" err="1"/>
              <a:t>FileInputStream</a:t>
            </a:r>
            <a:r>
              <a:rPr lang="es-ES" dirty="0"/>
              <a:t>, respectivamente.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Se debe guardar un registro por línea en el archivo.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Nota: los registros son de longitud variable.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8357D-60FD-3F52-B696-993EDDE11A0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Práctica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A06C4-16A7-C715-52A7-4DAF25D238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6" t="5653" r="2028" b="3351"/>
          <a:stretch/>
        </p:blipFill>
        <p:spPr>
          <a:xfrm>
            <a:off x="8446057" y="1283653"/>
            <a:ext cx="2219161" cy="17609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8940A6-1EAC-4935-7532-23340A5B0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238" y="3247890"/>
            <a:ext cx="411480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4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AD71-8E5E-5C2C-29AC-8C902C16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07" y="429863"/>
            <a:ext cx="10543094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71F5-2A32-65F7-067E-10C53496A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A7A3DC-024F-B251-3BF8-9E4CDFA1F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707" y="1436914"/>
            <a:ext cx="7381187" cy="4782911"/>
          </a:xfrm>
        </p:spPr>
        <p:txBody>
          <a:bodyPr>
            <a:normAutofit fontScale="70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Crear 04 aplicaciones que realicen operaciones de escritura y lectura de registros en archivos de acceso secuencial con: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dirty="0"/>
              <a:t>Registros de longitud variable usando las clases </a:t>
            </a:r>
            <a:r>
              <a:rPr lang="es-ES" b="1" dirty="0" err="1"/>
              <a:t>FileWriter</a:t>
            </a:r>
            <a:r>
              <a:rPr lang="es-ES" dirty="0"/>
              <a:t> y </a:t>
            </a:r>
            <a:r>
              <a:rPr lang="es-ES" b="1" dirty="0" err="1"/>
              <a:t>FileReader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dirty="0"/>
              <a:t>Registros de longitud fija usando las clases </a:t>
            </a:r>
            <a:r>
              <a:rPr lang="es-ES" b="1" dirty="0" err="1"/>
              <a:t>FileWriter</a:t>
            </a:r>
            <a:r>
              <a:rPr lang="es-ES" dirty="0"/>
              <a:t> y </a:t>
            </a:r>
            <a:r>
              <a:rPr lang="es-ES" b="1" dirty="0" err="1"/>
              <a:t>FileReader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dirty="0"/>
              <a:t>Registros de longitud variable usando las clases </a:t>
            </a:r>
            <a:r>
              <a:rPr lang="es-ES" b="1" dirty="0" err="1"/>
              <a:t>FileOutputStream</a:t>
            </a:r>
            <a:r>
              <a:rPr lang="es-ES" dirty="0"/>
              <a:t> y </a:t>
            </a:r>
            <a:r>
              <a:rPr lang="es-ES" b="1" dirty="0" err="1"/>
              <a:t>FileInputStream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dirty="0"/>
              <a:t>Registros de longitud fija usando las clases </a:t>
            </a:r>
            <a:r>
              <a:rPr lang="es-ES" b="1" dirty="0" err="1"/>
              <a:t>FileOutputStream</a:t>
            </a:r>
            <a:r>
              <a:rPr lang="es-ES" dirty="0"/>
              <a:t> y </a:t>
            </a:r>
            <a:r>
              <a:rPr lang="es-ES" b="1" dirty="0" err="1"/>
              <a:t>FileInputStream</a:t>
            </a:r>
            <a:r>
              <a:rPr lang="es-ES" dirty="0"/>
              <a:t>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Los datos deben solicitarse al usuario vía </a:t>
            </a:r>
            <a:r>
              <a:rPr lang="es-ES" b="1" dirty="0"/>
              <a:t>Scanner</a:t>
            </a:r>
            <a:r>
              <a:rPr lang="es-ES" dirty="0"/>
              <a:t>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Los registros debe tener campos con distintos tipos de datos.</a:t>
            </a:r>
          </a:p>
          <a:p>
            <a:pPr marL="50800" indent="0">
              <a:lnSpc>
                <a:spcPct val="120000"/>
              </a:lnSpc>
              <a:buNone/>
            </a:pPr>
            <a:endParaRPr lang="es-E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2A737-B6D7-F93F-3DB0-01891C897A21}"/>
              </a:ext>
            </a:extLst>
          </p:cNvPr>
          <p:cNvSpPr txBox="1"/>
          <p:nvPr/>
        </p:nvSpPr>
        <p:spPr>
          <a:xfrm>
            <a:off x="8610600" y="2028889"/>
            <a:ext cx="2770693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rgbClr val="5485A5"/>
                </a:solidFill>
                <a:latin typeface="+mj-lt"/>
              </a:rPr>
              <a:t>Indicaciones</a:t>
            </a:r>
            <a:br>
              <a:rPr lang="en-US" sz="1200" b="1" dirty="0">
                <a:solidFill>
                  <a:srgbClr val="5485A5"/>
                </a:solidFill>
                <a:latin typeface="+mj-lt"/>
              </a:rPr>
            </a:br>
            <a:endParaRPr lang="en-US" sz="1200" b="1" dirty="0">
              <a:solidFill>
                <a:srgbClr val="5485A5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Grupos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Entregables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a). Video de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minutos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propuestas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; b).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Archivo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ZIP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conteniendo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Proyecto java con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Todos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deben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aparecer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video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ejercicios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A53CF-B8F1-AC07-92CB-D7BAEF75967B}"/>
              </a:ext>
            </a:extLst>
          </p:cNvPr>
          <p:cNvSpPr/>
          <p:nvPr/>
        </p:nvSpPr>
        <p:spPr>
          <a:xfrm>
            <a:off x="8323872" y="829559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62AC4A-37B6-8C2E-A679-FA146449B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607" y="727152"/>
            <a:ext cx="1189112" cy="11891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D7791A-315B-43C9-CDA2-EB8F8AF70E4B}"/>
              </a:ext>
            </a:extLst>
          </p:cNvPr>
          <p:cNvSpPr txBox="1"/>
          <p:nvPr/>
        </p:nvSpPr>
        <p:spPr>
          <a:xfrm>
            <a:off x="238026" y="6455777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https://upload.wikimedia.org/wikipedia/commons/0/0a/AnantP%40java.png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FBE75A-E6B2-8472-CA16-ECF23EC50B2D}"/>
              </a:ext>
            </a:extLst>
          </p:cNvPr>
          <p:cNvGrpSpPr/>
          <p:nvPr/>
        </p:nvGrpSpPr>
        <p:grpSpPr>
          <a:xfrm>
            <a:off x="8672114" y="5435206"/>
            <a:ext cx="2590250" cy="815188"/>
            <a:chOff x="8672114" y="5435206"/>
            <a:chExt cx="2590250" cy="8151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FF30B7-717B-C6A2-D46B-0467356FF044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7" name="Graphic 6" descr="Clipboard Checked with solid fill">
              <a:extLst>
                <a:ext uri="{FF2B5EF4-FFF2-40B4-BE49-F238E27FC236}">
                  <a16:creationId xmlns:a16="http://schemas.microsoft.com/office/drawing/2014/main" id="{56A6BEB9-E94A-9672-69A0-BA27FDFAE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2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00A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34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/>
              <a:t>Archivo de acceso secuencial.</a:t>
            </a:r>
          </a:p>
          <a:p>
            <a:r>
              <a:rPr lang="es-ES" dirty="0"/>
              <a:t>Registro de longitud fija.</a:t>
            </a:r>
          </a:p>
          <a:p>
            <a:r>
              <a:rPr lang="es-ES" dirty="0"/>
              <a:t>Registro de longitud variable.</a:t>
            </a:r>
          </a:p>
          <a:p>
            <a:r>
              <a:rPr lang="es-ES" b="1" dirty="0" err="1"/>
              <a:t>FileOutputStream</a:t>
            </a:r>
            <a:r>
              <a:rPr lang="es-ES" dirty="0"/>
              <a:t>.</a:t>
            </a:r>
          </a:p>
          <a:p>
            <a:r>
              <a:rPr lang="es-ES" b="1" dirty="0" err="1"/>
              <a:t>FileInputStream</a:t>
            </a:r>
            <a:r>
              <a:rPr lang="es-E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29" t="3247" r="24723" b="2817"/>
          <a:stretch/>
        </p:blipFill>
        <p:spPr>
          <a:xfrm rot="4066074">
            <a:off x="7611199" y="4309016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9442EA-F084-1F42-CB58-97CBEB806A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29" t="24134" r="27868" b="18610"/>
          <a:stretch/>
        </p:blipFill>
        <p:spPr>
          <a:xfrm>
            <a:off x="7191009" y="0"/>
            <a:ext cx="5008923" cy="54813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891386" flipH="1">
            <a:off x="8690495" y="2767380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937664">
            <a:off x="7669993" y="2993189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4409" b="34623"/>
          <a:stretch/>
        </p:blipFill>
        <p:spPr>
          <a:xfrm rot="569949">
            <a:off x="9085746" y="5093109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Deitel</a:t>
            </a:r>
            <a:r>
              <a:rPr lang="es-ES" dirty="0"/>
              <a:t> &amp; </a:t>
            </a:r>
            <a:r>
              <a:rPr lang="es-ES" dirty="0" err="1"/>
              <a:t>Deitel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Java. Cómo programar</a:t>
            </a:r>
            <a:r>
              <a:rPr lang="es-ES" dirty="0"/>
              <a:t>. 7ma edición. Pearson.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11701</TotalTime>
  <Words>2483</Words>
  <Application>Microsoft Office PowerPoint</Application>
  <PresentationFormat>Panorámica</PresentationFormat>
  <Paragraphs>218</Paragraphs>
  <Slides>36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1" baseType="lpstr">
      <vt:lpstr>Arial</vt:lpstr>
      <vt:lpstr>Arial Black</vt:lpstr>
      <vt:lpstr>Helvetica</vt:lpstr>
      <vt:lpstr>JetBrains Mono</vt:lpstr>
      <vt:lpstr>TemaUTP</vt:lpstr>
      <vt:lpstr>Taller de Programación</vt:lpstr>
      <vt:lpstr>Dudas:\de\la\clase\anterior</vt:lpstr>
      <vt:lpstr>Dudas:\de\la\clase\anterior</vt:lpstr>
      <vt:lpstr>Dudas:\de\la\clase\anterior</vt:lpstr>
      <vt:lpstr>Dudas:\de\la\clase\anterior</vt:lpstr>
      <vt:lpstr>Dudas:\de\la\clase\anterior</vt:lpstr>
      <vt:lpstr>Operaciones en Archivos de acceso secuencial</vt:lpstr>
      <vt:lpstr>Conocimientos previos</vt:lpstr>
      <vt:lpstr>Logro de aprendizaje</vt:lpstr>
      <vt:lpstr>Utilidad</vt:lpstr>
      <vt:lpstr>Presentación de PowerPoint</vt:lpstr>
      <vt:lpstr>Presentación de PowerPoint</vt:lpstr>
      <vt:lpstr>Archivo secuenciales</vt:lpstr>
      <vt:lpstr>Registros de longitud fija y variable</vt:lpstr>
      <vt:lpstr>Registros de longitud fija y variable</vt:lpstr>
      <vt:lpstr>Registros longitud variable. Ejemplo.</vt:lpstr>
      <vt:lpstr>Registros longitud fija. Ejemplo.</vt:lpstr>
      <vt:lpstr>Presentación de PowerPoint</vt:lpstr>
      <vt:lpstr>Práctica guiada: Registro de Canciones</vt:lpstr>
      <vt:lpstr>Práctica guiada: Registro de Canciones</vt:lpstr>
      <vt:lpstr>Práctica guiada: Registro de Canciones</vt:lpstr>
      <vt:lpstr>Demo: Registro de Canciones</vt:lpstr>
      <vt:lpstr>Demo: Registro de Canciones</vt:lpstr>
      <vt:lpstr>Demo: Registro de Canciones</vt:lpstr>
      <vt:lpstr>Demo: Registro de Canciones</vt:lpstr>
      <vt:lpstr>Demo: Registro de Canciones</vt:lpstr>
      <vt:lpstr>Demo: Registro de Canciones</vt:lpstr>
      <vt:lpstr>Demo: Registro de Canciones</vt:lpstr>
      <vt:lpstr>Demo: Registro de Canciones</vt:lpstr>
      <vt:lpstr>Demo: Registro de Canciones</vt:lpstr>
      <vt:lpstr>Práctica complementaria</vt:lpstr>
      <vt:lpstr>Ejercicio grupal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17-Sesión 34</dc:title>
  <dc:creator>jorgerodcas@hotmail.com</dc:creator>
  <cp:lastModifiedBy>Juan Carlos García</cp:lastModifiedBy>
  <cp:revision>492</cp:revision>
  <dcterms:modified xsi:type="dcterms:W3CDTF">2023-10-23T16:18:21Z</dcterms:modified>
</cp:coreProperties>
</file>