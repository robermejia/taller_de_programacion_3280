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524" r:id="rId3"/>
    <p:sldId id="258" r:id="rId4"/>
    <p:sldId id="257" r:id="rId5"/>
    <p:sldId id="263" r:id="rId6"/>
    <p:sldId id="264" r:id="rId7"/>
    <p:sldId id="380" r:id="rId8"/>
    <p:sldId id="520" r:id="rId9"/>
    <p:sldId id="455" r:id="rId10"/>
    <p:sldId id="545" r:id="rId11"/>
    <p:sldId id="525" r:id="rId12"/>
    <p:sldId id="528" r:id="rId13"/>
    <p:sldId id="526" r:id="rId14"/>
    <p:sldId id="546" r:id="rId15"/>
    <p:sldId id="547" r:id="rId16"/>
    <p:sldId id="527" r:id="rId17"/>
    <p:sldId id="529" r:id="rId18"/>
    <p:sldId id="530" r:id="rId19"/>
    <p:sldId id="521" r:id="rId20"/>
    <p:sldId id="464" r:id="rId21"/>
    <p:sldId id="538" r:id="rId22"/>
    <p:sldId id="531" r:id="rId23"/>
    <p:sldId id="532" r:id="rId24"/>
    <p:sldId id="533" r:id="rId25"/>
    <p:sldId id="534" r:id="rId26"/>
    <p:sldId id="535" r:id="rId27"/>
    <p:sldId id="536" r:id="rId28"/>
    <p:sldId id="537" r:id="rId29"/>
    <p:sldId id="522" r:id="rId30"/>
    <p:sldId id="477" r:id="rId31"/>
    <p:sldId id="539" r:id="rId32"/>
    <p:sldId id="540" r:id="rId33"/>
    <p:sldId id="541" r:id="rId34"/>
    <p:sldId id="523" r:id="rId35"/>
    <p:sldId id="481" r:id="rId36"/>
    <p:sldId id="542" r:id="rId37"/>
    <p:sldId id="543" r:id="rId38"/>
    <p:sldId id="544" r:id="rId39"/>
    <p:sldId id="261" r:id="rId40"/>
    <p:sldId id="329" r:id="rId41"/>
    <p:sldId id="259" r:id="rId4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8" roundtripDataSignature="AMtx7mh2+CB7AwAKHevBYi6hg66TyKQME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86062B-CF97-CD71-5A85-9B4FD42F42A3}" name="FERNANDO IGNACIO DIAZ SANCHEZ" initials="FIDS" userId="S::fidiaz@utp.edu.pe::ba36fe69-f35f-4358-9126-4b1eb463af6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8500"/>
    <a:srgbClr val="996600"/>
    <a:srgbClr val="FB838D"/>
    <a:srgbClr val="800000"/>
    <a:srgbClr val="FF5050"/>
    <a:srgbClr val="D9F5FF"/>
    <a:srgbClr val="90FC88"/>
    <a:srgbClr val="FFC1C1"/>
    <a:srgbClr val="140000"/>
    <a:srgbClr val="3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84197" autoAdjust="0"/>
  </p:normalViewPr>
  <p:slideViewPr>
    <p:cSldViewPr snapToGrid="0">
      <p:cViewPr varScale="1">
        <p:scale>
          <a:sx n="124" d="100"/>
          <a:sy n="124" d="100"/>
        </p:scale>
        <p:origin x="422" y="77"/>
      </p:cViewPr>
      <p:guideLst>
        <p:guide orient="horz" pos="66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82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8" Type="http://customschemas.google.com/relationships/presentationmetadata" Target="meta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83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819eedc2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7819eedc2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" name="Google Shape;6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56568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482977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2014263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310887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1939967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https://i.pinimg.com/736x/bc/89/ad/bc89ad92528fcb93c4e8c101f4336052--table-of-contents-template-templates-for-powerpoint.jpg</a:t>
            </a:r>
          </a:p>
        </p:txBody>
      </p:sp>
    </p:spTree>
    <p:extLst>
      <p:ext uri="{BB962C8B-B14F-4D97-AF65-F5344CB8AC3E}">
        <p14:creationId xmlns:p14="http://schemas.microsoft.com/office/powerpoint/2010/main" val="6484441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949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859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Respuesta: 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6659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1936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ubTitle" idx="1"/>
          </p:nvPr>
        </p:nvSpPr>
        <p:spPr>
          <a:xfrm>
            <a:off x="1524000" y="3178688"/>
            <a:ext cx="9144000" cy="50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Helvetica" pitchFamily="2" charset="0"/>
                <a:ea typeface="Helvetica" pitchFamily="2" charset="0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22F04-4BC9-41E2-B353-830397417302}"/>
              </a:ext>
            </a:extLst>
          </p:cNvPr>
          <p:cNvSpPr/>
          <p:nvPr userDrawn="1"/>
        </p:nvSpPr>
        <p:spPr>
          <a:xfrm>
            <a:off x="4058520" y="5231177"/>
            <a:ext cx="4063504" cy="93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4E2C1613-F647-4454-932D-F9B6B9380A9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555" y="5135036"/>
            <a:ext cx="4173573" cy="109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29555-3685-4E25-8B53-D766AA06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649" y="429863"/>
            <a:ext cx="10150151" cy="785528"/>
          </a:xfrm>
        </p:spPr>
        <p:txBody>
          <a:bodyPr>
            <a:normAutofit/>
          </a:bodyPr>
          <a:lstStyle>
            <a:lvl1pPr>
              <a:defRPr sz="4400" b="1">
                <a:solidFill>
                  <a:srgbClr val="D3052C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8F942-990C-4C84-A1C3-F5F0BCBF93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‹Nº›</a:t>
            </a:fld>
            <a:endParaRPr lang="es-PE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8538E7-9E81-474C-AD3B-32C2198C15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j-lt"/>
              </a:defRPr>
            </a:lvl1pPr>
            <a:lvl2pPr>
              <a:lnSpc>
                <a:spcPct val="100000"/>
              </a:lnSpc>
              <a:defRPr>
                <a:latin typeface="+mj-lt"/>
              </a:defRPr>
            </a:lvl2pPr>
            <a:lvl3pPr>
              <a:lnSpc>
                <a:spcPct val="100000"/>
              </a:lnSpc>
              <a:defRPr>
                <a:latin typeface="+mj-lt"/>
              </a:defRPr>
            </a:lvl3pPr>
            <a:lvl4pPr>
              <a:lnSpc>
                <a:spcPct val="100000"/>
              </a:lnSpc>
              <a:defRPr>
                <a:latin typeface="+mj-lt"/>
              </a:defRPr>
            </a:lvl4pPr>
            <a:lvl5pPr>
              <a:lnSpc>
                <a:spcPct val="100000"/>
              </a:lnSpc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322DE48A-2D4F-4873-8D66-AF7F3593CA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6428" y="136525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3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preserve="1" userDrawn="1">
  <p:cSld name="2_Solo el título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240F2624-FBFA-46AE-9892-D42C673614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41009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835F4D67-4966-C21F-A09E-7658BEBF9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217"/>
            <a:ext cx="10515600" cy="4959927"/>
          </a:xfrm>
        </p:spPr>
        <p:txBody>
          <a:bodyPr/>
          <a:lstStyle>
            <a:lvl1pPr algn="ctr">
              <a:defRPr b="1">
                <a:solidFill>
                  <a:schemeClr val="bg1">
                    <a:lumMod val="50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6670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cabezado de sección">
  <p:cSld name="1_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67" y="0"/>
            <a:ext cx="1218706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D22FCA6-0FCB-4C91-BEC5-A93A5D856507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0;p9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9"/>
          <p:cNvSpPr txBox="1"/>
          <p:nvPr/>
        </p:nvSpPr>
        <p:spPr>
          <a:xfrm>
            <a:off x="831850" y="6457444"/>
            <a:ext cx="10515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Datos/Observaciones</a:t>
            </a:r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1B93EADB-A85F-4945-BEEA-1073EED296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45ECD6E-A13D-41C4-A8AA-AC936BA167FF}"/>
              </a:ext>
            </a:extLst>
          </p:cNvPr>
          <p:cNvSpPr/>
          <p:nvPr userDrawn="1"/>
        </p:nvSpPr>
        <p:spPr>
          <a:xfrm>
            <a:off x="8713694" y="0"/>
            <a:ext cx="3478306" cy="1461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4;p10"/>
          <p:cNvSpPr txBox="1">
            <a:spLocks noGrp="1"/>
          </p:cNvSpPr>
          <p:nvPr>
            <p:ph type="body" idx="1"/>
          </p:nvPr>
        </p:nvSpPr>
        <p:spPr>
          <a:xfrm>
            <a:off x="831850" y="469339"/>
            <a:ext cx="10515600" cy="562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2"/>
          </p:nvPr>
        </p:nvSpPr>
        <p:spPr>
          <a:xfrm>
            <a:off x="831850" y="6382418"/>
            <a:ext cx="105156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6" name="Picture 2" descr="Inicio – 10 - Universidad Tecnológica del Perú - UTP – Colegio Anglo  Americano Prescott">
            <a:extLst>
              <a:ext uri="{FF2B5EF4-FFF2-40B4-BE49-F238E27FC236}">
                <a16:creationId xmlns:a16="http://schemas.microsoft.com/office/drawing/2014/main" id="{E630A3B5-109D-4437-9425-DCBCCE7F66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847" y="122286"/>
            <a:ext cx="1559859" cy="40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olo el título">
  <p:cSld name="1_Solo el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639" y="0"/>
            <a:ext cx="1218072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ido con título">
  <p:cSld name="1_Contenido con títu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ido con título">
  <p:cSld name="2_Contenido con título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ido con título">
  <p:cSld name="3_Contenido con títul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ontenido con título">
  <p:cSld name="4_Contenido con título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ido con título">
  <p:cSld name="5_Contenido con título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ido con título">
  <p:cSld name="6_Contenido con títul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ido con título">
  <p:cSld name="7_Contenido con título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13" y="0"/>
            <a:ext cx="1218197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ido con título">
  <p:cSld name="8_Contenido con título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ido con título">
  <p:cSld name="9_Contenido con títul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ido con título">
  <p:cSld name="10_Contenido con títul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52"/>
            <a:ext cx="12192000" cy="6857295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3200"/>
              <a:buNone/>
              <a:defRPr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5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D3052C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Helvetica" pitchFamily="2" charset="0"/>
          <a:ea typeface="Helvetica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exed.it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ome.unicode.org/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76E9D0-D0F1-5B0E-7886-75A77C280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F66C8B-894E-49C8-97F0-0500C46A7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361" y="1029710"/>
            <a:ext cx="7361383" cy="1936426"/>
          </a:xfrm>
        </p:spPr>
        <p:txBody>
          <a:bodyPr/>
          <a:lstStyle/>
          <a:p>
            <a:pPr algn="l"/>
            <a:r>
              <a:rPr lang="es-ES" dirty="0">
                <a:solidFill>
                  <a:schemeClr val="bg1"/>
                </a:solidFill>
              </a:rPr>
              <a:t>Taller de Programación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77311F-912E-F29A-7CC2-5367F66BE24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114"/>
          <a:stretch/>
        </p:blipFill>
        <p:spPr>
          <a:xfrm>
            <a:off x="653361" y="5419035"/>
            <a:ext cx="2528344" cy="8399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BC89A-FF84-877C-D866-0A9D5D51CC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66576"/>
          <a:stretch/>
        </p:blipFill>
        <p:spPr>
          <a:xfrm>
            <a:off x="3208204" y="5419034"/>
            <a:ext cx="1282645" cy="83994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3B98E4C-CEFA-1581-AF50-FEF751C6337A}"/>
              </a:ext>
            </a:extLst>
          </p:cNvPr>
          <p:cNvSpPr/>
          <p:nvPr/>
        </p:nvSpPr>
        <p:spPr>
          <a:xfrm>
            <a:off x="803564" y="3186545"/>
            <a:ext cx="720435" cy="14778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110DC5-E042-6864-A9C7-29E21EDB9714}"/>
              </a:ext>
            </a:extLst>
          </p:cNvPr>
          <p:cNvSpPr txBox="1"/>
          <p:nvPr/>
        </p:nvSpPr>
        <p:spPr>
          <a:xfrm>
            <a:off x="-4618" y="6627169"/>
            <a:ext cx="773545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de: https://images.wallpapersden.com/image/download/cool-4k-pattern_bGduZWyUmZqaraWkpJRobWllrWdma2U.jpg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81D81-AD90-61DD-5940-C2E5037E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Dudas de la clase anterior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4772E8-18FA-1ECA-D69D-005D461BC2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46CA73-BA2B-5FE2-1CC3-F0F2DDEE4D6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Clase </a:t>
            </a:r>
            <a:r>
              <a:rPr lang="es-ES" dirty="0" err="1"/>
              <a:t>String</a:t>
            </a:r>
            <a:r>
              <a:rPr lang="es-ES" dirty="0"/>
              <a:t>.</a:t>
            </a:r>
          </a:p>
          <a:p>
            <a:r>
              <a:rPr lang="es-ES" dirty="0"/>
              <a:t>Principales funciones de </a:t>
            </a:r>
            <a:r>
              <a:rPr lang="es-ES" dirty="0" err="1"/>
              <a:t>String</a:t>
            </a:r>
            <a:r>
              <a:rPr lang="es-ES" dirty="0"/>
              <a:t>.</a:t>
            </a:r>
          </a:p>
          <a:p>
            <a:r>
              <a:rPr lang="en-US" dirty="0" err="1"/>
              <a:t>Clases</a:t>
            </a:r>
            <a:r>
              <a:rPr lang="en-US" dirty="0"/>
              <a:t> StringBuilder y </a:t>
            </a:r>
            <a:r>
              <a:rPr lang="en-US" dirty="0" err="1"/>
              <a:t>StringBuffer</a:t>
            </a:r>
            <a:r>
              <a:rPr lang="en-US" dirty="0"/>
              <a:t>.</a:t>
            </a:r>
          </a:p>
          <a:p>
            <a:r>
              <a:rPr lang="es-ES" dirty="0"/>
              <a:t>Principales funciones de </a:t>
            </a:r>
            <a:r>
              <a:rPr lang="es-ES" dirty="0" err="1"/>
              <a:t>StringBuilder</a:t>
            </a:r>
            <a:r>
              <a:rPr lang="es-ES" dirty="0"/>
              <a:t> / </a:t>
            </a:r>
            <a:r>
              <a:rPr lang="es-ES" dirty="0" err="1"/>
              <a:t>StringBuffer</a:t>
            </a:r>
            <a:r>
              <a:rPr lang="es-ES" dirty="0"/>
              <a:t>.</a:t>
            </a:r>
            <a:endParaRPr lang="en-US" dirty="0"/>
          </a:p>
          <a:p>
            <a:r>
              <a:rPr lang="en-US" dirty="0"/>
              <a:t>StringBuilder / </a:t>
            </a:r>
            <a:r>
              <a:rPr lang="en-US" dirty="0" err="1"/>
              <a:t>StringBuffer</a:t>
            </a:r>
            <a:r>
              <a:rPr lang="en-US" dirty="0"/>
              <a:t> vs String.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56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0EF3B4-21BF-4F13-19D8-12C79D4741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362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4600F7-1DA8-4B6F-94D5-F0D0A43E9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9883" y="883580"/>
            <a:ext cx="7364361" cy="2227062"/>
          </a:xfrm>
        </p:spPr>
        <p:txBody>
          <a:bodyPr anchor="ctr" anchorCtr="0">
            <a:noAutofit/>
          </a:bodyPr>
          <a:lstStyle/>
          <a:p>
            <a:pPr algn="l"/>
            <a:r>
              <a:rPr lang="es-ES" dirty="0">
                <a:latin typeface="Helvetica"/>
              </a:rPr>
              <a:t>Manejo de ficheros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B251AC-3951-3B47-1B07-C76D85252ACA}"/>
              </a:ext>
            </a:extLst>
          </p:cNvPr>
          <p:cNvSpPr/>
          <p:nvPr/>
        </p:nvSpPr>
        <p:spPr>
          <a:xfrm>
            <a:off x="4109883" y="3425816"/>
            <a:ext cx="8082117" cy="78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Java logo and symbol, meaning, history, PNG">
            <a:extLst>
              <a:ext uri="{FF2B5EF4-FFF2-40B4-BE49-F238E27FC236}">
                <a16:creationId xmlns:a16="http://schemas.microsoft.com/office/drawing/2014/main" id="{AAB33131-EF3E-5FB0-0827-F338AF1CAE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0" r="54839"/>
          <a:stretch/>
        </p:blipFill>
        <p:spPr bwMode="auto">
          <a:xfrm>
            <a:off x="0" y="15913"/>
            <a:ext cx="2949677" cy="6667564"/>
          </a:xfrm>
          <a:prstGeom prst="rect">
            <a:avLst/>
          </a:prstGeom>
          <a:noFill/>
          <a:effectLst>
            <a:outerShdw blurRad="152400" dist="1143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781919-DECA-3D78-81A0-35CD43938DF7}"/>
              </a:ext>
            </a:extLst>
          </p:cNvPr>
          <p:cNvSpPr txBox="1"/>
          <p:nvPr/>
        </p:nvSpPr>
        <p:spPr>
          <a:xfrm>
            <a:off x="68827" y="6605045"/>
            <a:ext cx="61353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de: https://1000logos.net/wp-content/uploads/2020/09/Java-Logo.png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935DE49D-9448-4181-93E3-A397193348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es-P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077C684-06B1-44CA-9235-D863CE03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79" y="429863"/>
            <a:ext cx="10552522" cy="785528"/>
          </a:xfrm>
        </p:spPr>
        <p:txBody>
          <a:bodyPr/>
          <a:lstStyle/>
          <a:p>
            <a:r>
              <a:rPr lang="es-ES" dirty="0"/>
              <a:t>Conocimientos previos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D4DF39-413F-41FB-80F6-1CF57DEA76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</a:t>
            </a:fld>
            <a:endParaRPr lang="es-PE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5BF71D-AE98-ECA9-3C25-309A4EE9D3A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01280" y="1436914"/>
            <a:ext cx="5137608" cy="4782911"/>
          </a:xfrm>
        </p:spPr>
        <p:txBody>
          <a:bodyPr>
            <a:normAutofit/>
          </a:bodyPr>
          <a:lstStyle/>
          <a:p>
            <a:pPr marL="50800" indent="0">
              <a:buNone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Observa la imagen y responde: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¿Qué muestra la imagen?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¿Qué diferencia estos archivos?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¿Puedes usar estos archivos en Java?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¿Cómo podemos leer archivos de texto en Java?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F3692B-4D9F-3254-D25F-AC4BCEB43B8F}"/>
              </a:ext>
            </a:extLst>
          </p:cNvPr>
          <p:cNvSpPr txBox="1"/>
          <p:nvPr/>
        </p:nvSpPr>
        <p:spPr>
          <a:xfrm>
            <a:off x="248478" y="6470168"/>
            <a:ext cx="7983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https://www.translation-empire.co.uk/wp-content/uploads/2016/12/fformats-img1.jpg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571A2C-946F-C054-8428-72699DB90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17" y="1436914"/>
            <a:ext cx="4639166" cy="46391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AF3303-4E64-5C14-FEC7-C5CF31C9889E}"/>
              </a:ext>
            </a:extLst>
          </p:cNvPr>
          <p:cNvSpPr/>
          <p:nvPr/>
        </p:nvSpPr>
        <p:spPr>
          <a:xfrm>
            <a:off x="0" y="5850194"/>
            <a:ext cx="12192000" cy="1007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1FBA0-0CED-4DB2-9F90-291CADA87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864" y="429863"/>
            <a:ext cx="10627937" cy="785528"/>
          </a:xfrm>
        </p:spPr>
        <p:txBody>
          <a:bodyPr/>
          <a:lstStyle/>
          <a:p>
            <a:r>
              <a:rPr lang="es-ES" dirty="0"/>
              <a:t>Logro de aprendizaje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BAA4A-C973-4872-991F-677E20FF8B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5</a:t>
            </a:fld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7DCA-ED6E-428D-A48F-1565A2EA97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5865" y="1894788"/>
            <a:ext cx="5524106" cy="3629319"/>
          </a:xfrm>
        </p:spPr>
        <p:txBody>
          <a:bodyPr>
            <a:normAutofit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s-ES" dirty="0">
                <a:solidFill>
                  <a:srgbClr val="00B050"/>
                </a:solidFill>
              </a:rPr>
              <a:t>Al finalizar la sesión</a:t>
            </a:r>
            <a:r>
              <a:rPr lang="es-ES" dirty="0"/>
              <a:t>, </a:t>
            </a:r>
            <a:r>
              <a:rPr lang="es-ES" dirty="0">
                <a:solidFill>
                  <a:schemeClr val="accent2"/>
                </a:solidFill>
              </a:rPr>
              <a:t>el estudiante</a:t>
            </a:r>
            <a:r>
              <a:rPr lang="es-ES" dirty="0"/>
              <a:t> </a:t>
            </a:r>
            <a:r>
              <a:rPr lang="es-ES" dirty="0">
                <a:solidFill>
                  <a:schemeClr val="accent5"/>
                </a:solidFill>
              </a:rPr>
              <a:t>reconoce</a:t>
            </a:r>
            <a:r>
              <a:rPr lang="es-ES" dirty="0"/>
              <a:t> </a:t>
            </a:r>
            <a:r>
              <a:rPr lang="es-ES" dirty="0">
                <a:solidFill>
                  <a:schemeClr val="accent4"/>
                </a:solidFill>
              </a:rPr>
              <a:t>qué clases de Java manejan archivos </a:t>
            </a:r>
            <a:r>
              <a:rPr lang="es-ES" dirty="0">
                <a:solidFill>
                  <a:srgbClr val="D3052C"/>
                </a:solidFill>
              </a:rPr>
              <a:t>mediante la realización de actividades </a:t>
            </a:r>
            <a:r>
              <a:rPr lang="es-ES" dirty="0">
                <a:solidFill>
                  <a:srgbClr val="7030A0"/>
                </a:solidFill>
              </a:rPr>
              <a:t>para operar sobre archivos de acceso secuencial.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DFA50-2D5F-464F-91EF-0F1911F9CA8D}"/>
              </a:ext>
            </a:extLst>
          </p:cNvPr>
          <p:cNvSpPr txBox="1"/>
          <p:nvPr/>
        </p:nvSpPr>
        <p:spPr>
          <a:xfrm>
            <a:off x="126748" y="6376940"/>
            <a:ext cx="10583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3"/>
                </a:solidFill>
              </a:rPr>
              <a:t>Imagen </a:t>
            </a:r>
            <a:r>
              <a:rPr lang="en-US" sz="900" dirty="0" err="1">
                <a:solidFill>
                  <a:schemeClr val="accent3"/>
                </a:solidFill>
              </a:rPr>
              <a:t>obtenida</a:t>
            </a:r>
            <a:r>
              <a:rPr lang="en-US" sz="900" dirty="0">
                <a:solidFill>
                  <a:schemeClr val="accent3"/>
                </a:solidFill>
              </a:rPr>
              <a:t> de:</a:t>
            </a:r>
            <a:br>
              <a:rPr lang="en-US" sz="900" dirty="0">
                <a:solidFill>
                  <a:schemeClr val="accent3"/>
                </a:solidFill>
              </a:rPr>
            </a:br>
            <a:r>
              <a:rPr lang="en-US" sz="900" dirty="0">
                <a:solidFill>
                  <a:schemeClr val="accent3"/>
                </a:solidFill>
              </a:rPr>
              <a:t>https://www.pngmart.com/files/21/Book-PNG-Photos.png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604D54-ECF5-DDCE-515E-887F2AFEE5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659"/>
          <a:stretch/>
        </p:blipFill>
        <p:spPr>
          <a:xfrm>
            <a:off x="6750817" y="-1"/>
            <a:ext cx="5441183" cy="672147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817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B7613-AEC1-4435-8375-CCB96C0E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863"/>
            <a:ext cx="10515601" cy="785528"/>
          </a:xfrm>
        </p:spPr>
        <p:txBody>
          <a:bodyPr/>
          <a:lstStyle/>
          <a:p>
            <a:r>
              <a:rPr lang="es-ES" dirty="0"/>
              <a:t>Utilidad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C16D3-358F-4224-9D29-22D3C58B5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6</a:t>
            </a:fld>
            <a:endParaRPr lang="es-PE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98B822-51C5-52A1-4285-E6E96F77F7EE}"/>
              </a:ext>
            </a:extLst>
          </p:cNvPr>
          <p:cNvSpPr txBox="1"/>
          <p:nvPr/>
        </p:nvSpPr>
        <p:spPr>
          <a:xfrm>
            <a:off x="838200" y="5363618"/>
            <a:ext cx="61177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0">
              <a:buNone/>
            </a:pPr>
            <a:r>
              <a:rPr lang="en-US" sz="2800" dirty="0" err="1">
                <a:solidFill>
                  <a:srgbClr val="0E7D73"/>
                </a:solidFill>
                <a:latin typeface="Helvetica" pitchFamily="2" charset="0"/>
              </a:rPr>
              <a:t>Reconocer</a:t>
            </a:r>
            <a:r>
              <a:rPr lang="en-US" sz="2800" dirty="0"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cómo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manejar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solidFill>
                  <a:srgbClr val="CC7832"/>
                </a:solidFill>
                <a:latin typeface="Helvetica" pitchFamily="2" charset="0"/>
              </a:rPr>
              <a:t>archivos</a:t>
            </a:r>
            <a:r>
              <a:rPr lang="en-US" sz="2800" dirty="0">
                <a:solidFill>
                  <a:srgbClr val="CC7832"/>
                </a:solidFill>
                <a:latin typeface="Helvetica" pitchFamily="2" charset="0"/>
              </a:rPr>
              <a:t> </a:t>
            </a:r>
            <a:r>
              <a:rPr lang="en-US" sz="2800" dirty="0" err="1">
                <a:latin typeface="Helvetica" pitchFamily="2" charset="0"/>
              </a:rPr>
              <a:t>en</a:t>
            </a:r>
            <a:r>
              <a:rPr lang="en-US" sz="2800" dirty="0">
                <a:latin typeface="Helvetica" pitchFamily="2" charset="0"/>
              </a:rPr>
              <a:t> Java.</a:t>
            </a:r>
            <a:endParaRPr lang="es-ES" sz="2800" dirty="0">
              <a:latin typeface="Helvetica" pitchFamily="2" charset="0"/>
            </a:endParaRP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FB49C0AC-8806-8A0C-78EF-D007C5768D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1436915"/>
            <a:ext cx="6936974" cy="3625280"/>
          </a:xfrm>
        </p:spPr>
        <p:txBody>
          <a:bodyPr>
            <a:normAutofit fontScale="92500"/>
          </a:bodyPr>
          <a:lstStyle/>
          <a:p>
            <a:r>
              <a:rPr lang="es-ES" dirty="0"/>
              <a:t>¿Qué observas en la imagen?</a:t>
            </a:r>
          </a:p>
          <a:p>
            <a:r>
              <a:rPr lang="es-ES" dirty="0"/>
              <a:t>¿Qué operaciones se hacen con los archivos?</a:t>
            </a:r>
          </a:p>
          <a:p>
            <a:r>
              <a:rPr lang="es-ES" dirty="0"/>
              <a:t>¿Sabes cómo podrías hacerlo en Java?</a:t>
            </a:r>
          </a:p>
          <a:p>
            <a:r>
              <a:rPr lang="es-ES" dirty="0"/>
              <a:t>¿Qué importancia tendría en tu vida profesional saber cómo manejar archivos en tus aplicaciones?</a:t>
            </a: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8563FD-FE39-EFE2-168A-0F1A4886D1F0}"/>
              </a:ext>
            </a:extLst>
          </p:cNvPr>
          <p:cNvGrpSpPr/>
          <p:nvPr/>
        </p:nvGrpSpPr>
        <p:grpSpPr>
          <a:xfrm>
            <a:off x="7794011" y="777474"/>
            <a:ext cx="3894055" cy="5338572"/>
            <a:chOff x="7794011" y="777474"/>
            <a:chExt cx="3894055" cy="533857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2A919D-B439-E215-6A3C-BCCA067E80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87808" y="1083413"/>
              <a:ext cx="895516" cy="1210156"/>
            </a:xfrm>
            <a:prstGeom prst="rect">
              <a:avLst/>
            </a:prstGeom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5825EC0-B54B-33CD-D21F-98754FB5E44F}"/>
                </a:ext>
              </a:extLst>
            </p:cNvPr>
            <p:cNvSpPr/>
            <p:nvPr/>
          </p:nvSpPr>
          <p:spPr>
            <a:xfrm>
              <a:off x="10287808" y="2760586"/>
              <a:ext cx="895516" cy="1234922"/>
            </a:xfrm>
            <a:prstGeom prst="roundRect">
              <a:avLst/>
            </a:prstGeom>
            <a:solidFill>
              <a:srgbClr val="D9F5FF"/>
            </a:solidFill>
            <a:ln w="76200">
              <a:solidFill>
                <a:srgbClr val="00B0F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rgbClr val="00B0F0"/>
                  </a:solidFill>
                </a:rPr>
                <a:t>Java App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pic>
          <p:nvPicPr>
            <p:cNvPr id="1026" name="Picture 2" descr="Text-File Icons - Free SVG &amp; PNG Text-File Images - Noun Project">
              <a:extLst>
                <a:ext uri="{FF2B5EF4-FFF2-40B4-BE49-F238E27FC236}">
                  <a16:creationId xmlns:a16="http://schemas.microsoft.com/office/drawing/2014/main" id="{406945FB-9DC1-C85E-E5DE-2E9039154E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4011" y="2425547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43536D3-6E65-A9C2-CBEE-A3678EE11AA7}"/>
                </a:ext>
              </a:extLst>
            </p:cNvPr>
            <p:cNvSpPr/>
            <p:nvPr/>
          </p:nvSpPr>
          <p:spPr>
            <a:xfrm>
              <a:off x="8298753" y="4546085"/>
              <a:ext cx="895516" cy="1234922"/>
            </a:xfrm>
            <a:prstGeom prst="roundRect">
              <a:avLst/>
            </a:prstGeom>
            <a:solidFill>
              <a:srgbClr val="D9F5FF"/>
            </a:solidFill>
            <a:ln w="76200">
              <a:solidFill>
                <a:srgbClr val="00B0F0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>
                  <a:solidFill>
                    <a:srgbClr val="00B0F0"/>
                  </a:solidFill>
                </a:rPr>
                <a:t>Java App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pic>
          <p:nvPicPr>
            <p:cNvPr id="10" name="Picture 2" descr="Text-File Icons - Free SVG &amp; PNG Text-File Images - Noun Project">
              <a:extLst>
                <a:ext uri="{FF2B5EF4-FFF2-40B4-BE49-F238E27FC236}">
                  <a16:creationId xmlns:a16="http://schemas.microsoft.com/office/drawing/2014/main" id="{7116182F-7C61-3295-1E75-1B8864EB49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83066" y="4211046"/>
              <a:ext cx="1905000" cy="1905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Content Placeholder 11" descr="Back with solid fill">
              <a:extLst>
                <a:ext uri="{FF2B5EF4-FFF2-40B4-BE49-F238E27FC236}">
                  <a16:creationId xmlns:a16="http://schemas.microsoft.com/office/drawing/2014/main" id="{9D95496A-7E94-A10E-0AE8-4E8AFA6CF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2700000">
              <a:off x="9398154" y="4560504"/>
              <a:ext cx="666932" cy="6669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ECFE43F-B132-9DF8-D78A-3CFAE77B1B8D}"/>
                </a:ext>
              </a:extLst>
            </p:cNvPr>
            <p:cNvSpPr txBox="1"/>
            <p:nvPr/>
          </p:nvSpPr>
          <p:spPr>
            <a:xfrm>
              <a:off x="9398154" y="3525435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lectura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FBFE210-C574-7DBC-0CE7-3970F16A5C4D}"/>
                </a:ext>
              </a:extLst>
            </p:cNvPr>
            <p:cNvSpPr txBox="1"/>
            <p:nvPr/>
          </p:nvSpPr>
          <p:spPr>
            <a:xfrm>
              <a:off x="9305663" y="5279139"/>
              <a:ext cx="8707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escritura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154F2E1-FE71-3971-D24D-2BD29662A723}"/>
                </a:ext>
              </a:extLst>
            </p:cNvPr>
            <p:cNvSpPr txBox="1"/>
            <p:nvPr/>
          </p:nvSpPr>
          <p:spPr>
            <a:xfrm>
              <a:off x="9398154" y="1847129"/>
              <a:ext cx="6719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nuevo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pic>
          <p:nvPicPr>
            <p:cNvPr id="18" name="Graphic 17" descr="New with solid fill">
              <a:extLst>
                <a:ext uri="{FF2B5EF4-FFF2-40B4-BE49-F238E27FC236}">
                  <a16:creationId xmlns:a16="http://schemas.microsoft.com/office/drawing/2014/main" id="{5DD30419-A1A6-7ED2-8A4C-D34B9DF36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896962" y="777474"/>
              <a:ext cx="914400" cy="914400"/>
            </a:xfrm>
            <a:prstGeom prst="rect">
              <a:avLst/>
            </a:prstGeom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</p:pic>
        <p:pic>
          <p:nvPicPr>
            <p:cNvPr id="22" name="Content Placeholder 11" descr="Back with solid fill">
              <a:extLst>
                <a:ext uri="{FF2B5EF4-FFF2-40B4-BE49-F238E27FC236}">
                  <a16:creationId xmlns:a16="http://schemas.microsoft.com/office/drawing/2014/main" id="{0937534A-FECF-424F-C334-82DC012C1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408944" y="2851426"/>
              <a:ext cx="661807" cy="66180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1246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7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Ficheros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Clases File,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FileReader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FileWriter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4145308" cy="1862048"/>
            <a:chOff x="2592475" y="894308"/>
            <a:chExt cx="4145308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3120376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Clases para manejo de flujos: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FileInputStream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y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FileOutputStream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307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8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Clases File,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FileReader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FileWriter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4145308" cy="1862048"/>
            <a:chOff x="2592475" y="894308"/>
            <a:chExt cx="4145308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3120376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Clases para manejo de flujos: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FileInputStream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y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FileOutputStream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AF21BE1-211A-2AFC-5CE4-EE53A1A88925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Ficheros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63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CEE3-5E02-6C39-711B-341B4B75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un fichero o archivo?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1F81F1-5A62-1178-BF7C-C0311CE5D1D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9</a:t>
            </a:fld>
            <a:endParaRPr lang="es-P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33F62-F286-5C2A-707C-91542719EE5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6498050" cy="4919436"/>
          </a:xfrm>
        </p:spPr>
        <p:txBody>
          <a:bodyPr>
            <a:normAutofit/>
          </a:bodyPr>
          <a:lstStyle/>
          <a:p>
            <a:r>
              <a:rPr lang="es-ES" dirty="0"/>
              <a:t>Un archivo (</a:t>
            </a:r>
            <a:r>
              <a:rPr lang="es-ES" i="1" dirty="0"/>
              <a:t>file</a:t>
            </a:r>
            <a:r>
              <a:rPr lang="es-ES" dirty="0"/>
              <a:t>) es un “contenedor” de datos que ocupa un espacio en un dispositivo de almacenamiento.</a:t>
            </a:r>
          </a:p>
          <a:p>
            <a:r>
              <a:rPr lang="es-ES" dirty="0"/>
              <a:t>Se identifica por su nombre y ubicación en el sistema de archivos.</a:t>
            </a:r>
          </a:p>
          <a:p>
            <a:r>
              <a:rPr lang="es-ES" dirty="0"/>
              <a:t>Pueden ser de diferente tipo y formato.</a:t>
            </a:r>
          </a:p>
          <a:p>
            <a:r>
              <a:rPr lang="es-ES" dirty="0"/>
              <a:t>Podemos crear, abrir, leer, modificar, copiar, eliminar y cerrar archivos.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9F705-7365-89BB-C95C-ADF94AC7331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Ficheros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3F2CE9-5CEE-8673-1F78-48827F4FF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991" y="1366220"/>
            <a:ext cx="2928655" cy="24773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EF7DE43-0C99-39C6-4A55-8479F2ADD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53" y="3579829"/>
            <a:ext cx="3561760" cy="2073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DA5141-49FA-1FB9-B1E8-F35FAB4D31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8831" y="1054453"/>
            <a:ext cx="683507" cy="9032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1AA9032-2E26-48E9-66AB-F240C8854B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086" y="5524272"/>
            <a:ext cx="3574714" cy="77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0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98E61-4FF1-C5CB-4E35-C06270343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ficheros de datos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B875F8-9D2A-3A22-8A15-C2563DEFF6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885161-FF02-548F-2D8D-8AA199C57EC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1768199"/>
          </a:xfrm>
        </p:spPr>
        <p:txBody>
          <a:bodyPr numCol="2"/>
          <a:lstStyle/>
          <a:p>
            <a:r>
              <a:rPr lang="es-ES" dirty="0"/>
              <a:t>De </a:t>
            </a:r>
            <a:r>
              <a:rPr lang="es-ES" b="1" dirty="0"/>
              <a:t>bytes</a:t>
            </a:r>
            <a:r>
              <a:rPr lang="es-ES" dirty="0"/>
              <a:t> (binarios): pensados para ser leídos por un programa.</a:t>
            </a:r>
          </a:p>
          <a:p>
            <a:r>
              <a:rPr lang="es-ES" dirty="0"/>
              <a:t>De </a:t>
            </a:r>
            <a:r>
              <a:rPr lang="es-ES" b="1" dirty="0"/>
              <a:t>caracteres</a:t>
            </a:r>
            <a:r>
              <a:rPr lang="es-ES" dirty="0"/>
              <a:t> (texto): pueden ser leídos y escritos por una persona.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32C6EA-D55C-C8CE-72E8-428505D3323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Ficheros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A5F5435-84E0-DF6C-ED32-492DF0ACC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964539"/>
              </p:ext>
            </p:extLst>
          </p:nvPr>
        </p:nvGraphicFramePr>
        <p:xfrm>
          <a:off x="2503338" y="3337085"/>
          <a:ext cx="1644454" cy="2743200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644454">
                  <a:extLst>
                    <a:ext uri="{9D8B030D-6E8A-4147-A177-3AD203B41FA5}">
                      <a16:colId xmlns:a16="http://schemas.microsoft.com/office/drawing/2014/main" val="3225354104"/>
                    </a:ext>
                  </a:extLst>
                </a:gridCol>
              </a:tblGrid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0070C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00000000</a:t>
                      </a:r>
                      <a:endParaRPr lang="en-US" dirty="0">
                        <a:solidFill>
                          <a:srgbClr val="0070C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348703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rgbClr val="0070C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00000000</a:t>
                      </a:r>
                      <a:endParaRPr lang="en-US" dirty="0">
                        <a:solidFill>
                          <a:srgbClr val="0070C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890547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rgbClr val="0070C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00000000</a:t>
                      </a:r>
                      <a:endParaRPr lang="en-US" dirty="0">
                        <a:solidFill>
                          <a:srgbClr val="0070C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832288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0070C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00001110</a:t>
                      </a:r>
                      <a:endParaRPr lang="en-US" dirty="0">
                        <a:solidFill>
                          <a:srgbClr val="0070C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617721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0070C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00000000</a:t>
                      </a:r>
                      <a:endParaRPr lang="en-US" dirty="0">
                        <a:solidFill>
                          <a:srgbClr val="0070C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457351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0070C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00000000</a:t>
                      </a:r>
                      <a:endParaRPr lang="en-US" dirty="0">
                        <a:solidFill>
                          <a:srgbClr val="0070C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315524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0070C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00000000</a:t>
                      </a:r>
                      <a:endParaRPr lang="en-US" dirty="0">
                        <a:solidFill>
                          <a:srgbClr val="0070C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414074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0070C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00100001</a:t>
                      </a:r>
                      <a:endParaRPr lang="en-US" dirty="0">
                        <a:solidFill>
                          <a:srgbClr val="0070C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361729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0070C0"/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…</a:t>
                      </a:r>
                      <a:endParaRPr lang="en-US" dirty="0">
                        <a:solidFill>
                          <a:srgbClr val="0070C0"/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779054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DFC6957B-9F90-1585-540E-8DAB5AA23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676769"/>
              </p:ext>
            </p:extLst>
          </p:nvPr>
        </p:nvGraphicFramePr>
        <p:xfrm>
          <a:off x="2045613" y="3337085"/>
          <a:ext cx="358219" cy="27432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58219">
                  <a:extLst>
                    <a:ext uri="{9D8B030D-6E8A-4147-A177-3AD203B41FA5}">
                      <a16:colId xmlns:a16="http://schemas.microsoft.com/office/drawing/2014/main" val="3225354104"/>
                    </a:ext>
                  </a:extLst>
                </a:gridCol>
              </a:tblGrid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4348703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7890547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832288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617721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6457351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6315524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6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0414074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7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0361729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…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08013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D80A664-60B2-E08E-2630-7D8B1E336F05}"/>
              </a:ext>
            </a:extLst>
          </p:cNvPr>
          <p:cNvSpPr txBox="1"/>
          <p:nvPr/>
        </p:nvSpPr>
        <p:spPr>
          <a:xfrm>
            <a:off x="4637983" y="3799001"/>
            <a:ext cx="1084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Un número entero: 14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B04542-43B1-3332-7824-AD85E3EE24B9}"/>
              </a:ext>
            </a:extLst>
          </p:cNvPr>
          <p:cNvSpPr txBox="1"/>
          <p:nvPr/>
        </p:nvSpPr>
        <p:spPr>
          <a:xfrm>
            <a:off x="4637983" y="5041344"/>
            <a:ext cx="1084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Un número entero: 33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Right Bracket 10">
            <a:extLst>
              <a:ext uri="{FF2B5EF4-FFF2-40B4-BE49-F238E27FC236}">
                <a16:creationId xmlns:a16="http://schemas.microsoft.com/office/drawing/2014/main" id="{B59FE050-E599-BC11-D766-400A0FE9668F}"/>
              </a:ext>
            </a:extLst>
          </p:cNvPr>
          <p:cNvSpPr/>
          <p:nvPr/>
        </p:nvSpPr>
        <p:spPr>
          <a:xfrm>
            <a:off x="4293908" y="3366455"/>
            <a:ext cx="169682" cy="1183096"/>
          </a:xfrm>
          <a:prstGeom prst="rightBracket">
            <a:avLst>
              <a:gd name="adj" fmla="val 101212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ket 11">
            <a:extLst>
              <a:ext uri="{FF2B5EF4-FFF2-40B4-BE49-F238E27FC236}">
                <a16:creationId xmlns:a16="http://schemas.microsoft.com/office/drawing/2014/main" id="{C5F3DF6A-2113-D9CD-810B-EDED7FC95956}"/>
              </a:ext>
            </a:extLst>
          </p:cNvPr>
          <p:cNvSpPr/>
          <p:nvPr/>
        </p:nvSpPr>
        <p:spPr>
          <a:xfrm>
            <a:off x="4293908" y="4587259"/>
            <a:ext cx="169682" cy="1183096"/>
          </a:xfrm>
          <a:prstGeom prst="rightBracket">
            <a:avLst>
              <a:gd name="adj" fmla="val 101212"/>
            </a:avLst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1172E5C4-D869-E048-942C-624B770C8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936980"/>
              </p:ext>
            </p:extLst>
          </p:nvPr>
        </p:nvGraphicFramePr>
        <p:xfrm>
          <a:off x="7189769" y="3516194"/>
          <a:ext cx="1644454" cy="2133600"/>
        </p:xfrm>
        <a:graphic>
          <a:graphicData uri="http://schemas.openxmlformats.org/drawingml/2006/table">
            <a:tbl>
              <a:tblPr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1644454">
                  <a:extLst>
                    <a:ext uri="{9D8B030D-6E8A-4147-A177-3AD203B41FA5}">
                      <a16:colId xmlns:a16="http://schemas.microsoft.com/office/drawing/2014/main" val="3225354104"/>
                    </a:ext>
                  </a:extLst>
                </a:gridCol>
              </a:tblGrid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00110001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348703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00110100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890547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01101000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832288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01101111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617721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01101100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457351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01100001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315524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…</a:t>
                      </a:r>
                      <a:endParaRPr lang="en-US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414074"/>
                  </a:ext>
                </a:extLst>
              </a:tr>
            </a:tbl>
          </a:graphicData>
        </a:graphic>
      </p:graphicFrame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102BBC0F-55E9-8527-FDA1-C3FE61462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026837"/>
              </p:ext>
            </p:extLst>
          </p:nvPr>
        </p:nvGraphicFramePr>
        <p:xfrm>
          <a:off x="6732044" y="3516194"/>
          <a:ext cx="358219" cy="2133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58219">
                  <a:extLst>
                    <a:ext uri="{9D8B030D-6E8A-4147-A177-3AD203B41FA5}">
                      <a16:colId xmlns:a16="http://schemas.microsoft.com/office/drawing/2014/main" val="3225354104"/>
                    </a:ext>
                  </a:extLst>
                </a:gridCol>
              </a:tblGrid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0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4348703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1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7890547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2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832288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3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617721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4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6457351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5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6315524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…</a:t>
                      </a:r>
                      <a:endParaRPr lang="en-US" dirty="0">
                        <a:solidFill>
                          <a:schemeClr val="bg1">
                            <a:lumMod val="50000"/>
                          </a:schemeClr>
                        </a:solidFill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0414074"/>
                  </a:ext>
                </a:extLst>
              </a:tr>
            </a:tbl>
          </a:graphicData>
        </a:graphic>
      </p:graphicFrame>
      <p:graphicFrame>
        <p:nvGraphicFramePr>
          <p:cNvPr id="15" name="Table 6">
            <a:extLst>
              <a:ext uri="{FF2B5EF4-FFF2-40B4-BE49-F238E27FC236}">
                <a16:creationId xmlns:a16="http://schemas.microsoft.com/office/drawing/2014/main" id="{B07C23C0-96B2-8E63-6715-55B5C67A2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213556"/>
              </p:ext>
            </p:extLst>
          </p:nvPr>
        </p:nvGraphicFramePr>
        <p:xfrm>
          <a:off x="8852827" y="3516194"/>
          <a:ext cx="2743200" cy="2133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225354104"/>
                    </a:ext>
                  </a:extLst>
                </a:gridCol>
              </a:tblGrid>
              <a:tr h="293594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'1’ (Código ASCII 0x31)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4348703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'4’ (Código ASCII 0x34)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17890547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'h’ (Código ASCII 0x68)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6832288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'o’ (Código ASCII 0x6F)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2617721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'l’ (Código ASCII 0x6C)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46457351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'a’ (Código ASCII 0x61)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6315524"/>
                  </a:ext>
                </a:extLst>
              </a:tr>
              <a:tr h="293594">
                <a:tc>
                  <a:txBody>
                    <a:bodyPr/>
                    <a:lstStyle/>
                    <a:p>
                      <a:pPr algn="l"/>
                      <a:endParaRPr lang="en-US" dirty="0"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041407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6A81E77-94EF-0ACB-EAFA-153D3C388B81}"/>
              </a:ext>
            </a:extLst>
          </p:cNvPr>
          <p:cNvSpPr txBox="1"/>
          <p:nvPr/>
        </p:nvSpPr>
        <p:spPr>
          <a:xfrm>
            <a:off x="2124537" y="6263165"/>
            <a:ext cx="240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/>
                </a:solidFill>
              </a:rPr>
              <a:t>Fichero binario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346684-D168-1C91-A53E-0CD0AC1802E3}"/>
              </a:ext>
            </a:extLst>
          </p:cNvPr>
          <p:cNvSpPr txBox="1"/>
          <p:nvPr/>
        </p:nvSpPr>
        <p:spPr>
          <a:xfrm>
            <a:off x="6732042" y="6263165"/>
            <a:ext cx="2402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accent1"/>
                </a:solidFill>
              </a:rPr>
              <a:t>Fichero de texto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50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8AF0-0B84-41FD-4D0E-2C66F8FF1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 de contenido de un archivo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5CCFC4-8C8F-746D-B671-A29D6F902E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11</a:t>
            </a:fld>
            <a:endParaRPr lang="es-P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BCFFDF-FBB5-FE2C-A1DC-C82E42AAB7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" r="8631" b="44027"/>
          <a:stretch/>
        </p:blipFill>
        <p:spPr>
          <a:xfrm>
            <a:off x="1594935" y="1569563"/>
            <a:ext cx="7106005" cy="21505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D7D710-7BFE-6AEB-37FC-B09CC2F6E5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t="1" r="144" b="48713"/>
          <a:stretch/>
        </p:blipFill>
        <p:spPr>
          <a:xfrm>
            <a:off x="1594935" y="3904644"/>
            <a:ext cx="7106005" cy="215059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2539841-7FA5-748E-E4E1-8DCFED088BE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Ficheros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247542-A8DA-3B05-70AC-265C38D25F18}"/>
              </a:ext>
            </a:extLst>
          </p:cNvPr>
          <p:cNvSpPr txBox="1"/>
          <p:nvPr/>
        </p:nvSpPr>
        <p:spPr>
          <a:xfrm>
            <a:off x="9200562" y="2290713"/>
            <a:ext cx="1319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Archivo de texto plano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A9A6C-E4AD-9E4B-807D-E6AC94E63077}"/>
              </a:ext>
            </a:extLst>
          </p:cNvPr>
          <p:cNvSpPr txBox="1"/>
          <p:nvPr/>
        </p:nvSpPr>
        <p:spPr>
          <a:xfrm>
            <a:off x="9200562" y="4718331"/>
            <a:ext cx="1319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dirty="0">
                <a:solidFill>
                  <a:schemeClr val="bg1">
                    <a:lumMod val="50000"/>
                  </a:schemeClr>
                </a:solidFill>
              </a:rPr>
              <a:t>Archivo binario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C84D2A-1CA9-BF2F-25FA-EF7ACDDCC79B}"/>
              </a:ext>
            </a:extLst>
          </p:cNvPr>
          <p:cNvSpPr txBox="1"/>
          <p:nvPr/>
        </p:nvSpPr>
        <p:spPr>
          <a:xfrm>
            <a:off x="1661476" y="6206304"/>
            <a:ext cx="70394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Editor online » </a:t>
            </a:r>
            <a:r>
              <a:rPr lang="en-US" dirty="0">
                <a:hlinkClick r:id="rId4"/>
              </a:rPr>
              <a:t>https://hexed.it/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3657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F0228-6C44-D182-9B29-CEE440A6F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I/O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701541-72E8-B04F-E952-50B867A831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F2DE6A-4235-ADA9-9519-5994B700F6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7676400" cy="4919436"/>
          </a:xfrm>
        </p:spPr>
        <p:txBody>
          <a:bodyPr>
            <a:normAutofit/>
          </a:bodyPr>
          <a:lstStyle/>
          <a:p>
            <a:r>
              <a:rPr lang="es-ES" b="1" dirty="0"/>
              <a:t>I/O = Input/Output</a:t>
            </a:r>
          </a:p>
          <a:p>
            <a:r>
              <a:rPr lang="es-ES" dirty="0"/>
              <a:t>Es la comunicación que ocurre entre los sistemas y el mundo exterior, un usuario u otro sistema.</a:t>
            </a:r>
          </a:p>
          <a:p>
            <a:r>
              <a:rPr lang="es-ES" dirty="0"/>
              <a:t>Las operaciones de I/O del sistema operativo posibilitan el manejo de archivos.</a:t>
            </a:r>
          </a:p>
          <a:p>
            <a:r>
              <a:rPr lang="es-ES" dirty="0"/>
              <a:t>Java incluye bibliotecas I/O para facilitar la comunicación con el sistema operativo para el manejo de archivos.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37FF93-5E87-7501-5E25-08F6AF8AD04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Ficheros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50AD26-02C8-E6C7-FE11-C7B2971E44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26" t="23917" r="33720" b="12361"/>
          <a:stretch/>
        </p:blipFill>
        <p:spPr>
          <a:xfrm>
            <a:off x="8710366" y="395922"/>
            <a:ext cx="3481633" cy="33907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D370A8-CB4D-C085-E86E-09874C92605F}"/>
              </a:ext>
            </a:extLst>
          </p:cNvPr>
          <p:cNvSpPr txBox="1"/>
          <p:nvPr/>
        </p:nvSpPr>
        <p:spPr>
          <a:xfrm>
            <a:off x="975283" y="6305369"/>
            <a:ext cx="852693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https://pngimg.com/d/keyboard_PNG101839.png  /  https://www.pngkey.com/png/full/237-2378436_drawing-tablet-png-graphics-tablet.png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https://purepng.com/public/uploads/large/purepng.com-scannerscannerdevice-for-examiningcomputer-deviceelectronic-device-1701528372550jrkjj.png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https://pngimg.com/d/computer_mouse_PNG7668.png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286AF6A-943A-E677-3AB4-15990E3151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100"/>
          <a:stretch/>
        </p:blipFill>
        <p:spPr>
          <a:xfrm flipH="1">
            <a:off x="5905073" y="0"/>
            <a:ext cx="4876934" cy="18379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B94FCBE-D62C-33B6-A75D-88A998EFAF9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4814"/>
          <a:stretch/>
        </p:blipFill>
        <p:spPr>
          <a:xfrm>
            <a:off x="8836231" y="2677341"/>
            <a:ext cx="3355768" cy="31896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AA9FAA-0D30-4BBF-643E-8C9C628C0F6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1567"/>
          <a:stretch/>
        </p:blipFill>
        <p:spPr>
          <a:xfrm>
            <a:off x="9418071" y="5026959"/>
            <a:ext cx="2019878" cy="1786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0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054B421-5AC3-5F0E-5598-96EBFF02A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" y="0"/>
            <a:ext cx="1157256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7CBE23-EE6F-7283-EFE6-50EF2415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s-ES" dirty="0" err="1"/>
              <a:t>Streams</a:t>
            </a:r>
            <a:r>
              <a:rPr lang="es-ES" dirty="0"/>
              <a:t> y buffers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2A178C-65EA-94EA-4C1E-9D09680797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13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AB52D-3C32-09E1-4A5E-C31C1BA619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0924" y="2395156"/>
            <a:ext cx="10150151" cy="3974072"/>
          </a:xfrm>
          <a:solidFill>
            <a:schemeClr val="bg1">
              <a:alpha val="90000"/>
            </a:schemeClr>
          </a:solidFill>
        </p:spPr>
        <p:txBody>
          <a:bodyPr>
            <a:normAutofit/>
          </a:bodyPr>
          <a:lstStyle/>
          <a:p>
            <a:r>
              <a:rPr lang="es-ES" dirty="0"/>
              <a:t>Java usa </a:t>
            </a:r>
            <a:r>
              <a:rPr lang="es-ES" b="1" dirty="0" err="1"/>
              <a:t>streams</a:t>
            </a:r>
            <a:r>
              <a:rPr lang="es-ES" dirty="0"/>
              <a:t> y </a:t>
            </a:r>
            <a:r>
              <a:rPr lang="es-ES" b="1" dirty="0"/>
              <a:t>buffers</a:t>
            </a:r>
            <a:r>
              <a:rPr lang="es-ES" dirty="0"/>
              <a:t> para recuperar y almacenar información.</a:t>
            </a:r>
          </a:p>
          <a:p>
            <a:r>
              <a:rPr lang="es-ES" dirty="0"/>
              <a:t>Un </a:t>
            </a:r>
            <a:r>
              <a:rPr lang="es-ES" b="1" dirty="0" err="1"/>
              <a:t>stream</a:t>
            </a:r>
            <a:r>
              <a:rPr lang="es-ES" dirty="0"/>
              <a:t> es una abstracción que representa una entrada origen (</a:t>
            </a:r>
            <a:r>
              <a:rPr lang="es-ES" i="1" dirty="0"/>
              <a:t>lectura</a:t>
            </a:r>
            <a:r>
              <a:rPr lang="es-ES" dirty="0"/>
              <a:t>) o una salida destino (</a:t>
            </a:r>
            <a:r>
              <a:rPr lang="es-ES" i="1" dirty="0"/>
              <a:t>escritura</a:t>
            </a:r>
            <a:r>
              <a:rPr lang="es-ES" dirty="0"/>
              <a:t>). Puede representar: archivos de disco, dispositivos, memoria, etc.</a:t>
            </a:r>
          </a:p>
          <a:p>
            <a:r>
              <a:rPr lang="en-US" dirty="0"/>
              <a:t>Un </a:t>
            </a:r>
            <a:r>
              <a:rPr lang="en-US" b="1" dirty="0"/>
              <a:t>buffer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región</a:t>
            </a:r>
            <a:r>
              <a:rPr lang="en-US" dirty="0"/>
              <a:t> de la </a:t>
            </a:r>
            <a:r>
              <a:rPr lang="en-US" dirty="0" err="1"/>
              <a:t>memoria</a:t>
            </a:r>
            <a:r>
              <a:rPr lang="en-US" dirty="0"/>
              <a:t> que </a:t>
            </a:r>
            <a:r>
              <a:rPr lang="en-US" dirty="0" err="1"/>
              <a:t>almacena</a:t>
            </a:r>
            <a:r>
              <a:rPr lang="en-US" dirty="0"/>
              <a:t> </a:t>
            </a:r>
            <a:r>
              <a:rPr lang="en-US" dirty="0" err="1"/>
              <a:t>fragmentos</a:t>
            </a:r>
            <a:r>
              <a:rPr lang="en-US" dirty="0"/>
              <a:t> de </a:t>
            </a:r>
            <a:r>
              <a:rPr lang="en-US" dirty="0" err="1"/>
              <a:t>información</a:t>
            </a:r>
            <a:r>
              <a:rPr lang="en-US" dirty="0"/>
              <a:t> para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gestión</a:t>
            </a:r>
            <a:r>
              <a:rPr lang="en-US" dirty="0"/>
              <a:t> y </a:t>
            </a:r>
            <a:r>
              <a:rPr lang="en-US" dirty="0" err="1"/>
              <a:t>rendimiento</a:t>
            </a:r>
            <a:r>
              <a:rPr lang="en-U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1FF077-0D61-2AEE-23F2-E417CA9F8208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Ficheros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AB16C-CCF5-0B40-9957-C60AF8DD4621}"/>
              </a:ext>
            </a:extLst>
          </p:cNvPr>
          <p:cNvSpPr txBox="1"/>
          <p:nvPr/>
        </p:nvSpPr>
        <p:spPr>
          <a:xfrm>
            <a:off x="728222" y="6583040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Imagen </a:t>
            </a:r>
            <a:r>
              <a:rPr lang="en-US" sz="900" dirty="0" err="1">
                <a:solidFill>
                  <a:schemeClr val="bg1"/>
                </a:solidFill>
              </a:rPr>
              <a:t>obtenida</a:t>
            </a:r>
            <a:r>
              <a:rPr lang="en-US" sz="900" dirty="0">
                <a:solidFill>
                  <a:schemeClr val="bg1"/>
                </a:solidFill>
              </a:rPr>
              <a:t> de: https://www.techrepublic.com/wp-content/uploads/2020/10/istock-950841682.jpg</a:t>
            </a:r>
          </a:p>
        </p:txBody>
      </p:sp>
    </p:spTree>
    <p:extLst>
      <p:ext uri="{BB962C8B-B14F-4D97-AF65-F5344CB8AC3E}">
        <p14:creationId xmlns:p14="http://schemas.microsoft.com/office/powerpoint/2010/main" val="185979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A44FB-1EC4-6F7C-606A-11F34019E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Clasificación de los </a:t>
            </a:r>
            <a:r>
              <a:rPr lang="es-ES" dirty="0" err="1"/>
              <a:t>Streams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AFBC45-3A1E-1C06-663D-A0051A2C86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14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8E06B9-9DA9-8069-DCE5-9E0A4B338217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Ficheros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299301-7D2A-C7E6-C65F-F1D95EC31A54}"/>
              </a:ext>
            </a:extLst>
          </p:cNvPr>
          <p:cNvSpPr/>
          <p:nvPr/>
        </p:nvSpPr>
        <p:spPr>
          <a:xfrm>
            <a:off x="1488652" y="1624851"/>
            <a:ext cx="2905028" cy="4678379"/>
          </a:xfrm>
          <a:prstGeom prst="rect">
            <a:avLst/>
          </a:prstGeom>
          <a:solidFill>
            <a:srgbClr val="FB838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945C84-712A-380B-A2B2-A98253A5BF0D}"/>
              </a:ext>
            </a:extLst>
          </p:cNvPr>
          <p:cNvSpPr txBox="1"/>
          <p:nvPr/>
        </p:nvSpPr>
        <p:spPr>
          <a:xfrm>
            <a:off x="1621414" y="1785107"/>
            <a:ext cx="2639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Por el tipo de dato que “transportan”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861308-6A16-4BD6-ED6D-C74CC007C04C}"/>
              </a:ext>
            </a:extLst>
          </p:cNvPr>
          <p:cNvSpPr/>
          <p:nvPr/>
        </p:nvSpPr>
        <p:spPr>
          <a:xfrm>
            <a:off x="4938862" y="1624851"/>
            <a:ext cx="2905028" cy="4678379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EA6844-04AE-3B4D-BA4E-05A947BCA2C8}"/>
              </a:ext>
            </a:extLst>
          </p:cNvPr>
          <p:cNvSpPr txBox="1"/>
          <p:nvPr/>
        </p:nvSpPr>
        <p:spPr>
          <a:xfrm>
            <a:off x="5071624" y="1785107"/>
            <a:ext cx="2639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Por el sentido del flujo de datos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F88BAD-9D34-AC18-1478-68A6099F44D8}"/>
              </a:ext>
            </a:extLst>
          </p:cNvPr>
          <p:cNvSpPr/>
          <p:nvPr/>
        </p:nvSpPr>
        <p:spPr>
          <a:xfrm>
            <a:off x="8389072" y="1624851"/>
            <a:ext cx="2905028" cy="4678379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FC18FE-879E-9821-5B9D-E9A2A7BD3B7C}"/>
              </a:ext>
            </a:extLst>
          </p:cNvPr>
          <p:cNvSpPr txBox="1"/>
          <p:nvPr/>
        </p:nvSpPr>
        <p:spPr>
          <a:xfrm>
            <a:off x="8521834" y="1785107"/>
            <a:ext cx="2639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bg1"/>
                </a:solidFill>
              </a:rPr>
              <a:t>Según su cercanía al dispositivo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B33D64-E3FC-DC88-3E36-D6B2D1665AB6}"/>
              </a:ext>
            </a:extLst>
          </p:cNvPr>
          <p:cNvSpPr/>
          <p:nvPr/>
        </p:nvSpPr>
        <p:spPr>
          <a:xfrm>
            <a:off x="1850799" y="2906887"/>
            <a:ext cx="2212156" cy="126346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reflection blurRad="6350" stA="30000" endPos="2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Binarios </a:t>
            </a:r>
          </a:p>
          <a:p>
            <a:pPr algn="ctr"/>
            <a:r>
              <a:rPr lang="es-ES" dirty="0"/>
              <a:t>(de bytes)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7974CDC-A7F0-19BE-9635-026A94DAA5E8}"/>
              </a:ext>
            </a:extLst>
          </p:cNvPr>
          <p:cNvSpPr/>
          <p:nvPr/>
        </p:nvSpPr>
        <p:spPr>
          <a:xfrm>
            <a:off x="1850799" y="4614484"/>
            <a:ext cx="2212156" cy="1263463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reflection blurRad="6350" stA="30000" endPos="2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De caracteres </a:t>
            </a:r>
          </a:p>
          <a:p>
            <a:pPr algn="ctr"/>
            <a:r>
              <a:rPr lang="es-ES" dirty="0"/>
              <a:t>(de texto)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2CA43C-2874-B32A-595F-E04CFBD784A6}"/>
              </a:ext>
            </a:extLst>
          </p:cNvPr>
          <p:cNvSpPr/>
          <p:nvPr/>
        </p:nvSpPr>
        <p:spPr>
          <a:xfrm>
            <a:off x="5310436" y="2906886"/>
            <a:ext cx="2212156" cy="126346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reflection blurRad="6350" stA="30000" endPos="2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De entrada:</a:t>
            </a:r>
            <a:r>
              <a:rPr lang="es-ES" dirty="0"/>
              <a:t> </a:t>
            </a:r>
          </a:p>
          <a:p>
            <a:pPr algn="ctr"/>
            <a:r>
              <a:rPr lang="es-ES" dirty="0"/>
              <a:t>Los datos fluyen desde el dispositivo o fichero hacia el programa.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9595A7D-F451-B62A-C028-29FEDCF23166}"/>
              </a:ext>
            </a:extLst>
          </p:cNvPr>
          <p:cNvSpPr/>
          <p:nvPr/>
        </p:nvSpPr>
        <p:spPr>
          <a:xfrm>
            <a:off x="5310436" y="4614485"/>
            <a:ext cx="2212156" cy="126346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reflection blurRad="6350" stA="30000" endPos="2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De salida:</a:t>
            </a:r>
            <a:r>
              <a:rPr lang="es-ES" dirty="0"/>
              <a:t> </a:t>
            </a:r>
          </a:p>
          <a:p>
            <a:pPr algn="ctr"/>
            <a:r>
              <a:rPr lang="es-ES" dirty="0"/>
              <a:t>Los datos fluyen desde el programa al dispositivo.</a:t>
            </a:r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769BE3A-5C91-AE8A-826D-31740FA2AA0B}"/>
              </a:ext>
            </a:extLst>
          </p:cNvPr>
          <p:cNvSpPr/>
          <p:nvPr/>
        </p:nvSpPr>
        <p:spPr>
          <a:xfrm>
            <a:off x="8752004" y="2906886"/>
            <a:ext cx="2212156" cy="126346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reflection blurRad="6350" stA="30000" endPos="2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Iniciadores:</a:t>
            </a:r>
            <a:r>
              <a:rPr lang="es-ES" dirty="0"/>
              <a:t> </a:t>
            </a:r>
          </a:p>
          <a:p>
            <a:pPr algn="ctr"/>
            <a:r>
              <a:rPr lang="es-ES" dirty="0"/>
              <a:t>Son los que directamente vuelcan o recogen los datos del dispositivo.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6AA244-91C7-F9BF-C39B-D843493289E1}"/>
              </a:ext>
            </a:extLst>
          </p:cNvPr>
          <p:cNvSpPr/>
          <p:nvPr/>
        </p:nvSpPr>
        <p:spPr>
          <a:xfrm>
            <a:off x="8752004" y="4614485"/>
            <a:ext cx="2212156" cy="1263463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reflection blurRad="6350" stA="30000" endPos="24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Filtros:</a:t>
            </a:r>
            <a:r>
              <a:rPr lang="es-ES" dirty="0"/>
              <a:t> </a:t>
            </a:r>
          </a:p>
          <a:p>
            <a:pPr algn="ctr"/>
            <a:r>
              <a:rPr lang="es-ES" dirty="0"/>
              <a:t>Se sitúan entre el </a:t>
            </a:r>
            <a:r>
              <a:rPr lang="es-ES" dirty="0" err="1"/>
              <a:t>stream</a:t>
            </a:r>
            <a:r>
              <a:rPr lang="es-ES" dirty="0"/>
              <a:t> iniciador y el programa.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57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8A34A-5641-57A7-C77B-4A98741B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Uso de los </a:t>
            </a:r>
            <a:r>
              <a:rPr lang="es-ES" dirty="0" err="1"/>
              <a:t>Streams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F9F5E2-29B9-F4BD-FBFC-8E0AF4A61A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023DE-BEFF-4C02-05BB-9B882F31027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Normalmente se utilizan el parejas formadas por un </a:t>
            </a:r>
            <a:r>
              <a:rPr lang="es-ES" b="1" dirty="0" err="1"/>
              <a:t>stream</a:t>
            </a:r>
            <a:r>
              <a:rPr lang="es-ES" dirty="0"/>
              <a:t> </a:t>
            </a:r>
            <a:r>
              <a:rPr lang="es-ES" b="1" dirty="0"/>
              <a:t>iniciador</a:t>
            </a:r>
            <a:r>
              <a:rPr lang="es-ES" dirty="0"/>
              <a:t> y un </a:t>
            </a:r>
            <a:r>
              <a:rPr lang="es-ES" b="1" dirty="0"/>
              <a:t>filtro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9ACA32-6797-7BB6-3BA6-1DEB70CEE36A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Ficheros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9D174-D4DE-222E-C96F-FB0E9399400E}"/>
              </a:ext>
            </a:extLst>
          </p:cNvPr>
          <p:cNvSpPr txBox="1"/>
          <p:nvPr/>
        </p:nvSpPr>
        <p:spPr>
          <a:xfrm rot="16200000">
            <a:off x="1285614" y="354004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dirty="0">
                <a:solidFill>
                  <a:srgbClr val="C00000"/>
                </a:solidFill>
              </a:rPr>
              <a:t>Binarios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F4F02F-1A21-D74F-D03F-F1B154C4F884}"/>
              </a:ext>
            </a:extLst>
          </p:cNvPr>
          <p:cNvSpPr txBox="1"/>
          <p:nvPr/>
        </p:nvSpPr>
        <p:spPr>
          <a:xfrm rot="16200000">
            <a:off x="1490798" y="5507065"/>
            <a:ext cx="1005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b="1" dirty="0">
                <a:solidFill>
                  <a:srgbClr val="C00000"/>
                </a:solidFill>
              </a:rPr>
              <a:t>Texto</a:t>
            </a:r>
            <a:endParaRPr lang="en-US" sz="2400" b="1" dirty="0">
              <a:solidFill>
                <a:srgbClr val="C00000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07472E-1278-4C0D-830C-A44BF53C3E21}"/>
              </a:ext>
            </a:extLst>
          </p:cNvPr>
          <p:cNvGrpSpPr/>
          <p:nvPr/>
        </p:nvGrpSpPr>
        <p:grpSpPr>
          <a:xfrm>
            <a:off x="2397315" y="2920820"/>
            <a:ext cx="8737335" cy="1513433"/>
            <a:chOff x="2180498" y="2832432"/>
            <a:chExt cx="8737335" cy="151343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78563B8A-78E5-EF47-FA0C-96279F3E9E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1738" y="4029503"/>
              <a:ext cx="1055802" cy="0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EBBE7B6-D8E3-CD8B-67C3-4C01E9F5962F}"/>
                </a:ext>
              </a:extLst>
            </p:cNvPr>
            <p:cNvCxnSpPr/>
            <p:nvPr/>
          </p:nvCxnSpPr>
          <p:spPr>
            <a:xfrm>
              <a:off x="10064650" y="3224918"/>
              <a:ext cx="595973" cy="0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Cylinder 10">
              <a:extLst>
                <a:ext uri="{FF2B5EF4-FFF2-40B4-BE49-F238E27FC236}">
                  <a16:creationId xmlns:a16="http://schemas.microsoft.com/office/drawing/2014/main" id="{6BF06856-E767-65D1-0AA7-C21559C6435E}"/>
                </a:ext>
              </a:extLst>
            </p:cNvPr>
            <p:cNvSpPr/>
            <p:nvPr/>
          </p:nvSpPr>
          <p:spPr>
            <a:xfrm rot="16200000">
              <a:off x="8479807" y="1834456"/>
              <a:ext cx="454275" cy="2764634"/>
            </a:xfrm>
            <a:prstGeom prst="can">
              <a:avLst>
                <a:gd name="adj" fmla="val 7057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031A236-5FCE-FB01-6B2A-64C816740BC9}"/>
                </a:ext>
              </a:extLst>
            </p:cNvPr>
            <p:cNvCxnSpPr/>
            <p:nvPr/>
          </p:nvCxnSpPr>
          <p:spPr>
            <a:xfrm>
              <a:off x="6475478" y="3224918"/>
              <a:ext cx="1055802" cy="0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Cylinder 9">
              <a:extLst>
                <a:ext uri="{FF2B5EF4-FFF2-40B4-BE49-F238E27FC236}">
                  <a16:creationId xmlns:a16="http://schemas.microsoft.com/office/drawing/2014/main" id="{083E28DB-CFC2-D7F7-FC1A-7DBC4C8A1850}"/>
                </a:ext>
              </a:extLst>
            </p:cNvPr>
            <p:cNvSpPr/>
            <p:nvPr/>
          </p:nvSpPr>
          <p:spPr>
            <a:xfrm rot="16200000">
              <a:off x="4932610" y="1834457"/>
              <a:ext cx="454275" cy="2764632"/>
            </a:xfrm>
            <a:prstGeom prst="can">
              <a:avLst>
                <a:gd name="adj" fmla="val 70570"/>
              </a:avLst>
            </a:prstGeom>
            <a:solidFill>
              <a:srgbClr val="C88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ylinder 11">
              <a:extLst>
                <a:ext uri="{FF2B5EF4-FFF2-40B4-BE49-F238E27FC236}">
                  <a16:creationId xmlns:a16="http://schemas.microsoft.com/office/drawing/2014/main" id="{062195B7-3854-41D5-119A-CB25FA198F91}"/>
                </a:ext>
              </a:extLst>
            </p:cNvPr>
            <p:cNvSpPr/>
            <p:nvPr/>
          </p:nvSpPr>
          <p:spPr>
            <a:xfrm rot="5400000" flipH="1">
              <a:off x="4932610" y="2650380"/>
              <a:ext cx="454275" cy="2764636"/>
            </a:xfrm>
            <a:prstGeom prst="can">
              <a:avLst>
                <a:gd name="adj" fmla="val 70570"/>
              </a:avLst>
            </a:prstGeom>
            <a:solidFill>
              <a:srgbClr val="C88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4BAE62-6B08-C7EA-FF8D-79A1251CE43A}"/>
                </a:ext>
              </a:extLst>
            </p:cNvPr>
            <p:cNvSpPr txBox="1"/>
            <p:nvPr/>
          </p:nvSpPr>
          <p:spPr>
            <a:xfrm>
              <a:off x="4232342" y="3041081"/>
              <a:ext cx="20569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 err="1"/>
                <a:t>ObjectOutputStream</a:t>
              </a:r>
              <a:endParaRPr lang="en-US" sz="16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2B4A7A6-67B2-4349-B1B7-484E6A51DC04}"/>
                </a:ext>
              </a:extLst>
            </p:cNvPr>
            <p:cNvSpPr txBox="1"/>
            <p:nvPr/>
          </p:nvSpPr>
          <p:spPr>
            <a:xfrm>
              <a:off x="4111953" y="3864099"/>
              <a:ext cx="18966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 err="1"/>
                <a:t>ObjectInputStream</a:t>
              </a:r>
              <a:endParaRPr lang="en-US" sz="16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F4153F7-B9B9-AABA-2553-0981731CD6A6}"/>
                </a:ext>
              </a:extLst>
            </p:cNvPr>
            <p:cNvSpPr txBox="1"/>
            <p:nvPr/>
          </p:nvSpPr>
          <p:spPr>
            <a:xfrm>
              <a:off x="7912166" y="3033768"/>
              <a:ext cx="17924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 err="1"/>
                <a:t>FileOutputStream</a:t>
              </a:r>
              <a:endParaRPr lang="en-US" sz="16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92B3891-D73A-0420-2EEB-C65A3AFC91BE}"/>
                </a:ext>
              </a:extLst>
            </p:cNvPr>
            <p:cNvSpPr txBox="1"/>
            <p:nvPr/>
          </p:nvSpPr>
          <p:spPr>
            <a:xfrm>
              <a:off x="2180498" y="3004518"/>
              <a:ext cx="14590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Objetos</a:t>
              </a:r>
            </a:p>
            <a:p>
              <a:r>
                <a:rPr lang="es-ES" dirty="0"/>
                <a:t>Datos primitivos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B6B53AD-7A75-566F-ACD7-E176D2C06B8C}"/>
                </a:ext>
              </a:extLst>
            </p:cNvPr>
            <p:cNvSpPr txBox="1"/>
            <p:nvPr/>
          </p:nvSpPr>
          <p:spPr>
            <a:xfrm>
              <a:off x="6627011" y="2832432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bytes</a:t>
              </a:r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77C2D04-81E8-CA7C-DAD6-5B9C7B203DDB}"/>
                </a:ext>
              </a:extLst>
            </p:cNvPr>
            <p:cNvSpPr txBox="1"/>
            <p:nvPr/>
          </p:nvSpPr>
          <p:spPr>
            <a:xfrm>
              <a:off x="10196161" y="2832432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fichero</a:t>
              </a:r>
              <a:endParaRPr lang="en-US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1E31D8C-06E2-919D-9509-4DB1786145BA}"/>
                </a:ext>
              </a:extLst>
            </p:cNvPr>
            <p:cNvCxnSpPr/>
            <p:nvPr/>
          </p:nvCxnSpPr>
          <p:spPr>
            <a:xfrm>
              <a:off x="3026864" y="3224918"/>
              <a:ext cx="959820" cy="0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642C10A-655A-8715-191C-A086EBB228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5219" y="4029503"/>
              <a:ext cx="1055802" cy="0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Cylinder 12">
              <a:extLst>
                <a:ext uri="{FF2B5EF4-FFF2-40B4-BE49-F238E27FC236}">
                  <a16:creationId xmlns:a16="http://schemas.microsoft.com/office/drawing/2014/main" id="{E6F7BBF8-DF86-2B37-9382-0920CDD6AAD7}"/>
                </a:ext>
              </a:extLst>
            </p:cNvPr>
            <p:cNvSpPr/>
            <p:nvPr/>
          </p:nvSpPr>
          <p:spPr>
            <a:xfrm rot="5400000" flipH="1">
              <a:off x="8479807" y="2650380"/>
              <a:ext cx="454275" cy="2764636"/>
            </a:xfrm>
            <a:prstGeom prst="can">
              <a:avLst>
                <a:gd name="adj" fmla="val 7057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D27E4B4-7DAA-3F72-99D7-915777F2D3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62319" y="4029503"/>
              <a:ext cx="793240" cy="0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306809-5F0B-BEB4-5E64-508DCF388598}"/>
                </a:ext>
              </a:extLst>
            </p:cNvPr>
            <p:cNvSpPr txBox="1"/>
            <p:nvPr/>
          </p:nvSpPr>
          <p:spPr>
            <a:xfrm>
              <a:off x="7744913" y="3860226"/>
              <a:ext cx="16898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 err="1"/>
                <a:t>FiletInputStream</a:t>
              </a:r>
              <a:endParaRPr lang="en-US" sz="16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37463BD-AF9E-6911-6851-3BF2C25E8CAB}"/>
                </a:ext>
              </a:extLst>
            </p:cNvPr>
            <p:cNvSpPr txBox="1"/>
            <p:nvPr/>
          </p:nvSpPr>
          <p:spPr>
            <a:xfrm>
              <a:off x="6627011" y="3690667"/>
              <a:ext cx="6126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bytes</a:t>
              </a:r>
              <a:endParaRPr 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BA40A77-1DC2-D900-04DE-7011A62DB424}"/>
                </a:ext>
              </a:extLst>
            </p:cNvPr>
            <p:cNvSpPr txBox="1"/>
            <p:nvPr/>
          </p:nvSpPr>
          <p:spPr>
            <a:xfrm>
              <a:off x="10196161" y="3690667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fichero</a:t>
              </a:r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8DA6EC-DBBB-CDDB-3D16-135429933DD7}"/>
                </a:ext>
              </a:extLst>
            </p:cNvPr>
            <p:cNvSpPr txBox="1"/>
            <p:nvPr/>
          </p:nvSpPr>
          <p:spPr>
            <a:xfrm>
              <a:off x="2180498" y="3822645"/>
              <a:ext cx="14590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Objetos</a:t>
              </a:r>
            </a:p>
            <a:p>
              <a:r>
                <a:rPr lang="es-ES" dirty="0"/>
                <a:t>Datos primitivos</a:t>
              </a:r>
              <a:endParaRPr lang="en-US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20DAD5E-EC2C-A73B-A1C9-44E4AF4F8261}"/>
              </a:ext>
            </a:extLst>
          </p:cNvPr>
          <p:cNvGrpSpPr/>
          <p:nvPr/>
        </p:nvGrpSpPr>
        <p:grpSpPr>
          <a:xfrm>
            <a:off x="2397315" y="5007711"/>
            <a:ext cx="8737335" cy="1427403"/>
            <a:chOff x="2180498" y="2832432"/>
            <a:chExt cx="8737335" cy="1427403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4321925E-1607-B86A-12CB-1CA9B1CC5F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31738" y="4029503"/>
              <a:ext cx="1055802" cy="0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11BCB37E-AA3A-A243-4138-3FF078643BE2}"/>
                </a:ext>
              </a:extLst>
            </p:cNvPr>
            <p:cNvCxnSpPr/>
            <p:nvPr/>
          </p:nvCxnSpPr>
          <p:spPr>
            <a:xfrm>
              <a:off x="10064650" y="3224918"/>
              <a:ext cx="595973" cy="0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Cylinder 37">
              <a:extLst>
                <a:ext uri="{FF2B5EF4-FFF2-40B4-BE49-F238E27FC236}">
                  <a16:creationId xmlns:a16="http://schemas.microsoft.com/office/drawing/2014/main" id="{432DBD48-7974-4957-868C-7630A7892F1F}"/>
                </a:ext>
              </a:extLst>
            </p:cNvPr>
            <p:cNvSpPr/>
            <p:nvPr/>
          </p:nvSpPr>
          <p:spPr>
            <a:xfrm rot="16200000">
              <a:off x="8479807" y="1834456"/>
              <a:ext cx="454275" cy="2764634"/>
            </a:xfrm>
            <a:prstGeom prst="can">
              <a:avLst>
                <a:gd name="adj" fmla="val 7057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4B47BDB-281F-F7AC-658E-906A8C98D8DF}"/>
                </a:ext>
              </a:extLst>
            </p:cNvPr>
            <p:cNvCxnSpPr/>
            <p:nvPr/>
          </p:nvCxnSpPr>
          <p:spPr>
            <a:xfrm>
              <a:off x="6475478" y="3224918"/>
              <a:ext cx="1055802" cy="0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ylinder 39">
              <a:extLst>
                <a:ext uri="{FF2B5EF4-FFF2-40B4-BE49-F238E27FC236}">
                  <a16:creationId xmlns:a16="http://schemas.microsoft.com/office/drawing/2014/main" id="{4885BB45-8B87-15E2-37E7-1F6721F3BECB}"/>
                </a:ext>
              </a:extLst>
            </p:cNvPr>
            <p:cNvSpPr/>
            <p:nvPr/>
          </p:nvSpPr>
          <p:spPr>
            <a:xfrm rot="16200000">
              <a:off x="4932610" y="1834457"/>
              <a:ext cx="454275" cy="2764632"/>
            </a:xfrm>
            <a:prstGeom prst="can">
              <a:avLst>
                <a:gd name="adj" fmla="val 70570"/>
              </a:avLst>
            </a:prstGeom>
            <a:solidFill>
              <a:srgbClr val="C88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Cylinder 40">
              <a:extLst>
                <a:ext uri="{FF2B5EF4-FFF2-40B4-BE49-F238E27FC236}">
                  <a16:creationId xmlns:a16="http://schemas.microsoft.com/office/drawing/2014/main" id="{D7D2192B-0A2C-EF41-8F45-1A26E58EF5DD}"/>
                </a:ext>
              </a:extLst>
            </p:cNvPr>
            <p:cNvSpPr/>
            <p:nvPr/>
          </p:nvSpPr>
          <p:spPr>
            <a:xfrm rot="5400000" flipH="1">
              <a:off x="4932610" y="2650380"/>
              <a:ext cx="454275" cy="2764636"/>
            </a:xfrm>
            <a:prstGeom prst="can">
              <a:avLst>
                <a:gd name="adj" fmla="val 70570"/>
              </a:avLst>
            </a:prstGeom>
            <a:solidFill>
              <a:srgbClr val="C885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067496A-5729-5BB9-18D3-2A5BEAD4C700}"/>
                </a:ext>
              </a:extLst>
            </p:cNvPr>
            <p:cNvSpPr txBox="1"/>
            <p:nvPr/>
          </p:nvSpPr>
          <p:spPr>
            <a:xfrm>
              <a:off x="4683588" y="3041081"/>
              <a:ext cx="115448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 err="1"/>
                <a:t>PrintWriter</a:t>
              </a:r>
              <a:endParaRPr lang="en-US" sz="16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D9CD812-FC07-9AED-1A94-50B6C9A909A5}"/>
                </a:ext>
              </a:extLst>
            </p:cNvPr>
            <p:cNvSpPr txBox="1"/>
            <p:nvPr/>
          </p:nvSpPr>
          <p:spPr>
            <a:xfrm>
              <a:off x="4586444" y="3864099"/>
              <a:ext cx="9476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/>
                <a:t>Scanner</a:t>
              </a:r>
              <a:endParaRPr lang="en-US" sz="16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DEA650A-417E-44FA-DA20-B4114F8CC429}"/>
                </a:ext>
              </a:extLst>
            </p:cNvPr>
            <p:cNvSpPr txBox="1"/>
            <p:nvPr/>
          </p:nvSpPr>
          <p:spPr>
            <a:xfrm>
              <a:off x="8277651" y="3033768"/>
              <a:ext cx="10615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 err="1"/>
                <a:t>FileWriter</a:t>
              </a:r>
              <a:endParaRPr lang="en-US" sz="16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7E440B9-4DAF-2325-91C1-9AC0EC2C7232}"/>
                </a:ext>
              </a:extLst>
            </p:cNvPr>
            <p:cNvSpPr txBox="1"/>
            <p:nvPr/>
          </p:nvSpPr>
          <p:spPr>
            <a:xfrm>
              <a:off x="2180498" y="3004518"/>
              <a:ext cx="7425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/>
                <a:t>Strings</a:t>
              </a:r>
              <a:endParaRPr lang="en-US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0E0B569-865D-94D7-F64C-E3ADA051252B}"/>
                </a:ext>
              </a:extLst>
            </p:cNvPr>
            <p:cNvSpPr txBox="1"/>
            <p:nvPr/>
          </p:nvSpPr>
          <p:spPr>
            <a:xfrm>
              <a:off x="6493463" y="3465851"/>
              <a:ext cx="10198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caracteres</a:t>
              </a:r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DD0B92A-095C-6BB8-2F33-2092DD1BA627}"/>
                </a:ext>
              </a:extLst>
            </p:cNvPr>
            <p:cNvSpPr txBox="1"/>
            <p:nvPr/>
          </p:nvSpPr>
          <p:spPr>
            <a:xfrm>
              <a:off x="10196161" y="2832432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fichero</a:t>
              </a:r>
              <a:endParaRPr lang="en-US" dirty="0"/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40DDF755-A28F-009D-927C-E8DA775F5C58}"/>
                </a:ext>
              </a:extLst>
            </p:cNvPr>
            <p:cNvCxnSpPr/>
            <p:nvPr/>
          </p:nvCxnSpPr>
          <p:spPr>
            <a:xfrm>
              <a:off x="3026864" y="3224918"/>
              <a:ext cx="959820" cy="0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7C17194-FD19-6247-CC15-4959ED3852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5219" y="4029503"/>
              <a:ext cx="1055802" cy="0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ylinder 49">
              <a:extLst>
                <a:ext uri="{FF2B5EF4-FFF2-40B4-BE49-F238E27FC236}">
                  <a16:creationId xmlns:a16="http://schemas.microsoft.com/office/drawing/2014/main" id="{AE7EB84E-978C-B6B7-55B0-283D87AF32C6}"/>
                </a:ext>
              </a:extLst>
            </p:cNvPr>
            <p:cNvSpPr/>
            <p:nvPr/>
          </p:nvSpPr>
          <p:spPr>
            <a:xfrm rot="5400000" flipH="1">
              <a:off x="8479807" y="2650380"/>
              <a:ext cx="454275" cy="2764636"/>
            </a:xfrm>
            <a:prstGeom prst="can">
              <a:avLst>
                <a:gd name="adj" fmla="val 70570"/>
              </a:avLst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7B492DC7-5264-59AC-A563-9AB5C9B4D2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62319" y="4029503"/>
              <a:ext cx="793240" cy="0"/>
            </a:xfrm>
            <a:prstGeom prst="straightConnector1">
              <a:avLst/>
            </a:prstGeom>
            <a:ln w="28575">
              <a:solidFill>
                <a:schemeClr val="bg2">
                  <a:lumMod val="75000"/>
                </a:schemeClr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FB29F74-47B4-5AB0-F7AA-B73165E146B1}"/>
                </a:ext>
              </a:extLst>
            </p:cNvPr>
            <p:cNvSpPr txBox="1"/>
            <p:nvPr/>
          </p:nvSpPr>
          <p:spPr>
            <a:xfrm>
              <a:off x="7997387" y="3860226"/>
              <a:ext cx="1184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dirty="0" err="1"/>
                <a:t>FileReader</a:t>
              </a:r>
              <a:endParaRPr lang="en-US" sz="16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433099E-2554-200A-EF97-D6CF960A5D21}"/>
                </a:ext>
              </a:extLst>
            </p:cNvPr>
            <p:cNvSpPr txBox="1"/>
            <p:nvPr/>
          </p:nvSpPr>
          <p:spPr>
            <a:xfrm>
              <a:off x="10196161" y="3690667"/>
              <a:ext cx="72167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fichero</a:t>
              </a:r>
              <a:endParaRPr lang="en-US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E40B9ED-5F8A-2F52-FD90-0F9CD87005F3}"/>
                </a:ext>
              </a:extLst>
            </p:cNvPr>
            <p:cNvSpPr txBox="1"/>
            <p:nvPr/>
          </p:nvSpPr>
          <p:spPr>
            <a:xfrm>
              <a:off x="2180498" y="3822645"/>
              <a:ext cx="7425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/>
                <a:t>Strings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5728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E8F22B18-5388-039B-65E0-8D0C5630FA7E}"/>
              </a:ext>
            </a:extLst>
          </p:cNvPr>
          <p:cNvSpPr/>
          <p:nvPr/>
        </p:nvSpPr>
        <p:spPr>
          <a:xfrm>
            <a:off x="1359228" y="1630837"/>
            <a:ext cx="9979452" cy="39969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4A9FD-10F1-2914-91C8-27012A6F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Streams</a:t>
            </a:r>
            <a:r>
              <a:rPr lang="es-ES" dirty="0"/>
              <a:t> y buffers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9CFEDD-A63F-1DAC-626E-EBB33D4567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16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E3DF0E-916D-FEA7-7803-69BA90CFE7B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Ficheros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0370F6F-553E-0D2B-80E4-D4D0D085E9F5}"/>
              </a:ext>
            </a:extLst>
          </p:cNvPr>
          <p:cNvGrpSpPr/>
          <p:nvPr/>
        </p:nvGrpSpPr>
        <p:grpSpPr>
          <a:xfrm>
            <a:off x="1665446" y="2228957"/>
            <a:ext cx="9386817" cy="2736755"/>
            <a:chOff x="1062171" y="2417493"/>
            <a:chExt cx="9386817" cy="273675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82D448-1481-1626-2450-2E39FDD9EA69}"/>
                </a:ext>
              </a:extLst>
            </p:cNvPr>
            <p:cNvSpPr/>
            <p:nvPr/>
          </p:nvSpPr>
          <p:spPr>
            <a:xfrm>
              <a:off x="4850091" y="3488926"/>
              <a:ext cx="1560138" cy="593889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AFF1688-C233-C5F1-1B41-2A486AD2E369}"/>
                </a:ext>
              </a:extLst>
            </p:cNvPr>
            <p:cNvSpPr/>
            <p:nvPr/>
          </p:nvSpPr>
          <p:spPr>
            <a:xfrm>
              <a:off x="1062171" y="2417493"/>
              <a:ext cx="1822983" cy="2736755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DATA</a:t>
              </a:r>
              <a:br>
                <a:rPr lang="es-ES" dirty="0"/>
              </a:br>
              <a:r>
                <a:rPr lang="es-ES" dirty="0"/>
                <a:t>(original)</a:t>
              </a:r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44DBDE6-DA9B-A8E1-B297-5D62395663DA}"/>
                </a:ext>
              </a:extLst>
            </p:cNvPr>
            <p:cNvSpPr/>
            <p:nvPr/>
          </p:nvSpPr>
          <p:spPr>
            <a:xfrm>
              <a:off x="4372239" y="3544308"/>
              <a:ext cx="141402" cy="483124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35C23D4-8ACE-6AB4-2B7F-34BA31699E5D}"/>
                </a:ext>
              </a:extLst>
            </p:cNvPr>
            <p:cNvSpPr/>
            <p:nvPr/>
          </p:nvSpPr>
          <p:spPr>
            <a:xfrm>
              <a:off x="4910256" y="3562792"/>
              <a:ext cx="124767" cy="446157"/>
            </a:xfrm>
            <a:prstGeom prst="rect">
              <a:avLst/>
            </a:prstGeom>
            <a:noFill/>
            <a:ln>
              <a:solidFill>
                <a:srgbClr val="FF5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B79248-F9CE-D8B1-576E-3ED4440E38EC}"/>
                </a:ext>
              </a:extLst>
            </p:cNvPr>
            <p:cNvSpPr/>
            <p:nvPr/>
          </p:nvSpPr>
          <p:spPr>
            <a:xfrm>
              <a:off x="5098792" y="3562792"/>
              <a:ext cx="124767" cy="446157"/>
            </a:xfrm>
            <a:prstGeom prst="rect">
              <a:avLst/>
            </a:prstGeom>
            <a:noFill/>
            <a:ln>
              <a:solidFill>
                <a:srgbClr val="FF5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A58FD1-47FD-514C-5EBE-B556FE20F8B7}"/>
                </a:ext>
              </a:extLst>
            </p:cNvPr>
            <p:cNvSpPr/>
            <p:nvPr/>
          </p:nvSpPr>
          <p:spPr>
            <a:xfrm>
              <a:off x="5287328" y="3562792"/>
              <a:ext cx="124767" cy="446157"/>
            </a:xfrm>
            <a:prstGeom prst="rect">
              <a:avLst/>
            </a:prstGeom>
            <a:noFill/>
            <a:ln>
              <a:solidFill>
                <a:srgbClr val="FF505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D3842BA-50F5-590E-5C1A-42FEB238FB14}"/>
                </a:ext>
              </a:extLst>
            </p:cNvPr>
            <p:cNvSpPr/>
            <p:nvPr/>
          </p:nvSpPr>
          <p:spPr>
            <a:xfrm>
              <a:off x="5467546" y="3544308"/>
              <a:ext cx="141402" cy="483124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FB6FF61-7BD5-E9A3-A7A9-04C47DCE9A3C}"/>
                </a:ext>
              </a:extLst>
            </p:cNvPr>
            <p:cNvSpPr/>
            <p:nvPr/>
          </p:nvSpPr>
          <p:spPr>
            <a:xfrm>
              <a:off x="5656082" y="3544308"/>
              <a:ext cx="141402" cy="483124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27315BB-7033-37DC-5B88-E3E1C1F23A70}"/>
                </a:ext>
              </a:extLst>
            </p:cNvPr>
            <p:cNvSpPr/>
            <p:nvPr/>
          </p:nvSpPr>
          <p:spPr>
            <a:xfrm>
              <a:off x="5844618" y="3544308"/>
              <a:ext cx="141402" cy="483124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3A97EA7-8665-875E-7ADE-53E2F1FA8871}"/>
                </a:ext>
              </a:extLst>
            </p:cNvPr>
            <p:cNvSpPr/>
            <p:nvPr/>
          </p:nvSpPr>
          <p:spPr>
            <a:xfrm>
              <a:off x="6033154" y="3544308"/>
              <a:ext cx="141402" cy="483124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0E4650-6ED0-C4DF-96BF-EA85BEC24488}"/>
                </a:ext>
              </a:extLst>
            </p:cNvPr>
            <p:cNvSpPr/>
            <p:nvPr/>
          </p:nvSpPr>
          <p:spPr>
            <a:xfrm>
              <a:off x="6221692" y="3544308"/>
              <a:ext cx="141402" cy="483124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EDC14B-1391-D22A-439D-C53793A00812}"/>
                </a:ext>
              </a:extLst>
            </p:cNvPr>
            <p:cNvSpPr/>
            <p:nvPr/>
          </p:nvSpPr>
          <p:spPr>
            <a:xfrm>
              <a:off x="7013542" y="3544308"/>
              <a:ext cx="1461156" cy="483124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B0546C7-FC6A-922E-94C4-21520F57543D}"/>
                </a:ext>
              </a:extLst>
            </p:cNvPr>
            <p:cNvSpPr/>
            <p:nvPr/>
          </p:nvSpPr>
          <p:spPr>
            <a:xfrm>
              <a:off x="9285402" y="3099829"/>
              <a:ext cx="1163586" cy="13720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DATA (procesada)</a:t>
              </a:r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AA64853-1620-0EBC-A811-018F189F7FEB}"/>
                </a:ext>
              </a:extLst>
            </p:cNvPr>
            <p:cNvSpPr/>
            <p:nvPr/>
          </p:nvSpPr>
          <p:spPr>
            <a:xfrm>
              <a:off x="3936031" y="3544308"/>
              <a:ext cx="141402" cy="483124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A5C4003-70D6-A696-05FC-D463E071628E}"/>
                </a:ext>
              </a:extLst>
            </p:cNvPr>
            <p:cNvSpPr/>
            <p:nvPr/>
          </p:nvSpPr>
          <p:spPr>
            <a:xfrm>
              <a:off x="3492971" y="3544308"/>
              <a:ext cx="141402" cy="483124"/>
            </a:xfrm>
            <a:prstGeom prst="rect">
              <a:avLst/>
            </a:prstGeom>
            <a:solidFill>
              <a:srgbClr val="FF5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18C70E7-D6C6-8842-FB43-B9D95040312A}"/>
                </a:ext>
              </a:extLst>
            </p:cNvPr>
            <p:cNvCxnSpPr>
              <a:cxnSpLocks/>
            </p:cNvCxnSpPr>
            <p:nvPr/>
          </p:nvCxnSpPr>
          <p:spPr>
            <a:xfrm>
              <a:off x="2910747" y="3785870"/>
              <a:ext cx="556054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2A73678C-D5C0-29BE-A8C9-5829829B4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2315" y="3785870"/>
              <a:ext cx="243636" cy="1"/>
            </a:xfrm>
            <a:prstGeom prst="straightConnector1">
              <a:avLst/>
            </a:prstGeom>
            <a:ln w="19050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B2995D3-70F2-964B-AE88-2A5BB37160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0529" y="3785870"/>
              <a:ext cx="243636" cy="1"/>
            </a:xfrm>
            <a:prstGeom prst="straightConnector1">
              <a:avLst/>
            </a:prstGeom>
            <a:ln w="19050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E94F8BC-3AF7-D2A4-B337-890F34CBA26C}"/>
                </a:ext>
              </a:extLst>
            </p:cNvPr>
            <p:cNvCxnSpPr>
              <a:cxnSpLocks/>
            </p:cNvCxnSpPr>
            <p:nvPr/>
          </p:nvCxnSpPr>
          <p:spPr>
            <a:xfrm>
              <a:off x="4531204" y="3776444"/>
              <a:ext cx="290770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B75D2159-08FB-8B14-04C2-FD6DF191D3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5508" y="3785870"/>
              <a:ext cx="510281" cy="1"/>
            </a:xfrm>
            <a:prstGeom prst="straightConnector1">
              <a:avLst/>
            </a:prstGeom>
            <a:ln w="19050">
              <a:solidFill>
                <a:srgbClr val="00B0F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73847DF-053D-FB96-EAA0-5FE7D240BBE8}"/>
                </a:ext>
              </a:extLst>
            </p:cNvPr>
            <p:cNvCxnSpPr>
              <a:cxnSpLocks/>
            </p:cNvCxnSpPr>
            <p:nvPr/>
          </p:nvCxnSpPr>
          <p:spPr>
            <a:xfrm>
              <a:off x="8524388" y="3785871"/>
              <a:ext cx="707905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CC934BB-835F-9599-6398-0FA851D32A89}"/>
                </a:ext>
              </a:extLst>
            </p:cNvPr>
            <p:cNvSpPr txBox="1"/>
            <p:nvPr/>
          </p:nvSpPr>
          <p:spPr>
            <a:xfrm>
              <a:off x="5297692" y="4198230"/>
              <a:ext cx="71045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>
                  <a:solidFill>
                    <a:srgbClr val="00B0F0"/>
                  </a:solidFill>
                </a:rPr>
                <a:t>buffer</a:t>
              </a:r>
              <a:endParaRPr lang="en-US" sz="1600" dirty="0">
                <a:solidFill>
                  <a:srgbClr val="00B0F0"/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F316390-B44F-A4A2-D61C-501C37935C4F}"/>
                </a:ext>
              </a:extLst>
            </p:cNvPr>
            <p:cNvSpPr txBox="1"/>
            <p:nvPr/>
          </p:nvSpPr>
          <p:spPr>
            <a:xfrm>
              <a:off x="3582310" y="4198230"/>
              <a:ext cx="81304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dirty="0" err="1">
                  <a:solidFill>
                    <a:srgbClr val="00B0F0"/>
                  </a:solidFill>
                </a:rPr>
                <a:t>stream</a:t>
              </a:r>
              <a:endParaRPr lang="en-US" sz="1600" dirty="0">
                <a:solidFill>
                  <a:srgbClr val="00B0F0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B846DA1-2FDD-230A-327D-472CDF22F225}"/>
                </a:ext>
              </a:extLst>
            </p:cNvPr>
            <p:cNvSpPr/>
            <p:nvPr/>
          </p:nvSpPr>
          <p:spPr>
            <a:xfrm rot="5400000">
              <a:off x="2541845" y="4784227"/>
              <a:ext cx="141402" cy="399276"/>
            </a:xfrm>
            <a:prstGeom prst="rect">
              <a:avLst/>
            </a:prstGeom>
            <a:solidFill>
              <a:srgbClr val="FF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5305CE6-0582-5FAB-4836-AA2B328DE31E}"/>
                </a:ext>
              </a:extLst>
            </p:cNvPr>
            <p:cNvSpPr/>
            <p:nvPr/>
          </p:nvSpPr>
          <p:spPr>
            <a:xfrm rot="5400000">
              <a:off x="2541845" y="4568242"/>
              <a:ext cx="141402" cy="399276"/>
            </a:xfrm>
            <a:prstGeom prst="rect">
              <a:avLst/>
            </a:prstGeom>
            <a:solidFill>
              <a:srgbClr val="FF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C7A3F40-2CFB-D2ED-CEF8-08E160C2D1DF}"/>
                </a:ext>
              </a:extLst>
            </p:cNvPr>
            <p:cNvSpPr/>
            <p:nvPr/>
          </p:nvSpPr>
          <p:spPr>
            <a:xfrm rot="5400000">
              <a:off x="2541845" y="4352260"/>
              <a:ext cx="141402" cy="399276"/>
            </a:xfrm>
            <a:prstGeom prst="rect">
              <a:avLst/>
            </a:prstGeom>
            <a:solidFill>
              <a:srgbClr val="FF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37E52E3-7704-3578-CEE4-973B4852D2BC}"/>
                </a:ext>
              </a:extLst>
            </p:cNvPr>
            <p:cNvSpPr/>
            <p:nvPr/>
          </p:nvSpPr>
          <p:spPr>
            <a:xfrm rot="5400000">
              <a:off x="2541845" y="4136278"/>
              <a:ext cx="141402" cy="399276"/>
            </a:xfrm>
            <a:prstGeom prst="rect">
              <a:avLst/>
            </a:prstGeom>
            <a:solidFill>
              <a:srgbClr val="FF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7750597-A0E0-EF26-5A48-68D47EBFE9F4}"/>
                </a:ext>
              </a:extLst>
            </p:cNvPr>
            <p:cNvSpPr/>
            <p:nvPr/>
          </p:nvSpPr>
          <p:spPr>
            <a:xfrm rot="5400000">
              <a:off x="2541845" y="3920296"/>
              <a:ext cx="141402" cy="399276"/>
            </a:xfrm>
            <a:prstGeom prst="rect">
              <a:avLst/>
            </a:prstGeom>
            <a:solidFill>
              <a:srgbClr val="FF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45DE17D-709C-676D-8440-E74AD1732FB9}"/>
                </a:ext>
              </a:extLst>
            </p:cNvPr>
            <p:cNvSpPr/>
            <p:nvPr/>
          </p:nvSpPr>
          <p:spPr>
            <a:xfrm rot="5400000">
              <a:off x="2541845" y="3704314"/>
              <a:ext cx="141402" cy="399276"/>
            </a:xfrm>
            <a:prstGeom prst="rect">
              <a:avLst/>
            </a:prstGeom>
            <a:solidFill>
              <a:srgbClr val="FF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A328B092-8625-2ABF-70ED-3BAA70ED4EF5}"/>
                </a:ext>
              </a:extLst>
            </p:cNvPr>
            <p:cNvSpPr/>
            <p:nvPr/>
          </p:nvSpPr>
          <p:spPr>
            <a:xfrm rot="5400000">
              <a:off x="2541845" y="3488332"/>
              <a:ext cx="141402" cy="399276"/>
            </a:xfrm>
            <a:prstGeom prst="rect">
              <a:avLst/>
            </a:prstGeom>
            <a:solidFill>
              <a:srgbClr val="FF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09C3F04-91AA-27CC-1B9B-A0610BD32B4A}"/>
                </a:ext>
              </a:extLst>
            </p:cNvPr>
            <p:cNvSpPr/>
            <p:nvPr/>
          </p:nvSpPr>
          <p:spPr>
            <a:xfrm rot="5400000">
              <a:off x="2541845" y="3272350"/>
              <a:ext cx="141402" cy="399276"/>
            </a:xfrm>
            <a:prstGeom prst="rect">
              <a:avLst/>
            </a:prstGeom>
            <a:solidFill>
              <a:srgbClr val="FFC1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C5BDD4ED-DF53-BBEF-C2F0-EAB00C6D4E69}"/>
              </a:ext>
            </a:extLst>
          </p:cNvPr>
          <p:cNvSpPr txBox="1"/>
          <p:nvPr/>
        </p:nvSpPr>
        <p:spPr>
          <a:xfrm>
            <a:off x="1359228" y="5957740"/>
            <a:ext cx="99794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En Java los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pueden ser: Byte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y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Character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Streams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91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BA4E09D-0ACF-CBC1-783F-AE20488E117A}"/>
              </a:ext>
            </a:extLst>
          </p:cNvPr>
          <p:cNvSpPr/>
          <p:nvPr/>
        </p:nvSpPr>
        <p:spPr>
          <a:xfrm>
            <a:off x="7611359" y="3192517"/>
            <a:ext cx="3742441" cy="28312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DB84C-AD29-38B4-0F6C-191A5E3D8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Archivos de acceso secuencial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59045-A4A8-232D-7865-4EB902E940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C8B86-75BF-5372-9432-1105891AFBC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6102124" cy="4919436"/>
          </a:xfrm>
        </p:spPr>
        <p:txBody>
          <a:bodyPr>
            <a:normAutofit/>
          </a:bodyPr>
          <a:lstStyle/>
          <a:p>
            <a:r>
              <a:rPr lang="es-ES" dirty="0"/>
              <a:t>Tipo de archivo cuyos </a:t>
            </a:r>
            <a:r>
              <a:rPr lang="es-ES" b="1" dirty="0"/>
              <a:t>datos</a:t>
            </a:r>
            <a:r>
              <a:rPr lang="es-ES" dirty="0"/>
              <a:t> se </a:t>
            </a:r>
            <a:r>
              <a:rPr lang="es-ES" b="1" dirty="0"/>
              <a:t>disponen</a:t>
            </a:r>
            <a:r>
              <a:rPr lang="es-ES" dirty="0"/>
              <a:t> como una </a:t>
            </a:r>
            <a:r>
              <a:rPr lang="es-ES" b="1" dirty="0"/>
              <a:t>secuencia</a:t>
            </a:r>
            <a:r>
              <a:rPr lang="es-ES" dirty="0"/>
              <a:t>.</a:t>
            </a:r>
          </a:p>
          <a:p>
            <a:r>
              <a:rPr lang="es-ES" dirty="0"/>
              <a:t>Ocupan menos espacio.</a:t>
            </a:r>
          </a:p>
          <a:p>
            <a:r>
              <a:rPr lang="es-ES" dirty="0"/>
              <a:t>Utilizados para guardar datos que no se modifican con frecuencia (imágenes, video, documentos, etc.)</a:t>
            </a:r>
          </a:p>
          <a:p>
            <a:r>
              <a:rPr lang="es-ES" dirty="0"/>
              <a:t>Se </a:t>
            </a:r>
            <a:r>
              <a:rPr lang="es-ES" b="1" dirty="0"/>
              <a:t>leen</a:t>
            </a:r>
            <a:r>
              <a:rPr lang="es-ES" dirty="0"/>
              <a:t> y </a:t>
            </a:r>
            <a:r>
              <a:rPr lang="es-ES" b="1" dirty="0"/>
              <a:t>escriben</a:t>
            </a:r>
            <a:r>
              <a:rPr lang="es-ES" dirty="0"/>
              <a:t> mediante un </a:t>
            </a:r>
            <a:r>
              <a:rPr lang="es-ES" u="sng" dirty="0"/>
              <a:t>arreglo de bytes</a:t>
            </a:r>
            <a:r>
              <a:rPr lang="es-ES" dirty="0"/>
              <a:t> (</a:t>
            </a:r>
            <a:r>
              <a:rPr lang="es-ES" i="1" dirty="0"/>
              <a:t>byte array</a:t>
            </a:r>
            <a:r>
              <a:rPr lang="es-ES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3D511F-934C-DA4C-62EE-BBD701E057B0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Ficheros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6C03E9F-580C-90BE-5017-1DADED4BD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405165"/>
              </p:ext>
            </p:extLst>
          </p:nvPr>
        </p:nvGraphicFramePr>
        <p:xfrm>
          <a:off x="8123741" y="3428999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787CC499-F97C-B9B1-7042-0D04753BE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540015"/>
              </p:ext>
            </p:extLst>
          </p:nvPr>
        </p:nvGraphicFramePr>
        <p:xfrm>
          <a:off x="8123741" y="4088524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8D9F2023-956D-3627-CFAC-D04D2E79E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332802"/>
              </p:ext>
            </p:extLst>
          </p:nvPr>
        </p:nvGraphicFramePr>
        <p:xfrm>
          <a:off x="8123741" y="4798120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48889713-F6B1-13D2-8BCF-3BF44F9C44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535558"/>
              </p:ext>
            </p:extLst>
          </p:nvPr>
        </p:nvGraphicFramePr>
        <p:xfrm>
          <a:off x="8123741" y="5457645"/>
          <a:ext cx="2761912" cy="326156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45239">
                  <a:extLst>
                    <a:ext uri="{9D8B030D-6E8A-4147-A177-3AD203B41FA5}">
                      <a16:colId xmlns:a16="http://schemas.microsoft.com/office/drawing/2014/main" val="41357712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509562572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385064688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30584167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139941799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06068577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4292795975"/>
                    </a:ext>
                  </a:extLst>
                </a:gridCol>
                <a:gridCol w="345239">
                  <a:extLst>
                    <a:ext uri="{9D8B030D-6E8A-4147-A177-3AD203B41FA5}">
                      <a16:colId xmlns:a16="http://schemas.microsoft.com/office/drawing/2014/main" val="1483838873"/>
                    </a:ext>
                  </a:extLst>
                </a:gridCol>
              </a:tblGrid>
              <a:tr h="326156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marL="80421" marR="80421" marT="40211" marB="40211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9337"/>
                  </a:ext>
                </a:extLst>
              </a:tr>
            </a:tbl>
          </a:graphicData>
        </a:graphic>
      </p:graphicFrame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4012ECB-D45B-902A-5EFE-FA2A051BFA9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H="1">
            <a:off x="8123741" y="3592077"/>
            <a:ext cx="2761912" cy="659525"/>
          </a:xfrm>
          <a:prstGeom prst="bentConnector5">
            <a:avLst>
              <a:gd name="adj1" fmla="val -8277"/>
              <a:gd name="adj2" fmla="val 50000"/>
              <a:gd name="adj3" fmla="val 108277"/>
            </a:avLst>
          </a:prstGeom>
          <a:ln w="19050">
            <a:solidFill>
              <a:schemeClr val="bg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A87EFFBD-94AD-24AD-CB69-C4A630D8A754}"/>
              </a:ext>
            </a:extLst>
          </p:cNvPr>
          <p:cNvCxnSpPr>
            <a:cxnSpLocks/>
          </p:cNvCxnSpPr>
          <p:nvPr/>
        </p:nvCxnSpPr>
        <p:spPr>
          <a:xfrm flipH="1">
            <a:off x="8123741" y="4301673"/>
            <a:ext cx="2761912" cy="659525"/>
          </a:xfrm>
          <a:prstGeom prst="bentConnector5">
            <a:avLst>
              <a:gd name="adj1" fmla="val -8277"/>
              <a:gd name="adj2" fmla="val 50000"/>
              <a:gd name="adj3" fmla="val 108277"/>
            </a:avLst>
          </a:prstGeom>
          <a:ln w="19050">
            <a:solidFill>
              <a:schemeClr val="bg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73EC189-06B1-4240-EEF5-8417DB299696}"/>
              </a:ext>
            </a:extLst>
          </p:cNvPr>
          <p:cNvCxnSpPr>
            <a:cxnSpLocks/>
          </p:cNvCxnSpPr>
          <p:nvPr/>
        </p:nvCxnSpPr>
        <p:spPr>
          <a:xfrm flipH="1">
            <a:off x="8123741" y="4999248"/>
            <a:ext cx="2761912" cy="659525"/>
          </a:xfrm>
          <a:prstGeom prst="bentConnector5">
            <a:avLst>
              <a:gd name="adj1" fmla="val -8277"/>
              <a:gd name="adj2" fmla="val 50000"/>
              <a:gd name="adj3" fmla="val 108277"/>
            </a:avLst>
          </a:prstGeom>
          <a:ln w="19050">
            <a:solidFill>
              <a:schemeClr val="bg2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332AE78-8D98-73D9-DF23-90AA23A688AD}"/>
              </a:ext>
            </a:extLst>
          </p:cNvPr>
          <p:cNvSpPr/>
          <p:nvPr/>
        </p:nvSpPr>
        <p:spPr>
          <a:xfrm>
            <a:off x="7611359" y="2532992"/>
            <a:ext cx="3742441" cy="65952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254C87-A13F-8723-9245-BE87FC5A6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656" y="1436914"/>
            <a:ext cx="1173628" cy="117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6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oup 97">
            <a:extLst>
              <a:ext uri="{FF2B5EF4-FFF2-40B4-BE49-F238E27FC236}">
                <a16:creationId xmlns:a16="http://schemas.microsoft.com/office/drawing/2014/main" id="{17F6868D-7CE5-2ACA-1ECC-51590AA078D5}"/>
              </a:ext>
            </a:extLst>
          </p:cNvPr>
          <p:cNvGrpSpPr/>
          <p:nvPr/>
        </p:nvGrpSpPr>
        <p:grpSpPr>
          <a:xfrm>
            <a:off x="6096000" y="3294481"/>
            <a:ext cx="5630945" cy="2955487"/>
            <a:chOff x="6096000" y="3586714"/>
            <a:chExt cx="5630945" cy="2955487"/>
          </a:xfrm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90EEB905-EC83-D446-BEF8-646D5E8DBE0C}"/>
                </a:ext>
              </a:extLst>
            </p:cNvPr>
            <p:cNvSpPr/>
            <p:nvPr/>
          </p:nvSpPr>
          <p:spPr>
            <a:xfrm>
              <a:off x="6096000" y="3586714"/>
              <a:ext cx="5630944" cy="2955487"/>
            </a:xfrm>
            <a:prstGeom prst="roundRect">
              <a:avLst>
                <a:gd name="adj" fmla="val 546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7C87D0C-81B2-732E-88C4-5CAF438E7C11}"/>
                </a:ext>
              </a:extLst>
            </p:cNvPr>
            <p:cNvGrpSpPr/>
            <p:nvPr/>
          </p:nvGrpSpPr>
          <p:grpSpPr>
            <a:xfrm>
              <a:off x="6332267" y="4625539"/>
              <a:ext cx="901832" cy="419161"/>
              <a:chOff x="7081100" y="1833514"/>
              <a:chExt cx="901832" cy="419161"/>
            </a:xfrm>
            <a:solidFill>
              <a:schemeClr val="accent2">
                <a:lumMod val="60000"/>
                <a:lumOff val="4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EFC5FF83-4A41-2BEB-45CF-62623A96538B}"/>
                  </a:ext>
                </a:extLst>
              </p:cNvPr>
              <p:cNvSpPr/>
              <p:nvPr/>
            </p:nvSpPr>
            <p:spPr>
              <a:xfrm>
                <a:off x="7081100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436BAFFB-F0A9-CC1C-B7FD-92C61606CC26}"/>
                  </a:ext>
                </a:extLst>
              </p:cNvPr>
              <p:cNvSpPr/>
              <p:nvPr/>
            </p:nvSpPr>
            <p:spPr>
              <a:xfrm>
                <a:off x="7532016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A0A11C0-91AD-84D0-1A64-266BDEFB4B62}"/>
                </a:ext>
              </a:extLst>
            </p:cNvPr>
            <p:cNvGrpSpPr/>
            <p:nvPr/>
          </p:nvGrpSpPr>
          <p:grpSpPr>
            <a:xfrm>
              <a:off x="9145344" y="4620174"/>
              <a:ext cx="1803663" cy="419161"/>
              <a:chOff x="7081100" y="1833514"/>
              <a:chExt cx="1803663" cy="419161"/>
            </a:xfrm>
            <a:solidFill>
              <a:schemeClr val="accent2">
                <a:lumMod val="60000"/>
                <a:lumOff val="4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29B1A495-D461-BBB5-74AC-70F02FAAF3E9}"/>
                  </a:ext>
                </a:extLst>
              </p:cNvPr>
              <p:cNvSpPr/>
              <p:nvPr/>
            </p:nvSpPr>
            <p:spPr>
              <a:xfrm>
                <a:off x="7081100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508D9D6E-86AC-5B20-D92D-347460B77488}"/>
                  </a:ext>
                </a:extLst>
              </p:cNvPr>
              <p:cNvSpPr/>
              <p:nvPr/>
            </p:nvSpPr>
            <p:spPr>
              <a:xfrm>
                <a:off x="7532016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4CCC3F5E-E489-37AD-ECAF-596F834EEA6F}"/>
                  </a:ext>
                </a:extLst>
              </p:cNvPr>
              <p:cNvSpPr/>
              <p:nvPr/>
            </p:nvSpPr>
            <p:spPr>
              <a:xfrm>
                <a:off x="7982931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7FDA76B2-7321-0887-ABB9-5E90EC949931}"/>
                  </a:ext>
                </a:extLst>
              </p:cNvPr>
              <p:cNvSpPr/>
              <p:nvPr/>
            </p:nvSpPr>
            <p:spPr>
              <a:xfrm>
                <a:off x="8433847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90109CC-429D-B27B-3DC0-67A42218685C}"/>
                </a:ext>
              </a:extLst>
            </p:cNvPr>
            <p:cNvGrpSpPr/>
            <p:nvPr/>
          </p:nvGrpSpPr>
          <p:grpSpPr>
            <a:xfrm>
              <a:off x="6326728" y="5537791"/>
              <a:ext cx="3607325" cy="419161"/>
              <a:chOff x="7081100" y="1833514"/>
              <a:chExt cx="3607325" cy="419161"/>
            </a:xfrm>
            <a:solidFill>
              <a:schemeClr val="accent2">
                <a:lumMod val="60000"/>
                <a:lumOff val="4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FBA2E744-724B-39D1-DAFE-5D338D165A59}"/>
                  </a:ext>
                </a:extLst>
              </p:cNvPr>
              <p:cNvSpPr/>
              <p:nvPr/>
            </p:nvSpPr>
            <p:spPr>
              <a:xfrm>
                <a:off x="7081100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D136B8DC-E39B-EC2D-8162-EAA87A0DEB98}"/>
                  </a:ext>
                </a:extLst>
              </p:cNvPr>
              <p:cNvSpPr/>
              <p:nvPr/>
            </p:nvSpPr>
            <p:spPr>
              <a:xfrm>
                <a:off x="7532016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A95AC6A3-AFF3-CB32-4F7E-A8D1A550F49D}"/>
                  </a:ext>
                </a:extLst>
              </p:cNvPr>
              <p:cNvSpPr/>
              <p:nvPr/>
            </p:nvSpPr>
            <p:spPr>
              <a:xfrm>
                <a:off x="7982931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1A7F2F99-9474-8C67-866C-6AF918EC051C}"/>
                  </a:ext>
                </a:extLst>
              </p:cNvPr>
              <p:cNvSpPr/>
              <p:nvPr/>
            </p:nvSpPr>
            <p:spPr>
              <a:xfrm>
                <a:off x="8433847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5AB91BB-D967-E14C-F8C9-290A12D84ABD}"/>
                  </a:ext>
                </a:extLst>
              </p:cNvPr>
              <p:cNvSpPr/>
              <p:nvPr/>
            </p:nvSpPr>
            <p:spPr>
              <a:xfrm>
                <a:off x="8884762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E9EA1C3A-18C4-1EFF-56BF-CAC8575FC8F9}"/>
                  </a:ext>
                </a:extLst>
              </p:cNvPr>
              <p:cNvSpPr/>
              <p:nvPr/>
            </p:nvSpPr>
            <p:spPr>
              <a:xfrm>
                <a:off x="9335678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0D47951-0BD0-F0F4-7379-F2077F6C4CA1}"/>
                  </a:ext>
                </a:extLst>
              </p:cNvPr>
              <p:cNvSpPr/>
              <p:nvPr/>
            </p:nvSpPr>
            <p:spPr>
              <a:xfrm>
                <a:off x="9786593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70E6FFF6-5DC9-DB41-8980-1E2E23EEF4D1}"/>
                  </a:ext>
                </a:extLst>
              </p:cNvPr>
              <p:cNvSpPr/>
              <p:nvPr/>
            </p:nvSpPr>
            <p:spPr>
              <a:xfrm>
                <a:off x="10237509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0003335-DD72-6D34-C41E-F02162BB1DDB}"/>
                </a:ext>
              </a:extLst>
            </p:cNvPr>
            <p:cNvGrpSpPr/>
            <p:nvPr/>
          </p:nvGrpSpPr>
          <p:grpSpPr>
            <a:xfrm>
              <a:off x="7733002" y="4625538"/>
              <a:ext cx="901832" cy="419161"/>
              <a:chOff x="7081100" y="1833514"/>
              <a:chExt cx="901832" cy="419161"/>
            </a:xfrm>
            <a:solidFill>
              <a:schemeClr val="accent2">
                <a:lumMod val="60000"/>
                <a:lumOff val="40000"/>
              </a:schemeClr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EBBA94D-41D2-71E1-63F2-DA7E23BCE075}"/>
                  </a:ext>
                </a:extLst>
              </p:cNvPr>
              <p:cNvSpPr/>
              <p:nvPr/>
            </p:nvSpPr>
            <p:spPr>
              <a:xfrm>
                <a:off x="7081100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C81423C7-F035-A29B-D99C-3D9998B0BB4B}"/>
                  </a:ext>
                </a:extLst>
              </p:cNvPr>
              <p:cNvSpPr/>
              <p:nvPr/>
            </p:nvSpPr>
            <p:spPr>
              <a:xfrm>
                <a:off x="7532016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</p:grp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47AD0BA-45CF-9C20-903B-9C83450F2B24}"/>
                </a:ext>
              </a:extLst>
            </p:cNvPr>
            <p:cNvSpPr txBox="1"/>
            <p:nvPr/>
          </p:nvSpPr>
          <p:spPr>
            <a:xfrm>
              <a:off x="6279112" y="4263972"/>
              <a:ext cx="13019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char</a:t>
              </a:r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 (2 bytes)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55D4972-430A-49EC-0F62-D333B4B2CC27}"/>
                </a:ext>
              </a:extLst>
            </p:cNvPr>
            <p:cNvSpPr txBox="1"/>
            <p:nvPr/>
          </p:nvSpPr>
          <p:spPr>
            <a:xfrm>
              <a:off x="7672170" y="4263972"/>
              <a:ext cx="13503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short (2 bytes)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AD1EE8A-B7C4-BC5C-738D-6B51D570155B}"/>
                </a:ext>
              </a:extLst>
            </p:cNvPr>
            <p:cNvSpPr txBox="1"/>
            <p:nvPr/>
          </p:nvSpPr>
          <p:spPr>
            <a:xfrm>
              <a:off x="9079355" y="4263972"/>
              <a:ext cx="17143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Float</a:t>
              </a:r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 (4 bytes)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27AA58E2-DF4B-A083-7FFF-48E09BBC2A1B}"/>
                </a:ext>
              </a:extLst>
            </p:cNvPr>
            <p:cNvSpPr txBox="1"/>
            <p:nvPr/>
          </p:nvSpPr>
          <p:spPr>
            <a:xfrm>
              <a:off x="6282504" y="5176962"/>
              <a:ext cx="29369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double</a:t>
              </a:r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 (8 bytes)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1193051-30D4-C038-35C1-C8C75900886F}"/>
                </a:ext>
              </a:extLst>
            </p:cNvPr>
            <p:cNvSpPr txBox="1"/>
            <p:nvPr/>
          </p:nvSpPr>
          <p:spPr>
            <a:xfrm>
              <a:off x="6278724" y="3765601"/>
              <a:ext cx="41951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rgbClr val="0070C0"/>
                  </a:solidFill>
                </a:rPr>
                <a:t>Equivalencias de tipos de datos en </a:t>
              </a:r>
              <a:r>
                <a:rPr lang="es-ES" b="1" dirty="0">
                  <a:solidFill>
                    <a:srgbClr val="0070C0"/>
                  </a:solidFill>
                </a:rPr>
                <a:t>byte array</a:t>
              </a:r>
              <a:endParaRPr lang="en-US" b="1" dirty="0">
                <a:solidFill>
                  <a:srgbClr val="0070C0"/>
                </a:solidFill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F1E7DFDD-BF80-52E9-FFEE-7539E1B68AC6}"/>
                </a:ext>
              </a:extLst>
            </p:cNvPr>
            <p:cNvSpPr/>
            <p:nvPr/>
          </p:nvSpPr>
          <p:spPr>
            <a:xfrm>
              <a:off x="10223471" y="5554369"/>
              <a:ext cx="450916" cy="41916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>
                <a:latin typeface="+mj-lt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AC12A2F-9BA0-7A14-872E-660443F748B5}"/>
                </a:ext>
              </a:extLst>
            </p:cNvPr>
            <p:cNvSpPr txBox="1"/>
            <p:nvPr/>
          </p:nvSpPr>
          <p:spPr>
            <a:xfrm>
              <a:off x="10170317" y="5202226"/>
              <a:ext cx="1556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 err="1">
                  <a:solidFill>
                    <a:schemeClr val="bg1">
                      <a:lumMod val="50000"/>
                    </a:schemeClr>
                  </a:solidFill>
                </a:rPr>
                <a:t>boolean</a:t>
              </a:r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 (1 byte)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2D42DD1-95DB-032A-386F-33CD5660DFBC}"/>
                </a:ext>
              </a:extLst>
            </p:cNvPr>
            <p:cNvSpPr txBox="1"/>
            <p:nvPr/>
          </p:nvSpPr>
          <p:spPr>
            <a:xfrm>
              <a:off x="6326728" y="6162324"/>
              <a:ext cx="27526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 i="1" dirty="0">
                  <a:solidFill>
                    <a:srgbClr val="00B0F0"/>
                  </a:solidFill>
                </a:rPr>
                <a:t>Un </a:t>
              </a:r>
              <a:r>
                <a:rPr lang="es-ES" sz="1200" b="1" i="1" dirty="0" err="1">
                  <a:solidFill>
                    <a:srgbClr val="00B0F0"/>
                  </a:solidFill>
                </a:rPr>
                <a:t>boolean</a:t>
              </a:r>
              <a:r>
                <a:rPr lang="es-ES" sz="1200" i="1" dirty="0">
                  <a:solidFill>
                    <a:srgbClr val="00B0F0"/>
                  </a:solidFill>
                </a:rPr>
                <a:t> ocupa en realidad </a:t>
              </a:r>
              <a:r>
                <a:rPr lang="es-ES" sz="1200" b="1" i="1" dirty="0">
                  <a:solidFill>
                    <a:srgbClr val="00B0F0"/>
                  </a:solidFill>
                </a:rPr>
                <a:t>1 bit.</a:t>
              </a:r>
              <a:endParaRPr lang="en-US" sz="1200" b="1" i="1" dirty="0">
                <a:solidFill>
                  <a:srgbClr val="00B0F0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FD4E0F-3A86-BB03-198E-E8EA78707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Byte array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EF02D8-09FA-2FA8-FC6C-EAE513111B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30ECA4-E200-ECE9-E77B-3813F14291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4530847" cy="4782911"/>
          </a:xfrm>
        </p:spPr>
        <p:txBody>
          <a:bodyPr>
            <a:normAutofit/>
          </a:bodyPr>
          <a:lstStyle/>
          <a:p>
            <a:r>
              <a:rPr lang="es-ES" dirty="0"/>
              <a:t>Arreglo de elementos de tipo </a:t>
            </a:r>
            <a:r>
              <a:rPr lang="es-ES" b="1" dirty="0"/>
              <a:t>byte</a:t>
            </a:r>
            <a:r>
              <a:rPr lang="es-ES" dirty="0"/>
              <a:t>.</a:t>
            </a:r>
          </a:p>
          <a:p>
            <a:r>
              <a:rPr lang="es-ES" dirty="0"/>
              <a:t>Permite trabajar con bloques de datos de cualquier tipo.</a:t>
            </a:r>
          </a:p>
          <a:p>
            <a:r>
              <a:rPr lang="es-ES" dirty="0"/>
              <a:t>Cualquier tipo de dato puede transformarse a un </a:t>
            </a:r>
            <a:r>
              <a:rPr lang="es-ES" u="sng" dirty="0"/>
              <a:t>byte array</a:t>
            </a:r>
            <a:r>
              <a:rPr lang="es-ES" dirty="0"/>
              <a:t> y viceversa.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6EAFEE-D78C-E3CA-4101-1DE8C31A61F7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3821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rgbClr val="A36AAE"/>
                </a:solidFill>
              </a:rPr>
              <a:t>1. Ficheros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371FBBB-A4EE-BFD8-B162-F019F47B5761}"/>
              </a:ext>
            </a:extLst>
          </p:cNvPr>
          <p:cNvGrpSpPr/>
          <p:nvPr/>
        </p:nvGrpSpPr>
        <p:grpSpPr>
          <a:xfrm>
            <a:off x="6278724" y="437671"/>
            <a:ext cx="4676482" cy="2359239"/>
            <a:chOff x="6278724" y="861879"/>
            <a:chExt cx="4676482" cy="2359239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E06F0BA-608E-4946-273D-8E9A6E960051}"/>
                </a:ext>
              </a:extLst>
            </p:cNvPr>
            <p:cNvGrpSpPr/>
            <p:nvPr/>
          </p:nvGrpSpPr>
          <p:grpSpPr>
            <a:xfrm>
              <a:off x="6289020" y="2385188"/>
              <a:ext cx="3597030" cy="835930"/>
              <a:chOff x="6096000" y="4402317"/>
              <a:chExt cx="4462020" cy="1036949"/>
            </a:xfrm>
            <a:solidFill>
              <a:srgbClr val="90FC88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C33E9C7-EE2C-22EE-F34D-61CC90B6E1DE}"/>
                  </a:ext>
                </a:extLst>
              </p:cNvPr>
              <p:cNvSpPr/>
              <p:nvPr/>
            </p:nvSpPr>
            <p:spPr>
              <a:xfrm>
                <a:off x="6096000" y="4402317"/>
                <a:ext cx="1115505" cy="1036949"/>
              </a:xfrm>
              <a:prstGeom prst="rect">
                <a:avLst/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2400" dirty="0">
                    <a:solidFill>
                      <a:schemeClr val="accent6">
                        <a:lumMod val="75000"/>
                      </a:schemeClr>
                    </a:solidFill>
                  </a:rPr>
                  <a:t>25</a:t>
                </a:r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FC6B695-3391-7578-EDBD-3CCE0DC1A25C}"/>
                  </a:ext>
                </a:extLst>
              </p:cNvPr>
              <p:cNvSpPr/>
              <p:nvPr/>
            </p:nvSpPr>
            <p:spPr>
              <a:xfrm>
                <a:off x="7211505" y="4402317"/>
                <a:ext cx="1115505" cy="1036949"/>
              </a:xfrm>
              <a:prstGeom prst="rect">
                <a:avLst/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2400" dirty="0">
                    <a:solidFill>
                      <a:schemeClr val="accent6">
                        <a:lumMod val="75000"/>
                      </a:schemeClr>
                    </a:solidFill>
                  </a:rPr>
                  <a:t>50</a:t>
                </a:r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94D4908-3BAB-1C4D-F958-9B531687582A}"/>
                  </a:ext>
                </a:extLst>
              </p:cNvPr>
              <p:cNvSpPr/>
              <p:nvPr/>
            </p:nvSpPr>
            <p:spPr>
              <a:xfrm>
                <a:off x="8327010" y="4402317"/>
                <a:ext cx="1115505" cy="1036949"/>
              </a:xfrm>
              <a:prstGeom prst="rect">
                <a:avLst/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2400" dirty="0">
                    <a:solidFill>
                      <a:schemeClr val="accent6">
                        <a:lumMod val="75000"/>
                      </a:schemeClr>
                    </a:solidFill>
                  </a:rPr>
                  <a:t>44</a:t>
                </a:r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77C4DED-F288-D79B-1F0C-3DD3560A70A3}"/>
                  </a:ext>
                </a:extLst>
              </p:cNvPr>
              <p:cNvSpPr/>
              <p:nvPr/>
            </p:nvSpPr>
            <p:spPr>
              <a:xfrm>
                <a:off x="9442515" y="4402317"/>
                <a:ext cx="1115505" cy="1036949"/>
              </a:xfrm>
              <a:prstGeom prst="rect">
                <a:avLst/>
              </a:prstGeom>
              <a:grpFill/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2400" dirty="0">
                    <a:solidFill>
                      <a:schemeClr val="accent6">
                        <a:lumMod val="75000"/>
                      </a:schemeClr>
                    </a:solidFill>
                  </a:rPr>
                  <a:t>46</a:t>
                </a:r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6BEFEC3-F9C4-6077-9C90-094C9242883F}"/>
                </a:ext>
              </a:extLst>
            </p:cNvPr>
            <p:cNvGrpSpPr/>
            <p:nvPr/>
          </p:nvGrpSpPr>
          <p:grpSpPr>
            <a:xfrm>
              <a:off x="6278725" y="1183063"/>
              <a:ext cx="3607325" cy="419161"/>
              <a:chOff x="7081100" y="1833514"/>
              <a:chExt cx="3607325" cy="419161"/>
            </a:xfrm>
            <a:solidFill>
              <a:srgbClr val="00B0F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D3320D2-B912-203C-C088-9C0756A4DAAA}"/>
                  </a:ext>
                </a:extLst>
              </p:cNvPr>
              <p:cNvSpPr/>
              <p:nvPr/>
            </p:nvSpPr>
            <p:spPr>
              <a:xfrm>
                <a:off x="7081100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latin typeface="+mj-lt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9D66710-6793-EAF2-44D8-4AAC465059F8}"/>
                  </a:ext>
                </a:extLst>
              </p:cNvPr>
              <p:cNvSpPr/>
              <p:nvPr/>
            </p:nvSpPr>
            <p:spPr>
              <a:xfrm>
                <a:off x="7532016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latin typeface="+mj-lt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8E7B245-3761-C17B-9B0C-16A832D183ED}"/>
                  </a:ext>
                </a:extLst>
              </p:cNvPr>
              <p:cNvSpPr/>
              <p:nvPr/>
            </p:nvSpPr>
            <p:spPr>
              <a:xfrm>
                <a:off x="7982931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latin typeface="+mj-lt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D8A5667-6280-05FF-5750-901CB98A6065}"/>
                  </a:ext>
                </a:extLst>
              </p:cNvPr>
              <p:cNvSpPr/>
              <p:nvPr/>
            </p:nvSpPr>
            <p:spPr>
              <a:xfrm>
                <a:off x="8433847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latin typeface="+mj-lt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D5C719A-573B-2932-C55C-2FC1ACDD6D46}"/>
                  </a:ext>
                </a:extLst>
              </p:cNvPr>
              <p:cNvSpPr/>
              <p:nvPr/>
            </p:nvSpPr>
            <p:spPr>
              <a:xfrm>
                <a:off x="8884762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latin typeface="+mj-lt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E80B526-244A-FDE5-D1F4-A49F436DC3BC}"/>
                  </a:ext>
                </a:extLst>
              </p:cNvPr>
              <p:cNvSpPr/>
              <p:nvPr/>
            </p:nvSpPr>
            <p:spPr>
              <a:xfrm>
                <a:off x="9335678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latin typeface="+mj-lt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39453A3-6A6A-26D4-B022-D9E830ED1FBA}"/>
                  </a:ext>
                </a:extLst>
              </p:cNvPr>
              <p:cNvSpPr/>
              <p:nvPr/>
            </p:nvSpPr>
            <p:spPr>
              <a:xfrm>
                <a:off x="9786593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latin typeface="+mj-lt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1</a:t>
                </a:r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EDF5611-8655-F187-FE02-A6546AF6D6ED}"/>
                  </a:ext>
                </a:extLst>
              </p:cNvPr>
              <p:cNvSpPr/>
              <p:nvPr/>
            </p:nvSpPr>
            <p:spPr>
              <a:xfrm>
                <a:off x="10237509" y="1833514"/>
                <a:ext cx="450916" cy="419161"/>
              </a:xfrm>
              <a:prstGeom prst="rect">
                <a:avLst/>
              </a:prstGeom>
              <a:grpFill/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ES" sz="1800" dirty="0">
                    <a:latin typeface="+mj-lt"/>
                    <a:ea typeface="JetBrains Mono" panose="02000009000000000000" pitchFamily="49" charset="0"/>
                    <a:cs typeface="JetBrains Mono" panose="02000009000000000000" pitchFamily="49" charset="0"/>
                  </a:rPr>
                  <a:t>0</a:t>
                </a:r>
                <a:endParaRPr lang="en-US" sz="1800" dirty="0">
                  <a:latin typeface="+mj-lt"/>
                  <a:ea typeface="JetBrains Mono" panose="02000009000000000000" pitchFamily="49" charset="0"/>
                  <a:cs typeface="JetBrains Mono" panose="02000009000000000000" pitchFamily="49" charset="0"/>
                </a:endParaRPr>
              </a:p>
            </p:txBody>
          </p:sp>
        </p:grpSp>
        <p:sp>
          <p:nvSpPr>
            <p:cNvPr id="24" name="Right Brace 23">
              <a:extLst>
                <a:ext uri="{FF2B5EF4-FFF2-40B4-BE49-F238E27FC236}">
                  <a16:creationId xmlns:a16="http://schemas.microsoft.com/office/drawing/2014/main" id="{474FE2AE-63FA-6B4B-9AD5-949892C09ABE}"/>
                </a:ext>
              </a:extLst>
            </p:cNvPr>
            <p:cNvSpPr/>
            <p:nvPr/>
          </p:nvSpPr>
          <p:spPr>
            <a:xfrm rot="5400000">
              <a:off x="7917184" y="76421"/>
              <a:ext cx="330406" cy="3607325"/>
            </a:xfrm>
            <a:prstGeom prst="rightBrace">
              <a:avLst>
                <a:gd name="adj1" fmla="val 0"/>
                <a:gd name="adj2" fmla="val 64112"/>
              </a:avLst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D20D87-0B3D-446A-ED7F-217074661A14}"/>
                </a:ext>
              </a:extLst>
            </p:cNvPr>
            <p:cNvSpPr txBox="1"/>
            <p:nvPr/>
          </p:nvSpPr>
          <p:spPr>
            <a:xfrm>
              <a:off x="10106302" y="1119740"/>
              <a:ext cx="8489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Byte</a:t>
              </a:r>
              <a:br>
                <a:rPr lang="es-ES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(8 bits)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0314561-514B-D564-ACB0-31D3EB465C22}"/>
                </a:ext>
              </a:extLst>
            </p:cNvPr>
            <p:cNvSpPr txBox="1"/>
            <p:nvPr/>
          </p:nvSpPr>
          <p:spPr>
            <a:xfrm>
              <a:off x="6324846" y="861879"/>
              <a:ext cx="3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00B0F0"/>
                  </a:solidFill>
                </a:rPr>
                <a:t>bit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1608340-1886-7230-DF15-0E28BC660BB1}"/>
                </a:ext>
              </a:extLst>
            </p:cNvPr>
            <p:cNvSpPr txBox="1"/>
            <p:nvPr/>
          </p:nvSpPr>
          <p:spPr>
            <a:xfrm>
              <a:off x="6466505" y="2076086"/>
              <a:ext cx="5228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accent6"/>
                  </a:solidFill>
                </a:rPr>
                <a:t>byte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B1D88FC-69BF-EB3E-29CF-A94F56EA9D2A}"/>
                </a:ext>
              </a:extLst>
            </p:cNvPr>
            <p:cNvSpPr txBox="1"/>
            <p:nvPr/>
          </p:nvSpPr>
          <p:spPr>
            <a:xfrm>
              <a:off x="10123316" y="2512397"/>
              <a:ext cx="6703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>
                      <a:lumMod val="50000"/>
                    </a:schemeClr>
                  </a:solidFill>
                </a:rPr>
                <a:t>Byte array</a:t>
              </a:r>
              <a:endParaRPr 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0D2BECB-9F9A-CA1C-F6B6-33C171F23EF3}"/>
                </a:ext>
              </a:extLst>
            </p:cNvPr>
            <p:cNvSpPr txBox="1"/>
            <p:nvPr/>
          </p:nvSpPr>
          <p:spPr>
            <a:xfrm>
              <a:off x="6780187" y="861879"/>
              <a:ext cx="3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00B0F0"/>
                  </a:solidFill>
                </a:rPr>
                <a:t>bit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72F05AF-10FD-8843-4B4D-DF038A64E0D2}"/>
                </a:ext>
              </a:extLst>
            </p:cNvPr>
            <p:cNvSpPr txBox="1"/>
            <p:nvPr/>
          </p:nvSpPr>
          <p:spPr>
            <a:xfrm>
              <a:off x="7235528" y="861879"/>
              <a:ext cx="3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00B0F0"/>
                  </a:solidFill>
                </a:rPr>
                <a:t>bit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173B966-4678-5AFA-1EA7-54D403712B13}"/>
                </a:ext>
              </a:extLst>
            </p:cNvPr>
            <p:cNvSpPr txBox="1"/>
            <p:nvPr/>
          </p:nvSpPr>
          <p:spPr>
            <a:xfrm>
              <a:off x="7690869" y="861879"/>
              <a:ext cx="3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00B0F0"/>
                  </a:solidFill>
                </a:rPr>
                <a:t>bit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3ACBA92-717D-2DD2-6831-C3DF2A1527F3}"/>
                </a:ext>
              </a:extLst>
            </p:cNvPr>
            <p:cNvSpPr txBox="1"/>
            <p:nvPr/>
          </p:nvSpPr>
          <p:spPr>
            <a:xfrm>
              <a:off x="8146210" y="861879"/>
              <a:ext cx="3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00B0F0"/>
                  </a:solidFill>
                </a:rPr>
                <a:t>bit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36A86C9-58D1-672C-5E7E-1CA87B2E69B1}"/>
                </a:ext>
              </a:extLst>
            </p:cNvPr>
            <p:cNvSpPr txBox="1"/>
            <p:nvPr/>
          </p:nvSpPr>
          <p:spPr>
            <a:xfrm>
              <a:off x="8601551" y="861879"/>
              <a:ext cx="3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00B0F0"/>
                  </a:solidFill>
                </a:rPr>
                <a:t>bit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3A0DD2B-5A39-4A71-D648-B45281F2522D}"/>
                </a:ext>
              </a:extLst>
            </p:cNvPr>
            <p:cNvSpPr txBox="1"/>
            <p:nvPr/>
          </p:nvSpPr>
          <p:spPr>
            <a:xfrm>
              <a:off x="9056892" y="861879"/>
              <a:ext cx="3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00B0F0"/>
                  </a:solidFill>
                </a:rPr>
                <a:t>bit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C49F54E-3F91-0C5E-0046-9B473F805DBA}"/>
                </a:ext>
              </a:extLst>
            </p:cNvPr>
            <p:cNvSpPr txBox="1"/>
            <p:nvPr/>
          </p:nvSpPr>
          <p:spPr>
            <a:xfrm>
              <a:off x="9512230" y="861879"/>
              <a:ext cx="3738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rgbClr val="00B0F0"/>
                  </a:solidFill>
                </a:rPr>
                <a:t>bit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A54374F-F300-D59B-D797-939C13E8DE62}"/>
                </a:ext>
              </a:extLst>
            </p:cNvPr>
            <p:cNvSpPr txBox="1"/>
            <p:nvPr/>
          </p:nvSpPr>
          <p:spPr>
            <a:xfrm>
              <a:off x="7351943" y="2076086"/>
              <a:ext cx="5228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accent6"/>
                  </a:solidFill>
                </a:rPr>
                <a:t>byte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9666B60-D744-8130-7219-C93B3886EC67}"/>
                </a:ext>
              </a:extLst>
            </p:cNvPr>
            <p:cNvSpPr txBox="1"/>
            <p:nvPr/>
          </p:nvSpPr>
          <p:spPr>
            <a:xfrm>
              <a:off x="8237381" y="2076086"/>
              <a:ext cx="5228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accent6"/>
                  </a:solidFill>
                </a:rPr>
                <a:t>byte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9FABD48-175D-2273-CA5E-A0BACAC26336}"/>
                </a:ext>
              </a:extLst>
            </p:cNvPr>
            <p:cNvSpPr txBox="1"/>
            <p:nvPr/>
          </p:nvSpPr>
          <p:spPr>
            <a:xfrm>
              <a:off x="9122820" y="2076086"/>
              <a:ext cx="5228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solidFill>
                    <a:schemeClr val="accent6"/>
                  </a:solidFill>
                </a:rPr>
                <a:t>byte</a:t>
              </a:r>
              <a:endParaRPr lang="en-US" dirty="0">
                <a:solidFill>
                  <a:schemeClr val="accent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4683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19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4145308" cy="1862048"/>
            <a:chOff x="2592475" y="894308"/>
            <a:chExt cx="4145308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3120376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Clases para manejo de flujos: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FileInputStream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y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FileOutputStream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Ficheros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AF21BE1-211A-2AFC-5CE4-EE53A1A88925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Clases File,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FileReader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FileWriter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288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6C5A-EAE7-BF1A-4500-97DC19B2B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File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5D4ACE-173F-F6A3-F4B0-FA826F9DE0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59A53-155B-5F14-233D-7D6BE00B06D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dirty="0"/>
              <a:t>Ofrece una </a:t>
            </a:r>
            <a:r>
              <a:rPr lang="es-ES" b="1" dirty="0"/>
              <a:t>representación</a:t>
            </a:r>
            <a:r>
              <a:rPr lang="es-ES" dirty="0"/>
              <a:t> de la </a:t>
            </a:r>
            <a:r>
              <a:rPr lang="es-ES" b="1" dirty="0"/>
              <a:t>ruta</a:t>
            </a:r>
            <a:r>
              <a:rPr lang="es-ES" dirty="0"/>
              <a:t> (absoluta o relativa) de un </a:t>
            </a:r>
            <a:r>
              <a:rPr lang="es-ES" b="1" dirty="0"/>
              <a:t>archivo</a:t>
            </a:r>
            <a:r>
              <a:rPr lang="es-ES" dirty="0"/>
              <a:t> o </a:t>
            </a:r>
            <a:r>
              <a:rPr lang="es-ES" b="1" dirty="0"/>
              <a:t>carpeta</a:t>
            </a:r>
            <a:r>
              <a:rPr lang="es-ES" dirty="0"/>
              <a:t>.</a:t>
            </a:r>
          </a:p>
          <a:p>
            <a:r>
              <a:rPr lang="es-ES" dirty="0"/>
              <a:t>Contiene métodos para: trabajar con rutas, eliminar y renombrar archivos, crear carpetas, listar el contenido de una carpeta o determinar atributos de archivos y carpetas.</a:t>
            </a:r>
          </a:p>
          <a:p>
            <a:r>
              <a:rPr lang="es-ES" dirty="0"/>
              <a:t>Permite establecer </a:t>
            </a:r>
            <a:r>
              <a:rPr lang="es-ES" u="sng" dirty="0"/>
              <a:t>permisos de acceso</a:t>
            </a:r>
            <a:r>
              <a:rPr lang="es-ES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D48887-98E5-4BAA-BC9B-3EACE8853E8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Clases File,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FileReader</a:t>
            </a:r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FileWriter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46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F560B-F792-954E-9325-F0CD2021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File. Principales métodos.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9DECF9-FEAC-A709-38D7-24BFEC47D5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21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954FD4-625B-BE6B-4F2C-2A3D7E2EDC5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Clases File,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FileReader</a:t>
            </a:r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FileWriter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2E7FBB-058D-71E9-FDF9-1D48C90DDE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281039"/>
              </p:ext>
            </p:extLst>
          </p:nvPr>
        </p:nvGraphicFramePr>
        <p:xfrm>
          <a:off x="1290686" y="1686882"/>
          <a:ext cx="10063114" cy="4301984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{9DCAF9ED-07DC-4A11-8D7F-57B35C25682E}</a:tableStyleId>
              </a:tblPr>
              <a:tblGrid>
                <a:gridCol w="2846273">
                  <a:extLst>
                    <a:ext uri="{9D8B030D-6E8A-4147-A177-3AD203B41FA5}">
                      <a16:colId xmlns:a16="http://schemas.microsoft.com/office/drawing/2014/main" val="153019185"/>
                    </a:ext>
                  </a:extLst>
                </a:gridCol>
                <a:gridCol w="7216841">
                  <a:extLst>
                    <a:ext uri="{9D8B030D-6E8A-4147-A177-3AD203B41FA5}">
                      <a16:colId xmlns:a16="http://schemas.microsoft.com/office/drawing/2014/main" val="3880650266"/>
                    </a:ext>
                  </a:extLst>
                </a:gridCol>
              </a:tblGrid>
              <a:tr h="339612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FFFFFF"/>
                          </a:solidFill>
                          <a:effectLst/>
                        </a:rPr>
                        <a:t>Método​</a:t>
                      </a:r>
                      <a:endParaRPr lang="es-419" sz="13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903" marR="84903" marT="42452" marB="42452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rgbClr val="FFFFFF"/>
                          </a:solidFill>
                          <a:effectLst/>
                        </a:rPr>
                        <a:t>Descripción​</a:t>
                      </a:r>
                      <a:endParaRPr lang="es-419" sz="1300" b="0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4903" marR="84903" marT="42452" marB="42452"/>
                </a:tc>
                <a:extLst>
                  <a:ext uri="{0D108BD9-81ED-4DB2-BD59-A6C34878D82A}">
                    <a16:rowId xmlns:a16="http://schemas.microsoft.com/office/drawing/2014/main" val="3324841828"/>
                  </a:ext>
                </a:extLst>
              </a:tr>
              <a:tr h="339612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Constructor: File(“</a:t>
                      </a:r>
                      <a:r>
                        <a:rPr lang="es-419" sz="17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path</a:t>
                      </a:r>
                      <a:r>
                        <a:rPr lang="es-419" sz="17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”)</a:t>
                      </a:r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300" b="0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4903" marR="84903" marT="42452" marB="42452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Crea un objeto de la clase File a partir de una ruta​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4903" marR="84903" marT="42452" marB="42452"/>
                </a:tc>
                <a:extLst>
                  <a:ext uri="{0D108BD9-81ED-4DB2-BD59-A6C34878D82A}">
                    <a16:rowId xmlns:a16="http://schemas.microsoft.com/office/drawing/2014/main" val="2561538086"/>
                  </a:ext>
                </a:extLst>
              </a:tr>
              <a:tr h="339612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exists()</a:t>
                      </a:r>
                      <a:r>
                        <a:rPr lang="es-419" sz="1700" b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300" b="0" i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4903" marR="84903" marT="42452" marB="42452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700" b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Comprueba si el “path” enviado al constructor existe en el FileSystem​</a:t>
                      </a:r>
                      <a:endParaRPr lang="es-ES" sz="1300" b="0" i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4903" marR="84903" marT="42452" marB="42452"/>
                </a:tc>
                <a:extLst>
                  <a:ext uri="{0D108BD9-81ED-4DB2-BD59-A6C34878D82A}">
                    <a16:rowId xmlns:a16="http://schemas.microsoft.com/office/drawing/2014/main" val="2298122783"/>
                  </a:ext>
                </a:extLst>
              </a:tr>
              <a:tr h="339612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isFile()</a:t>
                      </a:r>
                      <a:r>
                        <a:rPr lang="es-419" sz="1700" b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300" b="0" i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4903" marR="84903" marT="42452" marB="42452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Comprueba si el “</a:t>
                      </a:r>
                      <a:r>
                        <a:rPr lang="es-ES" sz="1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path</a:t>
                      </a:r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” es un archivo​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4903" marR="84903" marT="42452" marB="42452"/>
                </a:tc>
                <a:extLst>
                  <a:ext uri="{0D108BD9-81ED-4DB2-BD59-A6C34878D82A}">
                    <a16:rowId xmlns:a16="http://schemas.microsoft.com/office/drawing/2014/main" val="2612065515"/>
                  </a:ext>
                </a:extLst>
              </a:tr>
              <a:tr h="339612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isDirectory()</a:t>
                      </a:r>
                      <a:r>
                        <a:rPr lang="es-419" sz="1700" b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300" b="0" i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4903" marR="84903" marT="42452" marB="42452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Comprueba si el “</a:t>
                      </a:r>
                      <a:r>
                        <a:rPr lang="es-ES" sz="1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path</a:t>
                      </a:r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” es un directorio​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4903" marR="84903" marT="42452" marB="42452"/>
                </a:tc>
                <a:extLst>
                  <a:ext uri="{0D108BD9-81ED-4DB2-BD59-A6C34878D82A}">
                    <a16:rowId xmlns:a16="http://schemas.microsoft.com/office/drawing/2014/main" val="2496209261"/>
                  </a:ext>
                </a:extLst>
              </a:tr>
              <a:tr h="339612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isAbsolute()</a:t>
                      </a:r>
                      <a:r>
                        <a:rPr lang="es-419" sz="1700" b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300" b="0" i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4903" marR="84903" marT="42452" marB="42452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Comprueba si el “</a:t>
                      </a:r>
                      <a:r>
                        <a:rPr lang="es-ES" sz="1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path</a:t>
                      </a:r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” es una ruta absoluta​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4903" marR="84903" marT="42452" marB="42452"/>
                </a:tc>
                <a:extLst>
                  <a:ext uri="{0D108BD9-81ED-4DB2-BD59-A6C34878D82A}">
                    <a16:rowId xmlns:a16="http://schemas.microsoft.com/office/drawing/2014/main" val="3776946615"/>
                  </a:ext>
                </a:extLst>
              </a:tr>
              <a:tr h="339612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getAbsolutePath()</a:t>
                      </a:r>
                      <a:r>
                        <a:rPr lang="es-419" sz="1700" b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300" b="0" i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4903" marR="84903" marT="42452" marB="42452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un </a:t>
                      </a:r>
                      <a:r>
                        <a:rPr lang="es-419" sz="1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</a:t>
                      </a:r>
                      <a:r>
                        <a:rPr lang="es-419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 con la ruta absoluta del “</a:t>
                      </a:r>
                      <a:r>
                        <a:rPr lang="es-419" sz="1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path</a:t>
                      </a:r>
                      <a:r>
                        <a:rPr lang="es-419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”​</a:t>
                      </a:r>
                      <a:endParaRPr lang="es-419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4903" marR="84903" marT="42452" marB="42452"/>
                </a:tc>
                <a:extLst>
                  <a:ext uri="{0D108BD9-81ED-4DB2-BD59-A6C34878D82A}">
                    <a16:rowId xmlns:a16="http://schemas.microsoft.com/office/drawing/2014/main" val="1626095975"/>
                  </a:ext>
                </a:extLst>
              </a:tr>
              <a:tr h="339612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getName()</a:t>
                      </a:r>
                      <a:r>
                        <a:rPr lang="es-419" sz="1700" b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300" b="0" i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4903" marR="84903" marT="42452" marB="42452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un </a:t>
                      </a:r>
                      <a:r>
                        <a:rPr lang="es-ES" sz="1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</a:t>
                      </a:r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 con el nombre del archivo o directorio​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4903" marR="84903" marT="42452" marB="42452"/>
                </a:tc>
                <a:extLst>
                  <a:ext uri="{0D108BD9-81ED-4DB2-BD59-A6C34878D82A}">
                    <a16:rowId xmlns:a16="http://schemas.microsoft.com/office/drawing/2014/main" val="2983995363"/>
                  </a:ext>
                </a:extLst>
              </a:tr>
              <a:tr h="339612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getParent()</a:t>
                      </a:r>
                      <a:r>
                        <a:rPr lang="es-419" sz="1700" b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300" b="0" i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4903" marR="84903" marT="42452" marB="42452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un </a:t>
                      </a:r>
                      <a:r>
                        <a:rPr lang="es-ES" sz="1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</a:t>
                      </a:r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 con el nombre del directorio padre​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4903" marR="84903" marT="42452" marB="42452"/>
                </a:tc>
                <a:extLst>
                  <a:ext uri="{0D108BD9-81ED-4DB2-BD59-A6C34878D82A}">
                    <a16:rowId xmlns:a16="http://schemas.microsoft.com/office/drawing/2014/main" val="1398432377"/>
                  </a:ext>
                </a:extLst>
              </a:tr>
              <a:tr h="339612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list()</a:t>
                      </a:r>
                      <a:r>
                        <a:rPr lang="es-419" sz="1700" b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300" b="0" i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4903" marR="84903" marT="42452" marB="42452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un array de </a:t>
                      </a:r>
                      <a:r>
                        <a:rPr lang="es-ES" sz="1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String</a:t>
                      </a:r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 con los nombres de los archivos y directorios​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4903" marR="84903" marT="42452" marB="42452"/>
                </a:tc>
                <a:extLst>
                  <a:ext uri="{0D108BD9-81ED-4DB2-BD59-A6C34878D82A}">
                    <a16:rowId xmlns:a16="http://schemas.microsoft.com/office/drawing/2014/main" val="3738988842"/>
                  </a:ext>
                </a:extLst>
              </a:tr>
              <a:tr h="339612">
                <a:tc>
                  <a:txBody>
                    <a:bodyPr/>
                    <a:lstStyle/>
                    <a:p>
                      <a:pPr algn="l" fontAlgn="base"/>
                      <a:r>
                        <a:rPr lang="es-419" sz="1700" b="1" dirty="0" err="1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listFiles</a:t>
                      </a:r>
                      <a:r>
                        <a:rPr lang="es-419" sz="1700" b="1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()</a:t>
                      </a:r>
                      <a:r>
                        <a:rPr lang="es-419" sz="1700" b="0" dirty="0">
                          <a:solidFill>
                            <a:srgbClr val="000000"/>
                          </a:solidFill>
                          <a:effectLst/>
                          <a:latin typeface="JetBrains Mono" panose="02000009000000000000" pitchFamily="49" charset="0"/>
                          <a:ea typeface="JetBrains Mono" panose="02000009000000000000" pitchFamily="49" charset="0"/>
                          <a:cs typeface="JetBrains Mono" panose="02000009000000000000" pitchFamily="49" charset="0"/>
                        </a:rPr>
                        <a:t>​</a:t>
                      </a:r>
                      <a:endParaRPr lang="es-419" sz="1300" b="0" i="0" dirty="0">
                        <a:solidFill>
                          <a:srgbClr val="000000"/>
                        </a:solidFill>
                        <a:effectLst/>
                        <a:latin typeface="JetBrains Mono" panose="02000009000000000000" pitchFamily="49" charset="0"/>
                        <a:ea typeface="JetBrains Mono" panose="02000009000000000000" pitchFamily="49" charset="0"/>
                        <a:cs typeface="JetBrains Mono" panose="02000009000000000000" pitchFamily="49" charset="0"/>
                      </a:endParaRPr>
                    </a:p>
                  </a:txBody>
                  <a:tcPr marL="84903" marR="84903" marT="42452" marB="42452"/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Devuelve un array de File con todos los archivos y directorios del “</a:t>
                      </a:r>
                      <a:r>
                        <a:rPr lang="es-ES" sz="17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path</a:t>
                      </a:r>
                      <a:r>
                        <a:rPr lang="es-ES" sz="17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</a:rPr>
                        <a:t>”​</a:t>
                      </a:r>
                      <a:endParaRPr lang="es-ES" sz="1300" b="0" i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</a:endParaRPr>
                    </a:p>
                  </a:txBody>
                  <a:tcPr marL="84903" marR="84903" marT="42452" marB="42452"/>
                </a:tc>
                <a:extLst>
                  <a:ext uri="{0D108BD9-81ED-4DB2-BD59-A6C34878D82A}">
                    <a16:rowId xmlns:a16="http://schemas.microsoft.com/office/drawing/2014/main" val="4145283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5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CFEC-7007-74CD-9D96-4C26B162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File. Ejemplo 1.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534900-1598-D8BF-D4E7-9ED919B371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22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292D4E-B6DE-E334-24BF-1B0AF3211531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Clases File,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FileReader</a:t>
            </a:r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FileWriter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8E2318-DE1F-85EF-C494-A2BA5929415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30430" y="1580888"/>
            <a:ext cx="6590124" cy="4847749"/>
          </a:xfrm>
          <a:prstGeom prst="roundRect">
            <a:avLst>
              <a:gd name="adj" fmla="val 145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temporary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phrase.txt"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"Name: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.getName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"Path: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.getPath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"Absolute path: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.getAbsolutePath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"Parent: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.getParent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"Exists: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.exists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.exists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"Is writable: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.canWrite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"Is readable: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.canRead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"Is a directory: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.isDirectory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"Is a file: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.isFile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"File size (bytes): 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3109E-4942-18CF-A20B-2D0CEACD8155}"/>
              </a:ext>
            </a:extLst>
          </p:cNvPr>
          <p:cNvSpPr txBox="1"/>
          <p:nvPr/>
        </p:nvSpPr>
        <p:spPr>
          <a:xfrm>
            <a:off x="7984497" y="3616517"/>
            <a:ext cx="3854002" cy="2039243"/>
          </a:xfrm>
          <a:prstGeom prst="roundRect">
            <a:avLst>
              <a:gd name="adj" fmla="val 392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Name: phrase.txt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Path: d:\temporary\phrase.txt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Absolute path: d:\temporary\phrase.txt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Parent: d:\temporary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Exists: true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 writable: true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 readable: true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 a directory: false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Is a file: true</a:t>
            </a:r>
          </a:p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 size (bytes): 128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B59F9-D503-7AFD-6379-5E2F2339E8B7}"/>
              </a:ext>
            </a:extLst>
          </p:cNvPr>
          <p:cNvSpPr txBox="1"/>
          <p:nvPr/>
        </p:nvSpPr>
        <p:spPr>
          <a:xfrm>
            <a:off x="7984497" y="3264349"/>
            <a:ext cx="7328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Salida: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F614FB-D90E-9A9A-2BE5-8FABD5151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503" y="483203"/>
            <a:ext cx="2434472" cy="2434472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BBB56C-09BB-B85F-D0ED-62B22FFB9DE6}"/>
              </a:ext>
            </a:extLst>
          </p:cNvPr>
          <p:cNvSpPr txBox="1"/>
          <p:nvPr/>
        </p:nvSpPr>
        <p:spPr>
          <a:xfrm>
            <a:off x="747075" y="6544579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https://cdn3d.iconscout.com/3d/premium/thumb/txt-file-5544167-4626722.png</a:t>
            </a:r>
          </a:p>
        </p:txBody>
      </p:sp>
    </p:spTree>
    <p:extLst>
      <p:ext uri="{BB962C8B-B14F-4D97-AF65-F5344CB8AC3E}">
        <p14:creationId xmlns:p14="http://schemas.microsoft.com/office/powerpoint/2010/main" val="157524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E4D1D-95A4-0179-50CC-5350590DA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File. Ejemplo 2.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900AD2-43D6-BA04-5DD9-28C16579ED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23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2C749A-ACFA-11E0-957F-45859CA6F681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Clases File,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FileReader</a:t>
            </a:r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FileWriter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F338433-F31F-874B-5655-D7D43B36391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203649" y="1454409"/>
            <a:ext cx="8081753" cy="4987588"/>
          </a:xfrm>
          <a:prstGeom prst="roundRect">
            <a:avLst>
              <a:gd name="adj" fmla="val 2723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Inconsolata" panose="000005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Inconsolata" panose="000005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Inconsolata" panose="00000509000000000000" pitchFamily="49" charset="0"/>
              </a:rPr>
              <a:t>throws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IOException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BufferedReader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bReader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Inconsolata" panose="000005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BufferedReader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Inconsolata" panose="000005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InputStreamReader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Inconsolata" panose="00000509000000000000" pitchFamily="49" charset="0"/>
              </a:rPr>
              <a:t>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Inconsolata" panose="000005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Inconsolata" panose="00000509000000000000" pitchFamily="49" charset="0"/>
              </a:rPr>
              <a:t>"Enter the path of any directory: 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directoryPath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bReader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.readLine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File directory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Inconsolata" panose="000005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File(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directoryPath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)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Inconsolata" panose="000005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directory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.isDirectory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() &amp;&amp;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directory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.exists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())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[]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elements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directory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.list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Inconsolata" panose="00000509000000000000" pitchFamily="49" charset="0"/>
              </a:rPr>
              <a:t>if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elements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!=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Inconsolata" panose="00000509000000000000" pitchFamily="49" charset="0"/>
              </a:rPr>
              <a:t>null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&amp;&amp;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elements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Inconsolata" panose="00000509000000000000" pitchFamily="49" charset="0"/>
              </a:rPr>
              <a:t>length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Inconsolata" panose="000005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&gt;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Inconsolata" panose="00000509000000000000" pitchFamily="49" charset="0"/>
              </a:rPr>
              <a:t>0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Inconsolata" panose="00000509000000000000" pitchFamily="49" charset="0"/>
              </a:rPr>
              <a:t>for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String element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elements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File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fElement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Inconsolata" panose="000005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File(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directoryPath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Inconsolata" panose="000005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Inconsolata" panose="00000509000000000000" pitchFamily="49" charset="0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Inconsolata" panose="00000509000000000000" pitchFamily="49" charset="0"/>
              </a:rPr>
              <a:t>'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element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Inconsolata" panose="000005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.printf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Inconsolata" panose="00000509000000000000" pitchFamily="49" charset="0"/>
              </a:rPr>
              <a:t>"%-10s : %s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Inconsolata" panose="00000509000000000000" pitchFamily="49" charset="0"/>
              </a:rPr>
              <a:t>\n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Inconsolata" panose="00000509000000000000" pitchFamily="49" charset="0"/>
              </a:rPr>
              <a:t>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fElement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.isFile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() ?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Inconsolata" panose="00000509000000000000" pitchFamily="49" charset="0"/>
              </a:rPr>
              <a:t>"File"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: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Inconsolata" panose="00000509000000000000" pitchFamily="49" charset="0"/>
              </a:rPr>
              <a:t>"Directory"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element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    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    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Inconsolata" panose="00000509000000000000" pitchFamily="49" charset="0"/>
              </a:rPr>
              <a:t>else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Inconsolata" panose="000005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Inconsolata" panose="00000509000000000000" pitchFamily="49" charset="0"/>
              </a:rPr>
              <a:t>"Directory is empty."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Inconsolata" panose="00000509000000000000" pitchFamily="49" charset="0"/>
              </a:rPr>
              <a:t>else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Inconsolata" panose="000005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Inconsolata" panose="000005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Inconsolata" panose="00000509000000000000" pitchFamily="49" charset="0"/>
              </a:rPr>
              <a:t>"Invalid directory path."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Inconsolata" panose="000005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consolata" panose="00000509000000000000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47731-38E1-CC89-0A1B-DD464EC30F67}"/>
              </a:ext>
            </a:extLst>
          </p:cNvPr>
          <p:cNvSpPr txBox="1"/>
          <p:nvPr/>
        </p:nvSpPr>
        <p:spPr>
          <a:xfrm>
            <a:off x="9633641" y="3684761"/>
            <a:ext cx="18387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>
                <a:solidFill>
                  <a:schemeClr val="bg1">
                    <a:lumMod val="50000"/>
                  </a:schemeClr>
                </a:solidFill>
              </a:rPr>
              <a:t>El c</a:t>
            </a:r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ó</a:t>
            </a:r>
            <a:r>
              <a:rPr lang="es-PE" dirty="0">
                <a:solidFill>
                  <a:schemeClr val="bg1">
                    <a:lumMod val="50000"/>
                  </a:schemeClr>
                </a:solidFill>
              </a:rPr>
              <a:t>digo mostrado solicita la ruta de una carpeta y lista su contenido.</a:t>
            </a:r>
          </a:p>
          <a:p>
            <a:endParaRPr lang="es-PE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s-PE" dirty="0">
                <a:solidFill>
                  <a:schemeClr val="bg1">
                    <a:lumMod val="50000"/>
                  </a:schemeClr>
                </a:solidFill>
              </a:rPr>
              <a:t>Se valida si la ruta es válida y si el directorio está vacío.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948C18-95C0-E784-3589-B9EAC6E52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9247" y="722041"/>
            <a:ext cx="2040353" cy="2031325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45889E-74F7-9134-C22B-DD9438B27409}"/>
              </a:ext>
            </a:extLst>
          </p:cNvPr>
          <p:cNvSpPr txBox="1"/>
          <p:nvPr/>
        </p:nvSpPr>
        <p:spPr>
          <a:xfrm>
            <a:off x="737649" y="6537318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https://cdn3d.iconscout.com/3d/premium/thumb/folder-3473217-2910798@0.png</a:t>
            </a:r>
          </a:p>
        </p:txBody>
      </p:sp>
    </p:spTree>
    <p:extLst>
      <p:ext uri="{BB962C8B-B14F-4D97-AF65-F5344CB8AC3E}">
        <p14:creationId xmlns:p14="http://schemas.microsoft.com/office/powerpoint/2010/main" val="381787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04FC3E-B3E5-538D-B918-4126253C8CF5}"/>
              </a:ext>
            </a:extLst>
          </p:cNvPr>
          <p:cNvSpPr/>
          <p:nvPr/>
        </p:nvSpPr>
        <p:spPr>
          <a:xfrm>
            <a:off x="1376313" y="3685880"/>
            <a:ext cx="9612038" cy="2601798"/>
          </a:xfrm>
          <a:prstGeom prst="rect">
            <a:avLst/>
          </a:prstGeom>
          <a:solidFill>
            <a:srgbClr val="D9F5FF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C473D-BA42-E524-2B90-6FC2B1D6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Clases </a:t>
            </a:r>
            <a:r>
              <a:rPr lang="es-ES" dirty="0" err="1"/>
              <a:t>FileReader</a:t>
            </a:r>
            <a:r>
              <a:rPr lang="es-ES" dirty="0"/>
              <a:t> y </a:t>
            </a:r>
            <a:r>
              <a:rPr lang="es-ES" dirty="0" err="1"/>
              <a:t>FileWriter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6CA37F-92B8-C59B-1373-A79E954C3F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24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6C984-5D7A-4110-5E8E-0344927A0E1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b="1" dirty="0" err="1"/>
              <a:t>FileReader</a:t>
            </a:r>
            <a:r>
              <a:rPr lang="es-ES" dirty="0"/>
              <a:t> y </a:t>
            </a:r>
            <a:r>
              <a:rPr lang="es-ES" b="1" dirty="0" err="1"/>
              <a:t>FileWriter</a:t>
            </a:r>
            <a:r>
              <a:rPr lang="es-ES" dirty="0"/>
              <a:t> trabajan sobre archivos basados en caracteres.</a:t>
            </a:r>
          </a:p>
          <a:p>
            <a:r>
              <a:rPr lang="es-ES" dirty="0"/>
              <a:t>Es decir, operan sobre caracteres </a:t>
            </a:r>
            <a:r>
              <a:rPr lang="es-ES" b="1" dirty="0"/>
              <a:t>Unicode</a:t>
            </a:r>
            <a:r>
              <a:rPr lang="es-ES" dirty="0"/>
              <a:t> directamente.</a:t>
            </a:r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C7AEE-53F4-E88F-F89D-658D7E10CF52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Clases File,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FileReader</a:t>
            </a:r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FileWriter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C2A792-F22A-B340-860C-2E14FA125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450" y="4120590"/>
            <a:ext cx="1288762" cy="15193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BFC5FC-D2B1-CBBD-F43C-53F69FAB2EFA}"/>
              </a:ext>
            </a:extLst>
          </p:cNvPr>
          <p:cNvSpPr txBox="1"/>
          <p:nvPr/>
        </p:nvSpPr>
        <p:spPr>
          <a:xfrm>
            <a:off x="3648637" y="4108542"/>
            <a:ext cx="446784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Unicode (Universal </a:t>
            </a:r>
            <a:r>
              <a:rPr lang="es-ES" sz="1200" dirty="0" err="1">
                <a:solidFill>
                  <a:schemeClr val="bg1">
                    <a:lumMod val="50000"/>
                  </a:schemeClr>
                </a:solidFill>
              </a:rPr>
              <a:t>Coded</a:t>
            </a:r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1200" dirty="0" err="1">
                <a:solidFill>
                  <a:schemeClr val="bg1">
                    <a:lumMod val="50000"/>
                  </a:schemeClr>
                </a:solidFill>
              </a:rPr>
              <a:t>Character</a:t>
            </a:r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 Set, UCS. ISO/IEC 10646) es un estándar para la codificación, representación y manejo de texto de la mayoría de sistemas de escritura.</a:t>
            </a:r>
          </a:p>
          <a:p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Mantenido por el Consorcio Unicode, en su versión actual, 15.0, define 149186 caracteres incluyendo texto histórico, símbolos, emojis y códigos no visuales y de formato.</a:t>
            </a:r>
          </a:p>
          <a:p>
            <a:r>
              <a:rPr lang="es-ES" sz="1200" dirty="0">
                <a:solidFill>
                  <a:schemeClr val="bg1">
                    <a:lumMod val="50000"/>
                  </a:schemeClr>
                </a:solidFill>
              </a:rPr>
              <a:t>Las codificaciones más utilizadas son ASCII, UTF-8 y UTF-16</a:t>
            </a:r>
            <a:endParaRPr 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98A63F-8B07-3047-31C0-B8D29593D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170" y="4152845"/>
            <a:ext cx="2166938" cy="145487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71F00F-564F-462A-79C0-2536B03FCDF3}"/>
              </a:ext>
            </a:extLst>
          </p:cNvPr>
          <p:cNvSpPr txBox="1"/>
          <p:nvPr/>
        </p:nvSpPr>
        <p:spPr>
          <a:xfrm>
            <a:off x="3648637" y="563147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https://home.unicode.org/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587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D4BDB-A2E4-351A-F2B2-E569F6F1B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</a:t>
            </a:r>
            <a:r>
              <a:rPr lang="es-ES" dirty="0" err="1"/>
              <a:t>FileWriter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6DB68D-6E3A-732F-2568-9583F1D797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3F56D-2736-7D77-96B8-1667AA96B8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10150151" cy="4782911"/>
          </a:xfrm>
        </p:spPr>
        <p:txBody>
          <a:bodyPr>
            <a:normAutofit lnSpcReduction="10000"/>
          </a:bodyPr>
          <a:lstStyle/>
          <a:p>
            <a:r>
              <a:rPr lang="es-ES" b="1" dirty="0" err="1"/>
              <a:t>FileWriter</a:t>
            </a:r>
            <a:r>
              <a:rPr lang="es-ES" dirty="0"/>
              <a:t> crea un </a:t>
            </a:r>
            <a:r>
              <a:rPr lang="es-ES" b="1" dirty="0" err="1">
                <a:solidFill>
                  <a:srgbClr val="00B0F0"/>
                </a:solidFill>
              </a:rPr>
              <a:t>Writer</a:t>
            </a:r>
            <a:r>
              <a:rPr lang="es-ES" b="1" dirty="0"/>
              <a:t>*</a:t>
            </a:r>
            <a:r>
              <a:rPr lang="es-ES" dirty="0"/>
              <a:t> que puede utilizarse para escribir en un archivo de texto.</a:t>
            </a:r>
          </a:p>
          <a:p>
            <a:r>
              <a:rPr lang="es-ES" dirty="0"/>
              <a:t>Al crear una instancia de </a:t>
            </a:r>
            <a:r>
              <a:rPr lang="es-ES" b="1" dirty="0" err="1"/>
              <a:t>FileWriter</a:t>
            </a:r>
            <a:r>
              <a:rPr lang="es-ES" dirty="0"/>
              <a:t> debemos proveer la ruta y nombre del archivo.</a:t>
            </a:r>
          </a:p>
          <a:p>
            <a:r>
              <a:rPr lang="es-ES" dirty="0"/>
              <a:t>Puede ser usado en combinación con </a:t>
            </a:r>
            <a:r>
              <a:rPr lang="es-ES" b="1" dirty="0" err="1">
                <a:solidFill>
                  <a:schemeClr val="accent2"/>
                </a:solidFill>
              </a:rPr>
              <a:t>BufferedWriter</a:t>
            </a:r>
            <a:r>
              <a:rPr lang="es-ES" dirty="0"/>
              <a:t> para guardar texto en buffers hacia un </a:t>
            </a:r>
            <a:r>
              <a:rPr lang="es-ES" b="1" dirty="0" err="1"/>
              <a:t>Character</a:t>
            </a:r>
            <a:r>
              <a:rPr lang="es-ES" b="1" dirty="0"/>
              <a:t> </a:t>
            </a:r>
            <a:r>
              <a:rPr lang="es-ES" b="1" dirty="0" err="1"/>
              <a:t>Stream</a:t>
            </a:r>
            <a:r>
              <a:rPr lang="es-ES" dirty="0"/>
              <a:t>.</a:t>
            </a:r>
          </a:p>
          <a:p>
            <a:r>
              <a:rPr lang="es-ES" dirty="0"/>
              <a:t>Para agregar contenido a un archivo existente utilice la sobrecarga que incluya el parámetro </a:t>
            </a:r>
            <a:r>
              <a:rPr lang="es-ES" b="1" dirty="0" err="1">
                <a:solidFill>
                  <a:schemeClr val="accent2"/>
                </a:solidFill>
              </a:rPr>
              <a:t>append</a:t>
            </a:r>
            <a:r>
              <a:rPr lang="es-ES" dirty="0"/>
              <a:t>.</a:t>
            </a:r>
          </a:p>
          <a:p>
            <a:r>
              <a:rPr lang="es-ES" dirty="0"/>
              <a:t>Ante una falla, </a:t>
            </a:r>
            <a:r>
              <a:rPr lang="es-ES" b="1" dirty="0" err="1"/>
              <a:t>FileWriter</a:t>
            </a:r>
            <a:r>
              <a:rPr lang="es-ES" dirty="0"/>
              <a:t> lanza una excepción </a:t>
            </a:r>
            <a:r>
              <a:rPr lang="es-ES" b="1" dirty="0" err="1">
                <a:solidFill>
                  <a:srgbClr val="C00000"/>
                </a:solidFill>
              </a:rPr>
              <a:t>IOException</a:t>
            </a:r>
            <a:r>
              <a:rPr lang="es-ES" dirty="0"/>
              <a:t>.</a:t>
            </a:r>
            <a:endParaRPr lang="en-US" dirty="0"/>
          </a:p>
          <a:p>
            <a:pPr marL="5080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521747-F58B-21DC-0E86-FBAA57A85269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Clases File,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FileReader</a:t>
            </a:r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FileWriter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0ACC00-A285-0DB8-037E-F5741E94506E}"/>
              </a:ext>
            </a:extLst>
          </p:cNvPr>
          <p:cNvSpPr txBox="1"/>
          <p:nvPr/>
        </p:nvSpPr>
        <p:spPr>
          <a:xfrm>
            <a:off x="838200" y="6332393"/>
            <a:ext cx="5144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* Clase que define un flujo de salida de caracteres.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43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F6777396-891D-54F5-D8A7-F11428450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649" y="1519780"/>
            <a:ext cx="7179594" cy="4669009"/>
          </a:xfrm>
          <a:prstGeom prst="roundRect">
            <a:avLst>
              <a:gd name="adj" fmla="val 2736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getSong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crea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una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instancia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de Song con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datos</a:t>
            </a:r>
            <a:b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myFavoriteSong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getSong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FileWriter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writer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200" dirty="0">
                <a:solidFill>
                  <a:srgbClr val="080808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FileWriter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What a Wonderful World - Lyrics.txt"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writer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.write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myFavoriteSong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.getTitle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writer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.write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myFavoriteSong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.getSinger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+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writer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.write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+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myFavoriteSong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.getLyrics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writer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.close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IOException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ex.getMessage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88A0D4-8FCA-0F6C-3275-70AC2B16AC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039"/>
          <a:stretch/>
        </p:blipFill>
        <p:spPr>
          <a:xfrm>
            <a:off x="7105072" y="4346746"/>
            <a:ext cx="4534572" cy="232904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3EDECF-B1AA-217B-CA3A-3DC96FE4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</a:t>
            </a:r>
            <a:r>
              <a:rPr lang="es-ES" dirty="0" err="1"/>
              <a:t>FileWriter</a:t>
            </a:r>
            <a:r>
              <a:rPr lang="es-ES" dirty="0"/>
              <a:t>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02D07C-4E51-0717-331D-CBCD0FFE75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26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1CD2F8-FB29-6798-99C7-7D736AD2CCB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Clases File,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FileReader</a:t>
            </a:r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FileWriter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F5A0909-E424-620D-1B1F-3140E9CBD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0842" y="659410"/>
            <a:ext cx="2878802" cy="3382947"/>
          </a:xfrm>
          <a:prstGeom prst="roundRect">
            <a:avLst>
              <a:gd name="adj" fmla="val 3896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Song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title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singer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private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lyrics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Song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[Getters &amp; Setters]</a:t>
            </a:r>
            <a:b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b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9B64BD-E6B7-5346-4345-C8A7B5C2F342}"/>
              </a:ext>
            </a:extLst>
          </p:cNvPr>
          <p:cNvSpPr txBox="1"/>
          <p:nvPr/>
        </p:nvSpPr>
        <p:spPr>
          <a:xfrm>
            <a:off x="1203649" y="6339289"/>
            <a:ext cx="48923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i="1" dirty="0">
                <a:solidFill>
                  <a:srgbClr val="00B0F0"/>
                </a:solidFill>
              </a:rPr>
              <a:t>Nota: </a:t>
            </a:r>
            <a:r>
              <a:rPr lang="es-ES" sz="1200" b="1" i="1" dirty="0" err="1">
                <a:solidFill>
                  <a:srgbClr val="00B0F0"/>
                </a:solidFill>
              </a:rPr>
              <a:t>FileWriter</a:t>
            </a:r>
            <a:r>
              <a:rPr lang="es-ES" sz="1200" i="1" dirty="0">
                <a:solidFill>
                  <a:srgbClr val="00B0F0"/>
                </a:solidFill>
              </a:rPr>
              <a:t> sobrescribe el contenido del archivo, si existe.</a:t>
            </a:r>
          </a:p>
        </p:txBody>
      </p:sp>
    </p:spTree>
    <p:extLst>
      <p:ext uri="{BB962C8B-B14F-4D97-AF65-F5344CB8AC3E}">
        <p14:creationId xmlns:p14="http://schemas.microsoft.com/office/powerpoint/2010/main" val="221363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FD7D-E61B-A0B7-15DC-E2A31F46D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</a:t>
            </a:r>
            <a:r>
              <a:rPr lang="es-ES" dirty="0" err="1"/>
              <a:t>FileReader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10AA41-5B87-5C54-DADE-0264F88244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D289E-0E0A-01B5-EA17-B191CF46F4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ES" b="1" dirty="0" err="1"/>
              <a:t>FileReader</a:t>
            </a:r>
            <a:r>
              <a:rPr lang="es-ES" dirty="0"/>
              <a:t> crea un </a:t>
            </a:r>
            <a:r>
              <a:rPr lang="es-ES" b="1" dirty="0">
                <a:solidFill>
                  <a:srgbClr val="00B0F0"/>
                </a:solidFill>
              </a:rPr>
              <a:t>Reader</a:t>
            </a:r>
            <a:r>
              <a:rPr lang="es-ES" b="1" dirty="0"/>
              <a:t>*</a:t>
            </a:r>
            <a:r>
              <a:rPr lang="es-ES" dirty="0"/>
              <a:t> usado para leer el contenido de un archivo de texto.</a:t>
            </a:r>
          </a:p>
          <a:p>
            <a:r>
              <a:rPr lang="es-ES" dirty="0"/>
              <a:t>Al crear una instancia de </a:t>
            </a:r>
            <a:r>
              <a:rPr lang="es-ES" b="1" dirty="0" err="1"/>
              <a:t>FileReader</a:t>
            </a:r>
            <a:r>
              <a:rPr lang="es-ES" dirty="0"/>
              <a:t> debemos proveer la ruta y nombre del archivo.</a:t>
            </a:r>
          </a:p>
          <a:p>
            <a:r>
              <a:rPr lang="es-ES" dirty="0"/>
              <a:t>Podemos combinar su uso con </a:t>
            </a:r>
            <a:r>
              <a:rPr lang="es-ES" b="1" dirty="0" err="1">
                <a:solidFill>
                  <a:schemeClr val="accent2"/>
                </a:solidFill>
              </a:rPr>
              <a:t>BufferedReader</a:t>
            </a:r>
            <a:r>
              <a:rPr lang="es-ES" dirty="0"/>
              <a:t> para leer desde un </a:t>
            </a:r>
            <a:r>
              <a:rPr lang="es-ES" b="1" dirty="0" err="1"/>
              <a:t>Character</a:t>
            </a:r>
            <a:r>
              <a:rPr lang="es-ES" b="1" dirty="0"/>
              <a:t> </a:t>
            </a:r>
            <a:r>
              <a:rPr lang="es-ES" b="1" dirty="0" err="1"/>
              <a:t>Stream</a:t>
            </a:r>
            <a:r>
              <a:rPr lang="es-ES" dirty="0"/>
              <a:t>.</a:t>
            </a:r>
          </a:p>
          <a:p>
            <a:r>
              <a:rPr lang="es-ES" dirty="0"/>
              <a:t>Se lanza una excepción </a:t>
            </a:r>
            <a:r>
              <a:rPr lang="es-ES" b="1" dirty="0" err="1">
                <a:solidFill>
                  <a:srgbClr val="C00000"/>
                </a:solidFill>
              </a:rPr>
              <a:t>FileNotFoundException</a:t>
            </a:r>
            <a:r>
              <a:rPr lang="es-ES" dirty="0"/>
              <a:t> si el archivo no existe.</a:t>
            </a:r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EF4B4B-C30E-2D47-E568-2C07FD738FFB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Clases File,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FileReader</a:t>
            </a:r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FileWriter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076FF3-2D6F-B951-6969-9C3B4FF3C135}"/>
              </a:ext>
            </a:extLst>
          </p:cNvPr>
          <p:cNvSpPr txBox="1"/>
          <p:nvPr/>
        </p:nvSpPr>
        <p:spPr>
          <a:xfrm>
            <a:off x="838200" y="6332393"/>
            <a:ext cx="51446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* Clase que define un flujo de entrada de caracteres.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14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8F56D-1FE3-6273-3F4B-6445C694D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</a:t>
            </a:r>
            <a:r>
              <a:rPr lang="es-ES" dirty="0" err="1"/>
              <a:t>FileReader</a:t>
            </a:r>
            <a:r>
              <a:rPr lang="es-ES" dirty="0"/>
              <a:t>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2AAAE6-94E6-D7EE-B1C6-0B2DE16502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28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256760-4B6E-0D3B-7C3B-A24151E21FAA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7793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Clases File,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FileReader</a:t>
            </a:r>
            <a:r>
              <a:rPr lang="es-E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s-E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FileWriter</a:t>
            </a:r>
            <a:endParaRPr lang="es-E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54AF09F-2550-1A7F-0D54-4A9A8E72E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200" y="1821201"/>
            <a:ext cx="6413935" cy="3142168"/>
          </a:xfrm>
          <a:prstGeom prst="roundRect">
            <a:avLst>
              <a:gd name="adj" fmla="val 3992"/>
            </a:avLst>
          </a:prstGeom>
          <a:solidFill>
            <a:srgbClr val="1E1F2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line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BufferedReader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reader =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BufferedReader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FileReader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temporary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6A8759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Woman - Lyrics.txt"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)))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((line =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reader.readLine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 !=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null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(line)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IOException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ex) 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ex.getMessage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A05591-54B0-2DCC-08FF-B3A0E9190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996" y="4443305"/>
            <a:ext cx="4636825" cy="18227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B2B44B-5879-2C92-43C9-E7245BFD0E6D}"/>
              </a:ext>
            </a:extLst>
          </p:cNvPr>
          <p:cNvSpPr txBox="1"/>
          <p:nvPr/>
        </p:nvSpPr>
        <p:spPr>
          <a:xfrm>
            <a:off x="8186382" y="1934325"/>
            <a:ext cx="337243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Gracias al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uso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combinado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de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BufferedReader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y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FileReader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se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puede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utilizar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el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método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readLine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()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, que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permite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leer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una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línea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entera,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en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lugar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de leer un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caracter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por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</a:rPr>
              <a:t>iteración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0106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29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Ficheros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Clases File,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FileReader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FileWriter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AF21BE1-211A-2AFC-5CE4-EE53A1A88925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4145308" cy="1862048"/>
            <a:chOff x="2592475" y="894308"/>
            <a:chExt cx="4145308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3120376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Clases para manejo de flujos: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FileInputStream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y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FileOutputStream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550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3594F07-3457-DBA6-64D3-474477B9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</a:t>
            </a:r>
            <a:r>
              <a:rPr lang="es-ES" dirty="0" err="1"/>
              <a:t>FileOutputStream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B710EC-BC36-B283-B8DA-5A1F5E22E5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30</a:t>
            </a:fld>
            <a:endParaRPr lang="es-PE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C911712-CFE6-7C21-3397-9194137D4BB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s-ES" dirty="0"/>
              <a:t>Permite crear y escribir un </a:t>
            </a:r>
            <a:r>
              <a:rPr lang="es-ES" u="sng" dirty="0"/>
              <a:t>flujo de bytes</a:t>
            </a:r>
            <a:r>
              <a:rPr lang="es-ES" dirty="0"/>
              <a:t> en un archivo.</a:t>
            </a:r>
          </a:p>
          <a:p>
            <a:pPr>
              <a:lnSpc>
                <a:spcPct val="110000"/>
              </a:lnSpc>
            </a:pPr>
            <a:r>
              <a:rPr lang="es-ES" dirty="0"/>
              <a:t>Al crear una instancia de </a:t>
            </a:r>
            <a:r>
              <a:rPr lang="es-ES" b="1" dirty="0" err="1"/>
              <a:t>FileOutputStream</a:t>
            </a:r>
            <a:r>
              <a:rPr lang="es-ES" dirty="0"/>
              <a:t> debemos proveer la ruta y nombre del archivo.</a:t>
            </a:r>
          </a:p>
          <a:p>
            <a:pPr>
              <a:lnSpc>
                <a:spcPct val="110000"/>
              </a:lnSpc>
            </a:pPr>
            <a:r>
              <a:rPr lang="es-ES" dirty="0"/>
              <a:t>Use el método </a:t>
            </a:r>
            <a:r>
              <a:rPr lang="es-ES" b="1" dirty="0" err="1"/>
              <a:t>write</a:t>
            </a:r>
            <a:r>
              <a:rPr lang="es-ES" b="1" dirty="0"/>
              <a:t>()</a:t>
            </a:r>
            <a:r>
              <a:rPr lang="es-ES" dirty="0"/>
              <a:t> para escribir en el archivo y </a:t>
            </a:r>
            <a:r>
              <a:rPr lang="es-ES" b="1" dirty="0" err="1"/>
              <a:t>append</a:t>
            </a:r>
            <a:r>
              <a:rPr lang="es-ES" b="1" dirty="0"/>
              <a:t>()</a:t>
            </a:r>
            <a:r>
              <a:rPr lang="es-ES" dirty="0"/>
              <a:t> para agregar contenido a un archivo existente.</a:t>
            </a:r>
          </a:p>
          <a:p>
            <a:pPr>
              <a:lnSpc>
                <a:spcPct val="110000"/>
              </a:lnSpc>
            </a:pPr>
            <a:r>
              <a:rPr lang="en-US" dirty="0"/>
              <a:t>Si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archivo</a:t>
            </a:r>
            <a:r>
              <a:rPr lang="en-US" dirty="0"/>
              <a:t> no </a:t>
            </a:r>
            <a:r>
              <a:rPr lang="en-US" dirty="0" err="1"/>
              <a:t>puede</a:t>
            </a:r>
            <a:r>
              <a:rPr lang="en-US" dirty="0"/>
              <a:t> ser </a:t>
            </a:r>
            <a:r>
              <a:rPr lang="en-US" dirty="0" err="1"/>
              <a:t>creado</a:t>
            </a:r>
            <a:r>
              <a:rPr lang="en-US" dirty="0"/>
              <a:t> se </a:t>
            </a:r>
            <a:r>
              <a:rPr lang="en-US" dirty="0" err="1"/>
              <a:t>lanza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excepción</a:t>
            </a:r>
            <a:r>
              <a:rPr lang="en-US" dirty="0"/>
              <a:t> </a:t>
            </a:r>
            <a:r>
              <a:rPr lang="en-US" b="1" dirty="0" err="1"/>
              <a:t>FileNotFoundException</a:t>
            </a:r>
            <a:r>
              <a:rPr lang="en-US" dirty="0"/>
              <a:t> y</a:t>
            </a:r>
            <a:r>
              <a:rPr lang="es-ES" dirty="0"/>
              <a:t> si ocurre un error durante la escritura, se lanza </a:t>
            </a:r>
            <a:r>
              <a:rPr lang="es-ES" b="1" dirty="0" err="1"/>
              <a:t>IOException</a:t>
            </a:r>
            <a:r>
              <a:rPr lang="es-ES" dirty="0"/>
              <a:t>.</a:t>
            </a:r>
          </a:p>
          <a:p>
            <a:pPr>
              <a:lnSpc>
                <a:spcPct val="110000"/>
              </a:lnSpc>
            </a:pPr>
            <a:r>
              <a:rPr lang="es-ES" dirty="0"/>
              <a:t>Puede usarse en combinación con </a:t>
            </a:r>
            <a:r>
              <a:rPr lang="es-ES" b="1" dirty="0" err="1"/>
              <a:t>BufferedOutputStream</a:t>
            </a:r>
            <a:r>
              <a:rPr lang="es-ES" dirty="0"/>
              <a:t> para guardar bytes en buffers.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C3B69-EB82-9C46-615A-FAA2B7756635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FileInputStream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y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FileOutputStream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8F1A9A-7653-D9DD-A05F-50FCF4367AE5}"/>
              </a:ext>
            </a:extLst>
          </p:cNvPr>
          <p:cNvSpPr txBox="1"/>
          <p:nvPr/>
        </p:nvSpPr>
        <p:spPr>
          <a:xfrm>
            <a:off x="838200" y="6441348"/>
            <a:ext cx="60944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</a:t>
            </a:r>
          </a:p>
        </p:txBody>
      </p:sp>
    </p:spTree>
    <p:extLst>
      <p:ext uri="{BB962C8B-B14F-4D97-AF65-F5344CB8AC3E}">
        <p14:creationId xmlns:p14="http://schemas.microsoft.com/office/powerpoint/2010/main" val="67843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A577984-9721-BB91-D2DC-97ECCF4A521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09378" y="1442618"/>
            <a:ext cx="10730685" cy="4878824"/>
          </a:xfrm>
          <a:prstGeom prst="roundRect">
            <a:avLst>
              <a:gd name="adj" fmla="val 166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FileOutputStream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outputStream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FileOutputStream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temporary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phrase.txt"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message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"Technology is best when it brings people together."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saving message one character at a time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characters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message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.toCharArray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for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character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characters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outputStream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.write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character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outputStream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.write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'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saving message as a byte array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message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"It is only when they go wrong that machines remind you how powerful they are."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bytes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message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.getBytes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outputStream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.write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outputStream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.close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IOException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ex.getMessage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0C85FB-7D29-47ED-250D-E4C8B10CF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606" y="5323943"/>
            <a:ext cx="5028750" cy="1330668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5F3487-DE32-36B2-51BD-FA87274BF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</a:t>
            </a:r>
            <a:r>
              <a:rPr lang="es-ES" dirty="0" err="1"/>
              <a:t>FileOutputStream</a:t>
            </a:r>
            <a:r>
              <a:rPr lang="es-ES" dirty="0"/>
              <a:t>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B72FB0-2866-F1CF-8037-74E3DDA8E4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31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E7ED84-D67B-7923-F23B-B98E02F5D6C6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FileInputStream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y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FileOutputStream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52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B858F-3DDA-1422-6281-29CB19A0A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</a:t>
            </a:r>
            <a:r>
              <a:rPr lang="es-ES" dirty="0" err="1"/>
              <a:t>FileInputStream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97FD7B-28C9-20A0-FC01-F8A6B56B3D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32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DA940-D240-664F-AB9B-DDCE7CF8AFC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Permite abrir un archivo para su lectura por medio de un flujo de bytes.</a:t>
            </a:r>
          </a:p>
          <a:p>
            <a:pPr>
              <a:lnSpc>
                <a:spcPct val="120000"/>
              </a:lnSpc>
            </a:pPr>
            <a:r>
              <a:rPr lang="es-ES" dirty="0"/>
              <a:t>Al crear una instancia de </a:t>
            </a:r>
            <a:r>
              <a:rPr lang="es-ES" b="1" dirty="0" err="1"/>
              <a:t>FileInputStream</a:t>
            </a:r>
            <a:r>
              <a:rPr lang="es-ES" dirty="0"/>
              <a:t> debemos proveer la ruta y nombre del archivo.</a:t>
            </a:r>
          </a:p>
          <a:p>
            <a:pPr>
              <a:lnSpc>
                <a:spcPct val="120000"/>
              </a:lnSpc>
            </a:pPr>
            <a:r>
              <a:rPr lang="en-US" dirty="0"/>
              <a:t>Si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archivo</a:t>
            </a:r>
            <a:r>
              <a:rPr lang="en-US" dirty="0"/>
              <a:t> no </a:t>
            </a:r>
            <a:r>
              <a:rPr lang="en-US" dirty="0" err="1"/>
              <a:t>existe</a:t>
            </a:r>
            <a:r>
              <a:rPr lang="en-US" dirty="0"/>
              <a:t> se </a:t>
            </a:r>
            <a:r>
              <a:rPr lang="en-US" dirty="0" err="1"/>
              <a:t>lanza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excepción</a:t>
            </a:r>
            <a:r>
              <a:rPr lang="en-US" dirty="0"/>
              <a:t> </a:t>
            </a:r>
            <a:r>
              <a:rPr lang="en-US" b="1" dirty="0" err="1"/>
              <a:t>FileNotFoundException</a:t>
            </a:r>
            <a:r>
              <a:rPr lang="en-US" b="1" dirty="0"/>
              <a:t> </a:t>
            </a:r>
            <a:r>
              <a:rPr lang="en-US" dirty="0"/>
              <a:t>y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ocurre</a:t>
            </a:r>
            <a:r>
              <a:rPr lang="en-US" dirty="0"/>
              <a:t> </a:t>
            </a:r>
            <a:r>
              <a:rPr lang="en-US" dirty="0" err="1"/>
              <a:t>algún</a:t>
            </a:r>
            <a:r>
              <a:rPr lang="en-US" dirty="0"/>
              <a:t> error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lectura</a:t>
            </a:r>
            <a:r>
              <a:rPr lang="en-US" dirty="0"/>
              <a:t>, se </a:t>
            </a:r>
            <a:r>
              <a:rPr lang="en-US" dirty="0" err="1"/>
              <a:t>lanza</a:t>
            </a:r>
            <a:r>
              <a:rPr lang="en-US" dirty="0"/>
              <a:t> </a:t>
            </a:r>
            <a:r>
              <a:rPr lang="en-US" b="1" dirty="0" err="1"/>
              <a:t>IOException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n-US" dirty="0"/>
              <a:t>Para leer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contenido</a:t>
            </a:r>
            <a:r>
              <a:rPr lang="en-US" dirty="0"/>
              <a:t> del </a:t>
            </a:r>
            <a:r>
              <a:rPr lang="en-US" dirty="0" err="1"/>
              <a:t>archivo</a:t>
            </a:r>
            <a:r>
              <a:rPr lang="en-US" dirty="0"/>
              <a:t> se usa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método</a:t>
            </a:r>
            <a:r>
              <a:rPr lang="en-US" dirty="0"/>
              <a:t> </a:t>
            </a:r>
            <a:r>
              <a:rPr lang="en-US" b="1" dirty="0"/>
              <a:t>read()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cual</a:t>
            </a:r>
            <a:r>
              <a:rPr lang="en-US" dirty="0"/>
              <a:t> </a:t>
            </a:r>
            <a:r>
              <a:rPr lang="en-US" dirty="0" err="1"/>
              <a:t>devolverá</a:t>
            </a:r>
            <a:r>
              <a:rPr lang="en-US" dirty="0"/>
              <a:t> -1 </a:t>
            </a:r>
            <a:r>
              <a:rPr lang="en-US" dirty="0" err="1"/>
              <a:t>cuando</a:t>
            </a:r>
            <a:r>
              <a:rPr lang="en-US" dirty="0"/>
              <a:t> se </a:t>
            </a:r>
            <a:r>
              <a:rPr lang="en-US" dirty="0" err="1"/>
              <a:t>alcanza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final del </a:t>
            </a:r>
            <a:r>
              <a:rPr lang="en-US" dirty="0" err="1"/>
              <a:t>archivo</a:t>
            </a:r>
            <a:r>
              <a:rPr lang="en-U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Puede usarse en combinación con </a:t>
            </a:r>
            <a:r>
              <a:rPr lang="es-ES" b="1" dirty="0" err="1"/>
              <a:t>BufferedInputStream</a:t>
            </a:r>
            <a:r>
              <a:rPr lang="es-ES" dirty="0"/>
              <a:t> para leer bytes hacia un buffer.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525C61-DA60-5939-602B-AE61E53F86D2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FileInputStream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y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FileOutputStream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89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B24BA-8F5A-8639-1B36-A0747364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 </a:t>
            </a:r>
            <a:r>
              <a:rPr lang="es-ES" dirty="0" err="1"/>
              <a:t>FileInputStream</a:t>
            </a:r>
            <a:r>
              <a:rPr lang="es-ES" dirty="0"/>
              <a:t>. Ejemplo.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A12327-0E6B-21F0-BDDF-C5EE68DCB7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33</a:t>
            </a:fld>
            <a:endParaRPr lang="es-P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389007-0249-4E0F-90F0-49D2FBA2FAED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6C7E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FileInputStream</a:t>
            </a:r>
            <a:r>
              <a:rPr lang="es-ES" sz="2400" dirty="0">
                <a:solidFill>
                  <a:schemeClr val="bg1">
                    <a:lumMod val="75000"/>
                  </a:schemeClr>
                </a:solidFill>
              </a:rPr>
              <a:t> y </a:t>
            </a:r>
            <a:r>
              <a:rPr lang="es-ES" sz="2400" dirty="0" err="1">
                <a:solidFill>
                  <a:schemeClr val="bg1">
                    <a:lumMod val="75000"/>
                  </a:schemeClr>
                </a:solidFill>
              </a:rPr>
              <a:t>FileOutputStream</a:t>
            </a:r>
            <a:endParaRPr lang="es-ES" sz="24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321BCF6-6498-9A6E-1C7D-B74FF6FC1BF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16217" y="1378073"/>
            <a:ext cx="9559566" cy="5096351"/>
          </a:xfrm>
          <a:prstGeom prst="roundRect">
            <a:avLst>
              <a:gd name="adj" fmla="val 277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public static void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main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args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characterCode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filePath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"d: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temporary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\\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phrase.txt"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try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Reading one byte at a time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FileInputStream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inputStream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FileInputStream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filePath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while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characterCode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inputStream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.read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 != -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1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characterCode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inputStream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.close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// Reading all bytes from file</a:t>
            </a:r>
            <a:b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inputStream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FileInputStream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filePath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[]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bytes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inputStream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.readAllBytes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 message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new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String(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bytes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,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StandardCharsets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UTF_8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message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inputStream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.close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();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catch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IOException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ex) {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   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System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</a:t>
            </a:r>
            <a:r>
              <a:rPr kumimoji="0" lang="en-US" altLang="en-US" sz="14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out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.println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ex.getMessage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());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   }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6BD7C4-4125-7090-86DE-1A645A6E2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9213" y="3429000"/>
            <a:ext cx="4530745" cy="12099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679843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C6B983-D187-5021-011D-340D9A6463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34</a:t>
            </a:fld>
            <a:endParaRPr lang="es-P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32F08B-E599-8764-EE5E-B3C48CE274CF}"/>
              </a:ext>
            </a:extLst>
          </p:cNvPr>
          <p:cNvSpPr txBox="1"/>
          <p:nvPr/>
        </p:nvSpPr>
        <p:spPr>
          <a:xfrm rot="16200000">
            <a:off x="-1039430" y="2800020"/>
            <a:ext cx="559961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itchFamily="2" charset="0"/>
              </a:rPr>
              <a:t>contenido</a:t>
            </a:r>
            <a:endParaRPr lang="en-US" sz="8800" b="1" dirty="0">
              <a:solidFill>
                <a:schemeClr val="accent1">
                  <a:lumMod val="60000"/>
                  <a:lumOff val="40000"/>
                </a:schemeClr>
              </a:solidFill>
              <a:latin typeface="Helvetica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03EC01-3410-3753-838A-CBAF48C6B899}"/>
              </a:ext>
            </a:extLst>
          </p:cNvPr>
          <p:cNvGrpSpPr/>
          <p:nvPr/>
        </p:nvGrpSpPr>
        <p:grpSpPr>
          <a:xfrm>
            <a:off x="2783393" y="482329"/>
            <a:ext cx="3503525" cy="1862048"/>
            <a:chOff x="2592475" y="894308"/>
            <a:chExt cx="3503525" cy="18620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3F793D-9F3A-9CB6-BB43-2BE49A384566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3821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64E5F22-E391-D88E-BBA2-49677A37E1E4}"/>
                </a:ext>
              </a:extLst>
            </p:cNvPr>
            <p:cNvSpPr txBox="1"/>
            <p:nvPr/>
          </p:nvSpPr>
          <p:spPr>
            <a:xfrm>
              <a:off x="273053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1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B3C8AD1-9836-58ED-EB32-5005786BE9DC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Ficheros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BF36-842E-D6E3-10B2-7C5054E9682B}"/>
              </a:ext>
            </a:extLst>
          </p:cNvPr>
          <p:cNvGrpSpPr/>
          <p:nvPr/>
        </p:nvGrpSpPr>
        <p:grpSpPr>
          <a:xfrm>
            <a:off x="2783393" y="1902748"/>
            <a:ext cx="3503525" cy="1862048"/>
            <a:chOff x="2592475" y="894308"/>
            <a:chExt cx="3503525" cy="186204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6142F58-5226-BA35-9969-57C16866CCC1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77933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8136D1-9413-F8D4-A74C-53EACFBC9CBA}"/>
                </a:ext>
              </a:extLst>
            </p:cNvPr>
            <p:cNvSpPr txBox="1"/>
            <p:nvPr/>
          </p:nvSpPr>
          <p:spPr>
            <a:xfrm>
              <a:off x="2780776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2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A7D6B8A0-3C80-5604-A8A1-15D59C71EB77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Clases File,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FileReader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,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FileWriter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937CAE-5CB8-1D9F-A65C-94AB09763BA2}"/>
              </a:ext>
            </a:extLst>
          </p:cNvPr>
          <p:cNvGrpSpPr/>
          <p:nvPr/>
        </p:nvGrpSpPr>
        <p:grpSpPr>
          <a:xfrm>
            <a:off x="2783393" y="3323167"/>
            <a:ext cx="4145308" cy="1862048"/>
            <a:chOff x="2592475" y="894308"/>
            <a:chExt cx="4145308" cy="18620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C2A45AF-6687-ECC7-43F2-B1F56019AB7F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6C7E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54096C2-D011-5553-52B4-A6E845089496}"/>
                </a:ext>
              </a:extLst>
            </p:cNvPr>
            <p:cNvSpPr txBox="1"/>
            <p:nvPr/>
          </p:nvSpPr>
          <p:spPr>
            <a:xfrm>
              <a:off x="2760244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3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120B9E-5330-D826-DF73-A7D4616CD0D3}"/>
                </a:ext>
              </a:extLst>
            </p:cNvPr>
            <p:cNvSpPr/>
            <p:nvPr/>
          </p:nvSpPr>
          <p:spPr>
            <a:xfrm>
              <a:off x="3617407" y="1276141"/>
              <a:ext cx="3120376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Clases para manejo de flujos: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FileInputStream</a:t>
              </a:r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 y </a:t>
              </a:r>
              <a:r>
                <a:rPr lang="es-ES" sz="1800" dirty="0" err="1">
                  <a:solidFill>
                    <a:schemeClr val="bg1">
                      <a:lumMod val="50000"/>
                    </a:schemeClr>
                  </a:solidFill>
                </a:rPr>
                <a:t>FileOutputStream</a:t>
              </a:r>
              <a:endParaRPr lang="en-US" sz="1800" b="1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4AF21BE1-211A-2AFC-5CE4-EE53A1A88925}"/>
              </a:ext>
            </a:extLst>
          </p:cNvPr>
          <p:cNvSpPr/>
          <p:nvPr/>
        </p:nvSpPr>
        <p:spPr>
          <a:xfrm>
            <a:off x="2483651" y="683513"/>
            <a:ext cx="7722218" cy="559961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91475A-4CE8-9808-000C-2EC0C848A873}"/>
              </a:ext>
            </a:extLst>
          </p:cNvPr>
          <p:cNvGrpSpPr/>
          <p:nvPr/>
        </p:nvGrpSpPr>
        <p:grpSpPr>
          <a:xfrm>
            <a:off x="2783393" y="4743585"/>
            <a:ext cx="3503525" cy="1862048"/>
            <a:chOff x="2592475" y="894308"/>
            <a:chExt cx="3503525" cy="186204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082580-B7F5-8F1C-683F-1B953CD5BAAE}"/>
                </a:ext>
              </a:extLst>
            </p:cNvPr>
            <p:cNvSpPr/>
            <p:nvPr/>
          </p:nvSpPr>
          <p:spPr>
            <a:xfrm>
              <a:off x="2592475" y="1276141"/>
              <a:ext cx="1024932" cy="1024932"/>
            </a:xfrm>
            <a:prstGeom prst="rect">
              <a:avLst/>
            </a:prstGeom>
            <a:solidFill>
              <a:srgbClr val="902B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8CC6DC6-F8E1-DAC7-3F89-846D0EE726DF}"/>
                </a:ext>
              </a:extLst>
            </p:cNvPr>
            <p:cNvSpPr txBox="1"/>
            <p:nvPr/>
          </p:nvSpPr>
          <p:spPr>
            <a:xfrm>
              <a:off x="2750623" y="894308"/>
              <a:ext cx="1237269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11500" b="1" dirty="0">
                  <a:solidFill>
                    <a:schemeClr val="bg1"/>
                  </a:solidFill>
                  <a:latin typeface="Arial Black" panose="020B0A04020102020204" pitchFamily="34" charset="0"/>
                  <a:ea typeface="JetBrains Mono" panose="02000009000000000000" pitchFamily="49" charset="0"/>
                  <a:cs typeface="JetBrains Mono" panose="02000009000000000000" pitchFamily="49" charset="0"/>
                </a:rPr>
                <a:t>4</a:t>
              </a:r>
              <a:endParaRPr lang="en-US" sz="11500" b="1" dirty="0">
                <a:solidFill>
                  <a:schemeClr val="bg1"/>
                </a:solidFill>
                <a:latin typeface="Arial Black" panose="020B0A04020102020204" pitchFamily="34" charset="0"/>
                <a:ea typeface="JetBrains Mono" panose="02000009000000000000" pitchFamily="49" charset="0"/>
                <a:cs typeface="JetBrains Mono" panose="02000009000000000000" pitchFamily="49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52B9D71-ADC0-02A0-AE38-FDE75849E083}"/>
                </a:ext>
              </a:extLst>
            </p:cNvPr>
            <p:cNvSpPr/>
            <p:nvPr/>
          </p:nvSpPr>
          <p:spPr>
            <a:xfrm>
              <a:off x="3617407" y="1276141"/>
              <a:ext cx="2478593" cy="10249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ES" sz="1800" dirty="0">
                  <a:solidFill>
                    <a:schemeClr val="bg1">
                      <a:lumMod val="50000"/>
                    </a:schemeClr>
                  </a:solidFill>
                </a:rPr>
                <a:t>Práctica</a:t>
              </a:r>
              <a:endParaRPr lang="en-US" sz="1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373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879A-9F19-004B-D3C8-3CE74B28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04778C-8CFB-EC49-DD1D-F0769E62F6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35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50BA4-7BA1-6CC6-64E6-4A1A5EC88E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7304246" cy="4782911"/>
          </a:xfrm>
        </p:spPr>
        <p:txBody>
          <a:bodyPr>
            <a:normAutofit fontScale="85000" lnSpcReduction="10000"/>
          </a:bodyPr>
          <a:lstStyle/>
          <a:p>
            <a:pPr marL="50800" indent="0">
              <a:lnSpc>
                <a:spcPct val="120000"/>
              </a:lnSpc>
              <a:buNone/>
            </a:pPr>
            <a:r>
              <a:rPr lang="es-ES" dirty="0"/>
              <a:t>1. Cuando se crea un objeto </a:t>
            </a:r>
            <a:r>
              <a:rPr lang="es-ES" b="1" dirty="0"/>
              <a:t>File</a:t>
            </a:r>
            <a:r>
              <a:rPr lang="es-ES" dirty="0"/>
              <a:t> ¿Se crea automáticamente un archivo en disco?</a:t>
            </a:r>
          </a:p>
          <a:p>
            <a:pPr marL="50800" indent="0">
              <a:lnSpc>
                <a:spcPct val="120000"/>
              </a:lnSpc>
              <a:buNone/>
            </a:pPr>
            <a:endParaRPr lang="es-ES" dirty="0"/>
          </a:p>
          <a:p>
            <a:pPr marL="1022350" lvl="1" indent="-514350">
              <a:lnSpc>
                <a:spcPct val="120000"/>
              </a:lnSpc>
              <a:buAutoNum type="alphaUcPeriod"/>
            </a:pPr>
            <a:r>
              <a:rPr lang="en-US" dirty="0"/>
              <a:t>No, </a:t>
            </a:r>
            <a:r>
              <a:rPr lang="en-US" dirty="0" err="1"/>
              <a:t>pues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objeto</a:t>
            </a:r>
            <a:r>
              <a:rPr lang="en-US" dirty="0"/>
              <a:t> </a:t>
            </a:r>
            <a:r>
              <a:rPr lang="en-US" dirty="0" err="1"/>
              <a:t>podría</a:t>
            </a:r>
            <a:r>
              <a:rPr lang="en-US" dirty="0"/>
              <a:t> </a:t>
            </a:r>
            <a:r>
              <a:rPr lang="en-US" dirty="0" err="1"/>
              <a:t>estar</a:t>
            </a:r>
            <a:r>
              <a:rPr lang="en-US" dirty="0"/>
              <a:t> </a:t>
            </a:r>
            <a:r>
              <a:rPr lang="en-US" dirty="0" err="1"/>
              <a:t>haciendo</a:t>
            </a:r>
            <a:r>
              <a:rPr lang="en-US" dirty="0"/>
              <a:t> </a:t>
            </a:r>
            <a:r>
              <a:rPr lang="en-US" dirty="0" err="1"/>
              <a:t>referencia</a:t>
            </a:r>
            <a:r>
              <a:rPr lang="en-US" dirty="0"/>
              <a:t> a un </a:t>
            </a:r>
            <a:r>
              <a:rPr lang="en-US" dirty="0" err="1"/>
              <a:t>archivo</a:t>
            </a:r>
            <a:r>
              <a:rPr lang="en-US" dirty="0"/>
              <a:t> o </a:t>
            </a:r>
            <a:r>
              <a:rPr lang="en-US" dirty="0" err="1"/>
              <a:t>carpeta</a:t>
            </a:r>
            <a:r>
              <a:rPr lang="en-US" dirty="0"/>
              <a:t> que </a:t>
            </a:r>
            <a:r>
              <a:rPr lang="en-US" dirty="0" err="1"/>
              <a:t>podría</a:t>
            </a:r>
            <a:r>
              <a:rPr lang="en-US" dirty="0"/>
              <a:t> no </a:t>
            </a:r>
            <a:r>
              <a:rPr lang="en-US" dirty="0" err="1"/>
              <a:t>existir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20000"/>
              </a:lnSpc>
              <a:buAutoNum type="alphaUcPeriod"/>
            </a:pPr>
            <a:r>
              <a:rPr lang="en-US" dirty="0"/>
              <a:t>No, </a:t>
            </a:r>
            <a:r>
              <a:rPr lang="en-US" dirty="0" err="1"/>
              <a:t>pues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existe</a:t>
            </a:r>
            <a:r>
              <a:rPr lang="en-US" dirty="0"/>
              <a:t>, no se </a:t>
            </a:r>
            <a:r>
              <a:rPr lang="en-US" dirty="0" err="1"/>
              <a:t>vuelve</a:t>
            </a:r>
            <a:r>
              <a:rPr lang="en-US" dirty="0"/>
              <a:t> a </a:t>
            </a:r>
            <a:r>
              <a:rPr lang="en-US" dirty="0" err="1"/>
              <a:t>crear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20000"/>
              </a:lnSpc>
              <a:buAutoNum type="alphaUcPeriod"/>
            </a:pPr>
            <a:r>
              <a:rPr lang="en-US" dirty="0" err="1"/>
              <a:t>Sí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objeto</a:t>
            </a:r>
            <a:r>
              <a:rPr lang="en-US" dirty="0"/>
              <a:t> File </a:t>
            </a:r>
            <a:r>
              <a:rPr lang="en-US" dirty="0" err="1"/>
              <a:t>contiene</a:t>
            </a:r>
            <a:r>
              <a:rPr lang="en-US" dirty="0"/>
              <a:t> </a:t>
            </a:r>
            <a:r>
              <a:rPr lang="en-US" dirty="0" err="1"/>
              <a:t>toda</a:t>
            </a:r>
            <a:r>
              <a:rPr lang="en-US" dirty="0"/>
              <a:t> la </a:t>
            </a:r>
            <a:r>
              <a:rPr lang="en-US" dirty="0" err="1"/>
              <a:t>información</a:t>
            </a:r>
            <a:r>
              <a:rPr lang="en-US" dirty="0"/>
              <a:t> que </a:t>
            </a:r>
            <a:r>
              <a:rPr lang="en-US" dirty="0" err="1"/>
              <a:t>puede</a:t>
            </a:r>
            <a:r>
              <a:rPr lang="en-US" dirty="0"/>
              <a:t> ser </a:t>
            </a:r>
            <a:r>
              <a:rPr lang="en-US" dirty="0" err="1"/>
              <a:t>usada</a:t>
            </a:r>
            <a:r>
              <a:rPr lang="en-US" dirty="0"/>
              <a:t> para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disco.</a:t>
            </a:r>
          </a:p>
          <a:p>
            <a:pPr marL="1022350" lvl="1" indent="-514350">
              <a:lnSpc>
                <a:spcPct val="120000"/>
              </a:lnSpc>
              <a:buAutoNum type="alphaUcPeriod"/>
            </a:pPr>
            <a:r>
              <a:rPr lang="en-US" dirty="0" err="1"/>
              <a:t>Sí</a:t>
            </a:r>
            <a:r>
              <a:rPr lang="en-US" dirty="0"/>
              <a:t>, </a:t>
            </a:r>
            <a:r>
              <a:rPr lang="en-US" dirty="0" err="1"/>
              <a:t>siempre</a:t>
            </a:r>
            <a:r>
              <a:rPr lang="en-US" dirty="0"/>
              <a:t> se </a:t>
            </a:r>
            <a:r>
              <a:rPr lang="en-US" dirty="0" err="1"/>
              <a:t>crea</a:t>
            </a:r>
            <a:r>
              <a:rPr lang="en-US" dirty="0"/>
              <a:t> un </a:t>
            </a:r>
            <a:r>
              <a:rPr lang="en-US" dirty="0" err="1"/>
              <a:t>archivo</a:t>
            </a:r>
            <a:r>
              <a:rPr lang="en-US" dirty="0"/>
              <a:t>.</a:t>
            </a:r>
          </a:p>
          <a:p>
            <a:pPr marL="50800" indent="0">
              <a:lnSpc>
                <a:spcPct val="120000"/>
              </a:lnSpc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6A48B-7B94-1EEC-C645-0C4DBFDC54A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87F5D-8358-6BE8-3817-EE3D07689A83}"/>
              </a:ext>
            </a:extLst>
          </p:cNvPr>
          <p:cNvSpPr txBox="1"/>
          <p:nvPr/>
        </p:nvSpPr>
        <p:spPr>
          <a:xfrm>
            <a:off x="626520" y="6509295"/>
            <a:ext cx="94150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https://www.pngall.com/wp-content/uploads/13/CD-PNG-Cutout.png  /  https://cdn-icons-png.flaticon.com/512/124/124837.png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5B877C-F853-9BEF-BF6C-0BD46720DB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3679"/>
          <a:stretch/>
        </p:blipFill>
        <p:spPr>
          <a:xfrm>
            <a:off x="8492430" y="1114599"/>
            <a:ext cx="3699570" cy="525497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4F0628-ECEE-CE23-48BD-68E676B68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114" y="1355664"/>
            <a:ext cx="1569156" cy="156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13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879A-9F19-004B-D3C8-3CE74B28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04778C-8CFB-EC49-DD1D-F0769E62F6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36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50BA4-7BA1-6CC6-64E6-4A1A5EC88E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7304246" cy="4782911"/>
          </a:xfrm>
        </p:spPr>
        <p:txBody>
          <a:bodyPr>
            <a:normAutofit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s-ES" dirty="0"/>
              <a:t>2. Un programa usa el constructor de </a:t>
            </a:r>
            <a:r>
              <a:rPr lang="es-ES" b="1" dirty="0" err="1"/>
              <a:t>FileWriter</a:t>
            </a:r>
            <a:r>
              <a:rPr lang="es-ES" dirty="0"/>
              <a:t> con la cadena </a:t>
            </a:r>
            <a:r>
              <a:rPr lang="es-ES" i="1" dirty="0"/>
              <a:t>“nuevoArchivo.txt”</a:t>
            </a:r>
            <a:r>
              <a:rPr lang="es-ES" dirty="0"/>
              <a:t> ¿Qué sucede si el archivo ya existe?</a:t>
            </a:r>
          </a:p>
          <a:p>
            <a:pPr marL="50800" indent="0">
              <a:lnSpc>
                <a:spcPct val="110000"/>
              </a:lnSpc>
              <a:buNone/>
            </a:pPr>
            <a:endParaRPr lang="es-ES" dirty="0"/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n-US" dirty="0"/>
              <a:t>Se </a:t>
            </a:r>
            <a:r>
              <a:rPr lang="en-US" dirty="0" err="1"/>
              <a:t>lanza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excepción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n-US" dirty="0"/>
              <a:t>El constructor </a:t>
            </a:r>
            <a:r>
              <a:rPr lang="en-US" dirty="0" err="1"/>
              <a:t>retorna</a:t>
            </a:r>
            <a:r>
              <a:rPr lang="en-US" dirty="0"/>
              <a:t> null.</a:t>
            </a:r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n-US" dirty="0"/>
              <a:t>El </a:t>
            </a:r>
            <a:r>
              <a:rPr lang="en-US" dirty="0" err="1"/>
              <a:t>programa</a:t>
            </a:r>
            <a:r>
              <a:rPr lang="en-US" dirty="0"/>
              <a:t> termina.</a:t>
            </a:r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n-US" dirty="0"/>
              <a:t>El </a:t>
            </a:r>
            <a:r>
              <a:rPr lang="en-US" dirty="0" err="1"/>
              <a:t>archivo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es </a:t>
            </a:r>
            <a:r>
              <a:rPr lang="en-US" dirty="0" err="1"/>
              <a:t>reemplazado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uno nuevo, </a:t>
            </a:r>
            <a:r>
              <a:rPr lang="en-US" dirty="0" err="1"/>
              <a:t>vacío</a:t>
            </a:r>
            <a:r>
              <a:rPr lang="en-US" dirty="0"/>
              <a:t>.</a:t>
            </a:r>
          </a:p>
          <a:p>
            <a:pPr marL="50800" indent="0">
              <a:lnSpc>
                <a:spcPct val="110000"/>
              </a:lnSpc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6A48B-7B94-1EEC-C645-0C4DBFDC54A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87F5D-8358-6BE8-3817-EE3D07689A83}"/>
              </a:ext>
            </a:extLst>
          </p:cNvPr>
          <p:cNvSpPr txBox="1"/>
          <p:nvPr/>
        </p:nvSpPr>
        <p:spPr>
          <a:xfrm>
            <a:off x="694254" y="6509295"/>
            <a:ext cx="94150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https://www.computerhope.com/jargon/t/text-file.png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0466DA-D480-1600-11D1-628D4D2F2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0" y="2042523"/>
            <a:ext cx="3333750" cy="33337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5923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879A-9F19-004B-D3C8-3CE74B284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Cuestionario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04778C-8CFB-EC49-DD1D-F0769E62F6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37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50BA4-7BA1-6CC6-64E6-4A1A5EC88E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50" y="1436914"/>
            <a:ext cx="7304246" cy="4782911"/>
          </a:xfrm>
        </p:spPr>
        <p:txBody>
          <a:bodyPr>
            <a:normAutofit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s-ES" dirty="0"/>
              <a:t>2. Un programa está escribiendo un archivo a través de </a:t>
            </a:r>
            <a:r>
              <a:rPr lang="es-ES" b="1" dirty="0" err="1"/>
              <a:t>FileOutputStream</a:t>
            </a:r>
            <a:r>
              <a:rPr lang="es-ES" dirty="0"/>
              <a:t> y ocurre un error durante la escritura ¿Qué tipo de excepción es lanzada?</a:t>
            </a:r>
          </a:p>
          <a:p>
            <a:pPr marL="50800" indent="0">
              <a:lnSpc>
                <a:spcPct val="110000"/>
              </a:lnSpc>
              <a:buNone/>
            </a:pPr>
            <a:endParaRPr lang="es-ES" dirty="0"/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n-US" dirty="0" err="1"/>
              <a:t>FileNotFoundException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n-US" dirty="0" err="1"/>
              <a:t>FileOutputStreamException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n-US" dirty="0" err="1"/>
              <a:t>IOException</a:t>
            </a:r>
            <a:r>
              <a:rPr lang="en-US" dirty="0"/>
              <a:t>.</a:t>
            </a:r>
          </a:p>
          <a:p>
            <a:pPr marL="1022350" lvl="1" indent="-514350">
              <a:lnSpc>
                <a:spcPct val="110000"/>
              </a:lnSpc>
              <a:buAutoNum type="alphaUcPeriod"/>
            </a:pPr>
            <a:r>
              <a:rPr lang="en-US" dirty="0" err="1"/>
              <a:t>Ninguna</a:t>
            </a:r>
            <a:r>
              <a:rPr lang="en-US" dirty="0"/>
              <a:t> de las </a:t>
            </a:r>
            <a:r>
              <a:rPr lang="en-US" dirty="0" err="1"/>
              <a:t>anteriores</a:t>
            </a:r>
            <a:r>
              <a:rPr lang="en-US" dirty="0"/>
              <a:t>.</a:t>
            </a:r>
          </a:p>
          <a:p>
            <a:pPr marL="50800" indent="0">
              <a:lnSpc>
                <a:spcPct val="110000"/>
              </a:lnSpc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76A48B-7B94-1EEC-C645-0C4DBFDC54A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787F5D-8358-6BE8-3817-EE3D07689A83}"/>
              </a:ext>
            </a:extLst>
          </p:cNvPr>
          <p:cNvSpPr txBox="1"/>
          <p:nvPr/>
        </p:nvSpPr>
        <p:spPr>
          <a:xfrm>
            <a:off x="705543" y="6509295"/>
            <a:ext cx="94150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https://cdn-icons-png.flaticon.com/512/1199/1199558.png</a:t>
            </a:r>
          </a:p>
        </p:txBody>
      </p:sp>
      <p:pic>
        <p:nvPicPr>
          <p:cNvPr id="1026" name="Picture 2" descr="Warning - Free signs icons">
            <a:extLst>
              <a:ext uri="{FF2B5EF4-FFF2-40B4-BE49-F238E27FC236}">
                <a16:creationId xmlns:a16="http://schemas.microsoft.com/office/drawing/2014/main" id="{70397644-5CED-4976-AB55-14B84155E6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898"/>
          <a:stretch/>
        </p:blipFill>
        <p:spPr bwMode="auto">
          <a:xfrm>
            <a:off x="8139289" y="1403078"/>
            <a:ext cx="4052711" cy="487680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960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88E7EEC-CB91-D516-4366-4BFC5C2DF5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6202"/>
          <a:stretch/>
        </p:blipFill>
        <p:spPr>
          <a:xfrm>
            <a:off x="634299" y="2075089"/>
            <a:ext cx="6985701" cy="47829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A86537-3C53-812F-73DA-BBC4CEB4B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FB2AA2-B573-B377-BB00-7823F8FE9B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38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86E9B-64BC-3EE4-37A1-D689972FA4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03649" y="1436914"/>
            <a:ext cx="6190573" cy="4782911"/>
          </a:xfrm>
        </p:spPr>
        <p:txBody>
          <a:bodyPr/>
          <a:lstStyle/>
          <a:p>
            <a:r>
              <a:rPr lang="es-ES" dirty="0"/>
              <a:t>Cree un archivo de texto utilizando la clase </a:t>
            </a:r>
            <a:r>
              <a:rPr lang="es-ES" b="1" dirty="0" err="1"/>
              <a:t>FileWriter</a:t>
            </a:r>
            <a:r>
              <a:rPr lang="es-ES" dirty="0"/>
              <a:t> y escriba un mensaje en él.</a:t>
            </a:r>
          </a:p>
          <a:p>
            <a:r>
              <a:rPr lang="es-ES" dirty="0"/>
              <a:t>Lea el contenido del archivo creado con </a:t>
            </a:r>
            <a:r>
              <a:rPr lang="es-ES" b="1" dirty="0" err="1"/>
              <a:t>FileReader</a:t>
            </a:r>
            <a:r>
              <a:rPr lang="es-ES" dirty="0"/>
              <a:t>.</a:t>
            </a:r>
          </a:p>
          <a:p>
            <a:r>
              <a:rPr lang="es-ES" dirty="0"/>
              <a:t>Lea y muestre las propiedades del archivo utilizando la clase </a:t>
            </a:r>
            <a:r>
              <a:rPr lang="es-ES" b="1" dirty="0"/>
              <a:t>File</a:t>
            </a:r>
            <a:r>
              <a:rPr lang="es-ES" dirty="0"/>
              <a:t>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EF1F61-01D4-EB32-55D9-77E312C7A8BC}"/>
              </a:ext>
            </a:extLst>
          </p:cNvPr>
          <p:cNvSpPr/>
          <p:nvPr/>
        </p:nvSpPr>
        <p:spPr>
          <a:xfrm>
            <a:off x="0" y="0"/>
            <a:ext cx="619432" cy="6858000"/>
          </a:xfrm>
          <a:prstGeom prst="rect">
            <a:avLst/>
          </a:prstGeom>
          <a:solidFill>
            <a:srgbClr val="902B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s-ES" sz="2400" dirty="0">
                <a:solidFill>
                  <a:schemeClr val="accent2"/>
                </a:solidFill>
              </a:rPr>
              <a:t>4. Práctica</a:t>
            </a:r>
            <a:endParaRPr lang="en-US" sz="2400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926DA8-87B0-347C-DBE8-5503FBBCEB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09"/>
          <a:stretch/>
        </p:blipFill>
        <p:spPr>
          <a:xfrm>
            <a:off x="7620000" y="2075088"/>
            <a:ext cx="4571999" cy="47829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93C9D7-6584-F65E-4886-7680F4EB8FCA}"/>
              </a:ext>
            </a:extLst>
          </p:cNvPr>
          <p:cNvSpPr txBox="1"/>
          <p:nvPr/>
        </p:nvSpPr>
        <p:spPr>
          <a:xfrm>
            <a:off x="705543" y="6509295"/>
            <a:ext cx="94150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 https://thumbs.dreamstime.com/b/laptop-colorful-archive-folders-19599694.jpg</a:t>
            </a:r>
          </a:p>
        </p:txBody>
      </p:sp>
    </p:spTree>
    <p:extLst>
      <p:ext uri="{BB962C8B-B14F-4D97-AF65-F5344CB8AC3E}">
        <p14:creationId xmlns:p14="http://schemas.microsoft.com/office/powerpoint/2010/main" val="282742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>
            <a:extLst>
              <a:ext uri="{FF2B5EF4-FFF2-40B4-BE49-F238E27FC236}">
                <a16:creationId xmlns:a16="http://schemas.microsoft.com/office/drawing/2014/main" id="{73CC1341-D226-6934-FD26-94AD29B043A7}"/>
              </a:ext>
            </a:extLst>
          </p:cNvPr>
          <p:cNvSpPr/>
          <p:nvPr/>
        </p:nvSpPr>
        <p:spPr>
          <a:xfrm>
            <a:off x="7982678" y="-9833"/>
            <a:ext cx="4193457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557384 w 3966288"/>
              <a:gd name="connsiteY0" fmla="*/ 0 h 6877665"/>
              <a:gd name="connsiteX1" fmla="*/ 3966288 w 3966288"/>
              <a:gd name="connsiteY1" fmla="*/ 9832 h 6877665"/>
              <a:gd name="connsiteX2" fmla="*/ 3966288 w 3966288"/>
              <a:gd name="connsiteY2" fmla="*/ 6867832 h 6877665"/>
              <a:gd name="connsiteX3" fmla="*/ 3042056 w 3966288"/>
              <a:gd name="connsiteY3" fmla="*/ 6877665 h 6877665"/>
              <a:gd name="connsiteX4" fmla="*/ 0 w 3966288"/>
              <a:gd name="connsiteY4" fmla="*/ 2664542 h 6877665"/>
              <a:gd name="connsiteX5" fmla="*/ 1557384 w 3966288"/>
              <a:gd name="connsiteY5" fmla="*/ 0 h 6877665"/>
              <a:gd name="connsiteX0" fmla="*/ 1272536 w 3681440"/>
              <a:gd name="connsiteY0" fmla="*/ 0 h 6877665"/>
              <a:gd name="connsiteX1" fmla="*/ 3681440 w 3681440"/>
              <a:gd name="connsiteY1" fmla="*/ 9832 h 6877665"/>
              <a:gd name="connsiteX2" fmla="*/ 3681440 w 3681440"/>
              <a:gd name="connsiteY2" fmla="*/ 6867832 h 6877665"/>
              <a:gd name="connsiteX3" fmla="*/ 2757208 w 3681440"/>
              <a:gd name="connsiteY3" fmla="*/ 6877665 h 6877665"/>
              <a:gd name="connsiteX4" fmla="*/ 0 w 3681440"/>
              <a:gd name="connsiteY4" fmla="*/ 2979174 h 6877665"/>
              <a:gd name="connsiteX5" fmla="*/ 1272536 w 3681440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81440" h="6877665">
                <a:moveTo>
                  <a:pt x="1272536" y="0"/>
                </a:moveTo>
                <a:lnTo>
                  <a:pt x="3681440" y="9832"/>
                </a:lnTo>
                <a:lnTo>
                  <a:pt x="3681440" y="6867832"/>
                </a:lnTo>
                <a:lnTo>
                  <a:pt x="2757208" y="6877665"/>
                </a:lnTo>
                <a:lnTo>
                  <a:pt x="0" y="2979174"/>
                </a:lnTo>
                <a:lnTo>
                  <a:pt x="1272536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  <a:effectLst>
            <a:outerShdw blurRad="152400" dist="762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50029-C1D9-4608-C29D-C2E80A101086}"/>
              </a:ext>
            </a:extLst>
          </p:cNvPr>
          <p:cNvSpPr/>
          <p:nvPr/>
        </p:nvSpPr>
        <p:spPr>
          <a:xfrm>
            <a:off x="7914968" y="-9832"/>
            <a:ext cx="4277032" cy="6877665"/>
          </a:xfrm>
          <a:custGeom>
            <a:avLst/>
            <a:gdLst>
              <a:gd name="connsiteX0" fmla="*/ 0 w 4935794"/>
              <a:gd name="connsiteY0" fmla="*/ 0 h 6858000"/>
              <a:gd name="connsiteX1" fmla="*/ 4935794 w 4935794"/>
              <a:gd name="connsiteY1" fmla="*/ 0 h 6858000"/>
              <a:gd name="connsiteX2" fmla="*/ 4935794 w 4935794"/>
              <a:gd name="connsiteY2" fmla="*/ 6858000 h 6858000"/>
              <a:gd name="connsiteX3" fmla="*/ 0 w 4935794"/>
              <a:gd name="connsiteY3" fmla="*/ 6858000 h 6858000"/>
              <a:gd name="connsiteX4" fmla="*/ 0 w 4935794"/>
              <a:gd name="connsiteY4" fmla="*/ 0 h 6858000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0 w 4935794"/>
              <a:gd name="connsiteY4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1081549 w 4935794"/>
              <a:gd name="connsiteY4" fmla="*/ 2054942 h 6867833"/>
              <a:gd name="connsiteX5" fmla="*/ 0 w 4935794"/>
              <a:gd name="connsiteY5" fmla="*/ 0 h 6867833"/>
              <a:gd name="connsiteX0" fmla="*/ 0 w 4935794"/>
              <a:gd name="connsiteY0" fmla="*/ 0 h 6867833"/>
              <a:gd name="connsiteX1" fmla="*/ 4935794 w 4935794"/>
              <a:gd name="connsiteY1" fmla="*/ 0 h 6867833"/>
              <a:gd name="connsiteX2" fmla="*/ 4935794 w 4935794"/>
              <a:gd name="connsiteY2" fmla="*/ 6858000 h 6867833"/>
              <a:gd name="connsiteX3" fmla="*/ 3637936 w 4935794"/>
              <a:gd name="connsiteY3" fmla="*/ 6867833 h 6867833"/>
              <a:gd name="connsiteX4" fmla="*/ 658762 w 4935794"/>
              <a:gd name="connsiteY4" fmla="*/ 2605549 h 6867833"/>
              <a:gd name="connsiteX5" fmla="*/ 0 w 4935794"/>
              <a:gd name="connsiteY5" fmla="*/ 0 h 6867833"/>
              <a:gd name="connsiteX0" fmla="*/ 1828799 w 4277032"/>
              <a:gd name="connsiteY0" fmla="*/ 19665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828799 w 4277032"/>
              <a:gd name="connsiteY5" fmla="*/ 19665 h 6867833"/>
              <a:gd name="connsiteX0" fmla="*/ 1769805 w 4277032"/>
              <a:gd name="connsiteY0" fmla="*/ 9833 h 6867833"/>
              <a:gd name="connsiteX1" fmla="*/ 4277032 w 4277032"/>
              <a:gd name="connsiteY1" fmla="*/ 0 h 6867833"/>
              <a:gd name="connsiteX2" fmla="*/ 4277032 w 4277032"/>
              <a:gd name="connsiteY2" fmla="*/ 6858000 h 6867833"/>
              <a:gd name="connsiteX3" fmla="*/ 2979174 w 4277032"/>
              <a:gd name="connsiteY3" fmla="*/ 6867833 h 6867833"/>
              <a:gd name="connsiteX4" fmla="*/ 0 w 4277032"/>
              <a:gd name="connsiteY4" fmla="*/ 2605549 h 6867833"/>
              <a:gd name="connsiteX5" fmla="*/ 1769805 w 4277032"/>
              <a:gd name="connsiteY5" fmla="*/ 9833 h 6867833"/>
              <a:gd name="connsiteX0" fmla="*/ 1769805 w 4277032"/>
              <a:gd name="connsiteY0" fmla="*/ 0 h 6897330"/>
              <a:gd name="connsiteX1" fmla="*/ 4277032 w 4277032"/>
              <a:gd name="connsiteY1" fmla="*/ 29497 h 6897330"/>
              <a:gd name="connsiteX2" fmla="*/ 4277032 w 4277032"/>
              <a:gd name="connsiteY2" fmla="*/ 6887497 h 6897330"/>
              <a:gd name="connsiteX3" fmla="*/ 2979174 w 4277032"/>
              <a:gd name="connsiteY3" fmla="*/ 6897330 h 6897330"/>
              <a:gd name="connsiteX4" fmla="*/ 0 w 4277032"/>
              <a:gd name="connsiteY4" fmla="*/ 2635046 h 6897330"/>
              <a:gd name="connsiteX5" fmla="*/ 1769805 w 4277032"/>
              <a:gd name="connsiteY5" fmla="*/ 0 h 6897330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2979174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  <a:gd name="connsiteX0" fmla="*/ 1868128 w 4277032"/>
              <a:gd name="connsiteY0" fmla="*/ 0 h 6877665"/>
              <a:gd name="connsiteX1" fmla="*/ 4277032 w 4277032"/>
              <a:gd name="connsiteY1" fmla="*/ 9832 h 6877665"/>
              <a:gd name="connsiteX2" fmla="*/ 4277032 w 4277032"/>
              <a:gd name="connsiteY2" fmla="*/ 6867832 h 6877665"/>
              <a:gd name="connsiteX3" fmla="*/ 3352800 w 4277032"/>
              <a:gd name="connsiteY3" fmla="*/ 6877665 h 6877665"/>
              <a:gd name="connsiteX4" fmla="*/ 0 w 4277032"/>
              <a:gd name="connsiteY4" fmla="*/ 2615381 h 6877665"/>
              <a:gd name="connsiteX5" fmla="*/ 1868128 w 4277032"/>
              <a:gd name="connsiteY5" fmla="*/ 0 h 6877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77032" h="6877665">
                <a:moveTo>
                  <a:pt x="1868128" y="0"/>
                </a:moveTo>
                <a:lnTo>
                  <a:pt x="4277032" y="9832"/>
                </a:lnTo>
                <a:lnTo>
                  <a:pt x="4277032" y="6867832"/>
                </a:lnTo>
                <a:lnTo>
                  <a:pt x="3352800" y="6877665"/>
                </a:lnTo>
                <a:lnTo>
                  <a:pt x="0" y="2615381"/>
                </a:lnTo>
                <a:lnTo>
                  <a:pt x="1868128" y="0"/>
                </a:ln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EE9576-177F-AC2B-3010-6C3B058129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065"/>
          <a:stretch/>
        </p:blipFill>
        <p:spPr>
          <a:xfrm>
            <a:off x="8721213" y="343004"/>
            <a:ext cx="3470787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B03D496-97CF-4B26-B9D0-D39676049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25" y="429863"/>
            <a:ext cx="10727076" cy="785528"/>
          </a:xfrm>
        </p:spPr>
        <p:txBody>
          <a:bodyPr/>
          <a:lstStyle/>
          <a:p>
            <a:r>
              <a:rPr lang="es-ES" dirty="0"/>
              <a:t>Resumen de la sesión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714D7F-9F45-47C5-88DE-53E493F191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>
                <a:solidFill>
                  <a:schemeClr val="bg1">
                    <a:lumMod val="85000"/>
                  </a:schemeClr>
                </a:solidFill>
              </a:rPr>
              <a:t>39</a:t>
            </a:fld>
            <a:endParaRPr lang="es-PE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C4AF93-4E4C-5B4B-6F8D-742F13670E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6725" y="1436915"/>
            <a:ext cx="7288244" cy="4337622"/>
          </a:xfrm>
        </p:spPr>
        <p:txBody>
          <a:bodyPr/>
          <a:lstStyle/>
          <a:p>
            <a:r>
              <a:rPr lang="es-ES" dirty="0"/>
              <a:t>Archivo.</a:t>
            </a:r>
          </a:p>
          <a:p>
            <a:r>
              <a:rPr lang="es-ES" dirty="0" err="1"/>
              <a:t>Stream</a:t>
            </a:r>
            <a:r>
              <a:rPr lang="es-ES" dirty="0"/>
              <a:t> y Buffer.</a:t>
            </a:r>
          </a:p>
          <a:p>
            <a:r>
              <a:rPr lang="es-ES" dirty="0"/>
              <a:t>Clase </a:t>
            </a:r>
            <a:r>
              <a:rPr lang="es-ES" b="1" dirty="0"/>
              <a:t>File</a:t>
            </a:r>
            <a:r>
              <a:rPr lang="es-ES" dirty="0"/>
              <a:t>.</a:t>
            </a:r>
          </a:p>
          <a:p>
            <a:r>
              <a:rPr lang="es-ES" dirty="0"/>
              <a:t>Clases </a:t>
            </a:r>
            <a:r>
              <a:rPr lang="es-ES" b="1" dirty="0" err="1"/>
              <a:t>FileWriter</a:t>
            </a:r>
            <a:r>
              <a:rPr lang="es-ES" dirty="0"/>
              <a:t> y </a:t>
            </a:r>
            <a:r>
              <a:rPr lang="es-ES" b="1" dirty="0" err="1"/>
              <a:t>FileReader</a:t>
            </a:r>
            <a:r>
              <a:rPr lang="es-ES" dirty="0"/>
              <a:t>.</a:t>
            </a:r>
          </a:p>
          <a:p>
            <a:r>
              <a:rPr lang="es-ES" dirty="0"/>
              <a:t>Clases </a:t>
            </a:r>
            <a:r>
              <a:rPr lang="es-ES" b="1" dirty="0" err="1"/>
              <a:t>FileOuputStream</a:t>
            </a:r>
            <a:r>
              <a:rPr lang="es-ES" dirty="0"/>
              <a:t> y </a:t>
            </a:r>
            <a:r>
              <a:rPr lang="es-ES" b="1" dirty="0" err="1"/>
              <a:t>FileInputStream</a:t>
            </a:r>
            <a:r>
              <a:rPr lang="es-E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C220F-3C2B-B243-4B55-66FDD2674876}"/>
              </a:ext>
            </a:extLst>
          </p:cNvPr>
          <p:cNvSpPr txBox="1"/>
          <p:nvPr/>
        </p:nvSpPr>
        <p:spPr>
          <a:xfrm>
            <a:off x="101603" y="6107707"/>
            <a:ext cx="108867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https://www.pngmart.com/files/16/Portable-Laptop-Top-View-PNG-Transparent-Image.png  /  https://static.vecteezy.com/system/resources/previews/010/851/398/original/realistic-black-glasses-top-view-png.png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https://creazilla-store.fra1.digitaloceanspaces.com/cliparts/61158/paperclips-clipart-xl.png   /   https://images.frandroid.com/wp-content/uploads/2019/04/google-nexus-6.png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https://www.freeiconspng.com/thumbs/pencil-png/pencil-4.png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949E4C-2370-2348-5C0A-672EAE02A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853688">
            <a:off x="9045180" y="520361"/>
            <a:ext cx="1134497" cy="5991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1E9B67-10EC-1AA4-A5E8-47C170717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429" t="3247" r="24723" b="2817"/>
          <a:stretch/>
        </p:blipFill>
        <p:spPr>
          <a:xfrm rot="3723735">
            <a:off x="9760746" y="4377897"/>
            <a:ext cx="1005900" cy="19343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79C2A6-1CC9-2ADF-272F-ADD1B64D97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4409" b="34623"/>
          <a:stretch/>
        </p:blipFill>
        <p:spPr>
          <a:xfrm rot="2677411">
            <a:off x="7393112" y="3747912"/>
            <a:ext cx="2656202" cy="8225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AEC929-D47B-2FDD-AFA2-52AE3390DF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03698" flipH="1">
            <a:off x="8283901" y="801032"/>
            <a:ext cx="2531472" cy="201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705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25B1C-2916-4D63-980D-34A5C1D90E2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19554" r="10344"/>
          <a:stretch/>
        </p:blipFill>
        <p:spPr>
          <a:xfrm>
            <a:off x="8992709" y="0"/>
            <a:ext cx="3205114" cy="685800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72AAE1-A89A-796E-F861-8B102D4B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157" y="429863"/>
            <a:ext cx="10665643" cy="785528"/>
          </a:xfrm>
        </p:spPr>
        <p:txBody>
          <a:bodyPr/>
          <a:lstStyle/>
          <a:p>
            <a:r>
              <a:rPr lang="es-ES" dirty="0"/>
              <a:t>Bibliografía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7596FB-30E1-8EAC-F179-F56EE7A8D8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mtClean="0"/>
              <a:t>40</a:t>
            </a:fld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3BD92-8F52-2949-7992-63F50DB2A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2169" y="1436914"/>
            <a:ext cx="7988431" cy="4782911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s-ES" dirty="0"/>
              <a:t>Tanenbaum &amp; Van </a:t>
            </a:r>
            <a:r>
              <a:rPr lang="es-ES" dirty="0" err="1"/>
              <a:t>Steen</a:t>
            </a:r>
            <a:r>
              <a:rPr lang="es-ES" dirty="0"/>
              <a:t>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Algoritmos y Estructuras de Datos - Principios y Paradigmas, 2da Edición</a:t>
            </a:r>
            <a:r>
              <a:rPr lang="es-ES" dirty="0"/>
              <a:t>. Pearson </a:t>
            </a:r>
            <a:r>
              <a:rPr lang="es-ES" dirty="0" err="1"/>
              <a:t>Education</a:t>
            </a:r>
            <a:r>
              <a:rPr lang="es-ES" dirty="0"/>
              <a:t>​.</a:t>
            </a:r>
          </a:p>
          <a:p>
            <a:pPr>
              <a:lnSpc>
                <a:spcPct val="120000"/>
              </a:lnSpc>
            </a:pPr>
            <a:r>
              <a:rPr lang="en-US" dirty="0"/>
              <a:t>Khalid A. Mughal &amp; Rolf W. Rasmussen (2017).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</a:rPr>
              <a:t>A Programmer’s guide to Java SE 8 Oracle Certified Associate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A 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Beginner’s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Guide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Eighth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 err="1"/>
              <a:t>Schildt</a:t>
            </a:r>
            <a:r>
              <a:rPr lang="es-ES" dirty="0"/>
              <a:t>, Herbert (2019).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Java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The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Complete Reference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Eleventh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i="1" dirty="0" err="1">
                <a:solidFill>
                  <a:schemeClr val="bg1">
                    <a:lumMod val="50000"/>
                  </a:schemeClr>
                </a:solidFill>
              </a:rPr>
              <a:t>Edition</a:t>
            </a:r>
            <a:r>
              <a:rPr lang="es-ES" dirty="0"/>
              <a:t>. Oracle </a:t>
            </a:r>
            <a:r>
              <a:rPr lang="es-ES" dirty="0" err="1"/>
              <a:t>Press</a:t>
            </a:r>
            <a:r>
              <a:rPr lang="es-ES" dirty="0"/>
              <a:t>.</a:t>
            </a:r>
          </a:p>
          <a:p>
            <a:pPr>
              <a:lnSpc>
                <a:spcPct val="120000"/>
              </a:lnSpc>
            </a:pPr>
            <a:r>
              <a:rPr lang="es-ES" dirty="0"/>
              <a:t>Joyanes, Luis (2008).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Fundamentos de Programación</a:t>
            </a:r>
            <a:r>
              <a:rPr lang="es-ES" dirty="0"/>
              <a:t>. </a:t>
            </a:r>
            <a:r>
              <a:rPr lang="es-ES" i="1" dirty="0">
                <a:solidFill>
                  <a:schemeClr val="bg1">
                    <a:lumMod val="50000"/>
                  </a:schemeClr>
                </a:solidFill>
              </a:rPr>
              <a:t>Cuarta edición</a:t>
            </a:r>
            <a:r>
              <a:rPr lang="es-ES" dirty="0"/>
              <a:t>. McGraw-Hill.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B7CE11-3AE4-2A5E-0825-C0E9DFAB006E}"/>
              </a:ext>
            </a:extLst>
          </p:cNvPr>
          <p:cNvSpPr txBox="1"/>
          <p:nvPr/>
        </p:nvSpPr>
        <p:spPr>
          <a:xfrm>
            <a:off x="101604" y="6421002"/>
            <a:ext cx="10852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Imagen 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obtenida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de:</a:t>
            </a:r>
          </a:p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https://images.unsplash.com/photo-1567168544646-208fa5d408fb?ixlib=rb-4.0.3&amp;ixid=MnwxMjA3fDB8MHxzZWFyY2h8Mnx8c3R1ZGVudCUyMGxpYnJhcnl8ZW58MHx8MHx8&amp;w=1000&amp;q=80</a:t>
            </a:r>
          </a:p>
        </p:txBody>
      </p:sp>
    </p:spTree>
    <p:extLst>
      <p:ext uri="{BB962C8B-B14F-4D97-AF65-F5344CB8AC3E}">
        <p14:creationId xmlns:p14="http://schemas.microsoft.com/office/powerpoint/2010/main" val="359810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UTP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10079</TotalTime>
  <Words>3805</Words>
  <Application>Microsoft Office PowerPoint</Application>
  <PresentationFormat>Panorámica</PresentationFormat>
  <Paragraphs>446</Paragraphs>
  <Slides>41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7" baseType="lpstr">
      <vt:lpstr>Arial</vt:lpstr>
      <vt:lpstr>Arial Black</vt:lpstr>
      <vt:lpstr>Helvetica</vt:lpstr>
      <vt:lpstr>Inconsolata</vt:lpstr>
      <vt:lpstr>JetBrains Mono</vt:lpstr>
      <vt:lpstr>TemaUTP</vt:lpstr>
      <vt:lpstr>Taller de Programación</vt:lpstr>
      <vt:lpstr>Dudas de la clase anterior</vt:lpstr>
      <vt:lpstr>Manejo de ficheros</vt:lpstr>
      <vt:lpstr>Conocimientos previos</vt:lpstr>
      <vt:lpstr>Logro de aprendizaje</vt:lpstr>
      <vt:lpstr>Utilidad</vt:lpstr>
      <vt:lpstr>Presentación de PowerPoint</vt:lpstr>
      <vt:lpstr>Presentación de PowerPoint</vt:lpstr>
      <vt:lpstr>¿Qué es un fichero o archivo?</vt:lpstr>
      <vt:lpstr>Tipos de ficheros de datos</vt:lpstr>
      <vt:lpstr>Ejemplos de contenido de un archivo</vt:lpstr>
      <vt:lpstr>I/O</vt:lpstr>
      <vt:lpstr>Streams y buffers</vt:lpstr>
      <vt:lpstr>Clasificación de los Streams</vt:lpstr>
      <vt:lpstr>Uso de los Streams</vt:lpstr>
      <vt:lpstr>Streams y buffers</vt:lpstr>
      <vt:lpstr>Archivos de acceso secuencial</vt:lpstr>
      <vt:lpstr>Byte array</vt:lpstr>
      <vt:lpstr>Presentación de PowerPoint</vt:lpstr>
      <vt:lpstr>Clase File</vt:lpstr>
      <vt:lpstr>Clase File. Principales métodos.</vt:lpstr>
      <vt:lpstr>Clase File. Ejemplo 1.</vt:lpstr>
      <vt:lpstr>Clase File. Ejemplo 2.</vt:lpstr>
      <vt:lpstr>Clases FileReader y FileWriter</vt:lpstr>
      <vt:lpstr>Clase FileWriter</vt:lpstr>
      <vt:lpstr>Clase FileWriter. Ejemplo.</vt:lpstr>
      <vt:lpstr>Clase FileReader</vt:lpstr>
      <vt:lpstr>Clase FileReader. Ejemplo.</vt:lpstr>
      <vt:lpstr>Presentación de PowerPoint</vt:lpstr>
      <vt:lpstr>Clase FileOutputStream</vt:lpstr>
      <vt:lpstr>Clase FileOutputStream. Ejemplo.</vt:lpstr>
      <vt:lpstr>Clase FileInputStream</vt:lpstr>
      <vt:lpstr>Clase FileInputStream. Ejemplo.</vt:lpstr>
      <vt:lpstr>Presentación de PowerPoint</vt:lpstr>
      <vt:lpstr>Cuestionario</vt:lpstr>
      <vt:lpstr>Cuestionario</vt:lpstr>
      <vt:lpstr>Cuestionario</vt:lpstr>
      <vt:lpstr>Ejercicio</vt:lpstr>
      <vt:lpstr>Resumen de la sesión</vt:lpstr>
      <vt:lpstr>Bibliografía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UTP - Taller Programación - Semana 17-Sesión 33</dc:title>
  <dc:creator>jorgerodcas@hotmail.com</dc:creator>
  <cp:lastModifiedBy>Juan Carlos García</cp:lastModifiedBy>
  <cp:revision>407</cp:revision>
  <dcterms:modified xsi:type="dcterms:W3CDTF">2023-10-23T16:17:42Z</dcterms:modified>
</cp:coreProperties>
</file>