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562" r:id="rId3"/>
    <p:sldId id="563" r:id="rId4"/>
    <p:sldId id="564" r:id="rId5"/>
    <p:sldId id="565" r:id="rId6"/>
    <p:sldId id="258" r:id="rId7"/>
    <p:sldId id="257" r:id="rId8"/>
    <p:sldId id="263" r:id="rId9"/>
    <p:sldId id="264" r:id="rId10"/>
    <p:sldId id="330" r:id="rId11"/>
    <p:sldId id="552" r:id="rId12"/>
    <p:sldId id="527" r:id="rId13"/>
    <p:sldId id="554" r:id="rId14"/>
    <p:sldId id="555" r:id="rId15"/>
    <p:sldId id="559" r:id="rId16"/>
    <p:sldId id="557" r:id="rId17"/>
    <p:sldId id="558" r:id="rId18"/>
    <p:sldId id="561" r:id="rId19"/>
    <p:sldId id="560" r:id="rId20"/>
    <p:sldId id="553" r:id="rId21"/>
    <p:sldId id="528" r:id="rId22"/>
    <p:sldId id="432" r:id="rId23"/>
    <p:sldId id="261" r:id="rId24"/>
    <p:sldId id="329" r:id="rId25"/>
    <p:sldId id="25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02" userDrawn="1">
          <p15:clr>
            <a:srgbClr val="A4A3A4"/>
          </p15:clr>
        </p15:guide>
        <p15:guide id="2" pos="7151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00A0A8"/>
    <a:srgbClr val="81B2DF"/>
    <a:srgbClr val="FF5969"/>
    <a:srgbClr val="FFB9C0"/>
    <a:srgbClr val="FF5050"/>
    <a:srgbClr val="FFFCF3"/>
    <a:srgbClr val="E98100"/>
    <a:srgbClr val="5D7373"/>
    <a:srgbClr val="52C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89760" autoAdjust="0"/>
  </p:normalViewPr>
  <p:slideViewPr>
    <p:cSldViewPr snapToGrid="0">
      <p:cViewPr varScale="1">
        <p:scale>
          <a:sx n="124" d="100"/>
          <a:sy n="124" d="100"/>
        </p:scale>
        <p:origin x="422" y="101"/>
      </p:cViewPr>
      <p:guideLst>
        <p:guide orient="horz" pos="1502"/>
        <p:guide pos="715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8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411308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823571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082888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j-lt"/>
              </a:defRPr>
            </a:lvl1pPr>
            <a:lvl2pPr>
              <a:lnSpc>
                <a:spcPct val="100000"/>
              </a:lnSpc>
              <a:defRPr>
                <a:latin typeface="+mj-lt"/>
              </a:defRPr>
            </a:lvl2pPr>
            <a:lvl3pPr>
              <a:lnSpc>
                <a:spcPct val="100000"/>
              </a:lnSpc>
              <a:defRPr>
                <a:latin typeface="+mj-lt"/>
              </a:defRPr>
            </a:lvl3pPr>
            <a:lvl4pPr>
              <a:lnSpc>
                <a:spcPct val="100000"/>
              </a:lnSpc>
              <a:defRPr>
                <a:latin typeface="+mj-lt"/>
              </a:defRPr>
            </a:lvl4pPr>
            <a:lvl5pPr>
              <a:lnSpc>
                <a:spcPct val="10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8.svg"/><Relationship Id="rId7" Type="http://schemas.openxmlformats.org/officeDocument/2006/relationships/image" Target="../media/image24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3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0.svg"/><Relationship Id="rId7" Type="http://schemas.openxmlformats.org/officeDocument/2006/relationships/image" Target="../media/image3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www.datosabiertos.gob.pe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B9BE48-5AE6-0EE8-E322-2698CF5B4175}"/>
              </a:ext>
            </a:extLst>
          </p:cNvPr>
          <p:cNvSpPr/>
          <p:nvPr/>
        </p:nvSpPr>
        <p:spPr>
          <a:xfrm>
            <a:off x="0" y="1"/>
            <a:ext cx="12192000" cy="4072456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  <a:gd name="connsiteX4" fmla="*/ 0 w 12192000"/>
              <a:gd name="connsiteY4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2601798 w 12192000"/>
              <a:gd name="connsiteY3" fmla="*/ 3421930 h 3429000"/>
              <a:gd name="connsiteX4" fmla="*/ 0 w 12192000"/>
              <a:gd name="connsiteY4" fmla="*/ 3429000 h 3429000"/>
              <a:gd name="connsiteX5" fmla="*/ 0 w 12192000"/>
              <a:gd name="connsiteY5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2601798 w 12192000"/>
              <a:gd name="connsiteY4" fmla="*/ 3421930 h 3429000"/>
              <a:gd name="connsiteX5" fmla="*/ 0 w 12192000"/>
              <a:gd name="connsiteY5" fmla="*/ 3429000 h 3429000"/>
              <a:gd name="connsiteX6" fmla="*/ 0 w 12192000"/>
              <a:gd name="connsiteY6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5458120 w 12192000"/>
              <a:gd name="connsiteY4" fmla="*/ 3412503 h 3429000"/>
              <a:gd name="connsiteX5" fmla="*/ 2601798 w 12192000"/>
              <a:gd name="connsiteY5" fmla="*/ 3421930 h 3429000"/>
              <a:gd name="connsiteX6" fmla="*/ 0 w 12192000"/>
              <a:gd name="connsiteY6" fmla="*/ 3429000 h 3429000"/>
              <a:gd name="connsiteX7" fmla="*/ 0 w 12192000"/>
              <a:gd name="connsiteY7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5458120 w 12192000"/>
              <a:gd name="connsiteY4" fmla="*/ 3412503 h 3429000"/>
              <a:gd name="connsiteX5" fmla="*/ 2601798 w 12192000"/>
              <a:gd name="connsiteY5" fmla="*/ 3421930 h 3429000"/>
              <a:gd name="connsiteX6" fmla="*/ 0 w 12192000"/>
              <a:gd name="connsiteY6" fmla="*/ 3429000 h 3429000"/>
              <a:gd name="connsiteX7" fmla="*/ 0 w 12192000"/>
              <a:gd name="connsiteY7" fmla="*/ 0 h 3429000"/>
              <a:gd name="connsiteX0" fmla="*/ 0 w 12192000"/>
              <a:gd name="connsiteY0" fmla="*/ 0 h 3681260"/>
              <a:gd name="connsiteX1" fmla="*/ 12192000 w 12192000"/>
              <a:gd name="connsiteY1" fmla="*/ 0 h 3681260"/>
              <a:gd name="connsiteX2" fmla="*/ 12192000 w 12192000"/>
              <a:gd name="connsiteY2" fmla="*/ 3429000 h 3681260"/>
              <a:gd name="connsiteX3" fmla="*/ 7843101 w 12192000"/>
              <a:gd name="connsiteY3" fmla="*/ 3421930 h 3681260"/>
              <a:gd name="connsiteX4" fmla="*/ 5458120 w 12192000"/>
              <a:gd name="connsiteY4" fmla="*/ 3412503 h 3681260"/>
              <a:gd name="connsiteX5" fmla="*/ 2601798 w 12192000"/>
              <a:gd name="connsiteY5" fmla="*/ 3421930 h 3681260"/>
              <a:gd name="connsiteX6" fmla="*/ 0 w 12192000"/>
              <a:gd name="connsiteY6" fmla="*/ 3429000 h 3681260"/>
              <a:gd name="connsiteX7" fmla="*/ 0 w 12192000"/>
              <a:gd name="connsiteY7" fmla="*/ 0 h 3681260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833749"/>
              <a:gd name="connsiteX1" fmla="*/ 12192000 w 12192000"/>
              <a:gd name="connsiteY1" fmla="*/ 0 h 3833749"/>
              <a:gd name="connsiteX2" fmla="*/ 12192000 w 12192000"/>
              <a:gd name="connsiteY2" fmla="*/ 3429000 h 3833749"/>
              <a:gd name="connsiteX3" fmla="*/ 7843101 w 12192000"/>
              <a:gd name="connsiteY3" fmla="*/ 3421930 h 3833749"/>
              <a:gd name="connsiteX4" fmla="*/ 5458120 w 12192000"/>
              <a:gd name="connsiteY4" fmla="*/ 3412503 h 3833749"/>
              <a:gd name="connsiteX5" fmla="*/ 2601798 w 12192000"/>
              <a:gd name="connsiteY5" fmla="*/ 3421930 h 3833749"/>
              <a:gd name="connsiteX6" fmla="*/ 0 w 12192000"/>
              <a:gd name="connsiteY6" fmla="*/ 3429000 h 3833749"/>
              <a:gd name="connsiteX7" fmla="*/ 0 w 12192000"/>
              <a:gd name="connsiteY7" fmla="*/ 0 h 3833749"/>
              <a:gd name="connsiteX0" fmla="*/ 0 w 12192000"/>
              <a:gd name="connsiteY0" fmla="*/ 0 h 3947056"/>
              <a:gd name="connsiteX1" fmla="*/ 12192000 w 12192000"/>
              <a:gd name="connsiteY1" fmla="*/ 0 h 3947056"/>
              <a:gd name="connsiteX2" fmla="*/ 12192000 w 12192000"/>
              <a:gd name="connsiteY2" fmla="*/ 3429000 h 3947056"/>
              <a:gd name="connsiteX3" fmla="*/ 7843101 w 12192000"/>
              <a:gd name="connsiteY3" fmla="*/ 3421930 h 3947056"/>
              <a:gd name="connsiteX4" fmla="*/ 5458120 w 12192000"/>
              <a:gd name="connsiteY4" fmla="*/ 3412503 h 3947056"/>
              <a:gd name="connsiteX5" fmla="*/ 2601798 w 12192000"/>
              <a:gd name="connsiteY5" fmla="*/ 3421930 h 3947056"/>
              <a:gd name="connsiteX6" fmla="*/ 0 w 12192000"/>
              <a:gd name="connsiteY6" fmla="*/ 3429000 h 3947056"/>
              <a:gd name="connsiteX7" fmla="*/ 0 w 12192000"/>
              <a:gd name="connsiteY7" fmla="*/ 0 h 3947056"/>
              <a:gd name="connsiteX0" fmla="*/ 0 w 12192000"/>
              <a:gd name="connsiteY0" fmla="*/ 0 h 3987099"/>
              <a:gd name="connsiteX1" fmla="*/ 12192000 w 12192000"/>
              <a:gd name="connsiteY1" fmla="*/ 0 h 3987099"/>
              <a:gd name="connsiteX2" fmla="*/ 12192000 w 12192000"/>
              <a:gd name="connsiteY2" fmla="*/ 3429000 h 3987099"/>
              <a:gd name="connsiteX3" fmla="*/ 7843101 w 12192000"/>
              <a:gd name="connsiteY3" fmla="*/ 3421930 h 3987099"/>
              <a:gd name="connsiteX4" fmla="*/ 5458120 w 12192000"/>
              <a:gd name="connsiteY4" fmla="*/ 3412503 h 3987099"/>
              <a:gd name="connsiteX5" fmla="*/ 2601798 w 12192000"/>
              <a:gd name="connsiteY5" fmla="*/ 3421930 h 3987099"/>
              <a:gd name="connsiteX6" fmla="*/ 0 w 12192000"/>
              <a:gd name="connsiteY6" fmla="*/ 3429000 h 3987099"/>
              <a:gd name="connsiteX7" fmla="*/ 0 w 12192000"/>
              <a:gd name="connsiteY7" fmla="*/ 0 h 3987099"/>
              <a:gd name="connsiteX0" fmla="*/ 0 w 12192000"/>
              <a:gd name="connsiteY0" fmla="*/ 0 h 3955927"/>
              <a:gd name="connsiteX1" fmla="*/ 12192000 w 12192000"/>
              <a:gd name="connsiteY1" fmla="*/ 0 h 3955927"/>
              <a:gd name="connsiteX2" fmla="*/ 12192000 w 12192000"/>
              <a:gd name="connsiteY2" fmla="*/ 3429000 h 3955927"/>
              <a:gd name="connsiteX3" fmla="*/ 8380428 w 12192000"/>
              <a:gd name="connsiteY3" fmla="*/ 3214540 h 3955927"/>
              <a:gd name="connsiteX4" fmla="*/ 5458120 w 12192000"/>
              <a:gd name="connsiteY4" fmla="*/ 3412503 h 3955927"/>
              <a:gd name="connsiteX5" fmla="*/ 2601798 w 12192000"/>
              <a:gd name="connsiteY5" fmla="*/ 3421930 h 3955927"/>
              <a:gd name="connsiteX6" fmla="*/ 0 w 12192000"/>
              <a:gd name="connsiteY6" fmla="*/ 3429000 h 3955927"/>
              <a:gd name="connsiteX7" fmla="*/ 0 w 12192000"/>
              <a:gd name="connsiteY7" fmla="*/ 0 h 3955927"/>
              <a:gd name="connsiteX0" fmla="*/ 0 w 12192000"/>
              <a:gd name="connsiteY0" fmla="*/ 0 h 3952319"/>
              <a:gd name="connsiteX1" fmla="*/ 12192000 w 12192000"/>
              <a:gd name="connsiteY1" fmla="*/ 0 h 3952319"/>
              <a:gd name="connsiteX2" fmla="*/ 12192000 w 12192000"/>
              <a:gd name="connsiteY2" fmla="*/ 3429000 h 3952319"/>
              <a:gd name="connsiteX3" fmla="*/ 8380428 w 12192000"/>
              <a:gd name="connsiteY3" fmla="*/ 3214540 h 3952319"/>
              <a:gd name="connsiteX4" fmla="*/ 5458120 w 12192000"/>
              <a:gd name="connsiteY4" fmla="*/ 3412503 h 3952319"/>
              <a:gd name="connsiteX5" fmla="*/ 2601798 w 12192000"/>
              <a:gd name="connsiteY5" fmla="*/ 3421930 h 3952319"/>
              <a:gd name="connsiteX6" fmla="*/ 0 w 12192000"/>
              <a:gd name="connsiteY6" fmla="*/ 3429000 h 3952319"/>
              <a:gd name="connsiteX7" fmla="*/ 0 w 12192000"/>
              <a:gd name="connsiteY7" fmla="*/ 0 h 3952319"/>
              <a:gd name="connsiteX0" fmla="*/ 0 w 12192000"/>
              <a:gd name="connsiteY0" fmla="*/ 0 h 3952319"/>
              <a:gd name="connsiteX1" fmla="*/ 12192000 w 12192000"/>
              <a:gd name="connsiteY1" fmla="*/ 0 h 3952319"/>
              <a:gd name="connsiteX2" fmla="*/ 12192000 w 12192000"/>
              <a:gd name="connsiteY2" fmla="*/ 3429000 h 3952319"/>
              <a:gd name="connsiteX3" fmla="*/ 8380428 w 12192000"/>
              <a:gd name="connsiteY3" fmla="*/ 3214540 h 3952319"/>
              <a:gd name="connsiteX4" fmla="*/ 5458120 w 12192000"/>
              <a:gd name="connsiteY4" fmla="*/ 3412503 h 3952319"/>
              <a:gd name="connsiteX5" fmla="*/ 2601798 w 12192000"/>
              <a:gd name="connsiteY5" fmla="*/ 3421930 h 3952319"/>
              <a:gd name="connsiteX6" fmla="*/ 0 w 12192000"/>
              <a:gd name="connsiteY6" fmla="*/ 3429000 h 3952319"/>
              <a:gd name="connsiteX7" fmla="*/ 0 w 12192000"/>
              <a:gd name="connsiteY7" fmla="*/ 0 h 3952319"/>
              <a:gd name="connsiteX0" fmla="*/ 0 w 12192000"/>
              <a:gd name="connsiteY0" fmla="*/ 0 h 4072455"/>
              <a:gd name="connsiteX1" fmla="*/ 12192000 w 12192000"/>
              <a:gd name="connsiteY1" fmla="*/ 0 h 4072455"/>
              <a:gd name="connsiteX2" fmla="*/ 12192000 w 12192000"/>
              <a:gd name="connsiteY2" fmla="*/ 3429000 h 4072455"/>
              <a:gd name="connsiteX3" fmla="*/ 8380428 w 12192000"/>
              <a:gd name="connsiteY3" fmla="*/ 3214540 h 4072455"/>
              <a:gd name="connsiteX4" fmla="*/ 5458120 w 12192000"/>
              <a:gd name="connsiteY4" fmla="*/ 3412503 h 4072455"/>
              <a:gd name="connsiteX5" fmla="*/ 2601798 w 12192000"/>
              <a:gd name="connsiteY5" fmla="*/ 3421930 h 4072455"/>
              <a:gd name="connsiteX6" fmla="*/ 0 w 12192000"/>
              <a:gd name="connsiteY6" fmla="*/ 3429000 h 4072455"/>
              <a:gd name="connsiteX7" fmla="*/ 0 w 12192000"/>
              <a:gd name="connsiteY7" fmla="*/ 0 h 407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2455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cubicBezTo>
                  <a:pt x="10524504" y="5064551"/>
                  <a:pt x="10002361" y="2255756"/>
                  <a:pt x="8380428" y="3214540"/>
                </a:cubicBezTo>
                <a:cubicBezTo>
                  <a:pt x="6758495" y="4173324"/>
                  <a:pt x="6675748" y="2548379"/>
                  <a:pt x="5458120" y="3412503"/>
                </a:cubicBezTo>
                <a:cubicBezTo>
                  <a:pt x="4240492" y="4276627"/>
                  <a:pt x="3374796" y="4304906"/>
                  <a:pt x="2601798" y="3421930"/>
                </a:cubicBezTo>
                <a:cubicBezTo>
                  <a:pt x="2002589" y="2737469"/>
                  <a:pt x="433633" y="3999322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1B2DF"/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2F4455C-A7AF-B43D-EDC3-2D116CCC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376" y="429863"/>
            <a:ext cx="10048973" cy="785528"/>
          </a:xfrm>
        </p:spPr>
        <p:txBody>
          <a:bodyPr/>
          <a:lstStyle/>
          <a:p>
            <a:pPr algn="ctr"/>
            <a:r>
              <a:rPr lang="es-ES" dirty="0">
                <a:solidFill>
                  <a:schemeClr val="bg2"/>
                </a:solidFill>
              </a:rPr>
              <a:t>Dudas de la clase anterior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7C7018-91C7-CB0A-68C4-A3BD548E3C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87AAC9-BA93-71AA-9C74-5A8E879F384D}"/>
              </a:ext>
            </a:extLst>
          </p:cNvPr>
          <p:cNvSpPr/>
          <p:nvPr/>
        </p:nvSpPr>
        <p:spPr>
          <a:xfrm>
            <a:off x="1046375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2"/>
                </a:solidFill>
              </a:rPr>
              <a:t>Clase </a:t>
            </a:r>
            <a:br>
              <a:rPr lang="es-ES" sz="2400" dirty="0">
                <a:solidFill>
                  <a:schemeClr val="bg2"/>
                </a:solidFill>
              </a:rPr>
            </a:br>
            <a:r>
              <a:rPr lang="es-ES" sz="2400" dirty="0" err="1">
                <a:solidFill>
                  <a:schemeClr val="bg2"/>
                </a:solidFill>
              </a:rPr>
              <a:t>String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8B8AEF-A995-059E-F47E-B1CD6465D53F}"/>
              </a:ext>
            </a:extLst>
          </p:cNvPr>
          <p:cNvSpPr/>
          <p:nvPr/>
        </p:nvSpPr>
        <p:spPr>
          <a:xfrm>
            <a:off x="3654458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Formas de crear un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F7261D-F20E-8E58-EDB6-A0C374F5EB43}"/>
              </a:ext>
            </a:extLst>
          </p:cNvPr>
          <p:cNvSpPr/>
          <p:nvPr/>
        </p:nvSpPr>
        <p:spPr>
          <a:xfrm>
            <a:off x="6262541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¿Porqué un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 es inmutable?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6F3330-B518-5353-9F04-E582D7F787B6}"/>
              </a:ext>
            </a:extLst>
          </p:cNvPr>
          <p:cNvSpPr/>
          <p:nvPr/>
        </p:nvSpPr>
        <p:spPr>
          <a:xfrm>
            <a:off x="8870624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Funciones principales de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8" name="Graphic 17" descr="Badge New with solid fill">
            <a:extLst>
              <a:ext uri="{FF2B5EF4-FFF2-40B4-BE49-F238E27FC236}">
                <a16:creationId xmlns:a16="http://schemas.microsoft.com/office/drawing/2014/main" id="{0D576991-A770-0B2D-A418-9A825F763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9217" y="1572651"/>
            <a:ext cx="1264812" cy="1264812"/>
          </a:xfrm>
          <a:prstGeom prst="rect">
            <a:avLst/>
          </a:prstGeom>
        </p:spPr>
      </p:pic>
      <p:pic>
        <p:nvPicPr>
          <p:cNvPr id="20" name="Graphic 19" descr="Snowflake with solid fill">
            <a:extLst>
              <a:ext uri="{FF2B5EF4-FFF2-40B4-BE49-F238E27FC236}">
                <a16:creationId xmlns:a16="http://schemas.microsoft.com/office/drawing/2014/main" id="{7044717A-F82E-72F5-793D-6A5F4DEE6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60" y="1485057"/>
            <a:ext cx="1440000" cy="1440000"/>
          </a:xfrm>
          <a:prstGeom prst="rect">
            <a:avLst/>
          </a:prstGeom>
        </p:spPr>
      </p:pic>
      <p:pic>
        <p:nvPicPr>
          <p:cNvPr id="22" name="Graphic 21" descr="Continuous Improvement with solid fill">
            <a:extLst>
              <a:ext uri="{FF2B5EF4-FFF2-40B4-BE49-F238E27FC236}">
                <a16:creationId xmlns:a16="http://schemas.microsoft.com/office/drawing/2014/main" id="{6B8390A6-918E-82F3-4226-62EDB6E1C6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59100" y="1485057"/>
            <a:ext cx="1440000" cy="1440000"/>
          </a:xfrm>
          <a:prstGeom prst="rect">
            <a:avLst/>
          </a:prstGeom>
        </p:spPr>
      </p:pic>
      <p:pic>
        <p:nvPicPr>
          <p:cNvPr id="26" name="Graphic 25" descr="Rope Knot with solid fill">
            <a:extLst>
              <a:ext uri="{FF2B5EF4-FFF2-40B4-BE49-F238E27FC236}">
                <a16:creationId xmlns:a16="http://schemas.microsoft.com/office/drawing/2014/main" id="{D9B7B7B1-E8A6-FD5A-5BCE-24B389D332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8746" y="1616457"/>
            <a:ext cx="1177200" cy="117720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BE43C0-D8DD-CB40-48D3-EAF594A68F90}"/>
              </a:ext>
            </a:extLst>
          </p:cNvPr>
          <p:cNvSpPr/>
          <p:nvPr/>
        </p:nvSpPr>
        <p:spPr>
          <a:xfrm>
            <a:off x="1641310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D789FA4-EABA-904D-930E-3EB18E478D0C}"/>
              </a:ext>
            </a:extLst>
          </p:cNvPr>
          <p:cNvSpPr/>
          <p:nvPr/>
        </p:nvSpPr>
        <p:spPr>
          <a:xfrm>
            <a:off x="4284196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9FA5C9E-8029-6D22-25EB-5D7B855005AE}"/>
              </a:ext>
            </a:extLst>
          </p:cNvPr>
          <p:cNvSpPr/>
          <p:nvPr/>
        </p:nvSpPr>
        <p:spPr>
          <a:xfrm>
            <a:off x="6887211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794FB42-C95E-5BDA-7B99-528AE5CB71AA}"/>
              </a:ext>
            </a:extLst>
          </p:cNvPr>
          <p:cNvSpPr/>
          <p:nvPr/>
        </p:nvSpPr>
        <p:spPr>
          <a:xfrm>
            <a:off x="9530097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98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B9BE48-5AE6-0EE8-E322-2698CF5B4175}"/>
              </a:ext>
            </a:extLst>
          </p:cNvPr>
          <p:cNvSpPr/>
          <p:nvPr/>
        </p:nvSpPr>
        <p:spPr>
          <a:xfrm>
            <a:off x="0" y="1"/>
            <a:ext cx="12192000" cy="4072456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  <a:gd name="connsiteX4" fmla="*/ 0 w 12192000"/>
              <a:gd name="connsiteY4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2601798 w 12192000"/>
              <a:gd name="connsiteY3" fmla="*/ 3421930 h 3429000"/>
              <a:gd name="connsiteX4" fmla="*/ 0 w 12192000"/>
              <a:gd name="connsiteY4" fmla="*/ 3429000 h 3429000"/>
              <a:gd name="connsiteX5" fmla="*/ 0 w 12192000"/>
              <a:gd name="connsiteY5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2601798 w 12192000"/>
              <a:gd name="connsiteY4" fmla="*/ 3421930 h 3429000"/>
              <a:gd name="connsiteX5" fmla="*/ 0 w 12192000"/>
              <a:gd name="connsiteY5" fmla="*/ 3429000 h 3429000"/>
              <a:gd name="connsiteX6" fmla="*/ 0 w 12192000"/>
              <a:gd name="connsiteY6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5458120 w 12192000"/>
              <a:gd name="connsiteY4" fmla="*/ 3412503 h 3429000"/>
              <a:gd name="connsiteX5" fmla="*/ 2601798 w 12192000"/>
              <a:gd name="connsiteY5" fmla="*/ 3421930 h 3429000"/>
              <a:gd name="connsiteX6" fmla="*/ 0 w 12192000"/>
              <a:gd name="connsiteY6" fmla="*/ 3429000 h 3429000"/>
              <a:gd name="connsiteX7" fmla="*/ 0 w 12192000"/>
              <a:gd name="connsiteY7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5458120 w 12192000"/>
              <a:gd name="connsiteY4" fmla="*/ 3412503 h 3429000"/>
              <a:gd name="connsiteX5" fmla="*/ 2601798 w 12192000"/>
              <a:gd name="connsiteY5" fmla="*/ 3421930 h 3429000"/>
              <a:gd name="connsiteX6" fmla="*/ 0 w 12192000"/>
              <a:gd name="connsiteY6" fmla="*/ 3429000 h 3429000"/>
              <a:gd name="connsiteX7" fmla="*/ 0 w 12192000"/>
              <a:gd name="connsiteY7" fmla="*/ 0 h 3429000"/>
              <a:gd name="connsiteX0" fmla="*/ 0 w 12192000"/>
              <a:gd name="connsiteY0" fmla="*/ 0 h 3681260"/>
              <a:gd name="connsiteX1" fmla="*/ 12192000 w 12192000"/>
              <a:gd name="connsiteY1" fmla="*/ 0 h 3681260"/>
              <a:gd name="connsiteX2" fmla="*/ 12192000 w 12192000"/>
              <a:gd name="connsiteY2" fmla="*/ 3429000 h 3681260"/>
              <a:gd name="connsiteX3" fmla="*/ 7843101 w 12192000"/>
              <a:gd name="connsiteY3" fmla="*/ 3421930 h 3681260"/>
              <a:gd name="connsiteX4" fmla="*/ 5458120 w 12192000"/>
              <a:gd name="connsiteY4" fmla="*/ 3412503 h 3681260"/>
              <a:gd name="connsiteX5" fmla="*/ 2601798 w 12192000"/>
              <a:gd name="connsiteY5" fmla="*/ 3421930 h 3681260"/>
              <a:gd name="connsiteX6" fmla="*/ 0 w 12192000"/>
              <a:gd name="connsiteY6" fmla="*/ 3429000 h 3681260"/>
              <a:gd name="connsiteX7" fmla="*/ 0 w 12192000"/>
              <a:gd name="connsiteY7" fmla="*/ 0 h 3681260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833749"/>
              <a:gd name="connsiteX1" fmla="*/ 12192000 w 12192000"/>
              <a:gd name="connsiteY1" fmla="*/ 0 h 3833749"/>
              <a:gd name="connsiteX2" fmla="*/ 12192000 w 12192000"/>
              <a:gd name="connsiteY2" fmla="*/ 3429000 h 3833749"/>
              <a:gd name="connsiteX3" fmla="*/ 7843101 w 12192000"/>
              <a:gd name="connsiteY3" fmla="*/ 3421930 h 3833749"/>
              <a:gd name="connsiteX4" fmla="*/ 5458120 w 12192000"/>
              <a:gd name="connsiteY4" fmla="*/ 3412503 h 3833749"/>
              <a:gd name="connsiteX5" fmla="*/ 2601798 w 12192000"/>
              <a:gd name="connsiteY5" fmla="*/ 3421930 h 3833749"/>
              <a:gd name="connsiteX6" fmla="*/ 0 w 12192000"/>
              <a:gd name="connsiteY6" fmla="*/ 3429000 h 3833749"/>
              <a:gd name="connsiteX7" fmla="*/ 0 w 12192000"/>
              <a:gd name="connsiteY7" fmla="*/ 0 h 3833749"/>
              <a:gd name="connsiteX0" fmla="*/ 0 w 12192000"/>
              <a:gd name="connsiteY0" fmla="*/ 0 h 3947056"/>
              <a:gd name="connsiteX1" fmla="*/ 12192000 w 12192000"/>
              <a:gd name="connsiteY1" fmla="*/ 0 h 3947056"/>
              <a:gd name="connsiteX2" fmla="*/ 12192000 w 12192000"/>
              <a:gd name="connsiteY2" fmla="*/ 3429000 h 3947056"/>
              <a:gd name="connsiteX3" fmla="*/ 7843101 w 12192000"/>
              <a:gd name="connsiteY3" fmla="*/ 3421930 h 3947056"/>
              <a:gd name="connsiteX4" fmla="*/ 5458120 w 12192000"/>
              <a:gd name="connsiteY4" fmla="*/ 3412503 h 3947056"/>
              <a:gd name="connsiteX5" fmla="*/ 2601798 w 12192000"/>
              <a:gd name="connsiteY5" fmla="*/ 3421930 h 3947056"/>
              <a:gd name="connsiteX6" fmla="*/ 0 w 12192000"/>
              <a:gd name="connsiteY6" fmla="*/ 3429000 h 3947056"/>
              <a:gd name="connsiteX7" fmla="*/ 0 w 12192000"/>
              <a:gd name="connsiteY7" fmla="*/ 0 h 3947056"/>
              <a:gd name="connsiteX0" fmla="*/ 0 w 12192000"/>
              <a:gd name="connsiteY0" fmla="*/ 0 h 3987099"/>
              <a:gd name="connsiteX1" fmla="*/ 12192000 w 12192000"/>
              <a:gd name="connsiteY1" fmla="*/ 0 h 3987099"/>
              <a:gd name="connsiteX2" fmla="*/ 12192000 w 12192000"/>
              <a:gd name="connsiteY2" fmla="*/ 3429000 h 3987099"/>
              <a:gd name="connsiteX3" fmla="*/ 7843101 w 12192000"/>
              <a:gd name="connsiteY3" fmla="*/ 3421930 h 3987099"/>
              <a:gd name="connsiteX4" fmla="*/ 5458120 w 12192000"/>
              <a:gd name="connsiteY4" fmla="*/ 3412503 h 3987099"/>
              <a:gd name="connsiteX5" fmla="*/ 2601798 w 12192000"/>
              <a:gd name="connsiteY5" fmla="*/ 3421930 h 3987099"/>
              <a:gd name="connsiteX6" fmla="*/ 0 w 12192000"/>
              <a:gd name="connsiteY6" fmla="*/ 3429000 h 3987099"/>
              <a:gd name="connsiteX7" fmla="*/ 0 w 12192000"/>
              <a:gd name="connsiteY7" fmla="*/ 0 h 3987099"/>
              <a:gd name="connsiteX0" fmla="*/ 0 w 12192000"/>
              <a:gd name="connsiteY0" fmla="*/ 0 h 3955927"/>
              <a:gd name="connsiteX1" fmla="*/ 12192000 w 12192000"/>
              <a:gd name="connsiteY1" fmla="*/ 0 h 3955927"/>
              <a:gd name="connsiteX2" fmla="*/ 12192000 w 12192000"/>
              <a:gd name="connsiteY2" fmla="*/ 3429000 h 3955927"/>
              <a:gd name="connsiteX3" fmla="*/ 8380428 w 12192000"/>
              <a:gd name="connsiteY3" fmla="*/ 3214540 h 3955927"/>
              <a:gd name="connsiteX4" fmla="*/ 5458120 w 12192000"/>
              <a:gd name="connsiteY4" fmla="*/ 3412503 h 3955927"/>
              <a:gd name="connsiteX5" fmla="*/ 2601798 w 12192000"/>
              <a:gd name="connsiteY5" fmla="*/ 3421930 h 3955927"/>
              <a:gd name="connsiteX6" fmla="*/ 0 w 12192000"/>
              <a:gd name="connsiteY6" fmla="*/ 3429000 h 3955927"/>
              <a:gd name="connsiteX7" fmla="*/ 0 w 12192000"/>
              <a:gd name="connsiteY7" fmla="*/ 0 h 3955927"/>
              <a:gd name="connsiteX0" fmla="*/ 0 w 12192000"/>
              <a:gd name="connsiteY0" fmla="*/ 0 h 3952319"/>
              <a:gd name="connsiteX1" fmla="*/ 12192000 w 12192000"/>
              <a:gd name="connsiteY1" fmla="*/ 0 h 3952319"/>
              <a:gd name="connsiteX2" fmla="*/ 12192000 w 12192000"/>
              <a:gd name="connsiteY2" fmla="*/ 3429000 h 3952319"/>
              <a:gd name="connsiteX3" fmla="*/ 8380428 w 12192000"/>
              <a:gd name="connsiteY3" fmla="*/ 3214540 h 3952319"/>
              <a:gd name="connsiteX4" fmla="*/ 5458120 w 12192000"/>
              <a:gd name="connsiteY4" fmla="*/ 3412503 h 3952319"/>
              <a:gd name="connsiteX5" fmla="*/ 2601798 w 12192000"/>
              <a:gd name="connsiteY5" fmla="*/ 3421930 h 3952319"/>
              <a:gd name="connsiteX6" fmla="*/ 0 w 12192000"/>
              <a:gd name="connsiteY6" fmla="*/ 3429000 h 3952319"/>
              <a:gd name="connsiteX7" fmla="*/ 0 w 12192000"/>
              <a:gd name="connsiteY7" fmla="*/ 0 h 3952319"/>
              <a:gd name="connsiteX0" fmla="*/ 0 w 12192000"/>
              <a:gd name="connsiteY0" fmla="*/ 0 h 3952319"/>
              <a:gd name="connsiteX1" fmla="*/ 12192000 w 12192000"/>
              <a:gd name="connsiteY1" fmla="*/ 0 h 3952319"/>
              <a:gd name="connsiteX2" fmla="*/ 12192000 w 12192000"/>
              <a:gd name="connsiteY2" fmla="*/ 3429000 h 3952319"/>
              <a:gd name="connsiteX3" fmla="*/ 8380428 w 12192000"/>
              <a:gd name="connsiteY3" fmla="*/ 3214540 h 3952319"/>
              <a:gd name="connsiteX4" fmla="*/ 5458120 w 12192000"/>
              <a:gd name="connsiteY4" fmla="*/ 3412503 h 3952319"/>
              <a:gd name="connsiteX5" fmla="*/ 2601798 w 12192000"/>
              <a:gd name="connsiteY5" fmla="*/ 3421930 h 3952319"/>
              <a:gd name="connsiteX6" fmla="*/ 0 w 12192000"/>
              <a:gd name="connsiteY6" fmla="*/ 3429000 h 3952319"/>
              <a:gd name="connsiteX7" fmla="*/ 0 w 12192000"/>
              <a:gd name="connsiteY7" fmla="*/ 0 h 3952319"/>
              <a:gd name="connsiteX0" fmla="*/ 0 w 12192000"/>
              <a:gd name="connsiteY0" fmla="*/ 0 h 4072455"/>
              <a:gd name="connsiteX1" fmla="*/ 12192000 w 12192000"/>
              <a:gd name="connsiteY1" fmla="*/ 0 h 4072455"/>
              <a:gd name="connsiteX2" fmla="*/ 12192000 w 12192000"/>
              <a:gd name="connsiteY2" fmla="*/ 3429000 h 4072455"/>
              <a:gd name="connsiteX3" fmla="*/ 8380428 w 12192000"/>
              <a:gd name="connsiteY3" fmla="*/ 3214540 h 4072455"/>
              <a:gd name="connsiteX4" fmla="*/ 5458120 w 12192000"/>
              <a:gd name="connsiteY4" fmla="*/ 3412503 h 4072455"/>
              <a:gd name="connsiteX5" fmla="*/ 2601798 w 12192000"/>
              <a:gd name="connsiteY5" fmla="*/ 3421930 h 4072455"/>
              <a:gd name="connsiteX6" fmla="*/ 0 w 12192000"/>
              <a:gd name="connsiteY6" fmla="*/ 3429000 h 4072455"/>
              <a:gd name="connsiteX7" fmla="*/ 0 w 12192000"/>
              <a:gd name="connsiteY7" fmla="*/ 0 h 407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2455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cubicBezTo>
                  <a:pt x="10524504" y="5064551"/>
                  <a:pt x="10002361" y="2255756"/>
                  <a:pt x="8380428" y="3214540"/>
                </a:cubicBezTo>
                <a:cubicBezTo>
                  <a:pt x="6758495" y="4173324"/>
                  <a:pt x="6675748" y="2548379"/>
                  <a:pt x="5458120" y="3412503"/>
                </a:cubicBezTo>
                <a:cubicBezTo>
                  <a:pt x="4240492" y="4276627"/>
                  <a:pt x="3374796" y="4304906"/>
                  <a:pt x="2601798" y="3421930"/>
                </a:cubicBezTo>
                <a:cubicBezTo>
                  <a:pt x="2002589" y="2737469"/>
                  <a:pt x="433633" y="3999322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1B2DF"/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2F4455C-A7AF-B43D-EDC3-2D116CCC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376" y="429863"/>
            <a:ext cx="10048973" cy="785528"/>
          </a:xfrm>
        </p:spPr>
        <p:txBody>
          <a:bodyPr/>
          <a:lstStyle/>
          <a:p>
            <a:pPr algn="ctr"/>
            <a:r>
              <a:rPr lang="es-ES" dirty="0">
                <a:solidFill>
                  <a:schemeClr val="bg2"/>
                </a:solidFill>
              </a:rPr>
              <a:t>Dudas de la clase anterior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7C7018-91C7-CB0A-68C4-A3BD548E3C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87AAC9-BA93-71AA-9C74-5A8E879F384D}"/>
              </a:ext>
            </a:extLst>
          </p:cNvPr>
          <p:cNvSpPr/>
          <p:nvPr/>
        </p:nvSpPr>
        <p:spPr>
          <a:xfrm>
            <a:off x="1046375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Clase </a:t>
            </a:r>
            <a:br>
              <a:rPr lang="es-E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8B8AEF-A995-059E-F47E-B1CD6465D53F}"/>
              </a:ext>
            </a:extLst>
          </p:cNvPr>
          <p:cNvSpPr/>
          <p:nvPr/>
        </p:nvSpPr>
        <p:spPr>
          <a:xfrm>
            <a:off x="3654458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2"/>
                </a:solidFill>
              </a:rPr>
              <a:t>Formas de crear un </a:t>
            </a:r>
            <a:r>
              <a:rPr lang="es-ES" sz="2400" dirty="0" err="1">
                <a:solidFill>
                  <a:schemeClr val="bg2"/>
                </a:solidFill>
              </a:rPr>
              <a:t>String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F7261D-F20E-8E58-EDB6-A0C374F5EB43}"/>
              </a:ext>
            </a:extLst>
          </p:cNvPr>
          <p:cNvSpPr/>
          <p:nvPr/>
        </p:nvSpPr>
        <p:spPr>
          <a:xfrm>
            <a:off x="6262541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¿Porqué un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 es inmutable?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6F3330-B518-5353-9F04-E582D7F787B6}"/>
              </a:ext>
            </a:extLst>
          </p:cNvPr>
          <p:cNvSpPr/>
          <p:nvPr/>
        </p:nvSpPr>
        <p:spPr>
          <a:xfrm>
            <a:off x="8870624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Funciones principales de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8" name="Graphic 17" descr="Badge New with solid fill">
            <a:extLst>
              <a:ext uri="{FF2B5EF4-FFF2-40B4-BE49-F238E27FC236}">
                <a16:creationId xmlns:a16="http://schemas.microsoft.com/office/drawing/2014/main" id="{0D576991-A770-0B2D-A418-9A825F763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9217" y="1572651"/>
            <a:ext cx="1264812" cy="1264812"/>
          </a:xfrm>
          <a:prstGeom prst="rect">
            <a:avLst/>
          </a:prstGeom>
        </p:spPr>
      </p:pic>
      <p:pic>
        <p:nvPicPr>
          <p:cNvPr id="20" name="Graphic 19" descr="Snowflake with solid fill">
            <a:extLst>
              <a:ext uri="{FF2B5EF4-FFF2-40B4-BE49-F238E27FC236}">
                <a16:creationId xmlns:a16="http://schemas.microsoft.com/office/drawing/2014/main" id="{7044717A-F82E-72F5-793D-6A5F4DEE6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60" y="1485057"/>
            <a:ext cx="1440000" cy="1440000"/>
          </a:xfrm>
          <a:prstGeom prst="rect">
            <a:avLst/>
          </a:prstGeom>
        </p:spPr>
      </p:pic>
      <p:pic>
        <p:nvPicPr>
          <p:cNvPr id="22" name="Graphic 21" descr="Continuous Improvement with solid fill">
            <a:extLst>
              <a:ext uri="{FF2B5EF4-FFF2-40B4-BE49-F238E27FC236}">
                <a16:creationId xmlns:a16="http://schemas.microsoft.com/office/drawing/2014/main" id="{6B8390A6-918E-82F3-4226-62EDB6E1C6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59100" y="1485057"/>
            <a:ext cx="1440000" cy="1440000"/>
          </a:xfrm>
          <a:prstGeom prst="rect">
            <a:avLst/>
          </a:prstGeom>
        </p:spPr>
      </p:pic>
      <p:pic>
        <p:nvPicPr>
          <p:cNvPr id="26" name="Graphic 25" descr="Rope Knot with solid fill">
            <a:extLst>
              <a:ext uri="{FF2B5EF4-FFF2-40B4-BE49-F238E27FC236}">
                <a16:creationId xmlns:a16="http://schemas.microsoft.com/office/drawing/2014/main" id="{D9B7B7B1-E8A6-FD5A-5BCE-24B389D332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8746" y="1616457"/>
            <a:ext cx="1177200" cy="117720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BE43C0-D8DD-CB40-48D3-EAF594A68F90}"/>
              </a:ext>
            </a:extLst>
          </p:cNvPr>
          <p:cNvSpPr/>
          <p:nvPr/>
        </p:nvSpPr>
        <p:spPr>
          <a:xfrm>
            <a:off x="1641310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D789FA4-EABA-904D-930E-3EB18E478D0C}"/>
              </a:ext>
            </a:extLst>
          </p:cNvPr>
          <p:cNvSpPr/>
          <p:nvPr/>
        </p:nvSpPr>
        <p:spPr>
          <a:xfrm>
            <a:off x="4284196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9FA5C9E-8029-6D22-25EB-5D7B855005AE}"/>
              </a:ext>
            </a:extLst>
          </p:cNvPr>
          <p:cNvSpPr/>
          <p:nvPr/>
        </p:nvSpPr>
        <p:spPr>
          <a:xfrm>
            <a:off x="6887211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794FB42-C95E-5BDA-7B99-528AE5CB71AA}"/>
              </a:ext>
            </a:extLst>
          </p:cNvPr>
          <p:cNvSpPr/>
          <p:nvPr/>
        </p:nvSpPr>
        <p:spPr>
          <a:xfrm>
            <a:off x="9530097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19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B9BE48-5AE6-0EE8-E322-2698CF5B4175}"/>
              </a:ext>
            </a:extLst>
          </p:cNvPr>
          <p:cNvSpPr/>
          <p:nvPr/>
        </p:nvSpPr>
        <p:spPr>
          <a:xfrm>
            <a:off x="0" y="1"/>
            <a:ext cx="12192000" cy="4072456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  <a:gd name="connsiteX4" fmla="*/ 0 w 12192000"/>
              <a:gd name="connsiteY4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2601798 w 12192000"/>
              <a:gd name="connsiteY3" fmla="*/ 3421930 h 3429000"/>
              <a:gd name="connsiteX4" fmla="*/ 0 w 12192000"/>
              <a:gd name="connsiteY4" fmla="*/ 3429000 h 3429000"/>
              <a:gd name="connsiteX5" fmla="*/ 0 w 12192000"/>
              <a:gd name="connsiteY5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2601798 w 12192000"/>
              <a:gd name="connsiteY4" fmla="*/ 3421930 h 3429000"/>
              <a:gd name="connsiteX5" fmla="*/ 0 w 12192000"/>
              <a:gd name="connsiteY5" fmla="*/ 3429000 h 3429000"/>
              <a:gd name="connsiteX6" fmla="*/ 0 w 12192000"/>
              <a:gd name="connsiteY6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5458120 w 12192000"/>
              <a:gd name="connsiteY4" fmla="*/ 3412503 h 3429000"/>
              <a:gd name="connsiteX5" fmla="*/ 2601798 w 12192000"/>
              <a:gd name="connsiteY5" fmla="*/ 3421930 h 3429000"/>
              <a:gd name="connsiteX6" fmla="*/ 0 w 12192000"/>
              <a:gd name="connsiteY6" fmla="*/ 3429000 h 3429000"/>
              <a:gd name="connsiteX7" fmla="*/ 0 w 12192000"/>
              <a:gd name="connsiteY7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5458120 w 12192000"/>
              <a:gd name="connsiteY4" fmla="*/ 3412503 h 3429000"/>
              <a:gd name="connsiteX5" fmla="*/ 2601798 w 12192000"/>
              <a:gd name="connsiteY5" fmla="*/ 3421930 h 3429000"/>
              <a:gd name="connsiteX6" fmla="*/ 0 w 12192000"/>
              <a:gd name="connsiteY6" fmla="*/ 3429000 h 3429000"/>
              <a:gd name="connsiteX7" fmla="*/ 0 w 12192000"/>
              <a:gd name="connsiteY7" fmla="*/ 0 h 3429000"/>
              <a:gd name="connsiteX0" fmla="*/ 0 w 12192000"/>
              <a:gd name="connsiteY0" fmla="*/ 0 h 3681260"/>
              <a:gd name="connsiteX1" fmla="*/ 12192000 w 12192000"/>
              <a:gd name="connsiteY1" fmla="*/ 0 h 3681260"/>
              <a:gd name="connsiteX2" fmla="*/ 12192000 w 12192000"/>
              <a:gd name="connsiteY2" fmla="*/ 3429000 h 3681260"/>
              <a:gd name="connsiteX3" fmla="*/ 7843101 w 12192000"/>
              <a:gd name="connsiteY3" fmla="*/ 3421930 h 3681260"/>
              <a:gd name="connsiteX4" fmla="*/ 5458120 w 12192000"/>
              <a:gd name="connsiteY4" fmla="*/ 3412503 h 3681260"/>
              <a:gd name="connsiteX5" fmla="*/ 2601798 w 12192000"/>
              <a:gd name="connsiteY5" fmla="*/ 3421930 h 3681260"/>
              <a:gd name="connsiteX6" fmla="*/ 0 w 12192000"/>
              <a:gd name="connsiteY6" fmla="*/ 3429000 h 3681260"/>
              <a:gd name="connsiteX7" fmla="*/ 0 w 12192000"/>
              <a:gd name="connsiteY7" fmla="*/ 0 h 3681260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833749"/>
              <a:gd name="connsiteX1" fmla="*/ 12192000 w 12192000"/>
              <a:gd name="connsiteY1" fmla="*/ 0 h 3833749"/>
              <a:gd name="connsiteX2" fmla="*/ 12192000 w 12192000"/>
              <a:gd name="connsiteY2" fmla="*/ 3429000 h 3833749"/>
              <a:gd name="connsiteX3" fmla="*/ 7843101 w 12192000"/>
              <a:gd name="connsiteY3" fmla="*/ 3421930 h 3833749"/>
              <a:gd name="connsiteX4" fmla="*/ 5458120 w 12192000"/>
              <a:gd name="connsiteY4" fmla="*/ 3412503 h 3833749"/>
              <a:gd name="connsiteX5" fmla="*/ 2601798 w 12192000"/>
              <a:gd name="connsiteY5" fmla="*/ 3421930 h 3833749"/>
              <a:gd name="connsiteX6" fmla="*/ 0 w 12192000"/>
              <a:gd name="connsiteY6" fmla="*/ 3429000 h 3833749"/>
              <a:gd name="connsiteX7" fmla="*/ 0 w 12192000"/>
              <a:gd name="connsiteY7" fmla="*/ 0 h 3833749"/>
              <a:gd name="connsiteX0" fmla="*/ 0 w 12192000"/>
              <a:gd name="connsiteY0" fmla="*/ 0 h 3947056"/>
              <a:gd name="connsiteX1" fmla="*/ 12192000 w 12192000"/>
              <a:gd name="connsiteY1" fmla="*/ 0 h 3947056"/>
              <a:gd name="connsiteX2" fmla="*/ 12192000 w 12192000"/>
              <a:gd name="connsiteY2" fmla="*/ 3429000 h 3947056"/>
              <a:gd name="connsiteX3" fmla="*/ 7843101 w 12192000"/>
              <a:gd name="connsiteY3" fmla="*/ 3421930 h 3947056"/>
              <a:gd name="connsiteX4" fmla="*/ 5458120 w 12192000"/>
              <a:gd name="connsiteY4" fmla="*/ 3412503 h 3947056"/>
              <a:gd name="connsiteX5" fmla="*/ 2601798 w 12192000"/>
              <a:gd name="connsiteY5" fmla="*/ 3421930 h 3947056"/>
              <a:gd name="connsiteX6" fmla="*/ 0 w 12192000"/>
              <a:gd name="connsiteY6" fmla="*/ 3429000 h 3947056"/>
              <a:gd name="connsiteX7" fmla="*/ 0 w 12192000"/>
              <a:gd name="connsiteY7" fmla="*/ 0 h 3947056"/>
              <a:gd name="connsiteX0" fmla="*/ 0 w 12192000"/>
              <a:gd name="connsiteY0" fmla="*/ 0 h 3987099"/>
              <a:gd name="connsiteX1" fmla="*/ 12192000 w 12192000"/>
              <a:gd name="connsiteY1" fmla="*/ 0 h 3987099"/>
              <a:gd name="connsiteX2" fmla="*/ 12192000 w 12192000"/>
              <a:gd name="connsiteY2" fmla="*/ 3429000 h 3987099"/>
              <a:gd name="connsiteX3" fmla="*/ 7843101 w 12192000"/>
              <a:gd name="connsiteY3" fmla="*/ 3421930 h 3987099"/>
              <a:gd name="connsiteX4" fmla="*/ 5458120 w 12192000"/>
              <a:gd name="connsiteY4" fmla="*/ 3412503 h 3987099"/>
              <a:gd name="connsiteX5" fmla="*/ 2601798 w 12192000"/>
              <a:gd name="connsiteY5" fmla="*/ 3421930 h 3987099"/>
              <a:gd name="connsiteX6" fmla="*/ 0 w 12192000"/>
              <a:gd name="connsiteY6" fmla="*/ 3429000 h 3987099"/>
              <a:gd name="connsiteX7" fmla="*/ 0 w 12192000"/>
              <a:gd name="connsiteY7" fmla="*/ 0 h 3987099"/>
              <a:gd name="connsiteX0" fmla="*/ 0 w 12192000"/>
              <a:gd name="connsiteY0" fmla="*/ 0 h 3955927"/>
              <a:gd name="connsiteX1" fmla="*/ 12192000 w 12192000"/>
              <a:gd name="connsiteY1" fmla="*/ 0 h 3955927"/>
              <a:gd name="connsiteX2" fmla="*/ 12192000 w 12192000"/>
              <a:gd name="connsiteY2" fmla="*/ 3429000 h 3955927"/>
              <a:gd name="connsiteX3" fmla="*/ 8380428 w 12192000"/>
              <a:gd name="connsiteY3" fmla="*/ 3214540 h 3955927"/>
              <a:gd name="connsiteX4" fmla="*/ 5458120 w 12192000"/>
              <a:gd name="connsiteY4" fmla="*/ 3412503 h 3955927"/>
              <a:gd name="connsiteX5" fmla="*/ 2601798 w 12192000"/>
              <a:gd name="connsiteY5" fmla="*/ 3421930 h 3955927"/>
              <a:gd name="connsiteX6" fmla="*/ 0 w 12192000"/>
              <a:gd name="connsiteY6" fmla="*/ 3429000 h 3955927"/>
              <a:gd name="connsiteX7" fmla="*/ 0 w 12192000"/>
              <a:gd name="connsiteY7" fmla="*/ 0 h 3955927"/>
              <a:gd name="connsiteX0" fmla="*/ 0 w 12192000"/>
              <a:gd name="connsiteY0" fmla="*/ 0 h 3952319"/>
              <a:gd name="connsiteX1" fmla="*/ 12192000 w 12192000"/>
              <a:gd name="connsiteY1" fmla="*/ 0 h 3952319"/>
              <a:gd name="connsiteX2" fmla="*/ 12192000 w 12192000"/>
              <a:gd name="connsiteY2" fmla="*/ 3429000 h 3952319"/>
              <a:gd name="connsiteX3" fmla="*/ 8380428 w 12192000"/>
              <a:gd name="connsiteY3" fmla="*/ 3214540 h 3952319"/>
              <a:gd name="connsiteX4" fmla="*/ 5458120 w 12192000"/>
              <a:gd name="connsiteY4" fmla="*/ 3412503 h 3952319"/>
              <a:gd name="connsiteX5" fmla="*/ 2601798 w 12192000"/>
              <a:gd name="connsiteY5" fmla="*/ 3421930 h 3952319"/>
              <a:gd name="connsiteX6" fmla="*/ 0 w 12192000"/>
              <a:gd name="connsiteY6" fmla="*/ 3429000 h 3952319"/>
              <a:gd name="connsiteX7" fmla="*/ 0 w 12192000"/>
              <a:gd name="connsiteY7" fmla="*/ 0 h 3952319"/>
              <a:gd name="connsiteX0" fmla="*/ 0 w 12192000"/>
              <a:gd name="connsiteY0" fmla="*/ 0 h 3952319"/>
              <a:gd name="connsiteX1" fmla="*/ 12192000 w 12192000"/>
              <a:gd name="connsiteY1" fmla="*/ 0 h 3952319"/>
              <a:gd name="connsiteX2" fmla="*/ 12192000 w 12192000"/>
              <a:gd name="connsiteY2" fmla="*/ 3429000 h 3952319"/>
              <a:gd name="connsiteX3" fmla="*/ 8380428 w 12192000"/>
              <a:gd name="connsiteY3" fmla="*/ 3214540 h 3952319"/>
              <a:gd name="connsiteX4" fmla="*/ 5458120 w 12192000"/>
              <a:gd name="connsiteY4" fmla="*/ 3412503 h 3952319"/>
              <a:gd name="connsiteX5" fmla="*/ 2601798 w 12192000"/>
              <a:gd name="connsiteY5" fmla="*/ 3421930 h 3952319"/>
              <a:gd name="connsiteX6" fmla="*/ 0 w 12192000"/>
              <a:gd name="connsiteY6" fmla="*/ 3429000 h 3952319"/>
              <a:gd name="connsiteX7" fmla="*/ 0 w 12192000"/>
              <a:gd name="connsiteY7" fmla="*/ 0 h 3952319"/>
              <a:gd name="connsiteX0" fmla="*/ 0 w 12192000"/>
              <a:gd name="connsiteY0" fmla="*/ 0 h 4072455"/>
              <a:gd name="connsiteX1" fmla="*/ 12192000 w 12192000"/>
              <a:gd name="connsiteY1" fmla="*/ 0 h 4072455"/>
              <a:gd name="connsiteX2" fmla="*/ 12192000 w 12192000"/>
              <a:gd name="connsiteY2" fmla="*/ 3429000 h 4072455"/>
              <a:gd name="connsiteX3" fmla="*/ 8380428 w 12192000"/>
              <a:gd name="connsiteY3" fmla="*/ 3214540 h 4072455"/>
              <a:gd name="connsiteX4" fmla="*/ 5458120 w 12192000"/>
              <a:gd name="connsiteY4" fmla="*/ 3412503 h 4072455"/>
              <a:gd name="connsiteX5" fmla="*/ 2601798 w 12192000"/>
              <a:gd name="connsiteY5" fmla="*/ 3421930 h 4072455"/>
              <a:gd name="connsiteX6" fmla="*/ 0 w 12192000"/>
              <a:gd name="connsiteY6" fmla="*/ 3429000 h 4072455"/>
              <a:gd name="connsiteX7" fmla="*/ 0 w 12192000"/>
              <a:gd name="connsiteY7" fmla="*/ 0 h 407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2455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cubicBezTo>
                  <a:pt x="10524504" y="5064551"/>
                  <a:pt x="10002361" y="2255756"/>
                  <a:pt x="8380428" y="3214540"/>
                </a:cubicBezTo>
                <a:cubicBezTo>
                  <a:pt x="6758495" y="4173324"/>
                  <a:pt x="6675748" y="2548379"/>
                  <a:pt x="5458120" y="3412503"/>
                </a:cubicBezTo>
                <a:cubicBezTo>
                  <a:pt x="4240492" y="4276627"/>
                  <a:pt x="3374796" y="4304906"/>
                  <a:pt x="2601798" y="3421930"/>
                </a:cubicBezTo>
                <a:cubicBezTo>
                  <a:pt x="2002589" y="2737469"/>
                  <a:pt x="433633" y="3999322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1B2DF"/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2F4455C-A7AF-B43D-EDC3-2D116CCC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376" y="429863"/>
            <a:ext cx="10048973" cy="785528"/>
          </a:xfrm>
        </p:spPr>
        <p:txBody>
          <a:bodyPr/>
          <a:lstStyle/>
          <a:p>
            <a:pPr algn="ctr"/>
            <a:r>
              <a:rPr lang="es-ES" dirty="0">
                <a:solidFill>
                  <a:schemeClr val="bg2"/>
                </a:solidFill>
              </a:rPr>
              <a:t>Dudas de la clase anterior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7C7018-91C7-CB0A-68C4-A3BD548E3C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87AAC9-BA93-71AA-9C74-5A8E879F384D}"/>
              </a:ext>
            </a:extLst>
          </p:cNvPr>
          <p:cNvSpPr/>
          <p:nvPr/>
        </p:nvSpPr>
        <p:spPr>
          <a:xfrm>
            <a:off x="1046375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Clase </a:t>
            </a:r>
            <a:br>
              <a:rPr lang="es-E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8B8AEF-A995-059E-F47E-B1CD6465D53F}"/>
              </a:ext>
            </a:extLst>
          </p:cNvPr>
          <p:cNvSpPr/>
          <p:nvPr/>
        </p:nvSpPr>
        <p:spPr>
          <a:xfrm>
            <a:off x="3654458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Formas de crear un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F7261D-F20E-8E58-EDB6-A0C374F5EB43}"/>
              </a:ext>
            </a:extLst>
          </p:cNvPr>
          <p:cNvSpPr/>
          <p:nvPr/>
        </p:nvSpPr>
        <p:spPr>
          <a:xfrm>
            <a:off x="6262541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2"/>
                </a:solidFill>
              </a:rPr>
              <a:t>¿Porqué un </a:t>
            </a:r>
            <a:r>
              <a:rPr lang="es-ES" sz="2400" dirty="0" err="1">
                <a:solidFill>
                  <a:schemeClr val="bg2"/>
                </a:solidFill>
              </a:rPr>
              <a:t>String</a:t>
            </a:r>
            <a:r>
              <a:rPr lang="es-ES" sz="2400" dirty="0">
                <a:solidFill>
                  <a:schemeClr val="bg2"/>
                </a:solidFill>
              </a:rPr>
              <a:t> es inmutable?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6F3330-B518-5353-9F04-E582D7F787B6}"/>
              </a:ext>
            </a:extLst>
          </p:cNvPr>
          <p:cNvSpPr/>
          <p:nvPr/>
        </p:nvSpPr>
        <p:spPr>
          <a:xfrm>
            <a:off x="8870624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Funciones principales de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8" name="Graphic 17" descr="Badge New with solid fill">
            <a:extLst>
              <a:ext uri="{FF2B5EF4-FFF2-40B4-BE49-F238E27FC236}">
                <a16:creationId xmlns:a16="http://schemas.microsoft.com/office/drawing/2014/main" id="{0D576991-A770-0B2D-A418-9A825F763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9217" y="1572651"/>
            <a:ext cx="1264812" cy="1264812"/>
          </a:xfrm>
          <a:prstGeom prst="rect">
            <a:avLst/>
          </a:prstGeom>
        </p:spPr>
      </p:pic>
      <p:pic>
        <p:nvPicPr>
          <p:cNvPr id="20" name="Graphic 19" descr="Snowflake with solid fill">
            <a:extLst>
              <a:ext uri="{FF2B5EF4-FFF2-40B4-BE49-F238E27FC236}">
                <a16:creationId xmlns:a16="http://schemas.microsoft.com/office/drawing/2014/main" id="{7044717A-F82E-72F5-793D-6A5F4DEE6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60" y="1485057"/>
            <a:ext cx="1440000" cy="1440000"/>
          </a:xfrm>
          <a:prstGeom prst="rect">
            <a:avLst/>
          </a:prstGeom>
        </p:spPr>
      </p:pic>
      <p:pic>
        <p:nvPicPr>
          <p:cNvPr id="22" name="Graphic 21" descr="Continuous Improvement with solid fill">
            <a:extLst>
              <a:ext uri="{FF2B5EF4-FFF2-40B4-BE49-F238E27FC236}">
                <a16:creationId xmlns:a16="http://schemas.microsoft.com/office/drawing/2014/main" id="{6B8390A6-918E-82F3-4226-62EDB6E1C6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59100" y="1485057"/>
            <a:ext cx="1440000" cy="1440000"/>
          </a:xfrm>
          <a:prstGeom prst="rect">
            <a:avLst/>
          </a:prstGeom>
        </p:spPr>
      </p:pic>
      <p:pic>
        <p:nvPicPr>
          <p:cNvPr id="26" name="Graphic 25" descr="Rope Knot with solid fill">
            <a:extLst>
              <a:ext uri="{FF2B5EF4-FFF2-40B4-BE49-F238E27FC236}">
                <a16:creationId xmlns:a16="http://schemas.microsoft.com/office/drawing/2014/main" id="{D9B7B7B1-E8A6-FD5A-5BCE-24B389D332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8746" y="1616457"/>
            <a:ext cx="1177200" cy="117720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BE43C0-D8DD-CB40-48D3-EAF594A68F90}"/>
              </a:ext>
            </a:extLst>
          </p:cNvPr>
          <p:cNvSpPr/>
          <p:nvPr/>
        </p:nvSpPr>
        <p:spPr>
          <a:xfrm>
            <a:off x="1641310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D789FA4-EABA-904D-930E-3EB18E478D0C}"/>
              </a:ext>
            </a:extLst>
          </p:cNvPr>
          <p:cNvSpPr/>
          <p:nvPr/>
        </p:nvSpPr>
        <p:spPr>
          <a:xfrm>
            <a:off x="4284196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9FA5C9E-8029-6D22-25EB-5D7B855005AE}"/>
              </a:ext>
            </a:extLst>
          </p:cNvPr>
          <p:cNvSpPr/>
          <p:nvPr/>
        </p:nvSpPr>
        <p:spPr>
          <a:xfrm>
            <a:off x="6887211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794FB42-C95E-5BDA-7B99-528AE5CB71AA}"/>
              </a:ext>
            </a:extLst>
          </p:cNvPr>
          <p:cNvSpPr/>
          <p:nvPr/>
        </p:nvSpPr>
        <p:spPr>
          <a:xfrm>
            <a:off x="9530097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31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B9BE48-5AE6-0EE8-E322-2698CF5B4175}"/>
              </a:ext>
            </a:extLst>
          </p:cNvPr>
          <p:cNvSpPr/>
          <p:nvPr/>
        </p:nvSpPr>
        <p:spPr>
          <a:xfrm>
            <a:off x="0" y="1"/>
            <a:ext cx="12192000" cy="4072456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  <a:gd name="connsiteX4" fmla="*/ 0 w 12192000"/>
              <a:gd name="connsiteY4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2601798 w 12192000"/>
              <a:gd name="connsiteY3" fmla="*/ 3421930 h 3429000"/>
              <a:gd name="connsiteX4" fmla="*/ 0 w 12192000"/>
              <a:gd name="connsiteY4" fmla="*/ 3429000 h 3429000"/>
              <a:gd name="connsiteX5" fmla="*/ 0 w 12192000"/>
              <a:gd name="connsiteY5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2601798 w 12192000"/>
              <a:gd name="connsiteY4" fmla="*/ 3421930 h 3429000"/>
              <a:gd name="connsiteX5" fmla="*/ 0 w 12192000"/>
              <a:gd name="connsiteY5" fmla="*/ 3429000 h 3429000"/>
              <a:gd name="connsiteX6" fmla="*/ 0 w 12192000"/>
              <a:gd name="connsiteY6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5458120 w 12192000"/>
              <a:gd name="connsiteY4" fmla="*/ 3412503 h 3429000"/>
              <a:gd name="connsiteX5" fmla="*/ 2601798 w 12192000"/>
              <a:gd name="connsiteY5" fmla="*/ 3421930 h 3429000"/>
              <a:gd name="connsiteX6" fmla="*/ 0 w 12192000"/>
              <a:gd name="connsiteY6" fmla="*/ 3429000 h 3429000"/>
              <a:gd name="connsiteX7" fmla="*/ 0 w 12192000"/>
              <a:gd name="connsiteY7" fmla="*/ 0 h 3429000"/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7843101 w 12192000"/>
              <a:gd name="connsiteY3" fmla="*/ 3421930 h 3429000"/>
              <a:gd name="connsiteX4" fmla="*/ 5458120 w 12192000"/>
              <a:gd name="connsiteY4" fmla="*/ 3412503 h 3429000"/>
              <a:gd name="connsiteX5" fmla="*/ 2601798 w 12192000"/>
              <a:gd name="connsiteY5" fmla="*/ 3421930 h 3429000"/>
              <a:gd name="connsiteX6" fmla="*/ 0 w 12192000"/>
              <a:gd name="connsiteY6" fmla="*/ 3429000 h 3429000"/>
              <a:gd name="connsiteX7" fmla="*/ 0 w 12192000"/>
              <a:gd name="connsiteY7" fmla="*/ 0 h 3429000"/>
              <a:gd name="connsiteX0" fmla="*/ 0 w 12192000"/>
              <a:gd name="connsiteY0" fmla="*/ 0 h 3681260"/>
              <a:gd name="connsiteX1" fmla="*/ 12192000 w 12192000"/>
              <a:gd name="connsiteY1" fmla="*/ 0 h 3681260"/>
              <a:gd name="connsiteX2" fmla="*/ 12192000 w 12192000"/>
              <a:gd name="connsiteY2" fmla="*/ 3429000 h 3681260"/>
              <a:gd name="connsiteX3" fmla="*/ 7843101 w 12192000"/>
              <a:gd name="connsiteY3" fmla="*/ 3421930 h 3681260"/>
              <a:gd name="connsiteX4" fmla="*/ 5458120 w 12192000"/>
              <a:gd name="connsiteY4" fmla="*/ 3412503 h 3681260"/>
              <a:gd name="connsiteX5" fmla="*/ 2601798 w 12192000"/>
              <a:gd name="connsiteY5" fmla="*/ 3421930 h 3681260"/>
              <a:gd name="connsiteX6" fmla="*/ 0 w 12192000"/>
              <a:gd name="connsiteY6" fmla="*/ 3429000 h 3681260"/>
              <a:gd name="connsiteX7" fmla="*/ 0 w 12192000"/>
              <a:gd name="connsiteY7" fmla="*/ 0 h 3681260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766134"/>
              <a:gd name="connsiteX1" fmla="*/ 12192000 w 12192000"/>
              <a:gd name="connsiteY1" fmla="*/ 0 h 3766134"/>
              <a:gd name="connsiteX2" fmla="*/ 12192000 w 12192000"/>
              <a:gd name="connsiteY2" fmla="*/ 3429000 h 3766134"/>
              <a:gd name="connsiteX3" fmla="*/ 7843101 w 12192000"/>
              <a:gd name="connsiteY3" fmla="*/ 3421930 h 3766134"/>
              <a:gd name="connsiteX4" fmla="*/ 5458120 w 12192000"/>
              <a:gd name="connsiteY4" fmla="*/ 3412503 h 3766134"/>
              <a:gd name="connsiteX5" fmla="*/ 2601798 w 12192000"/>
              <a:gd name="connsiteY5" fmla="*/ 3421930 h 3766134"/>
              <a:gd name="connsiteX6" fmla="*/ 0 w 12192000"/>
              <a:gd name="connsiteY6" fmla="*/ 3429000 h 3766134"/>
              <a:gd name="connsiteX7" fmla="*/ 0 w 12192000"/>
              <a:gd name="connsiteY7" fmla="*/ 0 h 3766134"/>
              <a:gd name="connsiteX0" fmla="*/ 0 w 12192000"/>
              <a:gd name="connsiteY0" fmla="*/ 0 h 3833749"/>
              <a:gd name="connsiteX1" fmla="*/ 12192000 w 12192000"/>
              <a:gd name="connsiteY1" fmla="*/ 0 h 3833749"/>
              <a:gd name="connsiteX2" fmla="*/ 12192000 w 12192000"/>
              <a:gd name="connsiteY2" fmla="*/ 3429000 h 3833749"/>
              <a:gd name="connsiteX3" fmla="*/ 7843101 w 12192000"/>
              <a:gd name="connsiteY3" fmla="*/ 3421930 h 3833749"/>
              <a:gd name="connsiteX4" fmla="*/ 5458120 w 12192000"/>
              <a:gd name="connsiteY4" fmla="*/ 3412503 h 3833749"/>
              <a:gd name="connsiteX5" fmla="*/ 2601798 w 12192000"/>
              <a:gd name="connsiteY5" fmla="*/ 3421930 h 3833749"/>
              <a:gd name="connsiteX6" fmla="*/ 0 w 12192000"/>
              <a:gd name="connsiteY6" fmla="*/ 3429000 h 3833749"/>
              <a:gd name="connsiteX7" fmla="*/ 0 w 12192000"/>
              <a:gd name="connsiteY7" fmla="*/ 0 h 3833749"/>
              <a:gd name="connsiteX0" fmla="*/ 0 w 12192000"/>
              <a:gd name="connsiteY0" fmla="*/ 0 h 3947056"/>
              <a:gd name="connsiteX1" fmla="*/ 12192000 w 12192000"/>
              <a:gd name="connsiteY1" fmla="*/ 0 h 3947056"/>
              <a:gd name="connsiteX2" fmla="*/ 12192000 w 12192000"/>
              <a:gd name="connsiteY2" fmla="*/ 3429000 h 3947056"/>
              <a:gd name="connsiteX3" fmla="*/ 7843101 w 12192000"/>
              <a:gd name="connsiteY3" fmla="*/ 3421930 h 3947056"/>
              <a:gd name="connsiteX4" fmla="*/ 5458120 w 12192000"/>
              <a:gd name="connsiteY4" fmla="*/ 3412503 h 3947056"/>
              <a:gd name="connsiteX5" fmla="*/ 2601798 w 12192000"/>
              <a:gd name="connsiteY5" fmla="*/ 3421930 h 3947056"/>
              <a:gd name="connsiteX6" fmla="*/ 0 w 12192000"/>
              <a:gd name="connsiteY6" fmla="*/ 3429000 h 3947056"/>
              <a:gd name="connsiteX7" fmla="*/ 0 w 12192000"/>
              <a:gd name="connsiteY7" fmla="*/ 0 h 3947056"/>
              <a:gd name="connsiteX0" fmla="*/ 0 w 12192000"/>
              <a:gd name="connsiteY0" fmla="*/ 0 h 3987099"/>
              <a:gd name="connsiteX1" fmla="*/ 12192000 w 12192000"/>
              <a:gd name="connsiteY1" fmla="*/ 0 h 3987099"/>
              <a:gd name="connsiteX2" fmla="*/ 12192000 w 12192000"/>
              <a:gd name="connsiteY2" fmla="*/ 3429000 h 3987099"/>
              <a:gd name="connsiteX3" fmla="*/ 7843101 w 12192000"/>
              <a:gd name="connsiteY3" fmla="*/ 3421930 h 3987099"/>
              <a:gd name="connsiteX4" fmla="*/ 5458120 w 12192000"/>
              <a:gd name="connsiteY4" fmla="*/ 3412503 h 3987099"/>
              <a:gd name="connsiteX5" fmla="*/ 2601798 w 12192000"/>
              <a:gd name="connsiteY5" fmla="*/ 3421930 h 3987099"/>
              <a:gd name="connsiteX6" fmla="*/ 0 w 12192000"/>
              <a:gd name="connsiteY6" fmla="*/ 3429000 h 3987099"/>
              <a:gd name="connsiteX7" fmla="*/ 0 w 12192000"/>
              <a:gd name="connsiteY7" fmla="*/ 0 h 3987099"/>
              <a:gd name="connsiteX0" fmla="*/ 0 w 12192000"/>
              <a:gd name="connsiteY0" fmla="*/ 0 h 3955927"/>
              <a:gd name="connsiteX1" fmla="*/ 12192000 w 12192000"/>
              <a:gd name="connsiteY1" fmla="*/ 0 h 3955927"/>
              <a:gd name="connsiteX2" fmla="*/ 12192000 w 12192000"/>
              <a:gd name="connsiteY2" fmla="*/ 3429000 h 3955927"/>
              <a:gd name="connsiteX3" fmla="*/ 8380428 w 12192000"/>
              <a:gd name="connsiteY3" fmla="*/ 3214540 h 3955927"/>
              <a:gd name="connsiteX4" fmla="*/ 5458120 w 12192000"/>
              <a:gd name="connsiteY4" fmla="*/ 3412503 h 3955927"/>
              <a:gd name="connsiteX5" fmla="*/ 2601798 w 12192000"/>
              <a:gd name="connsiteY5" fmla="*/ 3421930 h 3955927"/>
              <a:gd name="connsiteX6" fmla="*/ 0 w 12192000"/>
              <a:gd name="connsiteY6" fmla="*/ 3429000 h 3955927"/>
              <a:gd name="connsiteX7" fmla="*/ 0 w 12192000"/>
              <a:gd name="connsiteY7" fmla="*/ 0 h 3955927"/>
              <a:gd name="connsiteX0" fmla="*/ 0 w 12192000"/>
              <a:gd name="connsiteY0" fmla="*/ 0 h 3952319"/>
              <a:gd name="connsiteX1" fmla="*/ 12192000 w 12192000"/>
              <a:gd name="connsiteY1" fmla="*/ 0 h 3952319"/>
              <a:gd name="connsiteX2" fmla="*/ 12192000 w 12192000"/>
              <a:gd name="connsiteY2" fmla="*/ 3429000 h 3952319"/>
              <a:gd name="connsiteX3" fmla="*/ 8380428 w 12192000"/>
              <a:gd name="connsiteY3" fmla="*/ 3214540 h 3952319"/>
              <a:gd name="connsiteX4" fmla="*/ 5458120 w 12192000"/>
              <a:gd name="connsiteY4" fmla="*/ 3412503 h 3952319"/>
              <a:gd name="connsiteX5" fmla="*/ 2601798 w 12192000"/>
              <a:gd name="connsiteY5" fmla="*/ 3421930 h 3952319"/>
              <a:gd name="connsiteX6" fmla="*/ 0 w 12192000"/>
              <a:gd name="connsiteY6" fmla="*/ 3429000 h 3952319"/>
              <a:gd name="connsiteX7" fmla="*/ 0 w 12192000"/>
              <a:gd name="connsiteY7" fmla="*/ 0 h 3952319"/>
              <a:gd name="connsiteX0" fmla="*/ 0 w 12192000"/>
              <a:gd name="connsiteY0" fmla="*/ 0 h 3952319"/>
              <a:gd name="connsiteX1" fmla="*/ 12192000 w 12192000"/>
              <a:gd name="connsiteY1" fmla="*/ 0 h 3952319"/>
              <a:gd name="connsiteX2" fmla="*/ 12192000 w 12192000"/>
              <a:gd name="connsiteY2" fmla="*/ 3429000 h 3952319"/>
              <a:gd name="connsiteX3" fmla="*/ 8380428 w 12192000"/>
              <a:gd name="connsiteY3" fmla="*/ 3214540 h 3952319"/>
              <a:gd name="connsiteX4" fmla="*/ 5458120 w 12192000"/>
              <a:gd name="connsiteY4" fmla="*/ 3412503 h 3952319"/>
              <a:gd name="connsiteX5" fmla="*/ 2601798 w 12192000"/>
              <a:gd name="connsiteY5" fmla="*/ 3421930 h 3952319"/>
              <a:gd name="connsiteX6" fmla="*/ 0 w 12192000"/>
              <a:gd name="connsiteY6" fmla="*/ 3429000 h 3952319"/>
              <a:gd name="connsiteX7" fmla="*/ 0 w 12192000"/>
              <a:gd name="connsiteY7" fmla="*/ 0 h 3952319"/>
              <a:gd name="connsiteX0" fmla="*/ 0 w 12192000"/>
              <a:gd name="connsiteY0" fmla="*/ 0 h 4072455"/>
              <a:gd name="connsiteX1" fmla="*/ 12192000 w 12192000"/>
              <a:gd name="connsiteY1" fmla="*/ 0 h 4072455"/>
              <a:gd name="connsiteX2" fmla="*/ 12192000 w 12192000"/>
              <a:gd name="connsiteY2" fmla="*/ 3429000 h 4072455"/>
              <a:gd name="connsiteX3" fmla="*/ 8380428 w 12192000"/>
              <a:gd name="connsiteY3" fmla="*/ 3214540 h 4072455"/>
              <a:gd name="connsiteX4" fmla="*/ 5458120 w 12192000"/>
              <a:gd name="connsiteY4" fmla="*/ 3412503 h 4072455"/>
              <a:gd name="connsiteX5" fmla="*/ 2601798 w 12192000"/>
              <a:gd name="connsiteY5" fmla="*/ 3421930 h 4072455"/>
              <a:gd name="connsiteX6" fmla="*/ 0 w 12192000"/>
              <a:gd name="connsiteY6" fmla="*/ 3429000 h 4072455"/>
              <a:gd name="connsiteX7" fmla="*/ 0 w 12192000"/>
              <a:gd name="connsiteY7" fmla="*/ 0 h 407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2455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cubicBezTo>
                  <a:pt x="10524504" y="5064551"/>
                  <a:pt x="10002361" y="2255756"/>
                  <a:pt x="8380428" y="3214540"/>
                </a:cubicBezTo>
                <a:cubicBezTo>
                  <a:pt x="6758495" y="4173324"/>
                  <a:pt x="6675748" y="2548379"/>
                  <a:pt x="5458120" y="3412503"/>
                </a:cubicBezTo>
                <a:cubicBezTo>
                  <a:pt x="4240492" y="4276627"/>
                  <a:pt x="3374796" y="4304906"/>
                  <a:pt x="2601798" y="3421930"/>
                </a:cubicBezTo>
                <a:cubicBezTo>
                  <a:pt x="2002589" y="2737469"/>
                  <a:pt x="433633" y="3999322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1B2DF"/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2F4455C-A7AF-B43D-EDC3-2D116CCC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376" y="429863"/>
            <a:ext cx="10048973" cy="785528"/>
          </a:xfrm>
        </p:spPr>
        <p:txBody>
          <a:bodyPr/>
          <a:lstStyle/>
          <a:p>
            <a:pPr algn="ctr"/>
            <a:r>
              <a:rPr lang="es-ES" dirty="0">
                <a:solidFill>
                  <a:schemeClr val="bg2"/>
                </a:solidFill>
              </a:rPr>
              <a:t>Dudas de la clase anterior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7C7018-91C7-CB0A-68C4-A3BD548E3C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87AAC9-BA93-71AA-9C74-5A8E879F384D}"/>
              </a:ext>
            </a:extLst>
          </p:cNvPr>
          <p:cNvSpPr/>
          <p:nvPr/>
        </p:nvSpPr>
        <p:spPr>
          <a:xfrm>
            <a:off x="1046375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Clase </a:t>
            </a:r>
            <a:br>
              <a:rPr lang="es-E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8B8AEF-A995-059E-F47E-B1CD6465D53F}"/>
              </a:ext>
            </a:extLst>
          </p:cNvPr>
          <p:cNvSpPr/>
          <p:nvPr/>
        </p:nvSpPr>
        <p:spPr>
          <a:xfrm>
            <a:off x="3654458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Formas de crear un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F7261D-F20E-8E58-EDB6-A0C374F5EB43}"/>
              </a:ext>
            </a:extLst>
          </p:cNvPr>
          <p:cNvSpPr/>
          <p:nvPr/>
        </p:nvSpPr>
        <p:spPr>
          <a:xfrm>
            <a:off x="6262541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¿Porqué un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String</a:t>
            </a: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 es inmutable?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6F3330-B518-5353-9F04-E582D7F787B6}"/>
              </a:ext>
            </a:extLst>
          </p:cNvPr>
          <p:cNvSpPr/>
          <p:nvPr/>
        </p:nvSpPr>
        <p:spPr>
          <a:xfrm>
            <a:off x="8870624" y="2215300"/>
            <a:ext cx="2224725" cy="3667027"/>
          </a:xfrm>
          <a:prstGeom prst="roundRect">
            <a:avLst>
              <a:gd name="adj" fmla="val 6497"/>
            </a:avLst>
          </a:prstGeom>
          <a:solidFill>
            <a:schemeClr val="bg1"/>
          </a:solidFill>
          <a:ln>
            <a:noFill/>
          </a:ln>
          <a:effectLst>
            <a:outerShdw blurRad="304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2"/>
                </a:solidFill>
              </a:rPr>
              <a:t>Funciones principales de </a:t>
            </a:r>
            <a:r>
              <a:rPr lang="es-ES" sz="2400" dirty="0" err="1">
                <a:solidFill>
                  <a:schemeClr val="bg2"/>
                </a:solidFill>
              </a:rPr>
              <a:t>String</a:t>
            </a: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18" name="Graphic 17" descr="Badge New with solid fill">
            <a:extLst>
              <a:ext uri="{FF2B5EF4-FFF2-40B4-BE49-F238E27FC236}">
                <a16:creationId xmlns:a16="http://schemas.microsoft.com/office/drawing/2014/main" id="{0D576991-A770-0B2D-A418-9A825F763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9217" y="1572651"/>
            <a:ext cx="1264812" cy="1264812"/>
          </a:xfrm>
          <a:prstGeom prst="rect">
            <a:avLst/>
          </a:prstGeom>
        </p:spPr>
      </p:pic>
      <p:pic>
        <p:nvPicPr>
          <p:cNvPr id="20" name="Graphic 19" descr="Snowflake with solid fill">
            <a:extLst>
              <a:ext uri="{FF2B5EF4-FFF2-40B4-BE49-F238E27FC236}">
                <a16:creationId xmlns:a16="http://schemas.microsoft.com/office/drawing/2014/main" id="{7044717A-F82E-72F5-793D-6A5F4DEE6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60" y="1485057"/>
            <a:ext cx="1440000" cy="1440000"/>
          </a:xfrm>
          <a:prstGeom prst="rect">
            <a:avLst/>
          </a:prstGeom>
        </p:spPr>
      </p:pic>
      <p:pic>
        <p:nvPicPr>
          <p:cNvPr id="22" name="Graphic 21" descr="Continuous Improvement with solid fill">
            <a:extLst>
              <a:ext uri="{FF2B5EF4-FFF2-40B4-BE49-F238E27FC236}">
                <a16:creationId xmlns:a16="http://schemas.microsoft.com/office/drawing/2014/main" id="{6B8390A6-918E-82F3-4226-62EDB6E1C6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59100" y="1485057"/>
            <a:ext cx="1440000" cy="1440000"/>
          </a:xfrm>
          <a:prstGeom prst="rect">
            <a:avLst/>
          </a:prstGeom>
        </p:spPr>
      </p:pic>
      <p:pic>
        <p:nvPicPr>
          <p:cNvPr id="26" name="Graphic 25" descr="Rope Knot with solid fill">
            <a:extLst>
              <a:ext uri="{FF2B5EF4-FFF2-40B4-BE49-F238E27FC236}">
                <a16:creationId xmlns:a16="http://schemas.microsoft.com/office/drawing/2014/main" id="{D9B7B7B1-E8A6-FD5A-5BCE-24B389D332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8746" y="1616457"/>
            <a:ext cx="1177200" cy="117720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BE43C0-D8DD-CB40-48D3-EAF594A68F90}"/>
              </a:ext>
            </a:extLst>
          </p:cNvPr>
          <p:cNvSpPr/>
          <p:nvPr/>
        </p:nvSpPr>
        <p:spPr>
          <a:xfrm>
            <a:off x="1641310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D789FA4-EABA-904D-930E-3EB18E478D0C}"/>
              </a:ext>
            </a:extLst>
          </p:cNvPr>
          <p:cNvSpPr/>
          <p:nvPr/>
        </p:nvSpPr>
        <p:spPr>
          <a:xfrm>
            <a:off x="4284196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9FA5C9E-8029-6D22-25EB-5D7B855005AE}"/>
              </a:ext>
            </a:extLst>
          </p:cNvPr>
          <p:cNvSpPr/>
          <p:nvPr/>
        </p:nvSpPr>
        <p:spPr>
          <a:xfrm>
            <a:off x="6887211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B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794FB42-C95E-5BDA-7B99-528AE5CB71AA}"/>
              </a:ext>
            </a:extLst>
          </p:cNvPr>
          <p:cNvSpPr/>
          <p:nvPr/>
        </p:nvSpPr>
        <p:spPr>
          <a:xfrm>
            <a:off x="9530097" y="5037240"/>
            <a:ext cx="1034853" cy="405352"/>
          </a:xfrm>
          <a:prstGeom prst="roundRect">
            <a:avLst>
              <a:gd name="adj" fmla="val 50000"/>
            </a:avLst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2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788911"/>
            <a:ext cx="7364361" cy="232173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dirty="0">
                <a:latin typeface="Helvetica"/>
              </a:rPr>
              <a:t>Manejo de Cadenas de Texto (II)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15913"/>
            <a:ext cx="2949677" cy="6667564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2C08B8B1-5499-496C-B14C-524F3B9E91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9" y="429863"/>
            <a:ext cx="10552522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1279" y="1436914"/>
            <a:ext cx="4480725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Observa la imagen y responde: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hace el programa?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se realiza de manera masiva?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¿Es eficiente? ¿Porqué?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DF3BBB3-3939-0719-F4F5-BFDAF902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306" y="1572694"/>
            <a:ext cx="5874588" cy="3772434"/>
          </a:xfrm>
          <a:prstGeom prst="roundRect">
            <a:avLst>
              <a:gd name="adj" fmla="val 5237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correos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nuevoCorreo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65536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nuevoCorreo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A9B7C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java.util.UUID.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randomUUID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A9B7C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"@utp.edu.pe"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correos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nuevoCorreo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correos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6FBA95-98D7-1E9B-4375-B37EAA2C803B}"/>
              </a:ext>
            </a:extLst>
          </p:cNvPr>
          <p:cNvGrpSpPr/>
          <p:nvPr/>
        </p:nvGrpSpPr>
        <p:grpSpPr>
          <a:xfrm>
            <a:off x="8610600" y="900108"/>
            <a:ext cx="2825045" cy="500071"/>
            <a:chOff x="6039154" y="5478538"/>
            <a:chExt cx="5165709" cy="914400"/>
          </a:xfrm>
        </p:grpSpPr>
        <p:pic>
          <p:nvPicPr>
            <p:cNvPr id="7" name="Graphic 6" descr="Email with solid fill">
              <a:extLst>
                <a:ext uri="{FF2B5EF4-FFF2-40B4-BE49-F238E27FC236}">
                  <a16:creationId xmlns:a16="http://schemas.microsoft.com/office/drawing/2014/main" id="{CB8E7907-2C2C-5EEC-9509-9D673B9E9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90463" y="5478538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Send with solid fill">
              <a:extLst>
                <a:ext uri="{FF2B5EF4-FFF2-40B4-BE49-F238E27FC236}">
                  <a16:creationId xmlns:a16="http://schemas.microsoft.com/office/drawing/2014/main" id="{4B2736D4-4827-F0D1-F825-3BDFDCC8C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37536" y="5478538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Mailbox with solid fill">
              <a:extLst>
                <a:ext uri="{FF2B5EF4-FFF2-40B4-BE49-F238E27FC236}">
                  <a16:creationId xmlns:a16="http://schemas.microsoft.com/office/drawing/2014/main" id="{E044A9AF-9AD2-DB3C-60DB-CE5899344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05281" y="5478538"/>
              <a:ext cx="914400" cy="914400"/>
            </a:xfrm>
            <a:prstGeom prst="rect">
              <a:avLst/>
            </a:prstGeom>
          </p:spPr>
        </p:pic>
        <p:pic>
          <p:nvPicPr>
            <p:cNvPr id="14" name="Graphic 13" descr="Open envelope with solid fill">
              <a:extLst>
                <a:ext uri="{FF2B5EF4-FFF2-40B4-BE49-F238E27FC236}">
                  <a16:creationId xmlns:a16="http://schemas.microsoft.com/office/drawing/2014/main" id="{44A216F5-4C10-08D5-F1F5-3CA77186F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71408" y="5478538"/>
              <a:ext cx="914400" cy="914400"/>
            </a:xfrm>
            <a:prstGeom prst="rect">
              <a:avLst/>
            </a:prstGeom>
          </p:spPr>
        </p:pic>
        <p:pic>
          <p:nvPicPr>
            <p:cNvPr id="16" name="Graphic 15" descr="Envelope with solid fill">
              <a:extLst>
                <a:ext uri="{FF2B5EF4-FFF2-40B4-BE49-F238E27FC236}">
                  <a16:creationId xmlns:a16="http://schemas.microsoft.com/office/drawing/2014/main" id="{6E09BA88-F617-CC13-1F22-6964B70CE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039154" y="5478538"/>
              <a:ext cx="914400" cy="9144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96F14B9-F61A-50A6-6688-1BB839710589}"/>
              </a:ext>
            </a:extLst>
          </p:cNvPr>
          <p:cNvSpPr txBox="1"/>
          <p:nvPr/>
        </p:nvSpPr>
        <p:spPr>
          <a:xfrm>
            <a:off x="5673306" y="5588560"/>
            <a:ext cx="58745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Nota:</a:t>
            </a:r>
          </a:p>
          <a:p>
            <a:r>
              <a:rPr lang="en-US" dirty="0">
                <a:solidFill>
                  <a:srgbClr val="00B0F0"/>
                </a:solidFill>
              </a:rPr>
              <a:t>UUID = Universal Unique Identifier (</a:t>
            </a:r>
            <a:r>
              <a:rPr lang="en-US" dirty="0" err="1">
                <a:solidFill>
                  <a:srgbClr val="00B0F0"/>
                </a:solidFill>
              </a:rPr>
              <a:t>Identificador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Único</a:t>
            </a:r>
            <a:r>
              <a:rPr lang="en-US" dirty="0">
                <a:solidFill>
                  <a:srgbClr val="00B0F0"/>
                </a:solidFill>
              </a:rPr>
              <a:t> Global)</a:t>
            </a:r>
          </a:p>
          <a:p>
            <a:r>
              <a:rPr lang="en-US" dirty="0" err="1">
                <a:solidFill>
                  <a:srgbClr val="00B0F0"/>
                </a:solidFill>
              </a:rPr>
              <a:t>Ejemplo</a:t>
            </a:r>
            <a:r>
              <a:rPr lang="en-US" dirty="0">
                <a:solidFill>
                  <a:srgbClr val="00B0F0"/>
                </a:solidFill>
              </a:rPr>
              <a:t> de UUID: e775a101-2122-4e53-8e3b-166302d704c3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resuelve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problemas con </a:t>
            </a:r>
            <a:r>
              <a:rPr lang="es-ES" dirty="0" err="1">
                <a:solidFill>
                  <a:schemeClr val="accent4"/>
                </a:solidFill>
              </a:rPr>
              <a:t>String</a:t>
            </a:r>
            <a:r>
              <a:rPr lang="es-ES" dirty="0">
                <a:solidFill>
                  <a:schemeClr val="accent4"/>
                </a:solidFill>
              </a:rPr>
              <a:t>, </a:t>
            </a:r>
            <a:r>
              <a:rPr lang="es-ES" dirty="0" err="1">
                <a:solidFill>
                  <a:schemeClr val="accent4"/>
                </a:solidFill>
              </a:rPr>
              <a:t>StringBuilder</a:t>
            </a:r>
            <a:r>
              <a:rPr lang="es-ES" dirty="0">
                <a:solidFill>
                  <a:schemeClr val="accent4"/>
                </a:solidFill>
              </a:rPr>
              <a:t> y </a:t>
            </a:r>
            <a:r>
              <a:rPr lang="es-ES" dirty="0" err="1">
                <a:solidFill>
                  <a:schemeClr val="accent4"/>
                </a:solidFill>
              </a:rPr>
              <a:t>StringBuffer</a:t>
            </a:r>
            <a:r>
              <a:rPr lang="es-ES" dirty="0">
                <a:solidFill>
                  <a:schemeClr val="accent4"/>
                </a:solidFill>
              </a:rPr>
              <a:t> </a:t>
            </a:r>
            <a:r>
              <a:rPr lang="es-ES" dirty="0">
                <a:solidFill>
                  <a:srgbClr val="C00000"/>
                </a:solidFill>
              </a:rPr>
              <a:t>utilizando un IDE Java</a:t>
            </a:r>
            <a:r>
              <a:rPr lang="es-ES" dirty="0">
                <a:solidFill>
                  <a:srgbClr val="D3052C"/>
                </a:solidFill>
              </a:rPr>
              <a:t> </a:t>
            </a:r>
            <a:r>
              <a:rPr lang="es-ES" dirty="0">
                <a:solidFill>
                  <a:srgbClr val="7030A0"/>
                </a:solidFill>
              </a:rPr>
              <a:t>para manejar cadenas de texto.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60" y="1436915"/>
            <a:ext cx="4338384" cy="38418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muestra la imagen?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tipo de operación realiza el programa?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¿Consideras importantes los procesos de carga de datos en tu vida profesional?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1" y="5363618"/>
            <a:ext cx="40166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Implementar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cargas de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datos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Java.</a:t>
            </a:r>
            <a:endParaRPr lang="es-ES" sz="2800" dirty="0">
              <a:latin typeface="Helvetica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9D0A5F-8732-E51C-2A22-13733E0FD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442" y="1268854"/>
            <a:ext cx="4139904" cy="4868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F550EE-BFE6-266D-ED43-07B34A2014F5}"/>
              </a:ext>
            </a:extLst>
          </p:cNvPr>
          <p:cNvGrpSpPr/>
          <p:nvPr/>
        </p:nvGrpSpPr>
        <p:grpSpPr>
          <a:xfrm>
            <a:off x="6180841" y="3307480"/>
            <a:ext cx="5638800" cy="2543175"/>
            <a:chOff x="3276600" y="2157412"/>
            <a:chExt cx="5638800" cy="25431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E4F032-060B-3C76-6CAF-8A96F15D0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76600" y="2157412"/>
              <a:ext cx="5638800" cy="2543175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C97D6AE-C405-369A-4592-CB47ED6904E6}"/>
                </a:ext>
              </a:extLst>
            </p:cNvPr>
            <p:cNvSpPr/>
            <p:nvPr/>
          </p:nvSpPr>
          <p:spPr>
            <a:xfrm>
              <a:off x="3350613" y="2638748"/>
              <a:ext cx="5500103" cy="1990571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Programa Estadístico</a:t>
              </a:r>
            </a:p>
            <a:p>
              <a:r>
                <a:rPr lang="es-ES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Procesando registros….</a:t>
              </a:r>
            </a:p>
            <a:p>
              <a:r>
                <a:rPr lang="es-ES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Se cargaron 22711 registros</a:t>
              </a:r>
            </a:p>
            <a:p>
              <a:r>
                <a:rPr lang="es-ES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¿Desea generar estadísticas? [s/n]:</a:t>
              </a:r>
            </a:p>
            <a:p>
              <a:r>
                <a:rPr lang="es-ES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|</a:t>
              </a:r>
            </a:p>
            <a:p>
              <a:endParaRPr lang="en-US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12" name="Arrow: Circular 11">
            <a:extLst>
              <a:ext uri="{FF2B5EF4-FFF2-40B4-BE49-F238E27FC236}">
                <a16:creationId xmlns:a16="http://schemas.microsoft.com/office/drawing/2014/main" id="{D26B48D7-01C6-BE90-70D5-E9913184E148}"/>
              </a:ext>
            </a:extLst>
          </p:cNvPr>
          <p:cNvSpPr/>
          <p:nvPr/>
        </p:nvSpPr>
        <p:spPr>
          <a:xfrm rot="814673">
            <a:off x="8756286" y="2223295"/>
            <a:ext cx="1671684" cy="1671684"/>
          </a:xfrm>
          <a:prstGeom prst="circularArrow">
            <a:avLst>
              <a:gd name="adj1" fmla="val 9365"/>
              <a:gd name="adj2" fmla="val 1142319"/>
              <a:gd name="adj3" fmla="val 20165446"/>
              <a:gd name="adj4" fmla="val 15379220"/>
              <a:gd name="adj5" fmla="val 12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StringBuilder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StringBuffer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7C2FC86-339F-676D-C2D2-2ABE27057F22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StringBuilder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StringBuffer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32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Quotes with solid fill">
            <a:extLst>
              <a:ext uri="{FF2B5EF4-FFF2-40B4-BE49-F238E27FC236}">
                <a16:creationId xmlns:a16="http://schemas.microsoft.com/office/drawing/2014/main" id="{840F50FE-8296-422D-43E3-7554B1B70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5518" y="1836507"/>
            <a:ext cx="4792499" cy="47924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481CB7-826D-AA71-4EAF-14BCAE3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DC31-ABDF-F85D-5763-8C0206E67B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0BABE-949D-E98C-8A8D-F3B324DC07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s-ES" b="1" dirty="0" err="1">
                <a:solidFill>
                  <a:schemeClr val="accent2"/>
                </a:solidFill>
              </a:rPr>
              <a:t>StringBuilder</a:t>
            </a:r>
            <a:r>
              <a:rPr lang="es-ES" dirty="0"/>
              <a:t> y </a:t>
            </a:r>
            <a:r>
              <a:rPr lang="es-ES" b="1" dirty="0" err="1">
                <a:solidFill>
                  <a:schemeClr val="accent2"/>
                </a:solidFill>
              </a:rPr>
              <a:t>StringBuffer</a:t>
            </a:r>
            <a:r>
              <a:rPr lang="es-ES" dirty="0"/>
              <a:t> representan una secuencia de caracteres </a:t>
            </a:r>
            <a:r>
              <a:rPr lang="es-ES" u="sng" dirty="0"/>
              <a:t>mutable</a:t>
            </a:r>
            <a:r>
              <a:rPr lang="es-ES" dirty="0"/>
              <a:t>.</a:t>
            </a:r>
          </a:p>
          <a:p>
            <a:pPr>
              <a:lnSpc>
                <a:spcPct val="110000"/>
              </a:lnSpc>
            </a:pPr>
            <a:r>
              <a:rPr lang="es-ES" dirty="0"/>
              <a:t>Permiten un uso eficiente de cadenas de texto al modificar su tamaño automáticamente.</a:t>
            </a:r>
          </a:p>
          <a:p>
            <a:pPr>
              <a:lnSpc>
                <a:spcPct val="110000"/>
              </a:lnSpc>
            </a:pPr>
            <a:r>
              <a:rPr lang="es-ES" dirty="0"/>
              <a:t>Ideales para procesos de concatenación masiva.</a:t>
            </a:r>
          </a:p>
          <a:p>
            <a:pPr>
              <a:lnSpc>
                <a:spcPct val="110000"/>
              </a:lnSpc>
            </a:pPr>
            <a:r>
              <a:rPr lang="es-ES" dirty="0"/>
              <a:t>Su estructura de almacenamiento y métodos son similares.</a:t>
            </a:r>
          </a:p>
          <a:p>
            <a:pPr>
              <a:lnSpc>
                <a:spcPct val="110000"/>
              </a:lnSpc>
            </a:pPr>
            <a:r>
              <a:rPr lang="es-ES" dirty="0"/>
              <a:t>Difieren en que </a:t>
            </a:r>
            <a:r>
              <a:rPr lang="es-ES" b="1" dirty="0" err="1"/>
              <a:t>StringBuilder</a:t>
            </a:r>
            <a:r>
              <a:rPr lang="es-ES" dirty="0"/>
              <a:t> es más rápida en escenarios donde no se requiere sincronización (trabajo con múltiples hilos).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chemeClr val="accent2"/>
                </a:solidFill>
              </a:rPr>
              <a:t>Especialmente útiles para operaciones I/O donde grandes flujos de datos van a ser procesados por la aplicación.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39703-C1D6-8CB8-9EE6-80CE47A8005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Clases </a:t>
            </a:r>
            <a:r>
              <a:rPr lang="es-ES" sz="2400" dirty="0" err="1">
                <a:solidFill>
                  <a:srgbClr val="A36AAE"/>
                </a:solidFill>
              </a:rPr>
              <a:t>StringBuilder</a:t>
            </a:r>
            <a:r>
              <a:rPr lang="es-ES" sz="2400" dirty="0">
                <a:solidFill>
                  <a:srgbClr val="A36AAE"/>
                </a:solidFill>
              </a:rPr>
              <a:t> y </a:t>
            </a:r>
            <a:r>
              <a:rPr lang="es-ES" sz="2400" dirty="0" err="1">
                <a:solidFill>
                  <a:srgbClr val="A36AAE"/>
                </a:solidFill>
              </a:rPr>
              <a:t>StringBuffer</a:t>
            </a:r>
            <a:endParaRPr lang="es-ES" sz="2400" dirty="0">
              <a:solidFill>
                <a:srgbClr val="A36A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20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5CB950-6336-84F2-A7A8-9F1775D73A6E}"/>
              </a:ext>
            </a:extLst>
          </p:cNvPr>
          <p:cNvSpPr/>
          <p:nvPr/>
        </p:nvSpPr>
        <p:spPr>
          <a:xfrm>
            <a:off x="1954923" y="1849822"/>
            <a:ext cx="8681544" cy="2942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81CB7-826D-AA71-4EAF-14BCAE3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DC31-ABDF-F85D-5763-8C0206E67B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39703-C1D6-8CB8-9EE6-80CE47A8005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Clases </a:t>
            </a:r>
            <a:r>
              <a:rPr lang="es-ES" sz="2400" dirty="0" err="1">
                <a:solidFill>
                  <a:srgbClr val="A36AAE"/>
                </a:solidFill>
              </a:rPr>
              <a:t>StringBuilder</a:t>
            </a:r>
            <a:r>
              <a:rPr lang="es-ES" sz="2400" dirty="0">
                <a:solidFill>
                  <a:srgbClr val="A36AAE"/>
                </a:solidFill>
              </a:rPr>
              <a:t> y </a:t>
            </a:r>
            <a:r>
              <a:rPr lang="es-ES" sz="2400" dirty="0" err="1">
                <a:solidFill>
                  <a:srgbClr val="A36AAE"/>
                </a:solidFill>
              </a:rPr>
              <a:t>StringBuffer</a:t>
            </a:r>
            <a:endParaRPr lang="es-ES" sz="2400" dirty="0">
              <a:solidFill>
                <a:srgbClr val="A36AAE"/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4277383-C338-6CDF-5A86-F38F7B2F4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744191"/>
              </p:ext>
            </p:extLst>
          </p:nvPr>
        </p:nvGraphicFramePr>
        <p:xfrm>
          <a:off x="2414419" y="3058160"/>
          <a:ext cx="7740960" cy="396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7048">
                  <a:extLst>
                    <a:ext uri="{9D8B030D-6E8A-4147-A177-3AD203B41FA5}">
                      <a16:colId xmlns:a16="http://schemas.microsoft.com/office/drawing/2014/main" val="2339431692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2263707960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3677672309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2728315117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1788636983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1457579772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3290265839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1612701431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3974028545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2337263505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139516948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1799828609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4216383268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2781439567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3921195374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2184540922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4084959689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2968908070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3094032682"/>
                    </a:ext>
                  </a:extLst>
                </a:gridCol>
                <a:gridCol w="387048">
                  <a:extLst>
                    <a:ext uri="{9D8B030D-6E8A-4147-A177-3AD203B41FA5}">
                      <a16:colId xmlns:a16="http://schemas.microsoft.com/office/drawing/2014/main" val="3627326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bg1"/>
                          </a:solidFill>
                        </a:rPr>
                        <a:t>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bg1"/>
                          </a:solidFill>
                        </a:rPr>
                        <a:t>I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bg1"/>
                          </a:solidFill>
                        </a:rPr>
                        <a:t>G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420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77964DA-0808-7517-8DB1-7653E9A0097B}"/>
              </a:ext>
            </a:extLst>
          </p:cNvPr>
          <p:cNvSpPr txBox="1"/>
          <p:nvPr/>
        </p:nvSpPr>
        <p:spPr>
          <a:xfrm>
            <a:off x="5466933" y="2142639"/>
            <a:ext cx="1627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b="1" dirty="0" err="1">
                <a:solidFill>
                  <a:srgbClr val="C00000"/>
                </a:solidFill>
              </a:rPr>
              <a:t>capacity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= 20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F57E4-735F-140D-CB62-AFFB5E9D10FA}"/>
              </a:ext>
            </a:extLst>
          </p:cNvPr>
          <p:cNvSpPr txBox="1"/>
          <p:nvPr/>
        </p:nvSpPr>
        <p:spPr>
          <a:xfrm>
            <a:off x="2955052" y="3995767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b="1" dirty="0" err="1">
                <a:solidFill>
                  <a:srgbClr val="0070C0"/>
                </a:solidFill>
              </a:rPr>
              <a:t>length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= 6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4945D-2FAC-8E62-1DB1-1086C92C7A26}"/>
              </a:ext>
            </a:extLst>
          </p:cNvPr>
          <p:cNvSpPr txBox="1"/>
          <p:nvPr/>
        </p:nvSpPr>
        <p:spPr>
          <a:xfrm>
            <a:off x="6395009" y="3995767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espacio reservado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06BF7AD7-DF48-E3DC-0242-E98314A3356A}"/>
              </a:ext>
            </a:extLst>
          </p:cNvPr>
          <p:cNvSpPr/>
          <p:nvPr/>
        </p:nvSpPr>
        <p:spPr>
          <a:xfrm rot="16200000">
            <a:off x="6095025" y="-1116192"/>
            <a:ext cx="379749" cy="7740960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91C6FA7C-A8CE-2297-2E9B-A261380A307F}"/>
              </a:ext>
            </a:extLst>
          </p:cNvPr>
          <p:cNvSpPr/>
          <p:nvPr/>
        </p:nvSpPr>
        <p:spPr>
          <a:xfrm rot="5400000">
            <a:off x="3406676" y="2552870"/>
            <a:ext cx="345226" cy="2350762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5ECBA97E-4775-3356-A5FB-E604AFCEC057}"/>
              </a:ext>
            </a:extLst>
          </p:cNvPr>
          <p:cNvSpPr/>
          <p:nvPr/>
        </p:nvSpPr>
        <p:spPr>
          <a:xfrm rot="5400000">
            <a:off x="7281202" y="1055368"/>
            <a:ext cx="379749" cy="5358211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7C3FB6-F1C4-9DEA-FB04-90531D0465D2}"/>
              </a:ext>
            </a:extLst>
          </p:cNvPr>
          <p:cNvSpPr txBox="1"/>
          <p:nvPr/>
        </p:nvSpPr>
        <p:spPr>
          <a:xfrm>
            <a:off x="1954923" y="514713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s-PE" dirty="0">
                <a:solidFill>
                  <a:srgbClr val="00B0F0"/>
                </a:solidFill>
              </a:rPr>
              <a:t>Estructura de un </a:t>
            </a:r>
            <a:r>
              <a:rPr lang="es-ES" dirty="0" err="1">
                <a:solidFill>
                  <a:srgbClr val="00B0F0"/>
                </a:solidFill>
              </a:rPr>
              <a:t>StringBuffer</a:t>
            </a:r>
            <a:r>
              <a:rPr lang="es-PE" dirty="0">
                <a:solidFill>
                  <a:srgbClr val="00B0F0"/>
                </a:solidFill>
              </a:rPr>
              <a:t> / </a:t>
            </a:r>
            <a:r>
              <a:rPr lang="es-PE" dirty="0" err="1">
                <a:solidFill>
                  <a:srgbClr val="00B0F0"/>
                </a:solidFill>
              </a:rPr>
              <a:t>StringBuilder</a:t>
            </a:r>
            <a:r>
              <a:rPr lang="es-PE" dirty="0">
                <a:solidFill>
                  <a:srgbClr val="00B0F0"/>
                </a:solidFill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78806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1CB7-826D-AA71-4EAF-14BCAE3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Creando un </a:t>
            </a:r>
            <a:r>
              <a:rPr lang="es-ES" dirty="0" err="1"/>
              <a:t>StringBuilder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DC31-ABDF-F85D-5763-8C0206E67B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39703-C1D6-8CB8-9EE6-80CE47A8005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Clases </a:t>
            </a:r>
            <a:r>
              <a:rPr lang="es-ES" sz="2400" dirty="0" err="1">
                <a:solidFill>
                  <a:srgbClr val="A36AAE"/>
                </a:solidFill>
              </a:rPr>
              <a:t>StringBuilder</a:t>
            </a:r>
            <a:r>
              <a:rPr lang="es-ES" sz="2400" dirty="0">
                <a:solidFill>
                  <a:srgbClr val="A36AAE"/>
                </a:solidFill>
              </a:rPr>
              <a:t> y </a:t>
            </a:r>
            <a:r>
              <a:rPr lang="es-ES" sz="2400" dirty="0" err="1">
                <a:solidFill>
                  <a:srgbClr val="A36AAE"/>
                </a:solidFill>
              </a:rPr>
              <a:t>StringBuffer</a:t>
            </a:r>
            <a:endParaRPr lang="es-ES" sz="2400" dirty="0">
              <a:solidFill>
                <a:srgbClr val="A36AAE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E5A6CA4-FB7B-0B95-65CF-60A81DD62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0672" y="1833947"/>
            <a:ext cx="8110657" cy="4283130"/>
          </a:xfrm>
          <a:prstGeom prst="roundRect">
            <a:avLst>
              <a:gd name="adj" fmla="val 3325"/>
            </a:avLst>
          </a:prstGeom>
          <a:solidFill>
            <a:srgbClr val="2B2B2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Usando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constructor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vacío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StringBuilder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sbMensaje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StringBuilder()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Estableciendo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capacidad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inicial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StringBuilder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sbRefran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StringBuilder(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Asignando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cadena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StringBuilder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sbOracion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A9B7C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StringBuilder(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“Uno es lo que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elige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ser"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18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1CB7-826D-AA71-4EAF-14BCAE3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StringBuilder</a:t>
            </a:r>
            <a:r>
              <a:rPr lang="es-ES" dirty="0"/>
              <a:t>. Principales métodos.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DC31-ABDF-F85D-5763-8C0206E67B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39703-C1D6-8CB8-9EE6-80CE47A8005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Clases </a:t>
            </a:r>
            <a:r>
              <a:rPr lang="es-ES" sz="2400" dirty="0" err="1">
                <a:solidFill>
                  <a:srgbClr val="A36AAE"/>
                </a:solidFill>
              </a:rPr>
              <a:t>StringBuilder</a:t>
            </a:r>
            <a:r>
              <a:rPr lang="es-ES" sz="2400" dirty="0">
                <a:solidFill>
                  <a:srgbClr val="A36AAE"/>
                </a:solidFill>
              </a:rPr>
              <a:t> y </a:t>
            </a:r>
            <a:r>
              <a:rPr lang="es-ES" sz="2400" dirty="0" err="1">
                <a:solidFill>
                  <a:srgbClr val="A36AAE"/>
                </a:solidFill>
              </a:rPr>
              <a:t>StringBuffer</a:t>
            </a:r>
            <a:endParaRPr lang="es-ES" sz="2400" dirty="0">
              <a:solidFill>
                <a:srgbClr val="A36AAE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7BC218-721E-69F2-9916-77C87A5B8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03102"/>
              </p:ext>
            </p:extLst>
          </p:nvPr>
        </p:nvGraphicFramePr>
        <p:xfrm>
          <a:off x="1203649" y="1404328"/>
          <a:ext cx="10150151" cy="4900104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{9DCAF9ED-07DC-4A11-8D7F-57B35C25682E}</a:tableStyleId>
              </a:tblPr>
              <a:tblGrid>
                <a:gridCol w="4867213">
                  <a:extLst>
                    <a:ext uri="{9D8B030D-6E8A-4147-A177-3AD203B41FA5}">
                      <a16:colId xmlns:a16="http://schemas.microsoft.com/office/drawing/2014/main" val="3342303035"/>
                    </a:ext>
                  </a:extLst>
                </a:gridCol>
                <a:gridCol w="5282938">
                  <a:extLst>
                    <a:ext uri="{9D8B030D-6E8A-4147-A177-3AD203B41FA5}">
                      <a16:colId xmlns:a16="http://schemas.microsoft.com/office/drawing/2014/main" val="2134160579"/>
                    </a:ext>
                  </a:extLst>
                </a:gridCol>
              </a:tblGrid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FFFFFF"/>
                          </a:solidFill>
                          <a:effectLst/>
                        </a:rPr>
                        <a:t>Método​</a:t>
                      </a:r>
                      <a:endParaRPr lang="es-419" sz="16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FFFFFF"/>
                          </a:solidFill>
                          <a:effectLst/>
                        </a:rPr>
                        <a:t>Descripción​</a:t>
                      </a:r>
                      <a:endParaRPr lang="es-419" sz="16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19730133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append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obj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)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StringBuilder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Agrega un objeto al final del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StringBuilder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631424221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insert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obj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)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StringBuilder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Agrega un objeto al inicio del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StringBuilder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.​</a:t>
                      </a:r>
                      <a:endParaRPr lang="es-ES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01819319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reverse()   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StringBuilder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Invierte la cadena del </a:t>
                      </a:r>
                      <a:r>
                        <a:rPr lang="es-419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StringBuilder</a:t>
                      </a:r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419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130191863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delete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ini,fin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StringBuilder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Elimina la cadena desde el índice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ini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hasta fin​.</a:t>
                      </a:r>
                      <a:endParaRPr lang="es-ES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982204834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deleteCharAt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idx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StringBuilder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Eliminar el carácter en el índice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idx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305490199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replace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ini,fin,str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StringBuilder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Reemplaza la cadena de los índices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ini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a fin con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554882731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substring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ini,fin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un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de la cadena en los índices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ini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a fin​.</a:t>
                      </a:r>
                      <a:endParaRPr lang="es-ES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739886752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toString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        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un </a:t>
                      </a:r>
                      <a:r>
                        <a:rPr lang="es-419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</a:t>
                      </a:r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a partir del </a:t>
                      </a:r>
                      <a:r>
                        <a:rPr lang="es-419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StringBuilder</a:t>
                      </a:r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419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048103526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length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             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int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el tamaño de la cadena del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StringBuilder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6235816"/>
                  </a:ext>
                </a:extLst>
              </a:tr>
              <a:tr h="445464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capacity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           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int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la capacidad del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StringBuilder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6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881247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88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57F2-B546-F9DE-E63D-5AFDCDAA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Creando un </a:t>
            </a:r>
            <a:r>
              <a:rPr lang="es-ES" dirty="0" err="1"/>
              <a:t>StringBuffer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526AA6-625E-6056-AB2A-40BC527B39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8CB34-1F47-1685-B235-38FFE202CECA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Clases </a:t>
            </a:r>
            <a:r>
              <a:rPr lang="es-ES" sz="2400" dirty="0" err="1">
                <a:solidFill>
                  <a:srgbClr val="A36AAE"/>
                </a:solidFill>
              </a:rPr>
              <a:t>StringBuilder</a:t>
            </a:r>
            <a:r>
              <a:rPr lang="es-ES" sz="2400" dirty="0">
                <a:solidFill>
                  <a:srgbClr val="A36AAE"/>
                </a:solidFill>
              </a:rPr>
              <a:t> y </a:t>
            </a:r>
            <a:r>
              <a:rPr lang="es-ES" sz="2400" dirty="0" err="1">
                <a:solidFill>
                  <a:srgbClr val="A36AAE"/>
                </a:solidFill>
              </a:rPr>
              <a:t>StringBuffer</a:t>
            </a:r>
            <a:endParaRPr lang="es-ES" sz="2400" dirty="0">
              <a:solidFill>
                <a:srgbClr val="A36AAE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8C6B610-0E55-A83F-0DF8-079B0905B40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040672" y="1814923"/>
            <a:ext cx="8110657" cy="4329470"/>
          </a:xfrm>
          <a:prstGeom prst="roundRect">
            <a:avLst>
              <a:gd name="adj" fmla="val 4614"/>
            </a:avLst>
          </a:prstGeom>
          <a:solidFill>
            <a:srgbClr val="2B2B2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usando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constructor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vacío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StringBuffer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sbTelefonos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StringBuffer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CC783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asignando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capacidad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StringBuffer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sbDireccion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StringBuffer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asignando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cadena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StringBuffer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sbCorreos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A9B7C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StringBuffer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“atorres@utp.edu.pe"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35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1CB7-826D-AA71-4EAF-14BCAE3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StringBuffer</a:t>
            </a:r>
            <a:r>
              <a:rPr lang="es-ES" dirty="0"/>
              <a:t>. Principales métodos.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DC31-ABDF-F85D-5763-8C0206E67B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39703-C1D6-8CB8-9EE6-80CE47A8005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Clases </a:t>
            </a:r>
            <a:r>
              <a:rPr lang="es-ES" sz="2400" dirty="0" err="1">
                <a:solidFill>
                  <a:srgbClr val="A36AAE"/>
                </a:solidFill>
              </a:rPr>
              <a:t>StringBuilder</a:t>
            </a:r>
            <a:r>
              <a:rPr lang="es-ES" sz="2400" dirty="0">
                <a:solidFill>
                  <a:srgbClr val="A36AAE"/>
                </a:solidFill>
              </a:rPr>
              <a:t> y </a:t>
            </a:r>
            <a:r>
              <a:rPr lang="es-ES" sz="2400" dirty="0" err="1">
                <a:solidFill>
                  <a:srgbClr val="A36AAE"/>
                </a:solidFill>
              </a:rPr>
              <a:t>StringBuffer</a:t>
            </a:r>
            <a:endParaRPr lang="es-ES" sz="2400" dirty="0">
              <a:solidFill>
                <a:srgbClr val="A36AAE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4ACBD8-D72F-F690-922C-2A7D1A3FE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364487"/>
              </p:ext>
            </p:extLst>
          </p:nvPr>
        </p:nvGraphicFramePr>
        <p:xfrm>
          <a:off x="1203650" y="1385742"/>
          <a:ext cx="10150149" cy="4571171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{9DCAF9ED-07DC-4A11-8D7F-57B35C25682E}</a:tableStyleId>
              </a:tblPr>
              <a:tblGrid>
                <a:gridCol w="4619796">
                  <a:extLst>
                    <a:ext uri="{9D8B030D-6E8A-4147-A177-3AD203B41FA5}">
                      <a16:colId xmlns:a16="http://schemas.microsoft.com/office/drawing/2014/main" val="1649873382"/>
                    </a:ext>
                  </a:extLst>
                </a:gridCol>
                <a:gridCol w="5530353">
                  <a:extLst>
                    <a:ext uri="{9D8B030D-6E8A-4147-A177-3AD203B41FA5}">
                      <a16:colId xmlns:a16="http://schemas.microsoft.com/office/drawing/2014/main" val="3269305369"/>
                    </a:ext>
                  </a:extLst>
                </a:gridCol>
              </a:tblGrid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FFFFFF"/>
                          </a:solidFill>
                          <a:effectLst/>
                        </a:rPr>
                        <a:t>Método​</a:t>
                      </a:r>
                      <a:endParaRPr lang="es-419" sz="13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FFFFFF"/>
                          </a:solidFill>
                          <a:effectLst/>
                        </a:rPr>
                        <a:t>Descripción​</a:t>
                      </a:r>
                      <a:endParaRPr lang="es-419" sz="13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3201395875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append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obj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)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StringBuffer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Agrega un objeto al final del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StringBuffer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1241285035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insert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obj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)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StringBuffer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Agrega un objeto al inicio del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StringBuffer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3515602555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reverse()   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StringBuffer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Invierte la cadena del </a:t>
                      </a:r>
                      <a:r>
                        <a:rPr lang="es-419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StringBuffer</a:t>
                      </a:r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419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564740006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delete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ini,fin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StringBuffer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Elimina la cadena desde el índice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ini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hasta fin​.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2498952654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deleteCharAt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idx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StringBuffer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Eliminar el carácter en el índice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idx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55151985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replace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ini,fin,str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StringBuffer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Reemplaza la cadena de los índices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ini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a fin con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3678532988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substring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ini,fin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un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de la cadena en los índices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ini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a fin​.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3338399438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toString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        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un </a:t>
                      </a:r>
                      <a:r>
                        <a:rPr lang="es-419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</a:t>
                      </a:r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a partir del </a:t>
                      </a:r>
                      <a:r>
                        <a:rPr lang="es-419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StringBuffer</a:t>
                      </a:r>
                      <a:r>
                        <a:rPr lang="es-419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.​</a:t>
                      </a:r>
                      <a:endParaRPr lang="es-419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2935305843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length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             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int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el tamaño de la cadena del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StringBuffer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4118764310"/>
                  </a:ext>
                </a:extLst>
              </a:tr>
              <a:tr h="41556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capacity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                      </a:t>
                      </a:r>
                      <a:r>
                        <a:rPr lang="es-419" sz="1600" b="0" dirty="0" err="1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int</a:t>
                      </a:r>
                      <a:r>
                        <a:rPr lang="es-419" sz="1600" b="0" dirty="0">
                          <a:solidFill>
                            <a:srgbClr val="E981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E981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430" marR="83430" marT="41715" marB="4171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la capacidad del </a:t>
                      </a:r>
                      <a:r>
                        <a:rPr lang="es-ES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StringBuffer</a:t>
                      </a:r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​.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3430" marR="83430" marT="41715" marB="41715" anchor="ctr"/>
                </a:tc>
                <a:extLst>
                  <a:ext uri="{0D108BD9-81ED-4DB2-BD59-A6C34878D82A}">
                    <a16:rowId xmlns:a16="http://schemas.microsoft.com/office/drawing/2014/main" val="2038021786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41BB767-F8F0-9563-947F-482796F5F828}"/>
              </a:ext>
            </a:extLst>
          </p:cNvPr>
          <p:cNvSpPr txBox="1"/>
          <p:nvPr/>
        </p:nvSpPr>
        <p:spPr>
          <a:xfrm>
            <a:off x="1203649" y="6127264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>
                <a:solidFill>
                  <a:srgbClr val="00B0F0"/>
                </a:solidFill>
              </a:rPr>
              <a:t>Todos estos métodos en realidad son funciones que retornan una referencia al mismo objeto </a:t>
            </a:r>
            <a:r>
              <a:rPr lang="es-ES" b="1" i="1" dirty="0" err="1">
                <a:solidFill>
                  <a:srgbClr val="00B0F0"/>
                </a:solidFill>
              </a:rPr>
              <a:t>StringBuilder</a:t>
            </a:r>
            <a:r>
              <a:rPr lang="es-ES" i="1" dirty="0">
                <a:solidFill>
                  <a:srgbClr val="00B0F0"/>
                </a:solidFill>
              </a:rPr>
              <a:t> a excepción de </a:t>
            </a:r>
            <a:r>
              <a:rPr lang="es-ES" b="1" i="1" dirty="0" err="1">
                <a:solidFill>
                  <a:srgbClr val="00B0F0"/>
                </a:solidFill>
              </a:rPr>
              <a:t>toString</a:t>
            </a:r>
            <a:r>
              <a:rPr lang="es-ES" b="1" i="1" dirty="0">
                <a:solidFill>
                  <a:srgbClr val="00B0F0"/>
                </a:solidFill>
              </a:rPr>
              <a:t>()</a:t>
            </a:r>
            <a:endParaRPr lang="es-PE" b="1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7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A9A35-7AE8-A98B-51E3-A2CC18562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345020"/>
            <a:ext cx="10150151" cy="785528"/>
          </a:xfrm>
        </p:spPr>
        <p:txBody>
          <a:bodyPr/>
          <a:lstStyle/>
          <a:p>
            <a:r>
              <a:rPr lang="es-ES" dirty="0"/>
              <a:t>Ejemplo: uso de </a:t>
            </a:r>
            <a:r>
              <a:rPr lang="es-ES" dirty="0" err="1"/>
              <a:t>StringBuilder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070D94-40E6-960D-02E4-EBD7D841C8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ED1D0-AA8E-A31F-E2F3-46344BBA87B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Clases </a:t>
            </a:r>
            <a:r>
              <a:rPr lang="es-ES" sz="2400" dirty="0" err="1">
                <a:solidFill>
                  <a:srgbClr val="A36AAE"/>
                </a:solidFill>
              </a:rPr>
              <a:t>StringBuilder</a:t>
            </a:r>
            <a:r>
              <a:rPr lang="es-ES" sz="2400" dirty="0">
                <a:solidFill>
                  <a:srgbClr val="A36AAE"/>
                </a:solidFill>
              </a:rPr>
              <a:t> y </a:t>
            </a:r>
            <a:r>
              <a:rPr lang="es-ES" sz="2400" dirty="0" err="1">
                <a:solidFill>
                  <a:srgbClr val="A36AAE"/>
                </a:solidFill>
              </a:rPr>
              <a:t>StringBuffer</a:t>
            </a:r>
            <a:endParaRPr lang="es-ES" sz="2400" dirty="0">
              <a:solidFill>
                <a:srgbClr val="A36AAE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B7A3D38-0BB6-7744-A845-8DC4EFBB9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458" y="1215391"/>
            <a:ext cx="7937369" cy="5379590"/>
          </a:xfrm>
          <a:prstGeom prst="roundRect">
            <a:avLst>
              <a:gd name="adj" fmla="val 2515"/>
            </a:avLst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StringBuilder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StringBuilder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append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hayas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querido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¿?"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insert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"Que algo no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haya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salido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inicio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"¿?"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replace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inicio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inicio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C783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significa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que sea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inútil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append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- Thomas Edison"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invertida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reverse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Capacidad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capacity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Longitud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trimToSize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"Luego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compactar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estructura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Capacidad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capacity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Longitud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7242BD-F3F7-F442-F3EF-0B21DF19FAFE}"/>
              </a:ext>
            </a:extLst>
          </p:cNvPr>
          <p:cNvSpPr txBox="1"/>
          <p:nvPr/>
        </p:nvSpPr>
        <p:spPr>
          <a:xfrm>
            <a:off x="6704815" y="1475017"/>
            <a:ext cx="4843020" cy="2631691"/>
          </a:xfrm>
          <a:prstGeom prst="roundRect">
            <a:avLst>
              <a:gd name="adj" fmla="val 2938"/>
            </a:avLst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Que algo no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haya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salido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como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hayas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querido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no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significa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que sea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inútil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 Thomas Edison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invertida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nosidE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samohT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litúni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euq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acifingis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on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odireuq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sayah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omoc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odilas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ayah on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ogla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euQ</a:t>
            </a:r>
            <a:endParaRPr lang="en-US" sz="1100" dirty="0">
              <a:solidFill>
                <a:schemeClr val="bg2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Capacidad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130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Longitud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86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Luego de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compactar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la </a:t>
            </a: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estructura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Capacidad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86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Longitud</a:t>
            </a:r>
            <a:r>
              <a:rPr lang="en-US" sz="1100" dirty="0">
                <a:solidFill>
                  <a:schemeClr val="bg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7D02A-76E6-31DC-0707-481A30F9AE2D}"/>
              </a:ext>
            </a:extLst>
          </p:cNvPr>
          <p:cNvSpPr txBox="1"/>
          <p:nvPr/>
        </p:nvSpPr>
        <p:spPr>
          <a:xfrm>
            <a:off x="10621904" y="1167240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75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85ABCFF-D410-12CB-22AE-C3BFBCD66225}"/>
              </a:ext>
            </a:extLst>
          </p:cNvPr>
          <p:cNvSpPr/>
          <p:nvPr/>
        </p:nvSpPr>
        <p:spPr>
          <a:xfrm>
            <a:off x="1521122" y="1263191"/>
            <a:ext cx="9853624" cy="5326144"/>
          </a:xfrm>
          <a:prstGeom prst="rect">
            <a:avLst/>
          </a:prstGeom>
          <a:solidFill>
            <a:srgbClr val="FFFC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69373-5CC2-44DC-2F46-E8B38C50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dirty="0"/>
              <a:t>¿Cuándo usar </a:t>
            </a:r>
            <a:r>
              <a:rPr lang="es-ES" sz="3600" dirty="0" err="1"/>
              <a:t>StringBuffer</a:t>
            </a:r>
            <a:r>
              <a:rPr lang="es-ES" sz="3600" dirty="0"/>
              <a:t> y </a:t>
            </a:r>
            <a:r>
              <a:rPr lang="es-ES" sz="3600" dirty="0" err="1"/>
              <a:t>StringBuilder</a:t>
            </a:r>
            <a:r>
              <a:rPr lang="es-ES" sz="3600" dirty="0"/>
              <a:t>?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B22121-E759-23E8-4779-6ACC22A0421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3357124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35012-8C48-485F-234F-190DFE32199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Clases </a:t>
            </a:r>
            <a:r>
              <a:rPr lang="es-ES" sz="2400" dirty="0" err="1">
                <a:solidFill>
                  <a:srgbClr val="A36AAE"/>
                </a:solidFill>
              </a:rPr>
              <a:t>StringBuilder</a:t>
            </a:r>
            <a:r>
              <a:rPr lang="es-ES" sz="2400" dirty="0">
                <a:solidFill>
                  <a:srgbClr val="A36AAE"/>
                </a:solidFill>
              </a:rPr>
              <a:t> y </a:t>
            </a:r>
            <a:r>
              <a:rPr lang="es-ES" sz="2400" dirty="0" err="1">
                <a:solidFill>
                  <a:srgbClr val="A36AAE"/>
                </a:solidFill>
              </a:rPr>
              <a:t>StringBuffer</a:t>
            </a:r>
            <a:endParaRPr lang="es-ES" sz="2400" dirty="0">
              <a:solidFill>
                <a:srgbClr val="A36AAE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D5C810A-A4FF-89AD-935E-28ACA62217D9}"/>
              </a:ext>
            </a:extLst>
          </p:cNvPr>
          <p:cNvGrpSpPr/>
          <p:nvPr/>
        </p:nvGrpSpPr>
        <p:grpSpPr>
          <a:xfrm>
            <a:off x="1796601" y="1423446"/>
            <a:ext cx="4308178" cy="3306452"/>
            <a:chOff x="1900298" y="1489435"/>
            <a:chExt cx="4308178" cy="330645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97085E-08E1-39D3-C7B2-C33941EA7E93}"/>
                </a:ext>
              </a:extLst>
            </p:cNvPr>
            <p:cNvSpPr/>
            <p:nvPr/>
          </p:nvSpPr>
          <p:spPr>
            <a:xfrm>
              <a:off x="3129698" y="2458039"/>
              <a:ext cx="1941922" cy="1941922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800" dirty="0" err="1"/>
                <a:t>StringBuffer</a:t>
              </a:r>
              <a:endParaRPr lang="en-US" sz="1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0AF74E-1B17-5932-C10B-6E66A867228E}"/>
                </a:ext>
              </a:extLst>
            </p:cNvPr>
            <p:cNvSpPr txBox="1"/>
            <p:nvPr/>
          </p:nvSpPr>
          <p:spPr>
            <a:xfrm>
              <a:off x="2127403" y="1919988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Thread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3FEB75B9-C1D0-04E3-EA80-E718EDD551D8}"/>
                </a:ext>
              </a:extLst>
            </p:cNvPr>
            <p:cNvSpPr/>
            <p:nvPr/>
          </p:nvSpPr>
          <p:spPr>
            <a:xfrm>
              <a:off x="2780906" y="2062113"/>
              <a:ext cx="2639506" cy="2733774"/>
            </a:xfrm>
            <a:prstGeom prst="arc">
              <a:avLst>
                <a:gd name="adj1" fmla="val 11070837"/>
                <a:gd name="adj2" fmla="val 8131926"/>
              </a:avLst>
            </a:prstGeom>
            <a:ln w="762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3C6BE9-9D20-D981-D2E5-CE350CDE445D}"/>
                </a:ext>
              </a:extLst>
            </p:cNvPr>
            <p:cNvSpPr txBox="1"/>
            <p:nvPr/>
          </p:nvSpPr>
          <p:spPr>
            <a:xfrm>
              <a:off x="5457950" y="2048179"/>
              <a:ext cx="7505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Thread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91C18C-0472-0D63-2258-2D085CC2F143}"/>
                </a:ext>
              </a:extLst>
            </p:cNvPr>
            <p:cNvSpPr txBox="1"/>
            <p:nvPr/>
          </p:nvSpPr>
          <p:spPr>
            <a:xfrm>
              <a:off x="1900298" y="3696074"/>
              <a:ext cx="7505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Thread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363C89F-1896-3B57-1035-AFEBA7A9E476}"/>
                </a:ext>
              </a:extLst>
            </p:cNvPr>
            <p:cNvCxnSpPr/>
            <p:nvPr/>
          </p:nvCxnSpPr>
          <p:spPr>
            <a:xfrm>
              <a:off x="2580039" y="1489435"/>
              <a:ext cx="643928" cy="835430"/>
            </a:xfrm>
            <a:prstGeom prst="straightConnector1">
              <a:avLst/>
            </a:prstGeom>
            <a:ln w="28575">
              <a:solidFill>
                <a:srgbClr val="FF505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EAE7F6-C062-F20E-2485-F0B82A6A1C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4316" y="1601890"/>
              <a:ext cx="804423" cy="769055"/>
            </a:xfrm>
            <a:prstGeom prst="straightConnector1">
              <a:avLst/>
            </a:prstGeom>
            <a:ln w="28575">
              <a:solidFill>
                <a:srgbClr val="FF505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D140F19-12B4-AB1A-F831-9F19EE11D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4586" y="3840753"/>
              <a:ext cx="1149265" cy="460680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4E80D8F-52B1-C0CF-0031-2DC5C1EDFD9B}"/>
              </a:ext>
            </a:extLst>
          </p:cNvPr>
          <p:cNvGrpSpPr/>
          <p:nvPr/>
        </p:nvGrpSpPr>
        <p:grpSpPr>
          <a:xfrm>
            <a:off x="7090293" y="1836944"/>
            <a:ext cx="3946917" cy="2488606"/>
            <a:chOff x="6919042" y="1911355"/>
            <a:chExt cx="3946917" cy="248860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7F0B52-DDC3-F837-39CD-2ED552CB6817}"/>
                </a:ext>
              </a:extLst>
            </p:cNvPr>
            <p:cNvSpPr/>
            <p:nvPr/>
          </p:nvSpPr>
          <p:spPr>
            <a:xfrm>
              <a:off x="7892971" y="2458039"/>
              <a:ext cx="1941922" cy="19419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800" dirty="0" err="1"/>
                <a:t>StringBuilder</a:t>
              </a:r>
              <a:endParaRPr lang="en-US" sz="1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306935-DD3B-F866-E8AA-9AC454FFB241}"/>
                </a:ext>
              </a:extLst>
            </p:cNvPr>
            <p:cNvSpPr txBox="1"/>
            <p:nvPr/>
          </p:nvSpPr>
          <p:spPr>
            <a:xfrm>
              <a:off x="7830200" y="204716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Thread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A918DD-DBB6-6521-DD5B-DDE1BED31765}"/>
                </a:ext>
              </a:extLst>
            </p:cNvPr>
            <p:cNvSpPr txBox="1"/>
            <p:nvPr/>
          </p:nvSpPr>
          <p:spPr>
            <a:xfrm>
              <a:off x="10115433" y="2611750"/>
              <a:ext cx="7505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Thread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224FC0C-6FCA-45D8-E3D6-65ABB2E37AEA}"/>
                </a:ext>
              </a:extLst>
            </p:cNvPr>
            <p:cNvSpPr txBox="1"/>
            <p:nvPr/>
          </p:nvSpPr>
          <p:spPr>
            <a:xfrm>
              <a:off x="6936386" y="3559355"/>
              <a:ext cx="7505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Thread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C0B3A25-A4FD-EE3D-87D9-CD83743CABA0}"/>
                </a:ext>
              </a:extLst>
            </p:cNvPr>
            <p:cNvCxnSpPr/>
            <p:nvPr/>
          </p:nvCxnSpPr>
          <p:spPr>
            <a:xfrm>
              <a:off x="7489382" y="1911355"/>
              <a:ext cx="643928" cy="835430"/>
            </a:xfrm>
            <a:prstGeom prst="straightConnector1">
              <a:avLst/>
            </a:prstGeom>
            <a:ln w="28575">
              <a:solidFill>
                <a:srgbClr val="FF505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78F6BDC-55D8-4D61-8B4A-075F4D5A0B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0646" y="2028310"/>
              <a:ext cx="804423" cy="769055"/>
            </a:xfrm>
            <a:prstGeom prst="straightConnector1">
              <a:avLst/>
            </a:prstGeom>
            <a:ln w="28575">
              <a:solidFill>
                <a:srgbClr val="FF505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58F4E98-DAAE-2DEC-978F-73FB7587D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9042" y="3817425"/>
              <a:ext cx="1045073" cy="462960"/>
            </a:xfrm>
            <a:prstGeom prst="straightConnector1">
              <a:avLst/>
            </a:prstGeom>
            <a:ln w="28575">
              <a:solidFill>
                <a:srgbClr val="FF505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E862B09-6644-EF44-BBD1-94B33E87947F}"/>
              </a:ext>
            </a:extLst>
          </p:cNvPr>
          <p:cNvSpPr txBox="1"/>
          <p:nvPr/>
        </p:nvSpPr>
        <p:spPr>
          <a:xfrm>
            <a:off x="2113902" y="4972634"/>
            <a:ext cx="3673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92D050"/>
                </a:solidFill>
              </a:rPr>
              <a:t>En Aplicaciones Distribuidas</a:t>
            </a:r>
            <a:endParaRPr lang="en-US" sz="1800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FD896A-8E22-CA3B-481A-A45F95F018B1}"/>
              </a:ext>
            </a:extLst>
          </p:cNvPr>
          <p:cNvSpPr txBox="1"/>
          <p:nvPr/>
        </p:nvSpPr>
        <p:spPr>
          <a:xfrm>
            <a:off x="6987987" y="4972634"/>
            <a:ext cx="3673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rgbClr val="00B0F0"/>
                </a:solidFill>
              </a:rPr>
              <a:t>En Aplicaciones Tradicionales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959BC5-7ADF-7F1F-C54A-742E6C78233D}"/>
              </a:ext>
            </a:extLst>
          </p:cNvPr>
          <p:cNvSpPr txBox="1"/>
          <p:nvPr/>
        </p:nvSpPr>
        <p:spPr>
          <a:xfrm>
            <a:off x="2285417" y="5409656"/>
            <a:ext cx="33305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Ofrece seguridad de hilos (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threads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Métodos sincronizados.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Bajo rendimiento.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Existe desde Java 1.0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267B09-2248-45B4-C33B-0ADA8C981928}"/>
              </a:ext>
            </a:extLst>
          </p:cNvPr>
          <p:cNvSpPr txBox="1"/>
          <p:nvPr/>
        </p:nvSpPr>
        <p:spPr>
          <a:xfrm>
            <a:off x="7074659" y="5409656"/>
            <a:ext cx="35776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No ofrece seguridad de hilos (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threads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Métodos no sincronizados.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Alto rendimiento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Existe desde Java 1.5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B85522-8B41-25CF-A03C-0170398ED413}"/>
              </a:ext>
            </a:extLst>
          </p:cNvPr>
          <p:cNvSpPr/>
          <p:nvPr/>
        </p:nvSpPr>
        <p:spPr>
          <a:xfrm>
            <a:off x="6513922" y="1423446"/>
            <a:ext cx="52602" cy="5081049"/>
          </a:xfrm>
          <a:prstGeom prst="rect">
            <a:avLst/>
          </a:prstGeom>
          <a:gradFill>
            <a:gsLst>
              <a:gs pos="85000">
                <a:srgbClr val="D4D4D4"/>
              </a:gs>
              <a:gs pos="18000">
                <a:srgbClr val="D0D0D0"/>
              </a:gs>
              <a:gs pos="0">
                <a:srgbClr val="FFFCF3"/>
              </a:gs>
              <a:gs pos="49000">
                <a:schemeClr val="bg1">
                  <a:lumMod val="65000"/>
                </a:schemeClr>
              </a:gs>
              <a:gs pos="100000">
                <a:srgbClr val="FFFCF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7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StringBuilder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StringBuffer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7C2FC86-339F-676D-C2D2-2ABE27057F22}"/>
              </a:ext>
            </a:extLst>
          </p:cNvPr>
          <p:cNvSpPr/>
          <p:nvPr/>
        </p:nvSpPr>
        <p:spPr>
          <a:xfrm>
            <a:off x="2483651" y="723490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210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6ABD0B7-0507-9176-588E-3D0A0B74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847" y="2896385"/>
            <a:ext cx="5282152" cy="3961614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758607-19AD-DDEC-F043-24FD229D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F925A3-C0B8-6F2D-626C-E61D3F644B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263D0-C8BC-0FB5-5D91-90EC18A2C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007856" cy="4782911"/>
          </a:xfrm>
        </p:spPr>
        <p:txBody>
          <a:bodyPr>
            <a:normAutofit fontScale="70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Escribir un programa en Java para cargar y procesar los datos contenidos en el </a:t>
            </a:r>
            <a:r>
              <a:rPr lang="es-ES"/>
              <a:t>archivo </a:t>
            </a:r>
            <a:r>
              <a:rPr lang="es-ES" b="1"/>
              <a:t>DataCatalogoSismico</a:t>
            </a:r>
            <a:r>
              <a:rPr lang="es-ES" b="1" dirty="0"/>
              <a:t>.java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La clase </a:t>
            </a:r>
            <a:r>
              <a:rPr lang="es-ES" b="1" dirty="0" err="1"/>
              <a:t>GestorDatos</a:t>
            </a:r>
            <a:r>
              <a:rPr lang="es-ES" dirty="0"/>
              <a:t> tendrá la responsabilidad de leer y cargar los datos. Los datos deben cargarse en un arreglo de tipo </a:t>
            </a:r>
            <a:r>
              <a:rPr lang="es-ES" b="1" dirty="0" err="1"/>
              <a:t>EventoSismico</a:t>
            </a:r>
            <a:r>
              <a:rPr lang="es-ES" dirty="0"/>
              <a:t>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b="1" dirty="0" err="1"/>
              <a:t>GestorDatos</a:t>
            </a:r>
            <a:r>
              <a:rPr lang="es-ES" dirty="0"/>
              <a:t> debe Implementar además los métodos: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b="1" dirty="0" err="1"/>
              <a:t>mostrarEventos</a:t>
            </a:r>
            <a:r>
              <a:rPr lang="es-ES" b="1" dirty="0"/>
              <a:t>()</a:t>
            </a:r>
            <a:r>
              <a:rPr lang="es-ES" dirty="0"/>
              <a:t>: muestra los datos de los eventos sísmicos.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b="1" dirty="0" err="1"/>
              <a:t>contarEventosPorMagnitud</a:t>
            </a:r>
            <a:r>
              <a:rPr lang="es-ES" b="1" dirty="0"/>
              <a:t>()</a:t>
            </a:r>
            <a:r>
              <a:rPr lang="es-ES" dirty="0"/>
              <a:t>: devuelve el número de eventos sísmicos dado un rango mínimo y máximo de magnitudes.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8357D-60FD-3F52-B696-993EDDE11A0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3232F-FECA-A5EF-37C9-2789F0FCB4F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65883" y="791584"/>
            <a:ext cx="2510922" cy="26374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C26C19-60FE-741D-BE3B-DD37967CE8FE}"/>
              </a:ext>
            </a:extLst>
          </p:cNvPr>
          <p:cNvSpPr txBox="1"/>
          <p:nvPr/>
        </p:nvSpPr>
        <p:spPr>
          <a:xfrm>
            <a:off x="935612" y="6423496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https://www.insurancejournal.com/app/uploads/2019/01/seismograph-earthquake-activity.jpg</a:t>
            </a:r>
          </a:p>
        </p:txBody>
      </p:sp>
    </p:spTree>
    <p:extLst>
      <p:ext uri="{BB962C8B-B14F-4D97-AF65-F5344CB8AC3E}">
        <p14:creationId xmlns:p14="http://schemas.microsoft.com/office/powerpoint/2010/main" val="22954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AD71-8E5E-5C2C-29AC-8C902C16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07" y="429863"/>
            <a:ext cx="10543094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71F5-2A32-65F7-067E-10C53496A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A7A3DC-024F-B251-3BF8-9E4CDFA1F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707" y="1436914"/>
            <a:ext cx="7381187" cy="4782911"/>
          </a:xfrm>
        </p:spPr>
        <p:txBody>
          <a:bodyPr>
            <a:normAutofit fontScale="77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Crear 6 aplicaciones que lean y procesen datos para generar reportes HTML.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Deben manejarse 300 registros por aplicación, como mínimo, con al menos 6 campos (atributos).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Los datos deben estar en una clase aparte, que asumirá el papel de repositorio.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Diseñar e implementar las clases pertinentes, teniendo en cuenta el principio de separación de responsabilidades.</a:t>
            </a:r>
          </a:p>
          <a:p>
            <a:pPr marL="50800" indent="0">
              <a:lnSpc>
                <a:spcPct val="120000"/>
              </a:lnSpc>
              <a:buNone/>
            </a:pPr>
            <a:endParaRPr lang="es-ES" dirty="0">
              <a:latin typeface="+mj-lt"/>
            </a:endParaRPr>
          </a:p>
          <a:p>
            <a:pPr marL="50800" indent="0">
              <a:lnSpc>
                <a:spcPct val="120000"/>
              </a:lnSpc>
              <a:buNone/>
            </a:pPr>
            <a:r>
              <a:rPr lang="es-ES" sz="1700" dirty="0"/>
              <a:t>Nota: pueden obtener datos públicos desde la Plataforma Nacional de Datos Abiertos: </a:t>
            </a:r>
            <a:r>
              <a:rPr lang="es-ES" sz="1700" dirty="0">
                <a:hlinkClick r:id="rId2"/>
              </a:rPr>
              <a:t>https://www.datosabiertos.gob.pe/</a:t>
            </a:r>
            <a:r>
              <a:rPr lang="es-ES" sz="1700" dirty="0"/>
              <a:t> </a:t>
            </a:r>
            <a:endParaRPr lang="es-ES" sz="17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2A737-B6D7-F93F-3DB0-01891C897A21}"/>
              </a:ext>
            </a:extLst>
          </p:cNvPr>
          <p:cNvSpPr txBox="1"/>
          <p:nvPr/>
        </p:nvSpPr>
        <p:spPr>
          <a:xfrm>
            <a:off x="8610600" y="2028889"/>
            <a:ext cx="2770693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rgbClr val="5485A5"/>
                </a:solidFill>
                <a:latin typeface="+mj-lt"/>
              </a:rPr>
              <a:t>Indicaciones</a:t>
            </a:r>
            <a:br>
              <a:rPr lang="en-US" sz="1200" b="1" dirty="0">
                <a:solidFill>
                  <a:srgbClr val="5485A5"/>
                </a:solidFill>
                <a:latin typeface="+mj-lt"/>
              </a:rPr>
            </a:br>
            <a:endParaRPr lang="en-US" sz="1200" b="1" dirty="0">
              <a:solidFill>
                <a:srgbClr val="5485A5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Grupos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Entregables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a). Video de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minutos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propuestas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; b).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Archivo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ZIP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conteniendo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Proyecto java con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Todos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deben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aparecer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video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ejercicios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A53CF-B8F1-AC07-92CB-D7BAEF75967B}"/>
              </a:ext>
            </a:extLst>
          </p:cNvPr>
          <p:cNvSpPr/>
          <p:nvPr/>
        </p:nvSpPr>
        <p:spPr>
          <a:xfrm>
            <a:off x="8323872" y="829559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62AC4A-37B6-8C2E-A679-FA146449B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607" y="727152"/>
            <a:ext cx="1189112" cy="11891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D7791A-315B-43C9-CDA2-EB8F8AF70E4B}"/>
              </a:ext>
            </a:extLst>
          </p:cNvPr>
          <p:cNvSpPr txBox="1"/>
          <p:nvPr/>
        </p:nvSpPr>
        <p:spPr>
          <a:xfrm>
            <a:off x="238026" y="6455777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https://upload.wikimedia.org/wikipedia/commons/0/0a/AnantP%40java.png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FBE75A-E6B2-8472-CA16-ECF23EC50B2D}"/>
              </a:ext>
            </a:extLst>
          </p:cNvPr>
          <p:cNvGrpSpPr/>
          <p:nvPr/>
        </p:nvGrpSpPr>
        <p:grpSpPr>
          <a:xfrm>
            <a:off x="8672114" y="5435206"/>
            <a:ext cx="2590250" cy="815188"/>
            <a:chOff x="8672114" y="5435206"/>
            <a:chExt cx="2590250" cy="8151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FF30B7-717B-C6A2-D46B-0467356FF044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7" name="Graphic 6" descr="Clipboard Checked with solid fill">
              <a:extLst>
                <a:ext uri="{FF2B5EF4-FFF2-40B4-BE49-F238E27FC236}">
                  <a16:creationId xmlns:a16="http://schemas.microsoft.com/office/drawing/2014/main" id="{56A6BEB9-E94A-9672-69A0-BA27FDFAE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2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00A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23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 err="1"/>
              <a:t>StringBuilder</a:t>
            </a:r>
            <a:r>
              <a:rPr lang="es-ES" dirty="0"/>
              <a:t>.</a:t>
            </a:r>
          </a:p>
          <a:p>
            <a:r>
              <a:rPr lang="es-ES" dirty="0" err="1"/>
              <a:t>StringBuffer</a:t>
            </a:r>
            <a:r>
              <a:rPr lang="es-ES" dirty="0"/>
              <a:t>.</a:t>
            </a:r>
          </a:p>
          <a:p>
            <a:r>
              <a:rPr lang="es-ES" dirty="0"/>
              <a:t>Diferencias con </a:t>
            </a:r>
            <a:r>
              <a:rPr lang="es-ES" dirty="0" err="1"/>
              <a:t>String</a:t>
            </a:r>
            <a:r>
              <a:rPr lang="es-ES" dirty="0"/>
              <a:t>.</a:t>
            </a:r>
          </a:p>
          <a:p>
            <a:r>
              <a:rPr lang="es-ES" dirty="0"/>
              <a:t>Principales métodos.</a:t>
            </a:r>
          </a:p>
          <a:p>
            <a:r>
              <a:rPr lang="es-ES" dirty="0"/>
              <a:t>¿Cuándo utilizarlos?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29" t="3247" r="24723" b="2817"/>
          <a:stretch/>
        </p:blipFill>
        <p:spPr>
          <a:xfrm rot="4066074">
            <a:off x="8713547" y="1064673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409" b="34623"/>
          <a:stretch/>
        </p:blipFill>
        <p:spPr>
          <a:xfrm rot="569949">
            <a:off x="9191059" y="328060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937664">
            <a:off x="9346113" y="3117484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891386" flipH="1">
            <a:off x="9341959" y="3572202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10806</TotalTime>
  <Words>1922</Words>
  <Application>Microsoft Office PowerPoint</Application>
  <PresentationFormat>Panorámica</PresentationFormat>
  <Paragraphs>254</Paragraphs>
  <Slides>25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Manejo de Cadenas de Texto (II)</vt:lpstr>
      <vt:lpstr>Conocimientos previos</vt:lpstr>
      <vt:lpstr>Logro de aprendizaje</vt:lpstr>
      <vt:lpstr>Utilidad</vt:lpstr>
      <vt:lpstr>Presentación de PowerPoint</vt:lpstr>
      <vt:lpstr>Presentación de PowerPoint</vt:lpstr>
      <vt:lpstr>Introducción</vt:lpstr>
      <vt:lpstr>Estructura</vt:lpstr>
      <vt:lpstr>Creando un StringBuilder</vt:lpstr>
      <vt:lpstr>StringBuilder. Principales métodos.</vt:lpstr>
      <vt:lpstr>Creando un StringBuffer</vt:lpstr>
      <vt:lpstr>StringBuffer. Principales métodos.</vt:lpstr>
      <vt:lpstr>Ejemplo: uso de StringBuilder</vt:lpstr>
      <vt:lpstr>¿Cuándo usar StringBuffer y StringBuilder?</vt:lpstr>
      <vt:lpstr>Presentación de PowerPoint</vt:lpstr>
      <vt:lpstr>Ejercicio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16-Sesión 32</dc:title>
  <dc:creator>jorgerodcas@hotmail.com</dc:creator>
  <cp:lastModifiedBy>Juan Carlos García</cp:lastModifiedBy>
  <cp:revision>459</cp:revision>
  <dcterms:modified xsi:type="dcterms:W3CDTF">2023-10-23T16:13:03Z</dcterms:modified>
</cp:coreProperties>
</file>