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525" r:id="rId3"/>
    <p:sldId id="543" r:id="rId4"/>
    <p:sldId id="544" r:id="rId5"/>
    <p:sldId id="545" r:id="rId6"/>
    <p:sldId id="546" r:id="rId7"/>
    <p:sldId id="547" r:id="rId8"/>
    <p:sldId id="258" r:id="rId9"/>
    <p:sldId id="257" r:id="rId10"/>
    <p:sldId id="263" r:id="rId11"/>
    <p:sldId id="264" r:id="rId12"/>
    <p:sldId id="330" r:id="rId13"/>
    <p:sldId id="526" r:id="rId14"/>
    <p:sldId id="527" r:id="rId15"/>
    <p:sldId id="531" r:id="rId16"/>
    <p:sldId id="528" r:id="rId17"/>
    <p:sldId id="535" r:id="rId18"/>
    <p:sldId id="534" r:id="rId19"/>
    <p:sldId id="532" r:id="rId20"/>
    <p:sldId id="551" r:id="rId21"/>
    <p:sldId id="529" r:id="rId22"/>
    <p:sldId id="536" r:id="rId23"/>
    <p:sldId id="537" r:id="rId24"/>
    <p:sldId id="538" r:id="rId25"/>
    <p:sldId id="539" r:id="rId26"/>
    <p:sldId id="540" r:id="rId27"/>
    <p:sldId id="541" r:id="rId28"/>
    <p:sldId id="552" r:id="rId29"/>
    <p:sldId id="542" r:id="rId30"/>
    <p:sldId id="533" r:id="rId31"/>
    <p:sldId id="530" r:id="rId32"/>
    <p:sldId id="548" r:id="rId33"/>
    <p:sldId id="549" r:id="rId34"/>
    <p:sldId id="550" r:id="rId35"/>
    <p:sldId id="261" r:id="rId36"/>
    <p:sldId id="329" r:id="rId37"/>
    <p:sldId id="259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8100"/>
    <a:srgbClr val="CC00CC"/>
    <a:srgbClr val="52CBBE"/>
    <a:srgbClr val="FF5050"/>
    <a:srgbClr val="00A0A8"/>
    <a:srgbClr val="5D7373"/>
    <a:srgbClr val="FF5969"/>
    <a:srgbClr val="AFF0FF"/>
    <a:srgbClr val="CCFFFF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89760" autoAdjust="0"/>
  </p:normalViewPr>
  <p:slideViewPr>
    <p:cSldViewPr snapToGrid="0">
      <p:cViewPr varScale="1">
        <p:scale>
          <a:sx n="124" d="100"/>
          <a:sy n="124" d="100"/>
        </p:scale>
        <p:origin x="422" y="12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83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411308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773031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15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2122156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99285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C</a:t>
            </a:r>
          </a:p>
          <a:p>
            <a:r>
              <a:rPr lang="es-ES" dirty="0"/>
              <a:t>No se puede usar la longitud de la cadena como índice para </a:t>
            </a:r>
            <a:r>
              <a:rPr lang="es-ES" dirty="0" err="1"/>
              <a:t>charAt</a:t>
            </a:r>
            <a:endParaRPr lang="es-ES" dirty="0"/>
          </a:p>
          <a:p>
            <a:r>
              <a:rPr lang="es-ES" dirty="0"/>
              <a:t>(</a:t>
            </a:r>
            <a:r>
              <a:rPr lang="es-ES" dirty="0" err="1"/>
              <a:t>StringIndexOutOfBoundsException</a:t>
            </a:r>
            <a:r>
              <a:rPr lang="es-E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617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</a:p>
          <a:p>
            <a:r>
              <a:rPr lang="es-ES" dirty="0"/>
              <a:t>Los valores 1 y 2 son convertidos automáticamente a cadenas y concatenados con “Java”. Luego, “Quiz” se concatena con el resultado de la suma 3+4.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879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</a:p>
          <a:p>
            <a:r>
              <a:rPr lang="es-ES" dirty="0"/>
              <a:t>A pesar que s2 tiene el mismo valor, es una referencia distinta pues se crea con new.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989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Desarrollar un caso básico, con frases que no tengas signos de puntuación (comas, puntos, guiones, etc.)</a:t>
            </a:r>
          </a:p>
          <a:p>
            <a:r>
              <a:rPr lang="es-ES" dirty="0"/>
              <a:t>La solución propuesta en los archivos:</a:t>
            </a:r>
          </a:p>
          <a:p>
            <a:r>
              <a:rPr lang="es-ES" dirty="0"/>
              <a:t>ContadorPalabras.java y</a:t>
            </a:r>
          </a:p>
          <a:p>
            <a:r>
              <a:rPr lang="es-ES" dirty="0"/>
              <a:t>PruebaContadorPalabras.java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704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j-lt"/>
              </a:defRPr>
            </a:lvl1pPr>
            <a:lvl2pPr>
              <a:lnSpc>
                <a:spcPct val="100000"/>
              </a:lnSpc>
              <a:defRPr>
                <a:latin typeface="+mj-lt"/>
              </a:defRPr>
            </a:lvl2pPr>
            <a:lvl3pPr>
              <a:lnSpc>
                <a:spcPct val="100000"/>
              </a:lnSpc>
              <a:defRPr>
                <a:latin typeface="+mj-lt"/>
              </a:defRPr>
            </a:lvl3pPr>
            <a:lvl4pPr>
              <a:lnSpc>
                <a:spcPct val="100000"/>
              </a:lnSpc>
              <a:defRPr>
                <a:latin typeface="+mj-lt"/>
              </a:defRPr>
            </a:lvl4pPr>
            <a:lvl5pPr>
              <a:lnSpc>
                <a:spcPct val="10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0C89D64-1AFE-CB81-D4D6-B4CFD84273E8}"/>
              </a:ext>
            </a:extLst>
          </p:cNvPr>
          <p:cNvSpPr/>
          <p:nvPr/>
        </p:nvSpPr>
        <p:spPr>
          <a:xfrm>
            <a:off x="5891752" y="2975338"/>
            <a:ext cx="4204356" cy="2623008"/>
          </a:xfrm>
          <a:prstGeom prst="rect">
            <a:avLst/>
          </a:prstGeom>
          <a:solidFill>
            <a:srgbClr val="FF596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D59BC-325E-2BC0-9DC7-07D431C1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560" y="533248"/>
            <a:ext cx="4066880" cy="1144413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  <a:t>DUDAS</a:t>
            </a:r>
            <a:b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700" b="0" dirty="0">
                <a:solidFill>
                  <a:schemeClr val="bg1">
                    <a:lumMod val="50000"/>
                  </a:schemeClr>
                </a:solidFill>
              </a:rPr>
              <a:t>DE LA CLASE ANTERIOR</a:t>
            </a:r>
            <a:endParaRPr lang="en-US" sz="27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AC450-3821-6996-E3BE-F45AAA8540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832D-6FF0-CDE3-EA95-81F5E832805D}"/>
              </a:ext>
            </a:extLst>
          </p:cNvPr>
          <p:cNvGrpSpPr/>
          <p:nvPr/>
        </p:nvGrpSpPr>
        <p:grpSpPr>
          <a:xfrm>
            <a:off x="3115559" y="0"/>
            <a:ext cx="631597" cy="6858000"/>
            <a:chOff x="3115559" y="0"/>
            <a:chExt cx="63159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92EE28-AE2E-B87F-D3A8-18A61E3A2346}"/>
                </a:ext>
              </a:extLst>
            </p:cNvPr>
            <p:cNvSpPr/>
            <p:nvPr/>
          </p:nvSpPr>
          <p:spPr>
            <a:xfrm>
              <a:off x="3115559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2E3E0F-4598-C509-5A91-D014DD969604}"/>
                </a:ext>
              </a:extLst>
            </p:cNvPr>
            <p:cNvSpPr/>
            <p:nvPr/>
          </p:nvSpPr>
          <p:spPr>
            <a:xfrm rot="16200000">
              <a:off x="2268130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primera</a:t>
              </a:r>
              <a:endParaRPr lang="en-US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74F820-2156-8823-004D-AC4D836E5B4F}"/>
              </a:ext>
            </a:extLst>
          </p:cNvPr>
          <p:cNvGrpSpPr/>
          <p:nvPr/>
        </p:nvGrpSpPr>
        <p:grpSpPr>
          <a:xfrm>
            <a:off x="2483963" y="0"/>
            <a:ext cx="645345" cy="6858000"/>
            <a:chOff x="2483963" y="0"/>
            <a:chExt cx="645345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B4D23B-0E35-A570-02C7-6AA77C970D84}"/>
                </a:ext>
              </a:extLst>
            </p:cNvPr>
            <p:cNvSpPr/>
            <p:nvPr/>
          </p:nvSpPr>
          <p:spPr>
            <a:xfrm>
              <a:off x="2483963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4FE1BEE-3FC9-D7FF-C6A4-F6993144471D}"/>
                </a:ext>
              </a:extLst>
            </p:cNvPr>
            <p:cNvSpPr/>
            <p:nvPr/>
          </p:nvSpPr>
          <p:spPr>
            <a:xfrm rot="16200000">
              <a:off x="1650282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segunda</a:t>
              </a:r>
              <a:endParaRPr lang="en-US" sz="2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12596C-22C9-3C35-21E0-FF572B3100D4}"/>
              </a:ext>
            </a:extLst>
          </p:cNvPr>
          <p:cNvGrpSpPr/>
          <p:nvPr/>
        </p:nvGrpSpPr>
        <p:grpSpPr>
          <a:xfrm>
            <a:off x="1918355" y="0"/>
            <a:ext cx="631597" cy="6858000"/>
            <a:chOff x="1918355" y="0"/>
            <a:chExt cx="63159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4CA037-89DB-42A0-8197-1A7B6003CB62}"/>
                </a:ext>
              </a:extLst>
            </p:cNvPr>
            <p:cNvSpPr/>
            <p:nvPr/>
          </p:nvSpPr>
          <p:spPr>
            <a:xfrm>
              <a:off x="191835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F416232-39DE-626F-6A6C-C0B6544AF202}"/>
                </a:ext>
              </a:extLst>
            </p:cNvPr>
            <p:cNvSpPr/>
            <p:nvPr/>
          </p:nvSpPr>
          <p:spPr>
            <a:xfrm rot="16200000">
              <a:off x="1070926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tercera</a:t>
              </a:r>
              <a:endParaRPr lang="en-US" sz="20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4DE3B1-A115-1D37-AD43-D2A6F863FB62}"/>
              </a:ext>
            </a:extLst>
          </p:cNvPr>
          <p:cNvGrpSpPr/>
          <p:nvPr/>
        </p:nvGrpSpPr>
        <p:grpSpPr>
          <a:xfrm>
            <a:off x="1253765" y="0"/>
            <a:ext cx="650844" cy="6858000"/>
            <a:chOff x="1253765" y="0"/>
            <a:chExt cx="65084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C36F29-BE44-B4B2-3E61-FCF6D684900B}"/>
                </a:ext>
              </a:extLst>
            </p:cNvPr>
            <p:cNvSpPr/>
            <p:nvPr/>
          </p:nvSpPr>
          <p:spPr>
            <a:xfrm>
              <a:off x="125376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5523C22-47D1-0177-7482-A308404AD824}"/>
                </a:ext>
              </a:extLst>
            </p:cNvPr>
            <p:cNvSpPr/>
            <p:nvPr/>
          </p:nvSpPr>
          <p:spPr>
            <a:xfrm rot="16200000">
              <a:off x="425583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cuarta</a:t>
              </a:r>
              <a:endParaRPr lang="en-US" sz="2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8701F-D05F-06A4-75AE-7813AF74240E}"/>
              </a:ext>
            </a:extLst>
          </p:cNvPr>
          <p:cNvGrpSpPr/>
          <p:nvPr/>
        </p:nvGrpSpPr>
        <p:grpSpPr>
          <a:xfrm>
            <a:off x="601352" y="0"/>
            <a:ext cx="645343" cy="6858000"/>
            <a:chOff x="601352" y="0"/>
            <a:chExt cx="645343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A91FAB-8512-053B-7DAF-3A0F0C81FA4A}"/>
                </a:ext>
              </a:extLst>
            </p:cNvPr>
            <p:cNvSpPr/>
            <p:nvPr/>
          </p:nvSpPr>
          <p:spPr>
            <a:xfrm>
              <a:off x="601352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DE7E2D-996B-F2A3-1D51-C1137C7CEDEE}"/>
                </a:ext>
              </a:extLst>
            </p:cNvPr>
            <p:cNvSpPr/>
            <p:nvPr/>
          </p:nvSpPr>
          <p:spPr>
            <a:xfrm rot="16200000">
              <a:off x="-232331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quinta</a:t>
              </a:r>
              <a:endParaRPr lang="en-US" sz="2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9144DE-1AAF-5BD4-5E67-8DFF7D16569B}"/>
              </a:ext>
            </a:extLst>
          </p:cNvPr>
          <p:cNvGrpSpPr/>
          <p:nvPr/>
        </p:nvGrpSpPr>
        <p:grpSpPr>
          <a:xfrm>
            <a:off x="2750" y="0"/>
            <a:ext cx="631598" cy="6858000"/>
            <a:chOff x="2750" y="0"/>
            <a:chExt cx="631598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6700F1-A4B3-5DEC-E391-B3159AA2F17F}"/>
                </a:ext>
              </a:extLst>
            </p:cNvPr>
            <p:cNvSpPr/>
            <p:nvPr/>
          </p:nvSpPr>
          <p:spPr>
            <a:xfrm>
              <a:off x="2750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EA2D23C-B5B6-98C5-9645-6DE0080C9B95}"/>
                </a:ext>
              </a:extLst>
            </p:cNvPr>
            <p:cNvSpPr/>
            <p:nvPr/>
          </p:nvSpPr>
          <p:spPr>
            <a:xfrm rot="16200000">
              <a:off x="-844678" y="4119320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sexta</a:t>
              </a:r>
              <a:endParaRPr lang="en-US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C62C5E3-3D0D-4097-1A1E-855081927850}"/>
              </a:ext>
            </a:extLst>
          </p:cNvPr>
          <p:cNvSpPr txBox="1"/>
          <p:nvPr/>
        </p:nvSpPr>
        <p:spPr>
          <a:xfrm>
            <a:off x="6488783" y="3998325"/>
            <a:ext cx="2994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Clase y Objeto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50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0C89D64-1AFE-CB81-D4D6-B4CFD84273E8}"/>
              </a:ext>
            </a:extLst>
          </p:cNvPr>
          <p:cNvSpPr/>
          <p:nvPr/>
        </p:nvSpPr>
        <p:spPr>
          <a:xfrm>
            <a:off x="5241302" y="2975338"/>
            <a:ext cx="4204356" cy="2623008"/>
          </a:xfrm>
          <a:prstGeom prst="rect">
            <a:avLst/>
          </a:prstGeom>
          <a:solidFill>
            <a:srgbClr val="52CBB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D59BC-325E-2BC0-9DC7-07D431C1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560" y="533248"/>
            <a:ext cx="4066880" cy="1144413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  <a:t>DUDAS</a:t>
            </a:r>
            <a:b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700" b="0" dirty="0">
                <a:solidFill>
                  <a:schemeClr val="bg1">
                    <a:lumMod val="50000"/>
                  </a:schemeClr>
                </a:solidFill>
              </a:rPr>
              <a:t>DE LA CLASE ANTERIOR</a:t>
            </a:r>
            <a:endParaRPr lang="en-US" sz="27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AC450-3821-6996-E3BE-F45AAA8540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832D-6FF0-CDE3-EA95-81F5E832805D}"/>
              </a:ext>
            </a:extLst>
          </p:cNvPr>
          <p:cNvGrpSpPr/>
          <p:nvPr/>
        </p:nvGrpSpPr>
        <p:grpSpPr>
          <a:xfrm>
            <a:off x="11557653" y="0"/>
            <a:ext cx="631597" cy="6858000"/>
            <a:chOff x="3115559" y="0"/>
            <a:chExt cx="63159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92EE28-AE2E-B87F-D3A8-18A61E3A2346}"/>
                </a:ext>
              </a:extLst>
            </p:cNvPr>
            <p:cNvSpPr/>
            <p:nvPr/>
          </p:nvSpPr>
          <p:spPr>
            <a:xfrm>
              <a:off x="3115559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2E3E0F-4598-C509-5A91-D014DD969604}"/>
                </a:ext>
              </a:extLst>
            </p:cNvPr>
            <p:cNvSpPr/>
            <p:nvPr/>
          </p:nvSpPr>
          <p:spPr>
            <a:xfrm rot="16200000">
              <a:off x="2268130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primera</a:t>
              </a:r>
              <a:endParaRPr lang="en-US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74F820-2156-8823-004D-AC4D836E5B4F}"/>
              </a:ext>
            </a:extLst>
          </p:cNvPr>
          <p:cNvGrpSpPr/>
          <p:nvPr/>
        </p:nvGrpSpPr>
        <p:grpSpPr>
          <a:xfrm>
            <a:off x="2483963" y="0"/>
            <a:ext cx="645345" cy="6858000"/>
            <a:chOff x="2483963" y="0"/>
            <a:chExt cx="645345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B4D23B-0E35-A570-02C7-6AA77C970D84}"/>
                </a:ext>
              </a:extLst>
            </p:cNvPr>
            <p:cNvSpPr/>
            <p:nvPr/>
          </p:nvSpPr>
          <p:spPr>
            <a:xfrm>
              <a:off x="2483963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4FE1BEE-3FC9-D7FF-C6A4-F6993144471D}"/>
                </a:ext>
              </a:extLst>
            </p:cNvPr>
            <p:cNvSpPr/>
            <p:nvPr/>
          </p:nvSpPr>
          <p:spPr>
            <a:xfrm rot="16200000">
              <a:off x="1650282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segunda</a:t>
              </a:r>
              <a:endParaRPr lang="en-US" sz="2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12596C-22C9-3C35-21E0-FF572B3100D4}"/>
              </a:ext>
            </a:extLst>
          </p:cNvPr>
          <p:cNvGrpSpPr/>
          <p:nvPr/>
        </p:nvGrpSpPr>
        <p:grpSpPr>
          <a:xfrm>
            <a:off x="1918355" y="0"/>
            <a:ext cx="631597" cy="6858000"/>
            <a:chOff x="1918355" y="0"/>
            <a:chExt cx="63159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4CA037-89DB-42A0-8197-1A7B6003CB62}"/>
                </a:ext>
              </a:extLst>
            </p:cNvPr>
            <p:cNvSpPr/>
            <p:nvPr/>
          </p:nvSpPr>
          <p:spPr>
            <a:xfrm>
              <a:off x="191835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F416232-39DE-626F-6A6C-C0B6544AF202}"/>
                </a:ext>
              </a:extLst>
            </p:cNvPr>
            <p:cNvSpPr/>
            <p:nvPr/>
          </p:nvSpPr>
          <p:spPr>
            <a:xfrm rot="16200000">
              <a:off x="1070926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tercera</a:t>
              </a:r>
              <a:endParaRPr lang="en-US" sz="20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4DE3B1-A115-1D37-AD43-D2A6F863FB62}"/>
              </a:ext>
            </a:extLst>
          </p:cNvPr>
          <p:cNvGrpSpPr/>
          <p:nvPr/>
        </p:nvGrpSpPr>
        <p:grpSpPr>
          <a:xfrm>
            <a:off x="1253765" y="0"/>
            <a:ext cx="650844" cy="6858000"/>
            <a:chOff x="1253765" y="0"/>
            <a:chExt cx="65084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C36F29-BE44-B4B2-3E61-FCF6D684900B}"/>
                </a:ext>
              </a:extLst>
            </p:cNvPr>
            <p:cNvSpPr/>
            <p:nvPr/>
          </p:nvSpPr>
          <p:spPr>
            <a:xfrm>
              <a:off x="125376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5523C22-47D1-0177-7482-A308404AD824}"/>
                </a:ext>
              </a:extLst>
            </p:cNvPr>
            <p:cNvSpPr/>
            <p:nvPr/>
          </p:nvSpPr>
          <p:spPr>
            <a:xfrm rot="16200000">
              <a:off x="425583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cuarta</a:t>
              </a:r>
              <a:endParaRPr lang="en-US" sz="2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8701F-D05F-06A4-75AE-7813AF74240E}"/>
              </a:ext>
            </a:extLst>
          </p:cNvPr>
          <p:cNvGrpSpPr/>
          <p:nvPr/>
        </p:nvGrpSpPr>
        <p:grpSpPr>
          <a:xfrm>
            <a:off x="601352" y="0"/>
            <a:ext cx="645343" cy="6858000"/>
            <a:chOff x="601352" y="0"/>
            <a:chExt cx="645343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A91FAB-8512-053B-7DAF-3A0F0C81FA4A}"/>
                </a:ext>
              </a:extLst>
            </p:cNvPr>
            <p:cNvSpPr/>
            <p:nvPr/>
          </p:nvSpPr>
          <p:spPr>
            <a:xfrm>
              <a:off x="601352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DE7E2D-996B-F2A3-1D51-C1137C7CEDEE}"/>
                </a:ext>
              </a:extLst>
            </p:cNvPr>
            <p:cNvSpPr/>
            <p:nvPr/>
          </p:nvSpPr>
          <p:spPr>
            <a:xfrm rot="16200000">
              <a:off x="-232331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quinta</a:t>
              </a:r>
              <a:endParaRPr lang="en-US" sz="2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9144DE-1AAF-5BD4-5E67-8DFF7D16569B}"/>
              </a:ext>
            </a:extLst>
          </p:cNvPr>
          <p:cNvGrpSpPr/>
          <p:nvPr/>
        </p:nvGrpSpPr>
        <p:grpSpPr>
          <a:xfrm>
            <a:off x="2750" y="0"/>
            <a:ext cx="631598" cy="6858000"/>
            <a:chOff x="2750" y="0"/>
            <a:chExt cx="631598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6700F1-A4B3-5DEC-E391-B3159AA2F17F}"/>
                </a:ext>
              </a:extLst>
            </p:cNvPr>
            <p:cNvSpPr/>
            <p:nvPr/>
          </p:nvSpPr>
          <p:spPr>
            <a:xfrm>
              <a:off x="2750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EA2D23C-B5B6-98C5-9645-6DE0080C9B95}"/>
                </a:ext>
              </a:extLst>
            </p:cNvPr>
            <p:cNvSpPr/>
            <p:nvPr/>
          </p:nvSpPr>
          <p:spPr>
            <a:xfrm rot="16200000">
              <a:off x="-844678" y="4119320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sexta</a:t>
              </a:r>
              <a:endParaRPr lang="en-US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C62C5E3-3D0D-4097-1A1E-855081927850}"/>
              </a:ext>
            </a:extLst>
          </p:cNvPr>
          <p:cNvSpPr txBox="1"/>
          <p:nvPr/>
        </p:nvSpPr>
        <p:spPr>
          <a:xfrm>
            <a:off x="5838333" y="3838068"/>
            <a:ext cx="2994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Constructor. Tipos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23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0C89D64-1AFE-CB81-D4D6-B4CFD84273E8}"/>
              </a:ext>
            </a:extLst>
          </p:cNvPr>
          <p:cNvSpPr/>
          <p:nvPr/>
        </p:nvSpPr>
        <p:spPr>
          <a:xfrm>
            <a:off x="4635825" y="2975338"/>
            <a:ext cx="4204356" cy="2623008"/>
          </a:xfrm>
          <a:prstGeom prst="rect">
            <a:avLst/>
          </a:prstGeom>
          <a:solidFill>
            <a:srgbClr val="FEC63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D59BC-325E-2BC0-9DC7-07D431C1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560" y="533248"/>
            <a:ext cx="4066880" cy="1144413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  <a:t>DUDAS</a:t>
            </a:r>
            <a:b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700" b="0" dirty="0">
                <a:solidFill>
                  <a:schemeClr val="bg1">
                    <a:lumMod val="50000"/>
                  </a:schemeClr>
                </a:solidFill>
              </a:rPr>
              <a:t>DE LA CLASE ANTERIOR</a:t>
            </a:r>
            <a:endParaRPr lang="en-US" sz="27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AC450-3821-6996-E3BE-F45AAA8540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832D-6FF0-CDE3-EA95-81F5E832805D}"/>
              </a:ext>
            </a:extLst>
          </p:cNvPr>
          <p:cNvGrpSpPr/>
          <p:nvPr/>
        </p:nvGrpSpPr>
        <p:grpSpPr>
          <a:xfrm>
            <a:off x="11557653" y="0"/>
            <a:ext cx="631597" cy="6858000"/>
            <a:chOff x="3115559" y="0"/>
            <a:chExt cx="63159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92EE28-AE2E-B87F-D3A8-18A61E3A2346}"/>
                </a:ext>
              </a:extLst>
            </p:cNvPr>
            <p:cNvSpPr/>
            <p:nvPr/>
          </p:nvSpPr>
          <p:spPr>
            <a:xfrm>
              <a:off x="3115559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2E3E0F-4598-C509-5A91-D014DD969604}"/>
                </a:ext>
              </a:extLst>
            </p:cNvPr>
            <p:cNvSpPr/>
            <p:nvPr/>
          </p:nvSpPr>
          <p:spPr>
            <a:xfrm rot="16200000">
              <a:off x="2268130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primera</a:t>
              </a:r>
              <a:endParaRPr lang="en-US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74F820-2156-8823-004D-AC4D836E5B4F}"/>
              </a:ext>
            </a:extLst>
          </p:cNvPr>
          <p:cNvGrpSpPr/>
          <p:nvPr/>
        </p:nvGrpSpPr>
        <p:grpSpPr>
          <a:xfrm>
            <a:off x="10926057" y="0"/>
            <a:ext cx="645345" cy="6858000"/>
            <a:chOff x="2483963" y="0"/>
            <a:chExt cx="645345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B4D23B-0E35-A570-02C7-6AA77C970D84}"/>
                </a:ext>
              </a:extLst>
            </p:cNvPr>
            <p:cNvSpPr/>
            <p:nvPr/>
          </p:nvSpPr>
          <p:spPr>
            <a:xfrm>
              <a:off x="2483963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4FE1BEE-3FC9-D7FF-C6A4-F6993144471D}"/>
                </a:ext>
              </a:extLst>
            </p:cNvPr>
            <p:cNvSpPr/>
            <p:nvPr/>
          </p:nvSpPr>
          <p:spPr>
            <a:xfrm rot="16200000">
              <a:off x="1650282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segunda</a:t>
              </a:r>
              <a:endParaRPr lang="en-US" sz="2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12596C-22C9-3C35-21E0-FF572B3100D4}"/>
              </a:ext>
            </a:extLst>
          </p:cNvPr>
          <p:cNvGrpSpPr/>
          <p:nvPr/>
        </p:nvGrpSpPr>
        <p:grpSpPr>
          <a:xfrm>
            <a:off x="1918355" y="0"/>
            <a:ext cx="631597" cy="6858000"/>
            <a:chOff x="1918355" y="0"/>
            <a:chExt cx="63159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4CA037-89DB-42A0-8197-1A7B6003CB62}"/>
                </a:ext>
              </a:extLst>
            </p:cNvPr>
            <p:cNvSpPr/>
            <p:nvPr/>
          </p:nvSpPr>
          <p:spPr>
            <a:xfrm>
              <a:off x="191835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F416232-39DE-626F-6A6C-C0B6544AF202}"/>
                </a:ext>
              </a:extLst>
            </p:cNvPr>
            <p:cNvSpPr/>
            <p:nvPr/>
          </p:nvSpPr>
          <p:spPr>
            <a:xfrm rot="16200000">
              <a:off x="1070926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tercera</a:t>
              </a:r>
              <a:endParaRPr lang="en-US" sz="20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4DE3B1-A115-1D37-AD43-D2A6F863FB62}"/>
              </a:ext>
            </a:extLst>
          </p:cNvPr>
          <p:cNvGrpSpPr/>
          <p:nvPr/>
        </p:nvGrpSpPr>
        <p:grpSpPr>
          <a:xfrm>
            <a:off x="1253765" y="0"/>
            <a:ext cx="650844" cy="6858000"/>
            <a:chOff x="1253765" y="0"/>
            <a:chExt cx="65084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C36F29-BE44-B4B2-3E61-FCF6D684900B}"/>
                </a:ext>
              </a:extLst>
            </p:cNvPr>
            <p:cNvSpPr/>
            <p:nvPr/>
          </p:nvSpPr>
          <p:spPr>
            <a:xfrm>
              <a:off x="125376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5523C22-47D1-0177-7482-A308404AD824}"/>
                </a:ext>
              </a:extLst>
            </p:cNvPr>
            <p:cNvSpPr/>
            <p:nvPr/>
          </p:nvSpPr>
          <p:spPr>
            <a:xfrm rot="16200000">
              <a:off x="425583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cuarta</a:t>
              </a:r>
              <a:endParaRPr lang="en-US" sz="2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8701F-D05F-06A4-75AE-7813AF74240E}"/>
              </a:ext>
            </a:extLst>
          </p:cNvPr>
          <p:cNvGrpSpPr/>
          <p:nvPr/>
        </p:nvGrpSpPr>
        <p:grpSpPr>
          <a:xfrm>
            <a:off x="601352" y="0"/>
            <a:ext cx="645343" cy="6858000"/>
            <a:chOff x="601352" y="0"/>
            <a:chExt cx="645343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A91FAB-8512-053B-7DAF-3A0F0C81FA4A}"/>
                </a:ext>
              </a:extLst>
            </p:cNvPr>
            <p:cNvSpPr/>
            <p:nvPr/>
          </p:nvSpPr>
          <p:spPr>
            <a:xfrm>
              <a:off x="601352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DE7E2D-996B-F2A3-1D51-C1137C7CEDEE}"/>
                </a:ext>
              </a:extLst>
            </p:cNvPr>
            <p:cNvSpPr/>
            <p:nvPr/>
          </p:nvSpPr>
          <p:spPr>
            <a:xfrm rot="16200000">
              <a:off x="-232331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quinta</a:t>
              </a:r>
              <a:endParaRPr lang="en-US" sz="2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9144DE-1AAF-5BD4-5E67-8DFF7D16569B}"/>
              </a:ext>
            </a:extLst>
          </p:cNvPr>
          <p:cNvGrpSpPr/>
          <p:nvPr/>
        </p:nvGrpSpPr>
        <p:grpSpPr>
          <a:xfrm>
            <a:off x="2750" y="0"/>
            <a:ext cx="631598" cy="6858000"/>
            <a:chOff x="2750" y="0"/>
            <a:chExt cx="631598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6700F1-A4B3-5DEC-E391-B3159AA2F17F}"/>
                </a:ext>
              </a:extLst>
            </p:cNvPr>
            <p:cNvSpPr/>
            <p:nvPr/>
          </p:nvSpPr>
          <p:spPr>
            <a:xfrm>
              <a:off x="2750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EA2D23C-B5B6-98C5-9645-6DE0080C9B95}"/>
                </a:ext>
              </a:extLst>
            </p:cNvPr>
            <p:cNvSpPr/>
            <p:nvPr/>
          </p:nvSpPr>
          <p:spPr>
            <a:xfrm rot="16200000">
              <a:off x="-844678" y="4119320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sexta</a:t>
              </a:r>
              <a:endParaRPr lang="en-US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C62C5E3-3D0D-4097-1A1E-855081927850}"/>
              </a:ext>
            </a:extLst>
          </p:cNvPr>
          <p:cNvSpPr txBox="1"/>
          <p:nvPr/>
        </p:nvSpPr>
        <p:spPr>
          <a:xfrm>
            <a:off x="5232856" y="3819212"/>
            <a:ext cx="2994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Función y procedimiento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11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0C89D64-1AFE-CB81-D4D6-B4CFD84273E8}"/>
              </a:ext>
            </a:extLst>
          </p:cNvPr>
          <p:cNvSpPr/>
          <p:nvPr/>
        </p:nvSpPr>
        <p:spPr>
          <a:xfrm>
            <a:off x="4030351" y="2975338"/>
            <a:ext cx="4204356" cy="2623008"/>
          </a:xfrm>
          <a:prstGeom prst="rect">
            <a:avLst/>
          </a:prstGeom>
          <a:solidFill>
            <a:srgbClr val="5D7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D59BC-325E-2BC0-9DC7-07D431C1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560" y="533248"/>
            <a:ext cx="4066880" cy="1144413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  <a:t>DUDAS</a:t>
            </a:r>
            <a:b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700" b="0" dirty="0">
                <a:solidFill>
                  <a:schemeClr val="bg1">
                    <a:lumMod val="50000"/>
                  </a:schemeClr>
                </a:solidFill>
              </a:rPr>
              <a:t>DE LA CLASE ANTERIOR</a:t>
            </a:r>
            <a:endParaRPr lang="en-US" sz="27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AC450-3821-6996-E3BE-F45AAA8540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832D-6FF0-CDE3-EA95-81F5E832805D}"/>
              </a:ext>
            </a:extLst>
          </p:cNvPr>
          <p:cNvGrpSpPr/>
          <p:nvPr/>
        </p:nvGrpSpPr>
        <p:grpSpPr>
          <a:xfrm>
            <a:off x="11557653" y="0"/>
            <a:ext cx="631597" cy="6858000"/>
            <a:chOff x="3115559" y="0"/>
            <a:chExt cx="63159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92EE28-AE2E-B87F-D3A8-18A61E3A2346}"/>
                </a:ext>
              </a:extLst>
            </p:cNvPr>
            <p:cNvSpPr/>
            <p:nvPr/>
          </p:nvSpPr>
          <p:spPr>
            <a:xfrm>
              <a:off x="3115559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2E3E0F-4598-C509-5A91-D014DD969604}"/>
                </a:ext>
              </a:extLst>
            </p:cNvPr>
            <p:cNvSpPr/>
            <p:nvPr/>
          </p:nvSpPr>
          <p:spPr>
            <a:xfrm rot="16200000">
              <a:off x="2268130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primera</a:t>
              </a:r>
              <a:endParaRPr lang="en-US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74F820-2156-8823-004D-AC4D836E5B4F}"/>
              </a:ext>
            </a:extLst>
          </p:cNvPr>
          <p:cNvGrpSpPr/>
          <p:nvPr/>
        </p:nvGrpSpPr>
        <p:grpSpPr>
          <a:xfrm>
            <a:off x="10926057" y="0"/>
            <a:ext cx="645345" cy="6858000"/>
            <a:chOff x="2483963" y="0"/>
            <a:chExt cx="645345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B4D23B-0E35-A570-02C7-6AA77C970D84}"/>
                </a:ext>
              </a:extLst>
            </p:cNvPr>
            <p:cNvSpPr/>
            <p:nvPr/>
          </p:nvSpPr>
          <p:spPr>
            <a:xfrm>
              <a:off x="2483963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4FE1BEE-3FC9-D7FF-C6A4-F6993144471D}"/>
                </a:ext>
              </a:extLst>
            </p:cNvPr>
            <p:cNvSpPr/>
            <p:nvPr/>
          </p:nvSpPr>
          <p:spPr>
            <a:xfrm rot="16200000">
              <a:off x="1650282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segunda</a:t>
              </a:r>
              <a:endParaRPr lang="en-US" sz="2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12596C-22C9-3C35-21E0-FF572B3100D4}"/>
              </a:ext>
            </a:extLst>
          </p:cNvPr>
          <p:cNvGrpSpPr/>
          <p:nvPr/>
        </p:nvGrpSpPr>
        <p:grpSpPr>
          <a:xfrm>
            <a:off x="10360449" y="0"/>
            <a:ext cx="631597" cy="6858000"/>
            <a:chOff x="1918355" y="0"/>
            <a:chExt cx="63159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4CA037-89DB-42A0-8197-1A7B6003CB62}"/>
                </a:ext>
              </a:extLst>
            </p:cNvPr>
            <p:cNvSpPr/>
            <p:nvPr/>
          </p:nvSpPr>
          <p:spPr>
            <a:xfrm>
              <a:off x="191835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F416232-39DE-626F-6A6C-C0B6544AF202}"/>
                </a:ext>
              </a:extLst>
            </p:cNvPr>
            <p:cNvSpPr/>
            <p:nvPr/>
          </p:nvSpPr>
          <p:spPr>
            <a:xfrm rot="16200000">
              <a:off x="1070926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tercera</a:t>
              </a:r>
              <a:endParaRPr lang="en-US" sz="20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4DE3B1-A115-1D37-AD43-D2A6F863FB62}"/>
              </a:ext>
            </a:extLst>
          </p:cNvPr>
          <p:cNvGrpSpPr/>
          <p:nvPr/>
        </p:nvGrpSpPr>
        <p:grpSpPr>
          <a:xfrm>
            <a:off x="1253765" y="0"/>
            <a:ext cx="650844" cy="6858000"/>
            <a:chOff x="1253765" y="0"/>
            <a:chExt cx="65084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C36F29-BE44-B4B2-3E61-FCF6D684900B}"/>
                </a:ext>
              </a:extLst>
            </p:cNvPr>
            <p:cNvSpPr/>
            <p:nvPr/>
          </p:nvSpPr>
          <p:spPr>
            <a:xfrm>
              <a:off x="125376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5523C22-47D1-0177-7482-A308404AD824}"/>
                </a:ext>
              </a:extLst>
            </p:cNvPr>
            <p:cNvSpPr/>
            <p:nvPr/>
          </p:nvSpPr>
          <p:spPr>
            <a:xfrm rot="16200000">
              <a:off x="425583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cuarta</a:t>
              </a:r>
              <a:endParaRPr lang="en-US" sz="2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8701F-D05F-06A4-75AE-7813AF74240E}"/>
              </a:ext>
            </a:extLst>
          </p:cNvPr>
          <p:cNvGrpSpPr/>
          <p:nvPr/>
        </p:nvGrpSpPr>
        <p:grpSpPr>
          <a:xfrm>
            <a:off x="601352" y="0"/>
            <a:ext cx="645343" cy="6858000"/>
            <a:chOff x="601352" y="0"/>
            <a:chExt cx="645343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A91FAB-8512-053B-7DAF-3A0F0C81FA4A}"/>
                </a:ext>
              </a:extLst>
            </p:cNvPr>
            <p:cNvSpPr/>
            <p:nvPr/>
          </p:nvSpPr>
          <p:spPr>
            <a:xfrm>
              <a:off x="601352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DE7E2D-996B-F2A3-1D51-C1137C7CEDEE}"/>
                </a:ext>
              </a:extLst>
            </p:cNvPr>
            <p:cNvSpPr/>
            <p:nvPr/>
          </p:nvSpPr>
          <p:spPr>
            <a:xfrm rot="16200000">
              <a:off x="-232331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quinta</a:t>
              </a:r>
              <a:endParaRPr lang="en-US" sz="2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9144DE-1AAF-5BD4-5E67-8DFF7D16569B}"/>
              </a:ext>
            </a:extLst>
          </p:cNvPr>
          <p:cNvGrpSpPr/>
          <p:nvPr/>
        </p:nvGrpSpPr>
        <p:grpSpPr>
          <a:xfrm>
            <a:off x="2750" y="0"/>
            <a:ext cx="631598" cy="6858000"/>
            <a:chOff x="2750" y="0"/>
            <a:chExt cx="631598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6700F1-A4B3-5DEC-E391-B3159AA2F17F}"/>
                </a:ext>
              </a:extLst>
            </p:cNvPr>
            <p:cNvSpPr/>
            <p:nvPr/>
          </p:nvSpPr>
          <p:spPr>
            <a:xfrm>
              <a:off x="2750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EA2D23C-B5B6-98C5-9645-6DE0080C9B95}"/>
                </a:ext>
              </a:extLst>
            </p:cNvPr>
            <p:cNvSpPr/>
            <p:nvPr/>
          </p:nvSpPr>
          <p:spPr>
            <a:xfrm rot="16200000">
              <a:off x="-844678" y="4119320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sexta</a:t>
              </a:r>
              <a:endParaRPr lang="en-US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C62C5E3-3D0D-4097-1A1E-855081927850}"/>
              </a:ext>
            </a:extLst>
          </p:cNvPr>
          <p:cNvSpPr txBox="1"/>
          <p:nvPr/>
        </p:nvSpPr>
        <p:spPr>
          <a:xfrm>
            <a:off x="4627382" y="3838068"/>
            <a:ext cx="2994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Sobreescritura y Sobrecarga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188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0C89D64-1AFE-CB81-D4D6-B4CFD84273E8}"/>
              </a:ext>
            </a:extLst>
          </p:cNvPr>
          <p:cNvSpPr/>
          <p:nvPr/>
        </p:nvSpPr>
        <p:spPr>
          <a:xfrm>
            <a:off x="3288774" y="2975338"/>
            <a:ext cx="4204356" cy="2623008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D59BC-325E-2BC0-9DC7-07D431C1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560" y="533248"/>
            <a:ext cx="4066880" cy="1144413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  <a:t>DUDAS</a:t>
            </a:r>
            <a:b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700" b="0" dirty="0">
                <a:solidFill>
                  <a:schemeClr val="bg1">
                    <a:lumMod val="50000"/>
                  </a:schemeClr>
                </a:solidFill>
              </a:rPr>
              <a:t>DE LA CLASE ANTERIOR</a:t>
            </a:r>
            <a:endParaRPr lang="en-US" sz="27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AC450-3821-6996-E3BE-F45AAA8540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832D-6FF0-CDE3-EA95-81F5E832805D}"/>
              </a:ext>
            </a:extLst>
          </p:cNvPr>
          <p:cNvGrpSpPr/>
          <p:nvPr/>
        </p:nvGrpSpPr>
        <p:grpSpPr>
          <a:xfrm>
            <a:off x="11560403" y="0"/>
            <a:ext cx="631597" cy="6858000"/>
            <a:chOff x="3115559" y="0"/>
            <a:chExt cx="63159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92EE28-AE2E-B87F-D3A8-18A61E3A2346}"/>
                </a:ext>
              </a:extLst>
            </p:cNvPr>
            <p:cNvSpPr/>
            <p:nvPr/>
          </p:nvSpPr>
          <p:spPr>
            <a:xfrm>
              <a:off x="3115559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2E3E0F-4598-C509-5A91-D014DD969604}"/>
                </a:ext>
              </a:extLst>
            </p:cNvPr>
            <p:cNvSpPr/>
            <p:nvPr/>
          </p:nvSpPr>
          <p:spPr>
            <a:xfrm rot="16200000">
              <a:off x="2268130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primera</a:t>
              </a:r>
              <a:endParaRPr lang="en-US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74F820-2156-8823-004D-AC4D836E5B4F}"/>
              </a:ext>
            </a:extLst>
          </p:cNvPr>
          <p:cNvGrpSpPr/>
          <p:nvPr/>
        </p:nvGrpSpPr>
        <p:grpSpPr>
          <a:xfrm>
            <a:off x="10928807" y="0"/>
            <a:ext cx="645345" cy="6858000"/>
            <a:chOff x="2483963" y="0"/>
            <a:chExt cx="645345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B4D23B-0E35-A570-02C7-6AA77C970D84}"/>
                </a:ext>
              </a:extLst>
            </p:cNvPr>
            <p:cNvSpPr/>
            <p:nvPr/>
          </p:nvSpPr>
          <p:spPr>
            <a:xfrm>
              <a:off x="2483963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4FE1BEE-3FC9-D7FF-C6A4-F6993144471D}"/>
                </a:ext>
              </a:extLst>
            </p:cNvPr>
            <p:cNvSpPr/>
            <p:nvPr/>
          </p:nvSpPr>
          <p:spPr>
            <a:xfrm rot="16200000">
              <a:off x="1650282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segunda</a:t>
              </a:r>
              <a:endParaRPr lang="en-US" sz="2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12596C-22C9-3C35-21E0-FF572B3100D4}"/>
              </a:ext>
            </a:extLst>
          </p:cNvPr>
          <p:cNvGrpSpPr/>
          <p:nvPr/>
        </p:nvGrpSpPr>
        <p:grpSpPr>
          <a:xfrm>
            <a:off x="10363199" y="0"/>
            <a:ext cx="631597" cy="6858000"/>
            <a:chOff x="1918355" y="0"/>
            <a:chExt cx="63159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4CA037-89DB-42A0-8197-1A7B6003CB62}"/>
                </a:ext>
              </a:extLst>
            </p:cNvPr>
            <p:cNvSpPr/>
            <p:nvPr/>
          </p:nvSpPr>
          <p:spPr>
            <a:xfrm>
              <a:off x="191835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F416232-39DE-626F-6A6C-C0B6544AF202}"/>
                </a:ext>
              </a:extLst>
            </p:cNvPr>
            <p:cNvSpPr/>
            <p:nvPr/>
          </p:nvSpPr>
          <p:spPr>
            <a:xfrm rot="16200000">
              <a:off x="1070926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tercera</a:t>
              </a:r>
              <a:endParaRPr lang="en-US" sz="20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4DE3B1-A115-1D37-AD43-D2A6F863FB62}"/>
              </a:ext>
            </a:extLst>
          </p:cNvPr>
          <p:cNvGrpSpPr/>
          <p:nvPr/>
        </p:nvGrpSpPr>
        <p:grpSpPr>
          <a:xfrm>
            <a:off x="9698609" y="0"/>
            <a:ext cx="650844" cy="6858000"/>
            <a:chOff x="1253765" y="0"/>
            <a:chExt cx="65084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C36F29-BE44-B4B2-3E61-FCF6D684900B}"/>
                </a:ext>
              </a:extLst>
            </p:cNvPr>
            <p:cNvSpPr/>
            <p:nvPr/>
          </p:nvSpPr>
          <p:spPr>
            <a:xfrm>
              <a:off x="125376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5523C22-47D1-0177-7482-A308404AD824}"/>
                </a:ext>
              </a:extLst>
            </p:cNvPr>
            <p:cNvSpPr/>
            <p:nvPr/>
          </p:nvSpPr>
          <p:spPr>
            <a:xfrm rot="16200000">
              <a:off x="425583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cuarta</a:t>
              </a:r>
              <a:endParaRPr lang="en-US" sz="2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8701F-D05F-06A4-75AE-7813AF74240E}"/>
              </a:ext>
            </a:extLst>
          </p:cNvPr>
          <p:cNvGrpSpPr/>
          <p:nvPr/>
        </p:nvGrpSpPr>
        <p:grpSpPr>
          <a:xfrm>
            <a:off x="601352" y="0"/>
            <a:ext cx="645343" cy="6858000"/>
            <a:chOff x="601352" y="0"/>
            <a:chExt cx="645343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A91FAB-8512-053B-7DAF-3A0F0C81FA4A}"/>
                </a:ext>
              </a:extLst>
            </p:cNvPr>
            <p:cNvSpPr/>
            <p:nvPr/>
          </p:nvSpPr>
          <p:spPr>
            <a:xfrm>
              <a:off x="601352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DE7E2D-996B-F2A3-1D51-C1137C7CEDEE}"/>
                </a:ext>
              </a:extLst>
            </p:cNvPr>
            <p:cNvSpPr/>
            <p:nvPr/>
          </p:nvSpPr>
          <p:spPr>
            <a:xfrm rot="16200000">
              <a:off x="-232331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quinta</a:t>
              </a:r>
              <a:endParaRPr lang="en-US" sz="2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9144DE-1AAF-5BD4-5E67-8DFF7D16569B}"/>
              </a:ext>
            </a:extLst>
          </p:cNvPr>
          <p:cNvGrpSpPr/>
          <p:nvPr/>
        </p:nvGrpSpPr>
        <p:grpSpPr>
          <a:xfrm>
            <a:off x="2750" y="0"/>
            <a:ext cx="631598" cy="6858000"/>
            <a:chOff x="2750" y="0"/>
            <a:chExt cx="631598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6700F1-A4B3-5DEC-E391-B3159AA2F17F}"/>
                </a:ext>
              </a:extLst>
            </p:cNvPr>
            <p:cNvSpPr/>
            <p:nvPr/>
          </p:nvSpPr>
          <p:spPr>
            <a:xfrm>
              <a:off x="2750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EA2D23C-B5B6-98C5-9645-6DE0080C9B95}"/>
                </a:ext>
              </a:extLst>
            </p:cNvPr>
            <p:cNvSpPr/>
            <p:nvPr/>
          </p:nvSpPr>
          <p:spPr>
            <a:xfrm rot="16200000">
              <a:off x="-844678" y="4119320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sexta</a:t>
              </a:r>
              <a:endParaRPr lang="en-US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C62C5E3-3D0D-4097-1A1E-855081927850}"/>
              </a:ext>
            </a:extLst>
          </p:cNvPr>
          <p:cNvSpPr txBox="1"/>
          <p:nvPr/>
        </p:nvSpPr>
        <p:spPr>
          <a:xfrm>
            <a:off x="3885805" y="3658956"/>
            <a:ext cx="29945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Métodos estáticos y de instancia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71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0C89D64-1AFE-CB81-D4D6-B4CFD84273E8}"/>
              </a:ext>
            </a:extLst>
          </p:cNvPr>
          <p:cNvSpPr/>
          <p:nvPr/>
        </p:nvSpPr>
        <p:spPr>
          <a:xfrm>
            <a:off x="2736717" y="2975337"/>
            <a:ext cx="4204356" cy="2623008"/>
          </a:xfrm>
          <a:prstGeom prst="rect">
            <a:avLst/>
          </a:prstGeom>
          <a:solidFill>
            <a:srgbClr val="00A0A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D59BC-325E-2BC0-9DC7-07D431C1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560" y="533248"/>
            <a:ext cx="4066880" cy="1144413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  <a:t>DUDAS</a:t>
            </a:r>
            <a:br>
              <a:rPr lang="es-ES" sz="6000" spc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700" b="0" dirty="0">
                <a:solidFill>
                  <a:schemeClr val="bg1">
                    <a:lumMod val="50000"/>
                  </a:schemeClr>
                </a:solidFill>
              </a:rPr>
              <a:t>DE LA CLASE ANTERIOR</a:t>
            </a:r>
            <a:endParaRPr lang="en-US" sz="27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AC450-3821-6996-E3BE-F45AAA8540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832D-6FF0-CDE3-EA95-81F5E832805D}"/>
              </a:ext>
            </a:extLst>
          </p:cNvPr>
          <p:cNvGrpSpPr/>
          <p:nvPr/>
        </p:nvGrpSpPr>
        <p:grpSpPr>
          <a:xfrm>
            <a:off x="11557653" y="0"/>
            <a:ext cx="631597" cy="6858000"/>
            <a:chOff x="3115559" y="0"/>
            <a:chExt cx="631597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92EE28-AE2E-B87F-D3A8-18A61E3A2346}"/>
                </a:ext>
              </a:extLst>
            </p:cNvPr>
            <p:cNvSpPr/>
            <p:nvPr/>
          </p:nvSpPr>
          <p:spPr>
            <a:xfrm>
              <a:off x="3115559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2E3E0F-4598-C509-5A91-D014DD969604}"/>
                </a:ext>
              </a:extLst>
            </p:cNvPr>
            <p:cNvSpPr/>
            <p:nvPr/>
          </p:nvSpPr>
          <p:spPr>
            <a:xfrm rot="16200000">
              <a:off x="2268130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primera</a:t>
              </a:r>
              <a:endParaRPr lang="en-US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74F820-2156-8823-004D-AC4D836E5B4F}"/>
              </a:ext>
            </a:extLst>
          </p:cNvPr>
          <p:cNvGrpSpPr/>
          <p:nvPr/>
        </p:nvGrpSpPr>
        <p:grpSpPr>
          <a:xfrm>
            <a:off x="10926057" y="0"/>
            <a:ext cx="645345" cy="6858000"/>
            <a:chOff x="2483963" y="0"/>
            <a:chExt cx="645345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B4D23B-0E35-A570-02C7-6AA77C970D84}"/>
                </a:ext>
              </a:extLst>
            </p:cNvPr>
            <p:cNvSpPr/>
            <p:nvPr/>
          </p:nvSpPr>
          <p:spPr>
            <a:xfrm>
              <a:off x="2483963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4FE1BEE-3FC9-D7FF-C6A4-F6993144471D}"/>
                </a:ext>
              </a:extLst>
            </p:cNvPr>
            <p:cNvSpPr/>
            <p:nvPr/>
          </p:nvSpPr>
          <p:spPr>
            <a:xfrm rot="16200000">
              <a:off x="1650282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segunda</a:t>
              </a:r>
              <a:endParaRPr lang="en-US" sz="2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12596C-22C9-3C35-21E0-FF572B3100D4}"/>
              </a:ext>
            </a:extLst>
          </p:cNvPr>
          <p:cNvGrpSpPr/>
          <p:nvPr/>
        </p:nvGrpSpPr>
        <p:grpSpPr>
          <a:xfrm>
            <a:off x="10360449" y="0"/>
            <a:ext cx="631597" cy="6858000"/>
            <a:chOff x="1918355" y="0"/>
            <a:chExt cx="631597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4CA037-89DB-42A0-8197-1A7B6003CB62}"/>
                </a:ext>
              </a:extLst>
            </p:cNvPr>
            <p:cNvSpPr/>
            <p:nvPr/>
          </p:nvSpPr>
          <p:spPr>
            <a:xfrm>
              <a:off x="191835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F416232-39DE-626F-6A6C-C0B6544AF202}"/>
                </a:ext>
              </a:extLst>
            </p:cNvPr>
            <p:cNvSpPr/>
            <p:nvPr/>
          </p:nvSpPr>
          <p:spPr>
            <a:xfrm rot="16200000">
              <a:off x="1070926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tercera</a:t>
              </a:r>
              <a:endParaRPr lang="en-US" sz="20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4DE3B1-A115-1D37-AD43-D2A6F863FB62}"/>
              </a:ext>
            </a:extLst>
          </p:cNvPr>
          <p:cNvGrpSpPr/>
          <p:nvPr/>
        </p:nvGrpSpPr>
        <p:grpSpPr>
          <a:xfrm>
            <a:off x="9695859" y="0"/>
            <a:ext cx="650844" cy="6858000"/>
            <a:chOff x="1253765" y="0"/>
            <a:chExt cx="65084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C36F29-BE44-B4B2-3E61-FCF6D684900B}"/>
                </a:ext>
              </a:extLst>
            </p:cNvPr>
            <p:cNvSpPr/>
            <p:nvPr/>
          </p:nvSpPr>
          <p:spPr>
            <a:xfrm>
              <a:off x="1253765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5523C22-47D1-0177-7482-A308404AD824}"/>
                </a:ext>
              </a:extLst>
            </p:cNvPr>
            <p:cNvSpPr/>
            <p:nvPr/>
          </p:nvSpPr>
          <p:spPr>
            <a:xfrm rot="16200000">
              <a:off x="425583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cuarta</a:t>
              </a:r>
              <a:endParaRPr lang="en-US" sz="2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8701F-D05F-06A4-75AE-7813AF74240E}"/>
              </a:ext>
            </a:extLst>
          </p:cNvPr>
          <p:cNvGrpSpPr/>
          <p:nvPr/>
        </p:nvGrpSpPr>
        <p:grpSpPr>
          <a:xfrm>
            <a:off x="9043446" y="0"/>
            <a:ext cx="645343" cy="6858000"/>
            <a:chOff x="601352" y="0"/>
            <a:chExt cx="645343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A91FAB-8512-053B-7DAF-3A0F0C81FA4A}"/>
                </a:ext>
              </a:extLst>
            </p:cNvPr>
            <p:cNvSpPr/>
            <p:nvPr/>
          </p:nvSpPr>
          <p:spPr>
            <a:xfrm>
              <a:off x="601352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DE7E2D-996B-F2A3-1D51-C1137C7CEDEE}"/>
                </a:ext>
              </a:extLst>
            </p:cNvPr>
            <p:cNvSpPr/>
            <p:nvPr/>
          </p:nvSpPr>
          <p:spPr>
            <a:xfrm rot="16200000">
              <a:off x="-232331" y="4119319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quinta</a:t>
              </a:r>
              <a:endParaRPr lang="en-US" sz="2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9144DE-1AAF-5BD4-5E67-8DFF7D16569B}"/>
              </a:ext>
            </a:extLst>
          </p:cNvPr>
          <p:cNvGrpSpPr/>
          <p:nvPr/>
        </p:nvGrpSpPr>
        <p:grpSpPr>
          <a:xfrm>
            <a:off x="2750" y="0"/>
            <a:ext cx="631598" cy="6858000"/>
            <a:chOff x="2750" y="0"/>
            <a:chExt cx="631598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6700F1-A4B3-5DEC-E391-B3159AA2F17F}"/>
                </a:ext>
              </a:extLst>
            </p:cNvPr>
            <p:cNvSpPr/>
            <p:nvPr/>
          </p:nvSpPr>
          <p:spPr>
            <a:xfrm>
              <a:off x="2750" y="0"/>
              <a:ext cx="631596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38100" algn="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EA2D23C-B5B6-98C5-9645-6DE0080C9B95}"/>
                </a:ext>
              </a:extLst>
            </p:cNvPr>
            <p:cNvSpPr/>
            <p:nvPr/>
          </p:nvSpPr>
          <p:spPr>
            <a:xfrm rot="16200000">
              <a:off x="-844678" y="4119320"/>
              <a:ext cx="2623007" cy="335044"/>
            </a:xfrm>
            <a:prstGeom prst="roundRect">
              <a:avLst>
                <a:gd name="adj" fmla="val 50000"/>
              </a:avLst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/>
                <a:t>sexta</a:t>
              </a:r>
              <a:endParaRPr lang="en-US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C62C5E3-3D0D-4097-1A1E-855081927850}"/>
              </a:ext>
            </a:extLst>
          </p:cNvPr>
          <p:cNvSpPr txBox="1"/>
          <p:nvPr/>
        </p:nvSpPr>
        <p:spPr>
          <a:xfrm>
            <a:off x="3333748" y="3998325"/>
            <a:ext cx="2994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try..catch..</a:t>
            </a:r>
            <a:r>
              <a:rPr lang="es-ES" sz="2800" dirty="0" err="1">
                <a:solidFill>
                  <a:schemeClr val="bg1"/>
                </a:solidFill>
              </a:rPr>
              <a:t>finally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19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788911"/>
            <a:ext cx="7364361" cy="232173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dirty="0">
                <a:latin typeface="Helvetica"/>
              </a:rPr>
              <a:t>Manejo de Cadenas de Texto (I)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15913"/>
            <a:ext cx="2949677" cy="6667564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891F3E81-C475-49D4-975B-B0B5EF1021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sApp Squares, background, blue, colored, colors, glossy, patterns,  pink, HD phone wallpaper | Peakpx">
            <a:extLst>
              <a:ext uri="{FF2B5EF4-FFF2-40B4-BE49-F238E27FC236}">
                <a16:creationId xmlns:a16="http://schemas.microsoft.com/office/drawing/2014/main" id="{B18EAB16-4D77-9B5F-554B-1CC95AA02F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56"/>
          <a:stretch/>
        </p:blipFill>
        <p:spPr bwMode="auto">
          <a:xfrm rot="5400000" flipV="1">
            <a:off x="5158992" y="-175008"/>
            <a:ext cx="6219824" cy="7846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9" y="429863"/>
            <a:ext cx="10552522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1279" y="1436914"/>
            <a:ext cx="5712643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Observa la imagen y responde: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muestra la imagen?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tipo de dato está representado?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clase de Java se utiliza para manejar estos elementos?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¿En qué situaciones nos ayuda esta clase en el manejo de cadenas de texto?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3692B-4D9F-3254-D25F-AC4BCEB43B8F}"/>
              </a:ext>
            </a:extLst>
          </p:cNvPr>
          <p:cNvSpPr txBox="1"/>
          <p:nvPr/>
        </p:nvSpPr>
        <p:spPr>
          <a:xfrm>
            <a:off x="193934" y="6365932"/>
            <a:ext cx="7983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https://w0.peakpx.com/wallpaper/330/299/HD-wallpaper-blue-abstraction-blue-squares-background-blue-geometric-background-geometric-abstraction-creative-blue-background.jpg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9D4025-ACB6-D912-A0A0-E17CE2424BD4}"/>
              </a:ext>
            </a:extLst>
          </p:cNvPr>
          <p:cNvSpPr/>
          <p:nvPr/>
        </p:nvSpPr>
        <p:spPr>
          <a:xfrm>
            <a:off x="6759019" y="5045365"/>
            <a:ext cx="4332169" cy="686131"/>
          </a:xfrm>
          <a:prstGeom prst="roundRect">
            <a:avLst>
              <a:gd name="adj" fmla="val 50000"/>
            </a:avLst>
          </a:prstGeom>
          <a:solidFill>
            <a:srgbClr val="ECB1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</a:t>
            </a:r>
            <a:r>
              <a:rPr lang="es-ES" sz="3200" dirty="0" err="1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Programming</a:t>
            </a:r>
            <a:r>
              <a:rPr lang="es-ES" sz="32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”</a:t>
            </a:r>
            <a:endParaRPr lang="en-US" sz="3200" dirty="0">
              <a:solidFill>
                <a:srgbClr val="C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51B005-4D63-A26A-83C6-1E9BC4A468BF}"/>
              </a:ext>
            </a:extLst>
          </p:cNvPr>
          <p:cNvSpPr/>
          <p:nvPr/>
        </p:nvSpPr>
        <p:spPr>
          <a:xfrm>
            <a:off x="7342308" y="2237797"/>
            <a:ext cx="4332169" cy="1155132"/>
          </a:xfrm>
          <a:prstGeom prst="roundRect">
            <a:avLst>
              <a:gd name="adj" fmla="val 50000"/>
            </a:avLst>
          </a:prstGeom>
          <a:solidFill>
            <a:srgbClr val="E98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</a:t>
            </a:r>
            <a:r>
              <a:rPr lang="es-ES" sz="3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Hatun</a:t>
            </a:r>
            <a:r>
              <a:rPr lang="es-ES" sz="3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3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yachay</a:t>
            </a:r>
            <a:r>
              <a:rPr lang="es-ES" sz="3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3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suntur</a:t>
            </a:r>
            <a:r>
              <a:rPr lang="es-ES" sz="3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”</a:t>
            </a:r>
            <a:endParaRPr lang="en-US" sz="3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A2B80C-A80E-672D-52C1-EDFA17649CC9}"/>
              </a:ext>
            </a:extLst>
          </p:cNvPr>
          <p:cNvSpPr/>
          <p:nvPr/>
        </p:nvSpPr>
        <p:spPr>
          <a:xfrm>
            <a:off x="7344374" y="4011738"/>
            <a:ext cx="2252113" cy="686131"/>
          </a:xfrm>
          <a:prstGeom prst="roundRect">
            <a:avLst>
              <a:gd name="adj" fmla="val 50000"/>
            </a:avLst>
          </a:prstGeom>
          <a:solidFill>
            <a:srgbClr val="04151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“Java”</a:t>
            </a:r>
            <a:endParaRPr lang="en-US" sz="3200" dirty="0">
              <a:solidFill>
                <a:srgbClr val="00B0F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6EC440-4A60-80E7-EBE4-D6E823FA55FB}"/>
              </a:ext>
            </a:extLst>
          </p:cNvPr>
          <p:cNvSpPr/>
          <p:nvPr/>
        </p:nvSpPr>
        <p:spPr>
          <a:xfrm>
            <a:off x="8691513" y="1262561"/>
            <a:ext cx="2134808" cy="686131"/>
          </a:xfrm>
          <a:prstGeom prst="roundRect">
            <a:avLst>
              <a:gd name="adj" fmla="val 50000"/>
            </a:avLst>
          </a:prstGeom>
          <a:solidFill>
            <a:srgbClr val="2663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“UTP”</a:t>
            </a:r>
            <a:endParaRPr lang="en-US" sz="3200" dirty="0">
              <a:solidFill>
                <a:schemeClr val="accent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reconocer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la clase </a:t>
            </a:r>
            <a:r>
              <a:rPr lang="es-ES" dirty="0" err="1">
                <a:solidFill>
                  <a:schemeClr val="accent4"/>
                </a:solidFill>
              </a:rPr>
              <a:t>String</a:t>
            </a:r>
            <a:r>
              <a:rPr lang="es-ES" dirty="0">
                <a:solidFill>
                  <a:schemeClr val="accent4"/>
                </a:solidFill>
              </a:rPr>
              <a:t> </a:t>
            </a:r>
            <a:r>
              <a:rPr lang="es-ES" dirty="0">
                <a:solidFill>
                  <a:srgbClr val="C00000"/>
                </a:solidFill>
              </a:rPr>
              <a:t>mediante la realización de actividades</a:t>
            </a:r>
            <a:r>
              <a:rPr lang="es-ES" dirty="0">
                <a:solidFill>
                  <a:srgbClr val="D3052C"/>
                </a:solidFill>
              </a:rPr>
              <a:t> </a:t>
            </a:r>
            <a:r>
              <a:rPr lang="es-ES" dirty="0">
                <a:solidFill>
                  <a:srgbClr val="7030A0"/>
                </a:solidFill>
              </a:rPr>
              <a:t>para saber cómo manejar cadenas de texto.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59" y="1436915"/>
            <a:ext cx="5212211" cy="38418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muestra la imagen?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tipo de dato está siendo representado?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operaciones se realizan sobre el elemento?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¿Conoces cómo realizar estas operaciones en Java?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363618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Reconocer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cómo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manipular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cadenas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de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texto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Java.</a:t>
            </a:r>
            <a:endParaRPr lang="es-ES" sz="2800" dirty="0"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1B088A-4B82-BCB0-7F12-8252B3FDDA09}"/>
              </a:ext>
            </a:extLst>
          </p:cNvPr>
          <p:cNvSpPr txBox="1"/>
          <p:nvPr/>
        </p:nvSpPr>
        <p:spPr>
          <a:xfrm>
            <a:off x="6134656" y="3403854"/>
            <a:ext cx="1494342" cy="1569660"/>
          </a:xfrm>
          <a:prstGeom prst="rect">
            <a:avLst/>
          </a:prstGeom>
          <a:solidFill>
            <a:srgbClr val="00A0A8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“James”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“Gosling”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“creó”</a:t>
            </a:r>
          </a:p>
          <a:p>
            <a:pPr algn="ctr"/>
            <a:r>
              <a:rPr lang="es-ES" sz="2400" dirty="0">
                <a:solidFill>
                  <a:schemeClr val="bg1"/>
                </a:solidFill>
              </a:rPr>
              <a:t>“Java”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0F62E5-0FCA-D366-2ED9-9C51BA057C49}"/>
              </a:ext>
            </a:extLst>
          </p:cNvPr>
          <p:cNvSpPr txBox="1"/>
          <p:nvPr/>
        </p:nvSpPr>
        <p:spPr>
          <a:xfrm>
            <a:off x="8728743" y="817302"/>
            <a:ext cx="691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accent3">
                    <a:lumMod val="75000"/>
                  </a:schemeClr>
                </a:solidFill>
              </a:rPr>
              <a:t>+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A7FBA68B-8EEA-0819-ED3D-DE0CA4F288AF}"/>
              </a:ext>
            </a:extLst>
          </p:cNvPr>
          <p:cNvSpPr/>
          <p:nvPr/>
        </p:nvSpPr>
        <p:spPr>
          <a:xfrm rot="5400000">
            <a:off x="8485831" y="-328126"/>
            <a:ext cx="485824" cy="3701622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B09A52-891A-F64B-6E02-0D51ACD02037}"/>
              </a:ext>
            </a:extLst>
          </p:cNvPr>
          <p:cNvSpPr txBox="1"/>
          <p:nvPr/>
        </p:nvSpPr>
        <p:spPr>
          <a:xfrm>
            <a:off x="8805447" y="4201819"/>
            <a:ext cx="2811129" cy="830997"/>
          </a:xfrm>
          <a:prstGeom prst="rect">
            <a:avLst/>
          </a:prstGeom>
          <a:solidFill>
            <a:srgbClr val="00A0A8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“JAMES GOSLING CREÓ JAVA”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BC6E05-7BAB-FEB8-70A8-438F00D22A58}"/>
              </a:ext>
            </a:extLst>
          </p:cNvPr>
          <p:cNvSpPr txBox="1"/>
          <p:nvPr/>
        </p:nvSpPr>
        <p:spPr>
          <a:xfrm>
            <a:off x="7049146" y="5422132"/>
            <a:ext cx="2811129" cy="830997"/>
          </a:xfrm>
          <a:prstGeom prst="rect">
            <a:avLst/>
          </a:prstGeom>
          <a:solidFill>
            <a:srgbClr val="00A0A8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“james </a:t>
            </a:r>
            <a:r>
              <a:rPr lang="es-ES" sz="2400" dirty="0" err="1">
                <a:solidFill>
                  <a:schemeClr val="bg1"/>
                </a:solidFill>
              </a:rPr>
              <a:t>gosling</a:t>
            </a:r>
            <a:r>
              <a:rPr lang="es-ES" sz="2400" dirty="0">
                <a:solidFill>
                  <a:schemeClr val="bg1"/>
                </a:solidFill>
              </a:rPr>
              <a:t> creó java”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96BC78-AF97-1F68-49C7-FBB175EECE25}"/>
              </a:ext>
            </a:extLst>
          </p:cNvPr>
          <p:cNvCxnSpPr>
            <a:cxnSpLocks/>
          </p:cNvCxnSpPr>
          <p:nvPr/>
        </p:nvCxnSpPr>
        <p:spPr>
          <a:xfrm flipH="1">
            <a:off x="7408955" y="2557523"/>
            <a:ext cx="422578" cy="846331"/>
          </a:xfrm>
          <a:prstGeom prst="line">
            <a:avLst/>
          </a:prstGeom>
          <a:ln w="19050">
            <a:solidFill>
              <a:schemeClr val="bg2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CBB8CE-14B8-8EE4-346C-A7B9D98A6703}"/>
              </a:ext>
            </a:extLst>
          </p:cNvPr>
          <p:cNvCxnSpPr>
            <a:cxnSpLocks/>
          </p:cNvCxnSpPr>
          <p:nvPr/>
        </p:nvCxnSpPr>
        <p:spPr>
          <a:xfrm flipH="1">
            <a:off x="8003086" y="2557523"/>
            <a:ext cx="337977" cy="2864609"/>
          </a:xfrm>
          <a:prstGeom prst="line">
            <a:avLst/>
          </a:prstGeom>
          <a:ln w="19050">
            <a:solidFill>
              <a:schemeClr val="bg2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C059F9-434B-505F-E98A-0441D81CE05D}"/>
              </a:ext>
            </a:extLst>
          </p:cNvPr>
          <p:cNvCxnSpPr>
            <a:cxnSpLocks/>
          </p:cNvCxnSpPr>
          <p:nvPr/>
        </p:nvCxnSpPr>
        <p:spPr>
          <a:xfrm>
            <a:off x="8737126" y="2538925"/>
            <a:ext cx="337560" cy="1649759"/>
          </a:xfrm>
          <a:prstGeom prst="line">
            <a:avLst/>
          </a:prstGeom>
          <a:ln w="19050">
            <a:solidFill>
              <a:schemeClr val="bg2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7D2D02F-98AD-639C-70B0-2F596B376606}"/>
              </a:ext>
            </a:extLst>
          </p:cNvPr>
          <p:cNvSpPr txBox="1"/>
          <p:nvPr/>
        </p:nvSpPr>
        <p:spPr>
          <a:xfrm>
            <a:off x="9308972" y="3026075"/>
            <a:ext cx="2463101" cy="830997"/>
          </a:xfrm>
          <a:prstGeom prst="rect">
            <a:avLst/>
          </a:prstGeom>
          <a:solidFill>
            <a:srgbClr val="00A0A8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“</a:t>
            </a:r>
            <a:r>
              <a:rPr lang="es-ES" sz="2400" dirty="0" err="1">
                <a:solidFill>
                  <a:schemeClr val="bg1"/>
                </a:solidFill>
              </a:rPr>
              <a:t>Jxmes</a:t>
            </a:r>
            <a:r>
              <a:rPr lang="es-ES" sz="2400" dirty="0">
                <a:solidFill>
                  <a:schemeClr val="bg1"/>
                </a:solidFill>
              </a:rPr>
              <a:t> Gosling creó </a:t>
            </a:r>
            <a:r>
              <a:rPr lang="es-ES" sz="2400" dirty="0" err="1">
                <a:solidFill>
                  <a:schemeClr val="bg1"/>
                </a:solidFill>
              </a:rPr>
              <a:t>Jxvx</a:t>
            </a:r>
            <a:r>
              <a:rPr lang="es-ES" sz="2400" dirty="0">
                <a:solidFill>
                  <a:schemeClr val="bg1"/>
                </a:solidFill>
              </a:rPr>
              <a:t>”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ED50F8B-427A-EB62-E0AF-CA541BB4CC49}"/>
              </a:ext>
            </a:extLst>
          </p:cNvPr>
          <p:cNvCxnSpPr>
            <a:cxnSpLocks/>
          </p:cNvCxnSpPr>
          <p:nvPr/>
        </p:nvCxnSpPr>
        <p:spPr>
          <a:xfrm>
            <a:off x="9471792" y="2557523"/>
            <a:ext cx="553347" cy="480626"/>
          </a:xfrm>
          <a:prstGeom prst="line">
            <a:avLst/>
          </a:prstGeom>
          <a:ln w="19050">
            <a:solidFill>
              <a:schemeClr val="bg2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3F3FCD2-160A-7703-5E94-D43454DB9AB4}"/>
              </a:ext>
            </a:extLst>
          </p:cNvPr>
          <p:cNvSpPr txBox="1"/>
          <p:nvPr/>
        </p:nvSpPr>
        <p:spPr>
          <a:xfrm>
            <a:off x="5810865" y="802933"/>
            <a:ext cx="2994582" cy="510778"/>
          </a:xfrm>
          <a:prstGeom prst="roundRect">
            <a:avLst/>
          </a:prstGeom>
          <a:solidFill>
            <a:srgbClr val="E981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“James Gosling”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143E3-B4FF-F608-59F9-D71BBC048983}"/>
              </a:ext>
            </a:extLst>
          </p:cNvPr>
          <p:cNvSpPr txBox="1"/>
          <p:nvPr/>
        </p:nvSpPr>
        <p:spPr>
          <a:xfrm>
            <a:off x="9343926" y="793719"/>
            <a:ext cx="2247508" cy="510778"/>
          </a:xfrm>
          <a:prstGeom prst="roundRect">
            <a:avLst/>
          </a:prstGeom>
          <a:solidFill>
            <a:srgbClr val="E981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“ creó Java”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71B2E-2AD4-CED6-387B-420078A71511}"/>
              </a:ext>
            </a:extLst>
          </p:cNvPr>
          <p:cNvSpPr txBox="1"/>
          <p:nvPr/>
        </p:nvSpPr>
        <p:spPr>
          <a:xfrm>
            <a:off x="7308156" y="1729838"/>
            <a:ext cx="2811129" cy="919401"/>
          </a:xfrm>
          <a:prstGeom prst="roundRect">
            <a:avLst/>
          </a:prstGeom>
          <a:solidFill>
            <a:srgbClr val="0070C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“James Gosling creó Java”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Cadenas de texto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40580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Principales métodos de la 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40580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Principales métodos de la 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047569F-1402-0AEC-11E8-6357434C280F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Cadenas de texto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530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1CB7-826D-AA71-4EAF-14BCAE3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Cadena de texto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DC31-ABDF-F85D-5763-8C0206E67B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0BABE-949D-E98C-8A8D-F3B324DC07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Secuencia finita de caracteres.</a:t>
            </a:r>
          </a:p>
          <a:p>
            <a:r>
              <a:rPr lang="es-ES" dirty="0"/>
              <a:t>Puede ser un </a:t>
            </a:r>
            <a:r>
              <a:rPr lang="es-ES" u="sng" dirty="0"/>
              <a:t>literal</a:t>
            </a:r>
            <a:r>
              <a:rPr lang="es-ES" dirty="0"/>
              <a:t> o estar contenida en una </a:t>
            </a:r>
            <a:r>
              <a:rPr lang="es-ES" u="sng" dirty="0"/>
              <a:t>variable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Conocidas en programación como </a:t>
            </a:r>
            <a:r>
              <a:rPr lang="es-ES" b="1" i="1" dirty="0" err="1"/>
              <a:t>strings</a:t>
            </a:r>
            <a:r>
              <a:rPr lang="es-ES" dirty="0"/>
              <a:t>.</a:t>
            </a:r>
          </a:p>
          <a:p>
            <a:r>
              <a:rPr lang="es-ES" dirty="0"/>
              <a:t>En Java, una cadena es un </a:t>
            </a:r>
            <a:r>
              <a:rPr lang="es-ES" b="1" dirty="0"/>
              <a:t>objeto</a:t>
            </a:r>
            <a:r>
              <a:rPr lang="es-ES" dirty="0"/>
              <a:t>, no un tipo primitivo.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39703-C1D6-8CB8-9EE6-80CE47A8005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Cadenas de texto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123C8EA-E34D-3441-593A-612EF3AA2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542009"/>
              </p:ext>
            </p:extLst>
          </p:nvPr>
        </p:nvGraphicFramePr>
        <p:xfrm>
          <a:off x="5193646" y="5161059"/>
          <a:ext cx="5368041" cy="7010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66863">
                  <a:extLst>
                    <a:ext uri="{9D8B030D-6E8A-4147-A177-3AD203B41FA5}">
                      <a16:colId xmlns:a16="http://schemas.microsoft.com/office/drawing/2014/main" val="3608731476"/>
                    </a:ext>
                  </a:extLst>
                </a:gridCol>
                <a:gridCol w="766863">
                  <a:extLst>
                    <a:ext uri="{9D8B030D-6E8A-4147-A177-3AD203B41FA5}">
                      <a16:colId xmlns:a16="http://schemas.microsoft.com/office/drawing/2014/main" val="648557891"/>
                    </a:ext>
                  </a:extLst>
                </a:gridCol>
                <a:gridCol w="766863">
                  <a:extLst>
                    <a:ext uri="{9D8B030D-6E8A-4147-A177-3AD203B41FA5}">
                      <a16:colId xmlns:a16="http://schemas.microsoft.com/office/drawing/2014/main" val="622135971"/>
                    </a:ext>
                  </a:extLst>
                </a:gridCol>
                <a:gridCol w="766863">
                  <a:extLst>
                    <a:ext uri="{9D8B030D-6E8A-4147-A177-3AD203B41FA5}">
                      <a16:colId xmlns:a16="http://schemas.microsoft.com/office/drawing/2014/main" val="3722717398"/>
                    </a:ext>
                  </a:extLst>
                </a:gridCol>
                <a:gridCol w="766863">
                  <a:extLst>
                    <a:ext uri="{9D8B030D-6E8A-4147-A177-3AD203B41FA5}">
                      <a16:colId xmlns:a16="http://schemas.microsoft.com/office/drawing/2014/main" val="1732378361"/>
                    </a:ext>
                  </a:extLst>
                </a:gridCol>
                <a:gridCol w="766863">
                  <a:extLst>
                    <a:ext uri="{9D8B030D-6E8A-4147-A177-3AD203B41FA5}">
                      <a16:colId xmlns:a16="http://schemas.microsoft.com/office/drawing/2014/main" val="3481491384"/>
                    </a:ext>
                  </a:extLst>
                </a:gridCol>
                <a:gridCol w="766863">
                  <a:extLst>
                    <a:ext uri="{9D8B030D-6E8A-4147-A177-3AD203B41FA5}">
                      <a16:colId xmlns:a16="http://schemas.microsoft.com/office/drawing/2014/main" val="3831793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4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en-US" sz="40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4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j</a:t>
                      </a:r>
                      <a:endParaRPr lang="en-US" sz="40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4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en-US" sz="40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4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</a:t>
                      </a:r>
                      <a:endParaRPr lang="en-US" sz="40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4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p</a:t>
                      </a:r>
                      <a:endParaRPr lang="en-US" sz="40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4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l</a:t>
                      </a:r>
                      <a:endParaRPr lang="en-US" sz="40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4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o</a:t>
                      </a:r>
                      <a:endParaRPr lang="en-US" sz="400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198025"/>
                  </a:ext>
                </a:extLst>
              </a:tr>
            </a:tbl>
          </a:graphicData>
        </a:graphic>
      </p:graphicFrame>
      <p:sp>
        <p:nvSpPr>
          <p:cNvPr id="7" name="Right Brace 6">
            <a:extLst>
              <a:ext uri="{FF2B5EF4-FFF2-40B4-BE49-F238E27FC236}">
                <a16:creationId xmlns:a16="http://schemas.microsoft.com/office/drawing/2014/main" id="{ABA00E60-1491-12E3-2BC8-5AA4C8AE5AB3}"/>
              </a:ext>
            </a:extLst>
          </p:cNvPr>
          <p:cNvSpPr/>
          <p:nvPr/>
        </p:nvSpPr>
        <p:spPr>
          <a:xfrm rot="5400000">
            <a:off x="5397191" y="5742420"/>
            <a:ext cx="365006" cy="741968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E71CDF-20C9-84E6-1D00-5A0447360081}"/>
              </a:ext>
            </a:extLst>
          </p:cNvPr>
          <p:cNvSpPr txBox="1"/>
          <p:nvPr/>
        </p:nvSpPr>
        <p:spPr>
          <a:xfrm>
            <a:off x="5164357" y="630687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caracter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05BE01C0-2CBB-0C00-4A4F-13F0B0D17C89}"/>
              </a:ext>
            </a:extLst>
          </p:cNvPr>
          <p:cNvSpPr/>
          <p:nvPr/>
        </p:nvSpPr>
        <p:spPr>
          <a:xfrm rot="5400000" flipH="1">
            <a:off x="7698884" y="2227565"/>
            <a:ext cx="357563" cy="5368042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8BD96-57DC-9D67-0296-1276AD8E101D}"/>
              </a:ext>
            </a:extLst>
          </p:cNvPr>
          <p:cNvSpPr txBox="1"/>
          <p:nvPr/>
        </p:nvSpPr>
        <p:spPr>
          <a:xfrm>
            <a:off x="7494152" y="4407728"/>
            <a:ext cx="7713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cadena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7ED400B-D835-E555-6EFD-8BDE4169B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953" y="2754281"/>
            <a:ext cx="3675951" cy="374571"/>
          </a:xfrm>
          <a:prstGeom prst="round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981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variable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"Literal"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20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40580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Principales métodos de la 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Cadenas de texto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047569F-1402-0AEC-11E8-6357434C280F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869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8607-19AD-DDEC-F043-24FD229D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clase </a:t>
            </a:r>
            <a:r>
              <a:rPr lang="es-ES" dirty="0" err="1"/>
              <a:t>String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F925A3-C0B8-6F2D-626C-E61D3F644B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263D0-C8BC-0FB5-5D91-90EC18A2C6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La clase </a:t>
            </a:r>
            <a:r>
              <a:rPr lang="es-ES" b="1" dirty="0" err="1">
                <a:solidFill>
                  <a:schemeClr val="accent2"/>
                </a:solidFill>
              </a:rPr>
              <a:t>String</a:t>
            </a:r>
            <a:r>
              <a:rPr lang="es-ES" dirty="0"/>
              <a:t> representa una secuencia de caracteres </a:t>
            </a:r>
            <a:r>
              <a:rPr lang="es-ES" b="1" dirty="0"/>
              <a:t>inmutable</a:t>
            </a:r>
            <a:r>
              <a:rPr lang="es-ES" dirty="0"/>
              <a:t>.</a:t>
            </a:r>
          </a:p>
          <a:p>
            <a:r>
              <a:rPr lang="es-ES" dirty="0"/>
              <a:t>Es una de las clases más importantes y utilizadas.</a:t>
            </a:r>
          </a:p>
          <a:p>
            <a:r>
              <a:rPr lang="en-US" dirty="0" err="1"/>
              <a:t>Trabaja</a:t>
            </a:r>
            <a:r>
              <a:rPr lang="en-US" dirty="0"/>
              <a:t> con </a:t>
            </a:r>
            <a:r>
              <a:rPr lang="en-US" dirty="0" err="1"/>
              <a:t>secuencias</a:t>
            </a:r>
            <a:r>
              <a:rPr lang="en-US" dirty="0"/>
              <a:t> de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sola </a:t>
            </a:r>
            <a:r>
              <a:rPr lang="en-US" dirty="0" err="1"/>
              <a:t>unidad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8357D-60FD-3F52-B696-993EDDE11A0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String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38B3C5-2B24-C922-AF24-7A2048E4363A}"/>
              </a:ext>
            </a:extLst>
          </p:cNvPr>
          <p:cNvGrpSpPr/>
          <p:nvPr/>
        </p:nvGrpSpPr>
        <p:grpSpPr>
          <a:xfrm>
            <a:off x="3864990" y="4266262"/>
            <a:ext cx="5283364" cy="2136666"/>
            <a:chOff x="3864990" y="4011738"/>
            <a:chExt cx="5283364" cy="213666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C538C0-C9E8-930E-A01B-7E8ECB9A1441}"/>
                </a:ext>
              </a:extLst>
            </p:cNvPr>
            <p:cNvSpPr/>
            <p:nvPr/>
          </p:nvSpPr>
          <p:spPr>
            <a:xfrm>
              <a:off x="3864990" y="4011738"/>
              <a:ext cx="4760538" cy="1342687"/>
            </a:xfrm>
            <a:prstGeom prst="roundRect">
              <a:avLst>
                <a:gd name="adj" fmla="val 50000"/>
              </a:avLst>
            </a:prstGeom>
            <a:solidFill>
              <a:srgbClr val="04151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800" spc="200" dirty="0">
                  <a:solidFill>
                    <a:srgbClr val="00B0F0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“campus”</a:t>
              </a:r>
              <a:endParaRPr lang="en-US" sz="4800" spc="2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03CC6B-F73A-4E55-38E1-3022F01121DB}"/>
                </a:ext>
              </a:extLst>
            </p:cNvPr>
            <p:cNvSpPr txBox="1"/>
            <p:nvPr/>
          </p:nvSpPr>
          <p:spPr>
            <a:xfrm>
              <a:off x="5078027" y="4979876"/>
              <a:ext cx="26276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pc="2400" dirty="0">
                  <a:solidFill>
                    <a:schemeClr val="bg1">
                      <a:lumMod val="50000"/>
                    </a:schemeClr>
                  </a:solidFill>
                </a:rPr>
                <a:t>012345</a:t>
              </a:r>
              <a:endParaRPr lang="en-US" spc="2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0A6965-AFF7-97C8-D8BA-663A886A0A5B}"/>
                </a:ext>
              </a:extLst>
            </p:cNvPr>
            <p:cNvSpPr txBox="1"/>
            <p:nvPr/>
          </p:nvSpPr>
          <p:spPr>
            <a:xfrm>
              <a:off x="5693244" y="5840627"/>
              <a:ext cx="1114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longitud = 6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6796B34D-42D1-1D71-CD75-DE759822D857}"/>
                </a:ext>
              </a:extLst>
            </p:cNvPr>
            <p:cNvSpPr/>
            <p:nvPr/>
          </p:nvSpPr>
          <p:spPr>
            <a:xfrm rot="5400000">
              <a:off x="6062306" y="4509515"/>
              <a:ext cx="365006" cy="2207666"/>
            </a:xfrm>
            <a:prstGeom prst="rightBrace">
              <a:avLst>
                <a:gd name="adj1" fmla="val 0"/>
                <a:gd name="adj2" fmla="val 50000"/>
              </a:avLst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6BAB02-6B90-FE46-C2E3-5A3B4C512D25}"/>
                </a:ext>
              </a:extLst>
            </p:cNvPr>
            <p:cNvSpPr txBox="1"/>
            <p:nvPr/>
          </p:nvSpPr>
          <p:spPr>
            <a:xfrm>
              <a:off x="8396225" y="5649423"/>
              <a:ext cx="7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índices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FA4113B-F586-CB7E-760B-F37D5D0881ED}"/>
                </a:ext>
              </a:extLst>
            </p:cNvPr>
            <p:cNvSpPr/>
            <p:nvPr/>
          </p:nvSpPr>
          <p:spPr>
            <a:xfrm>
              <a:off x="7386351" y="5136163"/>
              <a:ext cx="1092466" cy="666029"/>
            </a:xfrm>
            <a:custGeom>
              <a:avLst/>
              <a:gdLst>
                <a:gd name="connsiteX0" fmla="*/ 1357460 w 1357460"/>
                <a:gd name="connsiteY0" fmla="*/ 697584 h 697584"/>
                <a:gd name="connsiteX1" fmla="*/ 0 w 1357460"/>
                <a:gd name="connsiteY1" fmla="*/ 0 h 697584"/>
                <a:gd name="connsiteX0" fmla="*/ 1384703 w 1384703"/>
                <a:gd name="connsiteY0" fmla="*/ 973022 h 973022"/>
                <a:gd name="connsiteX1" fmla="*/ 0 w 1384703"/>
                <a:gd name="connsiteY1" fmla="*/ 0 h 973022"/>
                <a:gd name="connsiteX0" fmla="*/ 1384703 w 1384703"/>
                <a:gd name="connsiteY0" fmla="*/ 973022 h 973022"/>
                <a:gd name="connsiteX1" fmla="*/ 0 w 1384703"/>
                <a:gd name="connsiteY1" fmla="*/ 0 h 973022"/>
                <a:gd name="connsiteX0" fmla="*/ 1384703 w 1384703"/>
                <a:gd name="connsiteY0" fmla="*/ 973022 h 973022"/>
                <a:gd name="connsiteX1" fmla="*/ 0 w 1384703"/>
                <a:gd name="connsiteY1" fmla="*/ 0 h 9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4703" h="973022">
                  <a:moveTo>
                    <a:pt x="1384703" y="973022"/>
                  </a:moveTo>
                  <a:cubicBezTo>
                    <a:pt x="945838" y="878213"/>
                    <a:pt x="861125" y="25948"/>
                    <a:pt x="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54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62AF-0C24-E002-595F-FA8E25D5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Cómo crear objetos </a:t>
            </a:r>
            <a:r>
              <a:rPr lang="es-ES" dirty="0" err="1"/>
              <a:t>String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19B262-B2E8-B254-47C6-1EB05F36BA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0503C-E7E0-7DC9-0B51-559B4A8714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Usando literales: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Usando constructores: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D21A6-A2B6-AA6B-6EAF-B860B4E8B142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String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0A55749-FABE-D556-35E6-940C1149C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813" y="4786222"/>
            <a:ext cx="7824248" cy="717604"/>
          </a:xfrm>
          <a:prstGeom prst="roundRect">
            <a:avLst>
              <a:gd name="adj" fmla="val 14934"/>
            </a:avLst>
          </a:prstGeom>
          <a:solidFill>
            <a:srgbClr val="2B2B2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44000" rIns="91440" bIns="144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5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cadena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5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“UTP 2023“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5DC2F04-76A4-00AC-158D-32D426696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813" y="2495510"/>
            <a:ext cx="7824248" cy="717604"/>
          </a:xfrm>
          <a:prstGeom prst="roundRect">
            <a:avLst>
              <a:gd name="adj" fmla="val 14934"/>
            </a:avLst>
          </a:prstGeom>
          <a:solidFill>
            <a:srgbClr val="2B2B2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44000" rIns="91440" bIns="144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5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cadena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“UTP 2023“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09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57B7-4256-5CB8-C8E4-F4A541B9A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significa “inmutable”?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75EF71-3C6A-1DDA-ABCC-A700412E2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2D1E0-AD97-DA63-18AB-7EA81F1F0478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String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EB189D2-FF63-AE86-34BC-FA63C000CAB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PE" smtClean="0"/>
              <a:pPr/>
              <a:t>18</a:t>
            </a:fld>
            <a:endParaRPr lang="es-PE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065A12B-44FA-212D-A061-39E0D4B4DA58}"/>
              </a:ext>
            </a:extLst>
          </p:cNvPr>
          <p:cNvGrpSpPr/>
          <p:nvPr/>
        </p:nvGrpSpPr>
        <p:grpSpPr>
          <a:xfrm>
            <a:off x="2208670" y="1578511"/>
            <a:ext cx="3678126" cy="2007551"/>
            <a:chOff x="2208670" y="1578511"/>
            <a:chExt cx="3678126" cy="2007551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E3327EA2-155B-1B32-A387-926931946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670" y="1578511"/>
              <a:ext cx="3678126" cy="578882"/>
            </a:xfrm>
            <a:prstGeom prst="roundRect">
              <a:avLst/>
            </a:prstGeom>
            <a:solidFill>
              <a:srgbClr val="2B2B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18B8A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String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cadena1 =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92D050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"Java"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lang="en-US" altLang="en-US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18B8A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String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cadena2 =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92D050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"Java"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703EF25C-6EEE-C50D-49B3-AB4C5FE8DB04}"/>
                </a:ext>
              </a:extLst>
            </p:cNvPr>
            <p:cNvSpPr/>
            <p:nvPr/>
          </p:nvSpPr>
          <p:spPr>
            <a:xfrm>
              <a:off x="2208670" y="2241848"/>
              <a:ext cx="1041149" cy="36213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cadena1</a:t>
              </a:r>
              <a:endParaRPr lang="en-US" dirty="0"/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43E27BE7-F54B-882F-D4D3-99283557A1EB}"/>
                </a:ext>
              </a:extLst>
            </p:cNvPr>
            <p:cNvSpPr/>
            <p:nvPr/>
          </p:nvSpPr>
          <p:spPr>
            <a:xfrm>
              <a:off x="3443142" y="2241848"/>
              <a:ext cx="1041149" cy="36213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cadena2</a:t>
              </a:r>
              <a:endParaRPr lang="en-US" dirty="0"/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CC6F5D47-C838-6B9E-92FB-144D9068A63A}"/>
                </a:ext>
              </a:extLst>
            </p:cNvPr>
            <p:cNvSpPr/>
            <p:nvPr/>
          </p:nvSpPr>
          <p:spPr>
            <a:xfrm>
              <a:off x="2208670" y="2717393"/>
              <a:ext cx="3678126" cy="868669"/>
            </a:xfrm>
            <a:prstGeom prst="roundRect">
              <a:avLst>
                <a:gd name="adj" fmla="val 0"/>
              </a:avLst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E707EB50-3413-E888-3BE4-8A09809C1DF9}"/>
                </a:ext>
              </a:extLst>
            </p:cNvPr>
            <p:cNvSpPr/>
            <p:nvPr/>
          </p:nvSpPr>
          <p:spPr>
            <a:xfrm>
              <a:off x="2386796" y="3071227"/>
              <a:ext cx="967793" cy="362139"/>
            </a:xfrm>
            <a:prstGeom prst="roundRect">
              <a:avLst>
                <a:gd name="adj" fmla="val 50000"/>
              </a:avLst>
            </a:prstGeom>
            <a:solidFill>
              <a:srgbClr val="14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“Java”</a:t>
              </a:r>
              <a:endParaRPr lang="en-US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E8C096E-CD49-EF94-BDE1-473DB99D829A}"/>
                </a:ext>
              </a:extLst>
            </p:cNvPr>
            <p:cNvSpPr txBox="1"/>
            <p:nvPr/>
          </p:nvSpPr>
          <p:spPr>
            <a:xfrm>
              <a:off x="4601249" y="2761463"/>
              <a:ext cx="12666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</a:rPr>
                <a:t>Memoria (</a:t>
              </a:r>
              <a:r>
                <a:rPr lang="es-ES" sz="1200" i="1" dirty="0" err="1">
                  <a:solidFill>
                    <a:schemeClr val="bg1">
                      <a:lumMod val="50000"/>
                    </a:schemeClr>
                  </a:solidFill>
                </a:rPr>
                <a:t>heap</a:t>
              </a:r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  <a:endParaRPr lang="en-US" sz="12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87B779C-C4B4-BC77-7927-F0E2D41B708C}"/>
                </a:ext>
              </a:extLst>
            </p:cNvPr>
            <p:cNvCxnSpPr>
              <a:stCxn id="91" idx="2"/>
              <a:endCxn id="106" idx="0"/>
            </p:cNvCxnSpPr>
            <p:nvPr/>
          </p:nvCxnSpPr>
          <p:spPr>
            <a:xfrm>
              <a:off x="2729245" y="2603987"/>
              <a:ext cx="141448" cy="46724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3BA72580-E368-3329-86F4-28593CA3A593}"/>
                </a:ext>
              </a:extLst>
            </p:cNvPr>
            <p:cNvCxnSpPr>
              <a:cxnSpLocks/>
              <a:stCxn id="102" idx="2"/>
            </p:cNvCxnSpPr>
            <p:nvPr/>
          </p:nvCxnSpPr>
          <p:spPr>
            <a:xfrm flipH="1">
              <a:off x="3249819" y="2603987"/>
              <a:ext cx="713898" cy="46724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0F3CB6F3-4352-3488-0D47-BDAC3F3923EB}"/>
              </a:ext>
            </a:extLst>
          </p:cNvPr>
          <p:cNvGrpSpPr/>
          <p:nvPr/>
        </p:nvGrpSpPr>
        <p:grpSpPr>
          <a:xfrm>
            <a:off x="6752390" y="1658768"/>
            <a:ext cx="3697273" cy="1927294"/>
            <a:chOff x="6752390" y="1658768"/>
            <a:chExt cx="3697273" cy="1927294"/>
          </a:xfrm>
        </p:grpSpPr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93510E51-21A6-99E2-441C-C0F7F50BD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2390" y="1658768"/>
              <a:ext cx="3678126" cy="349448"/>
            </a:xfrm>
            <a:prstGeom prst="roundRect">
              <a:avLst>
                <a:gd name="adj" fmla="val 21281"/>
              </a:avLst>
            </a:prstGeom>
            <a:solidFill>
              <a:srgbClr val="2B2B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cadena2 =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92D050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"UTP"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0DF63CDA-C714-4383-EAAF-11F8D643B2CB}"/>
                </a:ext>
              </a:extLst>
            </p:cNvPr>
            <p:cNvSpPr/>
            <p:nvPr/>
          </p:nvSpPr>
          <p:spPr>
            <a:xfrm>
              <a:off x="6771537" y="2241848"/>
              <a:ext cx="1041149" cy="36213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cadena1</a:t>
              </a:r>
              <a:endParaRPr lang="en-US" dirty="0"/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D561B6F2-11D7-81FA-0068-D24D9C04A75F}"/>
                </a:ext>
              </a:extLst>
            </p:cNvPr>
            <p:cNvSpPr/>
            <p:nvPr/>
          </p:nvSpPr>
          <p:spPr>
            <a:xfrm>
              <a:off x="8006009" y="2241848"/>
              <a:ext cx="1041149" cy="36213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cadena2</a:t>
              </a:r>
              <a:endParaRPr lang="en-US" dirty="0"/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7533FC88-B97F-679C-74D5-F44BA9E1F94D}"/>
                </a:ext>
              </a:extLst>
            </p:cNvPr>
            <p:cNvSpPr/>
            <p:nvPr/>
          </p:nvSpPr>
          <p:spPr>
            <a:xfrm>
              <a:off x="6771537" y="2717393"/>
              <a:ext cx="3678126" cy="868669"/>
            </a:xfrm>
            <a:prstGeom prst="roundRect">
              <a:avLst>
                <a:gd name="adj" fmla="val 0"/>
              </a:avLst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79C12BE0-9E4E-56CD-6310-10EEE972D872}"/>
                </a:ext>
              </a:extLst>
            </p:cNvPr>
            <p:cNvSpPr/>
            <p:nvPr/>
          </p:nvSpPr>
          <p:spPr>
            <a:xfrm>
              <a:off x="6949663" y="3071227"/>
              <a:ext cx="967793" cy="362139"/>
            </a:xfrm>
            <a:prstGeom prst="roundRect">
              <a:avLst>
                <a:gd name="adj" fmla="val 50000"/>
              </a:avLst>
            </a:prstGeom>
            <a:solidFill>
              <a:srgbClr val="14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“Java”</a:t>
              </a:r>
              <a:endParaRPr lang="en-US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D03A2BC-7DDD-9F61-942E-81C61BB37418}"/>
                </a:ext>
              </a:extLst>
            </p:cNvPr>
            <p:cNvSpPr txBox="1"/>
            <p:nvPr/>
          </p:nvSpPr>
          <p:spPr>
            <a:xfrm>
              <a:off x="9164116" y="2761463"/>
              <a:ext cx="12666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</a:rPr>
                <a:t>Memoria (</a:t>
              </a:r>
              <a:r>
                <a:rPr lang="es-ES" sz="1200" i="1" dirty="0" err="1">
                  <a:solidFill>
                    <a:schemeClr val="bg1">
                      <a:lumMod val="50000"/>
                    </a:schemeClr>
                  </a:solidFill>
                </a:rPr>
                <a:t>heap</a:t>
              </a:r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  <a:endParaRPr lang="en-US" sz="12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0EAEB5D9-670A-3D76-FCD4-4AF739DC20E6}"/>
                </a:ext>
              </a:extLst>
            </p:cNvPr>
            <p:cNvSpPr/>
            <p:nvPr/>
          </p:nvSpPr>
          <p:spPr>
            <a:xfrm>
              <a:off x="8107556" y="3071227"/>
              <a:ext cx="967793" cy="362139"/>
            </a:xfrm>
            <a:prstGeom prst="roundRect">
              <a:avLst>
                <a:gd name="adj" fmla="val 50000"/>
              </a:avLst>
            </a:prstGeom>
            <a:solidFill>
              <a:srgbClr val="14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“UTP”</a:t>
              </a:r>
              <a:endParaRPr lang="en-US" dirty="0"/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02D164F2-42F0-8670-9921-D668471A99D5}"/>
                </a:ext>
              </a:extLst>
            </p:cNvPr>
            <p:cNvCxnSpPr>
              <a:cxnSpLocks/>
              <a:stCxn id="117" idx="2"/>
              <a:endCxn id="121" idx="0"/>
            </p:cNvCxnSpPr>
            <p:nvPr/>
          </p:nvCxnSpPr>
          <p:spPr>
            <a:xfrm>
              <a:off x="7292112" y="2603987"/>
              <a:ext cx="141448" cy="46724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CC35E014-59A2-EA34-4945-75D04B43D166}"/>
                </a:ext>
              </a:extLst>
            </p:cNvPr>
            <p:cNvCxnSpPr>
              <a:cxnSpLocks/>
              <a:stCxn id="118" idx="2"/>
              <a:endCxn id="123" idx="0"/>
            </p:cNvCxnSpPr>
            <p:nvPr/>
          </p:nvCxnSpPr>
          <p:spPr>
            <a:xfrm>
              <a:off x="8526584" y="2603987"/>
              <a:ext cx="64869" cy="46724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73EAA762-9DC2-9A49-429F-2CECC14D1E5B}"/>
              </a:ext>
            </a:extLst>
          </p:cNvPr>
          <p:cNvGrpSpPr/>
          <p:nvPr/>
        </p:nvGrpSpPr>
        <p:grpSpPr>
          <a:xfrm>
            <a:off x="2189523" y="4055899"/>
            <a:ext cx="3697273" cy="2665576"/>
            <a:chOff x="2189523" y="4055899"/>
            <a:chExt cx="3697273" cy="2665576"/>
          </a:xfrm>
        </p:grpSpPr>
        <p:sp>
          <p:nvSpPr>
            <p:cNvPr id="127" name="Rectangle 1">
              <a:extLst>
                <a:ext uri="{FF2B5EF4-FFF2-40B4-BE49-F238E27FC236}">
                  <a16:creationId xmlns:a16="http://schemas.microsoft.com/office/drawing/2014/main" id="{B98A8854-A857-A9C0-D52D-E665036EC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670" y="4055899"/>
              <a:ext cx="3678126" cy="349448"/>
            </a:xfrm>
            <a:prstGeom prst="roundRect">
              <a:avLst>
                <a:gd name="adj" fmla="val 21281"/>
              </a:avLst>
            </a:prstGeom>
            <a:solidFill>
              <a:srgbClr val="2B2B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cadena2 +=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92D050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 2023"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09DB72B4-ECD3-C78E-684B-49A5A7A7A7DB}"/>
                </a:ext>
              </a:extLst>
            </p:cNvPr>
            <p:cNvSpPr/>
            <p:nvPr/>
          </p:nvSpPr>
          <p:spPr>
            <a:xfrm>
              <a:off x="2189523" y="4677047"/>
              <a:ext cx="1041149" cy="36213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cadena1</a:t>
              </a:r>
              <a:endParaRPr lang="en-US" dirty="0"/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6EF10310-4DED-643B-9CFA-D3951A7057F9}"/>
                </a:ext>
              </a:extLst>
            </p:cNvPr>
            <p:cNvSpPr/>
            <p:nvPr/>
          </p:nvSpPr>
          <p:spPr>
            <a:xfrm>
              <a:off x="3423995" y="4677047"/>
              <a:ext cx="1041149" cy="36213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cadena2</a:t>
              </a:r>
              <a:endParaRPr lang="en-US" dirty="0"/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36A97E35-F4BA-83D5-BAA0-98D5832CC62F}"/>
                </a:ext>
              </a:extLst>
            </p:cNvPr>
            <p:cNvSpPr/>
            <p:nvPr/>
          </p:nvSpPr>
          <p:spPr>
            <a:xfrm>
              <a:off x="2189523" y="5152592"/>
              <a:ext cx="3678126" cy="953098"/>
            </a:xfrm>
            <a:prstGeom prst="roundRect">
              <a:avLst>
                <a:gd name="adj" fmla="val 0"/>
              </a:avLst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9B001C16-64B9-A611-0153-0C12F5225B8A}"/>
                </a:ext>
              </a:extLst>
            </p:cNvPr>
            <p:cNvSpPr/>
            <p:nvPr/>
          </p:nvSpPr>
          <p:spPr>
            <a:xfrm>
              <a:off x="2367649" y="5577946"/>
              <a:ext cx="967793" cy="362139"/>
            </a:xfrm>
            <a:prstGeom prst="roundRect">
              <a:avLst>
                <a:gd name="adj" fmla="val 50000"/>
              </a:avLst>
            </a:prstGeom>
            <a:solidFill>
              <a:srgbClr val="14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“Java”</a:t>
              </a:r>
              <a:endParaRPr lang="en-US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DE1EEB4-DA92-3696-EEAE-505C8D896C8E}"/>
                </a:ext>
              </a:extLst>
            </p:cNvPr>
            <p:cNvSpPr txBox="1"/>
            <p:nvPr/>
          </p:nvSpPr>
          <p:spPr>
            <a:xfrm>
              <a:off x="4582102" y="5196662"/>
              <a:ext cx="12666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</a:rPr>
                <a:t>Memoria (</a:t>
              </a:r>
              <a:r>
                <a:rPr lang="es-ES" sz="1200" i="1" dirty="0" err="1">
                  <a:solidFill>
                    <a:schemeClr val="bg1">
                      <a:lumMod val="50000"/>
                    </a:schemeClr>
                  </a:solidFill>
                </a:rPr>
                <a:t>heap</a:t>
              </a:r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  <a:endParaRPr lang="en-US" sz="12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24F7D9F9-7E5D-AF66-6A71-748BD2AA1C69}"/>
                </a:ext>
              </a:extLst>
            </p:cNvPr>
            <p:cNvSpPr/>
            <p:nvPr/>
          </p:nvSpPr>
          <p:spPr>
            <a:xfrm>
              <a:off x="3406919" y="5577946"/>
              <a:ext cx="1308764" cy="362139"/>
            </a:xfrm>
            <a:prstGeom prst="roundRect">
              <a:avLst>
                <a:gd name="adj" fmla="val 50000"/>
              </a:avLst>
            </a:prstGeom>
            <a:solidFill>
              <a:srgbClr val="14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“UTP 2023”</a:t>
              </a:r>
              <a:endParaRPr lang="en-US" dirty="0"/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9C45D6F-F31F-1120-AA68-D170C94B6A5F}"/>
                </a:ext>
              </a:extLst>
            </p:cNvPr>
            <p:cNvCxnSpPr>
              <a:cxnSpLocks/>
              <a:stCxn id="128" idx="2"/>
              <a:endCxn id="131" idx="0"/>
            </p:cNvCxnSpPr>
            <p:nvPr/>
          </p:nvCxnSpPr>
          <p:spPr>
            <a:xfrm>
              <a:off x="2710098" y="5039186"/>
              <a:ext cx="141448" cy="53876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D8F3208C-C850-5EEA-B788-763BAA0BFA8D}"/>
                </a:ext>
              </a:extLst>
            </p:cNvPr>
            <p:cNvCxnSpPr>
              <a:cxnSpLocks/>
              <a:stCxn id="129" idx="2"/>
              <a:endCxn id="133" idx="0"/>
            </p:cNvCxnSpPr>
            <p:nvPr/>
          </p:nvCxnSpPr>
          <p:spPr>
            <a:xfrm>
              <a:off x="3944570" y="5039186"/>
              <a:ext cx="116731" cy="53876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5D863A6D-A25A-8DB5-1BE0-6BE1FF894025}"/>
                </a:ext>
              </a:extLst>
            </p:cNvPr>
            <p:cNvSpPr/>
            <p:nvPr/>
          </p:nvSpPr>
          <p:spPr>
            <a:xfrm>
              <a:off x="4771169" y="5577946"/>
              <a:ext cx="967794" cy="36213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“UTP”</a:t>
              </a:r>
              <a:endParaRPr lang="en-US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48133CE-AE55-3C59-FA7F-3B7244142A0D}"/>
                </a:ext>
              </a:extLst>
            </p:cNvPr>
            <p:cNvSpPr txBox="1"/>
            <p:nvPr/>
          </p:nvSpPr>
          <p:spPr>
            <a:xfrm>
              <a:off x="3143596" y="6259810"/>
              <a:ext cx="2743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200" i="1" dirty="0">
                  <a:solidFill>
                    <a:srgbClr val="00B0F0"/>
                  </a:solidFill>
                </a:rPr>
                <a:t>Será removida de memoria por el </a:t>
              </a:r>
              <a:r>
                <a:rPr lang="es-ES" sz="1200" i="1" dirty="0" err="1">
                  <a:solidFill>
                    <a:srgbClr val="00B0F0"/>
                  </a:solidFill>
                </a:rPr>
                <a:t>Gargabe</a:t>
              </a:r>
              <a:r>
                <a:rPr lang="es-ES" sz="1200" i="1" dirty="0">
                  <a:solidFill>
                    <a:srgbClr val="00B0F0"/>
                  </a:solidFill>
                </a:rPr>
                <a:t> </a:t>
              </a:r>
              <a:r>
                <a:rPr lang="es-ES" sz="1200" i="1" dirty="0" err="1">
                  <a:solidFill>
                    <a:srgbClr val="00B0F0"/>
                  </a:solidFill>
                </a:rPr>
                <a:t>Collector</a:t>
              </a:r>
              <a:endParaRPr lang="en-US" sz="1200" i="1" dirty="0">
                <a:solidFill>
                  <a:srgbClr val="00B0F0"/>
                </a:solidFill>
              </a:endParaRPr>
            </a:p>
          </p:txBody>
        </p: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FF3C8180-AD0A-CD0D-6759-A5BF0FA232C5}"/>
                </a:ext>
              </a:extLst>
            </p:cNvPr>
            <p:cNvCxnSpPr>
              <a:cxnSpLocks/>
              <a:endCxn id="146" idx="2"/>
            </p:cNvCxnSpPr>
            <p:nvPr/>
          </p:nvCxnSpPr>
          <p:spPr>
            <a:xfrm flipV="1">
              <a:off x="5144724" y="5940085"/>
              <a:ext cx="110342" cy="304498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53ED5345-ABB8-4660-C4B1-1C9272C0B930}"/>
              </a:ext>
            </a:extLst>
          </p:cNvPr>
          <p:cNvCxnSpPr>
            <a:cxnSpLocks/>
          </p:cNvCxnSpPr>
          <p:nvPr/>
        </p:nvCxnSpPr>
        <p:spPr>
          <a:xfrm>
            <a:off x="2081612" y="3780148"/>
            <a:ext cx="8525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3AA9ABC2-86B2-E457-1F69-93C3F5341DD9}"/>
              </a:ext>
            </a:extLst>
          </p:cNvPr>
          <p:cNvCxnSpPr/>
          <p:nvPr/>
        </p:nvCxnSpPr>
        <p:spPr>
          <a:xfrm>
            <a:off x="6363093" y="1534137"/>
            <a:ext cx="0" cy="4944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F70138-C7C7-D41E-F2D5-E6CCDD149AAC}"/>
              </a:ext>
            </a:extLst>
          </p:cNvPr>
          <p:cNvGrpSpPr/>
          <p:nvPr/>
        </p:nvGrpSpPr>
        <p:grpSpPr>
          <a:xfrm>
            <a:off x="6771537" y="3971300"/>
            <a:ext cx="3678126" cy="2447008"/>
            <a:chOff x="6771537" y="3971300"/>
            <a:chExt cx="3678126" cy="2447008"/>
          </a:xfrm>
        </p:grpSpPr>
        <p:sp>
          <p:nvSpPr>
            <p:cNvPr id="153" name="Rectangle 1">
              <a:extLst>
                <a:ext uri="{FF2B5EF4-FFF2-40B4-BE49-F238E27FC236}">
                  <a16:creationId xmlns:a16="http://schemas.microsoft.com/office/drawing/2014/main" id="{FD16EB7D-14D7-6C28-22F4-B0B924789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1537" y="3971300"/>
              <a:ext cx="3658979" cy="594062"/>
            </a:xfrm>
            <a:prstGeom prst="roundRect">
              <a:avLst>
                <a:gd name="adj" fmla="val 14934"/>
              </a:avLst>
            </a:prstGeom>
            <a:solidFill>
              <a:srgbClr val="2B2B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18B8A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String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cadena3 = 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dirty="0">
                  <a:solidFill>
                    <a:srgbClr val="A9B7C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FF5050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new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18B8A5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String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92D050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“UTP 2023“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A9C85694-4F8B-7560-95E3-2A9F5090E5E7}"/>
                </a:ext>
              </a:extLst>
            </p:cNvPr>
            <p:cNvSpPr/>
            <p:nvPr/>
          </p:nvSpPr>
          <p:spPr>
            <a:xfrm>
              <a:off x="6771537" y="4677047"/>
              <a:ext cx="1041149" cy="36213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cadena1</a:t>
              </a:r>
              <a:endParaRPr lang="en-US" dirty="0"/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2EBFF529-3BE5-0068-3405-2A3BE35C86B2}"/>
                </a:ext>
              </a:extLst>
            </p:cNvPr>
            <p:cNvSpPr/>
            <p:nvPr/>
          </p:nvSpPr>
          <p:spPr>
            <a:xfrm>
              <a:off x="8006009" y="4677047"/>
              <a:ext cx="1041149" cy="36213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cadena2</a:t>
              </a:r>
              <a:endParaRPr lang="en-US" dirty="0"/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0A973028-F1D5-A8F9-AD07-F69783EB4BBC}"/>
                </a:ext>
              </a:extLst>
            </p:cNvPr>
            <p:cNvSpPr/>
            <p:nvPr/>
          </p:nvSpPr>
          <p:spPr>
            <a:xfrm>
              <a:off x="6771537" y="5152592"/>
              <a:ext cx="3678126" cy="1265716"/>
            </a:xfrm>
            <a:prstGeom prst="roundRect">
              <a:avLst>
                <a:gd name="adj" fmla="val 0"/>
              </a:avLst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AE20013B-0E98-10C6-F124-92DF9156B37D}"/>
                </a:ext>
              </a:extLst>
            </p:cNvPr>
            <p:cNvSpPr/>
            <p:nvPr/>
          </p:nvSpPr>
          <p:spPr>
            <a:xfrm>
              <a:off x="6949663" y="5388766"/>
              <a:ext cx="967793" cy="362139"/>
            </a:xfrm>
            <a:prstGeom prst="roundRect">
              <a:avLst>
                <a:gd name="adj" fmla="val 50000"/>
              </a:avLst>
            </a:prstGeom>
            <a:solidFill>
              <a:srgbClr val="14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“Java”</a:t>
              </a:r>
              <a:endParaRPr lang="en-US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C78AC78-25EC-3C60-7712-6B6B13289170}"/>
                </a:ext>
              </a:extLst>
            </p:cNvPr>
            <p:cNvSpPr txBox="1"/>
            <p:nvPr/>
          </p:nvSpPr>
          <p:spPr>
            <a:xfrm>
              <a:off x="9164116" y="6105215"/>
              <a:ext cx="12666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</a:rPr>
                <a:t>Memoria (</a:t>
              </a:r>
              <a:r>
                <a:rPr lang="es-ES" sz="1200" i="1" dirty="0" err="1">
                  <a:solidFill>
                    <a:schemeClr val="bg1">
                      <a:lumMod val="50000"/>
                    </a:schemeClr>
                  </a:solidFill>
                </a:rPr>
                <a:t>heap</a:t>
              </a:r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  <a:endParaRPr lang="en-US" sz="12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BE7E5856-AFC3-4D24-629E-8E92DC0A6CE7}"/>
                </a:ext>
              </a:extLst>
            </p:cNvPr>
            <p:cNvSpPr/>
            <p:nvPr/>
          </p:nvSpPr>
          <p:spPr>
            <a:xfrm>
              <a:off x="7988933" y="5388766"/>
              <a:ext cx="1308764" cy="362139"/>
            </a:xfrm>
            <a:prstGeom prst="roundRect">
              <a:avLst>
                <a:gd name="adj" fmla="val 50000"/>
              </a:avLst>
            </a:prstGeom>
            <a:solidFill>
              <a:srgbClr val="14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“UTP 2023”</a:t>
              </a:r>
              <a:endParaRPr lang="en-US" dirty="0"/>
            </a:p>
          </p:txBody>
        </p: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6A368878-89E4-06BD-D750-6F0120474C12}"/>
                </a:ext>
              </a:extLst>
            </p:cNvPr>
            <p:cNvCxnSpPr>
              <a:cxnSpLocks/>
              <a:stCxn id="154" idx="2"/>
              <a:endCxn id="157" idx="0"/>
            </p:cNvCxnSpPr>
            <p:nvPr/>
          </p:nvCxnSpPr>
          <p:spPr>
            <a:xfrm>
              <a:off x="7292112" y="5039186"/>
              <a:ext cx="141448" cy="34958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D6C8C34F-6CB0-6CA4-8F9E-976090CD7959}"/>
                </a:ext>
              </a:extLst>
            </p:cNvPr>
            <p:cNvCxnSpPr>
              <a:cxnSpLocks/>
              <a:stCxn id="155" idx="2"/>
              <a:endCxn id="159" idx="0"/>
            </p:cNvCxnSpPr>
            <p:nvPr/>
          </p:nvCxnSpPr>
          <p:spPr>
            <a:xfrm>
              <a:off x="8526584" y="5039186"/>
              <a:ext cx="116731" cy="34958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7A21D7C8-6008-8EF7-46E7-696AE35D39A5}"/>
                </a:ext>
              </a:extLst>
            </p:cNvPr>
            <p:cNvSpPr/>
            <p:nvPr/>
          </p:nvSpPr>
          <p:spPr>
            <a:xfrm>
              <a:off x="6949662" y="5843629"/>
              <a:ext cx="967794" cy="36213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“UTP”</a:t>
              </a:r>
              <a:endParaRPr lang="en-US" dirty="0"/>
            </a:p>
          </p:txBody>
        </p:sp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6C71016C-A253-3719-4518-88D8061165E8}"/>
                </a:ext>
              </a:extLst>
            </p:cNvPr>
            <p:cNvSpPr/>
            <p:nvPr/>
          </p:nvSpPr>
          <p:spPr>
            <a:xfrm>
              <a:off x="9242120" y="4677047"/>
              <a:ext cx="1041149" cy="36213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cadena3</a:t>
              </a:r>
              <a:endParaRPr lang="en-US" dirty="0"/>
            </a:p>
          </p:txBody>
        </p: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A96EC8B2-452E-5275-515A-3083FED858FE}"/>
                </a:ext>
              </a:extLst>
            </p:cNvPr>
            <p:cNvCxnSpPr>
              <a:cxnSpLocks/>
              <a:stCxn id="164" idx="2"/>
            </p:cNvCxnSpPr>
            <p:nvPr/>
          </p:nvCxnSpPr>
          <p:spPr>
            <a:xfrm flipH="1">
              <a:off x="9266727" y="5039186"/>
              <a:ext cx="495968" cy="83097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188A9C8-4FBF-6779-1546-8E409B1A3475}"/>
                </a:ext>
              </a:extLst>
            </p:cNvPr>
            <p:cNvSpPr/>
            <p:nvPr/>
          </p:nvSpPr>
          <p:spPr>
            <a:xfrm>
              <a:off x="7988933" y="5849922"/>
              <a:ext cx="1308764" cy="362139"/>
            </a:xfrm>
            <a:prstGeom prst="roundRect">
              <a:avLst>
                <a:gd name="adj" fmla="val 50000"/>
              </a:avLst>
            </a:prstGeom>
            <a:solidFill>
              <a:srgbClr val="14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“UTP 2023”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39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Cadenas de texto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047569F-1402-0AEC-11E8-6357434C280F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40580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Principales métodos de la 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719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85185-2A9C-8CF2-D266-9B617418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String</a:t>
            </a:r>
            <a:r>
              <a:rPr lang="es-ES" dirty="0"/>
              <a:t>. Principales métodos.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ED15A41-5682-3A13-1C13-E52D367B0E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18182A-11F0-CFD7-C264-3CD16A4E287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5D82D318-BB7F-67E7-8788-F8049D48F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75520"/>
              </p:ext>
            </p:extLst>
          </p:nvPr>
        </p:nvGraphicFramePr>
        <p:xfrm>
          <a:off x="1280473" y="1305592"/>
          <a:ext cx="9996502" cy="53390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62548">
                  <a:extLst>
                    <a:ext uri="{9D8B030D-6E8A-4147-A177-3AD203B41FA5}">
                      <a16:colId xmlns:a16="http://schemas.microsoft.com/office/drawing/2014/main" val="864750712"/>
                    </a:ext>
                  </a:extLst>
                </a:gridCol>
                <a:gridCol w="6633954">
                  <a:extLst>
                    <a:ext uri="{9D8B030D-6E8A-4147-A177-3AD203B41FA5}">
                      <a16:colId xmlns:a16="http://schemas.microsoft.com/office/drawing/2014/main" val="30889876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0" dirty="0"/>
                        <a:t>Método</a:t>
                      </a:r>
                      <a:endParaRPr lang="es-P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dirty="0"/>
                        <a:t>Descripción</a:t>
                      </a:r>
                      <a:endParaRPr lang="es-P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6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FF5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toString</a:t>
                      </a:r>
                      <a:r>
                        <a:rPr lang="es-ES" b="1" dirty="0">
                          <a:solidFill>
                            <a:srgbClr val="FF5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FF5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Convierte un objeto a </a:t>
                      </a:r>
                      <a:r>
                        <a:rPr lang="es-ES" dirty="0" err="1"/>
                        <a:t>String</a:t>
                      </a:r>
                      <a:r>
                        <a:rPr lang="es-ES" dirty="0"/>
                        <a:t>. Este método está presente en cualquier clase.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513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valueOf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Obtiene la representación de cadena de un tipo primitivo u objeto.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59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concat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Para concatenar (unir) una cadena al final de otra.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56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toUpperCase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(), </a:t>
                      </a:r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toLowerCase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Para convertir una cadena a mayúsculas o minúsculas, respectivamente.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44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strip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u="none" dirty="0"/>
                        <a:t>Devuelve una cadena luego de remover los espacios iniciales y finales.</a:t>
                      </a:r>
                      <a:endParaRPr lang="es-PE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74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replace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Devuelve una cadena luego de reemplazar una </a:t>
                      </a:r>
                      <a:r>
                        <a:rPr lang="es-ES" dirty="0" err="1"/>
                        <a:t>subcadena</a:t>
                      </a:r>
                      <a:r>
                        <a:rPr lang="es-ES" dirty="0"/>
                        <a:t> por otra.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59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indexOf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Devuelve el índice de la primera ocurrencia de una cadena.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408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lastIndexOf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Devuelve el índice de la última ocurrencia de una cadena.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0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equals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Devuelve un valor booleano indicando si la cadena es igual a otra.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93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compareTo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Devuelve un valor entero positivo si la primera cadena es mayor a la segunda; negativo si es menor, y cero si son iguales.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794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charAt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Devuelve el </a:t>
                      </a:r>
                      <a:r>
                        <a:rPr lang="es-ES" dirty="0" err="1"/>
                        <a:t>caracter</a:t>
                      </a:r>
                      <a:r>
                        <a:rPr lang="es-ES" dirty="0"/>
                        <a:t> que se encuentra en el índice proporcionado.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494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substring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Devuelve una </a:t>
                      </a:r>
                      <a:r>
                        <a:rPr lang="es-ES" dirty="0" err="1"/>
                        <a:t>subcadena</a:t>
                      </a:r>
                      <a:r>
                        <a:rPr lang="es-ES" dirty="0"/>
                        <a:t> ubicada en el rango proporcionado.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51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err="1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split</a:t>
                      </a:r>
                      <a:r>
                        <a:rPr lang="es-ES" b="1" dirty="0">
                          <a:solidFill>
                            <a:srgbClr val="00A0A8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s-PE" b="1" dirty="0">
                        <a:solidFill>
                          <a:srgbClr val="00A0A8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Divide una cadena en partes tomando como base el delimitador proporcionado.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144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1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67AC-EBB8-3EAB-5596-A25C6756B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operaciones con cadenas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17693-BDD7-7CFD-8D6C-36DCE468B4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2811A3-5566-6915-8A2A-4B85595C49A1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F40B1-B5B7-7B3C-A3C4-7A96BCCCC22A}"/>
              </a:ext>
            </a:extLst>
          </p:cNvPr>
          <p:cNvSpPr txBox="1"/>
          <p:nvPr/>
        </p:nvSpPr>
        <p:spPr>
          <a:xfrm>
            <a:off x="2735104" y="3202054"/>
            <a:ext cx="1351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Conversión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848A8E-B6B3-8817-A504-889B92ADA972}"/>
              </a:ext>
            </a:extLst>
          </p:cNvPr>
          <p:cNvSpPr txBox="1"/>
          <p:nvPr/>
        </p:nvSpPr>
        <p:spPr>
          <a:xfrm>
            <a:off x="5409530" y="320205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Manipulación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36E6D-3515-1796-BEFF-9534EFA16F62}"/>
              </a:ext>
            </a:extLst>
          </p:cNvPr>
          <p:cNvSpPr txBox="1"/>
          <p:nvPr/>
        </p:nvSpPr>
        <p:spPr>
          <a:xfrm>
            <a:off x="8026791" y="3202054"/>
            <a:ext cx="1223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Búsqueda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16DB1-6837-1510-E7F8-8088B896B713}"/>
              </a:ext>
            </a:extLst>
          </p:cNvPr>
          <p:cNvSpPr txBox="1"/>
          <p:nvPr/>
        </p:nvSpPr>
        <p:spPr>
          <a:xfrm>
            <a:off x="2632512" y="5424383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Comparación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794E4-68CA-9BEE-FC88-16A52F43A73B}"/>
              </a:ext>
            </a:extLst>
          </p:cNvPr>
          <p:cNvSpPr txBox="1"/>
          <p:nvPr/>
        </p:nvSpPr>
        <p:spPr>
          <a:xfrm>
            <a:off x="5486474" y="5424383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Sustracción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5836D-782F-3FEA-AB30-A7A4A8B1110C}"/>
              </a:ext>
            </a:extLst>
          </p:cNvPr>
          <p:cNvSpPr txBox="1"/>
          <p:nvPr/>
        </p:nvSpPr>
        <p:spPr>
          <a:xfrm>
            <a:off x="8142208" y="5424383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División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Graphic 12" descr="Box trolley with solid fill">
            <a:extLst>
              <a:ext uri="{FF2B5EF4-FFF2-40B4-BE49-F238E27FC236}">
                <a16:creationId xmlns:a16="http://schemas.microsoft.com/office/drawing/2014/main" id="{4059C3D3-332F-B1A9-C945-B050D7331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4336" y="2006301"/>
            <a:ext cx="914400" cy="914400"/>
          </a:xfrm>
          <a:prstGeom prst="rect">
            <a:avLst/>
          </a:prstGeom>
        </p:spPr>
      </p:pic>
      <p:pic>
        <p:nvPicPr>
          <p:cNvPr id="15" name="Graphic 14" descr="Harvey Balls 50% with solid fill">
            <a:extLst>
              <a:ext uri="{FF2B5EF4-FFF2-40B4-BE49-F238E27FC236}">
                <a16:creationId xmlns:a16="http://schemas.microsoft.com/office/drawing/2014/main" id="{6B3DE804-34F8-72F7-5BA2-EF59C1852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297" y="4264189"/>
            <a:ext cx="914400" cy="914400"/>
          </a:xfrm>
          <a:prstGeom prst="rect">
            <a:avLst/>
          </a:prstGeom>
        </p:spPr>
      </p:pic>
      <p:pic>
        <p:nvPicPr>
          <p:cNvPr id="17" name="Graphic 16" descr="Badge Unfollow with solid fill">
            <a:extLst>
              <a:ext uri="{FF2B5EF4-FFF2-40B4-BE49-F238E27FC236}">
                <a16:creationId xmlns:a16="http://schemas.microsoft.com/office/drawing/2014/main" id="{68CC6C5E-C531-6D9A-1C70-311F172197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4336" y="4264189"/>
            <a:ext cx="914400" cy="914400"/>
          </a:xfrm>
          <a:prstGeom prst="rect">
            <a:avLst/>
          </a:prstGeom>
        </p:spPr>
      </p:pic>
      <p:pic>
        <p:nvPicPr>
          <p:cNvPr id="19" name="Graphic 18" descr="Venn diagram with solid fill">
            <a:extLst>
              <a:ext uri="{FF2B5EF4-FFF2-40B4-BE49-F238E27FC236}">
                <a16:creationId xmlns:a16="http://schemas.microsoft.com/office/drawing/2014/main" id="{4C42D272-081C-9D92-4A29-A1997AACC1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53730" y="4264189"/>
            <a:ext cx="914400" cy="914400"/>
          </a:xfrm>
          <a:prstGeom prst="rect">
            <a:avLst/>
          </a:prstGeom>
        </p:spPr>
      </p:pic>
      <p:pic>
        <p:nvPicPr>
          <p:cNvPr id="21" name="Graphic 20" descr="Binoculars with solid fill">
            <a:extLst>
              <a:ext uri="{FF2B5EF4-FFF2-40B4-BE49-F238E27FC236}">
                <a16:creationId xmlns:a16="http://schemas.microsoft.com/office/drawing/2014/main" id="{FEF3508B-EBE9-652C-3B65-C4FEDB7FF1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81297" y="2006301"/>
            <a:ext cx="914400" cy="914400"/>
          </a:xfrm>
          <a:prstGeom prst="rect">
            <a:avLst/>
          </a:prstGeom>
        </p:spPr>
      </p:pic>
      <p:pic>
        <p:nvPicPr>
          <p:cNvPr id="25" name="Graphic 24" descr="Workflow with solid fill">
            <a:extLst>
              <a:ext uri="{FF2B5EF4-FFF2-40B4-BE49-F238E27FC236}">
                <a16:creationId xmlns:a16="http://schemas.microsoft.com/office/drawing/2014/main" id="{42731A47-5761-0452-1EB6-0A1654B044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53730" y="20063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7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028BA-C966-8EBC-43A8-C61C81E4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     Conversión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AEC82-560C-941E-92EF-6A6BFF8EB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C2DA9-F383-6BD5-72CA-4EE8CE194F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715233" cy="4782911"/>
          </a:xfrm>
        </p:spPr>
        <p:txBody>
          <a:bodyPr/>
          <a:lstStyle/>
          <a:p>
            <a:r>
              <a:rPr lang="es-ES" dirty="0"/>
              <a:t>Para convertir una variable a un tipo </a:t>
            </a:r>
            <a:r>
              <a:rPr lang="es-ES" b="1" dirty="0" err="1"/>
              <a:t>String</a:t>
            </a:r>
            <a:r>
              <a:rPr lang="es-ES" dirty="0"/>
              <a:t> puedes utilizar los métodos </a:t>
            </a:r>
            <a:r>
              <a:rPr lang="es-ES" b="1" dirty="0" err="1">
                <a:solidFill>
                  <a:srgbClr val="52CBBE"/>
                </a:solidFill>
              </a:rPr>
              <a:t>toString</a:t>
            </a:r>
            <a:r>
              <a:rPr lang="es-ES" b="1" dirty="0">
                <a:solidFill>
                  <a:srgbClr val="52CBBE"/>
                </a:solidFill>
              </a:rPr>
              <a:t>()</a:t>
            </a:r>
            <a:r>
              <a:rPr lang="es-ES" dirty="0"/>
              <a:t> y </a:t>
            </a:r>
            <a:r>
              <a:rPr lang="es-ES" b="1" dirty="0" err="1">
                <a:solidFill>
                  <a:srgbClr val="52CBBE"/>
                </a:solidFill>
              </a:rPr>
              <a:t>valueOf</a:t>
            </a:r>
            <a:r>
              <a:rPr lang="es-ES" b="1" dirty="0">
                <a:solidFill>
                  <a:srgbClr val="52CBBE"/>
                </a:solidFill>
              </a:rPr>
              <a:t>()</a:t>
            </a:r>
            <a:r>
              <a:rPr lang="es-ES" dirty="0"/>
              <a:t>: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36AFE-810E-22F9-28C0-17513FBEA0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Graphic 5" descr="Workflow with solid fill">
            <a:extLst>
              <a:ext uri="{FF2B5EF4-FFF2-40B4-BE49-F238E27FC236}">
                <a16:creationId xmlns:a16="http://schemas.microsoft.com/office/drawing/2014/main" id="{4E1428A3-264C-6245-E4B9-7490724C8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649" y="357553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8C80A2-8A82-2B7D-7683-36D40A34E003}"/>
              </a:ext>
            </a:extLst>
          </p:cNvPr>
          <p:cNvSpPr txBox="1"/>
          <p:nvPr/>
        </p:nvSpPr>
        <p:spPr>
          <a:xfrm>
            <a:off x="1382681" y="3378140"/>
            <a:ext cx="1757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Aplicando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toString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()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A1F97-3741-10EC-12CB-F0CA091C2932}"/>
              </a:ext>
            </a:extLst>
          </p:cNvPr>
          <p:cNvSpPr txBox="1"/>
          <p:nvPr/>
        </p:nvSpPr>
        <p:spPr>
          <a:xfrm>
            <a:off x="6046843" y="3378140"/>
            <a:ext cx="1757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Aplicando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valueOf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()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25694-6CD6-6278-190D-CF899129A486}"/>
              </a:ext>
            </a:extLst>
          </p:cNvPr>
          <p:cNvSpPr txBox="1"/>
          <p:nvPr/>
        </p:nvSpPr>
        <p:spPr>
          <a:xfrm>
            <a:off x="3448916" y="3419980"/>
            <a:ext cx="24609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 dirty="0">
                <a:solidFill>
                  <a:srgbClr val="00B0F0"/>
                </a:solidFill>
              </a:rPr>
              <a:t>No es aplicable a tipos primitivos.</a:t>
            </a:r>
            <a:endParaRPr lang="en-US" sz="1200" i="1" dirty="0">
              <a:solidFill>
                <a:srgbClr val="00B0F0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81422BA-4441-1007-C563-52364E119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135" y="3737127"/>
            <a:ext cx="4834104" cy="1045131"/>
          </a:xfrm>
          <a:prstGeom prst="roundRect">
            <a:avLst>
              <a:gd name="adj" fmla="val 4909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strEsCorrecto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esCorrecto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strLetra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letra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strPrecio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strSalario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salario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9771627-9E52-9B58-CFDD-5A1B8743F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8693" y="3737127"/>
            <a:ext cx="4518205" cy="1035308"/>
          </a:xfrm>
          <a:prstGeom prst="roundRect">
            <a:avLst>
              <a:gd name="adj" fmla="val 4196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edad.toString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strEsCorrecto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esCorrecto.toString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strLetra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letra.toString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strPrecio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precio.toString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strSalario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salario.toString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9992FCA-FB2D-5CF2-70C1-8EFD8120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1326" y="1933000"/>
            <a:ext cx="2651913" cy="1035308"/>
          </a:xfrm>
          <a:prstGeom prst="roundRect">
            <a:avLst>
              <a:gd name="adj" fmla="val 4196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Integer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esCorrecto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Character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letra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'U'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215.32f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salario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2547.60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B63C95C6-A6A5-FD9D-CFCE-213F226872A4}"/>
              </a:ext>
            </a:extLst>
          </p:cNvPr>
          <p:cNvSpPr txBox="1"/>
          <p:nvPr/>
        </p:nvSpPr>
        <p:spPr>
          <a:xfrm>
            <a:off x="8211326" y="1599240"/>
            <a:ext cx="1697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Sean las variables: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1670044-0987-6CD4-6DB1-F821D2D0907D}"/>
              </a:ext>
            </a:extLst>
          </p:cNvPr>
          <p:cNvSpPr txBox="1"/>
          <p:nvPr/>
        </p:nvSpPr>
        <p:spPr>
          <a:xfrm>
            <a:off x="1382681" y="5356140"/>
            <a:ext cx="3766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En ambos casos, si publicamos los valores de las variables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String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, obtendremos la siguiente 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90D970F-8A56-F772-7AE9-53CC33B257D5}"/>
              </a:ext>
            </a:extLst>
          </p:cNvPr>
          <p:cNvSpPr txBox="1"/>
          <p:nvPr/>
        </p:nvSpPr>
        <p:spPr>
          <a:xfrm>
            <a:off x="9407143" y="5160916"/>
            <a:ext cx="1402176" cy="1076801"/>
          </a:xfrm>
          <a:prstGeom prst="roundRect">
            <a:avLst>
              <a:gd name="adj" fmla="val 6376"/>
            </a:avLst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</a:p>
          <a:p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</a:p>
          <a:p>
            <a:r>
              <a:rPr lang="es-PE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</a:t>
            </a:r>
          </a:p>
          <a:p>
            <a:r>
              <a:rPr lang="es-PE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215.32</a:t>
            </a:r>
          </a:p>
          <a:p>
            <a:r>
              <a:rPr lang="es-PE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2547.6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23F2A10-9ED2-D237-1966-2F31A77846B1}"/>
              </a:ext>
            </a:extLst>
          </p:cNvPr>
          <p:cNvSpPr txBox="1"/>
          <p:nvPr/>
        </p:nvSpPr>
        <p:spPr>
          <a:xfrm>
            <a:off x="5221219" y="5164524"/>
            <a:ext cx="3976047" cy="1066138"/>
          </a:xfrm>
          <a:prstGeom prst="roundRect">
            <a:avLst>
              <a:gd name="adj" fmla="val 6376"/>
            </a:avLst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.out.println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strEdad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        </a:t>
            </a:r>
            <a:r>
              <a:rPr lang="es-ES" sz="12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.out.println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strEsCorrecto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        </a:t>
            </a:r>
            <a:r>
              <a:rPr lang="es-ES" sz="12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.out.println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strLetra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        </a:t>
            </a:r>
            <a:r>
              <a:rPr lang="es-ES" sz="12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.out.println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strPrecio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        </a:t>
            </a:r>
            <a:r>
              <a:rPr lang="es-ES" sz="12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.out.println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strSalario</a:t>
            </a: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lang="es-PE" sz="1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83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028BA-C966-8EBC-43A8-C61C81E4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     Manipulación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AEC82-560C-941E-92EF-6A6BFF8EB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C2DA9-F383-6BD5-72CA-4EE8CE194F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5904160" cy="491943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Podemos unir dos cadenas usando el operador </a:t>
            </a:r>
            <a:r>
              <a:rPr lang="es-ES" b="1" dirty="0"/>
              <a:t>+</a:t>
            </a:r>
            <a:r>
              <a:rPr lang="es-ES" dirty="0"/>
              <a:t> o la función </a:t>
            </a:r>
            <a:r>
              <a:rPr lang="es-ES" b="1" dirty="0" err="1">
                <a:solidFill>
                  <a:srgbClr val="00A0A8"/>
                </a:solidFill>
              </a:rPr>
              <a:t>concat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Usamos </a:t>
            </a:r>
            <a:r>
              <a:rPr lang="es-ES" b="1" dirty="0" err="1">
                <a:solidFill>
                  <a:srgbClr val="00A0A8"/>
                </a:solidFill>
              </a:rPr>
              <a:t>toUpperCase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b="1" dirty="0"/>
              <a:t> </a:t>
            </a:r>
            <a:r>
              <a:rPr lang="es-ES" dirty="0"/>
              <a:t>o</a:t>
            </a:r>
            <a:r>
              <a:rPr lang="es-ES" b="1" dirty="0"/>
              <a:t> </a:t>
            </a:r>
            <a:r>
              <a:rPr lang="es-ES" b="1" dirty="0" err="1">
                <a:solidFill>
                  <a:srgbClr val="00A0A8"/>
                </a:solidFill>
              </a:rPr>
              <a:t>toLowerCase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 para convertir en mayúsculas y minúsculas, respectivamente.</a:t>
            </a:r>
          </a:p>
          <a:p>
            <a:pPr>
              <a:lnSpc>
                <a:spcPct val="120000"/>
              </a:lnSpc>
            </a:pPr>
            <a:r>
              <a:rPr lang="es-ES" dirty="0"/>
              <a:t>Con </a:t>
            </a:r>
            <a:r>
              <a:rPr lang="es-ES" b="1" dirty="0" err="1">
                <a:solidFill>
                  <a:srgbClr val="00A0A8"/>
                </a:solidFill>
              </a:rPr>
              <a:t>strip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 se eliminan los espacios al principio y final.</a:t>
            </a:r>
          </a:p>
          <a:p>
            <a:pPr>
              <a:lnSpc>
                <a:spcPct val="120000"/>
              </a:lnSpc>
            </a:pPr>
            <a:r>
              <a:rPr lang="es-ES" dirty="0"/>
              <a:t>Con </a:t>
            </a:r>
            <a:r>
              <a:rPr lang="es-ES" b="1" dirty="0" err="1">
                <a:solidFill>
                  <a:srgbClr val="00A0A8"/>
                </a:solidFill>
              </a:rPr>
              <a:t>replace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>
                <a:solidFill>
                  <a:srgbClr val="00A0A8"/>
                </a:solidFill>
              </a:rPr>
              <a:t> </a:t>
            </a:r>
            <a:r>
              <a:rPr lang="es-ES" dirty="0"/>
              <a:t>realizamos reemplazos de caracteres o </a:t>
            </a:r>
            <a:r>
              <a:rPr lang="es-ES" dirty="0" err="1"/>
              <a:t>subcadenas</a:t>
            </a:r>
            <a:r>
              <a:rPr lang="es-E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36AFE-810E-22F9-28C0-17513FBEA0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Graphic 5" descr="Box trolley with solid fill">
            <a:extLst>
              <a:ext uri="{FF2B5EF4-FFF2-40B4-BE49-F238E27FC236}">
                <a16:creationId xmlns:a16="http://schemas.microsoft.com/office/drawing/2014/main" id="{314E28FA-40F6-4561-8B1B-CD129DC89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055" y="300991"/>
            <a:ext cx="914400" cy="9144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F22906F-C1DD-B4D0-E9DE-87ECD0C11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309" y="1590516"/>
            <a:ext cx="4129132" cy="2325195"/>
          </a:xfrm>
          <a:prstGeom prst="roundRect">
            <a:avLst>
              <a:gd name="adj" fmla="val 4338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cancion =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A9B7C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* You Can “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Do Magic *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cancion.toUpperCase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cancion.toLowerCase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cancion.strip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cancion.replace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'*'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'+'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0DA33-0FD7-7AEB-A7F5-5797AA961D44}"/>
              </a:ext>
            </a:extLst>
          </p:cNvPr>
          <p:cNvSpPr txBox="1"/>
          <p:nvPr/>
        </p:nvSpPr>
        <p:spPr>
          <a:xfrm>
            <a:off x="7494309" y="4632225"/>
            <a:ext cx="3721230" cy="1218458"/>
          </a:xfrm>
          <a:prstGeom prst="roundRect">
            <a:avLst>
              <a:gd name="adj" fmla="val 6593"/>
            </a:avLst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YOU CAN DO MAGIC *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you can do magic *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You Can Do Magic *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You Can Do Magic +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D5E1F-A8CD-9830-8A1E-7F36B4EB5AE3}"/>
              </a:ext>
            </a:extLst>
          </p:cNvPr>
          <p:cNvSpPr txBox="1"/>
          <p:nvPr/>
        </p:nvSpPr>
        <p:spPr>
          <a:xfrm>
            <a:off x="7503736" y="4290836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50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028BA-C966-8EBC-43A8-C61C81E4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     Búsqueda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AEC82-560C-941E-92EF-6A6BFF8EB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C2DA9-F383-6BD5-72CA-4EE8CE194F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Pueden buscarse caracteres o </a:t>
            </a:r>
            <a:r>
              <a:rPr lang="es-ES" dirty="0" err="1"/>
              <a:t>subcadenas</a:t>
            </a:r>
            <a:r>
              <a:rPr lang="es-ES" dirty="0"/>
              <a:t>.</a:t>
            </a:r>
          </a:p>
          <a:p>
            <a:r>
              <a:rPr lang="es-ES" dirty="0"/>
              <a:t>Usa </a:t>
            </a:r>
            <a:r>
              <a:rPr lang="es-ES" b="1" dirty="0" err="1">
                <a:solidFill>
                  <a:srgbClr val="00A0A8"/>
                </a:solidFill>
              </a:rPr>
              <a:t>indexOf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 para obtener el índice donde empieza la </a:t>
            </a:r>
            <a:r>
              <a:rPr lang="es-ES" dirty="0" err="1"/>
              <a:t>subcadena</a:t>
            </a:r>
            <a:r>
              <a:rPr lang="es-ES" dirty="0"/>
              <a:t>, o -1, si no se encuentra.</a:t>
            </a:r>
          </a:p>
          <a:p>
            <a:r>
              <a:rPr lang="es-ES" dirty="0"/>
              <a:t>Usa </a:t>
            </a:r>
            <a:r>
              <a:rPr lang="es-ES" b="1" dirty="0" err="1">
                <a:solidFill>
                  <a:srgbClr val="00A0A8"/>
                </a:solidFill>
              </a:rPr>
              <a:t>lastIndexOf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 para obtener el índice donde inicia la última ocurrencia de la </a:t>
            </a:r>
            <a:r>
              <a:rPr lang="es-ES" dirty="0" err="1"/>
              <a:t>subcadena</a:t>
            </a:r>
            <a:r>
              <a:rPr lang="es-ES" dirty="0"/>
              <a:t>, o -1, si no se encuentra.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36AFE-810E-22F9-28C0-17513FBEA0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Graphic 5" descr="Binoculars with solid fill">
            <a:extLst>
              <a:ext uri="{FF2B5EF4-FFF2-40B4-BE49-F238E27FC236}">
                <a16:creationId xmlns:a16="http://schemas.microsoft.com/office/drawing/2014/main" id="{1D18C362-3FCA-9C9B-EBA1-A75A045E7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649" y="348126"/>
            <a:ext cx="914400" cy="9144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A6B6EBC-8B23-1C59-E7DA-58E63D6F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897" y="4395759"/>
            <a:ext cx="7133079" cy="1793887"/>
          </a:xfrm>
          <a:prstGeom prst="roundRect">
            <a:avLst>
              <a:gd name="adj" fmla="val 6800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"Java: 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Begginer's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Guide"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Índice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'B':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libro.indexOf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'B'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Índice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Guide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libro.indexOf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"Guide"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"Último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índice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'a':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libro.lastIndexOf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"Último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índice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libro.lastIndexOf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33E4A-7262-E5F7-8729-8E2F5730A575}"/>
              </a:ext>
            </a:extLst>
          </p:cNvPr>
          <p:cNvSpPr txBox="1"/>
          <p:nvPr/>
        </p:nvSpPr>
        <p:spPr>
          <a:xfrm>
            <a:off x="8733151" y="4950232"/>
            <a:ext cx="2545654" cy="1229803"/>
          </a:xfrm>
          <a:prstGeom prst="roundRect">
            <a:avLst>
              <a:gd name="adj" fmla="val 867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Índice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'B': 8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Índice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"Guide": 19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Último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índice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'a': 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Último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índice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"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eg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":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6D9E6-EBF6-8E48-1600-80A847F99281}"/>
              </a:ext>
            </a:extLst>
          </p:cNvPr>
          <p:cNvSpPr txBox="1"/>
          <p:nvPr/>
        </p:nvSpPr>
        <p:spPr>
          <a:xfrm>
            <a:off x="8733151" y="4531693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87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028BA-C966-8EBC-43A8-C61C81E4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     Comparación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AEC82-560C-941E-92EF-6A6BFF8EB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C2DA9-F383-6BD5-72CA-4EE8CE194F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Pueden utilizarse los métodos </a:t>
            </a:r>
            <a:r>
              <a:rPr lang="es-ES" b="1" dirty="0" err="1">
                <a:solidFill>
                  <a:srgbClr val="00A0A8"/>
                </a:solidFill>
              </a:rPr>
              <a:t>equals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 o </a:t>
            </a:r>
            <a:r>
              <a:rPr lang="es-ES" b="1" dirty="0" err="1">
                <a:solidFill>
                  <a:srgbClr val="00A0A8"/>
                </a:solidFill>
              </a:rPr>
              <a:t>compareTo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.</a:t>
            </a:r>
          </a:p>
          <a:p>
            <a:r>
              <a:rPr lang="es-ES" dirty="0"/>
              <a:t>No debe utilizarse el operador de comparación </a:t>
            </a:r>
            <a:r>
              <a:rPr lang="es-ES" b="1" dirty="0">
                <a:solidFill>
                  <a:srgbClr val="FF5969"/>
                </a:solidFill>
              </a:rPr>
              <a:t>==</a:t>
            </a:r>
            <a:r>
              <a:rPr lang="es-ES" dirty="0"/>
              <a:t> en cadenas.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36AFE-810E-22F9-28C0-17513FBEA0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Graphic 5" descr="Venn diagram with solid fill">
            <a:extLst>
              <a:ext uri="{FF2B5EF4-FFF2-40B4-BE49-F238E27FC236}">
                <a16:creationId xmlns:a16="http://schemas.microsoft.com/office/drawing/2014/main" id="{F194D88D-EF0C-8BC6-D41E-ACE8907E3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649" y="385989"/>
            <a:ext cx="914400" cy="9144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41709BF-B2ED-9560-0ADD-07954F10B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976" y="3298716"/>
            <a:ext cx="4730640" cy="2217274"/>
          </a:xfrm>
          <a:prstGeom prst="roundRect">
            <a:avLst>
              <a:gd name="adj" fmla="val 6038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alfa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"UTP"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beta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"UTP"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gamma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"UTP"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alfa.equals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(beta))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beta.equals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(gamma))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alfa.compareTo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(gamma) ==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576699-1CDB-D62F-1C0E-322DA7A5C430}"/>
              </a:ext>
            </a:extLst>
          </p:cNvPr>
          <p:cNvSpPr txBox="1"/>
          <p:nvPr/>
        </p:nvSpPr>
        <p:spPr>
          <a:xfrm>
            <a:off x="7337773" y="4576580"/>
            <a:ext cx="2545654" cy="939410"/>
          </a:xfrm>
          <a:prstGeom prst="roundRect">
            <a:avLst>
              <a:gd name="adj" fmla="val 867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1185C8-E939-928E-919D-DAF87C3E58BA}"/>
              </a:ext>
            </a:extLst>
          </p:cNvPr>
          <p:cNvSpPr txBox="1"/>
          <p:nvPr/>
        </p:nvSpPr>
        <p:spPr>
          <a:xfrm>
            <a:off x="7337773" y="4233457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63484D-E5E7-C80B-F422-40A31D21BBDB}"/>
              </a:ext>
            </a:extLst>
          </p:cNvPr>
          <p:cNvSpPr txBox="1"/>
          <p:nvPr/>
        </p:nvSpPr>
        <p:spPr>
          <a:xfrm>
            <a:off x="2189975" y="5710019"/>
            <a:ext cx="4804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i="1" dirty="0" err="1">
                <a:solidFill>
                  <a:srgbClr val="00B0F0"/>
                </a:solidFill>
              </a:rPr>
              <a:t>compareTo</a:t>
            </a:r>
            <a:r>
              <a:rPr lang="es-ES" sz="1200" b="1" i="1" dirty="0">
                <a:solidFill>
                  <a:srgbClr val="00B0F0"/>
                </a:solidFill>
              </a:rPr>
              <a:t>()</a:t>
            </a:r>
            <a:r>
              <a:rPr lang="es-ES" sz="1200" i="1" dirty="0">
                <a:solidFill>
                  <a:srgbClr val="00B0F0"/>
                </a:solidFill>
              </a:rPr>
              <a:t> retorna un valor positivo si la primera cadena es mayor a la segunda, un valor negativo si la primera cadena es menor a la segunda, y cero, si son iguales.</a:t>
            </a:r>
            <a:endParaRPr lang="en-US" sz="1200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78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028BA-C966-8EBC-43A8-C61C81E4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     Sustracción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AEC82-560C-941E-92EF-6A6BFF8EB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C2DA9-F383-6BD5-72CA-4EE8CE194F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149257" cy="4919436"/>
          </a:xfrm>
        </p:spPr>
        <p:txBody>
          <a:bodyPr>
            <a:normAutofit/>
          </a:bodyPr>
          <a:lstStyle/>
          <a:p>
            <a:r>
              <a:rPr lang="es-ES" dirty="0"/>
              <a:t>Para extraer </a:t>
            </a:r>
            <a:r>
              <a:rPr lang="es-ES" dirty="0" err="1"/>
              <a:t>subcadenas</a:t>
            </a:r>
            <a:r>
              <a:rPr lang="es-ES" dirty="0"/>
              <a:t> podemos utilizar </a:t>
            </a:r>
            <a:r>
              <a:rPr lang="es-ES" b="1" dirty="0" err="1">
                <a:solidFill>
                  <a:srgbClr val="00A0A8"/>
                </a:solidFill>
              </a:rPr>
              <a:t>charAt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 y </a:t>
            </a:r>
            <a:r>
              <a:rPr lang="es-ES" b="1" dirty="0" err="1">
                <a:solidFill>
                  <a:srgbClr val="00A0A8"/>
                </a:solidFill>
              </a:rPr>
              <a:t>substring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.</a:t>
            </a:r>
          </a:p>
          <a:p>
            <a:r>
              <a:rPr lang="es-ES" b="1" dirty="0" err="1">
                <a:solidFill>
                  <a:srgbClr val="00A0A8"/>
                </a:solidFill>
              </a:rPr>
              <a:t>charAt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 retorna el </a:t>
            </a:r>
            <a:r>
              <a:rPr lang="es-ES" dirty="0" err="1"/>
              <a:t>caracter</a:t>
            </a:r>
            <a:r>
              <a:rPr lang="es-ES" dirty="0"/>
              <a:t> ubicado en el índice dado.</a:t>
            </a:r>
          </a:p>
          <a:p>
            <a:r>
              <a:rPr lang="es-ES" b="1" dirty="0" err="1">
                <a:solidFill>
                  <a:srgbClr val="00A0A8"/>
                </a:solidFill>
              </a:rPr>
              <a:t>substring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 extrae una </a:t>
            </a:r>
            <a:r>
              <a:rPr lang="es-ES" dirty="0" err="1"/>
              <a:t>subcadena</a:t>
            </a:r>
            <a:r>
              <a:rPr lang="es-ES" dirty="0"/>
              <a:t> a partir del índice dado.</a:t>
            </a:r>
          </a:p>
          <a:p>
            <a:r>
              <a:rPr lang="es-ES" dirty="0"/>
              <a:t>En ambos casos, si el índice no existe, se produce </a:t>
            </a:r>
            <a:r>
              <a:rPr lang="es-ES" dirty="0" err="1">
                <a:solidFill>
                  <a:srgbClr val="FF0000"/>
                </a:solidFill>
              </a:rPr>
              <a:t>StringIndexOutOfBoundException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36AFE-810E-22F9-28C0-17513FBEA0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Graphic 5" descr="Badge Unfollow with solid fill">
            <a:extLst>
              <a:ext uri="{FF2B5EF4-FFF2-40B4-BE49-F238E27FC236}">
                <a16:creationId xmlns:a16="http://schemas.microsoft.com/office/drawing/2014/main" id="{783A35E5-8F16-7705-F681-F8D099C41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649" y="365427"/>
            <a:ext cx="914400" cy="9144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CBDE3C2-294C-E902-F470-F3FBA683D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755" y="1216692"/>
            <a:ext cx="4316879" cy="2347256"/>
          </a:xfrm>
          <a:prstGeom prst="roundRect">
            <a:avLst>
              <a:gd name="adj" fmla="val 5106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"No es un bug, es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característica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frase.charAt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frase.charAt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frase.substring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frase.substring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FB9F1-D39B-E517-BFA4-E609E2BCE6C5}"/>
              </a:ext>
            </a:extLst>
          </p:cNvPr>
          <p:cNvSpPr txBox="1"/>
          <p:nvPr/>
        </p:nvSpPr>
        <p:spPr>
          <a:xfrm>
            <a:off x="7900838" y="4566934"/>
            <a:ext cx="3342796" cy="1229803"/>
          </a:xfrm>
          <a:prstGeom prst="roundRect">
            <a:avLst>
              <a:gd name="adj" fmla="val 867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 bug, es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característica</a:t>
            </a:r>
            <a:endParaRPr lang="en-US" sz="1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caracte</a:t>
            </a:r>
            <a:endParaRPr lang="en-US" sz="1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6CA51E-7601-2C5C-219E-52254F0FB974}"/>
              </a:ext>
            </a:extLst>
          </p:cNvPr>
          <p:cNvSpPr txBox="1"/>
          <p:nvPr/>
        </p:nvSpPr>
        <p:spPr>
          <a:xfrm>
            <a:off x="7900838" y="4246328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55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028BA-C966-8EBC-43A8-C61C81E4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     División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AEC82-560C-941E-92EF-6A6BFF8EB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C2DA9-F383-6BD5-72CA-4EE8CE194F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5470528" cy="4782911"/>
          </a:xfrm>
        </p:spPr>
        <p:txBody>
          <a:bodyPr/>
          <a:lstStyle/>
          <a:p>
            <a:r>
              <a:rPr lang="es-ES" dirty="0"/>
              <a:t>Podemos dividir una cadena en </a:t>
            </a:r>
            <a:r>
              <a:rPr lang="es-ES" dirty="0" err="1"/>
              <a:t>subcadenas</a:t>
            </a:r>
            <a:r>
              <a:rPr lang="es-ES" dirty="0"/>
              <a:t> tomando como base un delimitador.</a:t>
            </a:r>
          </a:p>
          <a:p>
            <a:r>
              <a:rPr lang="es-ES" dirty="0"/>
              <a:t>Un delimitador es un </a:t>
            </a:r>
            <a:r>
              <a:rPr lang="es-ES" dirty="0" err="1"/>
              <a:t>caracter</a:t>
            </a:r>
            <a:r>
              <a:rPr lang="es-ES" dirty="0"/>
              <a:t> o una cadena utilizada como marcador de división.</a:t>
            </a:r>
          </a:p>
          <a:p>
            <a:r>
              <a:rPr lang="es-ES" b="1" dirty="0" err="1">
                <a:solidFill>
                  <a:srgbClr val="00A0A8"/>
                </a:solidFill>
              </a:rPr>
              <a:t>split</a:t>
            </a:r>
            <a:r>
              <a:rPr lang="es-ES" b="1" dirty="0">
                <a:solidFill>
                  <a:srgbClr val="00A0A8"/>
                </a:solidFill>
              </a:rPr>
              <a:t>()</a:t>
            </a:r>
            <a:r>
              <a:rPr lang="es-ES" dirty="0"/>
              <a:t> devuelve un arreglo de tipo </a:t>
            </a:r>
            <a:r>
              <a:rPr lang="es-ES" b="1" dirty="0" err="1">
                <a:solidFill>
                  <a:srgbClr val="FF5969"/>
                </a:solidFill>
              </a:rPr>
              <a:t>String</a:t>
            </a:r>
            <a:r>
              <a:rPr lang="es-ES" dirty="0"/>
              <a:t> conteniendo las </a:t>
            </a:r>
            <a:r>
              <a:rPr lang="es-ES" dirty="0" err="1"/>
              <a:t>subcadenas</a:t>
            </a:r>
            <a:r>
              <a:rPr lang="es-ES" dirty="0"/>
              <a:t> obtenidas.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36AFE-810E-22F9-28C0-17513FBEA0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Graphic 5" descr="Harvey Balls 50% with solid fill">
            <a:extLst>
              <a:ext uri="{FF2B5EF4-FFF2-40B4-BE49-F238E27FC236}">
                <a16:creationId xmlns:a16="http://schemas.microsoft.com/office/drawing/2014/main" id="{7667922A-E031-5E48-7814-C4951EC0E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649" y="365427"/>
            <a:ext cx="914400" cy="9144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9AC4F47-AF83-F2F0-53F0-04ABBE322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679" y="1339107"/>
            <a:ext cx="4848431" cy="2267960"/>
          </a:xfrm>
          <a:prstGeom prst="roundRect">
            <a:avLst>
              <a:gd name="adj" fmla="val 7993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"No es un bug, es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característica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String[] palabras =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frase.split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"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 palabra : palabras) {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3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(palabra)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75789-DD14-2D8C-FA41-A255E25935E0}"/>
              </a:ext>
            </a:extLst>
          </p:cNvPr>
          <p:cNvSpPr txBox="1"/>
          <p:nvPr/>
        </p:nvSpPr>
        <p:spPr>
          <a:xfrm>
            <a:off x="8842342" y="4038716"/>
            <a:ext cx="2674767" cy="2100984"/>
          </a:xfrm>
          <a:prstGeom prst="roundRect">
            <a:avLst>
              <a:gd name="adj" fmla="val 4639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bug,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característica</a:t>
            </a:r>
            <a:endParaRPr lang="en-US" sz="1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17734C-3A56-0F02-B3BE-03C1F17E2320}"/>
              </a:ext>
            </a:extLst>
          </p:cNvPr>
          <p:cNvSpPr txBox="1"/>
          <p:nvPr/>
        </p:nvSpPr>
        <p:spPr>
          <a:xfrm>
            <a:off x="8109449" y="4051330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16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9793E-27D2-78A9-5AB3-AF535B62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4000" dirty="0"/>
              <a:t>Métodos encadenados </a:t>
            </a:r>
            <a:r>
              <a:rPr lang="es-ES" sz="3600" i="1" dirty="0"/>
              <a:t>(</a:t>
            </a:r>
            <a:r>
              <a:rPr lang="es-ES" sz="3600" i="1" dirty="0" err="1"/>
              <a:t>chained</a:t>
            </a:r>
            <a:r>
              <a:rPr lang="es-ES" sz="3600" i="1" dirty="0"/>
              <a:t> </a:t>
            </a:r>
            <a:r>
              <a:rPr lang="es-ES" sz="3600" i="1" dirty="0" err="1"/>
              <a:t>methods</a:t>
            </a:r>
            <a:r>
              <a:rPr lang="es-ES" sz="3600" i="1" dirty="0"/>
              <a:t>)</a:t>
            </a:r>
            <a:endParaRPr lang="es-PE" sz="3600" i="1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1233F62-BD39-BCEB-BBAE-247FD31449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4E9073-27BD-B765-FFC7-9B4C0ED274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/>
          <a:p>
            <a:r>
              <a:rPr lang="es-ES" dirty="0"/>
              <a:t>Es común utilizar en Java los métodos encadenados ("</a:t>
            </a:r>
            <a:r>
              <a:rPr lang="es-ES" dirty="0" err="1"/>
              <a:t>chained</a:t>
            </a:r>
            <a:r>
              <a:rPr lang="es-ES" dirty="0"/>
              <a:t> </a:t>
            </a:r>
            <a:r>
              <a:rPr lang="es-ES" dirty="0" err="1"/>
              <a:t>methods</a:t>
            </a:r>
            <a:r>
              <a:rPr lang="es-ES" dirty="0"/>
              <a:t>").</a:t>
            </a:r>
          </a:p>
          <a:p>
            <a:r>
              <a:rPr lang="es-ES" dirty="0"/>
              <a:t>Una sentencia con métodos encadenados tiene la siguiente forma:</a:t>
            </a:r>
          </a:p>
          <a:p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21E2F-6B69-EFF1-38F5-72C800ADEC4F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EB0CB3-512A-6BDF-62AB-A42C388ADB0D}"/>
              </a:ext>
            </a:extLst>
          </p:cNvPr>
          <p:cNvSpPr txBox="1"/>
          <p:nvPr/>
        </p:nvSpPr>
        <p:spPr>
          <a:xfrm>
            <a:off x="1692421" y="3748470"/>
            <a:ext cx="9485560" cy="40862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50800" indent="0" algn="ctr">
              <a:buNone/>
            </a:pPr>
            <a:r>
              <a:rPr lang="es-PE" sz="18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s-PE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PE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resultado</a:t>
            </a:r>
            <a:r>
              <a:rPr lang="es-PE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s-PE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variable</a:t>
            </a:r>
            <a:r>
              <a:rPr lang="es-PE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s-PE" sz="18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metodo1</a:t>
            </a:r>
            <a:r>
              <a:rPr lang="es-PE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lang="es-PE" sz="18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metodo2</a:t>
            </a:r>
            <a:r>
              <a:rPr lang="es-PE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lang="es-PE" sz="18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metodo3</a:t>
            </a:r>
            <a:r>
              <a:rPr lang="es-PE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C6C70A-A45F-B034-8072-85888C948537}"/>
              </a:ext>
            </a:extLst>
          </p:cNvPr>
          <p:cNvSpPr txBox="1"/>
          <p:nvPr/>
        </p:nvSpPr>
        <p:spPr>
          <a:xfrm>
            <a:off x="1692421" y="4441099"/>
            <a:ext cx="9485560" cy="1139603"/>
          </a:xfrm>
          <a:prstGeom prst="roundRect">
            <a:avLst>
              <a:gd name="adj" fmla="val 10435"/>
            </a:avLst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PE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PE" dirty="0">
                <a:solidFill>
                  <a:srgbClr val="E981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mensaje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s-PE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 mas aprendes cuando mas practicas       "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       </a:t>
            </a:r>
          </a:p>
          <a:p>
            <a:pPr>
              <a:lnSpc>
                <a:spcPct val="150000"/>
              </a:lnSpc>
            </a:pPr>
            <a:r>
              <a:rPr lang="es-PE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PE" dirty="0" err="1">
                <a:solidFill>
                  <a:srgbClr val="E981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mensajeFinal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s-PE" dirty="0" err="1">
                <a:solidFill>
                  <a:srgbClr val="E981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mensaje</a:t>
            </a:r>
            <a:r>
              <a:rPr lang="es-PE" dirty="0" err="1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s-PE" dirty="0" err="1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strip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lang="es-PE" dirty="0" err="1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toUpperCase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lang="es-PE" dirty="0" err="1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replace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PE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"MAS"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s-PE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"MÁS"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        </a:t>
            </a:r>
            <a:r>
              <a:rPr lang="es-PE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lang="es-PE" dirty="0" err="1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.out.println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PE" dirty="0" err="1">
                <a:solidFill>
                  <a:srgbClr val="E981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mensajeFinal</a:t>
            </a:r>
            <a:r>
              <a:rPr lang="es-PE" dirty="0">
                <a:solidFill>
                  <a:schemeClr val="tx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97D905-F76F-F973-3293-7F61617E38EA}"/>
              </a:ext>
            </a:extLst>
          </p:cNvPr>
          <p:cNvSpPr txBox="1"/>
          <p:nvPr/>
        </p:nvSpPr>
        <p:spPr>
          <a:xfrm>
            <a:off x="4208015" y="5953205"/>
            <a:ext cx="6969965" cy="340519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MÁS APRENDES CUANDO MÁS PRACTICAS</a:t>
            </a:r>
            <a:endParaRPr lang="es-PE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A9468AD-3EB7-F841-9BA6-3912E0128126}"/>
              </a:ext>
            </a:extLst>
          </p:cNvPr>
          <p:cNvSpPr txBox="1"/>
          <p:nvPr/>
        </p:nvSpPr>
        <p:spPr>
          <a:xfrm>
            <a:off x="3404284" y="5953205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66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04EB-882B-9740-9911-45277D35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métodos (investigar)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5F6287-A396-5CB5-EFDD-E71091122C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3D3F5-711C-8BBF-897F-A17E5ECD910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ES" sz="2400" b="1" dirty="0" err="1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lang="es-E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s-ES" sz="2400" b="1" dirty="0" err="1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compareToIgnoreCase</a:t>
            </a:r>
            <a:r>
              <a:rPr lang="es-E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s-ES" sz="2400" b="1" dirty="0" err="1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startsWith</a:t>
            </a:r>
            <a:r>
              <a:rPr lang="es-E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s-ES" sz="2400" b="1" dirty="0" err="1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endsWith</a:t>
            </a:r>
            <a:r>
              <a:rPr lang="es-E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s-ES" sz="2400" b="1" dirty="0" err="1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concat</a:t>
            </a:r>
            <a:r>
              <a:rPr lang="es-E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s-ES" sz="2400" b="1" dirty="0" err="1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contains</a:t>
            </a:r>
            <a:r>
              <a:rPr lang="es-E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n-US" sz="2400" b="1" dirty="0" err="1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isEmpty</a:t>
            </a:r>
            <a:r>
              <a:rPr lang="en-U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(), </a:t>
            </a:r>
            <a:r>
              <a:rPr lang="en-US" sz="2400" b="1" dirty="0" err="1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isBlank</a:t>
            </a:r>
            <a:r>
              <a:rPr lang="en-U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n-US" sz="2400" b="1" dirty="0" err="1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replaceAll</a:t>
            </a:r>
            <a:r>
              <a:rPr lang="en-U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r>
              <a:rPr lang="en-US" sz="2400" b="1" dirty="0">
                <a:solidFill>
                  <a:srgbClr val="00A0A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trim(), </a:t>
            </a:r>
            <a:r>
              <a:rPr lang="en-U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etc.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0D0AEF-0950-BCE8-F979-21ABBC85CC0E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Principales métodos de la clase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String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56290-FE04-D5C7-D61D-F4EC0DEA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48231"/>
            <a:ext cx="6096000" cy="27635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F26722-1CA3-DFF4-0D0C-84481DE1420C}"/>
              </a:ext>
            </a:extLst>
          </p:cNvPr>
          <p:cNvSpPr txBox="1"/>
          <p:nvPr/>
        </p:nvSpPr>
        <p:spPr>
          <a:xfrm>
            <a:off x="715650" y="6280934"/>
            <a:ext cx="999319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d3njjcbhbojbot.cloudfront.net/api/utilities/v1/imageproxy/https://images.ctfassets.net/wp1lcwdav1p1/1c1XphlV38jCSgcXVtu507/93b7dd23cee22f649bf5651f2590e3dc/GettyImages-1363841531_Java_vs_C.jpg?w=1500&amp;h=680&amp;q=60&amp;fit=fill&amp;f=faces&amp;fm=jpg&amp;fl=progressive&amp;auto=format%2Ccompress&amp;dpr=1&amp;w=1000&amp;h=</a:t>
            </a:r>
          </a:p>
        </p:txBody>
      </p:sp>
    </p:spTree>
    <p:extLst>
      <p:ext uri="{BB962C8B-B14F-4D97-AF65-F5344CB8AC3E}">
        <p14:creationId xmlns:p14="http://schemas.microsoft.com/office/powerpoint/2010/main" val="107364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77F7E6-EE33-E354-2099-9C47A8342E7A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44DFE3-7D4C-2579-D734-9396D7EAD993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82BCBF-D332-7F8B-F38F-84AA96AB2A16}"/>
                </a:ext>
              </a:extLst>
            </p:cNvPr>
            <p:cNvSpPr txBox="1"/>
            <p:nvPr/>
          </p:nvSpPr>
          <p:spPr>
            <a:xfrm>
              <a:off x="2740580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0C9602D-8CD9-B7AC-EFD0-8EB47AF5E002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Principales métodos de la clase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String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Cadenas de texto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047569F-1402-0AEC-11E8-6357434C280F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5CD69B-F2C3-3271-5030-CECFF811249A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FBD336F-ED30-7D7B-AC96-CBA74C9D5252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A6AE475-23F3-A68E-2F35-587F8F4C6088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007E73-47BD-8BA0-B16E-ADA87CDC5C5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654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463CDCE9-7DFB-B3FC-A071-9BB5F15399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164" t="25592" r="21124" b="25193"/>
          <a:stretch/>
        </p:blipFill>
        <p:spPr>
          <a:xfrm>
            <a:off x="9900744" y="5376040"/>
            <a:ext cx="1707716" cy="1481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715437-C209-46CE-D29A-C00F4EDD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C19CC-8927-91B6-D535-DF381B53D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8F46F-3735-7EE9-5B57-098B451CD5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1. ¿Cuál será el resultado de la ejecución de las siguientes instrucciones?</a:t>
            </a:r>
          </a:p>
          <a:p>
            <a:pPr marL="50800" indent="0">
              <a:buNone/>
            </a:pPr>
            <a:endParaRPr lang="es-ES" dirty="0"/>
          </a:p>
          <a:p>
            <a:pPr marL="50800" indent="0">
              <a:buNone/>
            </a:pPr>
            <a:endParaRPr lang="es-ES" dirty="0"/>
          </a:p>
          <a:p>
            <a:pPr marL="50800" indent="0">
              <a:buNone/>
            </a:pPr>
            <a:endParaRPr lang="es-ES" dirty="0"/>
          </a:p>
          <a:p>
            <a:pPr marL="1022350" lvl="1" indent="-514350">
              <a:buAutoNum type="alphaUcPeriod"/>
            </a:pPr>
            <a:r>
              <a:rPr lang="es-ES" dirty="0"/>
              <a:t>Se convierte “!” a 33 y se imprime “33”.</a:t>
            </a:r>
          </a:p>
          <a:p>
            <a:pPr marL="1022350" lvl="1" indent="-514350">
              <a:buAutoNum type="alphaUcPeriod"/>
            </a:pPr>
            <a:r>
              <a:rPr lang="es-ES" dirty="0"/>
              <a:t>Imprime “!”</a:t>
            </a:r>
          </a:p>
          <a:p>
            <a:pPr marL="1022350" lvl="1" indent="-514350">
              <a:buAutoNum type="alphaUcPeriod"/>
            </a:pPr>
            <a:r>
              <a:rPr lang="es-ES" dirty="0"/>
              <a:t>Ocurre una excepción.</a:t>
            </a:r>
          </a:p>
          <a:p>
            <a:pPr marL="1022350" lvl="1" indent="-514350">
              <a:buAutoNum type="alphaUcPeriod"/>
            </a:pPr>
            <a:r>
              <a:rPr lang="es-ES" dirty="0"/>
              <a:t>Imprime espacio en blanco.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7E02E1-73BF-71DC-CB10-7CC952BE1CA8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03C58-571B-2AAC-6B82-B3130BF42B1D}"/>
              </a:ext>
            </a:extLst>
          </p:cNvPr>
          <p:cNvSpPr txBox="1"/>
          <p:nvPr/>
        </p:nvSpPr>
        <p:spPr>
          <a:xfrm>
            <a:off x="1727461" y="2769490"/>
            <a:ext cx="9260889" cy="976296"/>
          </a:xfrm>
          <a:prstGeom prst="round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0" dirty="0">
                <a:solidFill>
                  <a:srgbClr val="C594C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 err="1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sz="1800" b="0" dirty="0">
                <a:solidFill>
                  <a:srgbClr val="99C7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Las </a:t>
            </a:r>
            <a:r>
              <a:rPr lang="en-US" sz="1800" b="0" dirty="0" err="1">
                <a:solidFill>
                  <a:srgbClr val="99C7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cadenas</a:t>
            </a:r>
            <a:r>
              <a:rPr lang="en-US" sz="1800" b="0" dirty="0">
                <a:solidFill>
                  <a:srgbClr val="99C7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Java son </a:t>
            </a:r>
            <a:r>
              <a:rPr lang="en-US" sz="1800" b="0" dirty="0" err="1">
                <a:solidFill>
                  <a:srgbClr val="99C7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poderosas</a:t>
            </a:r>
            <a:r>
              <a:rPr lang="en-US" sz="1800" b="0" dirty="0">
                <a:solidFill>
                  <a:srgbClr val="99C7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";</a:t>
            </a:r>
            <a:endParaRPr lang="en-US" sz="1800" b="0" dirty="0">
              <a:solidFill>
                <a:srgbClr val="CDD3DE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800" b="0" dirty="0" err="1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lang="en-US" sz="1800" b="0" dirty="0" err="1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US" sz="1800" b="0" dirty="0" err="1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lang="en-US" sz="1800" b="0" dirty="0" err="1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US" sz="1800" b="0" dirty="0" err="1">
                <a:solidFill>
                  <a:srgbClr val="6699C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1800" b="0" dirty="0" err="1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lang="en-US" sz="1800" b="0" dirty="0" err="1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US" sz="1800" b="0" dirty="0" err="1">
                <a:solidFill>
                  <a:srgbClr val="6699C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charAt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1800" b="0" dirty="0" err="1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frase</a:t>
            </a:r>
            <a:r>
              <a:rPr lang="en-US" sz="1800" b="0" dirty="0" err="1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US" sz="1800" b="0" dirty="0" err="1">
                <a:solidFill>
                  <a:srgbClr val="6699C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toUpperCase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lang="en-US" sz="1800" b="0" dirty="0">
                <a:solidFill>
                  <a:srgbClr val="6699C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()));</a:t>
            </a:r>
            <a:endParaRPr lang="en-US" sz="1800" b="0" dirty="0">
              <a:solidFill>
                <a:srgbClr val="CDD3DE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78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Open quotation mark with solid fill">
            <a:extLst>
              <a:ext uri="{FF2B5EF4-FFF2-40B4-BE49-F238E27FC236}">
                <a16:creationId xmlns:a16="http://schemas.microsoft.com/office/drawing/2014/main" id="{EDDDE689-9871-00DF-30C1-7BA3BBE1E9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164" t="25592" r="21124" b="25193"/>
          <a:stretch/>
        </p:blipFill>
        <p:spPr>
          <a:xfrm>
            <a:off x="9900744" y="5376040"/>
            <a:ext cx="1707716" cy="1481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715437-C209-46CE-D29A-C00F4EDD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C19CC-8927-91B6-D535-DF381B53D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8F46F-3735-7EE9-5B57-098B451CD5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2. ¿Cuál será el resultado de la ejecución de las siguientes instrucciones?</a:t>
            </a:r>
          </a:p>
          <a:p>
            <a:pPr marL="50800" indent="0">
              <a:buNone/>
            </a:pPr>
            <a:endParaRPr lang="es-ES" dirty="0"/>
          </a:p>
          <a:p>
            <a:pPr marL="50800" indent="0">
              <a:buNone/>
            </a:pPr>
            <a:endParaRPr lang="es-ES" dirty="0"/>
          </a:p>
          <a:p>
            <a:pPr marL="50800" indent="0">
              <a:buNone/>
            </a:pPr>
            <a:endParaRPr lang="es-ES" dirty="0"/>
          </a:p>
          <a:p>
            <a:pPr marL="1022350" lvl="1" indent="-514350">
              <a:buAutoNum type="alphaUcPeriod"/>
            </a:pPr>
            <a:r>
              <a:rPr lang="es-ES" dirty="0"/>
              <a:t>Java3Quiz7</a:t>
            </a:r>
          </a:p>
          <a:p>
            <a:pPr marL="1022350" lvl="1" indent="-514350">
              <a:buAutoNum type="alphaUcPeriod"/>
            </a:pPr>
            <a:r>
              <a:rPr lang="es-ES" dirty="0"/>
              <a:t>Java12Quiz7</a:t>
            </a:r>
          </a:p>
          <a:p>
            <a:pPr marL="1022350" lvl="1" indent="-514350">
              <a:buAutoNum type="alphaUcPeriod"/>
            </a:pPr>
            <a:r>
              <a:rPr lang="es-ES" dirty="0"/>
              <a:t>Java12Quiz34</a:t>
            </a:r>
          </a:p>
          <a:p>
            <a:pPr marL="1022350" lvl="1" indent="-514350">
              <a:buAutoNum type="alphaUcPeriod"/>
            </a:pPr>
            <a:r>
              <a:rPr lang="es-ES" dirty="0"/>
              <a:t>Java3Quiz34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7E02E1-73BF-71DC-CB10-7CC952BE1CA8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03C58-571B-2AAC-6B82-B3130BF42B1D}"/>
              </a:ext>
            </a:extLst>
          </p:cNvPr>
          <p:cNvSpPr txBox="1"/>
          <p:nvPr/>
        </p:nvSpPr>
        <p:spPr>
          <a:xfrm>
            <a:off x="1727461" y="2769490"/>
            <a:ext cx="9260889" cy="976296"/>
          </a:xfrm>
          <a:prstGeom prst="round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0" dirty="0">
                <a:solidFill>
                  <a:srgbClr val="C594C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sz="1800" b="0" dirty="0">
                <a:solidFill>
                  <a:srgbClr val="99C7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F9915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F9915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sz="1800" b="0" dirty="0">
                <a:solidFill>
                  <a:srgbClr val="99C7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Quiz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1800" b="0" dirty="0">
                <a:solidFill>
                  <a:srgbClr val="F9915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b="0" dirty="0">
                <a:solidFill>
                  <a:srgbClr val="F9915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lang="en-US" sz="1800" b="0" dirty="0">
              <a:solidFill>
                <a:srgbClr val="CDD3DE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800" b="0" dirty="0" err="1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lang="en-US" sz="1800" b="0" dirty="0" err="1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US" sz="1800" b="0" dirty="0" err="1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lang="en-US" sz="1800" b="0" dirty="0" err="1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US" sz="1800" b="0" dirty="0" err="1">
                <a:solidFill>
                  <a:srgbClr val="6699C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US" sz="1800" b="0" dirty="0">
                <a:solidFill>
                  <a:srgbClr val="CDD3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</a:t>
            </a:r>
            <a:r>
              <a:rPr lang="en-US" sz="1800" b="0" dirty="0">
                <a:solidFill>
                  <a:srgbClr val="5FB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lang="en-US" sz="1800" b="0" dirty="0">
              <a:solidFill>
                <a:srgbClr val="CDD3DE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82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pen quotation mark with solid fill">
            <a:extLst>
              <a:ext uri="{FF2B5EF4-FFF2-40B4-BE49-F238E27FC236}">
                <a16:creationId xmlns:a16="http://schemas.microsoft.com/office/drawing/2014/main" id="{0D1E82AE-40D0-092E-124F-72854F693A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164" t="25592" r="21124" b="25193"/>
          <a:stretch/>
        </p:blipFill>
        <p:spPr>
          <a:xfrm>
            <a:off x="9900744" y="5376040"/>
            <a:ext cx="1707716" cy="1481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32E03A-A238-306F-43F8-A296D099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2A678-C1DD-0E7E-9335-60ED3DA0CA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79576-7FCF-A278-2593-E71C11A82E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284158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3. ¿Cuál será el resultado de la ejecución del siguiente código?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6EC48C-6954-F3B7-D550-C37345894CE1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2D3949-7624-77F3-EDCA-A901E807E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666" y="2321295"/>
            <a:ext cx="5107162" cy="4056075"/>
          </a:xfrm>
          <a:prstGeom prst="roundRect">
            <a:avLst>
              <a:gd name="adj" fmla="val 5006"/>
            </a:avLst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s1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"hello"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s2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"hello"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s3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"hello"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(s1 == s2)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"s1 y s2 son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iguales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"s1 y s2 no son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iguales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(s1 == s3)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"s1 y s3 son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iguales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"s1 y s3 no son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iguales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01F87-DE4A-425A-0ECF-04E4E9534E53}"/>
              </a:ext>
            </a:extLst>
          </p:cNvPr>
          <p:cNvSpPr txBox="1"/>
          <p:nvPr/>
        </p:nvSpPr>
        <p:spPr>
          <a:xfrm>
            <a:off x="7181193" y="2323724"/>
            <a:ext cx="4038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A.</a:t>
            </a:r>
          </a:p>
          <a:p>
            <a:r>
              <a:rPr lang="es-ES" sz="1600" dirty="0"/>
              <a:t>s1 y s2 no son iguales</a:t>
            </a:r>
          </a:p>
          <a:p>
            <a:r>
              <a:rPr lang="es-ES" sz="1600" dirty="0"/>
              <a:t>s1 y s3 son iguales</a:t>
            </a:r>
          </a:p>
          <a:p>
            <a:endParaRPr lang="es-ES" sz="1600" dirty="0"/>
          </a:p>
          <a:p>
            <a:r>
              <a:rPr lang="es-ES" sz="2000" dirty="0"/>
              <a:t>B.</a:t>
            </a:r>
          </a:p>
          <a:p>
            <a:r>
              <a:rPr lang="es-ES" sz="1600" dirty="0"/>
              <a:t>s1 y s2 son iguales</a:t>
            </a:r>
          </a:p>
          <a:p>
            <a:r>
              <a:rPr lang="es-ES" sz="1600" dirty="0"/>
              <a:t>s1 y s3 no son iguales</a:t>
            </a:r>
          </a:p>
          <a:p>
            <a:endParaRPr lang="es-ES" sz="1600" dirty="0"/>
          </a:p>
          <a:p>
            <a:r>
              <a:rPr lang="es-ES" sz="2000" dirty="0"/>
              <a:t>C.</a:t>
            </a:r>
          </a:p>
          <a:p>
            <a:r>
              <a:rPr lang="es-ES" sz="1600" dirty="0"/>
              <a:t>s1 y s2 no son iguales</a:t>
            </a:r>
          </a:p>
          <a:p>
            <a:r>
              <a:rPr lang="es-ES" sz="1600" dirty="0"/>
              <a:t>s1 y s3 no son iguales</a:t>
            </a:r>
          </a:p>
          <a:p>
            <a:endParaRPr lang="es-ES" sz="1600" dirty="0"/>
          </a:p>
          <a:p>
            <a:r>
              <a:rPr lang="es-ES" sz="2000" dirty="0"/>
              <a:t>D.</a:t>
            </a:r>
          </a:p>
          <a:p>
            <a:r>
              <a:rPr lang="es-ES" sz="1600" dirty="0"/>
              <a:t>s1 y s2 son iguales</a:t>
            </a:r>
          </a:p>
          <a:p>
            <a:r>
              <a:rPr lang="es-ES" sz="1600" dirty="0"/>
              <a:t>s1 y s3 son iguales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7235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D357-6CCB-48AB-44E8-1EA81CF6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5A2DAE-D3EB-C9E8-3E88-EB97CB8004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AA7AA-39B6-2F71-B845-0C48792968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4709627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Escribir un programa en Java para que, dada una frase ingresada por el usuario, muestre el conteo de las palabras que la componen.</a:t>
            </a:r>
          </a:p>
          <a:p>
            <a:pPr marL="50800" indent="0">
              <a:buNone/>
            </a:pPr>
            <a:r>
              <a:rPr lang="es-ES" dirty="0"/>
              <a:t>Nota: no se debe hacer distinción entre mayúsculas y minúsculas al comparar las palabras.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80BC49-CADD-C6E9-ACD5-9BC512EC63B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7196071-2776-E842-EC0B-EC8C81981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724" y="1027900"/>
            <a:ext cx="3527276" cy="31145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144000" tIns="144000" rIns="144000" bIns="25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“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Cuando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cuentes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cuentos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</a:b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cuenta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cuántos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cuentos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cuentas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</a:b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porque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si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no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cuentas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</a:b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cuántos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cuentos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cuentas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</a:b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nunca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sabrás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</a:b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cuántos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cuentos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cuentas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tú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JetBrains Mono" panose="02000009000000000000" pitchFamily="49" charset="0"/>
                <a:cs typeface="Times New Roman" panose="02020603050405020304" pitchFamily="18" charset="0"/>
              </a:rPr>
              <a:t>”</a:t>
            </a:r>
            <a:endParaRPr kumimoji="0" lang="en-US" altLang="en-US" sz="4400" b="0" i="1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JetBrains Mono" panose="02000009000000000000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A61FA-83B3-BFD9-3758-3AB02F7A85E3}"/>
              </a:ext>
            </a:extLst>
          </p:cNvPr>
          <p:cNvSpPr txBox="1"/>
          <p:nvPr/>
        </p:nvSpPr>
        <p:spPr>
          <a:xfrm>
            <a:off x="9406760" y="2195961"/>
            <a:ext cx="2230821" cy="4128964"/>
          </a:xfrm>
          <a:prstGeom prst="roundRect">
            <a:avLst>
              <a:gd name="adj" fmla="val 5360"/>
            </a:avLst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Cuando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1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cuentes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1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cuentos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4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cuenta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1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cuántos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3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cuentas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4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porque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1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1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            1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nunca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1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sabrás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1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tú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3ABA9-DD0D-4EDF-3EC0-3DA715EA0AF4}"/>
              </a:ext>
            </a:extLst>
          </p:cNvPr>
          <p:cNvSpPr txBox="1"/>
          <p:nvPr/>
        </p:nvSpPr>
        <p:spPr>
          <a:xfrm>
            <a:off x="7541891" y="5943191"/>
            <a:ext cx="1646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Conteo resultante: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42683-DF83-48EE-AED0-B4162BFAD94B}"/>
              </a:ext>
            </a:extLst>
          </p:cNvPr>
          <p:cNvSpPr txBox="1"/>
          <p:nvPr/>
        </p:nvSpPr>
        <p:spPr>
          <a:xfrm>
            <a:off x="6278724" y="646698"/>
            <a:ext cx="19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Ejemplo. Sea la frase:</a:t>
            </a:r>
            <a:endParaRPr lang="en-US" dirty="0"/>
          </a:p>
        </p:txBody>
      </p:sp>
      <p:pic>
        <p:nvPicPr>
          <p:cNvPr id="12" name="Graphic 11" descr="Quotes with solid fill">
            <a:extLst>
              <a:ext uri="{FF2B5EF4-FFF2-40B4-BE49-F238E27FC236}">
                <a16:creationId xmlns:a16="http://schemas.microsoft.com/office/drawing/2014/main" id="{BF8F3125-D476-53DE-DC65-DCED82068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9257" y="411451"/>
            <a:ext cx="5418649" cy="541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4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E9810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5D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35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/>
              <a:t>¿Qué es </a:t>
            </a:r>
            <a:r>
              <a:rPr lang="es-ES" b="1" dirty="0" err="1"/>
              <a:t>String</a:t>
            </a:r>
            <a:r>
              <a:rPr lang="es-ES" dirty="0"/>
              <a:t>?</a:t>
            </a:r>
          </a:p>
          <a:p>
            <a:r>
              <a:rPr lang="es-ES" dirty="0"/>
              <a:t>¿Cómo creamos un </a:t>
            </a:r>
            <a:r>
              <a:rPr lang="es-ES" b="1" dirty="0" err="1"/>
              <a:t>String</a:t>
            </a:r>
            <a:r>
              <a:rPr lang="es-ES" dirty="0"/>
              <a:t> en Java?</a:t>
            </a:r>
          </a:p>
          <a:p>
            <a:r>
              <a:rPr lang="es-ES" dirty="0"/>
              <a:t>¿Qué significa que un </a:t>
            </a:r>
            <a:r>
              <a:rPr lang="es-ES" b="1" dirty="0" err="1"/>
              <a:t>String</a:t>
            </a:r>
            <a:r>
              <a:rPr lang="es-ES" dirty="0"/>
              <a:t> sea </a:t>
            </a:r>
            <a:r>
              <a:rPr lang="es-ES" u="sng" dirty="0"/>
              <a:t>inmutable</a:t>
            </a:r>
            <a:r>
              <a:rPr lang="es-ES" dirty="0"/>
              <a:t>?</a:t>
            </a:r>
          </a:p>
          <a:p>
            <a:r>
              <a:rPr lang="es-ES" dirty="0"/>
              <a:t>¿Menciona tres funciones de la clase </a:t>
            </a:r>
            <a:r>
              <a:rPr lang="es-ES" b="1" dirty="0" err="1"/>
              <a:t>String</a:t>
            </a:r>
            <a:r>
              <a:rPr lang="es-ES" dirty="0"/>
              <a:t> y describe su utilidad?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937664">
            <a:off x="10790283" y="5102997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4066074">
            <a:off x="9030454" y="-65418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09" b="34623"/>
          <a:stretch/>
        </p:blipFill>
        <p:spPr>
          <a:xfrm rot="19597974">
            <a:off x="8095642" y="1783012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128177" flipH="1">
            <a:off x="8891781" y="2666144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10185</TotalTime>
  <Words>2948</Words>
  <Application>Microsoft Office PowerPoint</Application>
  <PresentationFormat>Panorámica</PresentationFormat>
  <Paragraphs>460</Paragraphs>
  <Slides>37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3" baseType="lpstr">
      <vt:lpstr>Arial</vt:lpstr>
      <vt:lpstr>Arial Black</vt:lpstr>
      <vt:lpstr>Helvetica</vt:lpstr>
      <vt:lpstr>JetBrains Mono</vt:lpstr>
      <vt:lpstr>Times New Roman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Manejo de Cadenas de Texto (I)</vt:lpstr>
      <vt:lpstr>Conocimientos previos</vt:lpstr>
      <vt:lpstr>Logro de aprendizaje</vt:lpstr>
      <vt:lpstr>Utilidad</vt:lpstr>
      <vt:lpstr>Presentación de PowerPoint</vt:lpstr>
      <vt:lpstr>Presentación de PowerPoint</vt:lpstr>
      <vt:lpstr>Cadena de texto</vt:lpstr>
      <vt:lpstr>Presentación de PowerPoint</vt:lpstr>
      <vt:lpstr>La clase String</vt:lpstr>
      <vt:lpstr>Cómo crear objetos String</vt:lpstr>
      <vt:lpstr>¿Qué significa “inmutable”?</vt:lpstr>
      <vt:lpstr>Presentación de PowerPoint</vt:lpstr>
      <vt:lpstr>String. Principales métodos.</vt:lpstr>
      <vt:lpstr>Tipos de operaciones con cadenas</vt:lpstr>
      <vt:lpstr>      Conversión</vt:lpstr>
      <vt:lpstr>      Manipulación</vt:lpstr>
      <vt:lpstr>      Búsqueda</vt:lpstr>
      <vt:lpstr>      Comparación</vt:lpstr>
      <vt:lpstr>      Sustracción</vt:lpstr>
      <vt:lpstr>      División</vt:lpstr>
      <vt:lpstr>Métodos encadenados (chained methods)</vt:lpstr>
      <vt:lpstr>Otros métodos (investigar)</vt:lpstr>
      <vt:lpstr>Presentación de PowerPoint</vt:lpstr>
      <vt:lpstr>Cuestionario</vt:lpstr>
      <vt:lpstr>Cuestionario</vt:lpstr>
      <vt:lpstr>Cuestionario</vt:lpstr>
      <vt:lpstr>Ejercicio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16-Sesión 31</dc:title>
  <dc:creator>jorgerodcas@hotmail.com</dc:creator>
  <cp:lastModifiedBy>Juan Carlos García</cp:lastModifiedBy>
  <cp:revision>436</cp:revision>
  <dcterms:modified xsi:type="dcterms:W3CDTF">2023-10-23T16:12:08Z</dcterms:modified>
</cp:coreProperties>
</file>