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Lst>
  <p:notesMasterIdLst>
    <p:notesMasterId r:id="rId28"/>
  </p:notesMasterIdLst>
  <p:sldIdLst>
    <p:sldId id="256" r:id="rId2"/>
    <p:sldId id="433" r:id="rId3"/>
    <p:sldId id="438" r:id="rId4"/>
    <p:sldId id="439" r:id="rId5"/>
    <p:sldId id="440" r:id="rId6"/>
    <p:sldId id="258" r:id="rId7"/>
    <p:sldId id="257" r:id="rId8"/>
    <p:sldId id="263" r:id="rId9"/>
    <p:sldId id="264" r:id="rId10"/>
    <p:sldId id="330" r:id="rId11"/>
    <p:sldId id="441" r:id="rId12"/>
    <p:sldId id="417" r:id="rId13"/>
    <p:sldId id="442" r:id="rId14"/>
    <p:sldId id="451" r:id="rId15"/>
    <p:sldId id="443" r:id="rId16"/>
    <p:sldId id="444" r:id="rId17"/>
    <p:sldId id="425" r:id="rId18"/>
    <p:sldId id="450" r:id="rId19"/>
    <p:sldId id="445" r:id="rId20"/>
    <p:sldId id="437" r:id="rId21"/>
    <p:sldId id="449" r:id="rId22"/>
    <p:sldId id="446" r:id="rId23"/>
    <p:sldId id="447" r:id="rId24"/>
    <p:sldId id="261" r:id="rId25"/>
    <p:sldId id="329" r:id="rId26"/>
    <p:sldId id="259" r:id="rId27"/>
  </p:sldIdLst>
  <p:sldSz cx="12192000" cy="6858000"/>
  <p:notesSz cx="6858000" cy="9144000"/>
  <p:embeddedFontLst>
    <p:embeddedFont>
      <p:font typeface="Cambria Math" panose="02040503050406030204" pitchFamily="18" charset="0"/>
      <p:regular r:id="rId29"/>
    </p:embeddedFont>
    <p:embeddedFont>
      <p:font typeface="Helvetica" panose="020B0604020202020204" pitchFamily="34" charset="0"/>
      <p:regular r:id="rId30"/>
      <p:bold r:id="rId31"/>
      <p:italic r:id="rId32"/>
      <p:boldItalic r:id="rId33"/>
    </p:embeddedFont>
    <p:embeddedFont>
      <p:font typeface="JetBrains Mono" panose="02000009000000000000" pitchFamily="49"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8" roundtripDataSignature="AMtx7mh2+CB7AwAKHevBYi6hg66TyKQM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a:srgbClr val="6C91D9"/>
    <a:srgbClr val="EEC83E"/>
    <a:srgbClr val="C59EE2"/>
    <a:srgbClr val="1B5E8B"/>
    <a:srgbClr val="8E927B"/>
    <a:srgbClr val="FF99FF"/>
    <a:srgbClr val="8FE2FF"/>
    <a:srgbClr val="C5E0F3"/>
    <a:srgbClr val="AFD5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61" autoAdjust="0"/>
    <p:restoredTop sz="91656" autoAdjust="0"/>
  </p:normalViewPr>
  <p:slideViewPr>
    <p:cSldViewPr snapToGrid="0">
      <p:cViewPr varScale="1">
        <p:scale>
          <a:sx n="124" d="100"/>
          <a:sy n="124" d="100"/>
        </p:scale>
        <p:origin x="403" y="101"/>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79"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78" Type="http://customschemas.google.com/relationships/presentationmetadata" Target="meta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3" name="Google Shape;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819eedc26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g7819eedc26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La respuesta a la última pregunta es: A una función.</a:t>
            </a:r>
          </a:p>
          <a:p>
            <a:pPr marL="0" lvl="0" indent="0" algn="l" rtl="0">
              <a:spcBef>
                <a:spcPts val="0"/>
              </a:spcBef>
              <a:spcAft>
                <a:spcPts val="0"/>
              </a:spcAft>
              <a:buNone/>
            </a:pPr>
            <a:r>
              <a:rPr lang="es-ES" dirty="0"/>
              <a:t>Hacer recordar a los estudiantes que han usado ciertas funciones preconstruidas en PSeInt.</a:t>
            </a:r>
          </a:p>
          <a:p>
            <a:pPr marL="0" lvl="0" indent="0" algn="l" rtl="0">
              <a:spcBef>
                <a:spcPts val="0"/>
              </a:spcBef>
              <a:spcAft>
                <a:spcPts val="0"/>
              </a:spcAft>
              <a:buNone/>
            </a:pPr>
            <a:r>
              <a:rPr lang="es-ES" dirty="0"/>
              <a:t>El switch mejorado funciona al estilo de una función.</a:t>
            </a:r>
            <a:endParaRPr dirty="0"/>
          </a:p>
        </p:txBody>
      </p:sp>
      <p:sp>
        <p:nvSpPr>
          <p:cNvPr id="67" name="Google Shape;6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28600" indent="0">
              <a:buNone/>
            </a:pPr>
            <a:r>
              <a:rPr lang="es-ES" dirty="0"/>
              <a:t>Respuestas que deben buscarse:</a:t>
            </a:r>
          </a:p>
          <a:p>
            <a:pPr marL="228600" indent="0">
              <a:buNone/>
            </a:pPr>
            <a:endParaRPr lang="es-ES" dirty="0"/>
          </a:p>
          <a:p>
            <a:pPr>
              <a:buAutoNum type="arabicPeriod"/>
            </a:pPr>
            <a:r>
              <a:rPr lang="es-ES" dirty="0"/>
              <a:t>Elaborar un plan de solución.</a:t>
            </a:r>
          </a:p>
          <a:p>
            <a:pPr>
              <a:buAutoNum type="arabicPeriod"/>
            </a:pPr>
            <a:r>
              <a:rPr lang="es-ES" dirty="0"/>
              <a:t>En una secuencia de instrucciones o algoritmo.</a:t>
            </a:r>
          </a:p>
          <a:p>
            <a:pPr>
              <a:buAutoNum type="arabicPeriod"/>
            </a:pPr>
            <a:r>
              <a:rPr lang="es-ES" dirty="0"/>
              <a:t>Solucionar el problema.</a:t>
            </a:r>
          </a:p>
          <a:p>
            <a:pPr>
              <a:buAutoNum type="arabicPeriod"/>
            </a:pPr>
            <a:r>
              <a:rPr lang="es-ES" dirty="0"/>
              <a:t>Java</a:t>
            </a:r>
          </a:p>
          <a:p>
            <a:pPr marL="228600" indent="0">
              <a:buNone/>
            </a:pPr>
            <a:endParaRPr lang="en-US" dirty="0"/>
          </a:p>
          <a:p>
            <a:pPr marL="228600" indent="0">
              <a:buNone/>
            </a:pPr>
            <a:r>
              <a:rPr lang="en-US" dirty="0" err="1"/>
              <a:t>Utilidad</a:t>
            </a:r>
            <a:r>
              <a:rPr lang="en-US" dirty="0"/>
              <a:t>: </a:t>
            </a:r>
            <a:r>
              <a:rPr lang="en-US" dirty="0" err="1"/>
              <a:t>Programar</a:t>
            </a:r>
            <a:r>
              <a:rPr lang="en-US" dirty="0"/>
              <a:t> </a:t>
            </a:r>
            <a:r>
              <a:rPr lang="en-US" dirty="0" err="1"/>
              <a:t>instrucciones</a:t>
            </a:r>
            <a:r>
              <a:rPr lang="en-US" dirty="0"/>
              <a:t> </a:t>
            </a:r>
            <a:r>
              <a:rPr lang="en-US" dirty="0" err="1"/>
              <a:t>utilizando</a:t>
            </a:r>
            <a:r>
              <a:rPr lang="en-US" dirty="0"/>
              <a:t> </a:t>
            </a:r>
            <a:r>
              <a:rPr lang="en-US" dirty="0" err="1"/>
              <a:t>el</a:t>
            </a:r>
            <a:r>
              <a:rPr lang="en-US" dirty="0"/>
              <a:t> </a:t>
            </a:r>
            <a:r>
              <a:rPr lang="en-US" dirty="0" err="1"/>
              <a:t>lenguaje</a:t>
            </a:r>
            <a:r>
              <a:rPr lang="en-US" dirty="0"/>
              <a:t> Java para resolver un </a:t>
            </a:r>
            <a:r>
              <a:rPr lang="en-US" dirty="0" err="1"/>
              <a:t>problema</a:t>
            </a:r>
            <a:r>
              <a:rPr lang="en-US" dirty="0"/>
              <a:t>.</a:t>
            </a:r>
            <a:endParaRPr lang="es-ES" dirty="0"/>
          </a:p>
        </p:txBody>
      </p:sp>
    </p:spTree>
    <p:extLst>
      <p:ext uri="{BB962C8B-B14F-4D97-AF65-F5344CB8AC3E}">
        <p14:creationId xmlns:p14="http://schemas.microsoft.com/office/powerpoint/2010/main" val="3956568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 name="Google Shape;7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pic>
        <p:nvPicPr>
          <p:cNvPr id="12" name="Google Shape;12;p7"/>
          <p:cNvPicPr preferRelativeResize="0"/>
          <p:nvPr/>
        </p:nvPicPr>
        <p:blipFill rotWithShape="1">
          <a:blip r:embed="rId2">
            <a:alphaModFix/>
          </a:blip>
          <a:srcRect/>
          <a:stretch/>
        </p:blipFill>
        <p:spPr>
          <a:xfrm>
            <a:off x="5013" y="0"/>
            <a:ext cx="12181974" cy="6858000"/>
          </a:xfrm>
          <a:prstGeom prst="rect">
            <a:avLst/>
          </a:prstGeom>
          <a:noFill/>
          <a:ln>
            <a:noFill/>
          </a:ln>
        </p:spPr>
      </p:pic>
      <p:sp>
        <p:nvSpPr>
          <p:cNvPr id="13" name="Google Shape;13;p7"/>
          <p:cNvSpPr txBox="1">
            <a:spLocks noGrp="1"/>
          </p:cNvSpPr>
          <p:nvPr>
            <p:ph type="ctrTitle"/>
          </p:nvPr>
        </p:nvSpPr>
        <p:spPr>
          <a:xfrm>
            <a:off x="1524000" y="1122363"/>
            <a:ext cx="9144000" cy="1936426"/>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b="1">
                <a:latin typeface="Helvetica" pitchFamily="2" charset="0"/>
                <a:ea typeface="Helvetica" pitchFamily="2"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4" name="Google Shape;14;p7"/>
          <p:cNvSpPr txBox="1">
            <a:spLocks noGrp="1"/>
          </p:cNvSpPr>
          <p:nvPr>
            <p:ph type="subTitle" idx="1"/>
          </p:nvPr>
        </p:nvSpPr>
        <p:spPr>
          <a:xfrm>
            <a:off x="1524000" y="3178688"/>
            <a:ext cx="9144000" cy="50062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Helvetica" pitchFamily="2" charset="0"/>
                <a:ea typeface="Helvetica" pitchFamily="2" charset="0"/>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sp>
        <p:nvSpPr>
          <p:cNvPr id="6" name="Rectangle 5">
            <a:extLst>
              <a:ext uri="{FF2B5EF4-FFF2-40B4-BE49-F238E27FC236}">
                <a16:creationId xmlns:a16="http://schemas.microsoft.com/office/drawing/2014/main" id="{0BF22F04-4BC9-41E2-B353-830397417302}"/>
              </a:ext>
            </a:extLst>
          </p:cNvPr>
          <p:cNvSpPr/>
          <p:nvPr userDrawn="1"/>
        </p:nvSpPr>
        <p:spPr>
          <a:xfrm>
            <a:off x="4058520" y="5231177"/>
            <a:ext cx="4063504" cy="9365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pic>
        <p:nvPicPr>
          <p:cNvPr id="5" name="Picture 2" descr="Inicio – 10 - Universidad Tecnológica del Perú - UTP – Colegio Anglo  Americano Prescott">
            <a:extLst>
              <a:ext uri="{FF2B5EF4-FFF2-40B4-BE49-F238E27FC236}">
                <a16:creationId xmlns:a16="http://schemas.microsoft.com/office/drawing/2014/main" id="{4E2C1613-F647-4454-932D-F9B6B9380A9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921555" y="5135036"/>
            <a:ext cx="4173573" cy="10928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29555-3685-4E25-8B53-D766AA066161}"/>
              </a:ext>
            </a:extLst>
          </p:cNvPr>
          <p:cNvSpPr>
            <a:spLocks noGrp="1"/>
          </p:cNvSpPr>
          <p:nvPr>
            <p:ph type="title"/>
          </p:nvPr>
        </p:nvSpPr>
        <p:spPr>
          <a:xfrm>
            <a:off x="838200" y="849745"/>
            <a:ext cx="10515600" cy="785528"/>
          </a:xfrm>
        </p:spPr>
        <p:txBody>
          <a:bodyPr>
            <a:normAutofit/>
          </a:bodyPr>
          <a:lstStyle>
            <a:lvl1pPr>
              <a:defRPr sz="4400" b="1">
                <a:solidFill>
                  <a:srgbClr val="D3052C"/>
                </a:solidFill>
                <a:latin typeface="Helvetica" pitchFamily="2"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AA88F942-990C-4C84-A1C3-F5F0BCBF93E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‹Nº›</a:t>
            </a:fld>
            <a:endParaRPr lang="es-PE"/>
          </a:p>
        </p:txBody>
      </p:sp>
      <p:sp>
        <p:nvSpPr>
          <p:cNvPr id="8" name="Content Placeholder 7">
            <a:extLst>
              <a:ext uri="{FF2B5EF4-FFF2-40B4-BE49-F238E27FC236}">
                <a16:creationId xmlns:a16="http://schemas.microsoft.com/office/drawing/2014/main" id="{368538E7-9E81-474C-AD3B-32C2198C15F0}"/>
              </a:ext>
            </a:extLst>
          </p:cNvPr>
          <p:cNvSpPr>
            <a:spLocks noGrp="1"/>
          </p:cNvSpPr>
          <p:nvPr>
            <p:ph sz="quarter" idx="13"/>
          </p:nvPr>
        </p:nvSpPr>
        <p:spPr>
          <a:xfrm>
            <a:off x="838200" y="1846263"/>
            <a:ext cx="10515600" cy="4373562"/>
          </a:xfrm>
        </p:spPr>
        <p:txBody>
          <a:bodyPr/>
          <a:lstStyle>
            <a:lvl1pPr>
              <a:lnSpc>
                <a:spcPct val="100000"/>
              </a:lnSpc>
              <a:defRPr>
                <a:latin typeface="Helvetica" pitchFamily="2" charset="0"/>
              </a:defRPr>
            </a:lvl1pPr>
            <a:lvl2pPr>
              <a:lnSpc>
                <a:spcPct val="100000"/>
              </a:lnSpc>
              <a:defRPr>
                <a:latin typeface="Helvetica" pitchFamily="2" charset="0"/>
              </a:defRPr>
            </a:lvl2pPr>
            <a:lvl3pPr>
              <a:lnSpc>
                <a:spcPct val="100000"/>
              </a:lnSpc>
              <a:defRPr>
                <a:latin typeface="Helvetica" pitchFamily="2" charset="0"/>
              </a:defRPr>
            </a:lvl3pPr>
            <a:lvl4pPr>
              <a:lnSpc>
                <a:spcPct val="100000"/>
              </a:lnSpc>
              <a:defRPr>
                <a:latin typeface="Helvetica" pitchFamily="2" charset="0"/>
              </a:defRPr>
            </a:lvl4pPr>
            <a:lvl5pPr>
              <a:lnSpc>
                <a:spcPct val="100000"/>
              </a:lnSpc>
              <a:defRPr>
                <a:latin typeface="Helvetica"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6" name="Picture 2" descr="Inicio – 10 - Universidad Tecnológica del Perú - UTP – Colegio Anglo  Americano Prescott">
            <a:extLst>
              <a:ext uri="{FF2B5EF4-FFF2-40B4-BE49-F238E27FC236}">
                <a16:creationId xmlns:a16="http://schemas.microsoft.com/office/drawing/2014/main" id="{322DE48A-2D4F-4873-8D66-AF7F3593CA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466428" y="136525"/>
            <a:ext cx="1559859" cy="401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83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olo el título" preserve="1" userDrawn="1">
  <p:cSld name="2_Solo el título">
    <p:bg>
      <p:bgPr>
        <a:solidFill>
          <a:schemeClr val="accent4">
            <a:lumMod val="20000"/>
            <a:lumOff val="80000"/>
          </a:schemeClr>
        </a:solidFill>
        <a:effectLst/>
      </p:bgPr>
    </p:bg>
    <p:spTree>
      <p:nvGrpSpPr>
        <p:cNvPr id="1" name="Shape 15"/>
        <p:cNvGrpSpPr/>
        <p:nvPr/>
      </p:nvGrpSpPr>
      <p:grpSpPr>
        <a:xfrm>
          <a:off x="0" y="0"/>
          <a:ext cx="0" cy="0"/>
          <a:chOff x="0" y="0"/>
          <a:chExt cx="0" cy="0"/>
        </a:xfrm>
      </p:grpSpPr>
      <p:pic>
        <p:nvPicPr>
          <p:cNvPr id="5" name="Picture 2" descr="Inicio – 10 - Universidad Tecnológica del Perú - UTP – Colegio Anglo  Americano Prescott">
            <a:extLst>
              <a:ext uri="{FF2B5EF4-FFF2-40B4-BE49-F238E27FC236}">
                <a16:creationId xmlns:a16="http://schemas.microsoft.com/office/drawing/2014/main" id="{240F2624-FBFA-46AE-9892-D42C673614F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452847" y="141009"/>
            <a:ext cx="1559859" cy="401339"/>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a:extLst>
              <a:ext uri="{FF2B5EF4-FFF2-40B4-BE49-F238E27FC236}">
                <a16:creationId xmlns:a16="http://schemas.microsoft.com/office/drawing/2014/main" id="{835F4D67-4966-C21F-A09E-7658BEBF99DD}"/>
              </a:ext>
            </a:extLst>
          </p:cNvPr>
          <p:cNvSpPr>
            <a:spLocks noGrp="1"/>
          </p:cNvSpPr>
          <p:nvPr>
            <p:ph type="title"/>
          </p:nvPr>
        </p:nvSpPr>
        <p:spPr>
          <a:xfrm>
            <a:off x="838200" y="868217"/>
            <a:ext cx="10515600" cy="4959927"/>
          </a:xfrm>
        </p:spPr>
        <p:txBody>
          <a:bodyPr/>
          <a:lstStyle>
            <a:lvl1pPr algn="ctr">
              <a:defRPr b="1">
                <a:solidFill>
                  <a:schemeClr val="bg1">
                    <a:lumMod val="50000"/>
                  </a:schemeClr>
                </a:solidFill>
                <a:latin typeface="Helvetica" pitchFamily="2" charset="0"/>
              </a:defRPr>
            </a:lvl1pPr>
          </a:lstStyle>
          <a:p>
            <a:r>
              <a:rPr lang="en-US"/>
              <a:t>Click to edit Master title style</a:t>
            </a:r>
          </a:p>
        </p:txBody>
      </p:sp>
    </p:spTree>
    <p:extLst>
      <p:ext uri="{BB962C8B-B14F-4D97-AF65-F5344CB8AC3E}">
        <p14:creationId xmlns:p14="http://schemas.microsoft.com/office/powerpoint/2010/main" val="2296670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Encabezado de sección">
  <p:cSld name="1_Encabezado de sección">
    <p:spTree>
      <p:nvGrpSpPr>
        <p:cNvPr id="1" name="Shape 18"/>
        <p:cNvGrpSpPr/>
        <p:nvPr/>
      </p:nvGrpSpPr>
      <p:grpSpPr>
        <a:xfrm>
          <a:off x="0" y="0"/>
          <a:ext cx="0" cy="0"/>
          <a:chOff x="0" y="0"/>
          <a:chExt cx="0" cy="0"/>
        </a:xfrm>
      </p:grpSpPr>
      <p:pic>
        <p:nvPicPr>
          <p:cNvPr id="19" name="Google Shape;19;p9"/>
          <p:cNvPicPr preferRelativeResize="0"/>
          <p:nvPr/>
        </p:nvPicPr>
        <p:blipFill rotWithShape="1">
          <a:blip r:embed="rId2">
            <a:alphaModFix/>
          </a:blip>
          <a:srcRect/>
          <a:stretch/>
        </p:blipFill>
        <p:spPr>
          <a:xfrm>
            <a:off x="2467" y="0"/>
            <a:ext cx="12187066" cy="6858000"/>
          </a:xfrm>
          <a:prstGeom prst="rect">
            <a:avLst/>
          </a:prstGeom>
          <a:noFill/>
          <a:ln>
            <a:noFill/>
          </a:ln>
        </p:spPr>
      </p:pic>
      <p:sp>
        <p:nvSpPr>
          <p:cNvPr id="5" name="Rectangle 4">
            <a:extLst>
              <a:ext uri="{FF2B5EF4-FFF2-40B4-BE49-F238E27FC236}">
                <a16:creationId xmlns:a16="http://schemas.microsoft.com/office/drawing/2014/main" id="{6D22FCA6-0FCB-4C91-BEC5-A93A5D856507}"/>
              </a:ext>
            </a:extLst>
          </p:cNvPr>
          <p:cNvSpPr/>
          <p:nvPr userDrawn="1"/>
        </p:nvSpPr>
        <p:spPr>
          <a:xfrm>
            <a:off x="8713694" y="0"/>
            <a:ext cx="3478306" cy="14612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Google Shape;20;p9"/>
          <p:cNvSpPr txBox="1">
            <a:spLocks noGrp="1"/>
          </p:cNvSpPr>
          <p:nvPr>
            <p:ph type="body" idx="1"/>
          </p:nvPr>
        </p:nvSpPr>
        <p:spPr>
          <a:xfrm>
            <a:off x="831850" y="469339"/>
            <a:ext cx="10515600" cy="562031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latin typeface="Arial"/>
                <a:ea typeface="Arial"/>
                <a:cs typeface="Arial"/>
                <a:sym typeface="Aria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1" name="Google Shape;21;p9"/>
          <p:cNvSpPr txBox="1"/>
          <p:nvPr/>
        </p:nvSpPr>
        <p:spPr>
          <a:xfrm>
            <a:off x="831850" y="6457444"/>
            <a:ext cx="10515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400" b="0" i="0" u="none" strike="noStrike" cap="none">
                <a:solidFill>
                  <a:schemeClr val="lt1"/>
                </a:solidFill>
                <a:latin typeface="Arial"/>
                <a:ea typeface="Arial"/>
                <a:cs typeface="Arial"/>
                <a:sym typeface="Arial"/>
              </a:rPr>
              <a:t>Datos/Observaciones</a:t>
            </a:r>
            <a:endParaRPr/>
          </a:p>
        </p:txBody>
      </p:sp>
      <p:pic>
        <p:nvPicPr>
          <p:cNvPr id="6" name="Picture 2" descr="Inicio – 10 - Universidad Tecnológica del Perú - UTP – Colegio Anglo  Americano Prescott">
            <a:extLst>
              <a:ext uri="{FF2B5EF4-FFF2-40B4-BE49-F238E27FC236}">
                <a16:creationId xmlns:a16="http://schemas.microsoft.com/office/drawing/2014/main" id="{1B93EADB-A85F-4945-BEEA-1073EED2962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452847" y="122286"/>
            <a:ext cx="1559859" cy="4013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cabezado de sección">
  <p:cSld name="Encabezado de sección">
    <p:spTree>
      <p:nvGrpSpPr>
        <p:cNvPr id="1" name="Shape 22"/>
        <p:cNvGrpSpPr/>
        <p:nvPr/>
      </p:nvGrpSpPr>
      <p:grpSpPr>
        <a:xfrm>
          <a:off x="0" y="0"/>
          <a:ext cx="0" cy="0"/>
          <a:chOff x="0" y="0"/>
          <a:chExt cx="0" cy="0"/>
        </a:xfrm>
      </p:grpSpPr>
      <p:pic>
        <p:nvPicPr>
          <p:cNvPr id="23" name="Google Shape;23;p10"/>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5" name="Rectangle 4">
            <a:extLst>
              <a:ext uri="{FF2B5EF4-FFF2-40B4-BE49-F238E27FC236}">
                <a16:creationId xmlns:a16="http://schemas.microsoft.com/office/drawing/2014/main" id="{345ECD6E-A13D-41C4-A8AA-AC936BA167FF}"/>
              </a:ext>
            </a:extLst>
          </p:cNvPr>
          <p:cNvSpPr/>
          <p:nvPr userDrawn="1"/>
        </p:nvSpPr>
        <p:spPr>
          <a:xfrm>
            <a:off x="8713694" y="0"/>
            <a:ext cx="3478306" cy="14612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Google Shape;24;p10"/>
          <p:cNvSpPr txBox="1">
            <a:spLocks noGrp="1"/>
          </p:cNvSpPr>
          <p:nvPr>
            <p:ph type="body" idx="1"/>
          </p:nvPr>
        </p:nvSpPr>
        <p:spPr>
          <a:xfrm>
            <a:off x="831850" y="469339"/>
            <a:ext cx="10515600" cy="562031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latin typeface="Arial"/>
                <a:ea typeface="Arial"/>
                <a:cs typeface="Arial"/>
                <a:sym typeface="Aria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dirty="0"/>
          </a:p>
        </p:txBody>
      </p:sp>
      <p:sp>
        <p:nvSpPr>
          <p:cNvPr id="25" name="Google Shape;25;p10"/>
          <p:cNvSpPr txBox="1">
            <a:spLocks noGrp="1"/>
          </p:cNvSpPr>
          <p:nvPr>
            <p:ph type="body" idx="2"/>
          </p:nvPr>
        </p:nvSpPr>
        <p:spPr>
          <a:xfrm>
            <a:off x="831850" y="6382418"/>
            <a:ext cx="10515600" cy="27429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solidFill>
                  <a:schemeClr val="lt1"/>
                </a:solidFill>
                <a:latin typeface="Arial"/>
                <a:ea typeface="Arial"/>
                <a:cs typeface="Arial"/>
                <a:sym typeface="Aria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pic>
        <p:nvPicPr>
          <p:cNvPr id="6" name="Picture 2" descr="Inicio – 10 - Universidad Tecnológica del Perú - UTP – Colegio Anglo  Americano Prescott">
            <a:extLst>
              <a:ext uri="{FF2B5EF4-FFF2-40B4-BE49-F238E27FC236}">
                <a16:creationId xmlns:a16="http://schemas.microsoft.com/office/drawing/2014/main" id="{E630A3B5-109D-4437-9425-DCBCCE7F66F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452847" y="122286"/>
            <a:ext cx="1559859" cy="4013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Solo el título">
  <p:cSld name="1_Solo el título">
    <p:spTree>
      <p:nvGrpSpPr>
        <p:cNvPr id="1" name="Shape 26"/>
        <p:cNvGrpSpPr/>
        <p:nvPr/>
      </p:nvGrpSpPr>
      <p:grpSpPr>
        <a:xfrm>
          <a:off x="0" y="0"/>
          <a:ext cx="0" cy="0"/>
          <a:chOff x="0" y="0"/>
          <a:chExt cx="0" cy="0"/>
        </a:xfrm>
      </p:grpSpPr>
      <p:pic>
        <p:nvPicPr>
          <p:cNvPr id="27" name="Google Shape;27;p11"/>
          <p:cNvPicPr preferRelativeResize="0"/>
          <p:nvPr/>
        </p:nvPicPr>
        <p:blipFill rotWithShape="1">
          <a:blip r:embed="rId2">
            <a:alphaModFix/>
          </a:blip>
          <a:srcRect/>
          <a:stretch/>
        </p:blipFill>
        <p:spPr>
          <a:xfrm>
            <a:off x="5639" y="0"/>
            <a:ext cx="12180722" cy="6858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ido con título">
  <p:cSld name="Contenido con título">
    <p:spTree>
      <p:nvGrpSpPr>
        <p:cNvPr id="1" name="Shape 28"/>
        <p:cNvGrpSpPr/>
        <p:nvPr/>
      </p:nvGrpSpPr>
      <p:grpSpPr>
        <a:xfrm>
          <a:off x="0" y="0"/>
          <a:ext cx="0" cy="0"/>
          <a:chOff x="0" y="0"/>
          <a:chExt cx="0" cy="0"/>
        </a:xfrm>
      </p:grpSpPr>
      <p:pic>
        <p:nvPicPr>
          <p:cNvPr id="29" name="Google Shape;29;p12"/>
          <p:cNvPicPr preferRelativeResize="0"/>
          <p:nvPr/>
        </p:nvPicPr>
        <p:blipFill rotWithShape="1">
          <a:blip r:embed="rId2">
            <a:alphaModFix/>
          </a:blip>
          <a:srcRect/>
          <a:stretch/>
        </p:blipFill>
        <p:spPr>
          <a:xfrm>
            <a:off x="5013" y="0"/>
            <a:ext cx="12181974" cy="6858000"/>
          </a:xfrm>
          <a:prstGeom prst="rect">
            <a:avLst/>
          </a:prstGeom>
          <a:noFill/>
          <a:ln>
            <a:noFill/>
          </a:ln>
        </p:spPr>
      </p:pic>
      <p:sp>
        <p:nvSpPr>
          <p:cNvPr id="30" name="Google Shape;30;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Contenido con título">
  <p:cSld name="1_Contenido con título">
    <p:spTree>
      <p:nvGrpSpPr>
        <p:cNvPr id="1" name="Shape 31"/>
        <p:cNvGrpSpPr/>
        <p:nvPr/>
      </p:nvGrpSpPr>
      <p:grpSpPr>
        <a:xfrm>
          <a:off x="0" y="0"/>
          <a:ext cx="0" cy="0"/>
          <a:chOff x="0" y="0"/>
          <a:chExt cx="0" cy="0"/>
        </a:xfrm>
      </p:grpSpPr>
      <p:pic>
        <p:nvPicPr>
          <p:cNvPr id="32" name="Google Shape;32;p13"/>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33" name="Google Shape;33;p1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Contenido con título">
  <p:cSld name="2_Contenido con título">
    <p:spTree>
      <p:nvGrpSpPr>
        <p:cNvPr id="1" name="Shape 34"/>
        <p:cNvGrpSpPr/>
        <p:nvPr/>
      </p:nvGrpSpPr>
      <p:grpSpPr>
        <a:xfrm>
          <a:off x="0" y="0"/>
          <a:ext cx="0" cy="0"/>
          <a:chOff x="0" y="0"/>
          <a:chExt cx="0" cy="0"/>
        </a:xfrm>
      </p:grpSpPr>
      <p:pic>
        <p:nvPicPr>
          <p:cNvPr id="35" name="Google Shape;35;p14"/>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36" name="Google Shape;3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Contenido con título">
  <p:cSld name="3_Contenido con título">
    <p:spTree>
      <p:nvGrpSpPr>
        <p:cNvPr id="1" name="Shape 37"/>
        <p:cNvGrpSpPr/>
        <p:nvPr/>
      </p:nvGrpSpPr>
      <p:grpSpPr>
        <a:xfrm>
          <a:off x="0" y="0"/>
          <a:ext cx="0" cy="0"/>
          <a:chOff x="0" y="0"/>
          <a:chExt cx="0" cy="0"/>
        </a:xfrm>
      </p:grpSpPr>
      <p:pic>
        <p:nvPicPr>
          <p:cNvPr id="38" name="Google Shape;38;p15"/>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39" name="Google Shape;39;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_Contenido con título">
  <p:cSld name="4_Contenido con título">
    <p:spTree>
      <p:nvGrpSpPr>
        <p:cNvPr id="1" name="Shape 40"/>
        <p:cNvGrpSpPr/>
        <p:nvPr/>
      </p:nvGrpSpPr>
      <p:grpSpPr>
        <a:xfrm>
          <a:off x="0" y="0"/>
          <a:ext cx="0" cy="0"/>
          <a:chOff x="0" y="0"/>
          <a:chExt cx="0" cy="0"/>
        </a:xfrm>
      </p:grpSpPr>
      <p:pic>
        <p:nvPicPr>
          <p:cNvPr id="41" name="Google Shape;41;p16"/>
          <p:cNvPicPr preferRelativeResize="0"/>
          <p:nvPr/>
        </p:nvPicPr>
        <p:blipFill rotWithShape="1">
          <a:blip r:embed="rId2">
            <a:alphaModFix/>
          </a:blip>
          <a:srcRect/>
          <a:stretch/>
        </p:blipFill>
        <p:spPr>
          <a:xfrm>
            <a:off x="5013" y="0"/>
            <a:ext cx="12181974" cy="6858000"/>
          </a:xfrm>
          <a:prstGeom prst="rect">
            <a:avLst/>
          </a:prstGeom>
          <a:noFill/>
          <a:ln>
            <a:noFill/>
          </a:ln>
        </p:spPr>
      </p:pic>
      <p:sp>
        <p:nvSpPr>
          <p:cNvPr id="42" name="Google Shape;42;p1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5_Contenido con título">
  <p:cSld name="5_Contenido con título">
    <p:spTree>
      <p:nvGrpSpPr>
        <p:cNvPr id="1" name="Shape 43"/>
        <p:cNvGrpSpPr/>
        <p:nvPr/>
      </p:nvGrpSpPr>
      <p:grpSpPr>
        <a:xfrm>
          <a:off x="0" y="0"/>
          <a:ext cx="0" cy="0"/>
          <a:chOff x="0" y="0"/>
          <a:chExt cx="0" cy="0"/>
        </a:xfrm>
      </p:grpSpPr>
      <p:pic>
        <p:nvPicPr>
          <p:cNvPr id="44" name="Google Shape;44;p17"/>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45" name="Google Shape;45;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6_Contenido con título">
  <p:cSld name="6_Contenido con título">
    <p:spTree>
      <p:nvGrpSpPr>
        <p:cNvPr id="1" name="Shape 46"/>
        <p:cNvGrpSpPr/>
        <p:nvPr/>
      </p:nvGrpSpPr>
      <p:grpSpPr>
        <a:xfrm>
          <a:off x="0" y="0"/>
          <a:ext cx="0" cy="0"/>
          <a:chOff x="0" y="0"/>
          <a:chExt cx="0" cy="0"/>
        </a:xfrm>
      </p:grpSpPr>
      <p:pic>
        <p:nvPicPr>
          <p:cNvPr id="47" name="Google Shape;47;p18"/>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48" name="Google Shape;4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7_Contenido con título">
  <p:cSld name="7_Contenido con título">
    <p:spTree>
      <p:nvGrpSpPr>
        <p:cNvPr id="1" name="Shape 49"/>
        <p:cNvGrpSpPr/>
        <p:nvPr/>
      </p:nvGrpSpPr>
      <p:grpSpPr>
        <a:xfrm>
          <a:off x="0" y="0"/>
          <a:ext cx="0" cy="0"/>
          <a:chOff x="0" y="0"/>
          <a:chExt cx="0" cy="0"/>
        </a:xfrm>
      </p:grpSpPr>
      <p:pic>
        <p:nvPicPr>
          <p:cNvPr id="50" name="Google Shape;50;p19"/>
          <p:cNvPicPr preferRelativeResize="0"/>
          <p:nvPr/>
        </p:nvPicPr>
        <p:blipFill rotWithShape="1">
          <a:blip r:embed="rId2">
            <a:alphaModFix/>
          </a:blip>
          <a:srcRect/>
          <a:stretch/>
        </p:blipFill>
        <p:spPr>
          <a:xfrm>
            <a:off x="5013" y="0"/>
            <a:ext cx="12181974" cy="6858000"/>
          </a:xfrm>
          <a:prstGeom prst="rect">
            <a:avLst/>
          </a:prstGeom>
          <a:noFill/>
          <a:ln>
            <a:noFill/>
          </a:ln>
        </p:spPr>
      </p:pic>
      <p:sp>
        <p:nvSpPr>
          <p:cNvPr id="51" name="Google Shape;51;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8_Contenido con título">
  <p:cSld name="8_Contenido con título">
    <p:spTree>
      <p:nvGrpSpPr>
        <p:cNvPr id="1" name="Shape 52"/>
        <p:cNvGrpSpPr/>
        <p:nvPr/>
      </p:nvGrpSpPr>
      <p:grpSpPr>
        <a:xfrm>
          <a:off x="0" y="0"/>
          <a:ext cx="0" cy="0"/>
          <a:chOff x="0" y="0"/>
          <a:chExt cx="0" cy="0"/>
        </a:xfrm>
      </p:grpSpPr>
      <p:pic>
        <p:nvPicPr>
          <p:cNvPr id="53" name="Google Shape;53;p20"/>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54" name="Google Shape;54;p2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9_Contenido con título">
  <p:cSld name="9_Contenido con título">
    <p:spTree>
      <p:nvGrpSpPr>
        <p:cNvPr id="1" name="Shape 55"/>
        <p:cNvGrpSpPr/>
        <p:nvPr/>
      </p:nvGrpSpPr>
      <p:grpSpPr>
        <a:xfrm>
          <a:off x="0" y="0"/>
          <a:ext cx="0" cy="0"/>
          <a:chOff x="0" y="0"/>
          <a:chExt cx="0" cy="0"/>
        </a:xfrm>
      </p:grpSpPr>
      <p:pic>
        <p:nvPicPr>
          <p:cNvPr id="56" name="Google Shape;56;p21"/>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57" name="Google Shape;57;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0_Contenido con título">
  <p:cSld name="10_Contenido con título">
    <p:spTree>
      <p:nvGrpSpPr>
        <p:cNvPr id="1" name="Shape 58"/>
        <p:cNvGrpSpPr/>
        <p:nvPr/>
      </p:nvGrpSpPr>
      <p:grpSpPr>
        <a:xfrm>
          <a:off x="0" y="0"/>
          <a:ext cx="0" cy="0"/>
          <a:chOff x="0" y="0"/>
          <a:chExt cx="0" cy="0"/>
        </a:xfrm>
      </p:grpSpPr>
      <p:pic>
        <p:nvPicPr>
          <p:cNvPr id="59" name="Google Shape;59;p22"/>
          <p:cNvPicPr preferRelativeResize="0"/>
          <p:nvPr/>
        </p:nvPicPr>
        <p:blipFill rotWithShape="1">
          <a:blip r:embed="rId2">
            <a:alphaModFix/>
          </a:blip>
          <a:srcRect/>
          <a:stretch/>
        </p:blipFill>
        <p:spPr>
          <a:xfrm>
            <a:off x="0" y="352"/>
            <a:ext cx="12192000" cy="6857295"/>
          </a:xfrm>
          <a:prstGeom prst="rect">
            <a:avLst/>
          </a:prstGeom>
          <a:noFill/>
          <a:ln>
            <a:noFill/>
          </a:ln>
        </p:spPr>
      </p:pic>
      <p:sp>
        <p:nvSpPr>
          <p:cNvPr id="60" name="Google Shape;60;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3200"/>
              <a:buNone/>
              <a:defRPr sz="3200">
                <a:solidFill>
                  <a:srgbClr val="7F7F7F"/>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dirty="0"/>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12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12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12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12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12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12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12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PE"/>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66" r:id="rId2"/>
    <p:sldLayoutId id="2147483665"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1" i="0" u="none" strike="noStrike" cap="none">
          <a:solidFill>
            <a:srgbClr val="D3052C"/>
          </a:solidFill>
          <a:latin typeface="Helvetica" pitchFamily="2" charset="0"/>
          <a:ea typeface="Helvetica" pitchFamily="2"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elvetica" pitchFamily="2" charset="0"/>
          <a:ea typeface="Helvetica" pitchFamily="2"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7" name="Freeform: Shape 6">
            <a:extLst>
              <a:ext uri="{FF2B5EF4-FFF2-40B4-BE49-F238E27FC236}">
                <a16:creationId xmlns:a16="http://schemas.microsoft.com/office/drawing/2014/main" id="{4996C790-6468-2096-DC96-223AAF4804CF}"/>
              </a:ext>
            </a:extLst>
          </p:cNvPr>
          <p:cNvSpPr/>
          <p:nvPr/>
        </p:nvSpPr>
        <p:spPr>
          <a:xfrm>
            <a:off x="-9236" y="-13581"/>
            <a:ext cx="12210289" cy="6871581"/>
          </a:xfrm>
          <a:custGeom>
            <a:avLst/>
            <a:gdLst>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85277"/>
              <a:gd name="connsiteY0" fmla="*/ 3802455 h 6871580"/>
              <a:gd name="connsiteX1" fmla="*/ 9190 w 12385277"/>
              <a:gd name="connsiteY1" fmla="*/ 6871580 h 6871580"/>
              <a:gd name="connsiteX2" fmla="*/ 9587756 w 12385277"/>
              <a:gd name="connsiteY2" fmla="*/ 6871580 h 6871580"/>
              <a:gd name="connsiteX3" fmla="*/ 12385277 w 12385277"/>
              <a:gd name="connsiteY3" fmla="*/ 2236205 h 6871580"/>
              <a:gd name="connsiteX4" fmla="*/ 12385277 w 12385277"/>
              <a:gd name="connsiteY4" fmla="*/ 0 h 6871580"/>
              <a:gd name="connsiteX5" fmla="*/ 8265950 w 12385277"/>
              <a:gd name="connsiteY5" fmla="*/ 0 h 6871580"/>
              <a:gd name="connsiteX6" fmla="*/ 0 w 12385277"/>
              <a:gd name="connsiteY6" fmla="*/ 3802455 h 6871580"/>
              <a:gd name="connsiteX0" fmla="*/ 0 w 12385277"/>
              <a:gd name="connsiteY0" fmla="*/ 3802455 h 6871580"/>
              <a:gd name="connsiteX1" fmla="*/ 9190 w 12385277"/>
              <a:gd name="connsiteY1" fmla="*/ 6871580 h 6871580"/>
              <a:gd name="connsiteX2" fmla="*/ 9587756 w 12385277"/>
              <a:gd name="connsiteY2" fmla="*/ 6871580 h 6871580"/>
              <a:gd name="connsiteX3" fmla="*/ 12385277 w 12385277"/>
              <a:gd name="connsiteY3" fmla="*/ 2236205 h 6871580"/>
              <a:gd name="connsiteX4" fmla="*/ 12385277 w 12385277"/>
              <a:gd name="connsiteY4" fmla="*/ 0 h 6871580"/>
              <a:gd name="connsiteX5" fmla="*/ 8265950 w 12385277"/>
              <a:gd name="connsiteY5" fmla="*/ 0 h 6871580"/>
              <a:gd name="connsiteX6" fmla="*/ 0 w 12385277"/>
              <a:gd name="connsiteY6" fmla="*/ 3802455 h 6871580"/>
              <a:gd name="connsiteX0" fmla="*/ 0 w 12394652"/>
              <a:gd name="connsiteY0" fmla="*/ 3543837 h 6871580"/>
              <a:gd name="connsiteX1" fmla="*/ 18565 w 12394652"/>
              <a:gd name="connsiteY1" fmla="*/ 6871580 h 6871580"/>
              <a:gd name="connsiteX2" fmla="*/ 9597131 w 12394652"/>
              <a:gd name="connsiteY2" fmla="*/ 6871580 h 6871580"/>
              <a:gd name="connsiteX3" fmla="*/ 12394652 w 12394652"/>
              <a:gd name="connsiteY3" fmla="*/ 2236205 h 6871580"/>
              <a:gd name="connsiteX4" fmla="*/ 12394652 w 12394652"/>
              <a:gd name="connsiteY4" fmla="*/ 0 h 6871580"/>
              <a:gd name="connsiteX5" fmla="*/ 8275325 w 12394652"/>
              <a:gd name="connsiteY5" fmla="*/ 0 h 6871580"/>
              <a:gd name="connsiteX6" fmla="*/ 0 w 12394652"/>
              <a:gd name="connsiteY6" fmla="*/ 3543837 h 6871580"/>
              <a:gd name="connsiteX0" fmla="*/ 0 w 12394652"/>
              <a:gd name="connsiteY0" fmla="*/ 3543837 h 6899290"/>
              <a:gd name="connsiteX1" fmla="*/ 18565 w 12394652"/>
              <a:gd name="connsiteY1" fmla="*/ 6871580 h 6899290"/>
              <a:gd name="connsiteX2" fmla="*/ 10412828 w 12394652"/>
              <a:gd name="connsiteY2" fmla="*/ 6899290 h 6899290"/>
              <a:gd name="connsiteX3" fmla="*/ 12394652 w 12394652"/>
              <a:gd name="connsiteY3" fmla="*/ 2236205 h 6899290"/>
              <a:gd name="connsiteX4" fmla="*/ 12394652 w 12394652"/>
              <a:gd name="connsiteY4" fmla="*/ 0 h 6899290"/>
              <a:gd name="connsiteX5" fmla="*/ 8275325 w 12394652"/>
              <a:gd name="connsiteY5" fmla="*/ 0 h 6899290"/>
              <a:gd name="connsiteX6" fmla="*/ 0 w 12394652"/>
              <a:gd name="connsiteY6" fmla="*/ 3543837 h 6899290"/>
              <a:gd name="connsiteX0" fmla="*/ 0 w 12394652"/>
              <a:gd name="connsiteY0" fmla="*/ 3543837 h 6871581"/>
              <a:gd name="connsiteX1" fmla="*/ 18565 w 12394652"/>
              <a:gd name="connsiteY1" fmla="*/ 6871580 h 6871581"/>
              <a:gd name="connsiteX2" fmla="*/ 10028419 w 12394652"/>
              <a:gd name="connsiteY2" fmla="*/ 6871581 h 6871581"/>
              <a:gd name="connsiteX3" fmla="*/ 12394652 w 12394652"/>
              <a:gd name="connsiteY3" fmla="*/ 2236205 h 6871581"/>
              <a:gd name="connsiteX4" fmla="*/ 12394652 w 12394652"/>
              <a:gd name="connsiteY4" fmla="*/ 0 h 6871581"/>
              <a:gd name="connsiteX5" fmla="*/ 8275325 w 12394652"/>
              <a:gd name="connsiteY5" fmla="*/ 0 h 6871581"/>
              <a:gd name="connsiteX6" fmla="*/ 0 w 12394652"/>
              <a:gd name="connsiteY6" fmla="*/ 3543837 h 6871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94652" h="6871581">
                <a:moveTo>
                  <a:pt x="0" y="3543837"/>
                </a:moveTo>
                <a:cubicBezTo>
                  <a:pt x="3063" y="4566879"/>
                  <a:pt x="15502" y="5848538"/>
                  <a:pt x="18565" y="6871580"/>
                </a:cubicBezTo>
                <a:lnTo>
                  <a:pt x="10028419" y="6871581"/>
                </a:lnTo>
                <a:cubicBezTo>
                  <a:pt x="11310153" y="5444150"/>
                  <a:pt x="11985983" y="4197789"/>
                  <a:pt x="12394652" y="2236205"/>
                </a:cubicBezTo>
                <a:lnTo>
                  <a:pt x="12394652" y="0"/>
                </a:lnTo>
                <a:lnTo>
                  <a:pt x="8275325" y="0"/>
                </a:lnTo>
                <a:cubicBezTo>
                  <a:pt x="8666108" y="4324539"/>
                  <a:pt x="2283555" y="4597057"/>
                  <a:pt x="0" y="3543837"/>
                </a:cubicBezTo>
                <a:close/>
              </a:path>
            </a:pathLst>
          </a:custGeom>
          <a:solidFill>
            <a:schemeClr val="tx2">
              <a:lumMod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Shape 3">
            <a:extLst>
              <a:ext uri="{FF2B5EF4-FFF2-40B4-BE49-F238E27FC236}">
                <a16:creationId xmlns:a16="http://schemas.microsoft.com/office/drawing/2014/main" id="{EFDE1541-A8F6-99CE-A61B-085CFF7C2FE8}"/>
              </a:ext>
            </a:extLst>
          </p:cNvPr>
          <p:cNvSpPr/>
          <p:nvPr/>
        </p:nvSpPr>
        <p:spPr>
          <a:xfrm>
            <a:off x="-9053" y="-13580"/>
            <a:ext cx="12201053" cy="6871580"/>
          </a:xfrm>
          <a:custGeom>
            <a:avLst/>
            <a:gdLst>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85277"/>
              <a:gd name="connsiteY0" fmla="*/ 3802455 h 6871580"/>
              <a:gd name="connsiteX1" fmla="*/ 9190 w 12385277"/>
              <a:gd name="connsiteY1" fmla="*/ 6871580 h 6871580"/>
              <a:gd name="connsiteX2" fmla="*/ 9587756 w 12385277"/>
              <a:gd name="connsiteY2" fmla="*/ 6871580 h 6871580"/>
              <a:gd name="connsiteX3" fmla="*/ 12385277 w 12385277"/>
              <a:gd name="connsiteY3" fmla="*/ 2236205 h 6871580"/>
              <a:gd name="connsiteX4" fmla="*/ 12385277 w 12385277"/>
              <a:gd name="connsiteY4" fmla="*/ 0 h 6871580"/>
              <a:gd name="connsiteX5" fmla="*/ 8265950 w 12385277"/>
              <a:gd name="connsiteY5" fmla="*/ 0 h 6871580"/>
              <a:gd name="connsiteX6" fmla="*/ 0 w 12385277"/>
              <a:gd name="connsiteY6" fmla="*/ 3802455 h 6871580"/>
              <a:gd name="connsiteX0" fmla="*/ 0 w 12385277"/>
              <a:gd name="connsiteY0" fmla="*/ 3802455 h 6871580"/>
              <a:gd name="connsiteX1" fmla="*/ 9190 w 12385277"/>
              <a:gd name="connsiteY1" fmla="*/ 6871580 h 6871580"/>
              <a:gd name="connsiteX2" fmla="*/ 9587756 w 12385277"/>
              <a:gd name="connsiteY2" fmla="*/ 6871580 h 6871580"/>
              <a:gd name="connsiteX3" fmla="*/ 12385277 w 12385277"/>
              <a:gd name="connsiteY3" fmla="*/ 2236205 h 6871580"/>
              <a:gd name="connsiteX4" fmla="*/ 12385277 w 12385277"/>
              <a:gd name="connsiteY4" fmla="*/ 0 h 6871580"/>
              <a:gd name="connsiteX5" fmla="*/ 8265950 w 12385277"/>
              <a:gd name="connsiteY5" fmla="*/ 0 h 6871580"/>
              <a:gd name="connsiteX6" fmla="*/ 0 w 12385277"/>
              <a:gd name="connsiteY6" fmla="*/ 3802455 h 6871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5277" h="6871580">
                <a:moveTo>
                  <a:pt x="0" y="3802455"/>
                </a:moveTo>
                <a:cubicBezTo>
                  <a:pt x="3063" y="4825497"/>
                  <a:pt x="6127" y="5848538"/>
                  <a:pt x="9190" y="6871580"/>
                </a:cubicBezTo>
                <a:lnTo>
                  <a:pt x="9587756" y="6871580"/>
                </a:lnTo>
                <a:cubicBezTo>
                  <a:pt x="10869490" y="5444149"/>
                  <a:pt x="11976608" y="4197789"/>
                  <a:pt x="12385277" y="2236205"/>
                </a:cubicBezTo>
                <a:lnTo>
                  <a:pt x="12385277" y="0"/>
                </a:lnTo>
                <a:lnTo>
                  <a:pt x="8265950" y="0"/>
                </a:lnTo>
                <a:cubicBezTo>
                  <a:pt x="8656733" y="4324539"/>
                  <a:pt x="2283555" y="4855675"/>
                  <a:pt x="0" y="3802455"/>
                </a:cubicBezTo>
                <a:close/>
              </a:path>
            </a:pathLst>
          </a:cu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F66C8B-894E-49C8-97F0-0500C46A7D38}"/>
              </a:ext>
            </a:extLst>
          </p:cNvPr>
          <p:cNvSpPr>
            <a:spLocks noGrp="1"/>
          </p:cNvSpPr>
          <p:nvPr>
            <p:ph type="ctrTitle"/>
          </p:nvPr>
        </p:nvSpPr>
        <p:spPr>
          <a:xfrm>
            <a:off x="653361" y="420110"/>
            <a:ext cx="7361383" cy="1936426"/>
          </a:xfrm>
        </p:spPr>
        <p:txBody>
          <a:bodyPr/>
          <a:lstStyle/>
          <a:p>
            <a:pPr algn="l"/>
            <a:r>
              <a:rPr lang="es-ES" dirty="0"/>
              <a:t>Taller de Programación</a:t>
            </a:r>
            <a:endParaRPr lang="en-US" dirty="0"/>
          </a:p>
        </p:txBody>
      </p:sp>
      <p:sp>
        <p:nvSpPr>
          <p:cNvPr id="3" name="Subtitle 2">
            <a:extLst>
              <a:ext uri="{FF2B5EF4-FFF2-40B4-BE49-F238E27FC236}">
                <a16:creationId xmlns:a16="http://schemas.microsoft.com/office/drawing/2014/main" id="{BA4B3F2A-9181-449D-AA57-948B7B8CEB6F}"/>
              </a:ext>
            </a:extLst>
          </p:cNvPr>
          <p:cNvSpPr>
            <a:spLocks noGrp="1"/>
          </p:cNvSpPr>
          <p:nvPr>
            <p:ph type="subTitle" idx="1"/>
          </p:nvPr>
        </p:nvSpPr>
        <p:spPr>
          <a:xfrm>
            <a:off x="1523999" y="4068577"/>
            <a:ext cx="9144000" cy="500624"/>
          </a:xfrm>
        </p:spPr>
        <p:txBody>
          <a:bodyPr>
            <a:normAutofit fontScale="92500" lnSpcReduction="10000"/>
          </a:bodyPr>
          <a:lstStyle/>
          <a:p>
            <a:endParaRPr lang="en-US" dirty="0"/>
          </a:p>
        </p:txBody>
      </p:sp>
      <p:pic>
        <p:nvPicPr>
          <p:cNvPr id="5" name="Picture 4">
            <a:extLst>
              <a:ext uri="{FF2B5EF4-FFF2-40B4-BE49-F238E27FC236}">
                <a16:creationId xmlns:a16="http://schemas.microsoft.com/office/drawing/2014/main" id="{7377311F-912E-F29A-7CC2-5367F66BE24D}"/>
              </a:ext>
            </a:extLst>
          </p:cNvPr>
          <p:cNvPicPr>
            <a:picLocks noChangeAspect="1"/>
          </p:cNvPicPr>
          <p:nvPr/>
        </p:nvPicPr>
        <p:blipFill rotWithShape="1">
          <a:blip r:embed="rId4"/>
          <a:srcRect r="34114"/>
          <a:stretch/>
        </p:blipFill>
        <p:spPr>
          <a:xfrm>
            <a:off x="4177256" y="5291778"/>
            <a:ext cx="2528344" cy="839943"/>
          </a:xfrm>
          <a:prstGeom prst="rect">
            <a:avLst/>
          </a:prstGeom>
        </p:spPr>
      </p:pic>
      <p:pic>
        <p:nvPicPr>
          <p:cNvPr id="6" name="Picture 5">
            <a:extLst>
              <a:ext uri="{FF2B5EF4-FFF2-40B4-BE49-F238E27FC236}">
                <a16:creationId xmlns:a16="http://schemas.microsoft.com/office/drawing/2014/main" id="{C3EBC89A-FF84-877C-D866-0A9D5D51CCDE}"/>
              </a:ext>
            </a:extLst>
          </p:cNvPr>
          <p:cNvPicPr>
            <a:picLocks noChangeAspect="1"/>
          </p:cNvPicPr>
          <p:nvPr/>
        </p:nvPicPr>
        <p:blipFill rotWithShape="1">
          <a:blip r:embed="rId4">
            <a:lum bright="70000" contrast="-70000"/>
          </a:blip>
          <a:srcRect l="66576"/>
          <a:stretch/>
        </p:blipFill>
        <p:spPr>
          <a:xfrm>
            <a:off x="6732099" y="5291777"/>
            <a:ext cx="1282645" cy="839943"/>
          </a:xfrm>
          <a:prstGeom prst="rect">
            <a:avLst/>
          </a:prstGeom>
        </p:spPr>
      </p:pic>
      <p:sp>
        <p:nvSpPr>
          <p:cNvPr id="8" name="Rectangle 7">
            <a:extLst>
              <a:ext uri="{FF2B5EF4-FFF2-40B4-BE49-F238E27FC236}">
                <a16:creationId xmlns:a16="http://schemas.microsoft.com/office/drawing/2014/main" id="{33B98E4C-CEFA-1581-AF50-FEF751C6337A}"/>
              </a:ext>
            </a:extLst>
          </p:cNvPr>
          <p:cNvSpPr/>
          <p:nvPr/>
        </p:nvSpPr>
        <p:spPr>
          <a:xfrm>
            <a:off x="803564" y="2576945"/>
            <a:ext cx="720435" cy="14778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1110DC5-E042-6864-A9C7-29E21EDB9714}"/>
              </a:ext>
            </a:extLst>
          </p:cNvPr>
          <p:cNvSpPr txBox="1"/>
          <p:nvPr/>
        </p:nvSpPr>
        <p:spPr>
          <a:xfrm>
            <a:off x="-4618" y="6627169"/>
            <a:ext cx="7735454" cy="230832"/>
          </a:xfrm>
          <a:prstGeom prst="rect">
            <a:avLst/>
          </a:prstGeom>
          <a:noFill/>
        </p:spPr>
        <p:txBody>
          <a:bodyPr wrap="square">
            <a:spAutoFit/>
          </a:bodyPr>
          <a:lstStyle/>
          <a:p>
            <a:pPr marL="0" lvl="0" indent="0" algn="l" rtl="0">
              <a:spcBef>
                <a:spcPts val="0"/>
              </a:spcBef>
              <a:spcAft>
                <a:spcPts val="0"/>
              </a:spcAft>
              <a:buNone/>
            </a:pPr>
            <a:r>
              <a:rPr lang="en-US" sz="900" dirty="0">
                <a:solidFill>
                  <a:schemeClr val="bg1">
                    <a:lumMod val="75000"/>
                  </a:schemeClr>
                </a:solidFill>
              </a:rPr>
              <a:t>Imagen </a:t>
            </a:r>
            <a:r>
              <a:rPr lang="en-US" sz="900" dirty="0" err="1">
                <a:solidFill>
                  <a:schemeClr val="bg1">
                    <a:lumMod val="75000"/>
                  </a:schemeClr>
                </a:solidFill>
              </a:rPr>
              <a:t>obtenida</a:t>
            </a:r>
            <a:r>
              <a:rPr lang="en-US" sz="900" dirty="0">
                <a:solidFill>
                  <a:schemeClr val="bg1">
                    <a:lumMod val="75000"/>
                  </a:schemeClr>
                </a:solidFill>
              </a:rPr>
              <a:t> de: https://www.pixelstalk.net/wp-content/uploads/images6/Abstract-Wallpaper-HD-Free-download.png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38BF92A-AC96-82C7-2541-384D79932C67}"/>
              </a:ext>
            </a:extLst>
          </p:cNvPr>
          <p:cNvPicPr>
            <a:picLocks noChangeAspect="1"/>
          </p:cNvPicPr>
          <p:nvPr/>
        </p:nvPicPr>
        <p:blipFill>
          <a:blip r:embed="rId2">
            <a:alphaModFix amt="20000"/>
          </a:blip>
          <a:stretch>
            <a:fillRect/>
          </a:stretch>
        </p:blipFill>
        <p:spPr>
          <a:xfrm>
            <a:off x="5741" y="0"/>
            <a:ext cx="12180517" cy="6858000"/>
          </a:xfrm>
          <a:prstGeom prst="rect">
            <a:avLst/>
          </a:prstGeom>
        </p:spPr>
      </p:pic>
      <p:sp>
        <p:nvSpPr>
          <p:cNvPr id="2" name="Title 1">
            <a:extLst>
              <a:ext uri="{FF2B5EF4-FFF2-40B4-BE49-F238E27FC236}">
                <a16:creationId xmlns:a16="http://schemas.microsoft.com/office/drawing/2014/main" id="{8D6CD7A6-F6AE-1C40-DE2A-751C35C6F98F}"/>
              </a:ext>
            </a:extLst>
          </p:cNvPr>
          <p:cNvSpPr>
            <a:spLocks noGrp="1"/>
          </p:cNvSpPr>
          <p:nvPr>
            <p:ph type="title"/>
          </p:nvPr>
        </p:nvSpPr>
        <p:spPr>
          <a:xfrm>
            <a:off x="838200" y="489528"/>
            <a:ext cx="10515600" cy="785528"/>
          </a:xfrm>
        </p:spPr>
        <p:txBody>
          <a:bodyPr/>
          <a:lstStyle/>
          <a:p>
            <a:r>
              <a:rPr lang="es-ES" dirty="0"/>
              <a:t>Dudas de la clase anterior</a:t>
            </a:r>
            <a:endParaRPr lang="en-US" dirty="0"/>
          </a:p>
        </p:txBody>
      </p:sp>
      <p:sp>
        <p:nvSpPr>
          <p:cNvPr id="3" name="Slide Number Placeholder 2">
            <a:extLst>
              <a:ext uri="{FF2B5EF4-FFF2-40B4-BE49-F238E27FC236}">
                <a16:creationId xmlns:a16="http://schemas.microsoft.com/office/drawing/2014/main" id="{0DAE7DFB-55E6-9372-A4B6-3A1B7375378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2</a:t>
            </a:fld>
            <a:endParaRPr lang="es-PE"/>
          </a:p>
        </p:txBody>
      </p:sp>
      <p:sp>
        <p:nvSpPr>
          <p:cNvPr id="9" name="TextBox 8">
            <a:extLst>
              <a:ext uri="{FF2B5EF4-FFF2-40B4-BE49-F238E27FC236}">
                <a16:creationId xmlns:a16="http://schemas.microsoft.com/office/drawing/2014/main" id="{C97D6CCE-0FDA-BF40-560A-F3269C0C1039}"/>
              </a:ext>
            </a:extLst>
          </p:cNvPr>
          <p:cNvSpPr txBox="1"/>
          <p:nvPr/>
        </p:nvSpPr>
        <p:spPr>
          <a:xfrm>
            <a:off x="156927" y="6344182"/>
            <a:ext cx="6096000" cy="3693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a:t>
            </a:r>
            <a:br>
              <a:rPr lang="en-US" sz="900" dirty="0">
                <a:solidFill>
                  <a:schemeClr val="bg1">
                    <a:lumMod val="50000"/>
                  </a:schemeClr>
                </a:solidFill>
              </a:rPr>
            </a:br>
            <a:r>
              <a:rPr lang="en-US" sz="900" dirty="0">
                <a:solidFill>
                  <a:schemeClr val="bg1">
                    <a:lumMod val="50000"/>
                  </a:schemeClr>
                </a:solidFill>
              </a:rPr>
              <a:t>https://wallpapercave.com/wp/wp8002891.jpg</a:t>
            </a:r>
          </a:p>
        </p:txBody>
      </p:sp>
      <p:sp>
        <p:nvSpPr>
          <p:cNvPr id="10" name="Rectangle: Rounded Corners 9">
            <a:extLst>
              <a:ext uri="{FF2B5EF4-FFF2-40B4-BE49-F238E27FC236}">
                <a16:creationId xmlns:a16="http://schemas.microsoft.com/office/drawing/2014/main" id="{5B33A388-E8AE-CB09-9B02-22F8553FC192}"/>
              </a:ext>
            </a:extLst>
          </p:cNvPr>
          <p:cNvSpPr/>
          <p:nvPr/>
        </p:nvSpPr>
        <p:spPr>
          <a:xfrm>
            <a:off x="3890180" y="1875013"/>
            <a:ext cx="7112638" cy="785529"/>
          </a:xfrm>
          <a:prstGeom prst="roundRect">
            <a:avLst>
              <a:gd name="adj" fmla="val 50000"/>
            </a:avLst>
          </a:prstGeom>
          <a:solidFill>
            <a:srgbClr val="EEC83E">
              <a:alpha val="85000"/>
            </a:srgbClr>
          </a:solidFill>
          <a:ln w="38100">
            <a:solidFill>
              <a:schemeClr val="bg1"/>
            </a:solidFill>
          </a:ln>
          <a:effectLst>
            <a:outerShdw blurRad="127000" dist="889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b="1" dirty="0">
                <a:effectLst>
                  <a:outerShdw blurRad="38100" dist="38100" dir="2700000" algn="tl">
                    <a:srgbClr val="000000">
                      <a:alpha val="43137"/>
                    </a:srgbClr>
                  </a:outerShdw>
                </a:effectLst>
              </a:rPr>
              <a:t>Expresión condicional</a:t>
            </a:r>
            <a:endParaRPr lang="en-US" sz="2800" b="1" dirty="0">
              <a:effectLst>
                <a:outerShdw blurRad="38100" dist="38100" dir="2700000" algn="tl">
                  <a:srgbClr val="000000">
                    <a:alpha val="43137"/>
                  </a:srgbClr>
                </a:outerShdw>
              </a:effectLst>
            </a:endParaRPr>
          </a:p>
        </p:txBody>
      </p:sp>
      <p:sp>
        <p:nvSpPr>
          <p:cNvPr id="11" name="Rectangle: Rounded Corners 10">
            <a:extLst>
              <a:ext uri="{FF2B5EF4-FFF2-40B4-BE49-F238E27FC236}">
                <a16:creationId xmlns:a16="http://schemas.microsoft.com/office/drawing/2014/main" id="{8AA79015-F737-B3F2-CE8E-497B0232BAFB}"/>
              </a:ext>
            </a:extLst>
          </p:cNvPr>
          <p:cNvSpPr/>
          <p:nvPr/>
        </p:nvSpPr>
        <p:spPr>
          <a:xfrm>
            <a:off x="3890180" y="2902195"/>
            <a:ext cx="7112638" cy="785529"/>
          </a:xfrm>
          <a:prstGeom prst="roundRect">
            <a:avLst>
              <a:gd name="adj" fmla="val 50000"/>
            </a:avLst>
          </a:prstGeom>
          <a:solidFill>
            <a:schemeClr val="accent2">
              <a:alpha val="85000"/>
            </a:schemeClr>
          </a:solidFill>
          <a:ln w="38100">
            <a:solidFill>
              <a:schemeClr val="bg1"/>
            </a:solidFill>
          </a:ln>
          <a:effectLst>
            <a:outerShdw blurRad="127000" dist="889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dirty="0" err="1">
                <a:solidFill>
                  <a:schemeClr val="accent2">
                    <a:lumMod val="60000"/>
                    <a:lumOff val="40000"/>
                  </a:schemeClr>
                </a:solidFill>
              </a:rPr>
              <a:t>if</a:t>
            </a:r>
            <a:r>
              <a:rPr lang="es-ES" sz="2800" dirty="0">
                <a:solidFill>
                  <a:schemeClr val="accent2">
                    <a:lumMod val="60000"/>
                    <a:lumOff val="40000"/>
                  </a:schemeClr>
                </a:solidFill>
              </a:rPr>
              <a:t>..</a:t>
            </a:r>
            <a:r>
              <a:rPr lang="es-ES" sz="2800" dirty="0" err="1">
                <a:solidFill>
                  <a:schemeClr val="accent2">
                    <a:lumMod val="60000"/>
                    <a:lumOff val="40000"/>
                  </a:schemeClr>
                </a:solidFill>
              </a:rPr>
              <a:t>else</a:t>
            </a:r>
            <a:endParaRPr lang="en-US" sz="2800" dirty="0">
              <a:solidFill>
                <a:schemeClr val="accent2">
                  <a:lumMod val="60000"/>
                  <a:lumOff val="40000"/>
                </a:schemeClr>
              </a:solidFill>
            </a:endParaRPr>
          </a:p>
        </p:txBody>
      </p:sp>
      <p:sp>
        <p:nvSpPr>
          <p:cNvPr id="12" name="Rectangle: Rounded Corners 11">
            <a:extLst>
              <a:ext uri="{FF2B5EF4-FFF2-40B4-BE49-F238E27FC236}">
                <a16:creationId xmlns:a16="http://schemas.microsoft.com/office/drawing/2014/main" id="{70838A6A-C9AE-3E87-338A-30B98A635CC2}"/>
              </a:ext>
            </a:extLst>
          </p:cNvPr>
          <p:cNvSpPr/>
          <p:nvPr/>
        </p:nvSpPr>
        <p:spPr>
          <a:xfrm>
            <a:off x="3878042" y="3929377"/>
            <a:ext cx="7112638" cy="785529"/>
          </a:xfrm>
          <a:prstGeom prst="roundRect">
            <a:avLst>
              <a:gd name="adj" fmla="val 50000"/>
            </a:avLst>
          </a:prstGeom>
          <a:solidFill>
            <a:srgbClr val="92D050">
              <a:alpha val="85000"/>
            </a:srgbClr>
          </a:solidFill>
          <a:ln w="38100">
            <a:solidFill>
              <a:schemeClr val="bg1"/>
            </a:solidFill>
          </a:ln>
          <a:effectLst>
            <a:outerShdw blurRad="127000" dist="889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dirty="0">
                <a:solidFill>
                  <a:schemeClr val="accent6">
                    <a:lumMod val="40000"/>
                    <a:lumOff val="60000"/>
                  </a:schemeClr>
                </a:solidFill>
              </a:rPr>
              <a:t>switch</a:t>
            </a:r>
            <a:endParaRPr lang="en-US" sz="2800" dirty="0">
              <a:solidFill>
                <a:schemeClr val="accent6">
                  <a:lumMod val="40000"/>
                  <a:lumOff val="60000"/>
                </a:schemeClr>
              </a:solidFill>
            </a:endParaRPr>
          </a:p>
        </p:txBody>
      </p:sp>
      <p:sp>
        <p:nvSpPr>
          <p:cNvPr id="13" name="Rectangle: Rounded Corners 12">
            <a:extLst>
              <a:ext uri="{FF2B5EF4-FFF2-40B4-BE49-F238E27FC236}">
                <a16:creationId xmlns:a16="http://schemas.microsoft.com/office/drawing/2014/main" id="{C486B3DF-024C-51BD-89B9-202119BE0686}"/>
              </a:ext>
            </a:extLst>
          </p:cNvPr>
          <p:cNvSpPr/>
          <p:nvPr/>
        </p:nvSpPr>
        <p:spPr>
          <a:xfrm>
            <a:off x="3878042" y="4958697"/>
            <a:ext cx="7112638" cy="785529"/>
          </a:xfrm>
          <a:prstGeom prst="roundRect">
            <a:avLst>
              <a:gd name="adj" fmla="val 50000"/>
            </a:avLst>
          </a:prstGeom>
          <a:solidFill>
            <a:srgbClr val="00B0F0">
              <a:alpha val="85000"/>
            </a:srgbClr>
          </a:solidFill>
          <a:ln w="38100">
            <a:solidFill>
              <a:schemeClr val="bg1"/>
            </a:solidFill>
          </a:ln>
          <a:effectLst>
            <a:outerShdw blurRad="127000" dist="889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dirty="0">
                <a:solidFill>
                  <a:schemeClr val="accent1">
                    <a:lumMod val="60000"/>
                    <a:lumOff val="40000"/>
                  </a:schemeClr>
                </a:solidFill>
              </a:rPr>
              <a:t>Anidamiento</a:t>
            </a:r>
            <a:endParaRPr lang="en-US" sz="2800" dirty="0">
              <a:solidFill>
                <a:schemeClr val="accent1">
                  <a:lumMod val="60000"/>
                  <a:lumOff val="40000"/>
                </a:schemeClr>
              </a:solidFill>
            </a:endParaRPr>
          </a:p>
        </p:txBody>
      </p:sp>
      <p:sp>
        <p:nvSpPr>
          <p:cNvPr id="7" name="Oval 6">
            <a:extLst>
              <a:ext uri="{FF2B5EF4-FFF2-40B4-BE49-F238E27FC236}">
                <a16:creationId xmlns:a16="http://schemas.microsoft.com/office/drawing/2014/main" id="{5CE48FB7-B59B-7DD6-1EDE-9F73DA45E591}"/>
              </a:ext>
            </a:extLst>
          </p:cNvPr>
          <p:cNvSpPr/>
          <p:nvPr/>
        </p:nvSpPr>
        <p:spPr>
          <a:xfrm>
            <a:off x="838200" y="1576431"/>
            <a:ext cx="4466376" cy="4466376"/>
          </a:xfrm>
          <a:prstGeom prst="ellipse">
            <a:avLst/>
          </a:prstGeom>
          <a:blipFill dpi="0" rotWithShape="1">
            <a:blip r:embed="rId3"/>
            <a:srcRect/>
            <a:tile tx="-901700" ty="-336550" sx="70000" sy="70000" flip="none" algn="tl"/>
          </a:blip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4584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38BF92A-AC96-82C7-2541-384D79932C67}"/>
              </a:ext>
            </a:extLst>
          </p:cNvPr>
          <p:cNvPicPr>
            <a:picLocks noChangeAspect="1"/>
          </p:cNvPicPr>
          <p:nvPr/>
        </p:nvPicPr>
        <p:blipFill>
          <a:blip r:embed="rId2">
            <a:alphaModFix amt="20000"/>
          </a:blip>
          <a:stretch>
            <a:fillRect/>
          </a:stretch>
        </p:blipFill>
        <p:spPr>
          <a:xfrm>
            <a:off x="5741" y="0"/>
            <a:ext cx="12180517" cy="6858000"/>
          </a:xfrm>
          <a:prstGeom prst="rect">
            <a:avLst/>
          </a:prstGeom>
        </p:spPr>
      </p:pic>
      <p:sp>
        <p:nvSpPr>
          <p:cNvPr id="2" name="Title 1">
            <a:extLst>
              <a:ext uri="{FF2B5EF4-FFF2-40B4-BE49-F238E27FC236}">
                <a16:creationId xmlns:a16="http://schemas.microsoft.com/office/drawing/2014/main" id="{8D6CD7A6-F6AE-1C40-DE2A-751C35C6F98F}"/>
              </a:ext>
            </a:extLst>
          </p:cNvPr>
          <p:cNvSpPr>
            <a:spLocks noGrp="1"/>
          </p:cNvSpPr>
          <p:nvPr>
            <p:ph type="title"/>
          </p:nvPr>
        </p:nvSpPr>
        <p:spPr>
          <a:xfrm>
            <a:off x="838200" y="489528"/>
            <a:ext cx="10515600" cy="785528"/>
          </a:xfrm>
        </p:spPr>
        <p:txBody>
          <a:bodyPr/>
          <a:lstStyle/>
          <a:p>
            <a:r>
              <a:rPr lang="es-ES" dirty="0"/>
              <a:t>Dudas de la clase anterior</a:t>
            </a:r>
            <a:endParaRPr lang="en-US" dirty="0"/>
          </a:p>
        </p:txBody>
      </p:sp>
      <p:sp>
        <p:nvSpPr>
          <p:cNvPr id="3" name="Slide Number Placeholder 2">
            <a:extLst>
              <a:ext uri="{FF2B5EF4-FFF2-40B4-BE49-F238E27FC236}">
                <a16:creationId xmlns:a16="http://schemas.microsoft.com/office/drawing/2014/main" id="{0DAE7DFB-55E6-9372-A4B6-3A1B7375378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3</a:t>
            </a:fld>
            <a:endParaRPr lang="es-PE"/>
          </a:p>
        </p:txBody>
      </p:sp>
      <p:sp>
        <p:nvSpPr>
          <p:cNvPr id="9" name="TextBox 8">
            <a:extLst>
              <a:ext uri="{FF2B5EF4-FFF2-40B4-BE49-F238E27FC236}">
                <a16:creationId xmlns:a16="http://schemas.microsoft.com/office/drawing/2014/main" id="{C97D6CCE-0FDA-BF40-560A-F3269C0C1039}"/>
              </a:ext>
            </a:extLst>
          </p:cNvPr>
          <p:cNvSpPr txBox="1"/>
          <p:nvPr/>
        </p:nvSpPr>
        <p:spPr>
          <a:xfrm>
            <a:off x="156927" y="6344182"/>
            <a:ext cx="6096000" cy="3693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a:t>
            </a:r>
            <a:br>
              <a:rPr lang="en-US" sz="900" dirty="0">
                <a:solidFill>
                  <a:schemeClr val="bg1">
                    <a:lumMod val="50000"/>
                  </a:schemeClr>
                </a:solidFill>
              </a:rPr>
            </a:br>
            <a:r>
              <a:rPr lang="en-US" sz="900" dirty="0">
                <a:solidFill>
                  <a:schemeClr val="bg1">
                    <a:lumMod val="50000"/>
                  </a:schemeClr>
                </a:solidFill>
              </a:rPr>
              <a:t>https://wallpapercave.com/wp/wp8002891.jpg</a:t>
            </a:r>
          </a:p>
        </p:txBody>
      </p:sp>
      <p:sp>
        <p:nvSpPr>
          <p:cNvPr id="10" name="Rectangle: Rounded Corners 9">
            <a:extLst>
              <a:ext uri="{FF2B5EF4-FFF2-40B4-BE49-F238E27FC236}">
                <a16:creationId xmlns:a16="http://schemas.microsoft.com/office/drawing/2014/main" id="{5B33A388-E8AE-CB09-9B02-22F8553FC192}"/>
              </a:ext>
            </a:extLst>
          </p:cNvPr>
          <p:cNvSpPr/>
          <p:nvPr/>
        </p:nvSpPr>
        <p:spPr>
          <a:xfrm>
            <a:off x="3890180" y="1875013"/>
            <a:ext cx="7112638" cy="785529"/>
          </a:xfrm>
          <a:prstGeom prst="roundRect">
            <a:avLst>
              <a:gd name="adj" fmla="val 50000"/>
            </a:avLst>
          </a:prstGeom>
          <a:solidFill>
            <a:srgbClr val="EEC83E">
              <a:alpha val="85000"/>
            </a:srgbClr>
          </a:solidFill>
          <a:ln w="38100">
            <a:solidFill>
              <a:schemeClr val="bg1"/>
            </a:solidFill>
          </a:ln>
          <a:effectLst>
            <a:outerShdw blurRad="127000" dist="889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dirty="0">
                <a:solidFill>
                  <a:schemeClr val="accent4">
                    <a:lumMod val="60000"/>
                    <a:lumOff val="40000"/>
                  </a:schemeClr>
                </a:solidFill>
              </a:rPr>
              <a:t>Expresión condicional</a:t>
            </a:r>
            <a:endParaRPr lang="en-US" sz="2800" dirty="0">
              <a:solidFill>
                <a:schemeClr val="accent4">
                  <a:lumMod val="60000"/>
                  <a:lumOff val="40000"/>
                </a:schemeClr>
              </a:solidFill>
            </a:endParaRPr>
          </a:p>
        </p:txBody>
      </p:sp>
      <p:sp>
        <p:nvSpPr>
          <p:cNvPr id="11" name="Rectangle: Rounded Corners 10">
            <a:extLst>
              <a:ext uri="{FF2B5EF4-FFF2-40B4-BE49-F238E27FC236}">
                <a16:creationId xmlns:a16="http://schemas.microsoft.com/office/drawing/2014/main" id="{8AA79015-F737-B3F2-CE8E-497B0232BAFB}"/>
              </a:ext>
            </a:extLst>
          </p:cNvPr>
          <p:cNvSpPr/>
          <p:nvPr/>
        </p:nvSpPr>
        <p:spPr>
          <a:xfrm>
            <a:off x="3890180" y="2902195"/>
            <a:ext cx="7112638" cy="785529"/>
          </a:xfrm>
          <a:prstGeom prst="roundRect">
            <a:avLst>
              <a:gd name="adj" fmla="val 50000"/>
            </a:avLst>
          </a:prstGeom>
          <a:solidFill>
            <a:schemeClr val="accent2">
              <a:alpha val="85000"/>
            </a:schemeClr>
          </a:solidFill>
          <a:ln w="38100">
            <a:solidFill>
              <a:schemeClr val="bg1"/>
            </a:solidFill>
          </a:ln>
          <a:effectLst>
            <a:outerShdw blurRad="127000" dist="889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b="1" dirty="0" err="1">
                <a:effectLst>
                  <a:outerShdw blurRad="38100" dist="38100" dir="2700000" algn="tl">
                    <a:srgbClr val="000000">
                      <a:alpha val="43137"/>
                    </a:srgbClr>
                  </a:outerShdw>
                </a:effectLst>
              </a:rPr>
              <a:t>if</a:t>
            </a:r>
            <a:r>
              <a:rPr lang="es-ES" sz="2800" b="1" dirty="0">
                <a:effectLst>
                  <a:outerShdw blurRad="38100" dist="38100" dir="2700000" algn="tl">
                    <a:srgbClr val="000000">
                      <a:alpha val="43137"/>
                    </a:srgbClr>
                  </a:outerShdw>
                </a:effectLst>
              </a:rPr>
              <a:t>..</a:t>
            </a:r>
            <a:r>
              <a:rPr lang="es-ES" sz="2800" b="1" dirty="0" err="1">
                <a:effectLst>
                  <a:outerShdw blurRad="38100" dist="38100" dir="2700000" algn="tl">
                    <a:srgbClr val="000000">
                      <a:alpha val="43137"/>
                    </a:srgbClr>
                  </a:outerShdw>
                </a:effectLst>
              </a:rPr>
              <a:t>else</a:t>
            </a:r>
            <a:endParaRPr lang="en-US" sz="2800" b="1" dirty="0">
              <a:effectLst>
                <a:outerShdw blurRad="38100" dist="38100" dir="2700000" algn="tl">
                  <a:srgbClr val="000000">
                    <a:alpha val="43137"/>
                  </a:srgbClr>
                </a:outerShdw>
              </a:effectLst>
            </a:endParaRPr>
          </a:p>
        </p:txBody>
      </p:sp>
      <p:sp>
        <p:nvSpPr>
          <p:cNvPr id="12" name="Rectangle: Rounded Corners 11">
            <a:extLst>
              <a:ext uri="{FF2B5EF4-FFF2-40B4-BE49-F238E27FC236}">
                <a16:creationId xmlns:a16="http://schemas.microsoft.com/office/drawing/2014/main" id="{70838A6A-C9AE-3E87-338A-30B98A635CC2}"/>
              </a:ext>
            </a:extLst>
          </p:cNvPr>
          <p:cNvSpPr/>
          <p:nvPr/>
        </p:nvSpPr>
        <p:spPr>
          <a:xfrm>
            <a:off x="3878042" y="3929377"/>
            <a:ext cx="7112638" cy="785529"/>
          </a:xfrm>
          <a:prstGeom prst="roundRect">
            <a:avLst>
              <a:gd name="adj" fmla="val 50000"/>
            </a:avLst>
          </a:prstGeom>
          <a:solidFill>
            <a:srgbClr val="92D050">
              <a:alpha val="85000"/>
            </a:srgbClr>
          </a:solidFill>
          <a:ln w="38100">
            <a:solidFill>
              <a:schemeClr val="bg1"/>
            </a:solidFill>
          </a:ln>
          <a:effectLst>
            <a:outerShdw blurRad="127000" dist="889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dirty="0">
                <a:solidFill>
                  <a:schemeClr val="accent6">
                    <a:lumMod val="40000"/>
                    <a:lumOff val="60000"/>
                  </a:schemeClr>
                </a:solidFill>
              </a:rPr>
              <a:t>switch</a:t>
            </a:r>
            <a:endParaRPr lang="en-US" sz="2800" dirty="0">
              <a:solidFill>
                <a:schemeClr val="accent6">
                  <a:lumMod val="40000"/>
                  <a:lumOff val="60000"/>
                </a:schemeClr>
              </a:solidFill>
            </a:endParaRPr>
          </a:p>
        </p:txBody>
      </p:sp>
      <p:sp>
        <p:nvSpPr>
          <p:cNvPr id="13" name="Rectangle: Rounded Corners 12">
            <a:extLst>
              <a:ext uri="{FF2B5EF4-FFF2-40B4-BE49-F238E27FC236}">
                <a16:creationId xmlns:a16="http://schemas.microsoft.com/office/drawing/2014/main" id="{C486B3DF-024C-51BD-89B9-202119BE0686}"/>
              </a:ext>
            </a:extLst>
          </p:cNvPr>
          <p:cNvSpPr/>
          <p:nvPr/>
        </p:nvSpPr>
        <p:spPr>
          <a:xfrm>
            <a:off x="3878042" y="4958697"/>
            <a:ext cx="7112638" cy="785529"/>
          </a:xfrm>
          <a:prstGeom prst="roundRect">
            <a:avLst>
              <a:gd name="adj" fmla="val 50000"/>
            </a:avLst>
          </a:prstGeom>
          <a:solidFill>
            <a:srgbClr val="00B0F0">
              <a:alpha val="85000"/>
            </a:srgbClr>
          </a:solidFill>
          <a:ln w="38100">
            <a:solidFill>
              <a:schemeClr val="bg1"/>
            </a:solidFill>
          </a:ln>
          <a:effectLst>
            <a:outerShdw blurRad="127000" dist="889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dirty="0">
                <a:solidFill>
                  <a:schemeClr val="accent1">
                    <a:lumMod val="60000"/>
                    <a:lumOff val="40000"/>
                  </a:schemeClr>
                </a:solidFill>
              </a:rPr>
              <a:t>Anidamiento</a:t>
            </a:r>
            <a:endParaRPr lang="en-US" sz="2800" dirty="0">
              <a:solidFill>
                <a:schemeClr val="accent1">
                  <a:lumMod val="60000"/>
                  <a:lumOff val="40000"/>
                </a:schemeClr>
              </a:solidFill>
            </a:endParaRPr>
          </a:p>
        </p:txBody>
      </p:sp>
      <p:sp>
        <p:nvSpPr>
          <p:cNvPr id="7" name="Oval 6">
            <a:extLst>
              <a:ext uri="{FF2B5EF4-FFF2-40B4-BE49-F238E27FC236}">
                <a16:creationId xmlns:a16="http://schemas.microsoft.com/office/drawing/2014/main" id="{5CE48FB7-B59B-7DD6-1EDE-9F73DA45E591}"/>
              </a:ext>
            </a:extLst>
          </p:cNvPr>
          <p:cNvSpPr/>
          <p:nvPr/>
        </p:nvSpPr>
        <p:spPr>
          <a:xfrm>
            <a:off x="838200" y="1576431"/>
            <a:ext cx="4466376" cy="4466376"/>
          </a:xfrm>
          <a:prstGeom prst="ellipse">
            <a:avLst/>
          </a:prstGeom>
          <a:blipFill dpi="0" rotWithShape="1">
            <a:blip r:embed="rId3"/>
            <a:srcRect/>
            <a:tile tx="-901700" ty="-336550" sx="70000" sy="70000" flip="none" algn="tl"/>
          </a:blip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8480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38BF92A-AC96-82C7-2541-384D79932C67}"/>
              </a:ext>
            </a:extLst>
          </p:cNvPr>
          <p:cNvPicPr>
            <a:picLocks noChangeAspect="1"/>
          </p:cNvPicPr>
          <p:nvPr/>
        </p:nvPicPr>
        <p:blipFill>
          <a:blip r:embed="rId2">
            <a:alphaModFix amt="20000"/>
          </a:blip>
          <a:stretch>
            <a:fillRect/>
          </a:stretch>
        </p:blipFill>
        <p:spPr>
          <a:xfrm>
            <a:off x="5741" y="0"/>
            <a:ext cx="12180517" cy="6858000"/>
          </a:xfrm>
          <a:prstGeom prst="rect">
            <a:avLst/>
          </a:prstGeom>
        </p:spPr>
      </p:pic>
      <p:sp>
        <p:nvSpPr>
          <p:cNvPr id="2" name="Title 1">
            <a:extLst>
              <a:ext uri="{FF2B5EF4-FFF2-40B4-BE49-F238E27FC236}">
                <a16:creationId xmlns:a16="http://schemas.microsoft.com/office/drawing/2014/main" id="{8D6CD7A6-F6AE-1C40-DE2A-751C35C6F98F}"/>
              </a:ext>
            </a:extLst>
          </p:cNvPr>
          <p:cNvSpPr>
            <a:spLocks noGrp="1"/>
          </p:cNvSpPr>
          <p:nvPr>
            <p:ph type="title"/>
          </p:nvPr>
        </p:nvSpPr>
        <p:spPr>
          <a:xfrm>
            <a:off x="838200" y="489528"/>
            <a:ext cx="10515600" cy="785528"/>
          </a:xfrm>
        </p:spPr>
        <p:txBody>
          <a:bodyPr/>
          <a:lstStyle/>
          <a:p>
            <a:r>
              <a:rPr lang="es-ES" dirty="0"/>
              <a:t>Dudas de la clase anterior</a:t>
            </a:r>
            <a:endParaRPr lang="en-US" dirty="0"/>
          </a:p>
        </p:txBody>
      </p:sp>
      <p:sp>
        <p:nvSpPr>
          <p:cNvPr id="3" name="Slide Number Placeholder 2">
            <a:extLst>
              <a:ext uri="{FF2B5EF4-FFF2-40B4-BE49-F238E27FC236}">
                <a16:creationId xmlns:a16="http://schemas.microsoft.com/office/drawing/2014/main" id="{0DAE7DFB-55E6-9372-A4B6-3A1B7375378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4</a:t>
            </a:fld>
            <a:endParaRPr lang="es-PE"/>
          </a:p>
        </p:txBody>
      </p:sp>
      <p:sp>
        <p:nvSpPr>
          <p:cNvPr id="9" name="TextBox 8">
            <a:extLst>
              <a:ext uri="{FF2B5EF4-FFF2-40B4-BE49-F238E27FC236}">
                <a16:creationId xmlns:a16="http://schemas.microsoft.com/office/drawing/2014/main" id="{C97D6CCE-0FDA-BF40-560A-F3269C0C1039}"/>
              </a:ext>
            </a:extLst>
          </p:cNvPr>
          <p:cNvSpPr txBox="1"/>
          <p:nvPr/>
        </p:nvSpPr>
        <p:spPr>
          <a:xfrm>
            <a:off x="156927" y="6344182"/>
            <a:ext cx="6096000" cy="3693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a:t>
            </a:r>
            <a:br>
              <a:rPr lang="en-US" sz="900" dirty="0">
                <a:solidFill>
                  <a:schemeClr val="bg1">
                    <a:lumMod val="50000"/>
                  </a:schemeClr>
                </a:solidFill>
              </a:rPr>
            </a:br>
            <a:r>
              <a:rPr lang="en-US" sz="900" dirty="0">
                <a:solidFill>
                  <a:schemeClr val="bg1">
                    <a:lumMod val="50000"/>
                  </a:schemeClr>
                </a:solidFill>
              </a:rPr>
              <a:t>https://wallpapercave.com/wp/wp8002891.jpg</a:t>
            </a:r>
          </a:p>
        </p:txBody>
      </p:sp>
      <p:sp>
        <p:nvSpPr>
          <p:cNvPr id="10" name="Rectangle: Rounded Corners 9">
            <a:extLst>
              <a:ext uri="{FF2B5EF4-FFF2-40B4-BE49-F238E27FC236}">
                <a16:creationId xmlns:a16="http://schemas.microsoft.com/office/drawing/2014/main" id="{5B33A388-E8AE-CB09-9B02-22F8553FC192}"/>
              </a:ext>
            </a:extLst>
          </p:cNvPr>
          <p:cNvSpPr/>
          <p:nvPr/>
        </p:nvSpPr>
        <p:spPr>
          <a:xfrm>
            <a:off x="3890180" y="1875013"/>
            <a:ext cx="7112638" cy="785529"/>
          </a:xfrm>
          <a:prstGeom prst="roundRect">
            <a:avLst>
              <a:gd name="adj" fmla="val 50000"/>
            </a:avLst>
          </a:prstGeom>
          <a:solidFill>
            <a:srgbClr val="EEC83E">
              <a:alpha val="85000"/>
            </a:srgbClr>
          </a:solidFill>
          <a:ln w="38100">
            <a:solidFill>
              <a:schemeClr val="bg1"/>
            </a:solidFill>
          </a:ln>
          <a:effectLst>
            <a:outerShdw blurRad="127000" dist="889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dirty="0">
                <a:solidFill>
                  <a:schemeClr val="accent4">
                    <a:lumMod val="60000"/>
                    <a:lumOff val="40000"/>
                  </a:schemeClr>
                </a:solidFill>
              </a:rPr>
              <a:t>Expresión condicional</a:t>
            </a:r>
            <a:endParaRPr lang="en-US" sz="2800" dirty="0">
              <a:solidFill>
                <a:schemeClr val="accent4">
                  <a:lumMod val="60000"/>
                  <a:lumOff val="40000"/>
                </a:schemeClr>
              </a:solidFill>
            </a:endParaRPr>
          </a:p>
        </p:txBody>
      </p:sp>
      <p:sp>
        <p:nvSpPr>
          <p:cNvPr id="11" name="Rectangle: Rounded Corners 10">
            <a:extLst>
              <a:ext uri="{FF2B5EF4-FFF2-40B4-BE49-F238E27FC236}">
                <a16:creationId xmlns:a16="http://schemas.microsoft.com/office/drawing/2014/main" id="{8AA79015-F737-B3F2-CE8E-497B0232BAFB}"/>
              </a:ext>
            </a:extLst>
          </p:cNvPr>
          <p:cNvSpPr/>
          <p:nvPr/>
        </p:nvSpPr>
        <p:spPr>
          <a:xfrm>
            <a:off x="3890180" y="2902195"/>
            <a:ext cx="7112638" cy="785529"/>
          </a:xfrm>
          <a:prstGeom prst="roundRect">
            <a:avLst>
              <a:gd name="adj" fmla="val 50000"/>
            </a:avLst>
          </a:prstGeom>
          <a:solidFill>
            <a:schemeClr val="accent2">
              <a:alpha val="85000"/>
            </a:schemeClr>
          </a:solidFill>
          <a:ln w="38100">
            <a:solidFill>
              <a:schemeClr val="bg1"/>
            </a:solidFill>
          </a:ln>
          <a:effectLst>
            <a:outerShdw blurRad="127000" dist="889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dirty="0" err="1">
                <a:solidFill>
                  <a:schemeClr val="accent2">
                    <a:lumMod val="60000"/>
                    <a:lumOff val="40000"/>
                  </a:schemeClr>
                </a:solidFill>
              </a:rPr>
              <a:t>if</a:t>
            </a:r>
            <a:r>
              <a:rPr lang="es-ES" sz="2800" dirty="0">
                <a:solidFill>
                  <a:schemeClr val="accent2">
                    <a:lumMod val="60000"/>
                    <a:lumOff val="40000"/>
                  </a:schemeClr>
                </a:solidFill>
              </a:rPr>
              <a:t>..</a:t>
            </a:r>
            <a:r>
              <a:rPr lang="es-ES" sz="2800" dirty="0" err="1">
                <a:solidFill>
                  <a:schemeClr val="accent2">
                    <a:lumMod val="60000"/>
                    <a:lumOff val="40000"/>
                  </a:schemeClr>
                </a:solidFill>
              </a:rPr>
              <a:t>else</a:t>
            </a:r>
            <a:endParaRPr lang="en-US" sz="2800" dirty="0">
              <a:solidFill>
                <a:schemeClr val="accent2">
                  <a:lumMod val="60000"/>
                  <a:lumOff val="40000"/>
                </a:schemeClr>
              </a:solidFill>
            </a:endParaRPr>
          </a:p>
        </p:txBody>
      </p:sp>
      <p:sp>
        <p:nvSpPr>
          <p:cNvPr id="12" name="Rectangle: Rounded Corners 11">
            <a:extLst>
              <a:ext uri="{FF2B5EF4-FFF2-40B4-BE49-F238E27FC236}">
                <a16:creationId xmlns:a16="http://schemas.microsoft.com/office/drawing/2014/main" id="{70838A6A-C9AE-3E87-338A-30B98A635CC2}"/>
              </a:ext>
            </a:extLst>
          </p:cNvPr>
          <p:cNvSpPr/>
          <p:nvPr/>
        </p:nvSpPr>
        <p:spPr>
          <a:xfrm>
            <a:off x="3878042" y="3929377"/>
            <a:ext cx="7112638" cy="785529"/>
          </a:xfrm>
          <a:prstGeom prst="roundRect">
            <a:avLst>
              <a:gd name="adj" fmla="val 50000"/>
            </a:avLst>
          </a:prstGeom>
          <a:solidFill>
            <a:srgbClr val="92D050">
              <a:alpha val="85000"/>
            </a:srgbClr>
          </a:solidFill>
          <a:ln w="38100">
            <a:solidFill>
              <a:schemeClr val="bg1"/>
            </a:solidFill>
          </a:ln>
          <a:effectLst>
            <a:outerShdw blurRad="127000" dist="889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b="1" dirty="0">
                <a:effectLst>
                  <a:outerShdw blurRad="38100" dist="38100" dir="2700000" algn="tl">
                    <a:srgbClr val="000000">
                      <a:alpha val="43137"/>
                    </a:srgbClr>
                  </a:outerShdw>
                </a:effectLst>
              </a:rPr>
              <a:t>switch</a:t>
            </a:r>
            <a:endParaRPr lang="en-US" sz="2800" b="1" dirty="0">
              <a:effectLst>
                <a:outerShdw blurRad="38100" dist="38100" dir="2700000" algn="tl">
                  <a:srgbClr val="000000">
                    <a:alpha val="43137"/>
                  </a:srgbClr>
                </a:outerShdw>
              </a:effectLst>
            </a:endParaRPr>
          </a:p>
        </p:txBody>
      </p:sp>
      <p:sp>
        <p:nvSpPr>
          <p:cNvPr id="13" name="Rectangle: Rounded Corners 12">
            <a:extLst>
              <a:ext uri="{FF2B5EF4-FFF2-40B4-BE49-F238E27FC236}">
                <a16:creationId xmlns:a16="http://schemas.microsoft.com/office/drawing/2014/main" id="{C486B3DF-024C-51BD-89B9-202119BE0686}"/>
              </a:ext>
            </a:extLst>
          </p:cNvPr>
          <p:cNvSpPr/>
          <p:nvPr/>
        </p:nvSpPr>
        <p:spPr>
          <a:xfrm>
            <a:off x="3878042" y="4958697"/>
            <a:ext cx="7112638" cy="785529"/>
          </a:xfrm>
          <a:prstGeom prst="roundRect">
            <a:avLst>
              <a:gd name="adj" fmla="val 50000"/>
            </a:avLst>
          </a:prstGeom>
          <a:solidFill>
            <a:srgbClr val="00B0F0">
              <a:alpha val="85000"/>
            </a:srgbClr>
          </a:solidFill>
          <a:ln w="38100">
            <a:solidFill>
              <a:schemeClr val="bg1"/>
            </a:solidFill>
          </a:ln>
          <a:effectLst>
            <a:outerShdw blurRad="127000" dist="889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dirty="0">
                <a:solidFill>
                  <a:schemeClr val="accent1">
                    <a:lumMod val="60000"/>
                    <a:lumOff val="40000"/>
                  </a:schemeClr>
                </a:solidFill>
              </a:rPr>
              <a:t>Anidamiento</a:t>
            </a:r>
            <a:endParaRPr lang="en-US" sz="2800" dirty="0">
              <a:solidFill>
                <a:schemeClr val="accent1">
                  <a:lumMod val="60000"/>
                  <a:lumOff val="40000"/>
                </a:schemeClr>
              </a:solidFill>
            </a:endParaRPr>
          </a:p>
        </p:txBody>
      </p:sp>
      <p:sp>
        <p:nvSpPr>
          <p:cNvPr id="7" name="Oval 6">
            <a:extLst>
              <a:ext uri="{FF2B5EF4-FFF2-40B4-BE49-F238E27FC236}">
                <a16:creationId xmlns:a16="http://schemas.microsoft.com/office/drawing/2014/main" id="{5CE48FB7-B59B-7DD6-1EDE-9F73DA45E591}"/>
              </a:ext>
            </a:extLst>
          </p:cNvPr>
          <p:cNvSpPr/>
          <p:nvPr/>
        </p:nvSpPr>
        <p:spPr>
          <a:xfrm>
            <a:off x="838200" y="1576431"/>
            <a:ext cx="4466376" cy="4466376"/>
          </a:xfrm>
          <a:prstGeom prst="ellipse">
            <a:avLst/>
          </a:prstGeom>
          <a:blipFill dpi="0" rotWithShape="1">
            <a:blip r:embed="rId3"/>
            <a:srcRect/>
            <a:tile tx="-901700" ty="-336550" sx="70000" sy="70000" flip="none" algn="tl"/>
          </a:blip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7214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38BF92A-AC96-82C7-2541-384D79932C67}"/>
              </a:ext>
            </a:extLst>
          </p:cNvPr>
          <p:cNvPicPr>
            <a:picLocks noChangeAspect="1"/>
          </p:cNvPicPr>
          <p:nvPr/>
        </p:nvPicPr>
        <p:blipFill>
          <a:blip r:embed="rId2">
            <a:alphaModFix amt="20000"/>
          </a:blip>
          <a:stretch>
            <a:fillRect/>
          </a:stretch>
        </p:blipFill>
        <p:spPr>
          <a:xfrm>
            <a:off x="5741" y="0"/>
            <a:ext cx="12180517" cy="6858000"/>
          </a:xfrm>
          <a:prstGeom prst="rect">
            <a:avLst/>
          </a:prstGeom>
        </p:spPr>
      </p:pic>
      <p:sp>
        <p:nvSpPr>
          <p:cNvPr id="2" name="Title 1">
            <a:extLst>
              <a:ext uri="{FF2B5EF4-FFF2-40B4-BE49-F238E27FC236}">
                <a16:creationId xmlns:a16="http://schemas.microsoft.com/office/drawing/2014/main" id="{8D6CD7A6-F6AE-1C40-DE2A-751C35C6F98F}"/>
              </a:ext>
            </a:extLst>
          </p:cNvPr>
          <p:cNvSpPr>
            <a:spLocks noGrp="1"/>
          </p:cNvSpPr>
          <p:nvPr>
            <p:ph type="title"/>
          </p:nvPr>
        </p:nvSpPr>
        <p:spPr>
          <a:xfrm>
            <a:off x="838200" y="489528"/>
            <a:ext cx="10515600" cy="785528"/>
          </a:xfrm>
        </p:spPr>
        <p:txBody>
          <a:bodyPr/>
          <a:lstStyle/>
          <a:p>
            <a:r>
              <a:rPr lang="es-ES" dirty="0"/>
              <a:t>Dudas de la clase anterior</a:t>
            </a:r>
            <a:endParaRPr lang="en-US" dirty="0"/>
          </a:p>
        </p:txBody>
      </p:sp>
      <p:sp>
        <p:nvSpPr>
          <p:cNvPr id="3" name="Slide Number Placeholder 2">
            <a:extLst>
              <a:ext uri="{FF2B5EF4-FFF2-40B4-BE49-F238E27FC236}">
                <a16:creationId xmlns:a16="http://schemas.microsoft.com/office/drawing/2014/main" id="{0DAE7DFB-55E6-9372-A4B6-3A1B7375378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5</a:t>
            </a:fld>
            <a:endParaRPr lang="es-PE"/>
          </a:p>
        </p:txBody>
      </p:sp>
      <p:sp>
        <p:nvSpPr>
          <p:cNvPr id="9" name="TextBox 8">
            <a:extLst>
              <a:ext uri="{FF2B5EF4-FFF2-40B4-BE49-F238E27FC236}">
                <a16:creationId xmlns:a16="http://schemas.microsoft.com/office/drawing/2014/main" id="{C97D6CCE-0FDA-BF40-560A-F3269C0C1039}"/>
              </a:ext>
            </a:extLst>
          </p:cNvPr>
          <p:cNvSpPr txBox="1"/>
          <p:nvPr/>
        </p:nvSpPr>
        <p:spPr>
          <a:xfrm>
            <a:off x="156927" y="6344182"/>
            <a:ext cx="6096000" cy="3693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a:t>
            </a:r>
            <a:br>
              <a:rPr lang="en-US" sz="900" dirty="0">
                <a:solidFill>
                  <a:schemeClr val="bg1">
                    <a:lumMod val="50000"/>
                  </a:schemeClr>
                </a:solidFill>
              </a:rPr>
            </a:br>
            <a:r>
              <a:rPr lang="en-US" sz="900" dirty="0">
                <a:solidFill>
                  <a:schemeClr val="bg1">
                    <a:lumMod val="50000"/>
                  </a:schemeClr>
                </a:solidFill>
              </a:rPr>
              <a:t>https://wallpapercave.com/wp/wp8002891.jpg</a:t>
            </a:r>
          </a:p>
        </p:txBody>
      </p:sp>
      <p:sp>
        <p:nvSpPr>
          <p:cNvPr id="10" name="Rectangle: Rounded Corners 9">
            <a:extLst>
              <a:ext uri="{FF2B5EF4-FFF2-40B4-BE49-F238E27FC236}">
                <a16:creationId xmlns:a16="http://schemas.microsoft.com/office/drawing/2014/main" id="{5B33A388-E8AE-CB09-9B02-22F8553FC192}"/>
              </a:ext>
            </a:extLst>
          </p:cNvPr>
          <p:cNvSpPr/>
          <p:nvPr/>
        </p:nvSpPr>
        <p:spPr>
          <a:xfrm>
            <a:off x="3890180" y="1875013"/>
            <a:ext cx="7112638" cy="785529"/>
          </a:xfrm>
          <a:prstGeom prst="roundRect">
            <a:avLst>
              <a:gd name="adj" fmla="val 50000"/>
            </a:avLst>
          </a:prstGeom>
          <a:solidFill>
            <a:srgbClr val="EEC83E">
              <a:alpha val="85000"/>
            </a:srgbClr>
          </a:solidFill>
          <a:ln w="38100">
            <a:solidFill>
              <a:schemeClr val="bg1"/>
            </a:solidFill>
          </a:ln>
          <a:effectLst>
            <a:outerShdw blurRad="127000" dist="889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dirty="0">
                <a:solidFill>
                  <a:schemeClr val="accent4">
                    <a:lumMod val="60000"/>
                    <a:lumOff val="40000"/>
                  </a:schemeClr>
                </a:solidFill>
              </a:rPr>
              <a:t>Expresión condicional</a:t>
            </a:r>
            <a:endParaRPr lang="en-US" sz="2800" dirty="0">
              <a:solidFill>
                <a:schemeClr val="accent4">
                  <a:lumMod val="60000"/>
                  <a:lumOff val="40000"/>
                </a:schemeClr>
              </a:solidFill>
            </a:endParaRPr>
          </a:p>
        </p:txBody>
      </p:sp>
      <p:sp>
        <p:nvSpPr>
          <p:cNvPr id="11" name="Rectangle: Rounded Corners 10">
            <a:extLst>
              <a:ext uri="{FF2B5EF4-FFF2-40B4-BE49-F238E27FC236}">
                <a16:creationId xmlns:a16="http://schemas.microsoft.com/office/drawing/2014/main" id="{8AA79015-F737-B3F2-CE8E-497B0232BAFB}"/>
              </a:ext>
            </a:extLst>
          </p:cNvPr>
          <p:cNvSpPr/>
          <p:nvPr/>
        </p:nvSpPr>
        <p:spPr>
          <a:xfrm>
            <a:off x="3890180" y="2902195"/>
            <a:ext cx="7112638" cy="785529"/>
          </a:xfrm>
          <a:prstGeom prst="roundRect">
            <a:avLst>
              <a:gd name="adj" fmla="val 50000"/>
            </a:avLst>
          </a:prstGeom>
          <a:solidFill>
            <a:schemeClr val="accent2">
              <a:alpha val="85000"/>
            </a:schemeClr>
          </a:solidFill>
          <a:ln w="38100">
            <a:solidFill>
              <a:schemeClr val="bg1"/>
            </a:solidFill>
          </a:ln>
          <a:effectLst>
            <a:outerShdw blurRad="127000" dist="889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dirty="0" err="1">
                <a:solidFill>
                  <a:schemeClr val="accent2">
                    <a:lumMod val="60000"/>
                    <a:lumOff val="40000"/>
                  </a:schemeClr>
                </a:solidFill>
              </a:rPr>
              <a:t>if</a:t>
            </a:r>
            <a:r>
              <a:rPr lang="es-ES" sz="2800" dirty="0">
                <a:solidFill>
                  <a:schemeClr val="accent2">
                    <a:lumMod val="60000"/>
                    <a:lumOff val="40000"/>
                  </a:schemeClr>
                </a:solidFill>
              </a:rPr>
              <a:t>..</a:t>
            </a:r>
            <a:r>
              <a:rPr lang="es-ES" sz="2800" dirty="0" err="1">
                <a:solidFill>
                  <a:schemeClr val="accent2">
                    <a:lumMod val="60000"/>
                    <a:lumOff val="40000"/>
                  </a:schemeClr>
                </a:solidFill>
              </a:rPr>
              <a:t>else</a:t>
            </a:r>
            <a:endParaRPr lang="en-US" sz="2800" dirty="0">
              <a:solidFill>
                <a:schemeClr val="accent2">
                  <a:lumMod val="60000"/>
                  <a:lumOff val="40000"/>
                </a:schemeClr>
              </a:solidFill>
            </a:endParaRPr>
          </a:p>
        </p:txBody>
      </p:sp>
      <p:sp>
        <p:nvSpPr>
          <p:cNvPr id="12" name="Rectangle: Rounded Corners 11">
            <a:extLst>
              <a:ext uri="{FF2B5EF4-FFF2-40B4-BE49-F238E27FC236}">
                <a16:creationId xmlns:a16="http://schemas.microsoft.com/office/drawing/2014/main" id="{70838A6A-C9AE-3E87-338A-30B98A635CC2}"/>
              </a:ext>
            </a:extLst>
          </p:cNvPr>
          <p:cNvSpPr/>
          <p:nvPr/>
        </p:nvSpPr>
        <p:spPr>
          <a:xfrm>
            <a:off x="3878042" y="3929377"/>
            <a:ext cx="7112638" cy="785529"/>
          </a:xfrm>
          <a:prstGeom prst="roundRect">
            <a:avLst>
              <a:gd name="adj" fmla="val 50000"/>
            </a:avLst>
          </a:prstGeom>
          <a:solidFill>
            <a:srgbClr val="92D050">
              <a:alpha val="85000"/>
            </a:srgbClr>
          </a:solidFill>
          <a:ln w="38100">
            <a:solidFill>
              <a:schemeClr val="bg1"/>
            </a:solidFill>
          </a:ln>
          <a:effectLst>
            <a:outerShdw blurRad="127000" dist="889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dirty="0">
                <a:solidFill>
                  <a:schemeClr val="accent6">
                    <a:lumMod val="40000"/>
                    <a:lumOff val="60000"/>
                  </a:schemeClr>
                </a:solidFill>
              </a:rPr>
              <a:t>switch</a:t>
            </a:r>
            <a:endParaRPr lang="en-US" sz="2800" dirty="0">
              <a:solidFill>
                <a:schemeClr val="accent6">
                  <a:lumMod val="40000"/>
                  <a:lumOff val="60000"/>
                </a:schemeClr>
              </a:solidFill>
            </a:endParaRPr>
          </a:p>
        </p:txBody>
      </p:sp>
      <p:sp>
        <p:nvSpPr>
          <p:cNvPr id="13" name="Rectangle: Rounded Corners 12">
            <a:extLst>
              <a:ext uri="{FF2B5EF4-FFF2-40B4-BE49-F238E27FC236}">
                <a16:creationId xmlns:a16="http://schemas.microsoft.com/office/drawing/2014/main" id="{C486B3DF-024C-51BD-89B9-202119BE0686}"/>
              </a:ext>
            </a:extLst>
          </p:cNvPr>
          <p:cNvSpPr/>
          <p:nvPr/>
        </p:nvSpPr>
        <p:spPr>
          <a:xfrm>
            <a:off x="3878042" y="4958697"/>
            <a:ext cx="7112638" cy="785529"/>
          </a:xfrm>
          <a:prstGeom prst="roundRect">
            <a:avLst>
              <a:gd name="adj" fmla="val 50000"/>
            </a:avLst>
          </a:prstGeom>
          <a:solidFill>
            <a:srgbClr val="00B0F0">
              <a:alpha val="85000"/>
            </a:srgbClr>
          </a:solidFill>
          <a:ln w="38100">
            <a:solidFill>
              <a:schemeClr val="bg1"/>
            </a:solidFill>
          </a:ln>
          <a:effectLst>
            <a:outerShdw blurRad="127000" dist="889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800" b="1" dirty="0">
                <a:effectLst>
                  <a:outerShdw blurRad="38100" dist="38100" dir="2700000" algn="tl">
                    <a:srgbClr val="000000">
                      <a:alpha val="43137"/>
                    </a:srgbClr>
                  </a:outerShdw>
                </a:effectLst>
              </a:rPr>
              <a:t>Anidamiento</a:t>
            </a:r>
            <a:endParaRPr lang="en-US" sz="2800" b="1" dirty="0">
              <a:effectLst>
                <a:outerShdw blurRad="38100" dist="38100" dir="2700000" algn="tl">
                  <a:srgbClr val="000000">
                    <a:alpha val="43137"/>
                  </a:srgbClr>
                </a:outerShdw>
              </a:effectLst>
            </a:endParaRPr>
          </a:p>
        </p:txBody>
      </p:sp>
      <p:sp>
        <p:nvSpPr>
          <p:cNvPr id="7" name="Oval 6">
            <a:extLst>
              <a:ext uri="{FF2B5EF4-FFF2-40B4-BE49-F238E27FC236}">
                <a16:creationId xmlns:a16="http://schemas.microsoft.com/office/drawing/2014/main" id="{5CE48FB7-B59B-7DD6-1EDE-9F73DA45E591}"/>
              </a:ext>
            </a:extLst>
          </p:cNvPr>
          <p:cNvSpPr/>
          <p:nvPr/>
        </p:nvSpPr>
        <p:spPr>
          <a:xfrm>
            <a:off x="838200" y="1576431"/>
            <a:ext cx="4466376" cy="4466376"/>
          </a:xfrm>
          <a:prstGeom prst="ellipse">
            <a:avLst/>
          </a:prstGeom>
          <a:blipFill dpi="0" rotWithShape="1">
            <a:blip r:embed="rId3"/>
            <a:srcRect/>
            <a:tile tx="-901700" ty="-336550" sx="70000" sy="70000" flip="none" algn="tl"/>
          </a:blip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380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3" name="Freeform: Shape 2">
            <a:extLst>
              <a:ext uri="{FF2B5EF4-FFF2-40B4-BE49-F238E27FC236}">
                <a16:creationId xmlns:a16="http://schemas.microsoft.com/office/drawing/2014/main" id="{3B54F9E4-73EC-5803-C251-20C8EB58177E}"/>
              </a:ext>
            </a:extLst>
          </p:cNvPr>
          <p:cNvSpPr/>
          <p:nvPr/>
        </p:nvSpPr>
        <p:spPr>
          <a:xfrm>
            <a:off x="-9053" y="-13580"/>
            <a:ext cx="12201053" cy="6871580"/>
          </a:xfrm>
          <a:custGeom>
            <a:avLst/>
            <a:gdLst>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76087"/>
              <a:gd name="connsiteY0" fmla="*/ 5395865 h 6871580"/>
              <a:gd name="connsiteX1" fmla="*/ 0 w 12376087"/>
              <a:gd name="connsiteY1" fmla="*/ 6871580 h 6871580"/>
              <a:gd name="connsiteX2" fmla="*/ 9578566 w 12376087"/>
              <a:gd name="connsiteY2" fmla="*/ 6871580 h 6871580"/>
              <a:gd name="connsiteX3" fmla="*/ 12376087 w 12376087"/>
              <a:gd name="connsiteY3" fmla="*/ 2236205 h 6871580"/>
              <a:gd name="connsiteX4" fmla="*/ 12376087 w 12376087"/>
              <a:gd name="connsiteY4" fmla="*/ 0 h 6871580"/>
              <a:gd name="connsiteX5" fmla="*/ 8256760 w 12376087"/>
              <a:gd name="connsiteY5" fmla="*/ 0 h 6871580"/>
              <a:gd name="connsiteX6" fmla="*/ 0 w 12376087"/>
              <a:gd name="connsiteY6" fmla="*/ 5395865 h 6871580"/>
              <a:gd name="connsiteX0" fmla="*/ 0 w 12385277"/>
              <a:gd name="connsiteY0" fmla="*/ 3802455 h 6871580"/>
              <a:gd name="connsiteX1" fmla="*/ 9190 w 12385277"/>
              <a:gd name="connsiteY1" fmla="*/ 6871580 h 6871580"/>
              <a:gd name="connsiteX2" fmla="*/ 9587756 w 12385277"/>
              <a:gd name="connsiteY2" fmla="*/ 6871580 h 6871580"/>
              <a:gd name="connsiteX3" fmla="*/ 12385277 w 12385277"/>
              <a:gd name="connsiteY3" fmla="*/ 2236205 h 6871580"/>
              <a:gd name="connsiteX4" fmla="*/ 12385277 w 12385277"/>
              <a:gd name="connsiteY4" fmla="*/ 0 h 6871580"/>
              <a:gd name="connsiteX5" fmla="*/ 8265950 w 12385277"/>
              <a:gd name="connsiteY5" fmla="*/ 0 h 6871580"/>
              <a:gd name="connsiteX6" fmla="*/ 0 w 12385277"/>
              <a:gd name="connsiteY6" fmla="*/ 3802455 h 6871580"/>
              <a:gd name="connsiteX0" fmla="*/ 0 w 12385277"/>
              <a:gd name="connsiteY0" fmla="*/ 3802455 h 6871580"/>
              <a:gd name="connsiteX1" fmla="*/ 9190 w 12385277"/>
              <a:gd name="connsiteY1" fmla="*/ 6871580 h 6871580"/>
              <a:gd name="connsiteX2" fmla="*/ 9587756 w 12385277"/>
              <a:gd name="connsiteY2" fmla="*/ 6871580 h 6871580"/>
              <a:gd name="connsiteX3" fmla="*/ 12385277 w 12385277"/>
              <a:gd name="connsiteY3" fmla="*/ 2236205 h 6871580"/>
              <a:gd name="connsiteX4" fmla="*/ 12385277 w 12385277"/>
              <a:gd name="connsiteY4" fmla="*/ 0 h 6871580"/>
              <a:gd name="connsiteX5" fmla="*/ 8265950 w 12385277"/>
              <a:gd name="connsiteY5" fmla="*/ 0 h 6871580"/>
              <a:gd name="connsiteX6" fmla="*/ 0 w 12385277"/>
              <a:gd name="connsiteY6" fmla="*/ 3802455 h 6871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5277" h="6871580">
                <a:moveTo>
                  <a:pt x="0" y="3802455"/>
                </a:moveTo>
                <a:cubicBezTo>
                  <a:pt x="3063" y="4825497"/>
                  <a:pt x="6127" y="5848538"/>
                  <a:pt x="9190" y="6871580"/>
                </a:cubicBezTo>
                <a:lnTo>
                  <a:pt x="9587756" y="6871580"/>
                </a:lnTo>
                <a:cubicBezTo>
                  <a:pt x="10869490" y="5444149"/>
                  <a:pt x="11976608" y="4197789"/>
                  <a:pt x="12385277" y="2236205"/>
                </a:cubicBezTo>
                <a:lnTo>
                  <a:pt x="12385277" y="0"/>
                </a:lnTo>
                <a:lnTo>
                  <a:pt x="8265950" y="0"/>
                </a:lnTo>
                <a:cubicBezTo>
                  <a:pt x="8656733" y="4324539"/>
                  <a:pt x="2283555" y="4855675"/>
                  <a:pt x="0" y="3802455"/>
                </a:cubicBezTo>
                <a:close/>
              </a:path>
            </a:pathLst>
          </a:custGeom>
          <a:blipFill dpi="0" rotWithShape="1">
            <a:blip r:embed="rId3">
              <a:alphaModFix amt="1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4600F7-1DA8-4B6F-94D5-F0D0A43E9216}"/>
              </a:ext>
            </a:extLst>
          </p:cNvPr>
          <p:cNvSpPr>
            <a:spLocks noGrp="1"/>
          </p:cNvSpPr>
          <p:nvPr>
            <p:ph type="ctrTitle"/>
          </p:nvPr>
        </p:nvSpPr>
        <p:spPr>
          <a:xfrm>
            <a:off x="1524000" y="837398"/>
            <a:ext cx="9144000" cy="2858703"/>
          </a:xfrm>
        </p:spPr>
        <p:txBody>
          <a:bodyPr>
            <a:normAutofit fontScale="90000"/>
          </a:bodyPr>
          <a:lstStyle/>
          <a:p>
            <a:r>
              <a:rPr lang="es-ES" dirty="0"/>
              <a:t>Resolución de problemas con </a:t>
            </a:r>
            <a:r>
              <a:rPr lang="es-ES" dirty="0" err="1">
                <a:latin typeface="JetBrains Mono" panose="02000009000000000000" pitchFamily="49" charset="0"/>
                <a:ea typeface="JetBrains Mono" panose="02000009000000000000" pitchFamily="49" charset="0"/>
                <a:cs typeface="JetBrains Mono" panose="02000009000000000000" pitchFamily="49" charset="0"/>
              </a:rPr>
              <a:t>if</a:t>
            </a:r>
            <a:r>
              <a:rPr lang="es-ES" dirty="0">
                <a:latin typeface="JetBrains Mono" panose="02000009000000000000" pitchFamily="49" charset="0"/>
                <a:ea typeface="JetBrains Mono" panose="02000009000000000000" pitchFamily="49" charset="0"/>
                <a:cs typeface="JetBrains Mono" panose="02000009000000000000" pitchFamily="49" charset="0"/>
              </a:rPr>
              <a:t>..</a:t>
            </a:r>
            <a:r>
              <a:rPr lang="es-ES" dirty="0" err="1">
                <a:latin typeface="JetBrains Mono" panose="02000009000000000000" pitchFamily="49" charset="0"/>
                <a:ea typeface="JetBrains Mono" panose="02000009000000000000" pitchFamily="49" charset="0"/>
                <a:cs typeface="JetBrains Mono" panose="02000009000000000000" pitchFamily="49" charset="0"/>
              </a:rPr>
              <a:t>else</a:t>
            </a:r>
            <a:r>
              <a:rPr lang="es-ES" dirty="0"/>
              <a:t> y </a:t>
            </a:r>
            <a:br>
              <a:rPr lang="es-ES" dirty="0"/>
            </a:br>
            <a:r>
              <a:rPr lang="es-ES" dirty="0">
                <a:latin typeface="JetBrains Mono" panose="02000009000000000000" pitchFamily="49" charset="0"/>
                <a:ea typeface="JetBrains Mono" panose="02000009000000000000" pitchFamily="49" charset="0"/>
                <a:cs typeface="JetBrains Mono" panose="02000009000000000000" pitchFamily="49" charset="0"/>
              </a:rPr>
              <a:t>switch-case</a:t>
            </a:r>
            <a:endParaRPr lang="en-US" dirty="0">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6" name="Subtítulo 5">
            <a:extLst>
              <a:ext uri="{FF2B5EF4-FFF2-40B4-BE49-F238E27FC236}">
                <a16:creationId xmlns:a16="http://schemas.microsoft.com/office/drawing/2014/main" id="{762AFB02-3BA6-43FA-9B08-23DF9F5C31E0}"/>
              </a:ext>
            </a:extLst>
          </p:cNvPr>
          <p:cNvSpPr>
            <a:spLocks noGrp="1"/>
          </p:cNvSpPr>
          <p:nvPr>
            <p:ph type="subTitle" idx="1"/>
          </p:nvPr>
        </p:nvSpPr>
        <p:spPr/>
        <p:txBody>
          <a:bodyPr>
            <a:normAutofit fontScale="92500" lnSpcReduction="10000"/>
          </a:bodyPr>
          <a:lstStyle/>
          <a:p>
            <a:endParaRPr lang="es-PE"/>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 name="Title 5">
            <a:extLst>
              <a:ext uri="{FF2B5EF4-FFF2-40B4-BE49-F238E27FC236}">
                <a16:creationId xmlns:a16="http://schemas.microsoft.com/office/drawing/2014/main" id="{0077C684-06B1-44CA-9235-D863CE03882E}"/>
              </a:ext>
            </a:extLst>
          </p:cNvPr>
          <p:cNvSpPr>
            <a:spLocks noGrp="1"/>
          </p:cNvSpPr>
          <p:nvPr>
            <p:ph type="title"/>
          </p:nvPr>
        </p:nvSpPr>
        <p:spPr/>
        <p:txBody>
          <a:bodyPr/>
          <a:lstStyle/>
          <a:p>
            <a:r>
              <a:rPr lang="es-ES" dirty="0"/>
              <a:t>Conocimientos previos</a:t>
            </a:r>
            <a:endParaRPr lang="en-US" dirty="0"/>
          </a:p>
        </p:txBody>
      </p:sp>
      <p:sp>
        <p:nvSpPr>
          <p:cNvPr id="2" name="Slide Number Placeholder 1">
            <a:extLst>
              <a:ext uri="{FF2B5EF4-FFF2-40B4-BE49-F238E27FC236}">
                <a16:creationId xmlns:a16="http://schemas.microsoft.com/office/drawing/2014/main" id="{DAD4DF39-413F-41FB-80F6-1CF57DEA76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7</a:t>
            </a:fld>
            <a:endParaRPr lang="es-PE"/>
          </a:p>
        </p:txBody>
      </p:sp>
      <p:sp>
        <p:nvSpPr>
          <p:cNvPr id="7" name="Content Placeholder 6">
            <a:extLst>
              <a:ext uri="{FF2B5EF4-FFF2-40B4-BE49-F238E27FC236}">
                <a16:creationId xmlns:a16="http://schemas.microsoft.com/office/drawing/2014/main" id="{5BE97547-6358-4D01-A970-DA2F4BB59220}"/>
              </a:ext>
            </a:extLst>
          </p:cNvPr>
          <p:cNvSpPr>
            <a:spLocks noGrp="1"/>
          </p:cNvSpPr>
          <p:nvPr>
            <p:ph sz="quarter" idx="13"/>
          </p:nvPr>
        </p:nvSpPr>
        <p:spPr/>
        <p:txBody>
          <a:bodyPr>
            <a:noAutofit/>
          </a:bodyPr>
          <a:lstStyle/>
          <a:p>
            <a:r>
              <a:rPr lang="es-ES" dirty="0"/>
              <a:t>¿Qué estructura condicional representa cada imagen?</a:t>
            </a:r>
          </a:p>
        </p:txBody>
      </p:sp>
      <p:sp>
        <p:nvSpPr>
          <p:cNvPr id="4" name="TextBox 3">
            <a:extLst>
              <a:ext uri="{FF2B5EF4-FFF2-40B4-BE49-F238E27FC236}">
                <a16:creationId xmlns:a16="http://schemas.microsoft.com/office/drawing/2014/main" id="{B5C828E4-C870-7AD2-3392-BE498C0B80B5}"/>
              </a:ext>
            </a:extLst>
          </p:cNvPr>
          <p:cNvSpPr txBox="1"/>
          <p:nvPr/>
        </p:nvSpPr>
        <p:spPr>
          <a:xfrm>
            <a:off x="154949" y="6369177"/>
            <a:ext cx="10603346" cy="3693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a:t>
            </a:r>
            <a:br>
              <a:rPr lang="en-US" sz="900" dirty="0">
                <a:solidFill>
                  <a:schemeClr val="bg1">
                    <a:lumMod val="50000"/>
                  </a:schemeClr>
                </a:solidFill>
              </a:rPr>
            </a:br>
            <a:r>
              <a:rPr lang="en-US" sz="900" dirty="0">
                <a:solidFill>
                  <a:schemeClr val="bg1">
                    <a:lumMod val="50000"/>
                  </a:schemeClr>
                </a:solidFill>
              </a:rPr>
              <a:t>https://pngimg.com/d/clock_PNG6641.png / https://www.nicepng.com/png/detail/302-3026500_iced-coffee-cafe.png</a:t>
            </a:r>
          </a:p>
        </p:txBody>
      </p:sp>
      <p:grpSp>
        <p:nvGrpSpPr>
          <p:cNvPr id="18" name="Group 17">
            <a:extLst>
              <a:ext uri="{FF2B5EF4-FFF2-40B4-BE49-F238E27FC236}">
                <a16:creationId xmlns:a16="http://schemas.microsoft.com/office/drawing/2014/main" id="{AFA0CCDA-728A-381F-D9C8-E729A4DEF083}"/>
              </a:ext>
            </a:extLst>
          </p:cNvPr>
          <p:cNvGrpSpPr/>
          <p:nvPr/>
        </p:nvGrpSpPr>
        <p:grpSpPr>
          <a:xfrm>
            <a:off x="1719418" y="3125475"/>
            <a:ext cx="3620573" cy="2610380"/>
            <a:chOff x="7723419" y="1168835"/>
            <a:chExt cx="4190767" cy="3021482"/>
          </a:xfrm>
        </p:grpSpPr>
        <p:pic>
          <p:nvPicPr>
            <p:cNvPr id="8" name="Picture 7">
              <a:extLst>
                <a:ext uri="{FF2B5EF4-FFF2-40B4-BE49-F238E27FC236}">
                  <a16:creationId xmlns:a16="http://schemas.microsoft.com/office/drawing/2014/main" id="{00025B6E-10DA-52EB-F4F9-41662E87F329}"/>
                </a:ext>
              </a:extLst>
            </p:cNvPr>
            <p:cNvPicPr>
              <a:picLocks noChangeAspect="1"/>
            </p:cNvPicPr>
            <p:nvPr/>
          </p:nvPicPr>
          <p:blipFill>
            <a:blip r:embed="rId3"/>
            <a:stretch>
              <a:fillRect/>
            </a:stretch>
          </p:blipFill>
          <p:spPr>
            <a:xfrm>
              <a:off x="7826662" y="2088587"/>
              <a:ext cx="1362035" cy="1818386"/>
            </a:xfrm>
            <a:prstGeom prst="rect">
              <a:avLst/>
            </a:prstGeom>
          </p:spPr>
        </p:pic>
        <p:pic>
          <p:nvPicPr>
            <p:cNvPr id="10" name="Picture 9">
              <a:extLst>
                <a:ext uri="{FF2B5EF4-FFF2-40B4-BE49-F238E27FC236}">
                  <a16:creationId xmlns:a16="http://schemas.microsoft.com/office/drawing/2014/main" id="{42259D40-BEB6-BDCA-E5AB-F824D4962E9E}"/>
                </a:ext>
              </a:extLst>
            </p:cNvPr>
            <p:cNvPicPr>
              <a:picLocks noChangeAspect="1"/>
            </p:cNvPicPr>
            <p:nvPr/>
          </p:nvPicPr>
          <p:blipFill>
            <a:blip r:embed="rId4">
              <a:clrChange>
                <a:clrFrom>
                  <a:srgbClr val="F6F6F6"/>
                </a:clrFrom>
                <a:clrTo>
                  <a:srgbClr val="F6F6F6">
                    <a:alpha val="0"/>
                  </a:srgbClr>
                </a:clrTo>
              </a:clrChange>
            </a:blip>
            <a:stretch>
              <a:fillRect/>
            </a:stretch>
          </p:blipFill>
          <p:spPr>
            <a:xfrm>
              <a:off x="10543555" y="2399571"/>
              <a:ext cx="1172742" cy="1507402"/>
            </a:xfrm>
            <a:prstGeom prst="rect">
              <a:avLst/>
            </a:prstGeom>
          </p:spPr>
        </p:pic>
        <p:pic>
          <p:nvPicPr>
            <p:cNvPr id="3" name="Picture 2">
              <a:extLst>
                <a:ext uri="{FF2B5EF4-FFF2-40B4-BE49-F238E27FC236}">
                  <a16:creationId xmlns:a16="http://schemas.microsoft.com/office/drawing/2014/main" id="{0DDA5759-75CA-87E7-4EEA-9C9CE7B79E4C}"/>
                </a:ext>
              </a:extLst>
            </p:cNvPr>
            <p:cNvPicPr>
              <a:picLocks noChangeAspect="1"/>
            </p:cNvPicPr>
            <p:nvPr/>
          </p:nvPicPr>
          <p:blipFill>
            <a:blip r:embed="rId5"/>
            <a:stretch>
              <a:fillRect/>
            </a:stretch>
          </p:blipFill>
          <p:spPr>
            <a:xfrm>
              <a:off x="9289363" y="1168835"/>
              <a:ext cx="1171631" cy="1172424"/>
            </a:xfrm>
            <a:prstGeom prst="rect">
              <a:avLst/>
            </a:prstGeom>
          </p:spPr>
        </p:pic>
        <p:sp>
          <p:nvSpPr>
            <p:cNvPr id="11" name="TextBox 10">
              <a:extLst>
                <a:ext uri="{FF2B5EF4-FFF2-40B4-BE49-F238E27FC236}">
                  <a16:creationId xmlns:a16="http://schemas.microsoft.com/office/drawing/2014/main" id="{A8975B89-389E-600A-B0C6-70C029E95ECE}"/>
                </a:ext>
              </a:extLst>
            </p:cNvPr>
            <p:cNvSpPr txBox="1"/>
            <p:nvPr/>
          </p:nvSpPr>
          <p:spPr>
            <a:xfrm>
              <a:off x="9081866" y="2399570"/>
              <a:ext cx="1568520" cy="302810"/>
            </a:xfrm>
            <a:prstGeom prst="rect">
              <a:avLst/>
            </a:prstGeom>
            <a:noFill/>
          </p:spPr>
          <p:txBody>
            <a:bodyPr wrap="square" rtlCol="0">
              <a:spAutoFit/>
            </a:bodyPr>
            <a:lstStyle/>
            <a:p>
              <a:pPr algn="ctr"/>
              <a:r>
                <a:rPr lang="es-ES" sz="1100" dirty="0">
                  <a:solidFill>
                    <a:schemeClr val="bg1">
                      <a:lumMod val="50000"/>
                    </a:schemeClr>
                  </a:solidFill>
                </a:rPr>
                <a:t>¿Hora: 7 – 10 am?</a:t>
              </a:r>
              <a:endParaRPr lang="en-US" sz="1100" dirty="0">
                <a:solidFill>
                  <a:schemeClr val="bg1">
                    <a:lumMod val="50000"/>
                  </a:schemeClr>
                </a:solidFill>
              </a:endParaRPr>
            </a:p>
          </p:txBody>
        </p:sp>
        <p:sp>
          <p:nvSpPr>
            <p:cNvPr id="12" name="TextBox 11">
              <a:extLst>
                <a:ext uri="{FF2B5EF4-FFF2-40B4-BE49-F238E27FC236}">
                  <a16:creationId xmlns:a16="http://schemas.microsoft.com/office/drawing/2014/main" id="{9C7DB286-67D9-545B-B0EC-518EA612A79B}"/>
                </a:ext>
              </a:extLst>
            </p:cNvPr>
            <p:cNvSpPr txBox="1"/>
            <p:nvPr/>
          </p:nvSpPr>
          <p:spPr>
            <a:xfrm>
              <a:off x="7723419" y="3887507"/>
              <a:ext cx="1568520" cy="302810"/>
            </a:xfrm>
            <a:prstGeom prst="rect">
              <a:avLst/>
            </a:prstGeom>
            <a:noFill/>
          </p:spPr>
          <p:txBody>
            <a:bodyPr wrap="square" rtlCol="0">
              <a:spAutoFit/>
            </a:bodyPr>
            <a:lstStyle/>
            <a:p>
              <a:pPr algn="ctr"/>
              <a:r>
                <a:rPr lang="es-ES" sz="1100" dirty="0">
                  <a:solidFill>
                    <a:schemeClr val="bg1">
                      <a:lumMod val="50000"/>
                    </a:schemeClr>
                  </a:solidFill>
                </a:rPr>
                <a:t>Café caliente</a:t>
              </a:r>
              <a:endParaRPr lang="en-US" sz="1100" dirty="0">
                <a:solidFill>
                  <a:schemeClr val="bg1">
                    <a:lumMod val="50000"/>
                  </a:schemeClr>
                </a:solidFill>
              </a:endParaRPr>
            </a:p>
          </p:txBody>
        </p:sp>
        <p:sp>
          <p:nvSpPr>
            <p:cNvPr id="13" name="TextBox 12">
              <a:extLst>
                <a:ext uri="{FF2B5EF4-FFF2-40B4-BE49-F238E27FC236}">
                  <a16:creationId xmlns:a16="http://schemas.microsoft.com/office/drawing/2014/main" id="{D03B73A8-EEFB-608B-BCED-EAF9CC96FBD1}"/>
                </a:ext>
              </a:extLst>
            </p:cNvPr>
            <p:cNvSpPr txBox="1"/>
            <p:nvPr/>
          </p:nvSpPr>
          <p:spPr>
            <a:xfrm>
              <a:off x="10345666" y="3887507"/>
              <a:ext cx="1568520" cy="302810"/>
            </a:xfrm>
            <a:prstGeom prst="rect">
              <a:avLst/>
            </a:prstGeom>
            <a:noFill/>
          </p:spPr>
          <p:txBody>
            <a:bodyPr wrap="square" rtlCol="0">
              <a:spAutoFit/>
            </a:bodyPr>
            <a:lstStyle/>
            <a:p>
              <a:pPr algn="ctr"/>
              <a:r>
                <a:rPr lang="es-ES" sz="1100" dirty="0">
                  <a:solidFill>
                    <a:schemeClr val="bg1">
                      <a:lumMod val="50000"/>
                    </a:schemeClr>
                  </a:solidFill>
                </a:rPr>
                <a:t>Café frío</a:t>
              </a:r>
              <a:endParaRPr lang="en-US" sz="1100" dirty="0">
                <a:solidFill>
                  <a:schemeClr val="bg1">
                    <a:lumMod val="50000"/>
                  </a:schemeClr>
                </a:solidFill>
              </a:endParaRPr>
            </a:p>
          </p:txBody>
        </p:sp>
        <p:sp>
          <p:nvSpPr>
            <p:cNvPr id="14" name="Freeform: Shape 13">
              <a:extLst>
                <a:ext uri="{FF2B5EF4-FFF2-40B4-BE49-F238E27FC236}">
                  <a16:creationId xmlns:a16="http://schemas.microsoft.com/office/drawing/2014/main" id="{7B5D275D-000A-64DB-FF38-CCA6094371F3}"/>
                </a:ext>
              </a:extLst>
            </p:cNvPr>
            <p:cNvSpPr/>
            <p:nvPr/>
          </p:nvSpPr>
          <p:spPr>
            <a:xfrm>
              <a:off x="9306963" y="2734148"/>
              <a:ext cx="508928" cy="855538"/>
            </a:xfrm>
            <a:custGeom>
              <a:avLst/>
              <a:gdLst>
                <a:gd name="connsiteX0" fmla="*/ 425513 w 425513"/>
                <a:gd name="connsiteY0" fmla="*/ 0 h 724277"/>
                <a:gd name="connsiteX1" fmla="*/ 0 w 425513"/>
                <a:gd name="connsiteY1" fmla="*/ 724277 h 724277"/>
                <a:gd name="connsiteX0" fmla="*/ 425513 w 450380"/>
                <a:gd name="connsiteY0" fmla="*/ 0 h 724277"/>
                <a:gd name="connsiteX1" fmla="*/ 0 w 450380"/>
                <a:gd name="connsiteY1" fmla="*/ 724277 h 724277"/>
                <a:gd name="connsiteX0" fmla="*/ 425513 w 457722"/>
                <a:gd name="connsiteY0" fmla="*/ 0 h 750688"/>
                <a:gd name="connsiteX1" fmla="*/ 0 w 457722"/>
                <a:gd name="connsiteY1" fmla="*/ 724277 h 750688"/>
                <a:gd name="connsiteX0" fmla="*/ 425513 w 467620"/>
                <a:gd name="connsiteY0" fmla="*/ 0 h 806407"/>
                <a:gd name="connsiteX1" fmla="*/ 0 w 467620"/>
                <a:gd name="connsiteY1" fmla="*/ 724277 h 806407"/>
                <a:gd name="connsiteX0" fmla="*/ 506995 w 540818"/>
                <a:gd name="connsiteY0" fmla="*/ 0 h 846153"/>
                <a:gd name="connsiteX1" fmla="*/ 0 w 540818"/>
                <a:gd name="connsiteY1" fmla="*/ 769544 h 846153"/>
                <a:gd name="connsiteX0" fmla="*/ 506995 w 508928"/>
                <a:gd name="connsiteY0" fmla="*/ 0 h 855538"/>
                <a:gd name="connsiteX1" fmla="*/ 0 w 508928"/>
                <a:gd name="connsiteY1" fmla="*/ 769544 h 855538"/>
              </a:gdLst>
              <a:ahLst/>
              <a:cxnLst>
                <a:cxn ang="0">
                  <a:pos x="connsiteX0" y="connsiteY0"/>
                </a:cxn>
                <a:cxn ang="0">
                  <a:pos x="connsiteX1" y="connsiteY1"/>
                </a:cxn>
              </a:cxnLst>
              <a:rect l="l" t="t" r="r" b="b"/>
              <a:pathLst>
                <a:path w="508928" h="855538">
                  <a:moveTo>
                    <a:pt x="506995" y="0"/>
                  </a:moveTo>
                  <a:cubicBezTo>
                    <a:pt x="528120" y="721260"/>
                    <a:pt x="377229" y="1017005"/>
                    <a:pt x="0" y="769544"/>
                  </a:cubicBezTo>
                </a:path>
              </a:pathLst>
            </a:custGeom>
            <a:noFill/>
            <a:ln>
              <a:solidFill>
                <a:schemeClr val="accent4">
                  <a:lumMod val="75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Freeform: Shape 14">
              <a:extLst>
                <a:ext uri="{FF2B5EF4-FFF2-40B4-BE49-F238E27FC236}">
                  <a16:creationId xmlns:a16="http://schemas.microsoft.com/office/drawing/2014/main" id="{8910A7E3-1325-EA77-0B2D-6C122011740F}"/>
                </a:ext>
              </a:extLst>
            </p:cNvPr>
            <p:cNvSpPr/>
            <p:nvPr/>
          </p:nvSpPr>
          <p:spPr>
            <a:xfrm flipH="1">
              <a:off x="9982200" y="2734148"/>
              <a:ext cx="508928" cy="855538"/>
            </a:xfrm>
            <a:custGeom>
              <a:avLst/>
              <a:gdLst>
                <a:gd name="connsiteX0" fmla="*/ 425513 w 425513"/>
                <a:gd name="connsiteY0" fmla="*/ 0 h 724277"/>
                <a:gd name="connsiteX1" fmla="*/ 0 w 425513"/>
                <a:gd name="connsiteY1" fmla="*/ 724277 h 724277"/>
                <a:gd name="connsiteX0" fmla="*/ 425513 w 450380"/>
                <a:gd name="connsiteY0" fmla="*/ 0 h 724277"/>
                <a:gd name="connsiteX1" fmla="*/ 0 w 450380"/>
                <a:gd name="connsiteY1" fmla="*/ 724277 h 724277"/>
                <a:gd name="connsiteX0" fmla="*/ 425513 w 457722"/>
                <a:gd name="connsiteY0" fmla="*/ 0 h 750688"/>
                <a:gd name="connsiteX1" fmla="*/ 0 w 457722"/>
                <a:gd name="connsiteY1" fmla="*/ 724277 h 750688"/>
                <a:gd name="connsiteX0" fmla="*/ 425513 w 467620"/>
                <a:gd name="connsiteY0" fmla="*/ 0 h 806407"/>
                <a:gd name="connsiteX1" fmla="*/ 0 w 467620"/>
                <a:gd name="connsiteY1" fmla="*/ 724277 h 806407"/>
                <a:gd name="connsiteX0" fmla="*/ 506995 w 540818"/>
                <a:gd name="connsiteY0" fmla="*/ 0 h 846153"/>
                <a:gd name="connsiteX1" fmla="*/ 0 w 540818"/>
                <a:gd name="connsiteY1" fmla="*/ 769544 h 846153"/>
                <a:gd name="connsiteX0" fmla="*/ 506995 w 508928"/>
                <a:gd name="connsiteY0" fmla="*/ 0 h 855538"/>
                <a:gd name="connsiteX1" fmla="*/ 0 w 508928"/>
                <a:gd name="connsiteY1" fmla="*/ 769544 h 855538"/>
              </a:gdLst>
              <a:ahLst/>
              <a:cxnLst>
                <a:cxn ang="0">
                  <a:pos x="connsiteX0" y="connsiteY0"/>
                </a:cxn>
                <a:cxn ang="0">
                  <a:pos x="connsiteX1" y="connsiteY1"/>
                </a:cxn>
              </a:cxnLst>
              <a:rect l="l" t="t" r="r" b="b"/>
              <a:pathLst>
                <a:path w="508928" h="855538">
                  <a:moveTo>
                    <a:pt x="506995" y="0"/>
                  </a:moveTo>
                  <a:cubicBezTo>
                    <a:pt x="528120" y="721260"/>
                    <a:pt x="377229" y="1017005"/>
                    <a:pt x="0" y="769544"/>
                  </a:cubicBezTo>
                </a:path>
              </a:pathLst>
            </a:custGeom>
            <a:noFill/>
            <a:ln>
              <a:solidFill>
                <a:srgbClr val="00B0F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 name="TextBox 15">
              <a:extLst>
                <a:ext uri="{FF2B5EF4-FFF2-40B4-BE49-F238E27FC236}">
                  <a16:creationId xmlns:a16="http://schemas.microsoft.com/office/drawing/2014/main" id="{CFB9BB3C-1CB0-9706-00E4-FEE12DABCA89}"/>
                </a:ext>
              </a:extLst>
            </p:cNvPr>
            <p:cNvSpPr txBox="1"/>
            <p:nvPr/>
          </p:nvSpPr>
          <p:spPr>
            <a:xfrm>
              <a:off x="9358682" y="3014772"/>
              <a:ext cx="508927" cy="302810"/>
            </a:xfrm>
            <a:prstGeom prst="rect">
              <a:avLst/>
            </a:prstGeom>
            <a:noFill/>
          </p:spPr>
          <p:txBody>
            <a:bodyPr wrap="square" rtlCol="0">
              <a:spAutoFit/>
            </a:bodyPr>
            <a:lstStyle/>
            <a:p>
              <a:pPr algn="ctr"/>
              <a:r>
                <a:rPr lang="es-ES" sz="1100" dirty="0">
                  <a:solidFill>
                    <a:schemeClr val="bg1">
                      <a:lumMod val="50000"/>
                    </a:schemeClr>
                  </a:solidFill>
                </a:rPr>
                <a:t>Sí</a:t>
              </a:r>
              <a:endParaRPr lang="en-US" sz="1100" dirty="0">
                <a:solidFill>
                  <a:schemeClr val="bg1">
                    <a:lumMod val="50000"/>
                  </a:schemeClr>
                </a:solidFill>
              </a:endParaRPr>
            </a:p>
          </p:txBody>
        </p:sp>
        <p:sp>
          <p:nvSpPr>
            <p:cNvPr id="17" name="TextBox 16">
              <a:extLst>
                <a:ext uri="{FF2B5EF4-FFF2-40B4-BE49-F238E27FC236}">
                  <a16:creationId xmlns:a16="http://schemas.microsoft.com/office/drawing/2014/main" id="{334A2783-7D7C-32F2-B76C-3869E4D155BE}"/>
                </a:ext>
              </a:extLst>
            </p:cNvPr>
            <p:cNvSpPr txBox="1"/>
            <p:nvPr/>
          </p:nvSpPr>
          <p:spPr>
            <a:xfrm>
              <a:off x="9943013" y="3005393"/>
              <a:ext cx="508927" cy="302810"/>
            </a:xfrm>
            <a:prstGeom prst="rect">
              <a:avLst/>
            </a:prstGeom>
            <a:noFill/>
          </p:spPr>
          <p:txBody>
            <a:bodyPr wrap="square" rtlCol="0">
              <a:spAutoFit/>
            </a:bodyPr>
            <a:lstStyle/>
            <a:p>
              <a:pPr algn="ctr"/>
              <a:r>
                <a:rPr lang="es-ES" sz="1100" dirty="0">
                  <a:solidFill>
                    <a:schemeClr val="bg1">
                      <a:lumMod val="50000"/>
                    </a:schemeClr>
                  </a:solidFill>
                </a:rPr>
                <a:t>No</a:t>
              </a:r>
              <a:endParaRPr lang="en-US" sz="1100" dirty="0">
                <a:solidFill>
                  <a:schemeClr val="bg1">
                    <a:lumMod val="50000"/>
                  </a:schemeClr>
                </a:solidFill>
              </a:endParaRPr>
            </a:p>
          </p:txBody>
        </p:sp>
      </p:grpSp>
      <p:grpSp>
        <p:nvGrpSpPr>
          <p:cNvPr id="38" name="Group 37">
            <a:extLst>
              <a:ext uri="{FF2B5EF4-FFF2-40B4-BE49-F238E27FC236}">
                <a16:creationId xmlns:a16="http://schemas.microsoft.com/office/drawing/2014/main" id="{17F288C9-8836-BA32-678B-052FB23628C1}"/>
              </a:ext>
            </a:extLst>
          </p:cNvPr>
          <p:cNvGrpSpPr/>
          <p:nvPr/>
        </p:nvGrpSpPr>
        <p:grpSpPr>
          <a:xfrm>
            <a:off x="6501941" y="3156558"/>
            <a:ext cx="4075173" cy="2317687"/>
            <a:chOff x="7387627" y="4110273"/>
            <a:chExt cx="4075173" cy="2317687"/>
          </a:xfrm>
        </p:grpSpPr>
        <p:sp>
          <p:nvSpPr>
            <p:cNvPr id="27" name="Rectangle: Rounded Corners 26">
              <a:extLst>
                <a:ext uri="{FF2B5EF4-FFF2-40B4-BE49-F238E27FC236}">
                  <a16:creationId xmlns:a16="http://schemas.microsoft.com/office/drawing/2014/main" id="{C2199C4D-A3E4-FB23-8930-A396119B08B3}"/>
                </a:ext>
              </a:extLst>
            </p:cNvPr>
            <p:cNvSpPr/>
            <p:nvPr/>
          </p:nvSpPr>
          <p:spPr>
            <a:xfrm>
              <a:off x="7387627" y="4110273"/>
              <a:ext cx="4075173" cy="2317687"/>
            </a:xfrm>
            <a:prstGeom prst="roundRect">
              <a:avLst>
                <a:gd name="adj" fmla="val 3386"/>
              </a:avLst>
            </a:prstGeom>
            <a:gradFill flip="none" rotWithShape="1">
              <a:gsLst>
                <a:gs pos="0">
                  <a:schemeClr val="tx1">
                    <a:lumMod val="65000"/>
                    <a:lumOff val="35000"/>
                    <a:shade val="30000"/>
                    <a:satMod val="115000"/>
                  </a:schemeClr>
                </a:gs>
                <a:gs pos="50000">
                  <a:schemeClr val="tx1">
                    <a:lumMod val="65000"/>
                    <a:lumOff val="35000"/>
                    <a:shade val="67500"/>
                    <a:satMod val="115000"/>
                  </a:schemeClr>
                </a:gs>
                <a:gs pos="100000">
                  <a:schemeClr val="tx1">
                    <a:lumMod val="65000"/>
                    <a:lumOff val="35000"/>
                    <a:shade val="100000"/>
                    <a:satMod val="1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64B0AA5-B48F-56A8-D634-D242284FC654}"/>
                </a:ext>
              </a:extLst>
            </p:cNvPr>
            <p:cNvSpPr/>
            <p:nvPr/>
          </p:nvSpPr>
          <p:spPr>
            <a:xfrm>
              <a:off x="7919075" y="4613375"/>
              <a:ext cx="3026566" cy="1617754"/>
            </a:xfrm>
            <a:prstGeom prst="rect">
              <a:avLst/>
            </a:prstGeom>
            <a:solidFill>
              <a:schemeClr val="accent5">
                <a:lumMod val="50000"/>
              </a:schemeClr>
            </a:solidFill>
            <a:ln w="12700">
              <a:solidFill>
                <a:srgbClr val="6C91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4164D54-EFE0-1E79-EB1B-EA13908E46B8}"/>
                </a:ext>
              </a:extLst>
            </p:cNvPr>
            <p:cNvSpPr txBox="1"/>
            <p:nvPr/>
          </p:nvSpPr>
          <p:spPr>
            <a:xfrm>
              <a:off x="8021369" y="4715619"/>
              <a:ext cx="1338773" cy="261610"/>
            </a:xfrm>
            <a:prstGeom prst="rect">
              <a:avLst/>
            </a:prstGeom>
            <a:solidFill>
              <a:srgbClr val="0070C0"/>
            </a:solidFill>
            <a:ln>
              <a:noFill/>
            </a:ln>
          </p:spPr>
          <p:txBody>
            <a:bodyPr wrap="square" rtlCol="0">
              <a:spAutoFit/>
            </a:bodyPr>
            <a:lstStyle/>
            <a:p>
              <a:pPr algn="ctr"/>
              <a:r>
                <a:rPr lang="es-ES" sz="1100" dirty="0">
                  <a:solidFill>
                    <a:schemeClr val="bg1"/>
                  </a:solidFill>
                </a:rPr>
                <a:t>Pago de préstamo</a:t>
              </a:r>
              <a:endParaRPr lang="en-US" sz="1100" dirty="0">
                <a:solidFill>
                  <a:schemeClr val="bg1"/>
                </a:solidFill>
              </a:endParaRPr>
            </a:p>
          </p:txBody>
        </p:sp>
        <p:sp>
          <p:nvSpPr>
            <p:cNvPr id="20" name="TextBox 19">
              <a:extLst>
                <a:ext uri="{FF2B5EF4-FFF2-40B4-BE49-F238E27FC236}">
                  <a16:creationId xmlns:a16="http://schemas.microsoft.com/office/drawing/2014/main" id="{77CBB86C-1426-7F0E-D5B0-A5DFF406359F}"/>
                </a:ext>
              </a:extLst>
            </p:cNvPr>
            <p:cNvSpPr txBox="1"/>
            <p:nvPr/>
          </p:nvSpPr>
          <p:spPr>
            <a:xfrm>
              <a:off x="8021369" y="5106628"/>
              <a:ext cx="1338773" cy="261610"/>
            </a:xfrm>
            <a:prstGeom prst="rect">
              <a:avLst/>
            </a:prstGeom>
            <a:solidFill>
              <a:srgbClr val="0070C0"/>
            </a:solidFill>
            <a:ln>
              <a:noFill/>
            </a:ln>
          </p:spPr>
          <p:txBody>
            <a:bodyPr wrap="square" rtlCol="0">
              <a:spAutoFit/>
            </a:bodyPr>
            <a:lstStyle/>
            <a:p>
              <a:pPr algn="ctr"/>
              <a:r>
                <a:rPr lang="es-ES" sz="1100" dirty="0">
                  <a:solidFill>
                    <a:schemeClr val="bg1"/>
                  </a:solidFill>
                </a:rPr>
                <a:t>Transferencia</a:t>
              </a:r>
              <a:endParaRPr lang="en-US" sz="1100" dirty="0">
                <a:solidFill>
                  <a:schemeClr val="bg1"/>
                </a:solidFill>
              </a:endParaRPr>
            </a:p>
          </p:txBody>
        </p:sp>
        <p:sp>
          <p:nvSpPr>
            <p:cNvPr id="21" name="TextBox 20">
              <a:extLst>
                <a:ext uri="{FF2B5EF4-FFF2-40B4-BE49-F238E27FC236}">
                  <a16:creationId xmlns:a16="http://schemas.microsoft.com/office/drawing/2014/main" id="{1082232F-9AA4-7046-4FA4-0D497759A583}"/>
                </a:ext>
              </a:extLst>
            </p:cNvPr>
            <p:cNvSpPr txBox="1"/>
            <p:nvPr/>
          </p:nvSpPr>
          <p:spPr>
            <a:xfrm>
              <a:off x="8021369" y="5509015"/>
              <a:ext cx="1338773" cy="261610"/>
            </a:xfrm>
            <a:prstGeom prst="rect">
              <a:avLst/>
            </a:prstGeom>
            <a:solidFill>
              <a:srgbClr val="0070C0"/>
            </a:solidFill>
            <a:ln>
              <a:noFill/>
            </a:ln>
          </p:spPr>
          <p:txBody>
            <a:bodyPr wrap="square" rtlCol="0">
              <a:spAutoFit/>
            </a:bodyPr>
            <a:lstStyle/>
            <a:p>
              <a:pPr algn="ctr"/>
              <a:r>
                <a:rPr lang="es-ES" sz="1100" dirty="0">
                  <a:solidFill>
                    <a:schemeClr val="bg1"/>
                  </a:solidFill>
                </a:rPr>
                <a:t>Paso de servicios</a:t>
              </a:r>
              <a:endParaRPr lang="en-US" sz="1100" dirty="0">
                <a:solidFill>
                  <a:schemeClr val="bg1"/>
                </a:solidFill>
              </a:endParaRPr>
            </a:p>
          </p:txBody>
        </p:sp>
        <p:sp>
          <p:nvSpPr>
            <p:cNvPr id="23" name="TextBox 22">
              <a:extLst>
                <a:ext uri="{FF2B5EF4-FFF2-40B4-BE49-F238E27FC236}">
                  <a16:creationId xmlns:a16="http://schemas.microsoft.com/office/drawing/2014/main" id="{F30C80A6-97D2-99D7-F98C-83F849A210A8}"/>
                </a:ext>
              </a:extLst>
            </p:cNvPr>
            <p:cNvSpPr txBox="1"/>
            <p:nvPr/>
          </p:nvSpPr>
          <p:spPr>
            <a:xfrm>
              <a:off x="8021369" y="5898355"/>
              <a:ext cx="1338773" cy="261610"/>
            </a:xfrm>
            <a:prstGeom prst="rect">
              <a:avLst/>
            </a:prstGeom>
            <a:solidFill>
              <a:srgbClr val="0070C0"/>
            </a:solidFill>
            <a:ln>
              <a:noFill/>
            </a:ln>
          </p:spPr>
          <p:txBody>
            <a:bodyPr wrap="square" rtlCol="0">
              <a:spAutoFit/>
            </a:bodyPr>
            <a:lstStyle/>
            <a:p>
              <a:pPr algn="ctr"/>
              <a:r>
                <a:rPr lang="es-ES" sz="1100" dirty="0">
                  <a:solidFill>
                    <a:schemeClr val="bg1"/>
                  </a:solidFill>
                </a:rPr>
                <a:t>Depósito</a:t>
              </a:r>
              <a:endParaRPr lang="en-US" sz="1100" dirty="0">
                <a:solidFill>
                  <a:schemeClr val="bg1"/>
                </a:solidFill>
              </a:endParaRPr>
            </a:p>
          </p:txBody>
        </p:sp>
        <p:sp>
          <p:nvSpPr>
            <p:cNvPr id="24" name="TextBox 23">
              <a:extLst>
                <a:ext uri="{FF2B5EF4-FFF2-40B4-BE49-F238E27FC236}">
                  <a16:creationId xmlns:a16="http://schemas.microsoft.com/office/drawing/2014/main" id="{868DED23-CED2-C05A-6B57-FC5EB7D870ED}"/>
                </a:ext>
              </a:extLst>
            </p:cNvPr>
            <p:cNvSpPr txBox="1"/>
            <p:nvPr/>
          </p:nvSpPr>
          <p:spPr>
            <a:xfrm>
              <a:off x="9516631" y="4715619"/>
              <a:ext cx="1338773" cy="261610"/>
            </a:xfrm>
            <a:prstGeom prst="rect">
              <a:avLst/>
            </a:prstGeom>
            <a:solidFill>
              <a:srgbClr val="0070C0"/>
            </a:solidFill>
            <a:ln>
              <a:noFill/>
            </a:ln>
          </p:spPr>
          <p:txBody>
            <a:bodyPr wrap="square" rtlCol="0">
              <a:spAutoFit/>
            </a:bodyPr>
            <a:lstStyle/>
            <a:p>
              <a:pPr algn="ctr"/>
              <a:r>
                <a:rPr lang="es-ES" sz="1100" dirty="0">
                  <a:solidFill>
                    <a:schemeClr val="bg1"/>
                  </a:solidFill>
                </a:rPr>
                <a:t>Retiro</a:t>
              </a:r>
              <a:endParaRPr lang="en-US" sz="1100" dirty="0">
                <a:solidFill>
                  <a:schemeClr val="bg1"/>
                </a:solidFill>
              </a:endParaRPr>
            </a:p>
          </p:txBody>
        </p:sp>
        <p:sp>
          <p:nvSpPr>
            <p:cNvPr id="25" name="TextBox 24">
              <a:extLst>
                <a:ext uri="{FF2B5EF4-FFF2-40B4-BE49-F238E27FC236}">
                  <a16:creationId xmlns:a16="http://schemas.microsoft.com/office/drawing/2014/main" id="{CF6A82FF-BFD4-BD87-7226-40FF360AAD19}"/>
                </a:ext>
              </a:extLst>
            </p:cNvPr>
            <p:cNvSpPr txBox="1"/>
            <p:nvPr/>
          </p:nvSpPr>
          <p:spPr>
            <a:xfrm>
              <a:off x="9516631" y="5106628"/>
              <a:ext cx="1338773" cy="261610"/>
            </a:xfrm>
            <a:prstGeom prst="rect">
              <a:avLst/>
            </a:prstGeom>
            <a:solidFill>
              <a:srgbClr val="0070C0"/>
            </a:solidFill>
            <a:ln>
              <a:noFill/>
            </a:ln>
          </p:spPr>
          <p:txBody>
            <a:bodyPr wrap="square" rtlCol="0">
              <a:spAutoFit/>
            </a:bodyPr>
            <a:lstStyle/>
            <a:p>
              <a:pPr algn="ctr"/>
              <a:r>
                <a:rPr lang="es-ES" sz="1100" dirty="0">
                  <a:solidFill>
                    <a:schemeClr val="bg1"/>
                  </a:solidFill>
                </a:rPr>
                <a:t>Consulta de saldo</a:t>
              </a:r>
              <a:endParaRPr lang="en-US" sz="1100" dirty="0">
                <a:solidFill>
                  <a:schemeClr val="bg1"/>
                </a:solidFill>
              </a:endParaRPr>
            </a:p>
          </p:txBody>
        </p:sp>
        <p:sp>
          <p:nvSpPr>
            <p:cNvPr id="26" name="TextBox 25">
              <a:extLst>
                <a:ext uri="{FF2B5EF4-FFF2-40B4-BE49-F238E27FC236}">
                  <a16:creationId xmlns:a16="http://schemas.microsoft.com/office/drawing/2014/main" id="{B737EFEA-1968-4CE6-548A-CA7997AEA987}"/>
                </a:ext>
              </a:extLst>
            </p:cNvPr>
            <p:cNvSpPr txBox="1"/>
            <p:nvPr/>
          </p:nvSpPr>
          <p:spPr>
            <a:xfrm>
              <a:off x="9516631" y="5509015"/>
              <a:ext cx="1338773" cy="261610"/>
            </a:xfrm>
            <a:prstGeom prst="rect">
              <a:avLst/>
            </a:prstGeom>
            <a:solidFill>
              <a:srgbClr val="0070C0"/>
            </a:solidFill>
            <a:ln>
              <a:noFill/>
            </a:ln>
          </p:spPr>
          <p:txBody>
            <a:bodyPr wrap="square" rtlCol="0">
              <a:spAutoFit/>
            </a:bodyPr>
            <a:lstStyle/>
            <a:p>
              <a:pPr algn="ctr"/>
              <a:r>
                <a:rPr lang="es-ES" sz="1100" dirty="0">
                  <a:solidFill>
                    <a:schemeClr val="bg1"/>
                  </a:solidFill>
                </a:rPr>
                <a:t>Otra operación</a:t>
              </a:r>
              <a:endParaRPr lang="en-US" sz="1100" dirty="0">
                <a:solidFill>
                  <a:schemeClr val="bg1"/>
                </a:solidFill>
              </a:endParaRPr>
            </a:p>
          </p:txBody>
        </p:sp>
        <p:sp>
          <p:nvSpPr>
            <p:cNvPr id="29" name="Rectangle: Rounded Corners 28">
              <a:extLst>
                <a:ext uri="{FF2B5EF4-FFF2-40B4-BE49-F238E27FC236}">
                  <a16:creationId xmlns:a16="http://schemas.microsoft.com/office/drawing/2014/main" id="{7EA50950-3F62-1F55-3CA2-218F1C16B75C}"/>
                </a:ext>
              </a:extLst>
            </p:cNvPr>
            <p:cNvSpPr/>
            <p:nvPr/>
          </p:nvSpPr>
          <p:spPr>
            <a:xfrm>
              <a:off x="11008995" y="4715619"/>
              <a:ext cx="317626" cy="261610"/>
            </a:xfrm>
            <a:prstGeom prst="round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DAC0E0CE-6794-377D-BEAF-211841ABC4FD}"/>
                </a:ext>
              </a:extLst>
            </p:cNvPr>
            <p:cNvSpPr/>
            <p:nvPr/>
          </p:nvSpPr>
          <p:spPr>
            <a:xfrm>
              <a:off x="11008995" y="5095051"/>
              <a:ext cx="317626" cy="261610"/>
            </a:xfrm>
            <a:prstGeom prst="round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1CDB70D3-789D-C27F-1270-D41E9E34D680}"/>
                </a:ext>
              </a:extLst>
            </p:cNvPr>
            <p:cNvSpPr/>
            <p:nvPr/>
          </p:nvSpPr>
          <p:spPr>
            <a:xfrm>
              <a:off x="11008995" y="5474483"/>
              <a:ext cx="317626" cy="261610"/>
            </a:xfrm>
            <a:prstGeom prst="round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B32A7E0C-F1BB-ECA1-5A63-CC6F7F4E238D}"/>
                </a:ext>
              </a:extLst>
            </p:cNvPr>
            <p:cNvSpPr/>
            <p:nvPr/>
          </p:nvSpPr>
          <p:spPr>
            <a:xfrm>
              <a:off x="11008995" y="5853915"/>
              <a:ext cx="317626" cy="261610"/>
            </a:xfrm>
            <a:prstGeom prst="round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8433928F-8387-E011-7D0A-6842694BE7A6}"/>
                </a:ext>
              </a:extLst>
            </p:cNvPr>
            <p:cNvSpPr/>
            <p:nvPr/>
          </p:nvSpPr>
          <p:spPr>
            <a:xfrm>
              <a:off x="7521906" y="4723163"/>
              <a:ext cx="317626" cy="261610"/>
            </a:xfrm>
            <a:prstGeom prst="round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63590106-E6E1-6A0B-9BE4-704C5900F3EB}"/>
                </a:ext>
              </a:extLst>
            </p:cNvPr>
            <p:cNvSpPr/>
            <p:nvPr/>
          </p:nvSpPr>
          <p:spPr>
            <a:xfrm>
              <a:off x="7521906" y="5102595"/>
              <a:ext cx="317626" cy="261610"/>
            </a:xfrm>
            <a:prstGeom prst="round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0EDE5338-A6FC-E942-D851-CB4C227B82C7}"/>
                </a:ext>
              </a:extLst>
            </p:cNvPr>
            <p:cNvSpPr/>
            <p:nvPr/>
          </p:nvSpPr>
          <p:spPr>
            <a:xfrm>
              <a:off x="7521906" y="5482027"/>
              <a:ext cx="317626" cy="261610"/>
            </a:xfrm>
            <a:prstGeom prst="round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0C950952-36C6-BADF-2BEA-96BF3E79E13E}"/>
                </a:ext>
              </a:extLst>
            </p:cNvPr>
            <p:cNvSpPr/>
            <p:nvPr/>
          </p:nvSpPr>
          <p:spPr>
            <a:xfrm>
              <a:off x="7521906" y="5861459"/>
              <a:ext cx="317626" cy="261610"/>
            </a:xfrm>
            <a:prstGeom prst="round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8810AAF9-8449-B7CC-2EC8-FFDDF299A7C2}"/>
                </a:ext>
              </a:extLst>
            </p:cNvPr>
            <p:cNvSpPr txBox="1"/>
            <p:nvPr/>
          </p:nvSpPr>
          <p:spPr>
            <a:xfrm>
              <a:off x="7460869" y="4239215"/>
              <a:ext cx="1170513" cy="307777"/>
            </a:xfrm>
            <a:prstGeom prst="rect">
              <a:avLst/>
            </a:prstGeom>
            <a:noFill/>
          </p:spPr>
          <p:txBody>
            <a:bodyPr wrap="none" rtlCol="0">
              <a:spAutoFit/>
            </a:bodyPr>
            <a:lstStyle/>
            <a:p>
              <a:r>
                <a:rPr lang="es-ES" b="1" dirty="0">
                  <a:solidFill>
                    <a:srgbClr val="92D050"/>
                  </a:solidFill>
                </a:rPr>
                <a:t>Banco ABC</a:t>
              </a:r>
              <a:endParaRPr lang="en-US" b="1" dirty="0">
                <a:solidFill>
                  <a:srgbClr val="92D050"/>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7B0424-13E9-17D5-303C-3898AE35A58D}"/>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6938644" y="1045027"/>
            <a:ext cx="5253356" cy="5253356"/>
          </a:xfrm>
          <a:prstGeom prst="rect">
            <a:avLst/>
          </a:prstGeom>
        </p:spPr>
      </p:pic>
      <p:sp>
        <p:nvSpPr>
          <p:cNvPr id="2" name="Title 1">
            <a:extLst>
              <a:ext uri="{FF2B5EF4-FFF2-40B4-BE49-F238E27FC236}">
                <a16:creationId xmlns:a16="http://schemas.microsoft.com/office/drawing/2014/main" id="{6161FBA0-0CED-4DB2-9F90-291CADA87F48}"/>
              </a:ext>
            </a:extLst>
          </p:cNvPr>
          <p:cNvSpPr>
            <a:spLocks noGrp="1"/>
          </p:cNvSpPr>
          <p:nvPr>
            <p:ph type="title"/>
          </p:nvPr>
        </p:nvSpPr>
        <p:spPr/>
        <p:txBody>
          <a:bodyPr/>
          <a:lstStyle/>
          <a:p>
            <a:r>
              <a:rPr lang="es-ES" dirty="0"/>
              <a:t>Logro de aprendizaje</a:t>
            </a:r>
            <a:endParaRPr lang="en-US" dirty="0"/>
          </a:p>
        </p:txBody>
      </p:sp>
      <p:sp>
        <p:nvSpPr>
          <p:cNvPr id="3" name="Content Placeholder 2">
            <a:extLst>
              <a:ext uri="{FF2B5EF4-FFF2-40B4-BE49-F238E27FC236}">
                <a16:creationId xmlns:a16="http://schemas.microsoft.com/office/drawing/2014/main" id="{1DD37DCA-ED6E-428D-A48F-1565A2EA97A3}"/>
              </a:ext>
            </a:extLst>
          </p:cNvPr>
          <p:cNvSpPr>
            <a:spLocks noGrp="1"/>
          </p:cNvSpPr>
          <p:nvPr>
            <p:ph sz="quarter" idx="13"/>
          </p:nvPr>
        </p:nvSpPr>
        <p:spPr>
          <a:xfrm>
            <a:off x="838200" y="1846263"/>
            <a:ext cx="6105808" cy="4373562"/>
          </a:xfrm>
        </p:spPr>
        <p:txBody>
          <a:bodyPr>
            <a:normAutofit/>
          </a:bodyPr>
          <a:lstStyle/>
          <a:p>
            <a:pPr marL="50800" indent="0">
              <a:lnSpc>
                <a:spcPct val="100000"/>
              </a:lnSpc>
              <a:buNone/>
            </a:pPr>
            <a:r>
              <a:rPr lang="es-ES" dirty="0">
                <a:solidFill>
                  <a:srgbClr val="00B050"/>
                </a:solidFill>
              </a:rPr>
              <a:t>Al finalizar la sesión, </a:t>
            </a:r>
            <a:r>
              <a:rPr lang="es-ES" dirty="0">
                <a:solidFill>
                  <a:schemeClr val="accent2"/>
                </a:solidFill>
              </a:rPr>
              <a:t>el estudiante</a:t>
            </a:r>
            <a:r>
              <a:rPr lang="es-ES" dirty="0">
                <a:solidFill>
                  <a:srgbClr val="00B050"/>
                </a:solidFill>
              </a:rPr>
              <a:t> </a:t>
            </a:r>
            <a:r>
              <a:rPr lang="es-ES" dirty="0">
                <a:solidFill>
                  <a:schemeClr val="accent1"/>
                </a:solidFill>
              </a:rPr>
              <a:t>desarrolla</a:t>
            </a:r>
            <a:r>
              <a:rPr lang="es-ES" dirty="0">
                <a:solidFill>
                  <a:srgbClr val="00B050"/>
                </a:solidFill>
              </a:rPr>
              <a:t> </a:t>
            </a:r>
            <a:r>
              <a:rPr lang="es-ES" dirty="0">
                <a:solidFill>
                  <a:schemeClr val="accent4"/>
                </a:solidFill>
              </a:rPr>
              <a:t>programas con estructuras condicionales</a:t>
            </a:r>
            <a:r>
              <a:rPr lang="es-ES" dirty="0">
                <a:solidFill>
                  <a:srgbClr val="00B050"/>
                </a:solidFill>
              </a:rPr>
              <a:t> </a:t>
            </a:r>
            <a:r>
              <a:rPr lang="es-ES" dirty="0">
                <a:solidFill>
                  <a:srgbClr val="C00000"/>
                </a:solidFill>
              </a:rPr>
              <a:t>utilizando un IDE Java</a:t>
            </a:r>
            <a:r>
              <a:rPr lang="es-ES" dirty="0">
                <a:solidFill>
                  <a:srgbClr val="00B050"/>
                </a:solidFill>
              </a:rPr>
              <a:t> </a:t>
            </a:r>
            <a:r>
              <a:rPr lang="es-ES" dirty="0">
                <a:solidFill>
                  <a:srgbClr val="7030A0"/>
                </a:solidFill>
              </a:rPr>
              <a:t>para resolver problemas de decisión.</a:t>
            </a:r>
          </a:p>
        </p:txBody>
      </p:sp>
      <p:sp>
        <p:nvSpPr>
          <p:cNvPr id="4" name="Slide Number Placeholder 3">
            <a:extLst>
              <a:ext uri="{FF2B5EF4-FFF2-40B4-BE49-F238E27FC236}">
                <a16:creationId xmlns:a16="http://schemas.microsoft.com/office/drawing/2014/main" id="{F64BAA4A-C973-4872-991F-677E20FF8B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8</a:t>
            </a:fld>
            <a:endParaRPr lang="es-PE"/>
          </a:p>
        </p:txBody>
      </p:sp>
      <p:sp>
        <p:nvSpPr>
          <p:cNvPr id="6" name="TextBox 5">
            <a:extLst>
              <a:ext uri="{FF2B5EF4-FFF2-40B4-BE49-F238E27FC236}">
                <a16:creationId xmlns:a16="http://schemas.microsoft.com/office/drawing/2014/main" id="{56ADFA50-2D5F-464F-91EF-0F1911F9CA8D}"/>
              </a:ext>
            </a:extLst>
          </p:cNvPr>
          <p:cNvSpPr txBox="1"/>
          <p:nvPr/>
        </p:nvSpPr>
        <p:spPr>
          <a:xfrm>
            <a:off x="126748" y="6376940"/>
            <a:ext cx="10583502" cy="369332"/>
          </a:xfrm>
          <a:prstGeom prst="rect">
            <a:avLst/>
          </a:prstGeom>
          <a:noFill/>
        </p:spPr>
        <p:txBody>
          <a:bodyPr wrap="square" rtlCol="0">
            <a:spAutoFit/>
          </a:bodyPr>
          <a:lstStyle/>
          <a:p>
            <a:r>
              <a:rPr lang="en-US" sz="900" dirty="0">
                <a:solidFill>
                  <a:schemeClr val="accent3"/>
                </a:solidFill>
              </a:rPr>
              <a:t>Imagen </a:t>
            </a:r>
            <a:r>
              <a:rPr lang="en-US" sz="900" dirty="0" err="1">
                <a:solidFill>
                  <a:schemeClr val="accent3"/>
                </a:solidFill>
              </a:rPr>
              <a:t>obtenida</a:t>
            </a:r>
            <a:r>
              <a:rPr lang="en-US" sz="900" dirty="0">
                <a:solidFill>
                  <a:schemeClr val="accent3"/>
                </a:solidFill>
              </a:rPr>
              <a:t> de:</a:t>
            </a:r>
            <a:br>
              <a:rPr lang="en-US" sz="900" dirty="0">
                <a:solidFill>
                  <a:schemeClr val="accent3"/>
                </a:solidFill>
              </a:rPr>
            </a:br>
            <a:r>
              <a:rPr lang="en-US" sz="900" dirty="0">
                <a:solidFill>
                  <a:schemeClr val="accent3"/>
                </a:solidFill>
              </a:rPr>
              <a:t>https://img.freepik.com/free-vector/clever-man-student-standing-books-stack-with-flag-self-learning-personal-improvement-knowledge-obtaining-educational-achievement_335657-3461.jpg</a:t>
            </a:r>
          </a:p>
        </p:txBody>
      </p:sp>
    </p:spTree>
    <p:extLst>
      <p:ext uri="{BB962C8B-B14F-4D97-AF65-F5344CB8AC3E}">
        <p14:creationId xmlns:p14="http://schemas.microsoft.com/office/powerpoint/2010/main" val="2948176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B7613-AEC1-4435-8375-CCB96C0E89F5}"/>
              </a:ext>
            </a:extLst>
          </p:cNvPr>
          <p:cNvSpPr>
            <a:spLocks noGrp="1"/>
          </p:cNvSpPr>
          <p:nvPr>
            <p:ph type="title"/>
          </p:nvPr>
        </p:nvSpPr>
        <p:spPr>
          <a:xfrm>
            <a:off x="838200" y="541935"/>
            <a:ext cx="10515600" cy="785528"/>
          </a:xfrm>
        </p:spPr>
        <p:txBody>
          <a:bodyPr/>
          <a:lstStyle/>
          <a:p>
            <a:r>
              <a:rPr lang="es-ES" dirty="0"/>
              <a:t>Utilidad</a:t>
            </a:r>
            <a:endParaRPr lang="en-US" dirty="0"/>
          </a:p>
        </p:txBody>
      </p:sp>
      <p:sp>
        <p:nvSpPr>
          <p:cNvPr id="4" name="Slide Number Placeholder 3">
            <a:extLst>
              <a:ext uri="{FF2B5EF4-FFF2-40B4-BE49-F238E27FC236}">
                <a16:creationId xmlns:a16="http://schemas.microsoft.com/office/drawing/2014/main" id="{8E4C16D3-358F-4224-9D29-22D3C58B568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9</a:t>
            </a:fld>
            <a:endParaRPr lang="es-PE"/>
          </a:p>
        </p:txBody>
      </p:sp>
      <p:sp>
        <p:nvSpPr>
          <p:cNvPr id="9" name="Content Placeholder 8">
            <a:extLst>
              <a:ext uri="{FF2B5EF4-FFF2-40B4-BE49-F238E27FC236}">
                <a16:creationId xmlns:a16="http://schemas.microsoft.com/office/drawing/2014/main" id="{2C378254-1DCE-E852-BEB1-333FE86E811E}"/>
              </a:ext>
            </a:extLst>
          </p:cNvPr>
          <p:cNvSpPr>
            <a:spLocks noGrp="1"/>
          </p:cNvSpPr>
          <p:nvPr>
            <p:ph sz="quarter" idx="13"/>
          </p:nvPr>
        </p:nvSpPr>
        <p:spPr>
          <a:xfrm>
            <a:off x="838201" y="1538453"/>
            <a:ext cx="5716508" cy="3377587"/>
          </a:xfrm>
        </p:spPr>
        <p:txBody>
          <a:bodyPr>
            <a:normAutofit fontScale="77500" lnSpcReduction="20000"/>
          </a:bodyPr>
          <a:lstStyle/>
          <a:p>
            <a:pPr>
              <a:lnSpc>
                <a:spcPct val="120000"/>
              </a:lnSpc>
            </a:pPr>
            <a:r>
              <a:rPr lang="es-ES" dirty="0"/>
              <a:t>¿Qué situación real representa una condicional </a:t>
            </a:r>
            <a:r>
              <a:rPr lang="es-ES" b="1" dirty="0" err="1"/>
              <a:t>if</a:t>
            </a:r>
            <a:r>
              <a:rPr lang="es-ES" b="1" dirty="0"/>
              <a:t>..</a:t>
            </a:r>
            <a:r>
              <a:rPr lang="es-ES" b="1" dirty="0" err="1"/>
              <a:t>else</a:t>
            </a:r>
            <a:r>
              <a:rPr lang="es-ES" dirty="0"/>
              <a:t>?</a:t>
            </a:r>
          </a:p>
          <a:p>
            <a:pPr>
              <a:lnSpc>
                <a:spcPct val="120000"/>
              </a:lnSpc>
            </a:pPr>
            <a:r>
              <a:rPr lang="es-ES" dirty="0"/>
              <a:t>¿Qué situación real representa una condicional </a:t>
            </a:r>
            <a:r>
              <a:rPr lang="es-ES" b="1" dirty="0"/>
              <a:t>switch</a:t>
            </a:r>
            <a:r>
              <a:rPr lang="es-ES" dirty="0"/>
              <a:t>?</a:t>
            </a:r>
          </a:p>
          <a:p>
            <a:pPr>
              <a:lnSpc>
                <a:spcPct val="120000"/>
              </a:lnSpc>
            </a:pPr>
            <a:r>
              <a:rPr lang="es-ES" dirty="0"/>
              <a:t>¿Cómo nos ayudan estas estructuras en un programa?</a:t>
            </a:r>
          </a:p>
          <a:p>
            <a:pPr>
              <a:lnSpc>
                <a:spcPct val="120000"/>
              </a:lnSpc>
            </a:pPr>
            <a:r>
              <a:rPr lang="es-ES" dirty="0"/>
              <a:t>¿Qué esperas de la sesión práctica de hoy?</a:t>
            </a:r>
            <a:endParaRPr lang="en-US" dirty="0"/>
          </a:p>
        </p:txBody>
      </p:sp>
      <p:sp>
        <p:nvSpPr>
          <p:cNvPr id="11" name="TextBox 10">
            <a:extLst>
              <a:ext uri="{FF2B5EF4-FFF2-40B4-BE49-F238E27FC236}">
                <a16:creationId xmlns:a16="http://schemas.microsoft.com/office/drawing/2014/main" id="{AD5A9BBA-17E0-A72D-51DD-816280634240}"/>
              </a:ext>
            </a:extLst>
          </p:cNvPr>
          <p:cNvSpPr txBox="1"/>
          <p:nvPr/>
        </p:nvSpPr>
        <p:spPr>
          <a:xfrm>
            <a:off x="1255303" y="5131586"/>
            <a:ext cx="5174297" cy="954107"/>
          </a:xfrm>
          <a:prstGeom prst="rect">
            <a:avLst/>
          </a:prstGeom>
          <a:noFill/>
        </p:spPr>
        <p:txBody>
          <a:bodyPr wrap="square">
            <a:spAutoFit/>
          </a:bodyPr>
          <a:lstStyle/>
          <a:p>
            <a:pPr marL="50800" indent="0">
              <a:buNone/>
            </a:pPr>
            <a:r>
              <a:rPr lang="en-US" sz="2800" dirty="0">
                <a:solidFill>
                  <a:schemeClr val="accent2">
                    <a:lumMod val="75000"/>
                  </a:schemeClr>
                </a:solidFill>
                <a:latin typeface="Helvetica" pitchFamily="2" charset="0"/>
              </a:rPr>
              <a:t>Resolver</a:t>
            </a:r>
            <a:r>
              <a:rPr lang="en-US" sz="2800" dirty="0">
                <a:latin typeface="Helvetica" pitchFamily="2" charset="0"/>
              </a:rPr>
              <a:t> </a:t>
            </a:r>
            <a:r>
              <a:rPr lang="en-US" sz="2800" dirty="0" err="1">
                <a:solidFill>
                  <a:srgbClr val="00B050"/>
                </a:solidFill>
                <a:latin typeface="Helvetica" pitchFamily="2" charset="0"/>
              </a:rPr>
              <a:t>problemas</a:t>
            </a:r>
            <a:r>
              <a:rPr lang="en-US" sz="2800" dirty="0">
                <a:solidFill>
                  <a:srgbClr val="00B050"/>
                </a:solidFill>
                <a:latin typeface="Helvetica" pitchFamily="2" charset="0"/>
              </a:rPr>
              <a:t> con </a:t>
            </a:r>
            <a:r>
              <a:rPr lang="en-US" sz="2800" dirty="0" err="1">
                <a:solidFill>
                  <a:srgbClr val="00B050"/>
                </a:solidFill>
                <a:latin typeface="Helvetica" pitchFamily="2" charset="0"/>
              </a:rPr>
              <a:t>condicionales</a:t>
            </a:r>
            <a:r>
              <a:rPr lang="en-US" sz="2800" dirty="0">
                <a:latin typeface="Helvetica" pitchFamily="2" charset="0"/>
              </a:rPr>
              <a:t> </a:t>
            </a:r>
            <a:r>
              <a:rPr lang="en-US" sz="2800" dirty="0" err="1">
                <a:solidFill>
                  <a:schemeClr val="accent1">
                    <a:lumMod val="75000"/>
                  </a:schemeClr>
                </a:solidFill>
                <a:latin typeface="Helvetica" pitchFamily="2" charset="0"/>
              </a:rPr>
              <a:t>en</a:t>
            </a:r>
            <a:r>
              <a:rPr lang="en-US" sz="2800" dirty="0">
                <a:solidFill>
                  <a:schemeClr val="accent1">
                    <a:lumMod val="75000"/>
                  </a:schemeClr>
                </a:solidFill>
                <a:latin typeface="Helvetica" pitchFamily="2" charset="0"/>
              </a:rPr>
              <a:t> Java.</a:t>
            </a:r>
          </a:p>
        </p:txBody>
      </p:sp>
      <p:sp>
        <p:nvSpPr>
          <p:cNvPr id="16" name="TextBox 15">
            <a:extLst>
              <a:ext uri="{FF2B5EF4-FFF2-40B4-BE49-F238E27FC236}">
                <a16:creationId xmlns:a16="http://schemas.microsoft.com/office/drawing/2014/main" id="{CD856503-6F6C-FB79-C41E-7CB083AF13E0}"/>
              </a:ext>
            </a:extLst>
          </p:cNvPr>
          <p:cNvSpPr txBox="1"/>
          <p:nvPr/>
        </p:nvSpPr>
        <p:spPr>
          <a:xfrm>
            <a:off x="231034" y="6314029"/>
            <a:ext cx="9336249" cy="3693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 </a:t>
            </a:r>
            <a:br>
              <a:rPr lang="en-US" sz="900" dirty="0">
                <a:solidFill>
                  <a:schemeClr val="bg1">
                    <a:lumMod val="50000"/>
                  </a:schemeClr>
                </a:solidFill>
              </a:rPr>
            </a:br>
            <a:r>
              <a:rPr lang="en-US" sz="900" dirty="0">
                <a:solidFill>
                  <a:schemeClr val="bg1">
                    <a:lumMod val="50000"/>
                  </a:schemeClr>
                </a:solidFill>
              </a:rPr>
              <a:t>https://www.americanwatercollege.org/wp-content/uploads/2016/11/Problem-solving.jpg</a:t>
            </a:r>
          </a:p>
        </p:txBody>
      </p:sp>
      <p:pic>
        <p:nvPicPr>
          <p:cNvPr id="3" name="Picture 2">
            <a:extLst>
              <a:ext uri="{FF2B5EF4-FFF2-40B4-BE49-F238E27FC236}">
                <a16:creationId xmlns:a16="http://schemas.microsoft.com/office/drawing/2014/main" id="{C9E08F5A-FD9C-6E01-E982-A0CA79FF975D}"/>
              </a:ext>
            </a:extLst>
          </p:cNvPr>
          <p:cNvPicPr>
            <a:picLocks noChangeAspect="1"/>
          </p:cNvPicPr>
          <p:nvPr/>
        </p:nvPicPr>
        <p:blipFill>
          <a:blip r:embed="rId3"/>
          <a:stretch>
            <a:fillRect/>
          </a:stretch>
        </p:blipFill>
        <p:spPr>
          <a:xfrm>
            <a:off x="6846702" y="1571076"/>
            <a:ext cx="5337897" cy="3557729"/>
          </a:xfrm>
          <a:prstGeom prst="rect">
            <a:avLst/>
          </a:prstGeom>
        </p:spPr>
      </p:pic>
    </p:spTree>
    <p:extLst>
      <p:ext uri="{BB962C8B-B14F-4D97-AF65-F5344CB8AC3E}">
        <p14:creationId xmlns:p14="http://schemas.microsoft.com/office/powerpoint/2010/main" val="381246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C6B983-D187-5021-011D-340D9A6463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10</a:t>
            </a:fld>
            <a:endParaRPr lang="es-PE"/>
          </a:p>
        </p:txBody>
      </p:sp>
      <p:grpSp>
        <p:nvGrpSpPr>
          <p:cNvPr id="9" name="Group 8">
            <a:extLst>
              <a:ext uri="{FF2B5EF4-FFF2-40B4-BE49-F238E27FC236}">
                <a16:creationId xmlns:a16="http://schemas.microsoft.com/office/drawing/2014/main" id="{6D8EC2C4-D534-A87E-5305-9BD92B9838D9}"/>
              </a:ext>
            </a:extLst>
          </p:cNvPr>
          <p:cNvGrpSpPr/>
          <p:nvPr/>
        </p:nvGrpSpPr>
        <p:grpSpPr>
          <a:xfrm>
            <a:off x="1955128" y="892964"/>
            <a:ext cx="4629752" cy="1015663"/>
            <a:chOff x="924025" y="1526961"/>
            <a:chExt cx="4629752" cy="1015663"/>
          </a:xfrm>
        </p:grpSpPr>
        <p:sp>
          <p:nvSpPr>
            <p:cNvPr id="6" name="Rectangle 5">
              <a:extLst>
                <a:ext uri="{FF2B5EF4-FFF2-40B4-BE49-F238E27FC236}">
                  <a16:creationId xmlns:a16="http://schemas.microsoft.com/office/drawing/2014/main" id="{AFE41E11-2903-D4AD-BABB-046EDBE4AABD}"/>
                </a:ext>
              </a:extLst>
            </p:cNvPr>
            <p:cNvSpPr/>
            <p:nvPr/>
          </p:nvSpPr>
          <p:spPr>
            <a:xfrm>
              <a:off x="924025" y="1559294"/>
              <a:ext cx="4629752" cy="731520"/>
            </a:xfrm>
            <a:prstGeom prst="rect">
              <a:avLst/>
            </a:prstGeom>
            <a:solidFill>
              <a:srgbClr val="1B5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FB12F7A-F286-0B30-D30E-E9A916CC839B}"/>
                </a:ext>
              </a:extLst>
            </p:cNvPr>
            <p:cNvSpPr txBox="1"/>
            <p:nvPr/>
          </p:nvSpPr>
          <p:spPr>
            <a:xfrm>
              <a:off x="1501541" y="1663444"/>
              <a:ext cx="3062398" cy="523220"/>
            </a:xfrm>
            <a:prstGeom prst="rect">
              <a:avLst/>
            </a:prstGeom>
            <a:noFill/>
            <a:ln>
              <a:noFill/>
            </a:ln>
          </p:spPr>
          <p:txBody>
            <a:bodyPr wrap="square" rtlCol="0">
              <a:spAutoFit/>
            </a:bodyPr>
            <a:lstStyle/>
            <a:p>
              <a:r>
                <a:rPr lang="es-ES" dirty="0">
                  <a:solidFill>
                    <a:schemeClr val="bg1"/>
                  </a:solidFill>
                  <a:latin typeface="Helvetica" pitchFamily="2" charset="0"/>
                </a:rPr>
                <a:t>Estructuras condicionales</a:t>
              </a:r>
              <a:br>
                <a:rPr lang="es-ES" dirty="0">
                  <a:solidFill>
                    <a:schemeClr val="bg1"/>
                  </a:solidFill>
                  <a:latin typeface="Helvetica" pitchFamily="2" charset="0"/>
                </a:rPr>
              </a:br>
              <a:r>
                <a:rPr lang="es-ES" dirty="0">
                  <a:solidFill>
                    <a:schemeClr val="bg1"/>
                  </a:solidFill>
                  <a:latin typeface="Helvetica" pitchFamily="2" charset="0"/>
                </a:rPr>
                <a:t>(repaso)</a:t>
              </a:r>
              <a:endParaRPr lang="en-US" dirty="0">
                <a:solidFill>
                  <a:schemeClr val="bg1"/>
                </a:solidFill>
                <a:latin typeface="Helvetica" pitchFamily="2" charset="0"/>
              </a:endParaRPr>
            </a:p>
          </p:txBody>
        </p:sp>
        <p:sp>
          <p:nvSpPr>
            <p:cNvPr id="7" name="TextBox 6">
              <a:extLst>
                <a:ext uri="{FF2B5EF4-FFF2-40B4-BE49-F238E27FC236}">
                  <a16:creationId xmlns:a16="http://schemas.microsoft.com/office/drawing/2014/main" id="{93EEA1CE-79B2-915B-2C77-2F1212A1BF67}"/>
                </a:ext>
              </a:extLst>
            </p:cNvPr>
            <p:cNvSpPr txBox="1"/>
            <p:nvPr/>
          </p:nvSpPr>
          <p:spPr>
            <a:xfrm>
              <a:off x="991402" y="1526961"/>
              <a:ext cx="1020278" cy="1015663"/>
            </a:xfrm>
            <a:prstGeom prst="rect">
              <a:avLst/>
            </a:prstGeom>
            <a:noFill/>
            <a:ln>
              <a:noFill/>
            </a:ln>
          </p:spPr>
          <p:txBody>
            <a:bodyPr wrap="square" rtlCol="0">
              <a:spAutoFit/>
            </a:bodyPr>
            <a:lstStyle/>
            <a:p>
              <a:r>
                <a:rPr lang="es-ES" sz="6000" b="1" dirty="0">
                  <a:solidFill>
                    <a:schemeClr val="bg1"/>
                  </a:solidFill>
                  <a:latin typeface="Helvetica" pitchFamily="2" charset="0"/>
                </a:rPr>
                <a:t>1</a:t>
              </a:r>
              <a:endParaRPr lang="en-US" sz="6000" b="1" dirty="0">
                <a:solidFill>
                  <a:schemeClr val="bg1"/>
                </a:solidFill>
                <a:latin typeface="Helvetica" pitchFamily="2" charset="0"/>
              </a:endParaRPr>
            </a:p>
          </p:txBody>
        </p:sp>
        <p:sp>
          <p:nvSpPr>
            <p:cNvPr id="8" name="Rectangle 7">
              <a:extLst>
                <a:ext uri="{FF2B5EF4-FFF2-40B4-BE49-F238E27FC236}">
                  <a16:creationId xmlns:a16="http://schemas.microsoft.com/office/drawing/2014/main" id="{830C6426-CF18-244B-D9EC-4576E393467C}"/>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4C62550A-9487-0FB4-AEF5-18BF59D1D1BB}"/>
              </a:ext>
            </a:extLst>
          </p:cNvPr>
          <p:cNvGrpSpPr/>
          <p:nvPr/>
        </p:nvGrpSpPr>
        <p:grpSpPr>
          <a:xfrm>
            <a:off x="1955128" y="1782509"/>
            <a:ext cx="4629752" cy="1015663"/>
            <a:chOff x="924025" y="1526961"/>
            <a:chExt cx="4629752" cy="1015663"/>
          </a:xfrm>
        </p:grpSpPr>
        <p:sp>
          <p:nvSpPr>
            <p:cNvPr id="11" name="Rectangle 10">
              <a:extLst>
                <a:ext uri="{FF2B5EF4-FFF2-40B4-BE49-F238E27FC236}">
                  <a16:creationId xmlns:a16="http://schemas.microsoft.com/office/drawing/2014/main" id="{89EE3C4A-25E0-0661-5719-DFD8A408196E}"/>
                </a:ext>
              </a:extLst>
            </p:cNvPr>
            <p:cNvSpPr/>
            <p:nvPr/>
          </p:nvSpPr>
          <p:spPr>
            <a:xfrm>
              <a:off x="924025" y="1559294"/>
              <a:ext cx="4629752" cy="731520"/>
            </a:xfrm>
            <a:prstGeom prst="rect">
              <a:avLst/>
            </a:prstGeom>
            <a:solidFill>
              <a:srgbClr val="0E7D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F03E694-3539-B74F-A7F9-A90BF4FC7172}"/>
                </a:ext>
              </a:extLst>
            </p:cNvPr>
            <p:cNvSpPr txBox="1"/>
            <p:nvPr/>
          </p:nvSpPr>
          <p:spPr>
            <a:xfrm>
              <a:off x="1501541" y="1663444"/>
              <a:ext cx="2515402" cy="523220"/>
            </a:xfrm>
            <a:prstGeom prst="rect">
              <a:avLst/>
            </a:prstGeom>
            <a:noFill/>
            <a:ln>
              <a:noFill/>
            </a:ln>
          </p:spPr>
          <p:txBody>
            <a:bodyPr wrap="square" rtlCol="0">
              <a:spAutoFit/>
            </a:bodyPr>
            <a:lstStyle/>
            <a:p>
              <a:r>
                <a:rPr lang="es-ES" dirty="0">
                  <a:solidFill>
                    <a:schemeClr val="bg1"/>
                  </a:solidFill>
                  <a:latin typeface="Helvetica" pitchFamily="2" charset="0"/>
                </a:rPr>
                <a:t>Ejercicios con </a:t>
              </a:r>
              <a:br>
                <a:rPr lang="es-ES" dirty="0">
                  <a:solidFill>
                    <a:schemeClr val="bg1"/>
                  </a:solidFill>
                  <a:latin typeface="Helvetica" pitchFamily="2" charset="0"/>
                </a:rPr>
              </a:br>
              <a:r>
                <a:rPr lang="es-ES" dirty="0">
                  <a:solidFill>
                    <a:schemeClr val="bg1"/>
                  </a:solidFill>
                  <a:latin typeface="Helvetica" pitchFamily="2" charset="0"/>
                </a:rPr>
                <a:t>estructura </a:t>
              </a:r>
              <a:r>
                <a:rPr lang="es-ES" dirty="0" err="1">
                  <a:solidFill>
                    <a:schemeClr val="bg1"/>
                  </a:solidFill>
                  <a:latin typeface="Helvetica" pitchFamily="2" charset="0"/>
                </a:rPr>
                <a:t>if</a:t>
              </a:r>
              <a:r>
                <a:rPr lang="es-ES" dirty="0">
                  <a:solidFill>
                    <a:schemeClr val="bg1"/>
                  </a:solidFill>
                  <a:latin typeface="Helvetica" pitchFamily="2" charset="0"/>
                </a:rPr>
                <a:t>..</a:t>
              </a:r>
              <a:r>
                <a:rPr lang="es-ES" dirty="0" err="1">
                  <a:solidFill>
                    <a:schemeClr val="bg1"/>
                  </a:solidFill>
                  <a:latin typeface="Helvetica" pitchFamily="2" charset="0"/>
                </a:rPr>
                <a:t>else</a:t>
              </a:r>
              <a:endParaRPr lang="en-US" dirty="0">
                <a:solidFill>
                  <a:schemeClr val="bg1"/>
                </a:solidFill>
                <a:latin typeface="Helvetica" pitchFamily="2" charset="0"/>
              </a:endParaRPr>
            </a:p>
          </p:txBody>
        </p:sp>
        <p:sp>
          <p:nvSpPr>
            <p:cNvPr id="13" name="TextBox 12">
              <a:extLst>
                <a:ext uri="{FF2B5EF4-FFF2-40B4-BE49-F238E27FC236}">
                  <a16:creationId xmlns:a16="http://schemas.microsoft.com/office/drawing/2014/main" id="{D0BD6589-A9C6-D2FD-D50D-C5AAC8113E8A}"/>
                </a:ext>
              </a:extLst>
            </p:cNvPr>
            <p:cNvSpPr txBox="1"/>
            <p:nvPr/>
          </p:nvSpPr>
          <p:spPr>
            <a:xfrm>
              <a:off x="991402" y="1526961"/>
              <a:ext cx="1020278" cy="1015663"/>
            </a:xfrm>
            <a:prstGeom prst="rect">
              <a:avLst/>
            </a:prstGeom>
            <a:noFill/>
            <a:ln>
              <a:noFill/>
            </a:ln>
          </p:spPr>
          <p:txBody>
            <a:bodyPr wrap="square" rtlCol="0">
              <a:spAutoFit/>
            </a:bodyPr>
            <a:lstStyle/>
            <a:p>
              <a:r>
                <a:rPr lang="es-ES" sz="6000" b="1" dirty="0">
                  <a:solidFill>
                    <a:schemeClr val="bg1"/>
                  </a:solidFill>
                  <a:latin typeface="Helvetica" pitchFamily="2" charset="0"/>
                </a:rPr>
                <a:t>2</a:t>
              </a:r>
              <a:endParaRPr lang="en-US" sz="6000" b="1" dirty="0">
                <a:solidFill>
                  <a:schemeClr val="bg1"/>
                </a:solidFill>
                <a:latin typeface="Helvetica" pitchFamily="2" charset="0"/>
              </a:endParaRPr>
            </a:p>
          </p:txBody>
        </p:sp>
        <p:sp>
          <p:nvSpPr>
            <p:cNvPr id="14" name="Rectangle 13">
              <a:extLst>
                <a:ext uri="{FF2B5EF4-FFF2-40B4-BE49-F238E27FC236}">
                  <a16:creationId xmlns:a16="http://schemas.microsoft.com/office/drawing/2014/main" id="{FE0265B7-9BAF-D770-6E56-5AE1A9C41973}"/>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6B32F08B-E599-8764-EE5E-B3C48CE274CF}"/>
              </a:ext>
            </a:extLst>
          </p:cNvPr>
          <p:cNvSpPr txBox="1"/>
          <p:nvPr/>
        </p:nvSpPr>
        <p:spPr>
          <a:xfrm rot="16200000">
            <a:off x="-1552306" y="2760043"/>
            <a:ext cx="5599610" cy="1446550"/>
          </a:xfrm>
          <a:prstGeom prst="rect">
            <a:avLst/>
          </a:prstGeom>
          <a:noFill/>
        </p:spPr>
        <p:txBody>
          <a:bodyPr wrap="none" rtlCol="0">
            <a:spAutoFit/>
          </a:bodyPr>
          <a:lstStyle/>
          <a:p>
            <a:r>
              <a:rPr lang="es-ES" sz="8800" b="1" dirty="0">
                <a:solidFill>
                  <a:schemeClr val="bg1">
                    <a:lumMod val="85000"/>
                  </a:schemeClr>
                </a:solidFill>
                <a:latin typeface="Helvetica" pitchFamily="2" charset="0"/>
              </a:rPr>
              <a:t>contenido</a:t>
            </a:r>
            <a:endParaRPr lang="en-US" sz="8800" b="1" dirty="0">
              <a:solidFill>
                <a:schemeClr val="bg1">
                  <a:lumMod val="85000"/>
                </a:schemeClr>
              </a:solidFill>
              <a:latin typeface="Helvetica" pitchFamily="2" charset="0"/>
            </a:endParaRPr>
          </a:p>
        </p:txBody>
      </p:sp>
      <p:grpSp>
        <p:nvGrpSpPr>
          <p:cNvPr id="4" name="Group 3">
            <a:extLst>
              <a:ext uri="{FF2B5EF4-FFF2-40B4-BE49-F238E27FC236}">
                <a16:creationId xmlns:a16="http://schemas.microsoft.com/office/drawing/2014/main" id="{356232F4-70C8-C517-6AFF-BE83D525DAAD}"/>
              </a:ext>
            </a:extLst>
          </p:cNvPr>
          <p:cNvGrpSpPr/>
          <p:nvPr/>
        </p:nvGrpSpPr>
        <p:grpSpPr>
          <a:xfrm>
            <a:off x="1955128" y="2672054"/>
            <a:ext cx="4629752" cy="1015663"/>
            <a:chOff x="924025" y="1526961"/>
            <a:chExt cx="4629752" cy="1015663"/>
          </a:xfrm>
        </p:grpSpPr>
        <p:sp>
          <p:nvSpPr>
            <p:cNvPr id="15" name="Rectangle 14">
              <a:extLst>
                <a:ext uri="{FF2B5EF4-FFF2-40B4-BE49-F238E27FC236}">
                  <a16:creationId xmlns:a16="http://schemas.microsoft.com/office/drawing/2014/main" id="{7239BAF7-6461-3460-7124-CC87D48DB413}"/>
                </a:ext>
              </a:extLst>
            </p:cNvPr>
            <p:cNvSpPr/>
            <p:nvPr/>
          </p:nvSpPr>
          <p:spPr>
            <a:xfrm>
              <a:off x="924025" y="1559294"/>
              <a:ext cx="4629752" cy="731520"/>
            </a:xfrm>
            <a:prstGeom prst="rect">
              <a:avLst/>
            </a:prstGeom>
            <a:solidFill>
              <a:srgbClr val="75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3E7F899-F28C-C7A1-9A5F-C51ECC1A2501}"/>
                </a:ext>
              </a:extLst>
            </p:cNvPr>
            <p:cNvSpPr txBox="1"/>
            <p:nvPr/>
          </p:nvSpPr>
          <p:spPr>
            <a:xfrm>
              <a:off x="1501541" y="1663444"/>
              <a:ext cx="2515402" cy="523220"/>
            </a:xfrm>
            <a:prstGeom prst="rect">
              <a:avLst/>
            </a:prstGeom>
            <a:noFill/>
            <a:ln>
              <a:noFill/>
            </a:ln>
          </p:spPr>
          <p:txBody>
            <a:bodyPr wrap="square" rtlCol="0">
              <a:spAutoFit/>
            </a:bodyPr>
            <a:lstStyle/>
            <a:p>
              <a:r>
                <a:rPr lang="es-ES" dirty="0">
                  <a:solidFill>
                    <a:schemeClr val="bg1"/>
                  </a:solidFill>
                  <a:latin typeface="Helvetica" pitchFamily="2" charset="0"/>
                </a:rPr>
                <a:t>Ejercicios con</a:t>
              </a:r>
              <a:br>
                <a:rPr lang="es-ES" dirty="0">
                  <a:solidFill>
                    <a:schemeClr val="bg1"/>
                  </a:solidFill>
                  <a:latin typeface="Helvetica" pitchFamily="2" charset="0"/>
                </a:rPr>
              </a:br>
              <a:r>
                <a:rPr lang="es-ES" dirty="0">
                  <a:solidFill>
                    <a:schemeClr val="bg1"/>
                  </a:solidFill>
                  <a:latin typeface="Helvetica" pitchFamily="2" charset="0"/>
                </a:rPr>
                <a:t>estructura switch-case</a:t>
              </a:r>
              <a:endParaRPr lang="en-US" dirty="0">
                <a:solidFill>
                  <a:schemeClr val="bg1"/>
                </a:solidFill>
                <a:latin typeface="Helvetica" pitchFamily="2" charset="0"/>
              </a:endParaRPr>
            </a:p>
          </p:txBody>
        </p:sp>
        <p:sp>
          <p:nvSpPr>
            <p:cNvPr id="17" name="TextBox 16">
              <a:extLst>
                <a:ext uri="{FF2B5EF4-FFF2-40B4-BE49-F238E27FC236}">
                  <a16:creationId xmlns:a16="http://schemas.microsoft.com/office/drawing/2014/main" id="{2AF805C7-CBE8-E255-68DF-C6DE8386ADAF}"/>
                </a:ext>
              </a:extLst>
            </p:cNvPr>
            <p:cNvSpPr txBox="1"/>
            <p:nvPr/>
          </p:nvSpPr>
          <p:spPr>
            <a:xfrm>
              <a:off x="991402" y="1526961"/>
              <a:ext cx="1020278" cy="1015663"/>
            </a:xfrm>
            <a:prstGeom prst="rect">
              <a:avLst/>
            </a:prstGeom>
            <a:noFill/>
            <a:ln>
              <a:noFill/>
            </a:ln>
          </p:spPr>
          <p:txBody>
            <a:bodyPr wrap="square" rtlCol="0">
              <a:spAutoFit/>
            </a:bodyPr>
            <a:lstStyle/>
            <a:p>
              <a:r>
                <a:rPr lang="es-ES" sz="6000" b="1">
                  <a:solidFill>
                    <a:schemeClr val="bg1"/>
                  </a:solidFill>
                  <a:latin typeface="Helvetica" pitchFamily="2" charset="0"/>
                </a:rPr>
                <a:t>3</a:t>
              </a:r>
              <a:endParaRPr lang="en-US" sz="6000" b="1">
                <a:solidFill>
                  <a:schemeClr val="bg1"/>
                </a:solidFill>
                <a:latin typeface="Helvetica" pitchFamily="2" charset="0"/>
              </a:endParaRPr>
            </a:p>
          </p:txBody>
        </p:sp>
        <p:sp>
          <p:nvSpPr>
            <p:cNvPr id="18" name="Rectangle 17">
              <a:extLst>
                <a:ext uri="{FF2B5EF4-FFF2-40B4-BE49-F238E27FC236}">
                  <a16:creationId xmlns:a16="http://schemas.microsoft.com/office/drawing/2014/main" id="{D45F683C-083B-4EAA-D3C1-1A378724E7E2}"/>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B128E89F-E5A0-B939-5EBB-4F1A37FD8B52}"/>
              </a:ext>
            </a:extLst>
          </p:cNvPr>
          <p:cNvGrpSpPr/>
          <p:nvPr/>
        </p:nvGrpSpPr>
        <p:grpSpPr>
          <a:xfrm>
            <a:off x="1955128" y="3561599"/>
            <a:ext cx="4629752" cy="1015663"/>
            <a:chOff x="924025" y="1526961"/>
            <a:chExt cx="4629752" cy="1015663"/>
          </a:xfrm>
        </p:grpSpPr>
        <p:sp>
          <p:nvSpPr>
            <p:cNvPr id="20" name="Rectangle 19">
              <a:extLst>
                <a:ext uri="{FF2B5EF4-FFF2-40B4-BE49-F238E27FC236}">
                  <a16:creationId xmlns:a16="http://schemas.microsoft.com/office/drawing/2014/main" id="{53DD428E-2B36-BEF9-5D64-F43F2B5FCFAE}"/>
                </a:ext>
              </a:extLst>
            </p:cNvPr>
            <p:cNvSpPr/>
            <p:nvPr/>
          </p:nvSpPr>
          <p:spPr>
            <a:xfrm>
              <a:off x="924025" y="1559294"/>
              <a:ext cx="4629752" cy="731520"/>
            </a:xfrm>
            <a:prstGeom prst="rect">
              <a:avLst/>
            </a:prstGeom>
            <a:solidFill>
              <a:srgbClr val="BA75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E1EBD91-0CD9-10A4-75E7-CB75D7B7D977}"/>
                </a:ext>
              </a:extLst>
            </p:cNvPr>
            <p:cNvSpPr txBox="1"/>
            <p:nvPr/>
          </p:nvSpPr>
          <p:spPr>
            <a:xfrm>
              <a:off x="1501541" y="1663444"/>
              <a:ext cx="2515402" cy="307777"/>
            </a:xfrm>
            <a:prstGeom prst="rect">
              <a:avLst/>
            </a:prstGeom>
            <a:noFill/>
            <a:ln>
              <a:noFill/>
            </a:ln>
          </p:spPr>
          <p:txBody>
            <a:bodyPr wrap="square" rtlCol="0">
              <a:spAutoFit/>
            </a:bodyPr>
            <a:lstStyle/>
            <a:p>
              <a:r>
                <a:rPr lang="es-ES" dirty="0">
                  <a:solidFill>
                    <a:schemeClr val="bg1"/>
                  </a:solidFill>
                  <a:latin typeface="Helvetica" pitchFamily="2" charset="0"/>
                </a:rPr>
                <a:t>Práctica</a:t>
              </a:r>
              <a:endParaRPr lang="en-US" dirty="0">
                <a:solidFill>
                  <a:schemeClr val="bg1"/>
                </a:solidFill>
                <a:latin typeface="Helvetica" pitchFamily="2" charset="0"/>
              </a:endParaRPr>
            </a:p>
          </p:txBody>
        </p:sp>
        <p:sp>
          <p:nvSpPr>
            <p:cNvPr id="22" name="TextBox 21">
              <a:extLst>
                <a:ext uri="{FF2B5EF4-FFF2-40B4-BE49-F238E27FC236}">
                  <a16:creationId xmlns:a16="http://schemas.microsoft.com/office/drawing/2014/main" id="{F1D0630B-0B0F-7C88-7C30-8C1FFFA75754}"/>
                </a:ext>
              </a:extLst>
            </p:cNvPr>
            <p:cNvSpPr txBox="1"/>
            <p:nvPr/>
          </p:nvSpPr>
          <p:spPr>
            <a:xfrm>
              <a:off x="991402" y="1526961"/>
              <a:ext cx="1020278" cy="1015663"/>
            </a:xfrm>
            <a:prstGeom prst="rect">
              <a:avLst/>
            </a:prstGeom>
            <a:noFill/>
            <a:ln>
              <a:noFill/>
            </a:ln>
          </p:spPr>
          <p:txBody>
            <a:bodyPr wrap="square" rtlCol="0">
              <a:spAutoFit/>
            </a:bodyPr>
            <a:lstStyle/>
            <a:p>
              <a:r>
                <a:rPr lang="es-ES" sz="6000" b="1">
                  <a:solidFill>
                    <a:schemeClr val="bg1"/>
                  </a:solidFill>
                  <a:latin typeface="Helvetica" pitchFamily="2" charset="0"/>
                </a:rPr>
                <a:t>4</a:t>
              </a:r>
              <a:endParaRPr lang="en-US" sz="6000" b="1">
                <a:solidFill>
                  <a:schemeClr val="bg1"/>
                </a:solidFill>
                <a:latin typeface="Helvetica" pitchFamily="2" charset="0"/>
              </a:endParaRPr>
            </a:p>
          </p:txBody>
        </p:sp>
        <p:sp>
          <p:nvSpPr>
            <p:cNvPr id="23" name="Rectangle 22">
              <a:extLst>
                <a:ext uri="{FF2B5EF4-FFF2-40B4-BE49-F238E27FC236}">
                  <a16:creationId xmlns:a16="http://schemas.microsoft.com/office/drawing/2014/main" id="{58B17AA6-2A3D-F74D-3001-D04EC4218E54}"/>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54082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C6B983-D187-5021-011D-340D9A6463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11</a:t>
            </a:fld>
            <a:endParaRPr lang="es-PE"/>
          </a:p>
        </p:txBody>
      </p:sp>
      <p:grpSp>
        <p:nvGrpSpPr>
          <p:cNvPr id="10" name="Group 9">
            <a:extLst>
              <a:ext uri="{FF2B5EF4-FFF2-40B4-BE49-F238E27FC236}">
                <a16:creationId xmlns:a16="http://schemas.microsoft.com/office/drawing/2014/main" id="{4C62550A-9487-0FB4-AEF5-18BF59D1D1BB}"/>
              </a:ext>
            </a:extLst>
          </p:cNvPr>
          <p:cNvGrpSpPr/>
          <p:nvPr/>
        </p:nvGrpSpPr>
        <p:grpSpPr>
          <a:xfrm>
            <a:off x="1955128" y="1782509"/>
            <a:ext cx="4629752" cy="1015663"/>
            <a:chOff x="924025" y="1526961"/>
            <a:chExt cx="4629752" cy="1015663"/>
          </a:xfrm>
        </p:grpSpPr>
        <p:sp>
          <p:nvSpPr>
            <p:cNvPr id="11" name="Rectangle 10">
              <a:extLst>
                <a:ext uri="{FF2B5EF4-FFF2-40B4-BE49-F238E27FC236}">
                  <a16:creationId xmlns:a16="http://schemas.microsoft.com/office/drawing/2014/main" id="{89EE3C4A-25E0-0661-5719-DFD8A408196E}"/>
                </a:ext>
              </a:extLst>
            </p:cNvPr>
            <p:cNvSpPr/>
            <p:nvPr/>
          </p:nvSpPr>
          <p:spPr>
            <a:xfrm>
              <a:off x="924025" y="1559294"/>
              <a:ext cx="4629752" cy="731520"/>
            </a:xfrm>
            <a:prstGeom prst="rect">
              <a:avLst/>
            </a:prstGeom>
            <a:solidFill>
              <a:srgbClr val="0E7D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F03E694-3539-B74F-A7F9-A90BF4FC7172}"/>
                </a:ext>
              </a:extLst>
            </p:cNvPr>
            <p:cNvSpPr txBox="1"/>
            <p:nvPr/>
          </p:nvSpPr>
          <p:spPr>
            <a:xfrm>
              <a:off x="1501541" y="1663444"/>
              <a:ext cx="2515402" cy="523220"/>
            </a:xfrm>
            <a:prstGeom prst="rect">
              <a:avLst/>
            </a:prstGeom>
            <a:noFill/>
            <a:ln>
              <a:noFill/>
            </a:ln>
          </p:spPr>
          <p:txBody>
            <a:bodyPr wrap="square" rtlCol="0">
              <a:spAutoFit/>
            </a:bodyPr>
            <a:lstStyle/>
            <a:p>
              <a:r>
                <a:rPr lang="es-ES" dirty="0">
                  <a:solidFill>
                    <a:schemeClr val="bg1"/>
                  </a:solidFill>
                  <a:latin typeface="Helvetica" pitchFamily="2" charset="0"/>
                </a:rPr>
                <a:t>Ejercicios con </a:t>
              </a:r>
              <a:br>
                <a:rPr lang="es-ES" dirty="0">
                  <a:solidFill>
                    <a:schemeClr val="bg1"/>
                  </a:solidFill>
                  <a:latin typeface="Helvetica" pitchFamily="2" charset="0"/>
                </a:rPr>
              </a:br>
              <a:r>
                <a:rPr lang="es-ES" dirty="0">
                  <a:solidFill>
                    <a:schemeClr val="bg1"/>
                  </a:solidFill>
                  <a:latin typeface="Helvetica" pitchFamily="2" charset="0"/>
                </a:rPr>
                <a:t>estructura </a:t>
              </a:r>
              <a:r>
                <a:rPr lang="es-ES" dirty="0" err="1">
                  <a:solidFill>
                    <a:schemeClr val="bg1"/>
                  </a:solidFill>
                  <a:latin typeface="Helvetica" pitchFamily="2" charset="0"/>
                </a:rPr>
                <a:t>if</a:t>
              </a:r>
              <a:r>
                <a:rPr lang="es-ES" dirty="0">
                  <a:solidFill>
                    <a:schemeClr val="bg1"/>
                  </a:solidFill>
                  <a:latin typeface="Helvetica" pitchFamily="2" charset="0"/>
                </a:rPr>
                <a:t>..</a:t>
              </a:r>
              <a:r>
                <a:rPr lang="es-ES" dirty="0" err="1">
                  <a:solidFill>
                    <a:schemeClr val="bg1"/>
                  </a:solidFill>
                  <a:latin typeface="Helvetica" pitchFamily="2" charset="0"/>
                </a:rPr>
                <a:t>else</a:t>
              </a:r>
              <a:endParaRPr lang="en-US" dirty="0">
                <a:solidFill>
                  <a:schemeClr val="bg1"/>
                </a:solidFill>
                <a:latin typeface="Helvetica" pitchFamily="2" charset="0"/>
              </a:endParaRPr>
            </a:p>
          </p:txBody>
        </p:sp>
        <p:sp>
          <p:nvSpPr>
            <p:cNvPr id="13" name="TextBox 12">
              <a:extLst>
                <a:ext uri="{FF2B5EF4-FFF2-40B4-BE49-F238E27FC236}">
                  <a16:creationId xmlns:a16="http://schemas.microsoft.com/office/drawing/2014/main" id="{D0BD6589-A9C6-D2FD-D50D-C5AAC8113E8A}"/>
                </a:ext>
              </a:extLst>
            </p:cNvPr>
            <p:cNvSpPr txBox="1"/>
            <p:nvPr/>
          </p:nvSpPr>
          <p:spPr>
            <a:xfrm>
              <a:off x="991402" y="1526961"/>
              <a:ext cx="1020278" cy="1015663"/>
            </a:xfrm>
            <a:prstGeom prst="rect">
              <a:avLst/>
            </a:prstGeom>
            <a:noFill/>
            <a:ln>
              <a:noFill/>
            </a:ln>
          </p:spPr>
          <p:txBody>
            <a:bodyPr wrap="square" rtlCol="0">
              <a:spAutoFit/>
            </a:bodyPr>
            <a:lstStyle/>
            <a:p>
              <a:r>
                <a:rPr lang="es-ES" sz="6000" b="1" dirty="0">
                  <a:solidFill>
                    <a:schemeClr val="bg1"/>
                  </a:solidFill>
                  <a:latin typeface="Helvetica" pitchFamily="2" charset="0"/>
                </a:rPr>
                <a:t>2</a:t>
              </a:r>
              <a:endParaRPr lang="en-US" sz="6000" b="1" dirty="0">
                <a:solidFill>
                  <a:schemeClr val="bg1"/>
                </a:solidFill>
                <a:latin typeface="Helvetica" pitchFamily="2" charset="0"/>
              </a:endParaRPr>
            </a:p>
          </p:txBody>
        </p:sp>
        <p:sp>
          <p:nvSpPr>
            <p:cNvPr id="14" name="Rectangle 13">
              <a:extLst>
                <a:ext uri="{FF2B5EF4-FFF2-40B4-BE49-F238E27FC236}">
                  <a16:creationId xmlns:a16="http://schemas.microsoft.com/office/drawing/2014/main" id="{FE0265B7-9BAF-D770-6E56-5AE1A9C41973}"/>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6B32F08B-E599-8764-EE5E-B3C48CE274CF}"/>
              </a:ext>
            </a:extLst>
          </p:cNvPr>
          <p:cNvSpPr txBox="1"/>
          <p:nvPr/>
        </p:nvSpPr>
        <p:spPr>
          <a:xfrm rot="16200000">
            <a:off x="-1552306" y="2760043"/>
            <a:ext cx="5599610" cy="1446550"/>
          </a:xfrm>
          <a:prstGeom prst="rect">
            <a:avLst/>
          </a:prstGeom>
          <a:noFill/>
        </p:spPr>
        <p:txBody>
          <a:bodyPr wrap="none" rtlCol="0">
            <a:spAutoFit/>
          </a:bodyPr>
          <a:lstStyle/>
          <a:p>
            <a:r>
              <a:rPr lang="es-ES" sz="8800" b="1" dirty="0">
                <a:solidFill>
                  <a:schemeClr val="bg1">
                    <a:lumMod val="85000"/>
                  </a:schemeClr>
                </a:solidFill>
                <a:latin typeface="Helvetica" pitchFamily="2" charset="0"/>
              </a:rPr>
              <a:t>contenido</a:t>
            </a:r>
            <a:endParaRPr lang="en-US" sz="8800" b="1" dirty="0">
              <a:solidFill>
                <a:schemeClr val="bg1">
                  <a:lumMod val="85000"/>
                </a:schemeClr>
              </a:solidFill>
              <a:latin typeface="Helvetica" pitchFamily="2" charset="0"/>
            </a:endParaRPr>
          </a:p>
        </p:txBody>
      </p:sp>
      <p:grpSp>
        <p:nvGrpSpPr>
          <p:cNvPr id="4" name="Group 3">
            <a:extLst>
              <a:ext uri="{FF2B5EF4-FFF2-40B4-BE49-F238E27FC236}">
                <a16:creationId xmlns:a16="http://schemas.microsoft.com/office/drawing/2014/main" id="{356232F4-70C8-C517-6AFF-BE83D525DAAD}"/>
              </a:ext>
            </a:extLst>
          </p:cNvPr>
          <p:cNvGrpSpPr/>
          <p:nvPr/>
        </p:nvGrpSpPr>
        <p:grpSpPr>
          <a:xfrm>
            <a:off x="1955128" y="2672054"/>
            <a:ext cx="4629752" cy="1015663"/>
            <a:chOff x="924025" y="1526961"/>
            <a:chExt cx="4629752" cy="1015663"/>
          </a:xfrm>
        </p:grpSpPr>
        <p:sp>
          <p:nvSpPr>
            <p:cNvPr id="15" name="Rectangle 14">
              <a:extLst>
                <a:ext uri="{FF2B5EF4-FFF2-40B4-BE49-F238E27FC236}">
                  <a16:creationId xmlns:a16="http://schemas.microsoft.com/office/drawing/2014/main" id="{7239BAF7-6461-3460-7124-CC87D48DB413}"/>
                </a:ext>
              </a:extLst>
            </p:cNvPr>
            <p:cNvSpPr/>
            <p:nvPr/>
          </p:nvSpPr>
          <p:spPr>
            <a:xfrm>
              <a:off x="924025" y="1559294"/>
              <a:ext cx="4629752" cy="731520"/>
            </a:xfrm>
            <a:prstGeom prst="rect">
              <a:avLst/>
            </a:prstGeom>
            <a:solidFill>
              <a:srgbClr val="75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3E7F899-F28C-C7A1-9A5F-C51ECC1A2501}"/>
                </a:ext>
              </a:extLst>
            </p:cNvPr>
            <p:cNvSpPr txBox="1"/>
            <p:nvPr/>
          </p:nvSpPr>
          <p:spPr>
            <a:xfrm>
              <a:off x="1501541" y="1663444"/>
              <a:ext cx="2515402" cy="523220"/>
            </a:xfrm>
            <a:prstGeom prst="rect">
              <a:avLst/>
            </a:prstGeom>
            <a:noFill/>
            <a:ln>
              <a:noFill/>
            </a:ln>
          </p:spPr>
          <p:txBody>
            <a:bodyPr wrap="square" rtlCol="0">
              <a:spAutoFit/>
            </a:bodyPr>
            <a:lstStyle/>
            <a:p>
              <a:r>
                <a:rPr lang="es-ES" dirty="0">
                  <a:solidFill>
                    <a:schemeClr val="bg1"/>
                  </a:solidFill>
                  <a:latin typeface="Helvetica" pitchFamily="2" charset="0"/>
                </a:rPr>
                <a:t>Ejercicios con</a:t>
              </a:r>
              <a:br>
                <a:rPr lang="es-ES" dirty="0">
                  <a:solidFill>
                    <a:schemeClr val="bg1"/>
                  </a:solidFill>
                  <a:latin typeface="Helvetica" pitchFamily="2" charset="0"/>
                </a:rPr>
              </a:br>
              <a:r>
                <a:rPr lang="es-ES" dirty="0">
                  <a:solidFill>
                    <a:schemeClr val="bg1"/>
                  </a:solidFill>
                  <a:latin typeface="Helvetica" pitchFamily="2" charset="0"/>
                </a:rPr>
                <a:t>estructura switch-case</a:t>
              </a:r>
              <a:endParaRPr lang="en-US" dirty="0">
                <a:solidFill>
                  <a:schemeClr val="bg1"/>
                </a:solidFill>
                <a:latin typeface="Helvetica" pitchFamily="2" charset="0"/>
              </a:endParaRPr>
            </a:p>
          </p:txBody>
        </p:sp>
        <p:sp>
          <p:nvSpPr>
            <p:cNvPr id="17" name="TextBox 16">
              <a:extLst>
                <a:ext uri="{FF2B5EF4-FFF2-40B4-BE49-F238E27FC236}">
                  <a16:creationId xmlns:a16="http://schemas.microsoft.com/office/drawing/2014/main" id="{2AF805C7-CBE8-E255-68DF-C6DE8386ADAF}"/>
                </a:ext>
              </a:extLst>
            </p:cNvPr>
            <p:cNvSpPr txBox="1"/>
            <p:nvPr/>
          </p:nvSpPr>
          <p:spPr>
            <a:xfrm>
              <a:off x="991402" y="1526961"/>
              <a:ext cx="1020278" cy="1015663"/>
            </a:xfrm>
            <a:prstGeom prst="rect">
              <a:avLst/>
            </a:prstGeom>
            <a:noFill/>
            <a:ln>
              <a:noFill/>
            </a:ln>
          </p:spPr>
          <p:txBody>
            <a:bodyPr wrap="square" rtlCol="0">
              <a:spAutoFit/>
            </a:bodyPr>
            <a:lstStyle/>
            <a:p>
              <a:r>
                <a:rPr lang="es-ES" sz="6000" b="1">
                  <a:solidFill>
                    <a:schemeClr val="bg1"/>
                  </a:solidFill>
                  <a:latin typeface="Helvetica" pitchFamily="2" charset="0"/>
                </a:rPr>
                <a:t>3</a:t>
              </a:r>
              <a:endParaRPr lang="en-US" sz="6000" b="1">
                <a:solidFill>
                  <a:schemeClr val="bg1"/>
                </a:solidFill>
                <a:latin typeface="Helvetica" pitchFamily="2" charset="0"/>
              </a:endParaRPr>
            </a:p>
          </p:txBody>
        </p:sp>
        <p:sp>
          <p:nvSpPr>
            <p:cNvPr id="18" name="Rectangle 17">
              <a:extLst>
                <a:ext uri="{FF2B5EF4-FFF2-40B4-BE49-F238E27FC236}">
                  <a16:creationId xmlns:a16="http://schemas.microsoft.com/office/drawing/2014/main" id="{D45F683C-083B-4EAA-D3C1-1A378724E7E2}"/>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B128E89F-E5A0-B939-5EBB-4F1A37FD8B52}"/>
              </a:ext>
            </a:extLst>
          </p:cNvPr>
          <p:cNvGrpSpPr/>
          <p:nvPr/>
        </p:nvGrpSpPr>
        <p:grpSpPr>
          <a:xfrm>
            <a:off x="1955128" y="3561599"/>
            <a:ext cx="4629752" cy="1015663"/>
            <a:chOff x="924025" y="1526961"/>
            <a:chExt cx="4629752" cy="1015663"/>
          </a:xfrm>
        </p:grpSpPr>
        <p:sp>
          <p:nvSpPr>
            <p:cNvPr id="20" name="Rectangle 19">
              <a:extLst>
                <a:ext uri="{FF2B5EF4-FFF2-40B4-BE49-F238E27FC236}">
                  <a16:creationId xmlns:a16="http://schemas.microsoft.com/office/drawing/2014/main" id="{53DD428E-2B36-BEF9-5D64-F43F2B5FCFAE}"/>
                </a:ext>
              </a:extLst>
            </p:cNvPr>
            <p:cNvSpPr/>
            <p:nvPr/>
          </p:nvSpPr>
          <p:spPr>
            <a:xfrm>
              <a:off x="924025" y="1559294"/>
              <a:ext cx="4629752" cy="731520"/>
            </a:xfrm>
            <a:prstGeom prst="rect">
              <a:avLst/>
            </a:prstGeom>
            <a:solidFill>
              <a:srgbClr val="BA75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E1EBD91-0CD9-10A4-75E7-CB75D7B7D977}"/>
                </a:ext>
              </a:extLst>
            </p:cNvPr>
            <p:cNvSpPr txBox="1"/>
            <p:nvPr/>
          </p:nvSpPr>
          <p:spPr>
            <a:xfrm>
              <a:off x="1501541" y="1663444"/>
              <a:ext cx="2515402" cy="307777"/>
            </a:xfrm>
            <a:prstGeom prst="rect">
              <a:avLst/>
            </a:prstGeom>
            <a:noFill/>
            <a:ln>
              <a:noFill/>
            </a:ln>
          </p:spPr>
          <p:txBody>
            <a:bodyPr wrap="square" rtlCol="0">
              <a:spAutoFit/>
            </a:bodyPr>
            <a:lstStyle/>
            <a:p>
              <a:r>
                <a:rPr lang="es-ES" dirty="0">
                  <a:solidFill>
                    <a:schemeClr val="bg1"/>
                  </a:solidFill>
                  <a:latin typeface="Helvetica" pitchFamily="2" charset="0"/>
                </a:rPr>
                <a:t>Práctica</a:t>
              </a:r>
              <a:endParaRPr lang="en-US" dirty="0">
                <a:solidFill>
                  <a:schemeClr val="bg1"/>
                </a:solidFill>
                <a:latin typeface="Helvetica" pitchFamily="2" charset="0"/>
              </a:endParaRPr>
            </a:p>
          </p:txBody>
        </p:sp>
        <p:sp>
          <p:nvSpPr>
            <p:cNvPr id="22" name="TextBox 21">
              <a:extLst>
                <a:ext uri="{FF2B5EF4-FFF2-40B4-BE49-F238E27FC236}">
                  <a16:creationId xmlns:a16="http://schemas.microsoft.com/office/drawing/2014/main" id="{F1D0630B-0B0F-7C88-7C30-8C1FFFA75754}"/>
                </a:ext>
              </a:extLst>
            </p:cNvPr>
            <p:cNvSpPr txBox="1"/>
            <p:nvPr/>
          </p:nvSpPr>
          <p:spPr>
            <a:xfrm>
              <a:off x="991402" y="1526961"/>
              <a:ext cx="1020278" cy="1015663"/>
            </a:xfrm>
            <a:prstGeom prst="rect">
              <a:avLst/>
            </a:prstGeom>
            <a:noFill/>
            <a:ln>
              <a:noFill/>
            </a:ln>
          </p:spPr>
          <p:txBody>
            <a:bodyPr wrap="square" rtlCol="0">
              <a:spAutoFit/>
            </a:bodyPr>
            <a:lstStyle/>
            <a:p>
              <a:r>
                <a:rPr lang="es-ES" sz="6000" b="1">
                  <a:solidFill>
                    <a:schemeClr val="bg1"/>
                  </a:solidFill>
                  <a:latin typeface="Helvetica" pitchFamily="2" charset="0"/>
                </a:rPr>
                <a:t>4</a:t>
              </a:r>
              <a:endParaRPr lang="en-US" sz="6000" b="1">
                <a:solidFill>
                  <a:schemeClr val="bg1"/>
                </a:solidFill>
                <a:latin typeface="Helvetica" pitchFamily="2" charset="0"/>
              </a:endParaRPr>
            </a:p>
          </p:txBody>
        </p:sp>
        <p:sp>
          <p:nvSpPr>
            <p:cNvPr id="23" name="Rectangle 22">
              <a:extLst>
                <a:ext uri="{FF2B5EF4-FFF2-40B4-BE49-F238E27FC236}">
                  <a16:creationId xmlns:a16="http://schemas.microsoft.com/office/drawing/2014/main" id="{58B17AA6-2A3D-F74D-3001-D04EC4218E54}"/>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45247CA5-A0E6-5FEE-D972-64B7FAA0BBEF}"/>
              </a:ext>
            </a:extLst>
          </p:cNvPr>
          <p:cNvSpPr/>
          <p:nvPr/>
        </p:nvSpPr>
        <p:spPr>
          <a:xfrm>
            <a:off x="1801640" y="683513"/>
            <a:ext cx="9678154" cy="559961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6D8EC2C4-D534-A87E-5305-9BD92B9838D9}"/>
              </a:ext>
            </a:extLst>
          </p:cNvPr>
          <p:cNvGrpSpPr/>
          <p:nvPr/>
        </p:nvGrpSpPr>
        <p:grpSpPr>
          <a:xfrm>
            <a:off x="1955128" y="892964"/>
            <a:ext cx="4629752" cy="1015663"/>
            <a:chOff x="924025" y="1526961"/>
            <a:chExt cx="4629752" cy="1015663"/>
          </a:xfrm>
        </p:grpSpPr>
        <p:sp>
          <p:nvSpPr>
            <p:cNvPr id="6" name="Rectangle 5">
              <a:extLst>
                <a:ext uri="{FF2B5EF4-FFF2-40B4-BE49-F238E27FC236}">
                  <a16:creationId xmlns:a16="http://schemas.microsoft.com/office/drawing/2014/main" id="{AFE41E11-2903-D4AD-BABB-046EDBE4AABD}"/>
                </a:ext>
              </a:extLst>
            </p:cNvPr>
            <p:cNvSpPr/>
            <p:nvPr/>
          </p:nvSpPr>
          <p:spPr>
            <a:xfrm>
              <a:off x="924025" y="1559294"/>
              <a:ext cx="4629752" cy="731520"/>
            </a:xfrm>
            <a:prstGeom prst="rect">
              <a:avLst/>
            </a:prstGeom>
            <a:solidFill>
              <a:srgbClr val="1B5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FB12F7A-F286-0B30-D30E-E9A916CC839B}"/>
                </a:ext>
              </a:extLst>
            </p:cNvPr>
            <p:cNvSpPr txBox="1"/>
            <p:nvPr/>
          </p:nvSpPr>
          <p:spPr>
            <a:xfrm>
              <a:off x="1501541" y="1663444"/>
              <a:ext cx="3062398" cy="523220"/>
            </a:xfrm>
            <a:prstGeom prst="rect">
              <a:avLst/>
            </a:prstGeom>
            <a:noFill/>
            <a:ln>
              <a:noFill/>
            </a:ln>
          </p:spPr>
          <p:txBody>
            <a:bodyPr wrap="square" rtlCol="0">
              <a:spAutoFit/>
            </a:bodyPr>
            <a:lstStyle/>
            <a:p>
              <a:r>
                <a:rPr lang="es-ES" dirty="0">
                  <a:solidFill>
                    <a:schemeClr val="bg1"/>
                  </a:solidFill>
                  <a:latin typeface="Helvetica" pitchFamily="2" charset="0"/>
                </a:rPr>
                <a:t>Estructuras condicionales</a:t>
              </a:r>
              <a:br>
                <a:rPr lang="es-ES" dirty="0">
                  <a:solidFill>
                    <a:schemeClr val="bg1"/>
                  </a:solidFill>
                  <a:latin typeface="Helvetica" pitchFamily="2" charset="0"/>
                </a:rPr>
              </a:br>
              <a:r>
                <a:rPr lang="es-ES" dirty="0">
                  <a:solidFill>
                    <a:schemeClr val="bg1"/>
                  </a:solidFill>
                  <a:latin typeface="Helvetica" pitchFamily="2" charset="0"/>
                </a:rPr>
                <a:t>(repaso)</a:t>
              </a:r>
              <a:endParaRPr lang="en-US" dirty="0">
                <a:solidFill>
                  <a:schemeClr val="bg1"/>
                </a:solidFill>
                <a:latin typeface="Helvetica" pitchFamily="2" charset="0"/>
              </a:endParaRPr>
            </a:p>
          </p:txBody>
        </p:sp>
        <p:sp>
          <p:nvSpPr>
            <p:cNvPr id="7" name="TextBox 6">
              <a:extLst>
                <a:ext uri="{FF2B5EF4-FFF2-40B4-BE49-F238E27FC236}">
                  <a16:creationId xmlns:a16="http://schemas.microsoft.com/office/drawing/2014/main" id="{93EEA1CE-79B2-915B-2C77-2F1212A1BF67}"/>
                </a:ext>
              </a:extLst>
            </p:cNvPr>
            <p:cNvSpPr txBox="1"/>
            <p:nvPr/>
          </p:nvSpPr>
          <p:spPr>
            <a:xfrm>
              <a:off x="991402" y="1526961"/>
              <a:ext cx="1020278" cy="1015663"/>
            </a:xfrm>
            <a:prstGeom prst="rect">
              <a:avLst/>
            </a:prstGeom>
            <a:noFill/>
            <a:ln>
              <a:noFill/>
            </a:ln>
          </p:spPr>
          <p:txBody>
            <a:bodyPr wrap="square" rtlCol="0">
              <a:spAutoFit/>
            </a:bodyPr>
            <a:lstStyle/>
            <a:p>
              <a:r>
                <a:rPr lang="es-ES" sz="6000" b="1" dirty="0">
                  <a:solidFill>
                    <a:schemeClr val="bg1"/>
                  </a:solidFill>
                  <a:latin typeface="Helvetica" pitchFamily="2" charset="0"/>
                </a:rPr>
                <a:t>1</a:t>
              </a:r>
              <a:endParaRPr lang="en-US" sz="6000" b="1" dirty="0">
                <a:solidFill>
                  <a:schemeClr val="bg1"/>
                </a:solidFill>
                <a:latin typeface="Helvetica" pitchFamily="2" charset="0"/>
              </a:endParaRPr>
            </a:p>
          </p:txBody>
        </p:sp>
        <p:sp>
          <p:nvSpPr>
            <p:cNvPr id="8" name="Rectangle 7">
              <a:extLst>
                <a:ext uri="{FF2B5EF4-FFF2-40B4-BE49-F238E27FC236}">
                  <a16:creationId xmlns:a16="http://schemas.microsoft.com/office/drawing/2014/main" id="{830C6426-CF18-244B-D9EC-4576E393467C}"/>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85186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0E7F402-2510-79E5-8EBB-D4FCCC358A4E}"/>
              </a:ext>
            </a:extLst>
          </p:cNvPr>
          <p:cNvGrpSpPr/>
          <p:nvPr/>
        </p:nvGrpSpPr>
        <p:grpSpPr>
          <a:xfrm>
            <a:off x="846912" y="-39920"/>
            <a:ext cx="4629752" cy="1015663"/>
            <a:chOff x="924025" y="1526961"/>
            <a:chExt cx="4629752" cy="1015663"/>
          </a:xfrm>
        </p:grpSpPr>
        <p:sp>
          <p:nvSpPr>
            <p:cNvPr id="10" name="Rectangle 9">
              <a:extLst>
                <a:ext uri="{FF2B5EF4-FFF2-40B4-BE49-F238E27FC236}">
                  <a16:creationId xmlns:a16="http://schemas.microsoft.com/office/drawing/2014/main" id="{55E39CE9-DC9F-215B-F45A-DFF848F3E700}"/>
                </a:ext>
              </a:extLst>
            </p:cNvPr>
            <p:cNvSpPr/>
            <p:nvPr/>
          </p:nvSpPr>
          <p:spPr>
            <a:xfrm>
              <a:off x="924025" y="1559294"/>
              <a:ext cx="4629752" cy="731520"/>
            </a:xfrm>
            <a:prstGeom prst="rect">
              <a:avLst/>
            </a:prstGeom>
            <a:solidFill>
              <a:srgbClr val="1B5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9CB6E74-BFD1-2ECD-D661-78A2BA544AEC}"/>
                </a:ext>
              </a:extLst>
            </p:cNvPr>
            <p:cNvSpPr txBox="1"/>
            <p:nvPr/>
          </p:nvSpPr>
          <p:spPr>
            <a:xfrm>
              <a:off x="1501541" y="1663444"/>
              <a:ext cx="3062398" cy="523220"/>
            </a:xfrm>
            <a:prstGeom prst="rect">
              <a:avLst/>
            </a:prstGeom>
            <a:noFill/>
            <a:ln>
              <a:noFill/>
            </a:ln>
          </p:spPr>
          <p:txBody>
            <a:bodyPr wrap="square" rtlCol="0">
              <a:spAutoFit/>
            </a:bodyPr>
            <a:lstStyle/>
            <a:p>
              <a:r>
                <a:rPr lang="es-ES" dirty="0">
                  <a:solidFill>
                    <a:schemeClr val="bg1"/>
                  </a:solidFill>
                  <a:latin typeface="Helvetica" pitchFamily="2" charset="0"/>
                </a:rPr>
                <a:t>Estructuras condicionales</a:t>
              </a:r>
              <a:br>
                <a:rPr lang="es-ES" dirty="0">
                  <a:solidFill>
                    <a:schemeClr val="bg1"/>
                  </a:solidFill>
                  <a:latin typeface="Helvetica" pitchFamily="2" charset="0"/>
                </a:rPr>
              </a:br>
              <a:r>
                <a:rPr lang="es-ES" dirty="0">
                  <a:solidFill>
                    <a:schemeClr val="bg1"/>
                  </a:solidFill>
                  <a:latin typeface="Helvetica" pitchFamily="2" charset="0"/>
                </a:rPr>
                <a:t>(repaso)</a:t>
              </a:r>
              <a:endParaRPr lang="en-US" dirty="0">
                <a:solidFill>
                  <a:schemeClr val="bg1"/>
                </a:solidFill>
                <a:latin typeface="Helvetica" pitchFamily="2" charset="0"/>
              </a:endParaRPr>
            </a:p>
          </p:txBody>
        </p:sp>
        <p:sp>
          <p:nvSpPr>
            <p:cNvPr id="12" name="TextBox 11">
              <a:extLst>
                <a:ext uri="{FF2B5EF4-FFF2-40B4-BE49-F238E27FC236}">
                  <a16:creationId xmlns:a16="http://schemas.microsoft.com/office/drawing/2014/main" id="{911BA8A2-27E2-6EF9-2C67-70F94CA768A6}"/>
                </a:ext>
              </a:extLst>
            </p:cNvPr>
            <p:cNvSpPr txBox="1"/>
            <p:nvPr/>
          </p:nvSpPr>
          <p:spPr>
            <a:xfrm>
              <a:off x="991402" y="1526961"/>
              <a:ext cx="1020278" cy="1015663"/>
            </a:xfrm>
            <a:prstGeom prst="rect">
              <a:avLst/>
            </a:prstGeom>
            <a:noFill/>
            <a:ln>
              <a:noFill/>
            </a:ln>
          </p:spPr>
          <p:txBody>
            <a:bodyPr wrap="square" rtlCol="0">
              <a:spAutoFit/>
            </a:bodyPr>
            <a:lstStyle/>
            <a:p>
              <a:r>
                <a:rPr lang="es-ES" sz="6000" b="1" dirty="0">
                  <a:solidFill>
                    <a:schemeClr val="bg1"/>
                  </a:solidFill>
                  <a:latin typeface="Helvetica" pitchFamily="2" charset="0"/>
                </a:rPr>
                <a:t>1</a:t>
              </a:r>
              <a:endParaRPr lang="en-US" sz="6000" b="1" dirty="0">
                <a:solidFill>
                  <a:schemeClr val="bg1"/>
                </a:solidFill>
                <a:latin typeface="Helvetica" pitchFamily="2" charset="0"/>
              </a:endParaRPr>
            </a:p>
          </p:txBody>
        </p:sp>
        <p:sp>
          <p:nvSpPr>
            <p:cNvPr id="13" name="Rectangle 12">
              <a:extLst>
                <a:ext uri="{FF2B5EF4-FFF2-40B4-BE49-F238E27FC236}">
                  <a16:creationId xmlns:a16="http://schemas.microsoft.com/office/drawing/2014/main" id="{E4DFA671-2DC5-84BD-D8E7-8B8B354054A7}"/>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864A96E-FE1F-DD8B-F02B-3F2A1FB1D0B6}"/>
              </a:ext>
            </a:extLst>
          </p:cNvPr>
          <p:cNvSpPr>
            <a:spLocks noGrp="1"/>
          </p:cNvSpPr>
          <p:nvPr>
            <p:ph type="title"/>
          </p:nvPr>
        </p:nvSpPr>
        <p:spPr/>
        <p:txBody>
          <a:bodyPr/>
          <a:lstStyle/>
          <a:p>
            <a:r>
              <a:rPr lang="es-ES" dirty="0"/>
              <a:t>Condicional simple y doble</a:t>
            </a:r>
            <a:endParaRPr lang="en-US" dirty="0"/>
          </a:p>
        </p:txBody>
      </p:sp>
      <p:sp>
        <p:nvSpPr>
          <p:cNvPr id="3" name="Slide Number Placeholder 2">
            <a:extLst>
              <a:ext uri="{FF2B5EF4-FFF2-40B4-BE49-F238E27FC236}">
                <a16:creationId xmlns:a16="http://schemas.microsoft.com/office/drawing/2014/main" id="{15E6D38B-89CE-4804-188C-6F68B0C16C5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12</a:t>
            </a:fld>
            <a:endParaRPr lang="es-PE" dirty="0"/>
          </a:p>
        </p:txBody>
      </p:sp>
      <p:grpSp>
        <p:nvGrpSpPr>
          <p:cNvPr id="4" name="Group 3">
            <a:extLst>
              <a:ext uri="{FF2B5EF4-FFF2-40B4-BE49-F238E27FC236}">
                <a16:creationId xmlns:a16="http://schemas.microsoft.com/office/drawing/2014/main" id="{0AE2FEB0-138E-DF0E-BB0E-158AE18AC61B}"/>
              </a:ext>
            </a:extLst>
          </p:cNvPr>
          <p:cNvGrpSpPr/>
          <p:nvPr/>
        </p:nvGrpSpPr>
        <p:grpSpPr>
          <a:xfrm>
            <a:off x="420532" y="1761085"/>
            <a:ext cx="5434821" cy="4626738"/>
            <a:chOff x="6471204" y="1515448"/>
            <a:chExt cx="5434821" cy="4626738"/>
          </a:xfrm>
        </p:grpSpPr>
        <p:sp>
          <p:nvSpPr>
            <p:cNvPr id="5" name="Arrow: Down 4">
              <a:extLst>
                <a:ext uri="{FF2B5EF4-FFF2-40B4-BE49-F238E27FC236}">
                  <a16:creationId xmlns:a16="http://schemas.microsoft.com/office/drawing/2014/main" id="{318EC27D-8CCB-2873-D631-9B780170E359}"/>
                </a:ext>
              </a:extLst>
            </p:cNvPr>
            <p:cNvSpPr/>
            <p:nvPr/>
          </p:nvSpPr>
          <p:spPr>
            <a:xfrm>
              <a:off x="7878618" y="1515448"/>
              <a:ext cx="221670" cy="1037434"/>
            </a:xfrm>
            <a:prstGeom prst="downArrow">
              <a:avLst>
                <a:gd name="adj1" fmla="val 33333"/>
                <a:gd name="adj2" fmla="val 58365"/>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Bent 5">
              <a:extLst>
                <a:ext uri="{FF2B5EF4-FFF2-40B4-BE49-F238E27FC236}">
                  <a16:creationId xmlns:a16="http://schemas.microsoft.com/office/drawing/2014/main" id="{CA5F8F5D-D5D9-9A3D-793F-5103843ECA76}"/>
                </a:ext>
              </a:extLst>
            </p:cNvPr>
            <p:cNvSpPr/>
            <p:nvPr/>
          </p:nvSpPr>
          <p:spPr>
            <a:xfrm rot="5400000">
              <a:off x="9168965" y="2810706"/>
              <a:ext cx="716900" cy="1708727"/>
            </a:xfrm>
            <a:prstGeom prst="bentArrow">
              <a:avLst>
                <a:gd name="adj1" fmla="val 12805"/>
                <a:gd name="adj2" fmla="val 17357"/>
                <a:gd name="adj3" fmla="val 23824"/>
                <a:gd name="adj4" fmla="val 30816"/>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Arrow: Bent 6">
              <a:extLst>
                <a:ext uri="{FF2B5EF4-FFF2-40B4-BE49-F238E27FC236}">
                  <a16:creationId xmlns:a16="http://schemas.microsoft.com/office/drawing/2014/main" id="{FC224307-4548-15EA-DD99-C765FC0CC630}"/>
                </a:ext>
              </a:extLst>
            </p:cNvPr>
            <p:cNvSpPr/>
            <p:nvPr/>
          </p:nvSpPr>
          <p:spPr>
            <a:xfrm rot="5400000" flipV="1">
              <a:off x="8014331" y="5197241"/>
              <a:ext cx="799997" cy="1089894"/>
            </a:xfrm>
            <a:prstGeom prst="bentArrow">
              <a:avLst>
                <a:gd name="adj1" fmla="val 11650"/>
                <a:gd name="adj2" fmla="val 15048"/>
                <a:gd name="adj3" fmla="val 23824"/>
                <a:gd name="adj4" fmla="val 30816"/>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E9C91CD7-EA8C-D53C-3A4C-819C48DAB90C}"/>
                </a:ext>
              </a:extLst>
            </p:cNvPr>
            <p:cNvSpPr/>
            <p:nvPr/>
          </p:nvSpPr>
          <p:spPr>
            <a:xfrm flipH="1">
              <a:off x="7943272" y="4038965"/>
              <a:ext cx="92362" cy="1859756"/>
            </a:xfrm>
            <a:prstGeom prst="rect">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FECFB456-4508-166E-631A-318D5F806EAF}"/>
                </a:ext>
              </a:extLst>
            </p:cNvPr>
            <p:cNvSpPr/>
            <p:nvPr/>
          </p:nvSpPr>
          <p:spPr>
            <a:xfrm rot="18900000">
              <a:off x="7421172" y="2775175"/>
              <a:ext cx="1136562" cy="1136562"/>
            </a:xfrm>
            <a:prstGeom prst="roundRect">
              <a:avLst>
                <a:gd name="adj" fmla="val 6071"/>
              </a:avLst>
            </a:prstGeom>
            <a:solidFill>
              <a:srgbClr val="92D050"/>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78D39FA-4A9D-9ECD-8353-8AD81BE05F7C}"/>
                </a:ext>
              </a:extLst>
            </p:cNvPr>
            <p:cNvSpPr txBox="1"/>
            <p:nvPr/>
          </p:nvSpPr>
          <p:spPr>
            <a:xfrm>
              <a:off x="7409306" y="3134151"/>
              <a:ext cx="1159293" cy="369332"/>
            </a:xfrm>
            <a:prstGeom prst="rect">
              <a:avLst/>
            </a:prstGeom>
            <a:noFill/>
            <a:effectLst>
              <a:glow rad="63500">
                <a:schemeClr val="accent3">
                  <a:satMod val="175000"/>
                  <a:alpha val="40000"/>
                </a:schemeClr>
              </a:glow>
            </a:effectLst>
          </p:spPr>
          <p:txBody>
            <a:bodyPr wrap="none" rtlCol="0">
              <a:spAutoFit/>
            </a:bodyPr>
            <a:lstStyle/>
            <a:p>
              <a:pPr algn="ctr"/>
              <a:r>
                <a:rPr lang="es-ES" sz="1800" dirty="0"/>
                <a:t>condición</a:t>
              </a:r>
              <a:endParaRPr lang="en-US" sz="1800" dirty="0"/>
            </a:p>
          </p:txBody>
        </p:sp>
        <p:sp>
          <p:nvSpPr>
            <p:cNvPr id="19" name="TextBox 18">
              <a:extLst>
                <a:ext uri="{FF2B5EF4-FFF2-40B4-BE49-F238E27FC236}">
                  <a16:creationId xmlns:a16="http://schemas.microsoft.com/office/drawing/2014/main" id="{B61E2505-568E-392F-4159-93E5CC844C65}"/>
                </a:ext>
              </a:extLst>
            </p:cNvPr>
            <p:cNvSpPr txBox="1"/>
            <p:nvPr/>
          </p:nvSpPr>
          <p:spPr>
            <a:xfrm>
              <a:off x="10381779" y="3213719"/>
              <a:ext cx="1524246" cy="646331"/>
            </a:xfrm>
            <a:prstGeom prst="rect">
              <a:avLst/>
            </a:prstGeom>
            <a:noFill/>
          </p:spPr>
          <p:txBody>
            <a:bodyPr wrap="square" rtlCol="0">
              <a:spAutoFit/>
            </a:bodyPr>
            <a:lstStyle/>
            <a:p>
              <a:r>
                <a:rPr lang="es-ES" sz="1800" dirty="0">
                  <a:solidFill>
                    <a:schemeClr val="bg1">
                      <a:lumMod val="50000"/>
                    </a:schemeClr>
                  </a:solidFill>
                </a:rPr>
                <a:t>La condición es</a:t>
              </a:r>
              <a:r>
                <a:rPr lang="es-ES" sz="1800" dirty="0"/>
                <a:t> </a:t>
              </a:r>
              <a:r>
                <a:rPr lang="es-ES" sz="1800" dirty="0">
                  <a:solidFill>
                    <a:srgbClr val="92D050"/>
                  </a:solidFill>
                </a:rPr>
                <a:t>true</a:t>
              </a:r>
              <a:endParaRPr lang="en-US" sz="1800" dirty="0">
                <a:solidFill>
                  <a:srgbClr val="92D050"/>
                </a:solidFill>
              </a:endParaRPr>
            </a:p>
          </p:txBody>
        </p:sp>
        <p:sp>
          <p:nvSpPr>
            <p:cNvPr id="20" name="TextBox 19">
              <a:extLst>
                <a:ext uri="{FF2B5EF4-FFF2-40B4-BE49-F238E27FC236}">
                  <a16:creationId xmlns:a16="http://schemas.microsoft.com/office/drawing/2014/main" id="{D7B3567E-A250-25DE-9D60-E47CB3C11C52}"/>
                </a:ext>
              </a:extLst>
            </p:cNvPr>
            <p:cNvSpPr txBox="1"/>
            <p:nvPr/>
          </p:nvSpPr>
          <p:spPr>
            <a:xfrm>
              <a:off x="6471204" y="4359443"/>
              <a:ext cx="1472068" cy="646331"/>
            </a:xfrm>
            <a:prstGeom prst="rect">
              <a:avLst/>
            </a:prstGeom>
            <a:noFill/>
          </p:spPr>
          <p:txBody>
            <a:bodyPr wrap="square" rtlCol="0">
              <a:spAutoFit/>
            </a:bodyPr>
            <a:lstStyle/>
            <a:p>
              <a:pPr algn="r"/>
              <a:r>
                <a:rPr lang="es-ES" sz="1800" dirty="0">
                  <a:solidFill>
                    <a:schemeClr val="bg1">
                      <a:lumMod val="50000"/>
                    </a:schemeClr>
                  </a:solidFill>
                </a:rPr>
                <a:t>La condición es </a:t>
              </a:r>
              <a:r>
                <a:rPr lang="es-ES" sz="1800" dirty="0">
                  <a:solidFill>
                    <a:srgbClr val="C00000"/>
                  </a:solidFill>
                </a:rPr>
                <a:t>false</a:t>
              </a:r>
              <a:endParaRPr lang="en-US" sz="1800" dirty="0">
                <a:solidFill>
                  <a:srgbClr val="C00000"/>
                </a:solidFill>
              </a:endParaRPr>
            </a:p>
          </p:txBody>
        </p:sp>
        <p:sp>
          <p:nvSpPr>
            <p:cNvPr id="21" name="Arrow: Bent 20">
              <a:extLst>
                <a:ext uri="{FF2B5EF4-FFF2-40B4-BE49-F238E27FC236}">
                  <a16:creationId xmlns:a16="http://schemas.microsoft.com/office/drawing/2014/main" id="{1597EBC8-447E-72E5-71B9-AE19FA23FFFA}"/>
                </a:ext>
              </a:extLst>
            </p:cNvPr>
            <p:cNvSpPr/>
            <p:nvPr/>
          </p:nvSpPr>
          <p:spPr>
            <a:xfrm rot="10800000">
              <a:off x="8793123" y="4734938"/>
              <a:ext cx="1487268" cy="798652"/>
            </a:xfrm>
            <a:prstGeom prst="bentArrow">
              <a:avLst>
                <a:gd name="adj1" fmla="val 12805"/>
                <a:gd name="adj2" fmla="val 17357"/>
                <a:gd name="adj3" fmla="val 23824"/>
                <a:gd name="adj4" fmla="val 30816"/>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Rectangle: Rounded Corners 15">
              <a:extLst>
                <a:ext uri="{FF2B5EF4-FFF2-40B4-BE49-F238E27FC236}">
                  <a16:creationId xmlns:a16="http://schemas.microsoft.com/office/drawing/2014/main" id="{6FEDD712-06C5-A691-8F7C-59E797EFE88A}"/>
                </a:ext>
              </a:extLst>
            </p:cNvPr>
            <p:cNvSpPr/>
            <p:nvPr/>
          </p:nvSpPr>
          <p:spPr>
            <a:xfrm>
              <a:off x="8950039" y="4033044"/>
              <a:ext cx="2613891" cy="785528"/>
            </a:xfrm>
            <a:prstGeom prst="roundRect">
              <a:avLst/>
            </a:prstGeom>
            <a:solidFill>
              <a:schemeClr val="accent4"/>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B0E7C4A-1AD5-D6DE-0C2D-067BA80D964C}"/>
                </a:ext>
              </a:extLst>
            </p:cNvPr>
            <p:cNvSpPr txBox="1"/>
            <p:nvPr/>
          </p:nvSpPr>
          <p:spPr>
            <a:xfrm>
              <a:off x="9190449" y="4231594"/>
              <a:ext cx="2082621" cy="369332"/>
            </a:xfrm>
            <a:prstGeom prst="rect">
              <a:avLst/>
            </a:prstGeom>
            <a:noFill/>
            <a:effectLst>
              <a:glow rad="63500">
                <a:schemeClr val="accent3">
                  <a:satMod val="175000"/>
                  <a:alpha val="40000"/>
                </a:schemeClr>
              </a:glow>
            </a:effectLst>
          </p:spPr>
          <p:txBody>
            <a:bodyPr wrap="none" rtlCol="0">
              <a:spAutoFit/>
            </a:bodyPr>
            <a:lstStyle/>
            <a:p>
              <a:pPr algn="ctr"/>
              <a:r>
                <a:rPr lang="es-ES" sz="1800" dirty="0"/>
                <a:t>código condicional</a:t>
              </a:r>
              <a:endParaRPr lang="en-US" sz="1800" dirty="0"/>
            </a:p>
          </p:txBody>
        </p:sp>
      </p:grpSp>
      <p:grpSp>
        <p:nvGrpSpPr>
          <p:cNvPr id="22" name="Group 21">
            <a:extLst>
              <a:ext uri="{FF2B5EF4-FFF2-40B4-BE49-F238E27FC236}">
                <a16:creationId xmlns:a16="http://schemas.microsoft.com/office/drawing/2014/main" id="{0AECF321-33E7-DD8E-3486-E4CCFEF36C80}"/>
              </a:ext>
            </a:extLst>
          </p:cNvPr>
          <p:cNvGrpSpPr/>
          <p:nvPr/>
        </p:nvGrpSpPr>
        <p:grpSpPr>
          <a:xfrm>
            <a:off x="6183880" y="1753070"/>
            <a:ext cx="5412739" cy="4705234"/>
            <a:chOff x="5826004" y="1018336"/>
            <a:chExt cx="5412739" cy="4705234"/>
          </a:xfrm>
        </p:grpSpPr>
        <p:sp>
          <p:nvSpPr>
            <p:cNvPr id="23" name="Arrow: Down 22">
              <a:extLst>
                <a:ext uri="{FF2B5EF4-FFF2-40B4-BE49-F238E27FC236}">
                  <a16:creationId xmlns:a16="http://schemas.microsoft.com/office/drawing/2014/main" id="{20D05FD3-E26A-80D0-9504-9D64E5F6B280}"/>
                </a:ext>
              </a:extLst>
            </p:cNvPr>
            <p:cNvSpPr/>
            <p:nvPr/>
          </p:nvSpPr>
          <p:spPr>
            <a:xfrm>
              <a:off x="8414004" y="1018336"/>
              <a:ext cx="221670" cy="1037434"/>
            </a:xfrm>
            <a:prstGeom prst="downArrow">
              <a:avLst>
                <a:gd name="adj1" fmla="val 33333"/>
                <a:gd name="adj2" fmla="val 58365"/>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Bent 23">
              <a:extLst>
                <a:ext uri="{FF2B5EF4-FFF2-40B4-BE49-F238E27FC236}">
                  <a16:creationId xmlns:a16="http://schemas.microsoft.com/office/drawing/2014/main" id="{B5D77F89-B545-AC57-951E-D8F68A00E915}"/>
                </a:ext>
              </a:extLst>
            </p:cNvPr>
            <p:cNvSpPr/>
            <p:nvPr/>
          </p:nvSpPr>
          <p:spPr>
            <a:xfrm rot="5400000">
              <a:off x="9429635" y="2588311"/>
              <a:ext cx="716900" cy="1159294"/>
            </a:xfrm>
            <a:prstGeom prst="bentArrow">
              <a:avLst>
                <a:gd name="adj1" fmla="val 12805"/>
                <a:gd name="adj2" fmla="val 17357"/>
                <a:gd name="adj3" fmla="val 23824"/>
                <a:gd name="adj4" fmla="val 30816"/>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13690E78-0661-6FC0-47C5-1C777FEBC03B}"/>
                </a:ext>
              </a:extLst>
            </p:cNvPr>
            <p:cNvGrpSpPr/>
            <p:nvPr/>
          </p:nvGrpSpPr>
          <p:grpSpPr>
            <a:xfrm>
              <a:off x="8366151" y="4299556"/>
              <a:ext cx="1971090" cy="1418670"/>
              <a:chOff x="8515027" y="4299556"/>
              <a:chExt cx="1822213" cy="1418670"/>
            </a:xfrm>
          </p:grpSpPr>
          <p:sp>
            <p:nvSpPr>
              <p:cNvPr id="40" name="Arrow: Bent 39">
                <a:extLst>
                  <a:ext uri="{FF2B5EF4-FFF2-40B4-BE49-F238E27FC236}">
                    <a16:creationId xmlns:a16="http://schemas.microsoft.com/office/drawing/2014/main" id="{9690D44B-F778-CF89-3A60-287EDD036AAE}"/>
                  </a:ext>
                </a:extLst>
              </p:cNvPr>
              <p:cNvSpPr/>
              <p:nvPr/>
            </p:nvSpPr>
            <p:spPr>
              <a:xfrm rot="5400000" flipV="1">
                <a:off x="8659975" y="4773281"/>
                <a:ext cx="799997" cy="1089894"/>
              </a:xfrm>
              <a:prstGeom prst="bentArrow">
                <a:avLst>
                  <a:gd name="adj1" fmla="val 11650"/>
                  <a:gd name="adj2" fmla="val 15048"/>
                  <a:gd name="adj3" fmla="val 23824"/>
                  <a:gd name="adj4" fmla="val 30816"/>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Arrow: Bent 40">
                <a:extLst>
                  <a:ext uri="{FF2B5EF4-FFF2-40B4-BE49-F238E27FC236}">
                    <a16:creationId xmlns:a16="http://schemas.microsoft.com/office/drawing/2014/main" id="{0FC7D9E1-3DA1-150D-0AB3-6C2AA71A0FB7}"/>
                  </a:ext>
                </a:extLst>
              </p:cNvPr>
              <p:cNvSpPr/>
              <p:nvPr/>
            </p:nvSpPr>
            <p:spPr>
              <a:xfrm rot="10800000">
                <a:off x="9328509" y="4299556"/>
                <a:ext cx="1008731" cy="798652"/>
              </a:xfrm>
              <a:prstGeom prst="bentArrow">
                <a:avLst>
                  <a:gd name="adj1" fmla="val 12805"/>
                  <a:gd name="adj2" fmla="val 17357"/>
                  <a:gd name="adj3" fmla="val 23824"/>
                  <a:gd name="adj4" fmla="val 30816"/>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6" name="TextBox 25">
              <a:extLst>
                <a:ext uri="{FF2B5EF4-FFF2-40B4-BE49-F238E27FC236}">
                  <a16:creationId xmlns:a16="http://schemas.microsoft.com/office/drawing/2014/main" id="{DD356AD6-877A-C49B-FB63-BBA4AE616024}"/>
                </a:ext>
              </a:extLst>
            </p:cNvPr>
            <p:cNvSpPr txBox="1"/>
            <p:nvPr/>
          </p:nvSpPr>
          <p:spPr>
            <a:xfrm>
              <a:off x="6456513" y="2080444"/>
              <a:ext cx="1524246" cy="646331"/>
            </a:xfrm>
            <a:prstGeom prst="rect">
              <a:avLst/>
            </a:prstGeom>
            <a:noFill/>
          </p:spPr>
          <p:txBody>
            <a:bodyPr wrap="square" rtlCol="0">
              <a:spAutoFit/>
            </a:bodyPr>
            <a:lstStyle/>
            <a:p>
              <a:pPr algn="ctr"/>
              <a:r>
                <a:rPr lang="es-ES" sz="1800" dirty="0">
                  <a:solidFill>
                    <a:schemeClr val="bg1">
                      <a:lumMod val="50000"/>
                    </a:schemeClr>
                  </a:solidFill>
                </a:rPr>
                <a:t>La condición es</a:t>
              </a:r>
              <a:r>
                <a:rPr lang="es-ES" sz="1800" dirty="0"/>
                <a:t> </a:t>
              </a:r>
              <a:r>
                <a:rPr lang="es-ES" sz="1800" dirty="0">
                  <a:solidFill>
                    <a:srgbClr val="92D050"/>
                  </a:solidFill>
                </a:rPr>
                <a:t>true</a:t>
              </a:r>
              <a:endParaRPr lang="en-US" sz="1800" dirty="0">
                <a:solidFill>
                  <a:srgbClr val="92D050"/>
                </a:solidFill>
              </a:endParaRPr>
            </a:p>
          </p:txBody>
        </p:sp>
        <p:sp>
          <p:nvSpPr>
            <p:cNvPr id="27" name="TextBox 26">
              <a:extLst>
                <a:ext uri="{FF2B5EF4-FFF2-40B4-BE49-F238E27FC236}">
                  <a16:creationId xmlns:a16="http://schemas.microsoft.com/office/drawing/2014/main" id="{86FBF96D-2ED4-F608-8DF5-4E1493C4A586}"/>
                </a:ext>
              </a:extLst>
            </p:cNvPr>
            <p:cNvSpPr txBox="1"/>
            <p:nvPr/>
          </p:nvSpPr>
          <p:spPr>
            <a:xfrm>
              <a:off x="9052998" y="2080444"/>
              <a:ext cx="1472068" cy="646331"/>
            </a:xfrm>
            <a:prstGeom prst="rect">
              <a:avLst/>
            </a:prstGeom>
            <a:noFill/>
          </p:spPr>
          <p:txBody>
            <a:bodyPr wrap="square" rtlCol="0">
              <a:spAutoFit/>
            </a:bodyPr>
            <a:lstStyle/>
            <a:p>
              <a:pPr algn="ctr"/>
              <a:r>
                <a:rPr lang="es-ES" sz="1800" dirty="0">
                  <a:solidFill>
                    <a:schemeClr val="bg1">
                      <a:lumMod val="50000"/>
                    </a:schemeClr>
                  </a:solidFill>
                </a:rPr>
                <a:t>La condición es </a:t>
              </a:r>
              <a:r>
                <a:rPr lang="es-ES" sz="1800" dirty="0">
                  <a:solidFill>
                    <a:srgbClr val="C00000"/>
                  </a:solidFill>
                </a:rPr>
                <a:t>false</a:t>
              </a:r>
              <a:endParaRPr lang="en-US" sz="1800" dirty="0">
                <a:solidFill>
                  <a:srgbClr val="C00000"/>
                </a:solidFill>
              </a:endParaRPr>
            </a:p>
          </p:txBody>
        </p:sp>
        <p:sp>
          <p:nvSpPr>
            <p:cNvPr id="28" name="Arrow: Bent 27">
              <a:extLst>
                <a:ext uri="{FF2B5EF4-FFF2-40B4-BE49-F238E27FC236}">
                  <a16:creationId xmlns:a16="http://schemas.microsoft.com/office/drawing/2014/main" id="{933D7C3D-A399-5AD8-881A-0EEA841F4121}"/>
                </a:ext>
              </a:extLst>
            </p:cNvPr>
            <p:cNvSpPr/>
            <p:nvPr/>
          </p:nvSpPr>
          <p:spPr>
            <a:xfrm rot="16200000" flipH="1">
              <a:off x="6818634" y="2588311"/>
              <a:ext cx="716900" cy="1159294"/>
            </a:xfrm>
            <a:prstGeom prst="bentArrow">
              <a:avLst>
                <a:gd name="adj1" fmla="val 12805"/>
                <a:gd name="adj2" fmla="val 17357"/>
                <a:gd name="adj3" fmla="val 23824"/>
                <a:gd name="adj4" fmla="val 30816"/>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9" name="Group 28">
              <a:extLst>
                <a:ext uri="{FF2B5EF4-FFF2-40B4-BE49-F238E27FC236}">
                  <a16:creationId xmlns:a16="http://schemas.microsoft.com/office/drawing/2014/main" id="{19C0AAAD-2998-D9F6-047D-8608AF685BB6}"/>
                </a:ext>
              </a:extLst>
            </p:cNvPr>
            <p:cNvGrpSpPr/>
            <p:nvPr/>
          </p:nvGrpSpPr>
          <p:grpSpPr>
            <a:xfrm>
              <a:off x="7952728" y="2278063"/>
              <a:ext cx="1159293" cy="1136562"/>
              <a:chOff x="7952728" y="2278063"/>
              <a:chExt cx="1159293" cy="1136562"/>
            </a:xfrm>
          </p:grpSpPr>
          <p:sp>
            <p:nvSpPr>
              <p:cNvPr id="38" name="Rectangle: Rounded Corners 37">
                <a:extLst>
                  <a:ext uri="{FF2B5EF4-FFF2-40B4-BE49-F238E27FC236}">
                    <a16:creationId xmlns:a16="http://schemas.microsoft.com/office/drawing/2014/main" id="{7AF736C5-BEA9-5678-85CC-DA9E4D035906}"/>
                  </a:ext>
                </a:extLst>
              </p:cNvPr>
              <p:cNvSpPr/>
              <p:nvPr/>
            </p:nvSpPr>
            <p:spPr>
              <a:xfrm rot="18900000">
                <a:off x="7956558" y="2278063"/>
                <a:ext cx="1136562" cy="1136562"/>
              </a:xfrm>
              <a:prstGeom prst="roundRect">
                <a:avLst>
                  <a:gd name="adj" fmla="val 6071"/>
                </a:avLst>
              </a:prstGeom>
              <a:solidFill>
                <a:srgbClr val="92D050"/>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78B97B85-9B47-AB75-EF36-644057CA880B}"/>
                  </a:ext>
                </a:extLst>
              </p:cNvPr>
              <p:cNvSpPr txBox="1"/>
              <p:nvPr/>
            </p:nvSpPr>
            <p:spPr>
              <a:xfrm>
                <a:off x="7952728" y="2633378"/>
                <a:ext cx="1159293" cy="369332"/>
              </a:xfrm>
              <a:prstGeom prst="rect">
                <a:avLst/>
              </a:prstGeom>
              <a:noFill/>
              <a:effectLst>
                <a:glow rad="63500">
                  <a:schemeClr val="accent3">
                    <a:satMod val="175000"/>
                    <a:alpha val="40000"/>
                  </a:schemeClr>
                </a:glow>
              </a:effectLst>
            </p:spPr>
            <p:txBody>
              <a:bodyPr wrap="none" rtlCol="0">
                <a:spAutoFit/>
              </a:bodyPr>
              <a:lstStyle/>
              <a:p>
                <a:pPr algn="ctr"/>
                <a:r>
                  <a:rPr lang="es-ES" sz="1800" dirty="0"/>
                  <a:t>condición</a:t>
                </a:r>
                <a:endParaRPr lang="en-US" sz="1800" dirty="0"/>
              </a:p>
            </p:txBody>
          </p:sp>
        </p:grpSp>
        <p:grpSp>
          <p:nvGrpSpPr>
            <p:cNvPr id="30" name="Group 29">
              <a:extLst>
                <a:ext uri="{FF2B5EF4-FFF2-40B4-BE49-F238E27FC236}">
                  <a16:creationId xmlns:a16="http://schemas.microsoft.com/office/drawing/2014/main" id="{5A197C07-DCCA-6ADB-E31C-0FD6FD68C67A}"/>
                </a:ext>
              </a:extLst>
            </p:cNvPr>
            <p:cNvGrpSpPr/>
            <p:nvPr/>
          </p:nvGrpSpPr>
          <p:grpSpPr>
            <a:xfrm flipH="1">
              <a:off x="6693727" y="4304900"/>
              <a:ext cx="1916872" cy="1418670"/>
              <a:chOff x="8515027" y="4299556"/>
              <a:chExt cx="1822213" cy="1418670"/>
            </a:xfrm>
          </p:grpSpPr>
          <p:sp>
            <p:nvSpPr>
              <p:cNvPr id="36" name="Arrow: Bent 35">
                <a:extLst>
                  <a:ext uri="{FF2B5EF4-FFF2-40B4-BE49-F238E27FC236}">
                    <a16:creationId xmlns:a16="http://schemas.microsoft.com/office/drawing/2014/main" id="{F68451BD-2870-1EA9-AB0D-D69A010EBD1C}"/>
                  </a:ext>
                </a:extLst>
              </p:cNvPr>
              <p:cNvSpPr/>
              <p:nvPr/>
            </p:nvSpPr>
            <p:spPr>
              <a:xfrm rot="5400000" flipV="1">
                <a:off x="8659975" y="4773281"/>
                <a:ext cx="799997" cy="1089894"/>
              </a:xfrm>
              <a:prstGeom prst="bentArrow">
                <a:avLst>
                  <a:gd name="adj1" fmla="val 11650"/>
                  <a:gd name="adj2" fmla="val 15048"/>
                  <a:gd name="adj3" fmla="val 23824"/>
                  <a:gd name="adj4" fmla="val 30816"/>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7" name="Arrow: Bent 36">
                <a:extLst>
                  <a:ext uri="{FF2B5EF4-FFF2-40B4-BE49-F238E27FC236}">
                    <a16:creationId xmlns:a16="http://schemas.microsoft.com/office/drawing/2014/main" id="{C762866A-52B5-995C-E28F-3D039620F624}"/>
                  </a:ext>
                </a:extLst>
              </p:cNvPr>
              <p:cNvSpPr/>
              <p:nvPr/>
            </p:nvSpPr>
            <p:spPr>
              <a:xfrm rot="10800000">
                <a:off x="9328509" y="4299556"/>
                <a:ext cx="1008731" cy="798652"/>
              </a:xfrm>
              <a:prstGeom prst="bentArrow">
                <a:avLst>
                  <a:gd name="adj1" fmla="val 12805"/>
                  <a:gd name="adj2" fmla="val 17357"/>
                  <a:gd name="adj3" fmla="val 23824"/>
                  <a:gd name="adj4" fmla="val 30816"/>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31" name="Group 30">
              <a:extLst>
                <a:ext uri="{FF2B5EF4-FFF2-40B4-BE49-F238E27FC236}">
                  <a16:creationId xmlns:a16="http://schemas.microsoft.com/office/drawing/2014/main" id="{852ADDB0-F9AD-5E3B-98DF-364DB96E35B6}"/>
                </a:ext>
              </a:extLst>
            </p:cNvPr>
            <p:cNvGrpSpPr/>
            <p:nvPr/>
          </p:nvGrpSpPr>
          <p:grpSpPr>
            <a:xfrm>
              <a:off x="5826004" y="3553701"/>
              <a:ext cx="5412739" cy="785528"/>
              <a:chOff x="5809572" y="4033044"/>
              <a:chExt cx="5412739" cy="785528"/>
            </a:xfrm>
          </p:grpSpPr>
          <p:sp>
            <p:nvSpPr>
              <p:cNvPr id="32" name="Rectangle: Rounded Corners 31">
                <a:extLst>
                  <a:ext uri="{FF2B5EF4-FFF2-40B4-BE49-F238E27FC236}">
                    <a16:creationId xmlns:a16="http://schemas.microsoft.com/office/drawing/2014/main" id="{2D02B759-5385-2684-D924-C93B192FE0EB}"/>
                  </a:ext>
                </a:extLst>
              </p:cNvPr>
              <p:cNvSpPr/>
              <p:nvPr/>
            </p:nvSpPr>
            <p:spPr>
              <a:xfrm>
                <a:off x="9291659" y="4033044"/>
                <a:ext cx="1930652" cy="785528"/>
              </a:xfrm>
              <a:prstGeom prst="roundRect">
                <a:avLst/>
              </a:prstGeom>
              <a:solidFill>
                <a:schemeClr val="accent4"/>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75FA2EF-9C95-3565-7B29-20F290F84ACB}"/>
                  </a:ext>
                </a:extLst>
              </p:cNvPr>
              <p:cNvSpPr txBox="1"/>
              <p:nvPr/>
            </p:nvSpPr>
            <p:spPr>
              <a:xfrm>
                <a:off x="9474363" y="4078176"/>
                <a:ext cx="1531188" cy="646331"/>
              </a:xfrm>
              <a:prstGeom prst="rect">
                <a:avLst/>
              </a:prstGeom>
              <a:noFill/>
              <a:effectLst>
                <a:glow rad="63500">
                  <a:schemeClr val="accent3">
                    <a:satMod val="175000"/>
                    <a:alpha val="40000"/>
                  </a:schemeClr>
                </a:glow>
              </a:effectLst>
            </p:spPr>
            <p:txBody>
              <a:bodyPr wrap="none" rtlCol="0">
                <a:spAutoFit/>
              </a:bodyPr>
              <a:lstStyle/>
              <a:p>
                <a:pPr algn="ctr"/>
                <a:r>
                  <a:rPr lang="es-ES" sz="1800" dirty="0"/>
                  <a:t>código </a:t>
                </a:r>
                <a:br>
                  <a:rPr lang="es-ES" sz="1800" dirty="0"/>
                </a:br>
                <a:r>
                  <a:rPr lang="es-ES" sz="1800" dirty="0"/>
                  <a:t>condicional 2</a:t>
                </a:r>
                <a:endParaRPr lang="en-US" sz="1800" dirty="0"/>
              </a:p>
            </p:txBody>
          </p:sp>
          <p:sp>
            <p:nvSpPr>
              <p:cNvPr id="34" name="Rectangle: Rounded Corners 33">
                <a:extLst>
                  <a:ext uri="{FF2B5EF4-FFF2-40B4-BE49-F238E27FC236}">
                    <a16:creationId xmlns:a16="http://schemas.microsoft.com/office/drawing/2014/main" id="{F9259821-5FE8-0E7C-8F5A-BAB4C4106004}"/>
                  </a:ext>
                </a:extLst>
              </p:cNvPr>
              <p:cNvSpPr/>
              <p:nvPr/>
            </p:nvSpPr>
            <p:spPr>
              <a:xfrm>
                <a:off x="5809572" y="4033044"/>
                <a:ext cx="1930652" cy="785528"/>
              </a:xfrm>
              <a:prstGeom prst="roundRect">
                <a:avLst/>
              </a:prstGeom>
              <a:solidFill>
                <a:srgbClr val="8E927B"/>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3F7897CB-A253-9F18-9DAF-F31778CD7CA5}"/>
                  </a:ext>
                </a:extLst>
              </p:cNvPr>
              <p:cNvSpPr txBox="1"/>
              <p:nvPr/>
            </p:nvSpPr>
            <p:spPr>
              <a:xfrm>
                <a:off x="5965864" y="4102642"/>
                <a:ext cx="1531188" cy="646331"/>
              </a:xfrm>
              <a:prstGeom prst="rect">
                <a:avLst/>
              </a:prstGeom>
              <a:noFill/>
              <a:effectLst>
                <a:glow rad="63500">
                  <a:schemeClr val="accent3">
                    <a:satMod val="175000"/>
                    <a:alpha val="40000"/>
                  </a:schemeClr>
                </a:glow>
              </a:effectLst>
            </p:spPr>
            <p:txBody>
              <a:bodyPr wrap="none" rtlCol="0">
                <a:spAutoFit/>
              </a:bodyPr>
              <a:lstStyle/>
              <a:p>
                <a:pPr algn="ctr"/>
                <a:r>
                  <a:rPr lang="es-ES" sz="1800" dirty="0">
                    <a:solidFill>
                      <a:schemeClr val="bg1"/>
                    </a:solidFill>
                  </a:rPr>
                  <a:t>código </a:t>
                </a:r>
                <a:br>
                  <a:rPr lang="es-ES" sz="1800" dirty="0">
                    <a:solidFill>
                      <a:schemeClr val="bg1"/>
                    </a:solidFill>
                  </a:rPr>
                </a:br>
                <a:r>
                  <a:rPr lang="es-ES" sz="1800" dirty="0">
                    <a:solidFill>
                      <a:schemeClr val="bg1"/>
                    </a:solidFill>
                  </a:rPr>
                  <a:t>condicional 1</a:t>
                </a:r>
                <a:endParaRPr lang="en-US" sz="1800" dirty="0">
                  <a:solidFill>
                    <a:schemeClr val="bg1"/>
                  </a:solidFill>
                </a:endParaRPr>
              </a:p>
            </p:txBody>
          </p:sp>
        </p:grpSp>
      </p:grpSp>
      <p:sp>
        <p:nvSpPr>
          <p:cNvPr id="14" name="TextBox 13">
            <a:extLst>
              <a:ext uri="{FF2B5EF4-FFF2-40B4-BE49-F238E27FC236}">
                <a16:creationId xmlns:a16="http://schemas.microsoft.com/office/drawing/2014/main" id="{4A3620F7-0CE6-31A6-6E5F-48F132228713}"/>
              </a:ext>
            </a:extLst>
          </p:cNvPr>
          <p:cNvSpPr txBox="1"/>
          <p:nvPr/>
        </p:nvSpPr>
        <p:spPr>
          <a:xfrm>
            <a:off x="2781090" y="2056868"/>
            <a:ext cx="2732168" cy="646331"/>
          </a:xfrm>
          <a:prstGeom prst="rect">
            <a:avLst/>
          </a:prstGeom>
          <a:solidFill>
            <a:schemeClr val="bg1">
              <a:lumMod val="95000"/>
            </a:schemeClr>
          </a:solidFill>
        </p:spPr>
        <p:txBody>
          <a:bodyPr wrap="square" rtlCol="0">
            <a:spAutoFit/>
          </a:bodyPr>
          <a:lstStyle/>
          <a:p>
            <a:r>
              <a:rPr lang="es-ES" sz="1200" b="1" dirty="0" err="1">
                <a:solidFill>
                  <a:srgbClr val="00B0F0"/>
                </a:solidFill>
                <a:latin typeface="JetBrains Mono" panose="02000009000000000000" pitchFamily="49" charset="0"/>
                <a:ea typeface="JetBrains Mono" panose="02000009000000000000" pitchFamily="49" charset="0"/>
                <a:cs typeface="JetBrains Mono" panose="02000009000000000000" pitchFamily="49" charset="0"/>
              </a:rPr>
              <a:t>if</a:t>
            </a:r>
            <a:r>
              <a:rPr lang="es-ES" sz="1200"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 </a:t>
            </a:r>
            <a:r>
              <a:rPr lang="es-ES" sz="1200" b="1" dirty="0">
                <a:solidFill>
                  <a:srgbClr val="CC00CC"/>
                </a:solidFill>
                <a:latin typeface="JetBrains Mono" panose="02000009000000000000" pitchFamily="49" charset="0"/>
                <a:ea typeface="JetBrains Mono" panose="02000009000000000000" pitchFamily="49" charset="0"/>
                <a:cs typeface="JetBrains Mono" panose="02000009000000000000" pitchFamily="49" charset="0"/>
              </a:rPr>
              <a:t>{</a:t>
            </a:r>
          </a:p>
          <a:p>
            <a:r>
              <a:rPr lang="es-ES" sz="1200"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    // código condicional</a:t>
            </a:r>
          </a:p>
          <a:p>
            <a:r>
              <a:rPr lang="es-ES" sz="1200" b="1" dirty="0">
                <a:solidFill>
                  <a:srgbClr val="CC00CC"/>
                </a:solidFill>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42" name="TextBox 41">
            <a:extLst>
              <a:ext uri="{FF2B5EF4-FFF2-40B4-BE49-F238E27FC236}">
                <a16:creationId xmlns:a16="http://schemas.microsoft.com/office/drawing/2014/main" id="{1071AEDC-59CD-F4E7-EE29-E01B248FEECD}"/>
              </a:ext>
            </a:extLst>
          </p:cNvPr>
          <p:cNvSpPr txBox="1"/>
          <p:nvPr/>
        </p:nvSpPr>
        <p:spPr>
          <a:xfrm>
            <a:off x="9154957" y="1225384"/>
            <a:ext cx="2732168" cy="1015663"/>
          </a:xfrm>
          <a:prstGeom prst="rect">
            <a:avLst/>
          </a:prstGeom>
          <a:solidFill>
            <a:schemeClr val="bg1">
              <a:lumMod val="95000"/>
            </a:schemeClr>
          </a:solidFill>
        </p:spPr>
        <p:txBody>
          <a:bodyPr wrap="square" rtlCol="0">
            <a:spAutoFit/>
          </a:bodyPr>
          <a:lstStyle/>
          <a:p>
            <a:r>
              <a:rPr lang="es-ES" sz="1200" b="1" dirty="0" err="1">
                <a:solidFill>
                  <a:srgbClr val="00B0F0"/>
                </a:solidFill>
                <a:latin typeface="JetBrains Mono" panose="02000009000000000000" pitchFamily="49" charset="0"/>
                <a:ea typeface="JetBrains Mono" panose="02000009000000000000" pitchFamily="49" charset="0"/>
                <a:cs typeface="JetBrains Mono" panose="02000009000000000000" pitchFamily="49" charset="0"/>
              </a:rPr>
              <a:t>if</a:t>
            </a:r>
            <a:r>
              <a:rPr lang="es-ES" sz="1200"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 </a:t>
            </a:r>
            <a:r>
              <a:rPr lang="es-ES" sz="1200" b="1" dirty="0">
                <a:solidFill>
                  <a:srgbClr val="CC00CC"/>
                </a:solidFill>
                <a:latin typeface="JetBrains Mono" panose="02000009000000000000" pitchFamily="49" charset="0"/>
                <a:ea typeface="JetBrains Mono" panose="02000009000000000000" pitchFamily="49" charset="0"/>
                <a:cs typeface="JetBrains Mono" panose="02000009000000000000" pitchFamily="49" charset="0"/>
              </a:rPr>
              <a:t>{</a:t>
            </a:r>
          </a:p>
          <a:p>
            <a:r>
              <a:rPr lang="es-ES" sz="1200"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    // código condicional 1</a:t>
            </a:r>
          </a:p>
          <a:p>
            <a:r>
              <a:rPr lang="es-ES" sz="1200" b="1" dirty="0">
                <a:solidFill>
                  <a:srgbClr val="CC00CC"/>
                </a:solidFill>
                <a:latin typeface="JetBrains Mono" panose="02000009000000000000" pitchFamily="49" charset="0"/>
                <a:ea typeface="JetBrains Mono" panose="02000009000000000000" pitchFamily="49" charset="0"/>
                <a:cs typeface="JetBrains Mono" panose="02000009000000000000" pitchFamily="49" charset="0"/>
              </a:rPr>
              <a:t>}</a:t>
            </a:r>
            <a:r>
              <a:rPr lang="es-ES" sz="1200" b="1" dirty="0">
                <a:solidFill>
                  <a:srgbClr val="00B0F0"/>
                </a:solidFill>
                <a:latin typeface="JetBrains Mono" panose="02000009000000000000" pitchFamily="49" charset="0"/>
                <a:ea typeface="JetBrains Mono" panose="02000009000000000000" pitchFamily="49" charset="0"/>
                <a:cs typeface="JetBrains Mono" panose="02000009000000000000" pitchFamily="49" charset="0"/>
              </a:rPr>
              <a:t> </a:t>
            </a:r>
            <a:r>
              <a:rPr lang="es-ES" sz="1200" b="1" dirty="0" err="1">
                <a:solidFill>
                  <a:srgbClr val="00B0F0"/>
                </a:solidFill>
                <a:latin typeface="JetBrains Mono" panose="02000009000000000000" pitchFamily="49" charset="0"/>
                <a:ea typeface="JetBrains Mono" panose="02000009000000000000" pitchFamily="49" charset="0"/>
                <a:cs typeface="JetBrains Mono" panose="02000009000000000000" pitchFamily="49" charset="0"/>
              </a:rPr>
              <a:t>else</a:t>
            </a:r>
            <a:r>
              <a:rPr lang="es-ES" sz="1200"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 </a:t>
            </a:r>
            <a:r>
              <a:rPr lang="es-ES" sz="1200" b="1" dirty="0">
                <a:solidFill>
                  <a:srgbClr val="CC00CC"/>
                </a:solidFill>
                <a:latin typeface="JetBrains Mono" panose="02000009000000000000" pitchFamily="49" charset="0"/>
                <a:ea typeface="JetBrains Mono" panose="02000009000000000000" pitchFamily="49" charset="0"/>
                <a:cs typeface="JetBrains Mono" panose="02000009000000000000" pitchFamily="49" charset="0"/>
              </a:rPr>
              <a:t>{</a:t>
            </a:r>
          </a:p>
          <a:p>
            <a:r>
              <a:rPr lang="es-ES" sz="1200"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    // código condicional 2</a:t>
            </a:r>
          </a:p>
          <a:p>
            <a:r>
              <a:rPr lang="es-ES" sz="1200" b="1" dirty="0">
                <a:solidFill>
                  <a:srgbClr val="CC00CC"/>
                </a:solidFill>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43" name="Rectangle 42">
            <a:extLst>
              <a:ext uri="{FF2B5EF4-FFF2-40B4-BE49-F238E27FC236}">
                <a16:creationId xmlns:a16="http://schemas.microsoft.com/office/drawing/2014/main" id="{56C115B0-41D5-4899-BA34-859BA0EC40F8}"/>
              </a:ext>
            </a:extLst>
          </p:cNvPr>
          <p:cNvSpPr/>
          <p:nvPr/>
        </p:nvSpPr>
        <p:spPr>
          <a:xfrm>
            <a:off x="5909671" y="1753070"/>
            <a:ext cx="45719" cy="488312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1808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0E7F402-2510-79E5-8EBB-D4FCCC358A4E}"/>
              </a:ext>
            </a:extLst>
          </p:cNvPr>
          <p:cNvGrpSpPr/>
          <p:nvPr/>
        </p:nvGrpSpPr>
        <p:grpSpPr>
          <a:xfrm>
            <a:off x="846912" y="-39920"/>
            <a:ext cx="4629752" cy="1015663"/>
            <a:chOff x="924025" y="1526961"/>
            <a:chExt cx="4629752" cy="1015663"/>
          </a:xfrm>
        </p:grpSpPr>
        <p:sp>
          <p:nvSpPr>
            <p:cNvPr id="10" name="Rectangle 9">
              <a:extLst>
                <a:ext uri="{FF2B5EF4-FFF2-40B4-BE49-F238E27FC236}">
                  <a16:creationId xmlns:a16="http://schemas.microsoft.com/office/drawing/2014/main" id="{55E39CE9-DC9F-215B-F45A-DFF848F3E700}"/>
                </a:ext>
              </a:extLst>
            </p:cNvPr>
            <p:cNvSpPr/>
            <p:nvPr/>
          </p:nvSpPr>
          <p:spPr>
            <a:xfrm>
              <a:off x="924025" y="1559294"/>
              <a:ext cx="4629752" cy="731520"/>
            </a:xfrm>
            <a:prstGeom prst="rect">
              <a:avLst/>
            </a:prstGeom>
            <a:solidFill>
              <a:srgbClr val="1B5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9CB6E74-BFD1-2ECD-D661-78A2BA544AEC}"/>
                </a:ext>
              </a:extLst>
            </p:cNvPr>
            <p:cNvSpPr txBox="1"/>
            <p:nvPr/>
          </p:nvSpPr>
          <p:spPr>
            <a:xfrm>
              <a:off x="1501541" y="1663444"/>
              <a:ext cx="3062398" cy="523220"/>
            </a:xfrm>
            <a:prstGeom prst="rect">
              <a:avLst/>
            </a:prstGeom>
            <a:noFill/>
            <a:ln>
              <a:noFill/>
            </a:ln>
          </p:spPr>
          <p:txBody>
            <a:bodyPr wrap="square" rtlCol="0">
              <a:spAutoFit/>
            </a:bodyPr>
            <a:lstStyle/>
            <a:p>
              <a:r>
                <a:rPr lang="es-ES" dirty="0">
                  <a:solidFill>
                    <a:schemeClr val="bg1"/>
                  </a:solidFill>
                  <a:latin typeface="Helvetica" pitchFamily="2" charset="0"/>
                </a:rPr>
                <a:t>Estructuras condicionales</a:t>
              </a:r>
              <a:br>
                <a:rPr lang="es-ES" dirty="0">
                  <a:solidFill>
                    <a:schemeClr val="bg1"/>
                  </a:solidFill>
                  <a:latin typeface="Helvetica" pitchFamily="2" charset="0"/>
                </a:rPr>
              </a:br>
              <a:r>
                <a:rPr lang="es-ES" dirty="0">
                  <a:solidFill>
                    <a:schemeClr val="bg1"/>
                  </a:solidFill>
                  <a:latin typeface="Helvetica" pitchFamily="2" charset="0"/>
                </a:rPr>
                <a:t>(repaso)</a:t>
              </a:r>
              <a:endParaRPr lang="en-US" dirty="0">
                <a:solidFill>
                  <a:schemeClr val="bg1"/>
                </a:solidFill>
                <a:latin typeface="Helvetica" pitchFamily="2" charset="0"/>
              </a:endParaRPr>
            </a:p>
          </p:txBody>
        </p:sp>
        <p:sp>
          <p:nvSpPr>
            <p:cNvPr id="12" name="TextBox 11">
              <a:extLst>
                <a:ext uri="{FF2B5EF4-FFF2-40B4-BE49-F238E27FC236}">
                  <a16:creationId xmlns:a16="http://schemas.microsoft.com/office/drawing/2014/main" id="{911BA8A2-27E2-6EF9-2C67-70F94CA768A6}"/>
                </a:ext>
              </a:extLst>
            </p:cNvPr>
            <p:cNvSpPr txBox="1"/>
            <p:nvPr/>
          </p:nvSpPr>
          <p:spPr>
            <a:xfrm>
              <a:off x="991402" y="1526961"/>
              <a:ext cx="1020278" cy="1015663"/>
            </a:xfrm>
            <a:prstGeom prst="rect">
              <a:avLst/>
            </a:prstGeom>
            <a:noFill/>
            <a:ln>
              <a:noFill/>
            </a:ln>
          </p:spPr>
          <p:txBody>
            <a:bodyPr wrap="square" rtlCol="0">
              <a:spAutoFit/>
            </a:bodyPr>
            <a:lstStyle/>
            <a:p>
              <a:r>
                <a:rPr lang="es-ES" sz="6000" b="1" dirty="0">
                  <a:solidFill>
                    <a:schemeClr val="bg1"/>
                  </a:solidFill>
                  <a:latin typeface="Helvetica" pitchFamily="2" charset="0"/>
                </a:rPr>
                <a:t>1</a:t>
              </a:r>
              <a:endParaRPr lang="en-US" sz="6000" b="1" dirty="0">
                <a:solidFill>
                  <a:schemeClr val="bg1"/>
                </a:solidFill>
                <a:latin typeface="Helvetica" pitchFamily="2" charset="0"/>
              </a:endParaRPr>
            </a:p>
          </p:txBody>
        </p:sp>
        <p:sp>
          <p:nvSpPr>
            <p:cNvPr id="13" name="Rectangle 12">
              <a:extLst>
                <a:ext uri="{FF2B5EF4-FFF2-40B4-BE49-F238E27FC236}">
                  <a16:creationId xmlns:a16="http://schemas.microsoft.com/office/drawing/2014/main" id="{E4DFA671-2DC5-84BD-D8E7-8B8B354054A7}"/>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864A96E-FE1F-DD8B-F02B-3F2A1FB1D0B6}"/>
              </a:ext>
            </a:extLst>
          </p:cNvPr>
          <p:cNvSpPr>
            <a:spLocks noGrp="1"/>
          </p:cNvSpPr>
          <p:nvPr>
            <p:ph type="title"/>
          </p:nvPr>
        </p:nvSpPr>
        <p:spPr>
          <a:xfrm>
            <a:off x="905867" y="1334686"/>
            <a:ext cx="4906818" cy="1450110"/>
          </a:xfrm>
        </p:spPr>
        <p:txBody>
          <a:bodyPr>
            <a:normAutofit/>
          </a:bodyPr>
          <a:lstStyle/>
          <a:p>
            <a:r>
              <a:rPr lang="es-ES" dirty="0"/>
              <a:t>Condicional múltiple</a:t>
            </a:r>
            <a:endParaRPr lang="en-US" dirty="0"/>
          </a:p>
        </p:txBody>
      </p:sp>
      <p:sp>
        <p:nvSpPr>
          <p:cNvPr id="3" name="Slide Number Placeholder 2">
            <a:extLst>
              <a:ext uri="{FF2B5EF4-FFF2-40B4-BE49-F238E27FC236}">
                <a16:creationId xmlns:a16="http://schemas.microsoft.com/office/drawing/2014/main" id="{15E6D38B-89CE-4804-188C-6F68B0C16C5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13</a:t>
            </a:fld>
            <a:endParaRPr lang="es-PE" dirty="0"/>
          </a:p>
        </p:txBody>
      </p:sp>
      <p:grpSp>
        <p:nvGrpSpPr>
          <p:cNvPr id="43" name="Group 42">
            <a:extLst>
              <a:ext uri="{FF2B5EF4-FFF2-40B4-BE49-F238E27FC236}">
                <a16:creationId xmlns:a16="http://schemas.microsoft.com/office/drawing/2014/main" id="{BAC31E92-3AFC-0157-5907-C9469D98FAC8}"/>
              </a:ext>
            </a:extLst>
          </p:cNvPr>
          <p:cNvGrpSpPr/>
          <p:nvPr/>
        </p:nvGrpSpPr>
        <p:grpSpPr>
          <a:xfrm>
            <a:off x="5821107" y="704271"/>
            <a:ext cx="4703069" cy="5449458"/>
            <a:chOff x="5530862" y="257553"/>
            <a:chExt cx="5381548" cy="6235614"/>
          </a:xfrm>
        </p:grpSpPr>
        <p:sp>
          <p:nvSpPr>
            <p:cNvPr id="8" name="Arrow: Down 7">
              <a:extLst>
                <a:ext uri="{FF2B5EF4-FFF2-40B4-BE49-F238E27FC236}">
                  <a16:creationId xmlns:a16="http://schemas.microsoft.com/office/drawing/2014/main" id="{6FA4AD15-834F-1E0B-8895-222D1C80EC79}"/>
                </a:ext>
              </a:extLst>
            </p:cNvPr>
            <p:cNvSpPr/>
            <p:nvPr/>
          </p:nvSpPr>
          <p:spPr>
            <a:xfrm>
              <a:off x="6119346" y="257553"/>
              <a:ext cx="221670" cy="585605"/>
            </a:xfrm>
            <a:prstGeom prst="downArrow">
              <a:avLst>
                <a:gd name="adj1" fmla="val 33333"/>
                <a:gd name="adj2" fmla="val 58365"/>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7" name="Rectangle 16">
              <a:extLst>
                <a:ext uri="{FF2B5EF4-FFF2-40B4-BE49-F238E27FC236}">
                  <a16:creationId xmlns:a16="http://schemas.microsoft.com/office/drawing/2014/main" id="{0B4E2140-8327-0409-1F4E-DDAC5C6DFC6E}"/>
                </a:ext>
              </a:extLst>
            </p:cNvPr>
            <p:cNvSpPr/>
            <p:nvPr/>
          </p:nvSpPr>
          <p:spPr>
            <a:xfrm rot="5400000" flipH="1">
              <a:off x="10345553" y="4049630"/>
              <a:ext cx="92362" cy="717016"/>
            </a:xfrm>
            <a:prstGeom prst="rect">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5" name="Arrow: Down 34">
              <a:extLst>
                <a:ext uri="{FF2B5EF4-FFF2-40B4-BE49-F238E27FC236}">
                  <a16:creationId xmlns:a16="http://schemas.microsoft.com/office/drawing/2014/main" id="{2B841ED3-B38C-D85A-8A5D-07FC77345B0F}"/>
                </a:ext>
              </a:extLst>
            </p:cNvPr>
            <p:cNvSpPr/>
            <p:nvPr/>
          </p:nvSpPr>
          <p:spPr>
            <a:xfrm>
              <a:off x="6115003" y="2378533"/>
              <a:ext cx="221670" cy="483971"/>
            </a:xfrm>
            <a:prstGeom prst="downArrow">
              <a:avLst>
                <a:gd name="adj1" fmla="val 33333"/>
                <a:gd name="adj2" fmla="val 58365"/>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6" name="Arrow: Down 35">
              <a:extLst>
                <a:ext uri="{FF2B5EF4-FFF2-40B4-BE49-F238E27FC236}">
                  <a16:creationId xmlns:a16="http://schemas.microsoft.com/office/drawing/2014/main" id="{09DF0C5A-ED7E-C159-2F1F-A2E91BDA134D}"/>
                </a:ext>
              </a:extLst>
            </p:cNvPr>
            <p:cNvSpPr/>
            <p:nvPr/>
          </p:nvSpPr>
          <p:spPr>
            <a:xfrm>
              <a:off x="6115003" y="3692553"/>
              <a:ext cx="221670" cy="330559"/>
            </a:xfrm>
            <a:prstGeom prst="downArrow">
              <a:avLst>
                <a:gd name="adj1" fmla="val 33333"/>
                <a:gd name="adj2" fmla="val 58365"/>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7" name="Arrow: Down 36">
              <a:extLst>
                <a:ext uri="{FF2B5EF4-FFF2-40B4-BE49-F238E27FC236}">
                  <a16:creationId xmlns:a16="http://schemas.microsoft.com/office/drawing/2014/main" id="{CB5BE381-20ED-EA6C-7AE7-78B35D5A4426}"/>
                </a:ext>
              </a:extLst>
            </p:cNvPr>
            <p:cNvSpPr/>
            <p:nvPr/>
          </p:nvSpPr>
          <p:spPr>
            <a:xfrm>
              <a:off x="6115003" y="4885081"/>
              <a:ext cx="221670" cy="330559"/>
            </a:xfrm>
            <a:prstGeom prst="downArrow">
              <a:avLst>
                <a:gd name="adj1" fmla="val 33333"/>
                <a:gd name="adj2" fmla="val 58365"/>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8" name="Arrow: Down 37">
              <a:extLst>
                <a:ext uri="{FF2B5EF4-FFF2-40B4-BE49-F238E27FC236}">
                  <a16:creationId xmlns:a16="http://schemas.microsoft.com/office/drawing/2014/main" id="{B20D9DD5-3A0F-4E9C-3433-6159B7F51705}"/>
                </a:ext>
              </a:extLst>
            </p:cNvPr>
            <p:cNvSpPr/>
            <p:nvPr/>
          </p:nvSpPr>
          <p:spPr>
            <a:xfrm rot="16200000">
              <a:off x="7014638" y="2828386"/>
              <a:ext cx="221670" cy="979557"/>
            </a:xfrm>
            <a:prstGeom prst="downArrow">
              <a:avLst>
                <a:gd name="adj1" fmla="val 33333"/>
                <a:gd name="adj2" fmla="val 58365"/>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9" name="Arrow: Down 38">
              <a:extLst>
                <a:ext uri="{FF2B5EF4-FFF2-40B4-BE49-F238E27FC236}">
                  <a16:creationId xmlns:a16="http://schemas.microsoft.com/office/drawing/2014/main" id="{A760BBEF-90F6-B69D-4657-8FAA7464F30C}"/>
                </a:ext>
              </a:extLst>
            </p:cNvPr>
            <p:cNvSpPr/>
            <p:nvPr/>
          </p:nvSpPr>
          <p:spPr>
            <a:xfrm rot="16200000">
              <a:off x="7047178" y="3915273"/>
              <a:ext cx="221670" cy="979557"/>
            </a:xfrm>
            <a:prstGeom prst="downArrow">
              <a:avLst>
                <a:gd name="adj1" fmla="val 33333"/>
                <a:gd name="adj2" fmla="val 58365"/>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0" name="Arrow: Down 39">
              <a:extLst>
                <a:ext uri="{FF2B5EF4-FFF2-40B4-BE49-F238E27FC236}">
                  <a16:creationId xmlns:a16="http://schemas.microsoft.com/office/drawing/2014/main" id="{8A0685D4-9BDD-00E9-3C52-2312571C3D03}"/>
                </a:ext>
              </a:extLst>
            </p:cNvPr>
            <p:cNvSpPr/>
            <p:nvPr/>
          </p:nvSpPr>
          <p:spPr>
            <a:xfrm rot="16200000">
              <a:off x="7047179" y="5014750"/>
              <a:ext cx="221670" cy="979557"/>
            </a:xfrm>
            <a:prstGeom prst="downArrow">
              <a:avLst>
                <a:gd name="adj1" fmla="val 33333"/>
                <a:gd name="adj2" fmla="val 58365"/>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1" name="Rectangle 40">
              <a:extLst>
                <a:ext uri="{FF2B5EF4-FFF2-40B4-BE49-F238E27FC236}">
                  <a16:creationId xmlns:a16="http://schemas.microsoft.com/office/drawing/2014/main" id="{4D04A17D-244F-9F1D-17F4-305523EAE044}"/>
                </a:ext>
              </a:extLst>
            </p:cNvPr>
            <p:cNvSpPr/>
            <p:nvPr/>
          </p:nvSpPr>
          <p:spPr>
            <a:xfrm rot="5400000" flipH="1">
              <a:off x="10387118" y="5171849"/>
              <a:ext cx="92362" cy="717016"/>
            </a:xfrm>
            <a:prstGeom prst="rect">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8" name="Rectangle: Rounded Corners 17">
              <a:extLst>
                <a:ext uri="{FF2B5EF4-FFF2-40B4-BE49-F238E27FC236}">
                  <a16:creationId xmlns:a16="http://schemas.microsoft.com/office/drawing/2014/main" id="{9FF5A75B-8D26-6F21-3E16-1E08BA32A7FE}"/>
                </a:ext>
              </a:extLst>
            </p:cNvPr>
            <p:cNvSpPr/>
            <p:nvPr/>
          </p:nvSpPr>
          <p:spPr>
            <a:xfrm rot="18900000">
              <a:off x="5661900" y="1041986"/>
              <a:ext cx="1136562" cy="1136562"/>
            </a:xfrm>
            <a:prstGeom prst="roundRect">
              <a:avLst>
                <a:gd name="adj" fmla="val 6071"/>
              </a:avLst>
            </a:prstGeom>
            <a:solidFill>
              <a:srgbClr val="92D050"/>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5" name="Oval 24">
              <a:extLst>
                <a:ext uri="{FF2B5EF4-FFF2-40B4-BE49-F238E27FC236}">
                  <a16:creationId xmlns:a16="http://schemas.microsoft.com/office/drawing/2014/main" id="{4A958DAE-A0A2-6B1A-D183-A6F4C8C60567}"/>
                </a:ext>
              </a:extLst>
            </p:cNvPr>
            <p:cNvSpPr/>
            <p:nvPr/>
          </p:nvSpPr>
          <p:spPr>
            <a:xfrm>
              <a:off x="5795572" y="2863708"/>
              <a:ext cx="868219" cy="86821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 sz="1600" dirty="0"/>
                <a:t>Caso 1</a:t>
              </a:r>
              <a:endParaRPr lang="en-US" sz="1600" dirty="0"/>
            </a:p>
          </p:txBody>
        </p:sp>
        <p:sp>
          <p:nvSpPr>
            <p:cNvPr id="26" name="Oval 25">
              <a:extLst>
                <a:ext uri="{FF2B5EF4-FFF2-40B4-BE49-F238E27FC236}">
                  <a16:creationId xmlns:a16="http://schemas.microsoft.com/office/drawing/2014/main" id="{3EF78D52-1B03-0DF9-9C2C-E02366E6CFE8}"/>
                </a:ext>
              </a:extLst>
            </p:cNvPr>
            <p:cNvSpPr/>
            <p:nvPr/>
          </p:nvSpPr>
          <p:spPr>
            <a:xfrm>
              <a:off x="5795571" y="4000717"/>
              <a:ext cx="868219" cy="86821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 sz="1600" dirty="0"/>
                <a:t>Caso 2</a:t>
              </a:r>
              <a:endParaRPr lang="en-US" sz="1600" dirty="0"/>
            </a:p>
          </p:txBody>
        </p:sp>
        <p:sp>
          <p:nvSpPr>
            <p:cNvPr id="34" name="Rectangle: Diagonal Corners Snipped 33">
              <a:extLst>
                <a:ext uri="{FF2B5EF4-FFF2-40B4-BE49-F238E27FC236}">
                  <a16:creationId xmlns:a16="http://schemas.microsoft.com/office/drawing/2014/main" id="{5AE50868-AB1B-1B9A-AEBE-325678E8C02D}"/>
                </a:ext>
              </a:extLst>
            </p:cNvPr>
            <p:cNvSpPr/>
            <p:nvPr/>
          </p:nvSpPr>
          <p:spPr>
            <a:xfrm>
              <a:off x="5530862" y="5201602"/>
              <a:ext cx="1397635" cy="553051"/>
            </a:xfrm>
            <a:prstGeom prst="snip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s-ES" sz="1600" dirty="0"/>
                <a:t>default</a:t>
              </a:r>
              <a:endParaRPr lang="en-US" sz="1600" dirty="0"/>
            </a:p>
          </p:txBody>
        </p:sp>
        <p:sp>
          <p:nvSpPr>
            <p:cNvPr id="20" name="TextBox 19">
              <a:extLst>
                <a:ext uri="{FF2B5EF4-FFF2-40B4-BE49-F238E27FC236}">
                  <a16:creationId xmlns:a16="http://schemas.microsoft.com/office/drawing/2014/main" id="{3D95C7AF-34BC-5345-417B-C1E997E18873}"/>
                </a:ext>
              </a:extLst>
            </p:cNvPr>
            <p:cNvSpPr txBox="1"/>
            <p:nvPr/>
          </p:nvSpPr>
          <p:spPr>
            <a:xfrm>
              <a:off x="5615940" y="1400963"/>
              <a:ext cx="1227485" cy="387395"/>
            </a:xfrm>
            <a:prstGeom prst="rect">
              <a:avLst/>
            </a:prstGeom>
            <a:noFill/>
            <a:effectLst>
              <a:glow rad="63500">
                <a:schemeClr val="accent3">
                  <a:satMod val="175000"/>
                  <a:alpha val="40000"/>
                </a:schemeClr>
              </a:glow>
            </a:effectLst>
          </p:spPr>
          <p:txBody>
            <a:bodyPr wrap="none" rtlCol="0">
              <a:spAutoFit/>
            </a:bodyPr>
            <a:lstStyle/>
            <a:p>
              <a:pPr algn="ctr"/>
              <a:r>
                <a:rPr lang="es-ES" sz="1600" dirty="0"/>
                <a:t>expresión</a:t>
              </a:r>
              <a:endParaRPr lang="en-US" sz="1600" dirty="0"/>
            </a:p>
          </p:txBody>
        </p:sp>
        <p:sp>
          <p:nvSpPr>
            <p:cNvPr id="15" name="Arrow: Bent 14">
              <a:extLst>
                <a:ext uri="{FF2B5EF4-FFF2-40B4-BE49-F238E27FC236}">
                  <a16:creationId xmlns:a16="http://schemas.microsoft.com/office/drawing/2014/main" id="{FD76FA82-EA05-4590-C734-0D265E8B85FD}"/>
                </a:ext>
              </a:extLst>
            </p:cNvPr>
            <p:cNvSpPr/>
            <p:nvPr/>
          </p:nvSpPr>
          <p:spPr>
            <a:xfrm rot="5400000">
              <a:off x="8435208" y="4015964"/>
              <a:ext cx="3245678" cy="1708727"/>
            </a:xfrm>
            <a:prstGeom prst="bentArrow">
              <a:avLst>
                <a:gd name="adj1" fmla="val 5778"/>
                <a:gd name="adj2" fmla="val 7086"/>
                <a:gd name="adj3" fmla="val 8689"/>
                <a:gd name="adj4" fmla="val 30816"/>
              </a:avLst>
            </a:prstGeom>
            <a:solidFill>
              <a:schemeClr val="tx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grpSp>
          <p:nvGrpSpPr>
            <p:cNvPr id="27" name="Group 26">
              <a:extLst>
                <a:ext uri="{FF2B5EF4-FFF2-40B4-BE49-F238E27FC236}">
                  <a16:creationId xmlns:a16="http://schemas.microsoft.com/office/drawing/2014/main" id="{93AAAE19-4CE1-3395-32E6-0384650FDD48}"/>
                </a:ext>
              </a:extLst>
            </p:cNvPr>
            <p:cNvGrpSpPr/>
            <p:nvPr/>
          </p:nvGrpSpPr>
          <p:grpSpPr>
            <a:xfrm>
              <a:off x="7615249" y="2888748"/>
              <a:ext cx="2613891" cy="785528"/>
              <a:chOff x="7190767" y="2299855"/>
              <a:chExt cx="2613891" cy="785528"/>
            </a:xfrm>
          </p:grpSpPr>
          <p:sp>
            <p:nvSpPr>
              <p:cNvPr id="19" name="Rectangle: Rounded Corners 18">
                <a:extLst>
                  <a:ext uri="{FF2B5EF4-FFF2-40B4-BE49-F238E27FC236}">
                    <a16:creationId xmlns:a16="http://schemas.microsoft.com/office/drawing/2014/main" id="{C46131BF-E064-0EDA-234C-9E2A6519376B}"/>
                  </a:ext>
                </a:extLst>
              </p:cNvPr>
              <p:cNvSpPr/>
              <p:nvPr/>
            </p:nvSpPr>
            <p:spPr>
              <a:xfrm>
                <a:off x="7190767" y="2299855"/>
                <a:ext cx="2613891" cy="785528"/>
              </a:xfrm>
              <a:prstGeom prst="roundRect">
                <a:avLst/>
              </a:prstGeom>
              <a:solidFill>
                <a:schemeClr val="accent4"/>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1" name="TextBox 20">
                <a:extLst>
                  <a:ext uri="{FF2B5EF4-FFF2-40B4-BE49-F238E27FC236}">
                    <a16:creationId xmlns:a16="http://schemas.microsoft.com/office/drawing/2014/main" id="{20925F95-03E3-6E90-43C0-90EBC0D6E87D}"/>
                  </a:ext>
                </a:extLst>
              </p:cNvPr>
              <p:cNvSpPr txBox="1"/>
              <p:nvPr/>
            </p:nvSpPr>
            <p:spPr>
              <a:xfrm>
                <a:off x="7305717" y="2498405"/>
                <a:ext cx="2333542" cy="387395"/>
              </a:xfrm>
              <a:prstGeom prst="rect">
                <a:avLst/>
              </a:prstGeom>
              <a:noFill/>
              <a:effectLst>
                <a:glow rad="63500">
                  <a:schemeClr val="accent3">
                    <a:satMod val="175000"/>
                    <a:alpha val="40000"/>
                  </a:schemeClr>
                </a:glow>
              </a:effectLst>
            </p:spPr>
            <p:txBody>
              <a:bodyPr wrap="none" rtlCol="0">
                <a:spAutoFit/>
              </a:bodyPr>
              <a:lstStyle/>
              <a:p>
                <a:pPr algn="ctr"/>
                <a:r>
                  <a:rPr lang="es-ES" sz="1600" dirty="0"/>
                  <a:t>código condicional 1</a:t>
                </a:r>
                <a:endParaRPr lang="en-US" sz="1600" dirty="0"/>
              </a:p>
            </p:txBody>
          </p:sp>
        </p:grpSp>
        <p:grpSp>
          <p:nvGrpSpPr>
            <p:cNvPr id="28" name="Group 27">
              <a:extLst>
                <a:ext uri="{FF2B5EF4-FFF2-40B4-BE49-F238E27FC236}">
                  <a16:creationId xmlns:a16="http://schemas.microsoft.com/office/drawing/2014/main" id="{CC059C2C-E6F0-78E3-B08B-16A41CB0DF66}"/>
                </a:ext>
              </a:extLst>
            </p:cNvPr>
            <p:cNvGrpSpPr/>
            <p:nvPr/>
          </p:nvGrpSpPr>
          <p:grpSpPr>
            <a:xfrm>
              <a:off x="7638835" y="4021836"/>
              <a:ext cx="2613891" cy="785528"/>
              <a:chOff x="7190767" y="2299855"/>
              <a:chExt cx="2613891" cy="785528"/>
            </a:xfrm>
          </p:grpSpPr>
          <p:sp>
            <p:nvSpPr>
              <p:cNvPr id="29" name="Rectangle: Rounded Corners 28">
                <a:extLst>
                  <a:ext uri="{FF2B5EF4-FFF2-40B4-BE49-F238E27FC236}">
                    <a16:creationId xmlns:a16="http://schemas.microsoft.com/office/drawing/2014/main" id="{C2384C53-B1F1-935D-60CE-4A51F180F566}"/>
                  </a:ext>
                </a:extLst>
              </p:cNvPr>
              <p:cNvSpPr/>
              <p:nvPr/>
            </p:nvSpPr>
            <p:spPr>
              <a:xfrm>
                <a:off x="7190767" y="2299855"/>
                <a:ext cx="2613891" cy="785528"/>
              </a:xfrm>
              <a:prstGeom prst="roundRect">
                <a:avLst/>
              </a:prstGeom>
              <a:solidFill>
                <a:schemeClr val="accent4"/>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0" name="TextBox 29">
                <a:extLst>
                  <a:ext uri="{FF2B5EF4-FFF2-40B4-BE49-F238E27FC236}">
                    <a16:creationId xmlns:a16="http://schemas.microsoft.com/office/drawing/2014/main" id="{52AE5E2E-09D5-4A04-4B4D-DF5C8CCF1208}"/>
                  </a:ext>
                </a:extLst>
              </p:cNvPr>
              <p:cNvSpPr txBox="1"/>
              <p:nvPr/>
            </p:nvSpPr>
            <p:spPr>
              <a:xfrm>
                <a:off x="7305717" y="2498405"/>
                <a:ext cx="2333542" cy="387395"/>
              </a:xfrm>
              <a:prstGeom prst="rect">
                <a:avLst/>
              </a:prstGeom>
              <a:noFill/>
              <a:effectLst>
                <a:glow rad="63500">
                  <a:schemeClr val="accent3">
                    <a:satMod val="175000"/>
                    <a:alpha val="40000"/>
                  </a:schemeClr>
                </a:glow>
              </a:effectLst>
            </p:spPr>
            <p:txBody>
              <a:bodyPr wrap="none" rtlCol="0">
                <a:spAutoFit/>
              </a:bodyPr>
              <a:lstStyle/>
              <a:p>
                <a:pPr algn="ctr"/>
                <a:r>
                  <a:rPr lang="es-ES" sz="1600" dirty="0"/>
                  <a:t>código condicional 2</a:t>
                </a:r>
                <a:endParaRPr lang="en-US" sz="1600" dirty="0"/>
              </a:p>
            </p:txBody>
          </p:sp>
        </p:grpSp>
        <p:grpSp>
          <p:nvGrpSpPr>
            <p:cNvPr id="31" name="Group 30">
              <a:extLst>
                <a:ext uri="{FF2B5EF4-FFF2-40B4-BE49-F238E27FC236}">
                  <a16:creationId xmlns:a16="http://schemas.microsoft.com/office/drawing/2014/main" id="{ABEBC551-174A-612A-6AD7-92C04AB402AC}"/>
                </a:ext>
              </a:extLst>
            </p:cNvPr>
            <p:cNvGrpSpPr/>
            <p:nvPr/>
          </p:nvGrpSpPr>
          <p:grpSpPr>
            <a:xfrm>
              <a:off x="7638835" y="5154924"/>
              <a:ext cx="2613891" cy="785528"/>
              <a:chOff x="7190767" y="2299855"/>
              <a:chExt cx="2613891" cy="785528"/>
            </a:xfrm>
          </p:grpSpPr>
          <p:sp>
            <p:nvSpPr>
              <p:cNvPr id="32" name="Rectangle: Rounded Corners 31">
                <a:extLst>
                  <a:ext uri="{FF2B5EF4-FFF2-40B4-BE49-F238E27FC236}">
                    <a16:creationId xmlns:a16="http://schemas.microsoft.com/office/drawing/2014/main" id="{FB1A30C1-E71D-A062-1C59-B187931FC9CA}"/>
                  </a:ext>
                </a:extLst>
              </p:cNvPr>
              <p:cNvSpPr/>
              <p:nvPr/>
            </p:nvSpPr>
            <p:spPr>
              <a:xfrm>
                <a:off x="7190767" y="2299855"/>
                <a:ext cx="2613891" cy="785528"/>
              </a:xfrm>
              <a:prstGeom prst="roundRect">
                <a:avLst/>
              </a:prstGeom>
              <a:solidFill>
                <a:schemeClr val="accent4"/>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3" name="TextBox 32">
                <a:extLst>
                  <a:ext uri="{FF2B5EF4-FFF2-40B4-BE49-F238E27FC236}">
                    <a16:creationId xmlns:a16="http://schemas.microsoft.com/office/drawing/2014/main" id="{FA0A16A9-05F7-062A-1B71-25C777F11FE3}"/>
                  </a:ext>
                </a:extLst>
              </p:cNvPr>
              <p:cNvSpPr txBox="1"/>
              <p:nvPr/>
            </p:nvSpPr>
            <p:spPr>
              <a:xfrm>
                <a:off x="7636803" y="2498405"/>
                <a:ext cx="1671375" cy="387395"/>
              </a:xfrm>
              <a:prstGeom prst="rect">
                <a:avLst/>
              </a:prstGeom>
              <a:noFill/>
              <a:effectLst>
                <a:glow rad="63500">
                  <a:schemeClr val="accent3">
                    <a:satMod val="175000"/>
                    <a:alpha val="40000"/>
                  </a:schemeClr>
                </a:glow>
              </a:effectLst>
            </p:spPr>
            <p:txBody>
              <a:bodyPr wrap="none" rtlCol="0">
                <a:spAutoFit/>
              </a:bodyPr>
              <a:lstStyle/>
              <a:p>
                <a:pPr algn="ctr"/>
                <a:r>
                  <a:rPr lang="es-ES" sz="1600" dirty="0"/>
                  <a:t>código </a:t>
                </a:r>
                <a:r>
                  <a:rPr lang="es-ES" sz="1600" i="1" dirty="0"/>
                  <a:t>default</a:t>
                </a:r>
                <a:endParaRPr lang="en-US" sz="1600" i="1" dirty="0"/>
              </a:p>
            </p:txBody>
          </p:sp>
        </p:grpSp>
      </p:grpSp>
      <p:sp>
        <p:nvSpPr>
          <p:cNvPr id="4" name="TextBox 3">
            <a:extLst>
              <a:ext uri="{FF2B5EF4-FFF2-40B4-BE49-F238E27FC236}">
                <a16:creationId xmlns:a16="http://schemas.microsoft.com/office/drawing/2014/main" id="{EE64ECF1-0E87-A996-86B8-E916E8BC4AA5}"/>
              </a:ext>
            </a:extLst>
          </p:cNvPr>
          <p:cNvSpPr txBox="1"/>
          <p:nvPr/>
        </p:nvSpPr>
        <p:spPr>
          <a:xfrm>
            <a:off x="1042727" y="3262514"/>
            <a:ext cx="4157598" cy="2485787"/>
          </a:xfrm>
          <a:prstGeom prst="roundRect">
            <a:avLst>
              <a:gd name="adj" fmla="val 4532"/>
            </a:avLst>
          </a:prstGeom>
          <a:solidFill>
            <a:schemeClr val="bg1">
              <a:lumMod val="95000"/>
            </a:schemeClr>
          </a:solidFill>
        </p:spPr>
        <p:txBody>
          <a:bodyPr wrap="square" rtlCol="0">
            <a:spAutoFit/>
          </a:bodyPr>
          <a:lstStyle/>
          <a:p>
            <a:endParaRPr lang="es-ES" b="1" dirty="0">
              <a:solidFill>
                <a:srgbClr val="00B0F0"/>
              </a:solidFill>
              <a:latin typeface="JetBrains Mono" panose="02000009000000000000" pitchFamily="49" charset="0"/>
              <a:ea typeface="JetBrains Mono" panose="02000009000000000000" pitchFamily="49" charset="0"/>
              <a:cs typeface="JetBrains Mono" panose="02000009000000000000" pitchFamily="49" charset="0"/>
            </a:endParaRPr>
          </a:p>
          <a:p>
            <a:r>
              <a:rPr lang="es-ES" b="1" dirty="0">
                <a:solidFill>
                  <a:srgbClr val="00B0F0"/>
                </a:solidFill>
                <a:latin typeface="JetBrains Mono" panose="02000009000000000000" pitchFamily="49" charset="0"/>
                <a:ea typeface="JetBrains Mono" panose="02000009000000000000" pitchFamily="49" charset="0"/>
                <a:cs typeface="JetBrains Mono" panose="02000009000000000000" pitchFamily="49" charset="0"/>
              </a:rPr>
              <a:t>switch </a:t>
            </a:r>
            <a:r>
              <a:rPr lang="es-ES" b="1" dirty="0">
                <a:solidFill>
                  <a:schemeClr val="accent2"/>
                </a:solidFill>
                <a:latin typeface="JetBrains Mono" panose="02000009000000000000" pitchFamily="49" charset="0"/>
                <a:ea typeface="JetBrains Mono" panose="02000009000000000000" pitchFamily="49" charset="0"/>
                <a:cs typeface="JetBrains Mono" panose="02000009000000000000" pitchFamily="49" charset="0"/>
              </a:rPr>
              <a:t>(</a:t>
            </a:r>
            <a:r>
              <a:rPr lang="es-ES" b="1" dirty="0">
                <a:solidFill>
                  <a:srgbClr val="00B050"/>
                </a:solidFill>
                <a:latin typeface="JetBrains Mono" panose="02000009000000000000" pitchFamily="49" charset="0"/>
                <a:ea typeface="JetBrains Mono" panose="02000009000000000000" pitchFamily="49" charset="0"/>
                <a:cs typeface="JetBrains Mono" panose="02000009000000000000" pitchFamily="49" charset="0"/>
              </a:rPr>
              <a:t>expresión</a:t>
            </a:r>
            <a:r>
              <a:rPr lang="es-ES" b="1" dirty="0">
                <a:solidFill>
                  <a:schemeClr val="accent2"/>
                </a:solidFill>
                <a:latin typeface="JetBrains Mono" panose="02000009000000000000" pitchFamily="49" charset="0"/>
                <a:ea typeface="JetBrains Mono" panose="02000009000000000000" pitchFamily="49" charset="0"/>
                <a:cs typeface="JetBrains Mono" panose="02000009000000000000" pitchFamily="49" charset="0"/>
              </a:rPr>
              <a:t>)</a:t>
            </a:r>
            <a:r>
              <a:rPr lang="es-ES"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 </a:t>
            </a:r>
            <a:r>
              <a:rPr lang="es-ES" b="1" dirty="0">
                <a:solidFill>
                  <a:srgbClr val="CC00CC"/>
                </a:solidFill>
                <a:latin typeface="JetBrains Mono" panose="02000009000000000000" pitchFamily="49" charset="0"/>
                <a:ea typeface="JetBrains Mono" panose="02000009000000000000" pitchFamily="49" charset="0"/>
                <a:cs typeface="JetBrains Mono" panose="02000009000000000000" pitchFamily="49" charset="0"/>
              </a:rPr>
              <a:t>{</a:t>
            </a:r>
          </a:p>
          <a:p>
            <a:r>
              <a:rPr lang="es-ES"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  </a:t>
            </a:r>
            <a:r>
              <a:rPr lang="es-ES" b="1" dirty="0">
                <a:solidFill>
                  <a:srgbClr val="00B0F0"/>
                </a:solidFill>
                <a:latin typeface="JetBrains Mono" panose="02000009000000000000" pitchFamily="49" charset="0"/>
                <a:ea typeface="JetBrains Mono" panose="02000009000000000000" pitchFamily="49" charset="0"/>
                <a:cs typeface="JetBrains Mono" panose="02000009000000000000" pitchFamily="49" charset="0"/>
              </a:rPr>
              <a:t>case</a:t>
            </a:r>
            <a:r>
              <a:rPr lang="es-ES"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 1: // código condicional 1</a:t>
            </a:r>
          </a:p>
          <a:p>
            <a:r>
              <a:rPr lang="es-ES"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          </a:t>
            </a:r>
            <a:r>
              <a:rPr lang="es-ES" b="1" dirty="0">
                <a:solidFill>
                  <a:srgbClr val="00B0F0"/>
                </a:solidFill>
                <a:latin typeface="JetBrains Mono" panose="02000009000000000000" pitchFamily="49" charset="0"/>
                <a:ea typeface="JetBrains Mono" panose="02000009000000000000" pitchFamily="49" charset="0"/>
                <a:cs typeface="JetBrains Mono" panose="02000009000000000000" pitchFamily="49" charset="0"/>
              </a:rPr>
              <a:t>break</a:t>
            </a:r>
            <a:r>
              <a:rPr lang="es-ES"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a:t>
            </a:r>
          </a:p>
          <a:p>
            <a:r>
              <a:rPr lang="es-ES" b="1" dirty="0">
                <a:solidFill>
                  <a:srgbClr val="00B0F0"/>
                </a:solidFill>
                <a:latin typeface="JetBrains Mono" panose="02000009000000000000" pitchFamily="49" charset="0"/>
                <a:ea typeface="JetBrains Mono" panose="02000009000000000000" pitchFamily="49" charset="0"/>
                <a:cs typeface="JetBrains Mono" panose="02000009000000000000" pitchFamily="49" charset="0"/>
              </a:rPr>
              <a:t>  case</a:t>
            </a:r>
            <a:r>
              <a:rPr lang="es-ES"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 2: // código condicional 2</a:t>
            </a:r>
          </a:p>
          <a:p>
            <a:r>
              <a:rPr lang="es-ES"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          </a:t>
            </a:r>
            <a:r>
              <a:rPr lang="es-ES" b="1" dirty="0">
                <a:solidFill>
                  <a:srgbClr val="00B0F0"/>
                </a:solidFill>
                <a:latin typeface="JetBrains Mono" panose="02000009000000000000" pitchFamily="49" charset="0"/>
                <a:ea typeface="JetBrains Mono" panose="02000009000000000000" pitchFamily="49" charset="0"/>
                <a:cs typeface="JetBrains Mono" panose="02000009000000000000" pitchFamily="49" charset="0"/>
              </a:rPr>
              <a:t>break</a:t>
            </a:r>
            <a:r>
              <a:rPr lang="es-ES"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a:t>
            </a:r>
          </a:p>
          <a:p>
            <a:r>
              <a:rPr lang="es-ES" b="1" dirty="0">
                <a:solidFill>
                  <a:srgbClr val="00B0F0"/>
                </a:solidFill>
                <a:latin typeface="JetBrains Mono" panose="02000009000000000000" pitchFamily="49" charset="0"/>
                <a:ea typeface="JetBrains Mono" panose="02000009000000000000" pitchFamily="49" charset="0"/>
                <a:cs typeface="JetBrains Mono" panose="02000009000000000000" pitchFamily="49" charset="0"/>
              </a:rPr>
              <a:t>  default</a:t>
            </a:r>
            <a:r>
              <a:rPr lang="es-ES"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 // código default</a:t>
            </a:r>
          </a:p>
          <a:p>
            <a:r>
              <a:rPr lang="es-ES"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          </a:t>
            </a:r>
            <a:r>
              <a:rPr lang="es-ES" b="1" dirty="0">
                <a:solidFill>
                  <a:srgbClr val="00B0F0"/>
                </a:solidFill>
                <a:latin typeface="JetBrains Mono" panose="02000009000000000000" pitchFamily="49" charset="0"/>
                <a:ea typeface="JetBrains Mono" panose="02000009000000000000" pitchFamily="49" charset="0"/>
                <a:cs typeface="JetBrains Mono" panose="02000009000000000000" pitchFamily="49" charset="0"/>
              </a:rPr>
              <a:t>break</a:t>
            </a:r>
            <a:r>
              <a:rPr lang="es-ES" b="1" dirty="0">
                <a:solidFill>
                  <a:schemeClr val="bg1">
                    <a:lumMod val="50000"/>
                  </a:schemeClr>
                </a:solidFill>
                <a:latin typeface="JetBrains Mono" panose="02000009000000000000" pitchFamily="49" charset="0"/>
                <a:ea typeface="JetBrains Mono" panose="02000009000000000000" pitchFamily="49" charset="0"/>
                <a:cs typeface="JetBrains Mono" panose="02000009000000000000" pitchFamily="49" charset="0"/>
              </a:rPr>
              <a:t>;</a:t>
            </a:r>
          </a:p>
          <a:p>
            <a:r>
              <a:rPr lang="es-ES" b="1" dirty="0">
                <a:solidFill>
                  <a:srgbClr val="CC00CC"/>
                </a:solidFill>
                <a:latin typeface="JetBrains Mono" panose="02000009000000000000" pitchFamily="49" charset="0"/>
                <a:ea typeface="JetBrains Mono" panose="02000009000000000000" pitchFamily="49" charset="0"/>
                <a:cs typeface="JetBrains Mono" panose="02000009000000000000" pitchFamily="49" charset="0"/>
              </a:rPr>
              <a:t>}</a:t>
            </a:r>
          </a:p>
          <a:p>
            <a:endParaRPr lang="es-ES" b="1" dirty="0">
              <a:solidFill>
                <a:srgbClr val="CC00CC"/>
              </a:solidFill>
              <a:latin typeface="JetBrains Mono" panose="02000009000000000000" pitchFamily="49" charset="0"/>
              <a:ea typeface="JetBrains Mono" panose="02000009000000000000" pitchFamily="49" charset="0"/>
              <a:cs typeface="JetBrains Mono" panose="02000009000000000000" pitchFamily="49" charset="0"/>
            </a:endParaRPr>
          </a:p>
        </p:txBody>
      </p:sp>
    </p:spTree>
    <p:extLst>
      <p:ext uri="{BB962C8B-B14F-4D97-AF65-F5344CB8AC3E}">
        <p14:creationId xmlns:p14="http://schemas.microsoft.com/office/powerpoint/2010/main" val="3699976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0E7F402-2510-79E5-8EBB-D4FCCC358A4E}"/>
              </a:ext>
            </a:extLst>
          </p:cNvPr>
          <p:cNvGrpSpPr/>
          <p:nvPr/>
        </p:nvGrpSpPr>
        <p:grpSpPr>
          <a:xfrm>
            <a:off x="846912" y="-39920"/>
            <a:ext cx="4629752" cy="1015663"/>
            <a:chOff x="924025" y="1526961"/>
            <a:chExt cx="4629752" cy="1015663"/>
          </a:xfrm>
        </p:grpSpPr>
        <p:sp>
          <p:nvSpPr>
            <p:cNvPr id="10" name="Rectangle 9">
              <a:extLst>
                <a:ext uri="{FF2B5EF4-FFF2-40B4-BE49-F238E27FC236}">
                  <a16:creationId xmlns:a16="http://schemas.microsoft.com/office/drawing/2014/main" id="{55E39CE9-DC9F-215B-F45A-DFF848F3E700}"/>
                </a:ext>
              </a:extLst>
            </p:cNvPr>
            <p:cNvSpPr/>
            <p:nvPr/>
          </p:nvSpPr>
          <p:spPr>
            <a:xfrm>
              <a:off x="924025" y="1559294"/>
              <a:ext cx="4629752" cy="731520"/>
            </a:xfrm>
            <a:prstGeom prst="rect">
              <a:avLst/>
            </a:prstGeom>
            <a:solidFill>
              <a:srgbClr val="1B5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9CB6E74-BFD1-2ECD-D661-78A2BA544AEC}"/>
                </a:ext>
              </a:extLst>
            </p:cNvPr>
            <p:cNvSpPr txBox="1"/>
            <p:nvPr/>
          </p:nvSpPr>
          <p:spPr>
            <a:xfrm>
              <a:off x="1501541" y="1663444"/>
              <a:ext cx="3062398" cy="523220"/>
            </a:xfrm>
            <a:prstGeom prst="rect">
              <a:avLst/>
            </a:prstGeom>
            <a:noFill/>
            <a:ln>
              <a:noFill/>
            </a:ln>
          </p:spPr>
          <p:txBody>
            <a:bodyPr wrap="square" rtlCol="0">
              <a:spAutoFit/>
            </a:bodyPr>
            <a:lstStyle/>
            <a:p>
              <a:r>
                <a:rPr lang="es-ES" dirty="0">
                  <a:solidFill>
                    <a:schemeClr val="bg1"/>
                  </a:solidFill>
                  <a:latin typeface="Helvetica" pitchFamily="2" charset="0"/>
                </a:rPr>
                <a:t>Estructuras condicionales</a:t>
              </a:r>
              <a:br>
                <a:rPr lang="es-ES" dirty="0">
                  <a:solidFill>
                    <a:schemeClr val="bg1"/>
                  </a:solidFill>
                  <a:latin typeface="Helvetica" pitchFamily="2" charset="0"/>
                </a:rPr>
              </a:br>
              <a:r>
                <a:rPr lang="es-ES" dirty="0">
                  <a:solidFill>
                    <a:schemeClr val="bg1"/>
                  </a:solidFill>
                  <a:latin typeface="Helvetica" pitchFamily="2" charset="0"/>
                </a:rPr>
                <a:t>(repaso)</a:t>
              </a:r>
              <a:endParaRPr lang="en-US" dirty="0">
                <a:solidFill>
                  <a:schemeClr val="bg1"/>
                </a:solidFill>
                <a:latin typeface="Helvetica" pitchFamily="2" charset="0"/>
              </a:endParaRPr>
            </a:p>
          </p:txBody>
        </p:sp>
        <p:sp>
          <p:nvSpPr>
            <p:cNvPr id="12" name="TextBox 11">
              <a:extLst>
                <a:ext uri="{FF2B5EF4-FFF2-40B4-BE49-F238E27FC236}">
                  <a16:creationId xmlns:a16="http://schemas.microsoft.com/office/drawing/2014/main" id="{911BA8A2-27E2-6EF9-2C67-70F94CA768A6}"/>
                </a:ext>
              </a:extLst>
            </p:cNvPr>
            <p:cNvSpPr txBox="1"/>
            <p:nvPr/>
          </p:nvSpPr>
          <p:spPr>
            <a:xfrm>
              <a:off x="991402" y="1526961"/>
              <a:ext cx="1020278" cy="1015663"/>
            </a:xfrm>
            <a:prstGeom prst="rect">
              <a:avLst/>
            </a:prstGeom>
            <a:noFill/>
            <a:ln>
              <a:noFill/>
            </a:ln>
          </p:spPr>
          <p:txBody>
            <a:bodyPr wrap="square" rtlCol="0">
              <a:spAutoFit/>
            </a:bodyPr>
            <a:lstStyle/>
            <a:p>
              <a:r>
                <a:rPr lang="es-ES" sz="6000" b="1" dirty="0">
                  <a:solidFill>
                    <a:schemeClr val="bg1"/>
                  </a:solidFill>
                  <a:latin typeface="Helvetica" pitchFamily="2" charset="0"/>
                </a:rPr>
                <a:t>1</a:t>
              </a:r>
              <a:endParaRPr lang="en-US" sz="6000" b="1" dirty="0">
                <a:solidFill>
                  <a:schemeClr val="bg1"/>
                </a:solidFill>
                <a:latin typeface="Helvetica" pitchFamily="2" charset="0"/>
              </a:endParaRPr>
            </a:p>
          </p:txBody>
        </p:sp>
        <p:sp>
          <p:nvSpPr>
            <p:cNvPr id="13" name="Rectangle 12">
              <a:extLst>
                <a:ext uri="{FF2B5EF4-FFF2-40B4-BE49-F238E27FC236}">
                  <a16:creationId xmlns:a16="http://schemas.microsoft.com/office/drawing/2014/main" id="{E4DFA671-2DC5-84BD-D8E7-8B8B354054A7}"/>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864A96E-FE1F-DD8B-F02B-3F2A1FB1D0B6}"/>
              </a:ext>
            </a:extLst>
          </p:cNvPr>
          <p:cNvSpPr>
            <a:spLocks noGrp="1"/>
          </p:cNvSpPr>
          <p:nvPr>
            <p:ph type="title"/>
          </p:nvPr>
        </p:nvSpPr>
        <p:spPr/>
        <p:txBody>
          <a:bodyPr>
            <a:normAutofit/>
          </a:bodyPr>
          <a:lstStyle/>
          <a:p>
            <a:r>
              <a:rPr lang="es-ES" dirty="0"/>
              <a:t>Condicional múltiple: switch mejorado</a:t>
            </a:r>
            <a:endParaRPr lang="en-US" dirty="0"/>
          </a:p>
        </p:txBody>
      </p:sp>
      <p:sp>
        <p:nvSpPr>
          <p:cNvPr id="3" name="Slide Number Placeholder 2">
            <a:extLst>
              <a:ext uri="{FF2B5EF4-FFF2-40B4-BE49-F238E27FC236}">
                <a16:creationId xmlns:a16="http://schemas.microsoft.com/office/drawing/2014/main" id="{15E6D38B-89CE-4804-188C-6F68B0C16C5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14</a:t>
            </a:fld>
            <a:endParaRPr lang="es-PE" dirty="0"/>
          </a:p>
        </p:txBody>
      </p:sp>
      <p:sp>
        <p:nvSpPr>
          <p:cNvPr id="5" name="Content Placeholder 4">
            <a:extLst>
              <a:ext uri="{FF2B5EF4-FFF2-40B4-BE49-F238E27FC236}">
                <a16:creationId xmlns:a16="http://schemas.microsoft.com/office/drawing/2014/main" id="{504F90AD-0FC8-D711-C0EB-FA5F687403A8}"/>
              </a:ext>
            </a:extLst>
          </p:cNvPr>
          <p:cNvSpPr>
            <a:spLocks noGrp="1"/>
          </p:cNvSpPr>
          <p:nvPr>
            <p:ph sz="quarter" idx="13"/>
          </p:nvPr>
        </p:nvSpPr>
        <p:spPr>
          <a:xfrm>
            <a:off x="838200" y="1846263"/>
            <a:ext cx="6165915" cy="4373562"/>
          </a:xfrm>
        </p:spPr>
        <p:txBody>
          <a:bodyPr>
            <a:normAutofit fontScale="92500" lnSpcReduction="10000"/>
          </a:bodyPr>
          <a:lstStyle/>
          <a:p>
            <a:pPr marL="50800" indent="0">
              <a:lnSpc>
                <a:spcPct val="110000"/>
              </a:lnSpc>
              <a:buNone/>
            </a:pPr>
            <a:r>
              <a:rPr lang="es-ES" dirty="0"/>
              <a:t>Y recuerda que…</a:t>
            </a:r>
          </a:p>
          <a:p>
            <a:pPr>
              <a:lnSpc>
                <a:spcPct val="110000"/>
              </a:lnSpc>
            </a:pPr>
            <a:r>
              <a:rPr lang="es-ES" dirty="0"/>
              <a:t>Trabaja como una </a:t>
            </a:r>
            <a:r>
              <a:rPr lang="es-ES" b="1" dirty="0">
                <a:solidFill>
                  <a:schemeClr val="accent2"/>
                </a:solidFill>
              </a:rPr>
              <a:t>función</a:t>
            </a:r>
            <a:r>
              <a:rPr lang="es-ES" dirty="0"/>
              <a:t>.</a:t>
            </a:r>
          </a:p>
          <a:p>
            <a:pPr>
              <a:lnSpc>
                <a:spcPct val="110000"/>
              </a:lnSpc>
            </a:pPr>
            <a:r>
              <a:rPr lang="es-ES" dirty="0"/>
              <a:t>No requiere uso de </a:t>
            </a:r>
            <a:r>
              <a:rPr lang="es-ES" b="1" dirty="0">
                <a:solidFill>
                  <a:schemeClr val="accent2"/>
                </a:solidFill>
              </a:rPr>
              <a:t>break</a:t>
            </a:r>
            <a:r>
              <a:rPr lang="es-ES" dirty="0"/>
              <a:t> pues ante una coincidencia, solo el código asociado es ejecutado.</a:t>
            </a:r>
          </a:p>
          <a:p>
            <a:pPr>
              <a:lnSpc>
                <a:spcPct val="110000"/>
              </a:lnSpc>
            </a:pPr>
            <a:r>
              <a:rPr lang="en-US" dirty="0" err="1"/>
              <a:t>Requiere</a:t>
            </a:r>
            <a:r>
              <a:rPr lang="en-US" dirty="0"/>
              <a:t> que </a:t>
            </a:r>
            <a:r>
              <a:rPr lang="en-US" b="1" dirty="0" err="1"/>
              <a:t>todos</a:t>
            </a:r>
            <a:r>
              <a:rPr lang="en-US" b="1" dirty="0"/>
              <a:t> </a:t>
            </a:r>
            <a:r>
              <a:rPr lang="en-US" b="1" dirty="0" err="1"/>
              <a:t>los</a:t>
            </a:r>
            <a:r>
              <a:rPr lang="en-US" b="1" dirty="0"/>
              <a:t> </a:t>
            </a:r>
            <a:r>
              <a:rPr lang="en-US" b="1" dirty="0" err="1"/>
              <a:t>casos</a:t>
            </a:r>
            <a:r>
              <a:rPr lang="en-US" dirty="0"/>
              <a:t> </a:t>
            </a:r>
            <a:r>
              <a:rPr lang="en-US" dirty="0" err="1"/>
              <a:t>sean</a:t>
            </a:r>
            <a:r>
              <a:rPr lang="en-US" dirty="0"/>
              <a:t> </a:t>
            </a:r>
            <a:r>
              <a:rPr lang="en-US" dirty="0" err="1"/>
              <a:t>cubiertos</a:t>
            </a:r>
            <a:r>
              <a:rPr lang="en-US" dirty="0"/>
              <a:t>.</a:t>
            </a:r>
          </a:p>
          <a:p>
            <a:pPr>
              <a:lnSpc>
                <a:spcPct val="110000"/>
              </a:lnSpc>
            </a:pPr>
            <a:r>
              <a:rPr lang="en-US" dirty="0" err="1"/>
              <a:t>Utiliza</a:t>
            </a:r>
            <a:r>
              <a:rPr lang="en-US" dirty="0"/>
              <a:t> la </a:t>
            </a:r>
            <a:r>
              <a:rPr lang="en-US" dirty="0" err="1"/>
              <a:t>instrucción</a:t>
            </a:r>
            <a:r>
              <a:rPr lang="en-US" dirty="0"/>
              <a:t> </a:t>
            </a:r>
            <a:r>
              <a:rPr lang="en-US" b="1" dirty="0">
                <a:solidFill>
                  <a:schemeClr val="accent2"/>
                </a:solidFill>
              </a:rPr>
              <a:t>yield</a:t>
            </a:r>
            <a:r>
              <a:rPr lang="en-US" dirty="0"/>
              <a:t> para </a:t>
            </a:r>
            <a:r>
              <a:rPr lang="en-US" dirty="0" err="1"/>
              <a:t>devolver</a:t>
            </a:r>
            <a:r>
              <a:rPr lang="en-US" dirty="0"/>
              <a:t> un valor.</a:t>
            </a:r>
          </a:p>
        </p:txBody>
      </p:sp>
      <p:sp>
        <p:nvSpPr>
          <p:cNvPr id="6" name="Rectangle 1">
            <a:extLst>
              <a:ext uri="{FF2B5EF4-FFF2-40B4-BE49-F238E27FC236}">
                <a16:creationId xmlns:a16="http://schemas.microsoft.com/office/drawing/2014/main" id="{7B1284A7-8B35-1CFC-B552-8B06E58C6802}"/>
              </a:ext>
            </a:extLst>
          </p:cNvPr>
          <p:cNvSpPr>
            <a:spLocks noChangeArrowheads="1"/>
          </p:cNvSpPr>
          <p:nvPr/>
        </p:nvSpPr>
        <p:spPr bwMode="auto">
          <a:xfrm>
            <a:off x="7218953" y="2323583"/>
            <a:ext cx="4134847" cy="3445624"/>
          </a:xfrm>
          <a:prstGeom prst="roundRect">
            <a:avLst>
              <a:gd name="adj" fmla="val 3808"/>
            </a:avLst>
          </a:prstGeom>
          <a:solidFill>
            <a:srgbClr val="1E1F22"/>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chemeClr val="tx1"/>
                </a:solidFill>
                <a:miter lim="800000"/>
                <a:headEnd/>
                <a:tailEnd/>
              </a14:hiddenLine>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Scanner lector = </a:t>
            </a:r>
            <a:r>
              <a:rPr kumimoji="0" lang="en-US" altLang="en-US" sz="1100" b="0" i="0" u="none" strike="noStrike" cap="none" normalizeH="0" baseline="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new </a:t>
            </a:r>
            <a:r>
              <a:rPr kumimoji="0" lang="en-US" altLang="en-US" sz="1100" b="0" i="0" u="none" strike="noStrike" cap="none" normalizeH="0" baseline="0">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Scanner</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(System.</a:t>
            </a:r>
            <a:r>
              <a:rPr kumimoji="0" lang="en-US" altLang="en-US" sz="1100" b="0" i="1" u="none" strike="noStrike" cap="none" normalizeH="0" baseline="0">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in</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System.</a:t>
            </a:r>
            <a:r>
              <a:rPr kumimoji="0" lang="en-US" altLang="en-US" sz="1100" b="0" i="1" u="none" strike="noStrike" cap="none" normalizeH="0" baseline="0">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out</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print</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"Ingrese un número: "</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int </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numero = lector.</a:t>
            </a:r>
            <a:r>
              <a:rPr kumimoji="0" lang="en-US" altLang="en-US" sz="1100" b="0" i="0" u="none" strike="noStrike" cap="none" normalizeH="0" baseline="0">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nextInt</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b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String mensaje = </a:t>
            </a:r>
            <a:r>
              <a:rPr kumimoji="0" lang="en-US" altLang="en-US" sz="1100" b="0" i="0" u="none" strike="noStrike" cap="none" normalizeH="0" baseline="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switch </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(numero) {</a:t>
            </a:r>
            <a:b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case </a:t>
            </a:r>
            <a:r>
              <a:rPr kumimoji="0" lang="en-US" altLang="en-US" sz="1100" b="0" i="0" u="none" strike="noStrike" cap="none" normalizeH="0" baseline="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1</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2 </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-&gt; </a:t>
            </a:r>
            <a:r>
              <a:rPr kumimoji="0" lang="en-US" altLang="en-US" sz="1100" b="0" i="0" u="none" strike="noStrike" cap="none" normalizeH="0" baseline="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"uno o dos"</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case </a:t>
            </a:r>
            <a:r>
              <a:rPr kumimoji="0" lang="en-US" altLang="en-US" sz="1100" b="0" i="0" u="none" strike="noStrike" cap="none" normalizeH="0" baseline="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3 </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-&gt; </a:t>
            </a:r>
            <a:r>
              <a:rPr kumimoji="0" lang="en-US" altLang="en-US" sz="1100" b="0" i="0" u="none" strike="noStrike" cap="none" normalizeH="0" baseline="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"tres"</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case </a:t>
            </a:r>
            <a:r>
              <a:rPr kumimoji="0" lang="en-US" altLang="en-US" sz="1100" b="0" i="0" u="none" strike="noStrike" cap="none" normalizeH="0" baseline="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4</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5</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a:ln>
                  <a:noFill/>
                </a:ln>
                <a:solidFill>
                  <a:srgbClr val="D981DE"/>
                </a:solidFill>
                <a:effectLst/>
                <a:latin typeface="JetBrains Mono" panose="02000009000000000000" pitchFamily="49" charset="0"/>
                <a:ea typeface="JetBrains Mono" panose="02000009000000000000" pitchFamily="49" charset="0"/>
                <a:cs typeface="JetBrains Mono" panose="02000009000000000000" pitchFamily="49" charset="0"/>
              </a:rPr>
              <a:t>6 </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-&gt; </a:t>
            </a:r>
            <a:r>
              <a:rPr kumimoji="0" lang="en-US" altLang="en-US" sz="1100" b="0" i="0" u="none" strike="noStrike" cap="none" normalizeH="0" baseline="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"cuatro, cinco o seis"</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a:t>
            </a:r>
            <a:r>
              <a:rPr kumimoji="0" lang="en-US" altLang="en-US" sz="1100" b="0" i="0" u="none" strike="noStrike" cap="none" normalizeH="0" baseline="0">
                <a:ln>
                  <a:noFill/>
                </a:ln>
                <a:solidFill>
                  <a:srgbClr val="749DED"/>
                </a:solidFill>
                <a:effectLst/>
                <a:latin typeface="JetBrains Mono" panose="02000009000000000000" pitchFamily="49" charset="0"/>
                <a:ea typeface="JetBrains Mono" panose="02000009000000000000" pitchFamily="49" charset="0"/>
                <a:cs typeface="JetBrains Mono" panose="02000009000000000000" pitchFamily="49" charset="0"/>
              </a:rPr>
              <a:t>default </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-&gt; </a:t>
            </a:r>
            <a:r>
              <a:rPr kumimoji="0" lang="en-US" altLang="en-US" sz="1100" b="0" i="0" u="none" strike="noStrike" cap="none" normalizeH="0" baseline="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"otro número"</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b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b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b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System.</a:t>
            </a:r>
            <a:r>
              <a:rPr kumimoji="0" lang="en-US" altLang="en-US" sz="1100" b="0" i="1" u="none" strike="noStrike" cap="none" normalizeH="0" baseline="0">
                <a:ln>
                  <a:noFill/>
                </a:ln>
                <a:solidFill>
                  <a:srgbClr val="72CFD6"/>
                </a:solidFill>
                <a:effectLst/>
                <a:latin typeface="JetBrains Mono" panose="02000009000000000000" pitchFamily="49" charset="0"/>
                <a:ea typeface="JetBrains Mono" panose="02000009000000000000" pitchFamily="49" charset="0"/>
                <a:cs typeface="JetBrains Mono" panose="02000009000000000000" pitchFamily="49" charset="0"/>
              </a:rPr>
              <a:t>out</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a:ln>
                  <a:noFill/>
                </a:ln>
                <a:solidFill>
                  <a:srgbClr val="DEBC7E"/>
                </a:solidFill>
                <a:effectLst/>
                <a:latin typeface="JetBrains Mono" panose="02000009000000000000" pitchFamily="49" charset="0"/>
                <a:ea typeface="JetBrains Mono" panose="02000009000000000000" pitchFamily="49" charset="0"/>
                <a:cs typeface="JetBrains Mono" panose="02000009000000000000" pitchFamily="49" charset="0"/>
              </a:rPr>
              <a:t>println</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kumimoji="0" lang="en-US" altLang="en-US" sz="1100" b="0" i="0" u="none" strike="noStrike" cap="none" normalizeH="0" baseline="0">
                <a:ln>
                  <a:noFill/>
                </a:ln>
                <a:solidFill>
                  <a:srgbClr val="7EC482"/>
                </a:solidFill>
                <a:effectLst/>
                <a:latin typeface="JetBrains Mono" panose="02000009000000000000" pitchFamily="49" charset="0"/>
                <a:ea typeface="JetBrains Mono" panose="02000009000000000000" pitchFamily="49" charset="0"/>
                <a:cs typeface="JetBrains Mono" panose="02000009000000000000" pitchFamily="49" charset="0"/>
              </a:rPr>
              <a:t>"Ingresó " </a:t>
            </a:r>
            <a:r>
              <a:rPr kumimoji="0" lang="en-US" altLang="en-US" sz="1100" b="0" i="0" u="none" strike="noStrike" cap="none" normalizeH="0" baseline="0">
                <a:ln>
                  <a:noFill/>
                </a:ln>
                <a:solidFill>
                  <a:srgbClr val="CED0D6"/>
                </a:solidFill>
                <a:effectLst/>
                <a:latin typeface="JetBrains Mono" panose="02000009000000000000" pitchFamily="49" charset="0"/>
                <a:ea typeface="JetBrains Mono" panose="02000009000000000000" pitchFamily="49" charset="0"/>
                <a:cs typeface="JetBrains Mono" panose="02000009000000000000" pitchFamily="49" charset="0"/>
              </a:rPr>
              <a:t>+ mensaje);</a:t>
            </a:r>
            <a:endParaRPr kumimoji="0" lang="en-US" altLang="en-US" sz="2400" b="0" i="0" u="none" strike="noStrike" cap="none" normalizeH="0" baseline="0">
              <a:ln>
                <a:noFill/>
              </a:ln>
              <a:solidFill>
                <a:schemeClr val="tx1"/>
              </a:solidFill>
              <a:effectLst/>
              <a:latin typeface="JetBrains Mono" panose="02000009000000000000" pitchFamily="49" charset="0"/>
              <a:ea typeface="JetBrains Mono" panose="02000009000000000000" pitchFamily="49" charset="0"/>
              <a:cs typeface="JetBrains Mono" panose="02000009000000000000" pitchFamily="49" charset="0"/>
            </a:endParaRPr>
          </a:p>
        </p:txBody>
      </p:sp>
    </p:spTree>
    <p:extLst>
      <p:ext uri="{BB962C8B-B14F-4D97-AF65-F5344CB8AC3E}">
        <p14:creationId xmlns:p14="http://schemas.microsoft.com/office/powerpoint/2010/main" val="620175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C82DE-0519-C340-2A4B-B63E92B4E60B}"/>
              </a:ext>
            </a:extLst>
          </p:cNvPr>
          <p:cNvSpPr>
            <a:spLocks noGrp="1"/>
          </p:cNvSpPr>
          <p:nvPr>
            <p:ph type="title"/>
          </p:nvPr>
        </p:nvSpPr>
        <p:spPr/>
        <p:txBody>
          <a:bodyPr/>
          <a:lstStyle/>
          <a:p>
            <a:r>
              <a:rPr lang="es-ES" dirty="0"/>
              <a:t>Anidamiento de condiciones</a:t>
            </a:r>
            <a:endParaRPr lang="en-US" dirty="0"/>
          </a:p>
        </p:txBody>
      </p:sp>
      <p:sp>
        <p:nvSpPr>
          <p:cNvPr id="3" name="Slide Number Placeholder 2">
            <a:extLst>
              <a:ext uri="{FF2B5EF4-FFF2-40B4-BE49-F238E27FC236}">
                <a16:creationId xmlns:a16="http://schemas.microsoft.com/office/drawing/2014/main" id="{B6704AAC-A08A-13E7-32A5-8094599B69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15</a:t>
            </a:fld>
            <a:endParaRPr lang="es-PE"/>
          </a:p>
        </p:txBody>
      </p:sp>
      <p:grpSp>
        <p:nvGrpSpPr>
          <p:cNvPr id="5" name="Group 4">
            <a:extLst>
              <a:ext uri="{FF2B5EF4-FFF2-40B4-BE49-F238E27FC236}">
                <a16:creationId xmlns:a16="http://schemas.microsoft.com/office/drawing/2014/main" id="{0CC3B240-DC62-D19F-43A3-CA710682730B}"/>
              </a:ext>
            </a:extLst>
          </p:cNvPr>
          <p:cNvGrpSpPr/>
          <p:nvPr/>
        </p:nvGrpSpPr>
        <p:grpSpPr>
          <a:xfrm>
            <a:off x="846912" y="-39920"/>
            <a:ext cx="4629752" cy="1015663"/>
            <a:chOff x="924025" y="1526961"/>
            <a:chExt cx="4629752" cy="1015663"/>
          </a:xfrm>
        </p:grpSpPr>
        <p:sp>
          <p:nvSpPr>
            <p:cNvPr id="6" name="Rectangle 5">
              <a:extLst>
                <a:ext uri="{FF2B5EF4-FFF2-40B4-BE49-F238E27FC236}">
                  <a16:creationId xmlns:a16="http://schemas.microsoft.com/office/drawing/2014/main" id="{64AB105E-15B0-4381-2109-38F52357D854}"/>
                </a:ext>
              </a:extLst>
            </p:cNvPr>
            <p:cNvSpPr/>
            <p:nvPr/>
          </p:nvSpPr>
          <p:spPr>
            <a:xfrm>
              <a:off x="924025" y="1559294"/>
              <a:ext cx="4629752" cy="731520"/>
            </a:xfrm>
            <a:prstGeom prst="rect">
              <a:avLst/>
            </a:prstGeom>
            <a:solidFill>
              <a:srgbClr val="1B5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BEA3E22-905A-F537-F63D-D216080C771E}"/>
                </a:ext>
              </a:extLst>
            </p:cNvPr>
            <p:cNvSpPr txBox="1"/>
            <p:nvPr/>
          </p:nvSpPr>
          <p:spPr>
            <a:xfrm>
              <a:off x="1501541" y="1663444"/>
              <a:ext cx="3062398" cy="523220"/>
            </a:xfrm>
            <a:prstGeom prst="rect">
              <a:avLst/>
            </a:prstGeom>
            <a:noFill/>
            <a:ln>
              <a:noFill/>
            </a:ln>
          </p:spPr>
          <p:txBody>
            <a:bodyPr wrap="square" rtlCol="0">
              <a:spAutoFit/>
            </a:bodyPr>
            <a:lstStyle/>
            <a:p>
              <a:r>
                <a:rPr lang="es-ES" dirty="0">
                  <a:solidFill>
                    <a:schemeClr val="bg1"/>
                  </a:solidFill>
                  <a:latin typeface="Helvetica" pitchFamily="2" charset="0"/>
                </a:rPr>
                <a:t>Estructuras condicionales</a:t>
              </a:r>
              <a:br>
                <a:rPr lang="es-ES" dirty="0">
                  <a:solidFill>
                    <a:schemeClr val="bg1"/>
                  </a:solidFill>
                  <a:latin typeface="Helvetica" pitchFamily="2" charset="0"/>
                </a:rPr>
              </a:br>
              <a:r>
                <a:rPr lang="es-ES" dirty="0">
                  <a:solidFill>
                    <a:schemeClr val="bg1"/>
                  </a:solidFill>
                  <a:latin typeface="Helvetica" pitchFamily="2" charset="0"/>
                </a:rPr>
                <a:t>(repaso)</a:t>
              </a:r>
              <a:endParaRPr lang="en-US" dirty="0">
                <a:solidFill>
                  <a:schemeClr val="bg1"/>
                </a:solidFill>
                <a:latin typeface="Helvetica" pitchFamily="2" charset="0"/>
              </a:endParaRPr>
            </a:p>
          </p:txBody>
        </p:sp>
        <p:sp>
          <p:nvSpPr>
            <p:cNvPr id="8" name="TextBox 7">
              <a:extLst>
                <a:ext uri="{FF2B5EF4-FFF2-40B4-BE49-F238E27FC236}">
                  <a16:creationId xmlns:a16="http://schemas.microsoft.com/office/drawing/2014/main" id="{50271D8B-B815-5CBB-C7AC-7DD5DB391572}"/>
                </a:ext>
              </a:extLst>
            </p:cNvPr>
            <p:cNvSpPr txBox="1"/>
            <p:nvPr/>
          </p:nvSpPr>
          <p:spPr>
            <a:xfrm>
              <a:off x="991402" y="1526961"/>
              <a:ext cx="1020278" cy="1015663"/>
            </a:xfrm>
            <a:prstGeom prst="rect">
              <a:avLst/>
            </a:prstGeom>
            <a:noFill/>
            <a:ln>
              <a:noFill/>
            </a:ln>
          </p:spPr>
          <p:txBody>
            <a:bodyPr wrap="square" rtlCol="0">
              <a:spAutoFit/>
            </a:bodyPr>
            <a:lstStyle/>
            <a:p>
              <a:r>
                <a:rPr lang="es-ES" sz="6000" b="1" dirty="0">
                  <a:solidFill>
                    <a:schemeClr val="bg1"/>
                  </a:solidFill>
                  <a:latin typeface="Helvetica" pitchFamily="2" charset="0"/>
                </a:rPr>
                <a:t>1</a:t>
              </a:r>
              <a:endParaRPr lang="en-US" sz="6000" b="1" dirty="0">
                <a:solidFill>
                  <a:schemeClr val="bg1"/>
                </a:solidFill>
                <a:latin typeface="Helvetica" pitchFamily="2" charset="0"/>
              </a:endParaRPr>
            </a:p>
          </p:txBody>
        </p:sp>
        <p:sp>
          <p:nvSpPr>
            <p:cNvPr id="9" name="Rectangle 8">
              <a:extLst>
                <a:ext uri="{FF2B5EF4-FFF2-40B4-BE49-F238E27FC236}">
                  <a16:creationId xmlns:a16="http://schemas.microsoft.com/office/drawing/2014/main" id="{9BD955B6-80AE-12D1-4327-065DE41AD170}"/>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179CAAD0-986A-9CD8-350E-EC763AEA018E}"/>
              </a:ext>
            </a:extLst>
          </p:cNvPr>
          <p:cNvGrpSpPr/>
          <p:nvPr/>
        </p:nvGrpSpPr>
        <p:grpSpPr>
          <a:xfrm>
            <a:off x="2681588" y="1761085"/>
            <a:ext cx="6828824" cy="4469452"/>
            <a:chOff x="2599623" y="1206733"/>
            <a:chExt cx="7382577" cy="4831882"/>
          </a:xfrm>
        </p:grpSpPr>
        <p:sp>
          <p:nvSpPr>
            <p:cNvPr id="11" name="Diamond 10">
              <a:extLst>
                <a:ext uri="{FF2B5EF4-FFF2-40B4-BE49-F238E27FC236}">
                  <a16:creationId xmlns:a16="http://schemas.microsoft.com/office/drawing/2014/main" id="{64EBD676-2FBE-3BC8-8740-E36C6B4C7847}"/>
                </a:ext>
              </a:extLst>
            </p:cNvPr>
            <p:cNvSpPr/>
            <p:nvPr/>
          </p:nvSpPr>
          <p:spPr>
            <a:xfrm>
              <a:off x="5206466" y="1562868"/>
              <a:ext cx="2194560" cy="2194560"/>
            </a:xfrm>
            <a:prstGeom prst="diamond">
              <a:avLst/>
            </a:prstGeom>
            <a:solidFill>
              <a:schemeClr val="accent2"/>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s-ES" dirty="0"/>
                <a:t>Estructura Condicional</a:t>
              </a:r>
            </a:p>
            <a:p>
              <a:pPr algn="ctr"/>
              <a:r>
                <a:rPr lang="es-ES" dirty="0"/>
                <a:t>Simple</a:t>
              </a:r>
            </a:p>
            <a:p>
              <a:pPr algn="ctr"/>
              <a:r>
                <a:rPr lang="es-ES" dirty="0"/>
                <a:t>( </a:t>
              </a:r>
              <a:r>
                <a:rPr lang="es-ES" dirty="0" err="1"/>
                <a:t>if</a:t>
              </a:r>
              <a:r>
                <a:rPr lang="es-ES" dirty="0"/>
                <a:t> )</a:t>
              </a:r>
              <a:endParaRPr lang="en-US" dirty="0"/>
            </a:p>
          </p:txBody>
        </p:sp>
        <p:sp>
          <p:nvSpPr>
            <p:cNvPr id="12" name="Diamond 11">
              <a:extLst>
                <a:ext uri="{FF2B5EF4-FFF2-40B4-BE49-F238E27FC236}">
                  <a16:creationId xmlns:a16="http://schemas.microsoft.com/office/drawing/2014/main" id="{6E428FC6-9D23-0192-7A77-6468EF364097}"/>
                </a:ext>
              </a:extLst>
            </p:cNvPr>
            <p:cNvSpPr/>
            <p:nvPr/>
          </p:nvSpPr>
          <p:spPr>
            <a:xfrm>
              <a:off x="3011906" y="3844055"/>
              <a:ext cx="2194560" cy="2194560"/>
            </a:xfrm>
            <a:prstGeom prst="diamond">
              <a:avLst/>
            </a:prstGeom>
            <a:solidFill>
              <a:schemeClr val="accent4">
                <a:lumMod val="75000"/>
              </a:schemeClr>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s-ES" dirty="0"/>
                <a:t>Estructura Condicional Doble</a:t>
              </a:r>
            </a:p>
            <a:p>
              <a:pPr algn="ctr"/>
              <a:r>
                <a:rPr lang="es-ES" dirty="0"/>
                <a:t>( </a:t>
              </a:r>
              <a:r>
                <a:rPr lang="es-ES" dirty="0" err="1"/>
                <a:t>if</a:t>
              </a:r>
              <a:r>
                <a:rPr lang="es-ES" dirty="0"/>
                <a:t>..</a:t>
              </a:r>
              <a:r>
                <a:rPr lang="es-ES" dirty="0" err="1"/>
                <a:t>else</a:t>
              </a:r>
              <a:r>
                <a:rPr lang="es-ES" dirty="0"/>
                <a:t> )</a:t>
              </a:r>
              <a:endParaRPr lang="en-US" dirty="0"/>
            </a:p>
          </p:txBody>
        </p:sp>
        <p:sp>
          <p:nvSpPr>
            <p:cNvPr id="13" name="Diamond 12">
              <a:extLst>
                <a:ext uri="{FF2B5EF4-FFF2-40B4-BE49-F238E27FC236}">
                  <a16:creationId xmlns:a16="http://schemas.microsoft.com/office/drawing/2014/main" id="{D7CB31B4-B135-759E-4C70-79E53BA4D7C7}"/>
                </a:ext>
              </a:extLst>
            </p:cNvPr>
            <p:cNvSpPr/>
            <p:nvPr/>
          </p:nvSpPr>
          <p:spPr>
            <a:xfrm>
              <a:off x="7401026" y="3844055"/>
              <a:ext cx="2194560" cy="2194560"/>
            </a:xfrm>
            <a:prstGeom prst="diamond">
              <a:avLst/>
            </a:prstGeom>
            <a:solidFill>
              <a:srgbClr val="82AF9B"/>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s-ES" dirty="0"/>
                <a:t>Estructura Condicional</a:t>
              </a:r>
            </a:p>
            <a:p>
              <a:pPr algn="ctr"/>
              <a:r>
                <a:rPr lang="es-ES" dirty="0"/>
                <a:t>Múltiple</a:t>
              </a:r>
            </a:p>
            <a:p>
              <a:pPr algn="ctr"/>
              <a:r>
                <a:rPr lang="es-ES" dirty="0"/>
                <a:t>( switch )</a:t>
              </a:r>
              <a:endParaRPr lang="en-US" dirty="0"/>
            </a:p>
          </p:txBody>
        </p:sp>
        <p:cxnSp>
          <p:nvCxnSpPr>
            <p:cNvPr id="14" name="Straight Connector 13">
              <a:extLst>
                <a:ext uri="{FF2B5EF4-FFF2-40B4-BE49-F238E27FC236}">
                  <a16:creationId xmlns:a16="http://schemas.microsoft.com/office/drawing/2014/main" id="{8D60C919-0DC7-5A69-E0EB-739D7AA4E634}"/>
                </a:ext>
              </a:extLst>
            </p:cNvPr>
            <p:cNvCxnSpPr>
              <a:cxnSpLocks/>
            </p:cNvCxnSpPr>
            <p:nvPr/>
          </p:nvCxnSpPr>
          <p:spPr>
            <a:xfrm>
              <a:off x="6975914" y="3191099"/>
              <a:ext cx="1068405" cy="1023636"/>
            </a:xfrm>
            <a:prstGeom prst="line">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A869576-2CDB-E3EF-F287-2E3D6F3CC3B1}"/>
                </a:ext>
              </a:extLst>
            </p:cNvPr>
            <p:cNvCxnSpPr>
              <a:cxnSpLocks/>
            </p:cNvCxnSpPr>
            <p:nvPr/>
          </p:nvCxnSpPr>
          <p:spPr>
            <a:xfrm flipV="1">
              <a:off x="4588842" y="3147786"/>
              <a:ext cx="1029907" cy="1066949"/>
            </a:xfrm>
            <a:prstGeom prst="line">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9D748DC-5F39-547B-0A4B-D343C4F2DA68}"/>
                </a:ext>
              </a:extLst>
            </p:cNvPr>
            <p:cNvCxnSpPr>
              <a:cxnSpLocks/>
            </p:cNvCxnSpPr>
            <p:nvPr/>
          </p:nvCxnSpPr>
          <p:spPr>
            <a:xfrm>
              <a:off x="5131066" y="5340782"/>
              <a:ext cx="2415140" cy="0"/>
            </a:xfrm>
            <a:prstGeom prst="line">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Arc 16">
              <a:extLst>
                <a:ext uri="{FF2B5EF4-FFF2-40B4-BE49-F238E27FC236}">
                  <a16:creationId xmlns:a16="http://schemas.microsoft.com/office/drawing/2014/main" id="{60BA5410-3CAF-E93B-2355-9483A6B09101}"/>
                </a:ext>
              </a:extLst>
            </p:cNvPr>
            <p:cNvSpPr/>
            <p:nvPr/>
          </p:nvSpPr>
          <p:spPr>
            <a:xfrm rot="16200000">
              <a:off x="5904297" y="1206733"/>
              <a:ext cx="798897" cy="798897"/>
            </a:xfrm>
            <a:prstGeom prst="arc">
              <a:avLst>
                <a:gd name="adj1" fmla="val 14606096"/>
                <a:gd name="adj2" fmla="val 7108453"/>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00"/>
            </a:p>
          </p:txBody>
        </p:sp>
        <p:sp>
          <p:nvSpPr>
            <p:cNvPr id="18" name="Arc 17">
              <a:extLst>
                <a:ext uri="{FF2B5EF4-FFF2-40B4-BE49-F238E27FC236}">
                  <a16:creationId xmlns:a16="http://schemas.microsoft.com/office/drawing/2014/main" id="{3EE9C675-8956-C644-5FFE-CCDDD52BA06D}"/>
                </a:ext>
              </a:extLst>
            </p:cNvPr>
            <p:cNvSpPr/>
            <p:nvPr/>
          </p:nvSpPr>
          <p:spPr>
            <a:xfrm>
              <a:off x="9183303" y="4541886"/>
              <a:ext cx="798897" cy="798897"/>
            </a:xfrm>
            <a:prstGeom prst="arc">
              <a:avLst>
                <a:gd name="adj1" fmla="val 14606096"/>
                <a:gd name="adj2" fmla="val 7108453"/>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00"/>
            </a:p>
          </p:txBody>
        </p:sp>
        <p:sp>
          <p:nvSpPr>
            <p:cNvPr id="19" name="Arc 18">
              <a:extLst>
                <a:ext uri="{FF2B5EF4-FFF2-40B4-BE49-F238E27FC236}">
                  <a16:creationId xmlns:a16="http://schemas.microsoft.com/office/drawing/2014/main" id="{6A19AE07-B5C9-9CC8-792C-860886ED1C92}"/>
                </a:ext>
              </a:extLst>
            </p:cNvPr>
            <p:cNvSpPr/>
            <p:nvPr/>
          </p:nvSpPr>
          <p:spPr>
            <a:xfrm flipH="1">
              <a:off x="2599623" y="4541885"/>
              <a:ext cx="798897" cy="798897"/>
            </a:xfrm>
            <a:prstGeom prst="arc">
              <a:avLst>
                <a:gd name="adj1" fmla="val 14606096"/>
                <a:gd name="adj2" fmla="val 7108453"/>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00"/>
            </a:p>
          </p:txBody>
        </p:sp>
        <p:cxnSp>
          <p:nvCxnSpPr>
            <p:cNvPr id="20" name="Straight Connector 19">
              <a:extLst>
                <a:ext uri="{FF2B5EF4-FFF2-40B4-BE49-F238E27FC236}">
                  <a16:creationId xmlns:a16="http://schemas.microsoft.com/office/drawing/2014/main" id="{CDA2338D-2FD3-BDA8-E6CF-DB8F3E4D1EBF}"/>
                </a:ext>
              </a:extLst>
            </p:cNvPr>
            <p:cNvCxnSpPr>
              <a:cxnSpLocks/>
            </p:cNvCxnSpPr>
            <p:nvPr/>
          </p:nvCxnSpPr>
          <p:spPr>
            <a:xfrm>
              <a:off x="6702398" y="3439352"/>
              <a:ext cx="1068405" cy="1023636"/>
            </a:xfrm>
            <a:prstGeom prst="line">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8E14C99-8C56-CA03-5BD7-42D312C94AF9}"/>
                </a:ext>
              </a:extLst>
            </p:cNvPr>
            <p:cNvCxnSpPr>
              <a:cxnSpLocks/>
            </p:cNvCxnSpPr>
            <p:nvPr/>
          </p:nvCxnSpPr>
          <p:spPr>
            <a:xfrm flipV="1">
              <a:off x="4819852" y="3417696"/>
              <a:ext cx="1029907" cy="1066949"/>
            </a:xfrm>
            <a:prstGeom prst="line">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B361B11-6744-2C05-9BCF-7081F24988F1}"/>
                </a:ext>
              </a:extLst>
            </p:cNvPr>
            <p:cNvCxnSpPr>
              <a:cxnSpLocks/>
            </p:cNvCxnSpPr>
            <p:nvPr/>
          </p:nvCxnSpPr>
          <p:spPr>
            <a:xfrm>
              <a:off x="5111816" y="5745043"/>
              <a:ext cx="2415140" cy="0"/>
            </a:xfrm>
            <a:prstGeom prst="line">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20350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C6B983-D187-5021-011D-340D9A6463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16</a:t>
            </a:fld>
            <a:endParaRPr lang="es-PE"/>
          </a:p>
        </p:txBody>
      </p:sp>
      <p:sp>
        <p:nvSpPr>
          <p:cNvPr id="2" name="TextBox 1">
            <a:extLst>
              <a:ext uri="{FF2B5EF4-FFF2-40B4-BE49-F238E27FC236}">
                <a16:creationId xmlns:a16="http://schemas.microsoft.com/office/drawing/2014/main" id="{6B32F08B-E599-8764-EE5E-B3C48CE274CF}"/>
              </a:ext>
            </a:extLst>
          </p:cNvPr>
          <p:cNvSpPr txBox="1"/>
          <p:nvPr/>
        </p:nvSpPr>
        <p:spPr>
          <a:xfrm rot="16200000">
            <a:off x="-1552306" y="2760043"/>
            <a:ext cx="5599610" cy="1446550"/>
          </a:xfrm>
          <a:prstGeom prst="rect">
            <a:avLst/>
          </a:prstGeom>
          <a:noFill/>
        </p:spPr>
        <p:txBody>
          <a:bodyPr wrap="none" rtlCol="0">
            <a:spAutoFit/>
          </a:bodyPr>
          <a:lstStyle/>
          <a:p>
            <a:r>
              <a:rPr lang="es-ES" sz="8800" b="1" dirty="0">
                <a:solidFill>
                  <a:schemeClr val="bg1">
                    <a:lumMod val="85000"/>
                  </a:schemeClr>
                </a:solidFill>
                <a:latin typeface="Helvetica" pitchFamily="2" charset="0"/>
              </a:rPr>
              <a:t>contenido</a:t>
            </a:r>
            <a:endParaRPr lang="en-US" sz="8800" b="1" dirty="0">
              <a:solidFill>
                <a:schemeClr val="bg1">
                  <a:lumMod val="85000"/>
                </a:schemeClr>
              </a:solidFill>
              <a:latin typeface="Helvetica" pitchFamily="2" charset="0"/>
            </a:endParaRPr>
          </a:p>
        </p:txBody>
      </p:sp>
      <p:grpSp>
        <p:nvGrpSpPr>
          <p:cNvPr id="4" name="Group 3">
            <a:extLst>
              <a:ext uri="{FF2B5EF4-FFF2-40B4-BE49-F238E27FC236}">
                <a16:creationId xmlns:a16="http://schemas.microsoft.com/office/drawing/2014/main" id="{356232F4-70C8-C517-6AFF-BE83D525DAAD}"/>
              </a:ext>
            </a:extLst>
          </p:cNvPr>
          <p:cNvGrpSpPr/>
          <p:nvPr/>
        </p:nvGrpSpPr>
        <p:grpSpPr>
          <a:xfrm>
            <a:off x="1955128" y="2672054"/>
            <a:ext cx="4629752" cy="1015663"/>
            <a:chOff x="924025" y="1526961"/>
            <a:chExt cx="4629752" cy="1015663"/>
          </a:xfrm>
        </p:grpSpPr>
        <p:sp>
          <p:nvSpPr>
            <p:cNvPr id="15" name="Rectangle 14">
              <a:extLst>
                <a:ext uri="{FF2B5EF4-FFF2-40B4-BE49-F238E27FC236}">
                  <a16:creationId xmlns:a16="http://schemas.microsoft.com/office/drawing/2014/main" id="{7239BAF7-6461-3460-7124-CC87D48DB413}"/>
                </a:ext>
              </a:extLst>
            </p:cNvPr>
            <p:cNvSpPr/>
            <p:nvPr/>
          </p:nvSpPr>
          <p:spPr>
            <a:xfrm>
              <a:off x="924025" y="1559294"/>
              <a:ext cx="4629752" cy="731520"/>
            </a:xfrm>
            <a:prstGeom prst="rect">
              <a:avLst/>
            </a:prstGeom>
            <a:solidFill>
              <a:srgbClr val="75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3E7F899-F28C-C7A1-9A5F-C51ECC1A2501}"/>
                </a:ext>
              </a:extLst>
            </p:cNvPr>
            <p:cNvSpPr txBox="1"/>
            <p:nvPr/>
          </p:nvSpPr>
          <p:spPr>
            <a:xfrm>
              <a:off x="1501541" y="1663444"/>
              <a:ext cx="2515402" cy="523220"/>
            </a:xfrm>
            <a:prstGeom prst="rect">
              <a:avLst/>
            </a:prstGeom>
            <a:noFill/>
            <a:ln>
              <a:noFill/>
            </a:ln>
          </p:spPr>
          <p:txBody>
            <a:bodyPr wrap="square" rtlCol="0">
              <a:spAutoFit/>
            </a:bodyPr>
            <a:lstStyle/>
            <a:p>
              <a:r>
                <a:rPr lang="es-ES" dirty="0">
                  <a:solidFill>
                    <a:schemeClr val="bg1"/>
                  </a:solidFill>
                  <a:latin typeface="Helvetica" pitchFamily="2" charset="0"/>
                </a:rPr>
                <a:t>Ejercicios con</a:t>
              </a:r>
              <a:br>
                <a:rPr lang="es-ES" dirty="0">
                  <a:solidFill>
                    <a:schemeClr val="bg1"/>
                  </a:solidFill>
                  <a:latin typeface="Helvetica" pitchFamily="2" charset="0"/>
                </a:rPr>
              </a:br>
              <a:r>
                <a:rPr lang="es-ES" dirty="0">
                  <a:solidFill>
                    <a:schemeClr val="bg1"/>
                  </a:solidFill>
                  <a:latin typeface="Helvetica" pitchFamily="2" charset="0"/>
                </a:rPr>
                <a:t>estructura switch-case</a:t>
              </a:r>
              <a:endParaRPr lang="en-US" dirty="0">
                <a:solidFill>
                  <a:schemeClr val="bg1"/>
                </a:solidFill>
                <a:latin typeface="Helvetica" pitchFamily="2" charset="0"/>
              </a:endParaRPr>
            </a:p>
          </p:txBody>
        </p:sp>
        <p:sp>
          <p:nvSpPr>
            <p:cNvPr id="17" name="TextBox 16">
              <a:extLst>
                <a:ext uri="{FF2B5EF4-FFF2-40B4-BE49-F238E27FC236}">
                  <a16:creationId xmlns:a16="http://schemas.microsoft.com/office/drawing/2014/main" id="{2AF805C7-CBE8-E255-68DF-C6DE8386ADAF}"/>
                </a:ext>
              </a:extLst>
            </p:cNvPr>
            <p:cNvSpPr txBox="1"/>
            <p:nvPr/>
          </p:nvSpPr>
          <p:spPr>
            <a:xfrm>
              <a:off x="991402" y="1526961"/>
              <a:ext cx="1020278" cy="1015663"/>
            </a:xfrm>
            <a:prstGeom prst="rect">
              <a:avLst/>
            </a:prstGeom>
            <a:noFill/>
            <a:ln>
              <a:noFill/>
            </a:ln>
          </p:spPr>
          <p:txBody>
            <a:bodyPr wrap="square" rtlCol="0">
              <a:spAutoFit/>
            </a:bodyPr>
            <a:lstStyle/>
            <a:p>
              <a:r>
                <a:rPr lang="es-ES" sz="6000" b="1">
                  <a:solidFill>
                    <a:schemeClr val="bg1"/>
                  </a:solidFill>
                  <a:latin typeface="Helvetica" pitchFamily="2" charset="0"/>
                </a:rPr>
                <a:t>3</a:t>
              </a:r>
              <a:endParaRPr lang="en-US" sz="6000" b="1">
                <a:solidFill>
                  <a:schemeClr val="bg1"/>
                </a:solidFill>
                <a:latin typeface="Helvetica" pitchFamily="2" charset="0"/>
              </a:endParaRPr>
            </a:p>
          </p:txBody>
        </p:sp>
        <p:sp>
          <p:nvSpPr>
            <p:cNvPr id="18" name="Rectangle 17">
              <a:extLst>
                <a:ext uri="{FF2B5EF4-FFF2-40B4-BE49-F238E27FC236}">
                  <a16:creationId xmlns:a16="http://schemas.microsoft.com/office/drawing/2014/main" id="{D45F683C-083B-4EAA-D3C1-1A378724E7E2}"/>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B128E89F-E5A0-B939-5EBB-4F1A37FD8B52}"/>
              </a:ext>
            </a:extLst>
          </p:cNvPr>
          <p:cNvGrpSpPr/>
          <p:nvPr/>
        </p:nvGrpSpPr>
        <p:grpSpPr>
          <a:xfrm>
            <a:off x="1955128" y="3561599"/>
            <a:ext cx="4629752" cy="1015663"/>
            <a:chOff x="924025" y="1526961"/>
            <a:chExt cx="4629752" cy="1015663"/>
          </a:xfrm>
        </p:grpSpPr>
        <p:sp>
          <p:nvSpPr>
            <p:cNvPr id="20" name="Rectangle 19">
              <a:extLst>
                <a:ext uri="{FF2B5EF4-FFF2-40B4-BE49-F238E27FC236}">
                  <a16:creationId xmlns:a16="http://schemas.microsoft.com/office/drawing/2014/main" id="{53DD428E-2B36-BEF9-5D64-F43F2B5FCFAE}"/>
                </a:ext>
              </a:extLst>
            </p:cNvPr>
            <p:cNvSpPr/>
            <p:nvPr/>
          </p:nvSpPr>
          <p:spPr>
            <a:xfrm>
              <a:off x="924025" y="1559294"/>
              <a:ext cx="4629752" cy="731520"/>
            </a:xfrm>
            <a:prstGeom prst="rect">
              <a:avLst/>
            </a:prstGeom>
            <a:solidFill>
              <a:srgbClr val="BA75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E1EBD91-0CD9-10A4-75E7-CB75D7B7D977}"/>
                </a:ext>
              </a:extLst>
            </p:cNvPr>
            <p:cNvSpPr txBox="1"/>
            <p:nvPr/>
          </p:nvSpPr>
          <p:spPr>
            <a:xfrm>
              <a:off x="1501541" y="1663444"/>
              <a:ext cx="2515402" cy="307777"/>
            </a:xfrm>
            <a:prstGeom prst="rect">
              <a:avLst/>
            </a:prstGeom>
            <a:noFill/>
            <a:ln>
              <a:noFill/>
            </a:ln>
          </p:spPr>
          <p:txBody>
            <a:bodyPr wrap="square" rtlCol="0">
              <a:spAutoFit/>
            </a:bodyPr>
            <a:lstStyle/>
            <a:p>
              <a:r>
                <a:rPr lang="es-ES" dirty="0">
                  <a:solidFill>
                    <a:schemeClr val="bg1"/>
                  </a:solidFill>
                  <a:latin typeface="Helvetica" pitchFamily="2" charset="0"/>
                </a:rPr>
                <a:t>Práctica</a:t>
              </a:r>
              <a:endParaRPr lang="en-US" dirty="0">
                <a:solidFill>
                  <a:schemeClr val="bg1"/>
                </a:solidFill>
                <a:latin typeface="Helvetica" pitchFamily="2" charset="0"/>
              </a:endParaRPr>
            </a:p>
          </p:txBody>
        </p:sp>
        <p:sp>
          <p:nvSpPr>
            <p:cNvPr id="22" name="TextBox 21">
              <a:extLst>
                <a:ext uri="{FF2B5EF4-FFF2-40B4-BE49-F238E27FC236}">
                  <a16:creationId xmlns:a16="http://schemas.microsoft.com/office/drawing/2014/main" id="{F1D0630B-0B0F-7C88-7C30-8C1FFFA75754}"/>
                </a:ext>
              </a:extLst>
            </p:cNvPr>
            <p:cNvSpPr txBox="1"/>
            <p:nvPr/>
          </p:nvSpPr>
          <p:spPr>
            <a:xfrm>
              <a:off x="991402" y="1526961"/>
              <a:ext cx="1020278" cy="1015663"/>
            </a:xfrm>
            <a:prstGeom prst="rect">
              <a:avLst/>
            </a:prstGeom>
            <a:noFill/>
            <a:ln>
              <a:noFill/>
            </a:ln>
          </p:spPr>
          <p:txBody>
            <a:bodyPr wrap="square" rtlCol="0">
              <a:spAutoFit/>
            </a:bodyPr>
            <a:lstStyle/>
            <a:p>
              <a:r>
                <a:rPr lang="es-ES" sz="6000" b="1">
                  <a:solidFill>
                    <a:schemeClr val="bg1"/>
                  </a:solidFill>
                  <a:latin typeface="Helvetica" pitchFamily="2" charset="0"/>
                </a:rPr>
                <a:t>4</a:t>
              </a:r>
              <a:endParaRPr lang="en-US" sz="6000" b="1">
                <a:solidFill>
                  <a:schemeClr val="bg1"/>
                </a:solidFill>
                <a:latin typeface="Helvetica" pitchFamily="2" charset="0"/>
              </a:endParaRPr>
            </a:p>
          </p:txBody>
        </p:sp>
        <p:sp>
          <p:nvSpPr>
            <p:cNvPr id="23" name="Rectangle 22">
              <a:extLst>
                <a:ext uri="{FF2B5EF4-FFF2-40B4-BE49-F238E27FC236}">
                  <a16:creationId xmlns:a16="http://schemas.microsoft.com/office/drawing/2014/main" id="{58B17AA6-2A3D-F74D-3001-D04EC4218E54}"/>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6D8EC2C4-D534-A87E-5305-9BD92B9838D9}"/>
              </a:ext>
            </a:extLst>
          </p:cNvPr>
          <p:cNvGrpSpPr/>
          <p:nvPr/>
        </p:nvGrpSpPr>
        <p:grpSpPr>
          <a:xfrm>
            <a:off x="1955128" y="892964"/>
            <a:ext cx="4629752" cy="1015663"/>
            <a:chOff x="924025" y="1526961"/>
            <a:chExt cx="4629752" cy="1015663"/>
          </a:xfrm>
        </p:grpSpPr>
        <p:sp>
          <p:nvSpPr>
            <p:cNvPr id="6" name="Rectangle 5">
              <a:extLst>
                <a:ext uri="{FF2B5EF4-FFF2-40B4-BE49-F238E27FC236}">
                  <a16:creationId xmlns:a16="http://schemas.microsoft.com/office/drawing/2014/main" id="{AFE41E11-2903-D4AD-BABB-046EDBE4AABD}"/>
                </a:ext>
              </a:extLst>
            </p:cNvPr>
            <p:cNvSpPr/>
            <p:nvPr/>
          </p:nvSpPr>
          <p:spPr>
            <a:xfrm>
              <a:off x="924025" y="1559294"/>
              <a:ext cx="4629752" cy="731520"/>
            </a:xfrm>
            <a:prstGeom prst="rect">
              <a:avLst/>
            </a:prstGeom>
            <a:solidFill>
              <a:srgbClr val="1B5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FB12F7A-F286-0B30-D30E-E9A916CC839B}"/>
                </a:ext>
              </a:extLst>
            </p:cNvPr>
            <p:cNvSpPr txBox="1"/>
            <p:nvPr/>
          </p:nvSpPr>
          <p:spPr>
            <a:xfrm>
              <a:off x="1501541" y="1663444"/>
              <a:ext cx="3062398" cy="523220"/>
            </a:xfrm>
            <a:prstGeom prst="rect">
              <a:avLst/>
            </a:prstGeom>
            <a:noFill/>
            <a:ln>
              <a:noFill/>
            </a:ln>
          </p:spPr>
          <p:txBody>
            <a:bodyPr wrap="square" rtlCol="0">
              <a:spAutoFit/>
            </a:bodyPr>
            <a:lstStyle/>
            <a:p>
              <a:r>
                <a:rPr lang="es-ES" dirty="0">
                  <a:solidFill>
                    <a:schemeClr val="bg1"/>
                  </a:solidFill>
                  <a:latin typeface="Helvetica" pitchFamily="2" charset="0"/>
                </a:rPr>
                <a:t>Estructuras condicionales</a:t>
              </a:r>
              <a:br>
                <a:rPr lang="es-ES" dirty="0">
                  <a:solidFill>
                    <a:schemeClr val="bg1"/>
                  </a:solidFill>
                  <a:latin typeface="Helvetica" pitchFamily="2" charset="0"/>
                </a:rPr>
              </a:br>
              <a:r>
                <a:rPr lang="es-ES" dirty="0">
                  <a:solidFill>
                    <a:schemeClr val="bg1"/>
                  </a:solidFill>
                  <a:latin typeface="Helvetica" pitchFamily="2" charset="0"/>
                </a:rPr>
                <a:t>(repaso)</a:t>
              </a:r>
              <a:endParaRPr lang="en-US" dirty="0">
                <a:solidFill>
                  <a:schemeClr val="bg1"/>
                </a:solidFill>
                <a:latin typeface="Helvetica" pitchFamily="2" charset="0"/>
              </a:endParaRPr>
            </a:p>
          </p:txBody>
        </p:sp>
        <p:sp>
          <p:nvSpPr>
            <p:cNvPr id="7" name="TextBox 6">
              <a:extLst>
                <a:ext uri="{FF2B5EF4-FFF2-40B4-BE49-F238E27FC236}">
                  <a16:creationId xmlns:a16="http://schemas.microsoft.com/office/drawing/2014/main" id="{93EEA1CE-79B2-915B-2C77-2F1212A1BF67}"/>
                </a:ext>
              </a:extLst>
            </p:cNvPr>
            <p:cNvSpPr txBox="1"/>
            <p:nvPr/>
          </p:nvSpPr>
          <p:spPr>
            <a:xfrm>
              <a:off x="991402" y="1526961"/>
              <a:ext cx="1020278" cy="1015663"/>
            </a:xfrm>
            <a:prstGeom prst="rect">
              <a:avLst/>
            </a:prstGeom>
            <a:noFill/>
            <a:ln>
              <a:noFill/>
            </a:ln>
          </p:spPr>
          <p:txBody>
            <a:bodyPr wrap="square" rtlCol="0">
              <a:spAutoFit/>
            </a:bodyPr>
            <a:lstStyle/>
            <a:p>
              <a:r>
                <a:rPr lang="es-ES" sz="6000" b="1" dirty="0">
                  <a:solidFill>
                    <a:schemeClr val="bg1"/>
                  </a:solidFill>
                  <a:latin typeface="Helvetica" pitchFamily="2" charset="0"/>
                </a:rPr>
                <a:t>1</a:t>
              </a:r>
              <a:endParaRPr lang="en-US" sz="6000" b="1" dirty="0">
                <a:solidFill>
                  <a:schemeClr val="bg1"/>
                </a:solidFill>
                <a:latin typeface="Helvetica" pitchFamily="2" charset="0"/>
              </a:endParaRPr>
            </a:p>
          </p:txBody>
        </p:sp>
        <p:sp>
          <p:nvSpPr>
            <p:cNvPr id="8" name="Rectangle 7">
              <a:extLst>
                <a:ext uri="{FF2B5EF4-FFF2-40B4-BE49-F238E27FC236}">
                  <a16:creationId xmlns:a16="http://schemas.microsoft.com/office/drawing/2014/main" id="{830C6426-CF18-244B-D9EC-4576E393467C}"/>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45247CA5-A0E6-5FEE-D972-64B7FAA0BBEF}"/>
              </a:ext>
            </a:extLst>
          </p:cNvPr>
          <p:cNvSpPr/>
          <p:nvPr/>
        </p:nvSpPr>
        <p:spPr>
          <a:xfrm>
            <a:off x="1801640" y="683513"/>
            <a:ext cx="9678154" cy="559961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C62550A-9487-0FB4-AEF5-18BF59D1D1BB}"/>
              </a:ext>
            </a:extLst>
          </p:cNvPr>
          <p:cNvGrpSpPr/>
          <p:nvPr/>
        </p:nvGrpSpPr>
        <p:grpSpPr>
          <a:xfrm>
            <a:off x="1955128" y="1782509"/>
            <a:ext cx="4629752" cy="1015663"/>
            <a:chOff x="924025" y="1526961"/>
            <a:chExt cx="4629752" cy="1015663"/>
          </a:xfrm>
        </p:grpSpPr>
        <p:sp>
          <p:nvSpPr>
            <p:cNvPr id="11" name="Rectangle 10">
              <a:extLst>
                <a:ext uri="{FF2B5EF4-FFF2-40B4-BE49-F238E27FC236}">
                  <a16:creationId xmlns:a16="http://schemas.microsoft.com/office/drawing/2014/main" id="{89EE3C4A-25E0-0661-5719-DFD8A408196E}"/>
                </a:ext>
              </a:extLst>
            </p:cNvPr>
            <p:cNvSpPr/>
            <p:nvPr/>
          </p:nvSpPr>
          <p:spPr>
            <a:xfrm>
              <a:off x="924025" y="1559294"/>
              <a:ext cx="4629752" cy="731520"/>
            </a:xfrm>
            <a:prstGeom prst="rect">
              <a:avLst/>
            </a:prstGeom>
            <a:solidFill>
              <a:srgbClr val="0E7D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F03E694-3539-B74F-A7F9-A90BF4FC7172}"/>
                </a:ext>
              </a:extLst>
            </p:cNvPr>
            <p:cNvSpPr txBox="1"/>
            <p:nvPr/>
          </p:nvSpPr>
          <p:spPr>
            <a:xfrm>
              <a:off x="1501541" y="1663444"/>
              <a:ext cx="2515402" cy="523220"/>
            </a:xfrm>
            <a:prstGeom prst="rect">
              <a:avLst/>
            </a:prstGeom>
            <a:noFill/>
            <a:ln>
              <a:noFill/>
            </a:ln>
          </p:spPr>
          <p:txBody>
            <a:bodyPr wrap="square" rtlCol="0">
              <a:spAutoFit/>
            </a:bodyPr>
            <a:lstStyle/>
            <a:p>
              <a:r>
                <a:rPr lang="es-ES" dirty="0">
                  <a:solidFill>
                    <a:schemeClr val="bg1"/>
                  </a:solidFill>
                  <a:latin typeface="Helvetica" pitchFamily="2" charset="0"/>
                </a:rPr>
                <a:t>Ejercicios con </a:t>
              </a:r>
              <a:br>
                <a:rPr lang="es-ES" dirty="0">
                  <a:solidFill>
                    <a:schemeClr val="bg1"/>
                  </a:solidFill>
                  <a:latin typeface="Helvetica" pitchFamily="2" charset="0"/>
                </a:rPr>
              </a:br>
              <a:r>
                <a:rPr lang="es-ES" dirty="0">
                  <a:solidFill>
                    <a:schemeClr val="bg1"/>
                  </a:solidFill>
                  <a:latin typeface="Helvetica" pitchFamily="2" charset="0"/>
                </a:rPr>
                <a:t>estructura </a:t>
              </a:r>
              <a:r>
                <a:rPr lang="es-ES" dirty="0" err="1">
                  <a:solidFill>
                    <a:schemeClr val="bg1"/>
                  </a:solidFill>
                  <a:latin typeface="Helvetica" pitchFamily="2" charset="0"/>
                </a:rPr>
                <a:t>if</a:t>
              </a:r>
              <a:r>
                <a:rPr lang="es-ES" dirty="0">
                  <a:solidFill>
                    <a:schemeClr val="bg1"/>
                  </a:solidFill>
                  <a:latin typeface="Helvetica" pitchFamily="2" charset="0"/>
                </a:rPr>
                <a:t>..</a:t>
              </a:r>
              <a:r>
                <a:rPr lang="es-ES" dirty="0" err="1">
                  <a:solidFill>
                    <a:schemeClr val="bg1"/>
                  </a:solidFill>
                  <a:latin typeface="Helvetica" pitchFamily="2" charset="0"/>
                </a:rPr>
                <a:t>else</a:t>
              </a:r>
              <a:endParaRPr lang="en-US" dirty="0">
                <a:solidFill>
                  <a:schemeClr val="bg1"/>
                </a:solidFill>
                <a:latin typeface="Helvetica" pitchFamily="2" charset="0"/>
              </a:endParaRPr>
            </a:p>
          </p:txBody>
        </p:sp>
        <p:sp>
          <p:nvSpPr>
            <p:cNvPr id="13" name="TextBox 12">
              <a:extLst>
                <a:ext uri="{FF2B5EF4-FFF2-40B4-BE49-F238E27FC236}">
                  <a16:creationId xmlns:a16="http://schemas.microsoft.com/office/drawing/2014/main" id="{D0BD6589-A9C6-D2FD-D50D-C5AAC8113E8A}"/>
                </a:ext>
              </a:extLst>
            </p:cNvPr>
            <p:cNvSpPr txBox="1"/>
            <p:nvPr/>
          </p:nvSpPr>
          <p:spPr>
            <a:xfrm>
              <a:off x="991402" y="1526961"/>
              <a:ext cx="1020278" cy="1015663"/>
            </a:xfrm>
            <a:prstGeom prst="rect">
              <a:avLst/>
            </a:prstGeom>
            <a:noFill/>
            <a:ln>
              <a:noFill/>
            </a:ln>
          </p:spPr>
          <p:txBody>
            <a:bodyPr wrap="square" rtlCol="0">
              <a:spAutoFit/>
            </a:bodyPr>
            <a:lstStyle/>
            <a:p>
              <a:r>
                <a:rPr lang="es-ES" sz="6000" b="1" dirty="0">
                  <a:solidFill>
                    <a:schemeClr val="bg1"/>
                  </a:solidFill>
                  <a:latin typeface="Helvetica" pitchFamily="2" charset="0"/>
                </a:rPr>
                <a:t>2</a:t>
              </a:r>
              <a:endParaRPr lang="en-US" sz="6000" b="1" dirty="0">
                <a:solidFill>
                  <a:schemeClr val="bg1"/>
                </a:solidFill>
                <a:latin typeface="Helvetica" pitchFamily="2" charset="0"/>
              </a:endParaRPr>
            </a:p>
          </p:txBody>
        </p:sp>
        <p:sp>
          <p:nvSpPr>
            <p:cNvPr id="14" name="Rectangle 13">
              <a:extLst>
                <a:ext uri="{FF2B5EF4-FFF2-40B4-BE49-F238E27FC236}">
                  <a16:creationId xmlns:a16="http://schemas.microsoft.com/office/drawing/2014/main" id="{FE0265B7-9BAF-D770-6E56-5AE1A9C41973}"/>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92050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196D539-3991-0688-9EAD-B324B68D98D0}"/>
              </a:ext>
            </a:extLst>
          </p:cNvPr>
          <p:cNvPicPr>
            <a:picLocks noChangeAspect="1"/>
          </p:cNvPicPr>
          <p:nvPr/>
        </p:nvPicPr>
        <p:blipFill rotWithShape="1">
          <a:blip r:embed="rId2">
            <a:alphaModFix amt="10000"/>
          </a:blip>
          <a:srcRect r="20329"/>
          <a:stretch/>
        </p:blipFill>
        <p:spPr>
          <a:xfrm>
            <a:off x="5723822" y="0"/>
            <a:ext cx="6466993" cy="6858000"/>
          </a:xfrm>
          <a:prstGeom prst="rect">
            <a:avLst/>
          </a:prstGeom>
        </p:spPr>
      </p:pic>
      <p:grpSp>
        <p:nvGrpSpPr>
          <p:cNvPr id="11" name="Group 10">
            <a:extLst>
              <a:ext uri="{FF2B5EF4-FFF2-40B4-BE49-F238E27FC236}">
                <a16:creationId xmlns:a16="http://schemas.microsoft.com/office/drawing/2014/main" id="{07DE9D77-DCD0-2977-6C01-324BC31FB6DF}"/>
              </a:ext>
            </a:extLst>
          </p:cNvPr>
          <p:cNvGrpSpPr/>
          <p:nvPr/>
        </p:nvGrpSpPr>
        <p:grpSpPr>
          <a:xfrm>
            <a:off x="846912" y="-39920"/>
            <a:ext cx="4629752" cy="1015663"/>
            <a:chOff x="924025" y="1526961"/>
            <a:chExt cx="4629752" cy="1015663"/>
          </a:xfrm>
        </p:grpSpPr>
        <p:sp>
          <p:nvSpPr>
            <p:cNvPr id="12" name="Rectangle 11">
              <a:extLst>
                <a:ext uri="{FF2B5EF4-FFF2-40B4-BE49-F238E27FC236}">
                  <a16:creationId xmlns:a16="http://schemas.microsoft.com/office/drawing/2014/main" id="{D5216FE2-C4ED-027B-358F-B045860ED652}"/>
                </a:ext>
              </a:extLst>
            </p:cNvPr>
            <p:cNvSpPr/>
            <p:nvPr/>
          </p:nvSpPr>
          <p:spPr>
            <a:xfrm>
              <a:off x="924025" y="1559294"/>
              <a:ext cx="4629752" cy="731520"/>
            </a:xfrm>
            <a:prstGeom prst="rect">
              <a:avLst/>
            </a:prstGeom>
            <a:solidFill>
              <a:srgbClr val="0E7D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AA8185F-2C8F-3588-1D33-BC98D51BDF13}"/>
                </a:ext>
              </a:extLst>
            </p:cNvPr>
            <p:cNvSpPr txBox="1"/>
            <p:nvPr/>
          </p:nvSpPr>
          <p:spPr>
            <a:xfrm>
              <a:off x="1501541" y="1663444"/>
              <a:ext cx="2515402" cy="523220"/>
            </a:xfrm>
            <a:prstGeom prst="rect">
              <a:avLst/>
            </a:prstGeom>
            <a:noFill/>
            <a:ln>
              <a:noFill/>
            </a:ln>
          </p:spPr>
          <p:txBody>
            <a:bodyPr wrap="square" rtlCol="0">
              <a:spAutoFit/>
            </a:bodyPr>
            <a:lstStyle/>
            <a:p>
              <a:r>
                <a:rPr lang="es-ES" dirty="0">
                  <a:solidFill>
                    <a:schemeClr val="bg1"/>
                  </a:solidFill>
                  <a:latin typeface="Helvetica" pitchFamily="2" charset="0"/>
                </a:rPr>
                <a:t>Ejercicios con </a:t>
              </a:r>
              <a:br>
                <a:rPr lang="es-ES" dirty="0">
                  <a:solidFill>
                    <a:schemeClr val="bg1"/>
                  </a:solidFill>
                  <a:latin typeface="Helvetica" pitchFamily="2" charset="0"/>
                </a:rPr>
              </a:br>
              <a:r>
                <a:rPr lang="es-ES" dirty="0">
                  <a:solidFill>
                    <a:schemeClr val="bg1"/>
                  </a:solidFill>
                  <a:latin typeface="Helvetica" pitchFamily="2" charset="0"/>
                </a:rPr>
                <a:t>estructura </a:t>
              </a:r>
              <a:r>
                <a:rPr lang="es-ES" dirty="0" err="1">
                  <a:solidFill>
                    <a:schemeClr val="bg1"/>
                  </a:solidFill>
                  <a:latin typeface="Helvetica" pitchFamily="2" charset="0"/>
                </a:rPr>
                <a:t>if</a:t>
              </a:r>
              <a:r>
                <a:rPr lang="es-ES" dirty="0">
                  <a:solidFill>
                    <a:schemeClr val="bg1"/>
                  </a:solidFill>
                  <a:latin typeface="Helvetica" pitchFamily="2" charset="0"/>
                </a:rPr>
                <a:t>..</a:t>
              </a:r>
              <a:r>
                <a:rPr lang="es-ES" dirty="0" err="1">
                  <a:solidFill>
                    <a:schemeClr val="bg1"/>
                  </a:solidFill>
                  <a:latin typeface="Helvetica" pitchFamily="2" charset="0"/>
                </a:rPr>
                <a:t>else</a:t>
              </a:r>
              <a:endParaRPr lang="en-US" dirty="0">
                <a:solidFill>
                  <a:schemeClr val="bg1"/>
                </a:solidFill>
                <a:latin typeface="Helvetica" pitchFamily="2" charset="0"/>
              </a:endParaRPr>
            </a:p>
          </p:txBody>
        </p:sp>
        <p:sp>
          <p:nvSpPr>
            <p:cNvPr id="14" name="TextBox 13">
              <a:extLst>
                <a:ext uri="{FF2B5EF4-FFF2-40B4-BE49-F238E27FC236}">
                  <a16:creationId xmlns:a16="http://schemas.microsoft.com/office/drawing/2014/main" id="{5104A65E-51BB-3A04-D273-5D18F3CEC8CF}"/>
                </a:ext>
              </a:extLst>
            </p:cNvPr>
            <p:cNvSpPr txBox="1"/>
            <p:nvPr/>
          </p:nvSpPr>
          <p:spPr>
            <a:xfrm>
              <a:off x="991402" y="1526961"/>
              <a:ext cx="1020278" cy="1015663"/>
            </a:xfrm>
            <a:prstGeom prst="rect">
              <a:avLst/>
            </a:prstGeom>
            <a:noFill/>
            <a:ln>
              <a:noFill/>
            </a:ln>
          </p:spPr>
          <p:txBody>
            <a:bodyPr wrap="square" rtlCol="0">
              <a:spAutoFit/>
            </a:bodyPr>
            <a:lstStyle/>
            <a:p>
              <a:r>
                <a:rPr lang="es-ES" sz="6000" b="1" dirty="0">
                  <a:solidFill>
                    <a:schemeClr val="bg1"/>
                  </a:solidFill>
                  <a:latin typeface="Helvetica" pitchFamily="2" charset="0"/>
                </a:rPr>
                <a:t>2</a:t>
              </a:r>
              <a:endParaRPr lang="en-US" sz="6000" b="1" dirty="0">
                <a:solidFill>
                  <a:schemeClr val="bg1"/>
                </a:solidFill>
                <a:latin typeface="Helvetica" pitchFamily="2" charset="0"/>
              </a:endParaRPr>
            </a:p>
          </p:txBody>
        </p:sp>
        <p:sp>
          <p:nvSpPr>
            <p:cNvPr id="15" name="Rectangle 14">
              <a:extLst>
                <a:ext uri="{FF2B5EF4-FFF2-40B4-BE49-F238E27FC236}">
                  <a16:creationId xmlns:a16="http://schemas.microsoft.com/office/drawing/2014/main" id="{689645D3-3A66-66D5-8170-A709DB05BCD1}"/>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AE16E32-A371-7CA9-FC10-A1CD2AA82C80}"/>
              </a:ext>
            </a:extLst>
          </p:cNvPr>
          <p:cNvSpPr>
            <a:spLocks noGrp="1"/>
          </p:cNvSpPr>
          <p:nvPr>
            <p:ph type="title"/>
          </p:nvPr>
        </p:nvSpPr>
        <p:spPr/>
        <p:txBody>
          <a:bodyPr/>
          <a:lstStyle/>
          <a:p>
            <a:r>
              <a:rPr lang="es-ES" dirty="0"/>
              <a:t>Ejemplo</a:t>
            </a:r>
            <a:endParaRPr lang="en-US" dirty="0"/>
          </a:p>
        </p:txBody>
      </p:sp>
      <p:sp>
        <p:nvSpPr>
          <p:cNvPr id="3" name="Slide Number Placeholder 2">
            <a:extLst>
              <a:ext uri="{FF2B5EF4-FFF2-40B4-BE49-F238E27FC236}">
                <a16:creationId xmlns:a16="http://schemas.microsoft.com/office/drawing/2014/main" id="{A60F509D-479B-DC1E-F942-24FF5764D7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17</a:t>
            </a:fld>
            <a:endParaRPr lang="es-PE" dirty="0"/>
          </a:p>
        </p:txBody>
      </p:sp>
      <p:sp>
        <p:nvSpPr>
          <p:cNvPr id="4" name="Content Placeholder 3">
            <a:extLst>
              <a:ext uri="{FF2B5EF4-FFF2-40B4-BE49-F238E27FC236}">
                <a16:creationId xmlns:a16="http://schemas.microsoft.com/office/drawing/2014/main" id="{CF31D7AC-91EE-2C3C-CECE-0EE6F7E6214C}"/>
              </a:ext>
            </a:extLst>
          </p:cNvPr>
          <p:cNvSpPr>
            <a:spLocks noGrp="1"/>
          </p:cNvSpPr>
          <p:nvPr>
            <p:ph sz="quarter" idx="13"/>
          </p:nvPr>
        </p:nvSpPr>
        <p:spPr/>
        <p:txBody>
          <a:bodyPr/>
          <a:lstStyle/>
          <a:p>
            <a:pPr marL="50800" indent="0">
              <a:buNone/>
            </a:pPr>
            <a:r>
              <a:rPr lang="es-ES" dirty="0"/>
              <a:t>Escribir un programa en Java para crear una Calculadora de Áreas. Esta calculadora debe preguntar al usuario por la figura geométrica (cuadrado, rectángulo, triángulo o círculo) y una vez seleccionada ésta, deberá solicitar los datos pertinentes para el cálculo del </a:t>
            </a:r>
            <a:r>
              <a:rPr lang="es-ES"/>
              <a:t>área respectiva.</a:t>
            </a:r>
            <a:endParaRPr lang="en-US"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532D96F0-D73C-AF0C-367C-5161F13555AB}"/>
                  </a:ext>
                </a:extLst>
              </p:cNvPr>
              <p:cNvSpPr/>
              <p:nvPr/>
            </p:nvSpPr>
            <p:spPr>
              <a:xfrm>
                <a:off x="2573129" y="4790933"/>
                <a:ext cx="1140736" cy="1140736"/>
              </a:xfrm>
              <a:prstGeom prst="rect">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s-ES" sz="1800" b="0" i="1" smtClean="0">
                          <a:effectLst>
                            <a:outerShdw blurRad="38100" dist="38100" dir="2700000" algn="tl">
                              <a:srgbClr val="000000">
                                <a:alpha val="43137"/>
                              </a:srgbClr>
                            </a:outerShdw>
                          </a:effectLst>
                          <a:latin typeface="Cambria Math" panose="02040503050406030204" pitchFamily="18" charset="0"/>
                        </a:rPr>
                        <m:t>𝑙</m:t>
                      </m:r>
                      <m:r>
                        <a:rPr lang="es-ES" sz="1800" b="0" i="1" smtClean="0">
                          <a:effectLst>
                            <a:outerShdw blurRad="38100" dist="38100" dir="2700000" algn="tl">
                              <a:srgbClr val="000000">
                                <a:alpha val="43137"/>
                              </a:srgbClr>
                            </a:outerShdw>
                          </a:effectLst>
                          <a:latin typeface="Cambria Math" panose="02040503050406030204" pitchFamily="18" charset="0"/>
                        </a:rPr>
                        <m:t> </m:t>
                      </m:r>
                      <m:r>
                        <a:rPr lang="es-ES" sz="1800" b="0" i="1" smtClean="0">
                          <a:effectLst>
                            <a:outerShdw blurRad="38100" dist="38100" dir="2700000" algn="tl">
                              <a:srgbClr val="000000">
                                <a:alpha val="43137"/>
                              </a:srgbClr>
                            </a:outerShdw>
                          </a:effectLst>
                          <a:latin typeface="Cambria Math" panose="02040503050406030204" pitchFamily="18" charset="0"/>
                        </a:rPr>
                        <m:t>𝑥</m:t>
                      </m:r>
                      <m:r>
                        <a:rPr lang="es-ES" sz="1800" b="0" i="1" smtClean="0">
                          <a:effectLst>
                            <a:outerShdw blurRad="38100" dist="38100" dir="2700000" algn="tl">
                              <a:srgbClr val="000000">
                                <a:alpha val="43137"/>
                              </a:srgbClr>
                            </a:outerShdw>
                          </a:effectLst>
                          <a:latin typeface="Cambria Math" panose="02040503050406030204" pitchFamily="18" charset="0"/>
                        </a:rPr>
                        <m:t> </m:t>
                      </m:r>
                      <m:r>
                        <a:rPr lang="es-ES" sz="1800" b="0" i="1" smtClean="0">
                          <a:effectLst>
                            <a:outerShdw blurRad="38100" dist="38100" dir="2700000" algn="tl">
                              <a:srgbClr val="000000">
                                <a:alpha val="43137"/>
                              </a:srgbClr>
                            </a:outerShdw>
                          </a:effectLst>
                          <a:latin typeface="Cambria Math" panose="02040503050406030204" pitchFamily="18" charset="0"/>
                        </a:rPr>
                        <m:t>𝑙</m:t>
                      </m:r>
                    </m:oMath>
                  </m:oMathPara>
                </a14:m>
                <a:endParaRPr lang="en-US" sz="1800" dirty="0">
                  <a:effectLst>
                    <a:outerShdw blurRad="38100" dist="38100" dir="2700000" algn="tl">
                      <a:srgbClr val="000000">
                        <a:alpha val="43137"/>
                      </a:srgbClr>
                    </a:outerShdw>
                  </a:effectLst>
                </a:endParaRPr>
              </a:p>
            </p:txBody>
          </p:sp>
        </mc:Choice>
        <mc:Fallback xmlns="">
          <p:sp>
            <p:nvSpPr>
              <p:cNvPr id="5" name="Rectangle 4">
                <a:extLst>
                  <a:ext uri="{FF2B5EF4-FFF2-40B4-BE49-F238E27FC236}">
                    <a16:creationId xmlns:a16="http://schemas.microsoft.com/office/drawing/2014/main" id="{532D96F0-D73C-AF0C-367C-5161F13555AB}"/>
                  </a:ext>
                </a:extLst>
              </p:cNvPr>
              <p:cNvSpPr>
                <a:spLocks noRot="1" noChangeAspect="1" noMove="1" noResize="1" noEditPoints="1" noAdjustHandles="1" noChangeArrowheads="1" noChangeShapeType="1" noTextEdit="1"/>
              </p:cNvSpPr>
              <p:nvPr/>
            </p:nvSpPr>
            <p:spPr>
              <a:xfrm>
                <a:off x="2573129" y="4790933"/>
                <a:ext cx="1140736" cy="1140736"/>
              </a:xfrm>
              <a:prstGeom prst="rect">
                <a:avLst/>
              </a:prstGeom>
              <a:blipFill>
                <a:blip r:embed="rId3"/>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8CEAEFCA-FE03-0337-A3F8-6992AFD5E4CC}"/>
                  </a:ext>
                </a:extLst>
              </p:cNvPr>
              <p:cNvSpPr/>
              <p:nvPr/>
            </p:nvSpPr>
            <p:spPr>
              <a:xfrm>
                <a:off x="5494489" y="4790933"/>
                <a:ext cx="2769734" cy="1140736"/>
              </a:xfrm>
              <a:prstGeom prst="rect">
                <a:avLst/>
              </a:prstGeom>
              <a:solidFill>
                <a:srgbClr val="CC00CC"/>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s-ES" sz="1800" b="0" i="1" smtClean="0">
                          <a:effectLst>
                            <a:outerShdw blurRad="38100" dist="38100" dir="2700000" algn="tl">
                              <a:srgbClr val="000000">
                                <a:alpha val="43137"/>
                              </a:srgbClr>
                            </a:outerShdw>
                          </a:effectLst>
                          <a:latin typeface="Cambria Math" panose="02040503050406030204" pitchFamily="18" charset="0"/>
                        </a:rPr>
                        <m:t>𝑏</m:t>
                      </m:r>
                      <m:r>
                        <a:rPr lang="es-ES" sz="1800" b="0" i="1" smtClean="0">
                          <a:effectLst>
                            <a:outerShdw blurRad="38100" dist="38100" dir="2700000" algn="tl">
                              <a:srgbClr val="000000">
                                <a:alpha val="43137"/>
                              </a:srgbClr>
                            </a:outerShdw>
                          </a:effectLst>
                          <a:latin typeface="Cambria Math" panose="02040503050406030204" pitchFamily="18" charset="0"/>
                        </a:rPr>
                        <m:t> </m:t>
                      </m:r>
                      <m:r>
                        <a:rPr lang="es-ES" sz="1800" b="0" i="1" smtClean="0">
                          <a:effectLst>
                            <a:outerShdw blurRad="38100" dist="38100" dir="2700000" algn="tl">
                              <a:srgbClr val="000000">
                                <a:alpha val="43137"/>
                              </a:srgbClr>
                            </a:outerShdw>
                          </a:effectLst>
                          <a:latin typeface="Cambria Math" panose="02040503050406030204" pitchFamily="18" charset="0"/>
                        </a:rPr>
                        <m:t>𝑥</m:t>
                      </m:r>
                      <m:r>
                        <a:rPr lang="es-ES" sz="1800" b="0" i="1" smtClean="0">
                          <a:effectLst>
                            <a:outerShdw blurRad="38100" dist="38100" dir="2700000" algn="tl">
                              <a:srgbClr val="000000">
                                <a:alpha val="43137"/>
                              </a:srgbClr>
                            </a:outerShdw>
                          </a:effectLst>
                          <a:latin typeface="Cambria Math" panose="02040503050406030204" pitchFamily="18" charset="0"/>
                        </a:rPr>
                        <m:t> </m:t>
                      </m:r>
                      <m:r>
                        <a:rPr lang="es-ES" sz="1800" b="0" i="1" smtClean="0">
                          <a:effectLst>
                            <a:outerShdw blurRad="38100" dist="38100" dir="2700000" algn="tl">
                              <a:srgbClr val="000000">
                                <a:alpha val="43137"/>
                              </a:srgbClr>
                            </a:outerShdw>
                          </a:effectLst>
                          <a:latin typeface="Cambria Math" panose="02040503050406030204" pitchFamily="18" charset="0"/>
                        </a:rPr>
                        <m:t>h</m:t>
                      </m:r>
                    </m:oMath>
                  </m:oMathPara>
                </a14:m>
                <a:endParaRPr lang="en-US" sz="1800" dirty="0">
                  <a:effectLst>
                    <a:outerShdw blurRad="38100" dist="38100" dir="2700000" algn="tl">
                      <a:srgbClr val="000000">
                        <a:alpha val="43137"/>
                      </a:srgbClr>
                    </a:outerShdw>
                  </a:effectLst>
                </a:endParaRPr>
              </a:p>
            </p:txBody>
          </p:sp>
        </mc:Choice>
        <mc:Fallback xmlns="">
          <p:sp>
            <p:nvSpPr>
              <p:cNvPr id="6" name="Rectangle 5">
                <a:extLst>
                  <a:ext uri="{FF2B5EF4-FFF2-40B4-BE49-F238E27FC236}">
                    <a16:creationId xmlns:a16="http://schemas.microsoft.com/office/drawing/2014/main" id="{8CEAEFCA-FE03-0337-A3F8-6992AFD5E4CC}"/>
                  </a:ext>
                </a:extLst>
              </p:cNvPr>
              <p:cNvSpPr>
                <a:spLocks noRot="1" noChangeAspect="1" noMove="1" noResize="1" noEditPoints="1" noAdjustHandles="1" noChangeArrowheads="1" noChangeShapeType="1" noTextEdit="1"/>
              </p:cNvSpPr>
              <p:nvPr/>
            </p:nvSpPr>
            <p:spPr>
              <a:xfrm>
                <a:off x="5494489" y="4790933"/>
                <a:ext cx="2769734" cy="1140736"/>
              </a:xfrm>
              <a:prstGeom prst="rect">
                <a:avLst/>
              </a:prstGeom>
              <a:blipFill>
                <a:blip r:embed="rId4"/>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Isosceles Triangle 6">
                <a:extLst>
                  <a:ext uri="{FF2B5EF4-FFF2-40B4-BE49-F238E27FC236}">
                    <a16:creationId xmlns:a16="http://schemas.microsoft.com/office/drawing/2014/main" id="{FDC3EC5D-FDC9-5ED7-48F9-D0D33AF411B1}"/>
                  </a:ext>
                </a:extLst>
              </p:cNvPr>
              <p:cNvSpPr/>
              <p:nvPr/>
            </p:nvSpPr>
            <p:spPr>
              <a:xfrm>
                <a:off x="3942550" y="4790933"/>
                <a:ext cx="1323254" cy="1140736"/>
              </a:xfrm>
              <a:prstGeom prst="triangle">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rtlCol="0" anchor="t" anchorCtr="0"/>
              <a:lstStyle/>
              <a:p>
                <a:pPr algn="ctr"/>
                <a14:m>
                  <m:oMathPara xmlns:m="http://schemas.openxmlformats.org/officeDocument/2006/math">
                    <m:oMathParaPr>
                      <m:jc m:val="centerGroup"/>
                    </m:oMathParaPr>
                    <m:oMath xmlns:m="http://schemas.openxmlformats.org/officeDocument/2006/math">
                      <m:f>
                        <m:fPr>
                          <m:ctrlPr>
                            <a:rPr lang="en-US" sz="1800" i="1" smtClean="0">
                              <a:effectLst>
                                <a:outerShdw blurRad="38100" dist="38100" dir="2700000" algn="tl">
                                  <a:srgbClr val="000000">
                                    <a:alpha val="43137"/>
                                  </a:srgbClr>
                                </a:outerShdw>
                              </a:effectLst>
                              <a:latin typeface="Cambria Math" panose="02040503050406030204" pitchFamily="18" charset="0"/>
                            </a:rPr>
                          </m:ctrlPr>
                        </m:fPr>
                        <m:num>
                          <m:r>
                            <a:rPr lang="es-ES" sz="1800" b="0" i="1" smtClean="0">
                              <a:effectLst>
                                <a:outerShdw blurRad="38100" dist="38100" dir="2700000" algn="tl">
                                  <a:srgbClr val="000000">
                                    <a:alpha val="43137"/>
                                  </a:srgbClr>
                                </a:outerShdw>
                              </a:effectLst>
                              <a:latin typeface="Cambria Math" panose="02040503050406030204" pitchFamily="18" charset="0"/>
                            </a:rPr>
                            <m:t>𝑏</m:t>
                          </m:r>
                          <m:r>
                            <a:rPr lang="es-ES" sz="1800" b="0" i="1" smtClean="0">
                              <a:effectLst>
                                <a:outerShdw blurRad="38100" dist="38100" dir="2700000" algn="tl">
                                  <a:srgbClr val="000000">
                                    <a:alpha val="43137"/>
                                  </a:srgbClr>
                                </a:outerShdw>
                              </a:effectLst>
                              <a:latin typeface="Cambria Math" panose="02040503050406030204" pitchFamily="18" charset="0"/>
                            </a:rPr>
                            <m:t> </m:t>
                          </m:r>
                          <m:r>
                            <a:rPr lang="es-ES" sz="1800" b="0" i="1" smtClean="0">
                              <a:effectLst>
                                <a:outerShdw blurRad="38100" dist="38100" dir="2700000" algn="tl">
                                  <a:srgbClr val="000000">
                                    <a:alpha val="43137"/>
                                  </a:srgbClr>
                                </a:outerShdw>
                              </a:effectLst>
                              <a:latin typeface="Cambria Math" panose="02040503050406030204" pitchFamily="18" charset="0"/>
                            </a:rPr>
                            <m:t>𝑥</m:t>
                          </m:r>
                          <m:r>
                            <a:rPr lang="es-ES" sz="1800" b="0" i="1" smtClean="0">
                              <a:effectLst>
                                <a:outerShdw blurRad="38100" dist="38100" dir="2700000" algn="tl">
                                  <a:srgbClr val="000000">
                                    <a:alpha val="43137"/>
                                  </a:srgbClr>
                                </a:outerShdw>
                              </a:effectLst>
                              <a:latin typeface="Cambria Math" panose="02040503050406030204" pitchFamily="18" charset="0"/>
                            </a:rPr>
                            <m:t> </m:t>
                          </m:r>
                          <m:r>
                            <a:rPr lang="es-ES" sz="1800" b="0" i="1" smtClean="0">
                              <a:effectLst>
                                <a:outerShdw blurRad="38100" dist="38100" dir="2700000" algn="tl">
                                  <a:srgbClr val="000000">
                                    <a:alpha val="43137"/>
                                  </a:srgbClr>
                                </a:outerShdw>
                              </a:effectLst>
                              <a:latin typeface="Cambria Math" panose="02040503050406030204" pitchFamily="18" charset="0"/>
                            </a:rPr>
                            <m:t>h</m:t>
                          </m:r>
                        </m:num>
                        <m:den>
                          <m:r>
                            <a:rPr lang="es-ES" sz="1800" b="0" i="1" smtClean="0">
                              <a:effectLst>
                                <a:outerShdw blurRad="38100" dist="38100" dir="2700000" algn="tl">
                                  <a:srgbClr val="000000">
                                    <a:alpha val="43137"/>
                                  </a:srgbClr>
                                </a:outerShdw>
                              </a:effectLst>
                              <a:latin typeface="Cambria Math" panose="02040503050406030204" pitchFamily="18" charset="0"/>
                            </a:rPr>
                            <m:t>2</m:t>
                          </m:r>
                        </m:den>
                      </m:f>
                    </m:oMath>
                  </m:oMathPara>
                </a14:m>
                <a:endParaRPr lang="en-US" sz="1800" dirty="0">
                  <a:effectLst>
                    <a:outerShdw blurRad="38100" dist="38100" dir="2700000" algn="tl">
                      <a:srgbClr val="000000">
                        <a:alpha val="43137"/>
                      </a:srgbClr>
                    </a:outerShdw>
                  </a:effectLst>
                </a:endParaRPr>
              </a:p>
            </p:txBody>
          </p:sp>
        </mc:Choice>
        <mc:Fallback xmlns="">
          <p:sp>
            <p:nvSpPr>
              <p:cNvPr id="7" name="Isosceles Triangle 6">
                <a:extLst>
                  <a:ext uri="{FF2B5EF4-FFF2-40B4-BE49-F238E27FC236}">
                    <a16:creationId xmlns:a16="http://schemas.microsoft.com/office/drawing/2014/main" id="{FDC3EC5D-FDC9-5ED7-48F9-D0D33AF411B1}"/>
                  </a:ext>
                </a:extLst>
              </p:cNvPr>
              <p:cNvSpPr>
                <a:spLocks noRot="1" noChangeAspect="1" noMove="1" noResize="1" noEditPoints="1" noAdjustHandles="1" noChangeArrowheads="1" noChangeShapeType="1" noTextEdit="1"/>
              </p:cNvSpPr>
              <p:nvPr/>
            </p:nvSpPr>
            <p:spPr>
              <a:xfrm>
                <a:off x="3942550" y="4790933"/>
                <a:ext cx="1323254" cy="1140736"/>
              </a:xfrm>
              <a:prstGeom prst="triangle">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FCCA2F42-3644-F3D9-C5AC-56E248C68EFF}"/>
                  </a:ext>
                </a:extLst>
              </p:cNvPr>
              <p:cNvSpPr/>
              <p:nvPr/>
            </p:nvSpPr>
            <p:spPr>
              <a:xfrm>
                <a:off x="8492907" y="4781974"/>
                <a:ext cx="1140736" cy="1140736"/>
              </a:xfrm>
              <a:prstGeom prst="ellipse">
                <a:avLst/>
              </a:prstGeom>
              <a:solidFill>
                <a:schemeClr val="accent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80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𝜋</m:t>
                      </m:r>
                      <m:r>
                        <a:rPr lang="es-ES" sz="1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sSup>
                        <m:sSupPr>
                          <m:ctrlPr>
                            <a:rPr lang="es-ES" sz="1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sSupPr>
                        <m:e>
                          <m:r>
                            <a:rPr lang="es-ES" sz="1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𝑟</m:t>
                          </m:r>
                        </m:e>
                        <m:sup>
                          <m:r>
                            <a:rPr lang="es-ES" sz="1800" b="0"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2</m:t>
                          </m:r>
                        </m:sup>
                      </m:sSup>
                    </m:oMath>
                  </m:oMathPara>
                </a14:m>
                <a:endParaRPr lang="en-US" sz="1800" dirty="0">
                  <a:effectLst>
                    <a:outerShdw blurRad="38100" dist="38100" dir="2700000" algn="tl">
                      <a:srgbClr val="000000">
                        <a:alpha val="43137"/>
                      </a:srgbClr>
                    </a:outerShdw>
                  </a:effectLst>
                </a:endParaRPr>
              </a:p>
            </p:txBody>
          </p:sp>
        </mc:Choice>
        <mc:Fallback xmlns="">
          <p:sp>
            <p:nvSpPr>
              <p:cNvPr id="8" name="Oval 7">
                <a:extLst>
                  <a:ext uri="{FF2B5EF4-FFF2-40B4-BE49-F238E27FC236}">
                    <a16:creationId xmlns:a16="http://schemas.microsoft.com/office/drawing/2014/main" id="{FCCA2F42-3644-F3D9-C5AC-56E248C68EFF}"/>
                  </a:ext>
                </a:extLst>
              </p:cNvPr>
              <p:cNvSpPr>
                <a:spLocks noRot="1" noChangeAspect="1" noMove="1" noResize="1" noEditPoints="1" noAdjustHandles="1" noChangeArrowheads="1" noChangeShapeType="1" noTextEdit="1"/>
              </p:cNvSpPr>
              <p:nvPr/>
            </p:nvSpPr>
            <p:spPr>
              <a:xfrm>
                <a:off x="8492907" y="4781974"/>
                <a:ext cx="1140736" cy="1140736"/>
              </a:xfrm>
              <a:prstGeom prst="ellipse">
                <a:avLst/>
              </a:prstGeom>
              <a:blipFill>
                <a:blip r:embed="rId6"/>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sp>
        <p:nvSpPr>
          <p:cNvPr id="16" name="TextBox 15">
            <a:extLst>
              <a:ext uri="{FF2B5EF4-FFF2-40B4-BE49-F238E27FC236}">
                <a16:creationId xmlns:a16="http://schemas.microsoft.com/office/drawing/2014/main" id="{6064E0F0-F12A-0887-9CC4-2063DFBFA85F}"/>
              </a:ext>
            </a:extLst>
          </p:cNvPr>
          <p:cNvSpPr txBox="1"/>
          <p:nvPr/>
        </p:nvSpPr>
        <p:spPr>
          <a:xfrm>
            <a:off x="71789" y="6490643"/>
            <a:ext cx="6096000" cy="2308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 https://i.pinimg.com/originals/26/5b/07/265b073c59a54b17205bfd20f9dfb237.png</a:t>
            </a:r>
          </a:p>
        </p:txBody>
      </p:sp>
    </p:spTree>
    <p:extLst>
      <p:ext uri="{BB962C8B-B14F-4D97-AF65-F5344CB8AC3E}">
        <p14:creationId xmlns:p14="http://schemas.microsoft.com/office/powerpoint/2010/main" val="1738014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87D54BE-78E0-D4C0-3357-A5F1DB22E3E1}"/>
              </a:ext>
            </a:extLst>
          </p:cNvPr>
          <p:cNvGrpSpPr/>
          <p:nvPr/>
        </p:nvGrpSpPr>
        <p:grpSpPr>
          <a:xfrm>
            <a:off x="846912" y="-39920"/>
            <a:ext cx="4629752" cy="1015663"/>
            <a:chOff x="924025" y="1526961"/>
            <a:chExt cx="4629752" cy="1015663"/>
          </a:xfrm>
        </p:grpSpPr>
        <p:sp>
          <p:nvSpPr>
            <p:cNvPr id="13" name="Rectangle 12">
              <a:extLst>
                <a:ext uri="{FF2B5EF4-FFF2-40B4-BE49-F238E27FC236}">
                  <a16:creationId xmlns:a16="http://schemas.microsoft.com/office/drawing/2014/main" id="{5C34CD9C-7BB7-9291-B47B-E00AD67ABF9F}"/>
                </a:ext>
              </a:extLst>
            </p:cNvPr>
            <p:cNvSpPr/>
            <p:nvPr/>
          </p:nvSpPr>
          <p:spPr>
            <a:xfrm>
              <a:off x="924025" y="1559294"/>
              <a:ext cx="4629752" cy="731520"/>
            </a:xfrm>
            <a:prstGeom prst="rect">
              <a:avLst/>
            </a:prstGeom>
            <a:solidFill>
              <a:srgbClr val="0E7D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EBE9F08-45CB-984B-33A8-13DC0C0F786C}"/>
                </a:ext>
              </a:extLst>
            </p:cNvPr>
            <p:cNvSpPr txBox="1"/>
            <p:nvPr/>
          </p:nvSpPr>
          <p:spPr>
            <a:xfrm>
              <a:off x="1501541" y="1663444"/>
              <a:ext cx="2515402" cy="523220"/>
            </a:xfrm>
            <a:prstGeom prst="rect">
              <a:avLst/>
            </a:prstGeom>
            <a:noFill/>
            <a:ln>
              <a:noFill/>
            </a:ln>
          </p:spPr>
          <p:txBody>
            <a:bodyPr wrap="square" rtlCol="0">
              <a:spAutoFit/>
            </a:bodyPr>
            <a:lstStyle/>
            <a:p>
              <a:r>
                <a:rPr lang="es-ES" dirty="0">
                  <a:solidFill>
                    <a:schemeClr val="bg1"/>
                  </a:solidFill>
                  <a:latin typeface="Helvetica" pitchFamily="2" charset="0"/>
                </a:rPr>
                <a:t>Ejercicios con </a:t>
              </a:r>
              <a:br>
                <a:rPr lang="es-ES" dirty="0">
                  <a:solidFill>
                    <a:schemeClr val="bg1"/>
                  </a:solidFill>
                  <a:latin typeface="Helvetica" pitchFamily="2" charset="0"/>
                </a:rPr>
              </a:br>
              <a:r>
                <a:rPr lang="es-ES" dirty="0">
                  <a:solidFill>
                    <a:schemeClr val="bg1"/>
                  </a:solidFill>
                  <a:latin typeface="Helvetica" pitchFamily="2" charset="0"/>
                </a:rPr>
                <a:t>estructura </a:t>
              </a:r>
              <a:r>
                <a:rPr lang="es-ES" dirty="0" err="1">
                  <a:solidFill>
                    <a:schemeClr val="bg1"/>
                  </a:solidFill>
                  <a:latin typeface="Helvetica" pitchFamily="2" charset="0"/>
                </a:rPr>
                <a:t>if</a:t>
              </a:r>
              <a:r>
                <a:rPr lang="es-ES" dirty="0">
                  <a:solidFill>
                    <a:schemeClr val="bg1"/>
                  </a:solidFill>
                  <a:latin typeface="Helvetica" pitchFamily="2" charset="0"/>
                </a:rPr>
                <a:t>..</a:t>
              </a:r>
              <a:r>
                <a:rPr lang="es-ES" dirty="0" err="1">
                  <a:solidFill>
                    <a:schemeClr val="bg1"/>
                  </a:solidFill>
                  <a:latin typeface="Helvetica" pitchFamily="2" charset="0"/>
                </a:rPr>
                <a:t>else</a:t>
              </a:r>
              <a:endParaRPr lang="en-US" dirty="0">
                <a:solidFill>
                  <a:schemeClr val="bg1"/>
                </a:solidFill>
                <a:latin typeface="Helvetica" pitchFamily="2" charset="0"/>
              </a:endParaRPr>
            </a:p>
          </p:txBody>
        </p:sp>
        <p:sp>
          <p:nvSpPr>
            <p:cNvPr id="16" name="TextBox 15">
              <a:extLst>
                <a:ext uri="{FF2B5EF4-FFF2-40B4-BE49-F238E27FC236}">
                  <a16:creationId xmlns:a16="http://schemas.microsoft.com/office/drawing/2014/main" id="{4E052F39-F1C6-717C-19DA-EABE88C85454}"/>
                </a:ext>
              </a:extLst>
            </p:cNvPr>
            <p:cNvSpPr txBox="1"/>
            <p:nvPr/>
          </p:nvSpPr>
          <p:spPr>
            <a:xfrm>
              <a:off x="991402" y="1526961"/>
              <a:ext cx="1020278" cy="1015663"/>
            </a:xfrm>
            <a:prstGeom prst="rect">
              <a:avLst/>
            </a:prstGeom>
            <a:noFill/>
            <a:ln>
              <a:noFill/>
            </a:ln>
          </p:spPr>
          <p:txBody>
            <a:bodyPr wrap="square" rtlCol="0">
              <a:spAutoFit/>
            </a:bodyPr>
            <a:lstStyle/>
            <a:p>
              <a:r>
                <a:rPr lang="es-ES" sz="6000" b="1" dirty="0">
                  <a:solidFill>
                    <a:schemeClr val="bg1"/>
                  </a:solidFill>
                  <a:latin typeface="Helvetica" pitchFamily="2" charset="0"/>
                </a:rPr>
                <a:t>2</a:t>
              </a:r>
              <a:endParaRPr lang="en-US" sz="6000" b="1" dirty="0">
                <a:solidFill>
                  <a:schemeClr val="bg1"/>
                </a:solidFill>
                <a:latin typeface="Helvetica" pitchFamily="2" charset="0"/>
              </a:endParaRPr>
            </a:p>
          </p:txBody>
        </p:sp>
        <p:sp>
          <p:nvSpPr>
            <p:cNvPr id="17" name="Rectangle 16">
              <a:extLst>
                <a:ext uri="{FF2B5EF4-FFF2-40B4-BE49-F238E27FC236}">
                  <a16:creationId xmlns:a16="http://schemas.microsoft.com/office/drawing/2014/main" id="{162562B7-2D53-7ED3-70F9-44ADA2D0B4AB}"/>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Picture 11">
            <a:extLst>
              <a:ext uri="{FF2B5EF4-FFF2-40B4-BE49-F238E27FC236}">
                <a16:creationId xmlns:a16="http://schemas.microsoft.com/office/drawing/2014/main" id="{62521CBE-1BB2-3AD5-AC79-F255CF1BC0EF}"/>
              </a:ext>
            </a:extLst>
          </p:cNvPr>
          <p:cNvPicPr>
            <a:picLocks noChangeAspect="1"/>
          </p:cNvPicPr>
          <p:nvPr/>
        </p:nvPicPr>
        <p:blipFill rotWithShape="1">
          <a:blip r:embed="rId2"/>
          <a:srcRect l="17554" r="27449"/>
          <a:stretch/>
        </p:blipFill>
        <p:spPr>
          <a:xfrm>
            <a:off x="6157345" y="-7588"/>
            <a:ext cx="6034655" cy="6858000"/>
          </a:xfrm>
          <a:prstGeom prst="rect">
            <a:avLst/>
          </a:prstGeom>
          <a:effectLst>
            <a:outerShdw blurRad="50800" dist="38100" dir="10800000" algn="r" rotWithShape="0">
              <a:prstClr val="black">
                <a:alpha val="40000"/>
              </a:prstClr>
            </a:outerShdw>
          </a:effectLst>
        </p:spPr>
      </p:pic>
      <p:sp>
        <p:nvSpPr>
          <p:cNvPr id="2" name="Title 1">
            <a:extLst>
              <a:ext uri="{FF2B5EF4-FFF2-40B4-BE49-F238E27FC236}">
                <a16:creationId xmlns:a16="http://schemas.microsoft.com/office/drawing/2014/main" id="{7AE16E32-A371-7CA9-FC10-A1CD2AA82C80}"/>
              </a:ext>
            </a:extLst>
          </p:cNvPr>
          <p:cNvSpPr>
            <a:spLocks noGrp="1"/>
          </p:cNvSpPr>
          <p:nvPr>
            <p:ph type="title"/>
          </p:nvPr>
        </p:nvSpPr>
        <p:spPr/>
        <p:txBody>
          <a:bodyPr/>
          <a:lstStyle/>
          <a:p>
            <a:r>
              <a:rPr lang="es-ES" dirty="0"/>
              <a:t>Solución</a:t>
            </a:r>
            <a:endParaRPr lang="en-US" dirty="0"/>
          </a:p>
        </p:txBody>
      </p:sp>
      <p:sp>
        <p:nvSpPr>
          <p:cNvPr id="3" name="Slide Number Placeholder 2">
            <a:extLst>
              <a:ext uri="{FF2B5EF4-FFF2-40B4-BE49-F238E27FC236}">
                <a16:creationId xmlns:a16="http://schemas.microsoft.com/office/drawing/2014/main" id="{A60F509D-479B-DC1E-F942-24FF5764D7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18</a:t>
            </a:fld>
            <a:endParaRPr lang="es-PE"/>
          </a:p>
        </p:txBody>
      </p:sp>
      <p:sp>
        <p:nvSpPr>
          <p:cNvPr id="4" name="Content Placeholder 3">
            <a:extLst>
              <a:ext uri="{FF2B5EF4-FFF2-40B4-BE49-F238E27FC236}">
                <a16:creationId xmlns:a16="http://schemas.microsoft.com/office/drawing/2014/main" id="{8CAE454A-51E6-879B-B5B6-1882249BE694}"/>
              </a:ext>
            </a:extLst>
          </p:cNvPr>
          <p:cNvSpPr>
            <a:spLocks noGrp="1"/>
          </p:cNvSpPr>
          <p:nvPr>
            <p:ph sz="quarter" idx="13"/>
          </p:nvPr>
        </p:nvSpPr>
        <p:spPr/>
        <p:txBody>
          <a:bodyPr/>
          <a:lstStyle/>
          <a:p>
            <a:pPr marL="50800" indent="0">
              <a:buNone/>
            </a:pPr>
            <a:r>
              <a:rPr lang="es-ES" dirty="0"/>
              <a:t>Solución en el archivo :</a:t>
            </a:r>
          </a:p>
          <a:p>
            <a:pPr marL="50800" indent="0">
              <a:buNone/>
            </a:pPr>
            <a:endParaRPr lang="es-ES" b="1" dirty="0"/>
          </a:p>
          <a:p>
            <a:pPr marL="50800" indent="0">
              <a:buNone/>
            </a:pPr>
            <a:endParaRPr lang="es-ES" b="1" dirty="0"/>
          </a:p>
          <a:p>
            <a:pPr marL="50800" indent="0">
              <a:buNone/>
            </a:pPr>
            <a:endParaRPr lang="es-ES" b="1" dirty="0"/>
          </a:p>
          <a:p>
            <a:pPr marL="50800" indent="0">
              <a:buNone/>
            </a:pPr>
            <a:endParaRPr lang="es-ES" b="1" dirty="0"/>
          </a:p>
          <a:p>
            <a:pPr marL="50800" indent="0">
              <a:buNone/>
            </a:pPr>
            <a:endParaRPr lang="es-ES" b="1" dirty="0"/>
          </a:p>
          <a:p>
            <a:pPr marL="50800" indent="0">
              <a:buNone/>
            </a:pPr>
            <a:r>
              <a:rPr lang="es-ES" b="1" dirty="0"/>
              <a:t>CalculadoraAreas.java</a:t>
            </a:r>
            <a:endParaRPr lang="en-US" b="1" dirty="0"/>
          </a:p>
        </p:txBody>
      </p:sp>
      <p:pic>
        <p:nvPicPr>
          <p:cNvPr id="10" name="Picture 9">
            <a:extLst>
              <a:ext uri="{FF2B5EF4-FFF2-40B4-BE49-F238E27FC236}">
                <a16:creationId xmlns:a16="http://schemas.microsoft.com/office/drawing/2014/main" id="{B9242075-BB53-4C85-67CB-A587EAC2BCB8}"/>
              </a:ext>
            </a:extLst>
          </p:cNvPr>
          <p:cNvPicPr>
            <a:picLocks noChangeAspect="1"/>
          </p:cNvPicPr>
          <p:nvPr/>
        </p:nvPicPr>
        <p:blipFill>
          <a:blip r:embed="rId3"/>
          <a:stretch>
            <a:fillRect/>
          </a:stretch>
        </p:blipFill>
        <p:spPr>
          <a:xfrm>
            <a:off x="1607556" y="2813844"/>
            <a:ext cx="2438400" cy="2438400"/>
          </a:xfrm>
          <a:prstGeom prst="rect">
            <a:avLst/>
          </a:prstGeom>
          <a:effectLst>
            <a:outerShdw blurRad="76200" dir="18900000" sy="23000" kx="-1200000" algn="bl" rotWithShape="0">
              <a:prstClr val="black">
                <a:alpha val="20000"/>
              </a:prstClr>
            </a:outerShdw>
          </a:effectLst>
        </p:spPr>
      </p:pic>
      <p:sp>
        <p:nvSpPr>
          <p:cNvPr id="14" name="TextBox 13">
            <a:extLst>
              <a:ext uri="{FF2B5EF4-FFF2-40B4-BE49-F238E27FC236}">
                <a16:creationId xmlns:a16="http://schemas.microsoft.com/office/drawing/2014/main" id="{7A4B926E-DF80-3F27-703C-2096D8DA94CF}"/>
              </a:ext>
            </a:extLst>
          </p:cNvPr>
          <p:cNvSpPr txBox="1"/>
          <p:nvPr/>
        </p:nvSpPr>
        <p:spPr>
          <a:xfrm>
            <a:off x="187967" y="6334283"/>
            <a:ext cx="6103854" cy="3693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a:t>
            </a:r>
            <a:br>
              <a:rPr lang="en-US" sz="900" dirty="0">
                <a:solidFill>
                  <a:schemeClr val="bg1">
                    <a:lumMod val="50000"/>
                  </a:schemeClr>
                </a:solidFill>
              </a:rPr>
            </a:br>
            <a:r>
              <a:rPr lang="en-US" sz="900" dirty="0">
                <a:solidFill>
                  <a:schemeClr val="bg1">
                    <a:lumMod val="50000"/>
                  </a:schemeClr>
                </a:solidFill>
              </a:rPr>
              <a:t>https://insights.dice.com/wp-content/uploads/2018/03/Hipster-Developer-Dice.jpg</a:t>
            </a:r>
          </a:p>
        </p:txBody>
      </p:sp>
    </p:spTree>
    <p:extLst>
      <p:ext uri="{BB962C8B-B14F-4D97-AF65-F5344CB8AC3E}">
        <p14:creationId xmlns:p14="http://schemas.microsoft.com/office/powerpoint/2010/main" val="407191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C6B983-D187-5021-011D-340D9A6463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19</a:t>
            </a:fld>
            <a:endParaRPr lang="es-PE"/>
          </a:p>
        </p:txBody>
      </p:sp>
      <p:sp>
        <p:nvSpPr>
          <p:cNvPr id="2" name="TextBox 1">
            <a:extLst>
              <a:ext uri="{FF2B5EF4-FFF2-40B4-BE49-F238E27FC236}">
                <a16:creationId xmlns:a16="http://schemas.microsoft.com/office/drawing/2014/main" id="{6B32F08B-E599-8764-EE5E-B3C48CE274CF}"/>
              </a:ext>
            </a:extLst>
          </p:cNvPr>
          <p:cNvSpPr txBox="1"/>
          <p:nvPr/>
        </p:nvSpPr>
        <p:spPr>
          <a:xfrm rot="16200000">
            <a:off x="-1552306" y="2760043"/>
            <a:ext cx="5599610" cy="1446550"/>
          </a:xfrm>
          <a:prstGeom prst="rect">
            <a:avLst/>
          </a:prstGeom>
          <a:noFill/>
        </p:spPr>
        <p:txBody>
          <a:bodyPr wrap="none" rtlCol="0">
            <a:spAutoFit/>
          </a:bodyPr>
          <a:lstStyle/>
          <a:p>
            <a:r>
              <a:rPr lang="es-ES" sz="8800" b="1" dirty="0">
                <a:solidFill>
                  <a:schemeClr val="bg1">
                    <a:lumMod val="85000"/>
                  </a:schemeClr>
                </a:solidFill>
                <a:latin typeface="Helvetica" pitchFamily="2" charset="0"/>
              </a:rPr>
              <a:t>contenido</a:t>
            </a:r>
            <a:endParaRPr lang="en-US" sz="8800" b="1" dirty="0">
              <a:solidFill>
                <a:schemeClr val="bg1">
                  <a:lumMod val="85000"/>
                </a:schemeClr>
              </a:solidFill>
              <a:latin typeface="Helvetica" pitchFamily="2" charset="0"/>
            </a:endParaRPr>
          </a:p>
        </p:txBody>
      </p:sp>
      <p:grpSp>
        <p:nvGrpSpPr>
          <p:cNvPr id="19" name="Group 18">
            <a:extLst>
              <a:ext uri="{FF2B5EF4-FFF2-40B4-BE49-F238E27FC236}">
                <a16:creationId xmlns:a16="http://schemas.microsoft.com/office/drawing/2014/main" id="{B128E89F-E5A0-B939-5EBB-4F1A37FD8B52}"/>
              </a:ext>
            </a:extLst>
          </p:cNvPr>
          <p:cNvGrpSpPr/>
          <p:nvPr/>
        </p:nvGrpSpPr>
        <p:grpSpPr>
          <a:xfrm>
            <a:off x="1955128" y="3561599"/>
            <a:ext cx="4629752" cy="1015663"/>
            <a:chOff x="924025" y="1526961"/>
            <a:chExt cx="4629752" cy="1015663"/>
          </a:xfrm>
        </p:grpSpPr>
        <p:sp>
          <p:nvSpPr>
            <p:cNvPr id="20" name="Rectangle 19">
              <a:extLst>
                <a:ext uri="{FF2B5EF4-FFF2-40B4-BE49-F238E27FC236}">
                  <a16:creationId xmlns:a16="http://schemas.microsoft.com/office/drawing/2014/main" id="{53DD428E-2B36-BEF9-5D64-F43F2B5FCFAE}"/>
                </a:ext>
              </a:extLst>
            </p:cNvPr>
            <p:cNvSpPr/>
            <p:nvPr/>
          </p:nvSpPr>
          <p:spPr>
            <a:xfrm>
              <a:off x="924025" y="1559294"/>
              <a:ext cx="4629752" cy="731520"/>
            </a:xfrm>
            <a:prstGeom prst="rect">
              <a:avLst/>
            </a:prstGeom>
            <a:solidFill>
              <a:srgbClr val="BA75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E1EBD91-0CD9-10A4-75E7-CB75D7B7D977}"/>
                </a:ext>
              </a:extLst>
            </p:cNvPr>
            <p:cNvSpPr txBox="1"/>
            <p:nvPr/>
          </p:nvSpPr>
          <p:spPr>
            <a:xfrm>
              <a:off x="1501541" y="1663444"/>
              <a:ext cx="2515402" cy="307777"/>
            </a:xfrm>
            <a:prstGeom prst="rect">
              <a:avLst/>
            </a:prstGeom>
            <a:noFill/>
            <a:ln>
              <a:noFill/>
            </a:ln>
          </p:spPr>
          <p:txBody>
            <a:bodyPr wrap="square" rtlCol="0">
              <a:spAutoFit/>
            </a:bodyPr>
            <a:lstStyle/>
            <a:p>
              <a:r>
                <a:rPr lang="es-ES" dirty="0">
                  <a:solidFill>
                    <a:schemeClr val="bg1"/>
                  </a:solidFill>
                  <a:latin typeface="Helvetica" pitchFamily="2" charset="0"/>
                </a:rPr>
                <a:t>Práctica</a:t>
              </a:r>
              <a:endParaRPr lang="en-US" dirty="0">
                <a:solidFill>
                  <a:schemeClr val="bg1"/>
                </a:solidFill>
                <a:latin typeface="Helvetica" pitchFamily="2" charset="0"/>
              </a:endParaRPr>
            </a:p>
          </p:txBody>
        </p:sp>
        <p:sp>
          <p:nvSpPr>
            <p:cNvPr id="22" name="TextBox 21">
              <a:extLst>
                <a:ext uri="{FF2B5EF4-FFF2-40B4-BE49-F238E27FC236}">
                  <a16:creationId xmlns:a16="http://schemas.microsoft.com/office/drawing/2014/main" id="{F1D0630B-0B0F-7C88-7C30-8C1FFFA75754}"/>
                </a:ext>
              </a:extLst>
            </p:cNvPr>
            <p:cNvSpPr txBox="1"/>
            <p:nvPr/>
          </p:nvSpPr>
          <p:spPr>
            <a:xfrm>
              <a:off x="991402" y="1526961"/>
              <a:ext cx="1020278" cy="1015663"/>
            </a:xfrm>
            <a:prstGeom prst="rect">
              <a:avLst/>
            </a:prstGeom>
            <a:noFill/>
            <a:ln>
              <a:noFill/>
            </a:ln>
          </p:spPr>
          <p:txBody>
            <a:bodyPr wrap="square" rtlCol="0">
              <a:spAutoFit/>
            </a:bodyPr>
            <a:lstStyle/>
            <a:p>
              <a:r>
                <a:rPr lang="es-ES" sz="6000" b="1">
                  <a:solidFill>
                    <a:schemeClr val="bg1"/>
                  </a:solidFill>
                  <a:latin typeface="Helvetica" pitchFamily="2" charset="0"/>
                </a:rPr>
                <a:t>4</a:t>
              </a:r>
              <a:endParaRPr lang="en-US" sz="6000" b="1">
                <a:solidFill>
                  <a:schemeClr val="bg1"/>
                </a:solidFill>
                <a:latin typeface="Helvetica" pitchFamily="2" charset="0"/>
              </a:endParaRPr>
            </a:p>
          </p:txBody>
        </p:sp>
        <p:sp>
          <p:nvSpPr>
            <p:cNvPr id="23" name="Rectangle 22">
              <a:extLst>
                <a:ext uri="{FF2B5EF4-FFF2-40B4-BE49-F238E27FC236}">
                  <a16:creationId xmlns:a16="http://schemas.microsoft.com/office/drawing/2014/main" id="{58B17AA6-2A3D-F74D-3001-D04EC4218E54}"/>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6D8EC2C4-D534-A87E-5305-9BD92B9838D9}"/>
              </a:ext>
            </a:extLst>
          </p:cNvPr>
          <p:cNvGrpSpPr/>
          <p:nvPr/>
        </p:nvGrpSpPr>
        <p:grpSpPr>
          <a:xfrm>
            <a:off x="1955128" y="892964"/>
            <a:ext cx="4629752" cy="1015663"/>
            <a:chOff x="924025" y="1526961"/>
            <a:chExt cx="4629752" cy="1015663"/>
          </a:xfrm>
        </p:grpSpPr>
        <p:sp>
          <p:nvSpPr>
            <p:cNvPr id="6" name="Rectangle 5">
              <a:extLst>
                <a:ext uri="{FF2B5EF4-FFF2-40B4-BE49-F238E27FC236}">
                  <a16:creationId xmlns:a16="http://schemas.microsoft.com/office/drawing/2014/main" id="{AFE41E11-2903-D4AD-BABB-046EDBE4AABD}"/>
                </a:ext>
              </a:extLst>
            </p:cNvPr>
            <p:cNvSpPr/>
            <p:nvPr/>
          </p:nvSpPr>
          <p:spPr>
            <a:xfrm>
              <a:off x="924025" y="1559294"/>
              <a:ext cx="4629752" cy="731520"/>
            </a:xfrm>
            <a:prstGeom prst="rect">
              <a:avLst/>
            </a:prstGeom>
            <a:solidFill>
              <a:srgbClr val="1B5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FB12F7A-F286-0B30-D30E-E9A916CC839B}"/>
                </a:ext>
              </a:extLst>
            </p:cNvPr>
            <p:cNvSpPr txBox="1"/>
            <p:nvPr/>
          </p:nvSpPr>
          <p:spPr>
            <a:xfrm>
              <a:off x="1501541" y="1663444"/>
              <a:ext cx="3062398" cy="523220"/>
            </a:xfrm>
            <a:prstGeom prst="rect">
              <a:avLst/>
            </a:prstGeom>
            <a:noFill/>
            <a:ln>
              <a:noFill/>
            </a:ln>
          </p:spPr>
          <p:txBody>
            <a:bodyPr wrap="square" rtlCol="0">
              <a:spAutoFit/>
            </a:bodyPr>
            <a:lstStyle/>
            <a:p>
              <a:r>
                <a:rPr lang="es-ES" dirty="0">
                  <a:solidFill>
                    <a:schemeClr val="bg1"/>
                  </a:solidFill>
                  <a:latin typeface="Helvetica" pitchFamily="2" charset="0"/>
                </a:rPr>
                <a:t>Estructuras condicionales</a:t>
              </a:r>
              <a:br>
                <a:rPr lang="es-ES" dirty="0">
                  <a:solidFill>
                    <a:schemeClr val="bg1"/>
                  </a:solidFill>
                  <a:latin typeface="Helvetica" pitchFamily="2" charset="0"/>
                </a:rPr>
              </a:br>
              <a:r>
                <a:rPr lang="es-ES" dirty="0">
                  <a:solidFill>
                    <a:schemeClr val="bg1"/>
                  </a:solidFill>
                  <a:latin typeface="Helvetica" pitchFamily="2" charset="0"/>
                </a:rPr>
                <a:t>(repaso)</a:t>
              </a:r>
              <a:endParaRPr lang="en-US" dirty="0">
                <a:solidFill>
                  <a:schemeClr val="bg1"/>
                </a:solidFill>
                <a:latin typeface="Helvetica" pitchFamily="2" charset="0"/>
              </a:endParaRPr>
            </a:p>
          </p:txBody>
        </p:sp>
        <p:sp>
          <p:nvSpPr>
            <p:cNvPr id="7" name="TextBox 6">
              <a:extLst>
                <a:ext uri="{FF2B5EF4-FFF2-40B4-BE49-F238E27FC236}">
                  <a16:creationId xmlns:a16="http://schemas.microsoft.com/office/drawing/2014/main" id="{93EEA1CE-79B2-915B-2C77-2F1212A1BF67}"/>
                </a:ext>
              </a:extLst>
            </p:cNvPr>
            <p:cNvSpPr txBox="1"/>
            <p:nvPr/>
          </p:nvSpPr>
          <p:spPr>
            <a:xfrm>
              <a:off x="991402" y="1526961"/>
              <a:ext cx="1020278" cy="1015663"/>
            </a:xfrm>
            <a:prstGeom prst="rect">
              <a:avLst/>
            </a:prstGeom>
            <a:noFill/>
            <a:ln>
              <a:noFill/>
            </a:ln>
          </p:spPr>
          <p:txBody>
            <a:bodyPr wrap="square" rtlCol="0">
              <a:spAutoFit/>
            </a:bodyPr>
            <a:lstStyle/>
            <a:p>
              <a:r>
                <a:rPr lang="es-ES" sz="6000" b="1" dirty="0">
                  <a:solidFill>
                    <a:schemeClr val="bg1"/>
                  </a:solidFill>
                  <a:latin typeface="Helvetica" pitchFamily="2" charset="0"/>
                </a:rPr>
                <a:t>1</a:t>
              </a:r>
              <a:endParaRPr lang="en-US" sz="6000" b="1" dirty="0">
                <a:solidFill>
                  <a:schemeClr val="bg1"/>
                </a:solidFill>
                <a:latin typeface="Helvetica" pitchFamily="2" charset="0"/>
              </a:endParaRPr>
            </a:p>
          </p:txBody>
        </p:sp>
        <p:sp>
          <p:nvSpPr>
            <p:cNvPr id="8" name="Rectangle 7">
              <a:extLst>
                <a:ext uri="{FF2B5EF4-FFF2-40B4-BE49-F238E27FC236}">
                  <a16:creationId xmlns:a16="http://schemas.microsoft.com/office/drawing/2014/main" id="{830C6426-CF18-244B-D9EC-4576E393467C}"/>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4C62550A-9487-0FB4-AEF5-18BF59D1D1BB}"/>
              </a:ext>
            </a:extLst>
          </p:cNvPr>
          <p:cNvGrpSpPr/>
          <p:nvPr/>
        </p:nvGrpSpPr>
        <p:grpSpPr>
          <a:xfrm>
            <a:off x="1955128" y="1782509"/>
            <a:ext cx="4629752" cy="1015663"/>
            <a:chOff x="924025" y="1526961"/>
            <a:chExt cx="4629752" cy="1015663"/>
          </a:xfrm>
        </p:grpSpPr>
        <p:sp>
          <p:nvSpPr>
            <p:cNvPr id="11" name="Rectangle 10">
              <a:extLst>
                <a:ext uri="{FF2B5EF4-FFF2-40B4-BE49-F238E27FC236}">
                  <a16:creationId xmlns:a16="http://schemas.microsoft.com/office/drawing/2014/main" id="{89EE3C4A-25E0-0661-5719-DFD8A408196E}"/>
                </a:ext>
              </a:extLst>
            </p:cNvPr>
            <p:cNvSpPr/>
            <p:nvPr/>
          </p:nvSpPr>
          <p:spPr>
            <a:xfrm>
              <a:off x="924025" y="1559294"/>
              <a:ext cx="4629752" cy="731520"/>
            </a:xfrm>
            <a:prstGeom prst="rect">
              <a:avLst/>
            </a:prstGeom>
            <a:solidFill>
              <a:srgbClr val="0E7D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F03E694-3539-B74F-A7F9-A90BF4FC7172}"/>
                </a:ext>
              </a:extLst>
            </p:cNvPr>
            <p:cNvSpPr txBox="1"/>
            <p:nvPr/>
          </p:nvSpPr>
          <p:spPr>
            <a:xfrm>
              <a:off x="1501541" y="1663444"/>
              <a:ext cx="2515402" cy="523220"/>
            </a:xfrm>
            <a:prstGeom prst="rect">
              <a:avLst/>
            </a:prstGeom>
            <a:noFill/>
            <a:ln>
              <a:noFill/>
            </a:ln>
          </p:spPr>
          <p:txBody>
            <a:bodyPr wrap="square" rtlCol="0">
              <a:spAutoFit/>
            </a:bodyPr>
            <a:lstStyle/>
            <a:p>
              <a:r>
                <a:rPr lang="es-ES" dirty="0">
                  <a:solidFill>
                    <a:schemeClr val="bg1"/>
                  </a:solidFill>
                  <a:latin typeface="Helvetica" pitchFamily="2" charset="0"/>
                </a:rPr>
                <a:t>Ejercicios con </a:t>
              </a:r>
              <a:br>
                <a:rPr lang="es-ES" dirty="0">
                  <a:solidFill>
                    <a:schemeClr val="bg1"/>
                  </a:solidFill>
                  <a:latin typeface="Helvetica" pitchFamily="2" charset="0"/>
                </a:rPr>
              </a:br>
              <a:r>
                <a:rPr lang="es-ES" dirty="0">
                  <a:solidFill>
                    <a:schemeClr val="bg1"/>
                  </a:solidFill>
                  <a:latin typeface="Helvetica" pitchFamily="2" charset="0"/>
                </a:rPr>
                <a:t>estructura </a:t>
              </a:r>
              <a:r>
                <a:rPr lang="es-ES" dirty="0" err="1">
                  <a:solidFill>
                    <a:schemeClr val="bg1"/>
                  </a:solidFill>
                  <a:latin typeface="Helvetica" pitchFamily="2" charset="0"/>
                </a:rPr>
                <a:t>if</a:t>
              </a:r>
              <a:r>
                <a:rPr lang="es-ES" dirty="0">
                  <a:solidFill>
                    <a:schemeClr val="bg1"/>
                  </a:solidFill>
                  <a:latin typeface="Helvetica" pitchFamily="2" charset="0"/>
                </a:rPr>
                <a:t>..</a:t>
              </a:r>
              <a:r>
                <a:rPr lang="es-ES" dirty="0" err="1">
                  <a:solidFill>
                    <a:schemeClr val="bg1"/>
                  </a:solidFill>
                  <a:latin typeface="Helvetica" pitchFamily="2" charset="0"/>
                </a:rPr>
                <a:t>else</a:t>
              </a:r>
              <a:endParaRPr lang="en-US" dirty="0">
                <a:solidFill>
                  <a:schemeClr val="bg1"/>
                </a:solidFill>
                <a:latin typeface="Helvetica" pitchFamily="2" charset="0"/>
              </a:endParaRPr>
            </a:p>
          </p:txBody>
        </p:sp>
        <p:sp>
          <p:nvSpPr>
            <p:cNvPr id="13" name="TextBox 12">
              <a:extLst>
                <a:ext uri="{FF2B5EF4-FFF2-40B4-BE49-F238E27FC236}">
                  <a16:creationId xmlns:a16="http://schemas.microsoft.com/office/drawing/2014/main" id="{D0BD6589-A9C6-D2FD-D50D-C5AAC8113E8A}"/>
                </a:ext>
              </a:extLst>
            </p:cNvPr>
            <p:cNvSpPr txBox="1"/>
            <p:nvPr/>
          </p:nvSpPr>
          <p:spPr>
            <a:xfrm>
              <a:off x="991402" y="1526961"/>
              <a:ext cx="1020278" cy="1015663"/>
            </a:xfrm>
            <a:prstGeom prst="rect">
              <a:avLst/>
            </a:prstGeom>
            <a:noFill/>
            <a:ln>
              <a:noFill/>
            </a:ln>
          </p:spPr>
          <p:txBody>
            <a:bodyPr wrap="square" rtlCol="0">
              <a:spAutoFit/>
            </a:bodyPr>
            <a:lstStyle/>
            <a:p>
              <a:r>
                <a:rPr lang="es-ES" sz="6000" b="1" dirty="0">
                  <a:solidFill>
                    <a:schemeClr val="bg1"/>
                  </a:solidFill>
                  <a:latin typeface="Helvetica" pitchFamily="2" charset="0"/>
                </a:rPr>
                <a:t>2</a:t>
              </a:r>
              <a:endParaRPr lang="en-US" sz="6000" b="1" dirty="0">
                <a:solidFill>
                  <a:schemeClr val="bg1"/>
                </a:solidFill>
                <a:latin typeface="Helvetica" pitchFamily="2" charset="0"/>
              </a:endParaRPr>
            </a:p>
          </p:txBody>
        </p:sp>
        <p:sp>
          <p:nvSpPr>
            <p:cNvPr id="14" name="Rectangle 13">
              <a:extLst>
                <a:ext uri="{FF2B5EF4-FFF2-40B4-BE49-F238E27FC236}">
                  <a16:creationId xmlns:a16="http://schemas.microsoft.com/office/drawing/2014/main" id="{FE0265B7-9BAF-D770-6E56-5AE1A9C41973}"/>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45247CA5-A0E6-5FEE-D972-64B7FAA0BBEF}"/>
              </a:ext>
            </a:extLst>
          </p:cNvPr>
          <p:cNvSpPr/>
          <p:nvPr/>
        </p:nvSpPr>
        <p:spPr>
          <a:xfrm>
            <a:off x="1801640" y="683513"/>
            <a:ext cx="9678154" cy="559961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356232F4-70C8-C517-6AFF-BE83D525DAAD}"/>
              </a:ext>
            </a:extLst>
          </p:cNvPr>
          <p:cNvGrpSpPr/>
          <p:nvPr/>
        </p:nvGrpSpPr>
        <p:grpSpPr>
          <a:xfrm>
            <a:off x="1955128" y="2672054"/>
            <a:ext cx="4629752" cy="1015663"/>
            <a:chOff x="924025" y="1526961"/>
            <a:chExt cx="4629752" cy="1015663"/>
          </a:xfrm>
        </p:grpSpPr>
        <p:sp>
          <p:nvSpPr>
            <p:cNvPr id="15" name="Rectangle 14">
              <a:extLst>
                <a:ext uri="{FF2B5EF4-FFF2-40B4-BE49-F238E27FC236}">
                  <a16:creationId xmlns:a16="http://schemas.microsoft.com/office/drawing/2014/main" id="{7239BAF7-6461-3460-7124-CC87D48DB413}"/>
                </a:ext>
              </a:extLst>
            </p:cNvPr>
            <p:cNvSpPr/>
            <p:nvPr/>
          </p:nvSpPr>
          <p:spPr>
            <a:xfrm>
              <a:off x="924025" y="1559294"/>
              <a:ext cx="4629752" cy="731520"/>
            </a:xfrm>
            <a:prstGeom prst="rect">
              <a:avLst/>
            </a:prstGeom>
            <a:solidFill>
              <a:srgbClr val="75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3E7F899-F28C-C7A1-9A5F-C51ECC1A2501}"/>
                </a:ext>
              </a:extLst>
            </p:cNvPr>
            <p:cNvSpPr txBox="1"/>
            <p:nvPr/>
          </p:nvSpPr>
          <p:spPr>
            <a:xfrm>
              <a:off x="1501541" y="1663444"/>
              <a:ext cx="2515402" cy="523220"/>
            </a:xfrm>
            <a:prstGeom prst="rect">
              <a:avLst/>
            </a:prstGeom>
            <a:noFill/>
            <a:ln>
              <a:noFill/>
            </a:ln>
          </p:spPr>
          <p:txBody>
            <a:bodyPr wrap="square" rtlCol="0">
              <a:spAutoFit/>
            </a:bodyPr>
            <a:lstStyle/>
            <a:p>
              <a:r>
                <a:rPr lang="es-ES" dirty="0">
                  <a:solidFill>
                    <a:schemeClr val="bg1"/>
                  </a:solidFill>
                  <a:latin typeface="Helvetica" pitchFamily="2" charset="0"/>
                </a:rPr>
                <a:t>Ejercicios con</a:t>
              </a:r>
              <a:br>
                <a:rPr lang="es-ES" dirty="0">
                  <a:solidFill>
                    <a:schemeClr val="bg1"/>
                  </a:solidFill>
                  <a:latin typeface="Helvetica" pitchFamily="2" charset="0"/>
                </a:rPr>
              </a:br>
              <a:r>
                <a:rPr lang="es-ES" dirty="0">
                  <a:solidFill>
                    <a:schemeClr val="bg1"/>
                  </a:solidFill>
                  <a:latin typeface="Helvetica" pitchFamily="2" charset="0"/>
                </a:rPr>
                <a:t>estructura switch-case</a:t>
              </a:r>
              <a:endParaRPr lang="en-US" dirty="0">
                <a:solidFill>
                  <a:schemeClr val="bg1"/>
                </a:solidFill>
                <a:latin typeface="Helvetica" pitchFamily="2" charset="0"/>
              </a:endParaRPr>
            </a:p>
          </p:txBody>
        </p:sp>
        <p:sp>
          <p:nvSpPr>
            <p:cNvPr id="17" name="TextBox 16">
              <a:extLst>
                <a:ext uri="{FF2B5EF4-FFF2-40B4-BE49-F238E27FC236}">
                  <a16:creationId xmlns:a16="http://schemas.microsoft.com/office/drawing/2014/main" id="{2AF805C7-CBE8-E255-68DF-C6DE8386ADAF}"/>
                </a:ext>
              </a:extLst>
            </p:cNvPr>
            <p:cNvSpPr txBox="1"/>
            <p:nvPr/>
          </p:nvSpPr>
          <p:spPr>
            <a:xfrm>
              <a:off x="991402" y="1526961"/>
              <a:ext cx="1020278" cy="1015663"/>
            </a:xfrm>
            <a:prstGeom prst="rect">
              <a:avLst/>
            </a:prstGeom>
            <a:noFill/>
            <a:ln>
              <a:noFill/>
            </a:ln>
          </p:spPr>
          <p:txBody>
            <a:bodyPr wrap="square" rtlCol="0">
              <a:spAutoFit/>
            </a:bodyPr>
            <a:lstStyle/>
            <a:p>
              <a:r>
                <a:rPr lang="es-ES" sz="6000" b="1">
                  <a:solidFill>
                    <a:schemeClr val="bg1"/>
                  </a:solidFill>
                  <a:latin typeface="Helvetica" pitchFamily="2" charset="0"/>
                </a:rPr>
                <a:t>3</a:t>
              </a:r>
              <a:endParaRPr lang="en-US" sz="6000" b="1">
                <a:solidFill>
                  <a:schemeClr val="bg1"/>
                </a:solidFill>
                <a:latin typeface="Helvetica" pitchFamily="2" charset="0"/>
              </a:endParaRPr>
            </a:p>
          </p:txBody>
        </p:sp>
        <p:sp>
          <p:nvSpPr>
            <p:cNvPr id="18" name="Rectangle 17">
              <a:extLst>
                <a:ext uri="{FF2B5EF4-FFF2-40B4-BE49-F238E27FC236}">
                  <a16:creationId xmlns:a16="http://schemas.microsoft.com/office/drawing/2014/main" id="{D45F683C-083B-4EAA-D3C1-1A378724E7E2}"/>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15046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522A65D-50BA-AA62-3FF9-DDCD0B38E146}"/>
              </a:ext>
            </a:extLst>
          </p:cNvPr>
          <p:cNvPicPr>
            <a:picLocks noChangeAspect="1"/>
          </p:cNvPicPr>
          <p:nvPr/>
        </p:nvPicPr>
        <p:blipFill rotWithShape="1">
          <a:blip r:embed="rId2">
            <a:alphaModFix amt="10000"/>
          </a:blip>
          <a:srcRect r="27745"/>
          <a:stretch/>
        </p:blipFill>
        <p:spPr>
          <a:xfrm>
            <a:off x="4006273" y="849745"/>
            <a:ext cx="8185727" cy="6101736"/>
          </a:xfrm>
          <a:prstGeom prst="rect">
            <a:avLst/>
          </a:prstGeom>
        </p:spPr>
      </p:pic>
      <p:grpSp>
        <p:nvGrpSpPr>
          <p:cNvPr id="5" name="Group 4">
            <a:extLst>
              <a:ext uri="{FF2B5EF4-FFF2-40B4-BE49-F238E27FC236}">
                <a16:creationId xmlns:a16="http://schemas.microsoft.com/office/drawing/2014/main" id="{2A650340-8388-A63E-1D48-C7912DB3FC81}"/>
              </a:ext>
            </a:extLst>
          </p:cNvPr>
          <p:cNvGrpSpPr/>
          <p:nvPr/>
        </p:nvGrpSpPr>
        <p:grpSpPr>
          <a:xfrm>
            <a:off x="846912" y="-39921"/>
            <a:ext cx="4629752" cy="1015663"/>
            <a:chOff x="924025" y="1526961"/>
            <a:chExt cx="4629752" cy="1015663"/>
          </a:xfrm>
        </p:grpSpPr>
        <p:sp>
          <p:nvSpPr>
            <p:cNvPr id="6" name="Rectangle 5">
              <a:extLst>
                <a:ext uri="{FF2B5EF4-FFF2-40B4-BE49-F238E27FC236}">
                  <a16:creationId xmlns:a16="http://schemas.microsoft.com/office/drawing/2014/main" id="{42C78C18-5A26-2356-2ADB-65481D1F3F5D}"/>
                </a:ext>
              </a:extLst>
            </p:cNvPr>
            <p:cNvSpPr/>
            <p:nvPr/>
          </p:nvSpPr>
          <p:spPr>
            <a:xfrm>
              <a:off x="924025" y="1559294"/>
              <a:ext cx="4629752" cy="731520"/>
            </a:xfrm>
            <a:prstGeom prst="rect">
              <a:avLst/>
            </a:prstGeom>
            <a:solidFill>
              <a:srgbClr val="75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76C59EB-1229-EEA0-6FB4-EE53B9B3C730}"/>
                </a:ext>
              </a:extLst>
            </p:cNvPr>
            <p:cNvSpPr txBox="1"/>
            <p:nvPr/>
          </p:nvSpPr>
          <p:spPr>
            <a:xfrm>
              <a:off x="1501541" y="1663444"/>
              <a:ext cx="2515402" cy="523220"/>
            </a:xfrm>
            <a:prstGeom prst="rect">
              <a:avLst/>
            </a:prstGeom>
            <a:noFill/>
            <a:ln>
              <a:noFill/>
            </a:ln>
          </p:spPr>
          <p:txBody>
            <a:bodyPr wrap="square" rtlCol="0">
              <a:spAutoFit/>
            </a:bodyPr>
            <a:lstStyle/>
            <a:p>
              <a:r>
                <a:rPr lang="es-ES" dirty="0">
                  <a:solidFill>
                    <a:schemeClr val="bg1"/>
                  </a:solidFill>
                  <a:latin typeface="Helvetica" pitchFamily="2" charset="0"/>
                </a:rPr>
                <a:t>Ejercicios con</a:t>
              </a:r>
              <a:br>
                <a:rPr lang="es-ES" dirty="0">
                  <a:solidFill>
                    <a:schemeClr val="bg1"/>
                  </a:solidFill>
                  <a:latin typeface="Helvetica" pitchFamily="2" charset="0"/>
                </a:rPr>
              </a:br>
              <a:r>
                <a:rPr lang="es-ES" dirty="0">
                  <a:solidFill>
                    <a:schemeClr val="bg1"/>
                  </a:solidFill>
                  <a:latin typeface="Helvetica" pitchFamily="2" charset="0"/>
                </a:rPr>
                <a:t>estructura switch-case</a:t>
              </a:r>
              <a:endParaRPr lang="en-US" dirty="0">
                <a:solidFill>
                  <a:schemeClr val="bg1"/>
                </a:solidFill>
                <a:latin typeface="Helvetica" pitchFamily="2" charset="0"/>
              </a:endParaRPr>
            </a:p>
          </p:txBody>
        </p:sp>
        <p:sp>
          <p:nvSpPr>
            <p:cNvPr id="8" name="TextBox 7">
              <a:extLst>
                <a:ext uri="{FF2B5EF4-FFF2-40B4-BE49-F238E27FC236}">
                  <a16:creationId xmlns:a16="http://schemas.microsoft.com/office/drawing/2014/main" id="{81534D8D-2C83-7BD4-ECE8-207290047C4E}"/>
                </a:ext>
              </a:extLst>
            </p:cNvPr>
            <p:cNvSpPr txBox="1"/>
            <p:nvPr/>
          </p:nvSpPr>
          <p:spPr>
            <a:xfrm>
              <a:off x="991402" y="1526961"/>
              <a:ext cx="1020278" cy="1015663"/>
            </a:xfrm>
            <a:prstGeom prst="rect">
              <a:avLst/>
            </a:prstGeom>
            <a:noFill/>
            <a:ln>
              <a:noFill/>
            </a:ln>
          </p:spPr>
          <p:txBody>
            <a:bodyPr wrap="square" rtlCol="0">
              <a:spAutoFit/>
            </a:bodyPr>
            <a:lstStyle/>
            <a:p>
              <a:r>
                <a:rPr lang="es-ES" sz="6000" b="1">
                  <a:solidFill>
                    <a:schemeClr val="bg1"/>
                  </a:solidFill>
                  <a:latin typeface="Helvetica" pitchFamily="2" charset="0"/>
                </a:rPr>
                <a:t>3</a:t>
              </a:r>
              <a:endParaRPr lang="en-US" sz="6000" b="1">
                <a:solidFill>
                  <a:schemeClr val="bg1"/>
                </a:solidFill>
                <a:latin typeface="Helvetica" pitchFamily="2" charset="0"/>
              </a:endParaRPr>
            </a:p>
          </p:txBody>
        </p:sp>
        <p:sp>
          <p:nvSpPr>
            <p:cNvPr id="9" name="Rectangle 8">
              <a:extLst>
                <a:ext uri="{FF2B5EF4-FFF2-40B4-BE49-F238E27FC236}">
                  <a16:creationId xmlns:a16="http://schemas.microsoft.com/office/drawing/2014/main" id="{BC6743BB-CF8F-5003-8CAD-9386FF5157C8}"/>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AE16E32-A371-7CA9-FC10-A1CD2AA82C80}"/>
              </a:ext>
            </a:extLst>
          </p:cNvPr>
          <p:cNvSpPr>
            <a:spLocks noGrp="1"/>
          </p:cNvSpPr>
          <p:nvPr>
            <p:ph type="title"/>
          </p:nvPr>
        </p:nvSpPr>
        <p:spPr/>
        <p:txBody>
          <a:bodyPr/>
          <a:lstStyle/>
          <a:p>
            <a:r>
              <a:rPr lang="es-ES" dirty="0"/>
              <a:t>Ejemplo</a:t>
            </a:r>
            <a:endParaRPr lang="en-US" dirty="0"/>
          </a:p>
        </p:txBody>
      </p:sp>
      <p:sp>
        <p:nvSpPr>
          <p:cNvPr id="3" name="Slide Number Placeholder 2">
            <a:extLst>
              <a:ext uri="{FF2B5EF4-FFF2-40B4-BE49-F238E27FC236}">
                <a16:creationId xmlns:a16="http://schemas.microsoft.com/office/drawing/2014/main" id="{A60F509D-479B-DC1E-F942-24FF5764D7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20</a:t>
            </a:fld>
            <a:endParaRPr lang="es-PE"/>
          </a:p>
        </p:txBody>
      </p:sp>
      <p:sp>
        <p:nvSpPr>
          <p:cNvPr id="4" name="Content Placeholder 3">
            <a:extLst>
              <a:ext uri="{FF2B5EF4-FFF2-40B4-BE49-F238E27FC236}">
                <a16:creationId xmlns:a16="http://schemas.microsoft.com/office/drawing/2014/main" id="{CF31D7AC-91EE-2C3C-CECE-0EE6F7E6214C}"/>
              </a:ext>
            </a:extLst>
          </p:cNvPr>
          <p:cNvSpPr>
            <a:spLocks noGrp="1"/>
          </p:cNvSpPr>
          <p:nvPr>
            <p:ph sz="quarter" idx="13"/>
          </p:nvPr>
        </p:nvSpPr>
        <p:spPr>
          <a:xfrm>
            <a:off x="838200" y="1846263"/>
            <a:ext cx="4962236" cy="4373562"/>
          </a:xfrm>
        </p:spPr>
        <p:txBody>
          <a:bodyPr>
            <a:normAutofit fontScale="70000" lnSpcReduction="20000"/>
          </a:bodyPr>
          <a:lstStyle/>
          <a:p>
            <a:pPr marL="50800" indent="0">
              <a:lnSpc>
                <a:spcPct val="120000"/>
              </a:lnSpc>
              <a:buNone/>
            </a:pPr>
            <a:r>
              <a:rPr lang="es-ES" dirty="0"/>
              <a:t>Una tienda de celulares ofrece distintos planes tarifarios en función de la marca de celular que se compre, así como descuentos aplicados de acuerdo al plazo de pago promocional escogido (ver tablas).</a:t>
            </a:r>
          </a:p>
          <a:p>
            <a:pPr marL="50800" indent="0">
              <a:lnSpc>
                <a:spcPct val="120000"/>
              </a:lnSpc>
              <a:buNone/>
            </a:pPr>
            <a:r>
              <a:rPr lang="es-ES" dirty="0"/>
              <a:t>Escriba un programa en Java que solicite al usuario la marca del celular y el plazo de pago, y muestre el monto del plan tarifario, descuento que le corresponda y el monto final a pagar. Mostrar un mensaje de error si alguna opción ingresada es incorrecta.</a:t>
            </a:r>
            <a:endParaRPr lang="en-US" dirty="0"/>
          </a:p>
        </p:txBody>
      </p:sp>
      <p:graphicFrame>
        <p:nvGraphicFramePr>
          <p:cNvPr id="10" name="Table 10">
            <a:extLst>
              <a:ext uri="{FF2B5EF4-FFF2-40B4-BE49-F238E27FC236}">
                <a16:creationId xmlns:a16="http://schemas.microsoft.com/office/drawing/2014/main" id="{B5B01C81-C6B5-A11E-210D-1D31D4CFB272}"/>
              </a:ext>
            </a:extLst>
          </p:cNvPr>
          <p:cNvGraphicFramePr>
            <a:graphicFrameLocks noGrp="1"/>
          </p:cNvGraphicFramePr>
          <p:nvPr>
            <p:extLst>
              <p:ext uri="{D42A27DB-BD31-4B8C-83A1-F6EECF244321}">
                <p14:modId xmlns:p14="http://schemas.microsoft.com/office/powerpoint/2010/main" val="3370386244"/>
              </p:ext>
            </p:extLst>
          </p:nvPr>
        </p:nvGraphicFramePr>
        <p:xfrm>
          <a:off x="7531791" y="1380586"/>
          <a:ext cx="3404061" cy="2632520"/>
        </p:xfrm>
        <a:graphic>
          <a:graphicData uri="http://schemas.openxmlformats.org/drawingml/2006/table">
            <a:tbl>
              <a:tblPr firstRow="1" bandRow="1">
                <a:tableStyleId>{1E171933-4619-4E11-9A3F-F7608DF75F80}</a:tableStyleId>
              </a:tblPr>
              <a:tblGrid>
                <a:gridCol w="2147454">
                  <a:extLst>
                    <a:ext uri="{9D8B030D-6E8A-4147-A177-3AD203B41FA5}">
                      <a16:colId xmlns:a16="http://schemas.microsoft.com/office/drawing/2014/main" val="1538244965"/>
                    </a:ext>
                  </a:extLst>
                </a:gridCol>
                <a:gridCol w="1256607">
                  <a:extLst>
                    <a:ext uri="{9D8B030D-6E8A-4147-A177-3AD203B41FA5}">
                      <a16:colId xmlns:a16="http://schemas.microsoft.com/office/drawing/2014/main" val="2404695663"/>
                    </a:ext>
                  </a:extLst>
                </a:gridCol>
              </a:tblGrid>
              <a:tr h="370840">
                <a:tc>
                  <a:txBody>
                    <a:bodyPr/>
                    <a:lstStyle/>
                    <a:p>
                      <a:pPr>
                        <a:lnSpc>
                          <a:spcPct val="150000"/>
                        </a:lnSpc>
                      </a:pPr>
                      <a:r>
                        <a:rPr lang="es-ES" sz="1400" b="0" dirty="0">
                          <a:solidFill>
                            <a:schemeClr val="bg1"/>
                          </a:solidFill>
                        </a:rPr>
                        <a:t>Celular</a:t>
                      </a:r>
                      <a:endParaRPr lang="en-US" sz="1400" b="0" dirty="0">
                        <a:solidFill>
                          <a:schemeClr val="bg1"/>
                        </a:solidFill>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alpha val="75000"/>
                      </a:schemeClr>
                    </a:solidFill>
                  </a:tcPr>
                </a:tc>
                <a:tc>
                  <a:txBody>
                    <a:bodyPr/>
                    <a:lstStyle/>
                    <a:p>
                      <a:pPr algn="r">
                        <a:lnSpc>
                          <a:spcPct val="150000"/>
                        </a:lnSpc>
                      </a:pPr>
                      <a:r>
                        <a:rPr lang="es-ES" sz="1400" b="0" dirty="0">
                          <a:solidFill>
                            <a:schemeClr val="bg1"/>
                          </a:solidFill>
                        </a:rPr>
                        <a:t>Plan</a:t>
                      </a:r>
                      <a:endParaRPr lang="en-US" sz="1400" b="0" dirty="0">
                        <a:solidFill>
                          <a:schemeClr val="bg1"/>
                        </a:solidFill>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alpha val="75000"/>
                      </a:schemeClr>
                    </a:solidFill>
                  </a:tcPr>
                </a:tc>
                <a:extLst>
                  <a:ext uri="{0D108BD9-81ED-4DB2-BD59-A6C34878D82A}">
                    <a16:rowId xmlns:a16="http://schemas.microsoft.com/office/drawing/2014/main" val="4028244752"/>
                  </a:ext>
                </a:extLst>
              </a:tr>
              <a:tr h="370840">
                <a:tc>
                  <a:txBody>
                    <a:bodyPr/>
                    <a:lstStyle/>
                    <a:p>
                      <a:pPr>
                        <a:lnSpc>
                          <a:spcPct val="150000"/>
                        </a:lnSpc>
                      </a:pPr>
                      <a:r>
                        <a:rPr lang="es-ES" sz="1800" b="0" dirty="0"/>
                        <a:t>Motorola</a:t>
                      </a:r>
                      <a:endParaRPr lang="en-US" sz="1800" b="0" dirty="0"/>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tint val="20000"/>
                        <a:alpha val="75000"/>
                      </a:schemeClr>
                    </a:solidFill>
                  </a:tcPr>
                </a:tc>
                <a:tc>
                  <a:txBody>
                    <a:bodyPr/>
                    <a:lstStyle/>
                    <a:p>
                      <a:pPr algn="r">
                        <a:lnSpc>
                          <a:spcPct val="150000"/>
                        </a:lnSpc>
                      </a:pPr>
                      <a:r>
                        <a:rPr lang="es-ES" sz="1800" b="0" dirty="0"/>
                        <a:t>29.90</a:t>
                      </a:r>
                      <a:endParaRPr lang="en-US" sz="1800" b="0" dirty="0"/>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tint val="20000"/>
                        <a:alpha val="75000"/>
                      </a:schemeClr>
                    </a:solidFill>
                  </a:tcPr>
                </a:tc>
                <a:extLst>
                  <a:ext uri="{0D108BD9-81ED-4DB2-BD59-A6C34878D82A}">
                    <a16:rowId xmlns:a16="http://schemas.microsoft.com/office/drawing/2014/main" val="885623360"/>
                  </a:ext>
                </a:extLst>
              </a:tr>
              <a:tr h="370840">
                <a:tc>
                  <a:txBody>
                    <a:bodyPr/>
                    <a:lstStyle/>
                    <a:p>
                      <a:pPr>
                        <a:lnSpc>
                          <a:spcPct val="150000"/>
                        </a:lnSpc>
                      </a:pPr>
                      <a:r>
                        <a:rPr lang="es-ES" sz="1800" b="0" dirty="0"/>
                        <a:t>LG</a:t>
                      </a:r>
                      <a:endParaRPr lang="en-US" sz="1800" b="0" dirty="0"/>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lt1">
                        <a:alpha val="75000"/>
                      </a:schemeClr>
                    </a:solidFill>
                  </a:tcPr>
                </a:tc>
                <a:tc>
                  <a:txBody>
                    <a:bodyPr/>
                    <a:lstStyle/>
                    <a:p>
                      <a:pPr algn="r">
                        <a:lnSpc>
                          <a:spcPct val="150000"/>
                        </a:lnSpc>
                      </a:pPr>
                      <a:r>
                        <a:rPr lang="es-ES" sz="1800" b="0" dirty="0"/>
                        <a:t>36.00</a:t>
                      </a:r>
                      <a:endParaRPr lang="en-US" sz="1800" b="0" dirty="0"/>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lt1">
                        <a:alpha val="75000"/>
                      </a:schemeClr>
                    </a:solidFill>
                  </a:tcPr>
                </a:tc>
                <a:extLst>
                  <a:ext uri="{0D108BD9-81ED-4DB2-BD59-A6C34878D82A}">
                    <a16:rowId xmlns:a16="http://schemas.microsoft.com/office/drawing/2014/main" val="3103956569"/>
                  </a:ext>
                </a:extLst>
              </a:tr>
              <a:tr h="370840">
                <a:tc>
                  <a:txBody>
                    <a:bodyPr/>
                    <a:lstStyle/>
                    <a:p>
                      <a:pPr>
                        <a:lnSpc>
                          <a:spcPct val="150000"/>
                        </a:lnSpc>
                      </a:pPr>
                      <a:r>
                        <a:rPr lang="es-ES" sz="1800" b="0" dirty="0"/>
                        <a:t>Samsung</a:t>
                      </a:r>
                      <a:endParaRPr lang="en-US" sz="1800" b="0" dirty="0"/>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tint val="20000"/>
                        <a:alpha val="75000"/>
                      </a:schemeClr>
                    </a:solidFill>
                  </a:tcPr>
                </a:tc>
                <a:tc>
                  <a:txBody>
                    <a:bodyPr/>
                    <a:lstStyle/>
                    <a:p>
                      <a:pPr algn="r">
                        <a:lnSpc>
                          <a:spcPct val="150000"/>
                        </a:lnSpc>
                      </a:pPr>
                      <a:r>
                        <a:rPr lang="es-ES" sz="1800" b="0" dirty="0"/>
                        <a:t>46.80</a:t>
                      </a:r>
                      <a:endParaRPr lang="en-US" sz="1800" b="0" dirty="0"/>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tint val="20000"/>
                        <a:alpha val="75000"/>
                      </a:schemeClr>
                    </a:solidFill>
                  </a:tcPr>
                </a:tc>
                <a:extLst>
                  <a:ext uri="{0D108BD9-81ED-4DB2-BD59-A6C34878D82A}">
                    <a16:rowId xmlns:a16="http://schemas.microsoft.com/office/drawing/2014/main" val="1874660375"/>
                  </a:ext>
                </a:extLst>
              </a:tr>
              <a:tr h="370840">
                <a:tc>
                  <a:txBody>
                    <a:bodyPr/>
                    <a:lstStyle/>
                    <a:p>
                      <a:pPr>
                        <a:lnSpc>
                          <a:spcPct val="150000"/>
                        </a:lnSpc>
                      </a:pPr>
                      <a:r>
                        <a:rPr lang="es-ES" sz="1800" b="0" dirty="0"/>
                        <a:t>Huawei</a:t>
                      </a:r>
                      <a:endParaRPr lang="en-US" sz="1800" b="0" dirty="0"/>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lt1">
                        <a:alpha val="75000"/>
                      </a:schemeClr>
                    </a:solidFill>
                  </a:tcPr>
                </a:tc>
                <a:tc>
                  <a:txBody>
                    <a:bodyPr/>
                    <a:lstStyle/>
                    <a:p>
                      <a:pPr algn="r">
                        <a:lnSpc>
                          <a:spcPct val="150000"/>
                        </a:lnSpc>
                      </a:pPr>
                      <a:r>
                        <a:rPr lang="es-ES" sz="1800" b="0" dirty="0"/>
                        <a:t>62.00</a:t>
                      </a:r>
                      <a:endParaRPr lang="en-US" sz="1800" b="0" dirty="0"/>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lt1">
                        <a:alpha val="75000"/>
                      </a:schemeClr>
                    </a:solidFill>
                  </a:tcPr>
                </a:tc>
                <a:extLst>
                  <a:ext uri="{0D108BD9-81ED-4DB2-BD59-A6C34878D82A}">
                    <a16:rowId xmlns:a16="http://schemas.microsoft.com/office/drawing/2014/main" val="1439959985"/>
                  </a:ext>
                </a:extLst>
              </a:tr>
              <a:tr h="370840">
                <a:tc>
                  <a:txBody>
                    <a:bodyPr/>
                    <a:lstStyle/>
                    <a:p>
                      <a:pPr>
                        <a:lnSpc>
                          <a:spcPct val="150000"/>
                        </a:lnSpc>
                      </a:pPr>
                      <a:r>
                        <a:rPr lang="es-ES" sz="1800" b="0" dirty="0"/>
                        <a:t>iPhone</a:t>
                      </a:r>
                      <a:endParaRPr lang="en-US" sz="1800" b="0" dirty="0"/>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tint val="20000"/>
                        <a:alpha val="75000"/>
                      </a:schemeClr>
                    </a:solidFill>
                  </a:tcPr>
                </a:tc>
                <a:tc>
                  <a:txBody>
                    <a:bodyPr/>
                    <a:lstStyle/>
                    <a:p>
                      <a:pPr algn="r">
                        <a:lnSpc>
                          <a:spcPct val="150000"/>
                        </a:lnSpc>
                      </a:pPr>
                      <a:r>
                        <a:rPr lang="es-ES" sz="1800" b="0" dirty="0"/>
                        <a:t>71.00</a:t>
                      </a:r>
                      <a:endParaRPr lang="en-US" sz="1800" b="0" dirty="0"/>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tint val="20000"/>
                        <a:alpha val="75000"/>
                      </a:schemeClr>
                    </a:solidFill>
                  </a:tcPr>
                </a:tc>
                <a:extLst>
                  <a:ext uri="{0D108BD9-81ED-4DB2-BD59-A6C34878D82A}">
                    <a16:rowId xmlns:a16="http://schemas.microsoft.com/office/drawing/2014/main" val="2268996728"/>
                  </a:ext>
                </a:extLst>
              </a:tr>
            </a:tbl>
          </a:graphicData>
        </a:graphic>
      </p:graphicFrame>
      <p:sp>
        <p:nvSpPr>
          <p:cNvPr id="14" name="TextBox 13">
            <a:extLst>
              <a:ext uri="{FF2B5EF4-FFF2-40B4-BE49-F238E27FC236}">
                <a16:creationId xmlns:a16="http://schemas.microsoft.com/office/drawing/2014/main" id="{F2E33714-AF57-E755-8E19-D0592D411796}"/>
              </a:ext>
            </a:extLst>
          </p:cNvPr>
          <p:cNvSpPr txBox="1"/>
          <p:nvPr/>
        </p:nvSpPr>
        <p:spPr>
          <a:xfrm>
            <a:off x="136236" y="6490643"/>
            <a:ext cx="6890328" cy="2308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 https://www.nicepng.com/png/detail/22-224843_upcoming-smartphones-mobile-png-image-hd.png</a:t>
            </a:r>
          </a:p>
        </p:txBody>
      </p:sp>
      <p:graphicFrame>
        <p:nvGraphicFramePr>
          <p:cNvPr id="15" name="Table 14">
            <a:extLst>
              <a:ext uri="{FF2B5EF4-FFF2-40B4-BE49-F238E27FC236}">
                <a16:creationId xmlns:a16="http://schemas.microsoft.com/office/drawing/2014/main" id="{95C82362-AD46-0402-3C4D-16DE20F459AB}"/>
              </a:ext>
            </a:extLst>
          </p:cNvPr>
          <p:cNvGraphicFramePr>
            <a:graphicFrameLocks noGrp="1"/>
          </p:cNvGraphicFramePr>
          <p:nvPr>
            <p:extLst>
              <p:ext uri="{D42A27DB-BD31-4B8C-83A1-F6EECF244321}">
                <p14:modId xmlns:p14="http://schemas.microsoft.com/office/powerpoint/2010/main" val="3465679442"/>
              </p:ext>
            </p:extLst>
          </p:nvPr>
        </p:nvGraphicFramePr>
        <p:xfrm>
          <a:off x="7531792" y="4499504"/>
          <a:ext cx="3404061" cy="1195960"/>
        </p:xfrm>
        <a:graphic>
          <a:graphicData uri="http://schemas.openxmlformats.org/drawingml/2006/table">
            <a:tbl>
              <a:tblPr firstRow="1" bandRow="1">
                <a:tableStyleId>{1E171933-4619-4E11-9A3F-F7608DF75F80}</a:tableStyleId>
              </a:tblPr>
              <a:tblGrid>
                <a:gridCol w="1134687">
                  <a:extLst>
                    <a:ext uri="{9D8B030D-6E8A-4147-A177-3AD203B41FA5}">
                      <a16:colId xmlns:a16="http://schemas.microsoft.com/office/drawing/2014/main" val="1773193635"/>
                    </a:ext>
                  </a:extLst>
                </a:gridCol>
                <a:gridCol w="1134687">
                  <a:extLst>
                    <a:ext uri="{9D8B030D-6E8A-4147-A177-3AD203B41FA5}">
                      <a16:colId xmlns:a16="http://schemas.microsoft.com/office/drawing/2014/main" val="1661328349"/>
                    </a:ext>
                  </a:extLst>
                </a:gridCol>
                <a:gridCol w="1134687">
                  <a:extLst>
                    <a:ext uri="{9D8B030D-6E8A-4147-A177-3AD203B41FA5}">
                      <a16:colId xmlns:a16="http://schemas.microsoft.com/office/drawing/2014/main" val="330831921"/>
                    </a:ext>
                  </a:extLst>
                </a:gridCol>
              </a:tblGrid>
              <a:tr h="370840">
                <a:tc gridSpan="3">
                  <a:txBody>
                    <a:bodyPr/>
                    <a:lstStyle/>
                    <a:p>
                      <a:pPr algn="ctr">
                        <a:lnSpc>
                          <a:spcPct val="150000"/>
                        </a:lnSpc>
                      </a:pPr>
                      <a:r>
                        <a:rPr lang="es-ES" sz="1400" b="0" dirty="0">
                          <a:solidFill>
                            <a:schemeClr val="tx1"/>
                          </a:solidFill>
                        </a:rPr>
                        <a:t>Plazos de pago con promoción</a:t>
                      </a:r>
                      <a:endParaRPr lang="en-US" sz="1400" b="0" dirty="0">
                        <a:solidFill>
                          <a:schemeClr val="tx1"/>
                        </a:solidFill>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lumMod val="40000"/>
                        <a:lumOff val="60000"/>
                        <a:alpha val="75000"/>
                      </a:schemeClr>
                    </a:solidFill>
                  </a:tcPr>
                </a:tc>
                <a:tc hMerge="1">
                  <a:txBody>
                    <a:bodyPr/>
                    <a:lstStyle/>
                    <a:p>
                      <a:pPr algn="r">
                        <a:lnSpc>
                          <a:spcPct val="150000"/>
                        </a:lnSpc>
                      </a:pPr>
                      <a:endParaRPr lang="en-US" sz="1800" b="0" dirty="0">
                        <a:solidFill>
                          <a:schemeClr val="tx1"/>
                        </a:solidFill>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alpha val="25000"/>
                      </a:schemeClr>
                    </a:solidFill>
                  </a:tcPr>
                </a:tc>
                <a:tc hMerge="1">
                  <a:txBody>
                    <a:bodyPr/>
                    <a:lstStyle/>
                    <a:p>
                      <a:pPr algn="r">
                        <a:lnSpc>
                          <a:spcPct val="150000"/>
                        </a:lnSpc>
                      </a:pPr>
                      <a:endParaRPr lang="en-US" sz="1800" b="0" dirty="0">
                        <a:solidFill>
                          <a:schemeClr val="tx1"/>
                        </a:solidFill>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alpha val="25000"/>
                      </a:schemeClr>
                    </a:solidFill>
                  </a:tcPr>
                </a:tc>
                <a:extLst>
                  <a:ext uri="{0D108BD9-81ED-4DB2-BD59-A6C34878D82A}">
                    <a16:rowId xmlns:a16="http://schemas.microsoft.com/office/drawing/2014/main" val="436028168"/>
                  </a:ext>
                </a:extLst>
              </a:tr>
              <a:tr h="370840">
                <a:tc>
                  <a:txBody>
                    <a:bodyPr/>
                    <a:lstStyle/>
                    <a:p>
                      <a:pPr algn="r">
                        <a:lnSpc>
                          <a:spcPct val="150000"/>
                        </a:lnSpc>
                      </a:pPr>
                      <a:r>
                        <a:rPr lang="es-ES" sz="1400" b="0" dirty="0">
                          <a:solidFill>
                            <a:schemeClr val="tx1"/>
                          </a:solidFill>
                        </a:rPr>
                        <a:t>A 6 meses</a:t>
                      </a:r>
                      <a:endParaRPr lang="en-US" sz="1400" b="0" dirty="0">
                        <a:solidFill>
                          <a:schemeClr val="tx1"/>
                        </a:solidFill>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lumMod val="40000"/>
                        <a:lumOff val="60000"/>
                        <a:alpha val="75000"/>
                      </a:schemeClr>
                    </a:solidFill>
                  </a:tcPr>
                </a:tc>
                <a:tc>
                  <a:txBody>
                    <a:bodyPr/>
                    <a:lstStyle/>
                    <a:p>
                      <a:pPr algn="r">
                        <a:lnSpc>
                          <a:spcPct val="150000"/>
                        </a:lnSpc>
                      </a:pPr>
                      <a:r>
                        <a:rPr lang="es-ES" sz="1400" b="0" dirty="0">
                          <a:solidFill>
                            <a:schemeClr val="tx1"/>
                          </a:solidFill>
                        </a:rPr>
                        <a:t>A 12 meses</a:t>
                      </a:r>
                      <a:endParaRPr lang="en-US" sz="1400" b="0" dirty="0">
                        <a:solidFill>
                          <a:schemeClr val="tx1"/>
                        </a:solidFill>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lumMod val="40000"/>
                        <a:lumOff val="60000"/>
                        <a:alpha val="75000"/>
                      </a:schemeClr>
                    </a:solidFill>
                  </a:tcPr>
                </a:tc>
                <a:tc>
                  <a:txBody>
                    <a:bodyPr/>
                    <a:lstStyle/>
                    <a:p>
                      <a:pPr algn="r">
                        <a:lnSpc>
                          <a:spcPct val="150000"/>
                        </a:lnSpc>
                      </a:pPr>
                      <a:r>
                        <a:rPr lang="es-ES" sz="1400" b="0" dirty="0">
                          <a:solidFill>
                            <a:schemeClr val="tx1"/>
                          </a:solidFill>
                        </a:rPr>
                        <a:t>A 18 meses</a:t>
                      </a:r>
                      <a:endParaRPr lang="en-US" sz="1400" b="0" dirty="0">
                        <a:solidFill>
                          <a:schemeClr val="tx1"/>
                        </a:solidFill>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lumMod val="40000"/>
                        <a:lumOff val="60000"/>
                        <a:alpha val="75000"/>
                      </a:schemeClr>
                    </a:solidFill>
                  </a:tcPr>
                </a:tc>
                <a:extLst>
                  <a:ext uri="{0D108BD9-81ED-4DB2-BD59-A6C34878D82A}">
                    <a16:rowId xmlns:a16="http://schemas.microsoft.com/office/drawing/2014/main" val="3424448519"/>
                  </a:ext>
                </a:extLst>
              </a:tr>
              <a:tr h="370840">
                <a:tc>
                  <a:txBody>
                    <a:bodyPr/>
                    <a:lstStyle/>
                    <a:p>
                      <a:pPr algn="r">
                        <a:lnSpc>
                          <a:spcPct val="150000"/>
                        </a:lnSpc>
                      </a:pPr>
                      <a:r>
                        <a:rPr lang="es-ES" sz="1800" b="0" dirty="0"/>
                        <a:t>13.2%</a:t>
                      </a:r>
                      <a:endParaRPr lang="en-US" sz="1800" b="0" dirty="0"/>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tint val="20000"/>
                        <a:alpha val="75000"/>
                      </a:schemeClr>
                    </a:solidFill>
                  </a:tcPr>
                </a:tc>
                <a:tc>
                  <a:txBody>
                    <a:bodyPr/>
                    <a:lstStyle/>
                    <a:p>
                      <a:pPr algn="r">
                        <a:lnSpc>
                          <a:spcPct val="150000"/>
                        </a:lnSpc>
                      </a:pPr>
                      <a:r>
                        <a:rPr lang="es-ES" sz="1800" b="0" dirty="0"/>
                        <a:t>12.0%</a:t>
                      </a:r>
                      <a:endParaRPr lang="en-US" sz="1800" b="0" dirty="0"/>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tint val="20000"/>
                        <a:alpha val="75000"/>
                      </a:schemeClr>
                    </a:solidFill>
                  </a:tcPr>
                </a:tc>
                <a:tc>
                  <a:txBody>
                    <a:bodyPr/>
                    <a:lstStyle/>
                    <a:p>
                      <a:pPr algn="r">
                        <a:lnSpc>
                          <a:spcPct val="150000"/>
                        </a:lnSpc>
                      </a:pPr>
                      <a:r>
                        <a:rPr lang="es-ES" sz="1800" b="0" dirty="0"/>
                        <a:t>11.2%</a:t>
                      </a:r>
                      <a:endParaRPr lang="en-US" sz="1800" b="0" dirty="0"/>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tint val="20000"/>
                        <a:alpha val="75000"/>
                      </a:schemeClr>
                    </a:solidFill>
                  </a:tcPr>
                </a:tc>
                <a:extLst>
                  <a:ext uri="{0D108BD9-81ED-4DB2-BD59-A6C34878D82A}">
                    <a16:rowId xmlns:a16="http://schemas.microsoft.com/office/drawing/2014/main" val="1280672434"/>
                  </a:ext>
                </a:extLst>
              </a:tr>
            </a:tbl>
          </a:graphicData>
        </a:graphic>
      </p:graphicFrame>
    </p:spTree>
    <p:extLst>
      <p:ext uri="{BB962C8B-B14F-4D97-AF65-F5344CB8AC3E}">
        <p14:creationId xmlns:p14="http://schemas.microsoft.com/office/powerpoint/2010/main" val="2388651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2521CBE-1BB2-3AD5-AC79-F255CF1BC0EF}"/>
              </a:ext>
            </a:extLst>
          </p:cNvPr>
          <p:cNvPicPr>
            <a:picLocks noChangeAspect="1"/>
          </p:cNvPicPr>
          <p:nvPr/>
        </p:nvPicPr>
        <p:blipFill rotWithShape="1">
          <a:blip r:embed="rId2"/>
          <a:srcRect l="17554" r="27449"/>
          <a:stretch/>
        </p:blipFill>
        <p:spPr>
          <a:xfrm>
            <a:off x="6157345" y="-7588"/>
            <a:ext cx="6034655" cy="6858000"/>
          </a:xfrm>
          <a:prstGeom prst="rect">
            <a:avLst/>
          </a:prstGeom>
          <a:effectLst>
            <a:outerShdw blurRad="50800" dist="38100" dir="10800000" algn="r" rotWithShape="0">
              <a:prstClr val="black">
                <a:alpha val="40000"/>
              </a:prstClr>
            </a:outerShdw>
          </a:effectLst>
        </p:spPr>
      </p:pic>
      <p:grpSp>
        <p:nvGrpSpPr>
          <p:cNvPr id="5" name="Group 4">
            <a:extLst>
              <a:ext uri="{FF2B5EF4-FFF2-40B4-BE49-F238E27FC236}">
                <a16:creationId xmlns:a16="http://schemas.microsoft.com/office/drawing/2014/main" id="{2A650340-8388-A63E-1D48-C7912DB3FC81}"/>
              </a:ext>
            </a:extLst>
          </p:cNvPr>
          <p:cNvGrpSpPr/>
          <p:nvPr/>
        </p:nvGrpSpPr>
        <p:grpSpPr>
          <a:xfrm>
            <a:off x="846912" y="-39921"/>
            <a:ext cx="4629752" cy="1015663"/>
            <a:chOff x="924025" y="1526961"/>
            <a:chExt cx="4629752" cy="1015663"/>
          </a:xfrm>
        </p:grpSpPr>
        <p:sp>
          <p:nvSpPr>
            <p:cNvPr id="6" name="Rectangle 5">
              <a:extLst>
                <a:ext uri="{FF2B5EF4-FFF2-40B4-BE49-F238E27FC236}">
                  <a16:creationId xmlns:a16="http://schemas.microsoft.com/office/drawing/2014/main" id="{42C78C18-5A26-2356-2ADB-65481D1F3F5D}"/>
                </a:ext>
              </a:extLst>
            </p:cNvPr>
            <p:cNvSpPr/>
            <p:nvPr/>
          </p:nvSpPr>
          <p:spPr>
            <a:xfrm>
              <a:off x="924025" y="1559294"/>
              <a:ext cx="4629752" cy="731520"/>
            </a:xfrm>
            <a:prstGeom prst="rect">
              <a:avLst/>
            </a:prstGeom>
            <a:solidFill>
              <a:srgbClr val="75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76C59EB-1229-EEA0-6FB4-EE53B9B3C730}"/>
                </a:ext>
              </a:extLst>
            </p:cNvPr>
            <p:cNvSpPr txBox="1"/>
            <p:nvPr/>
          </p:nvSpPr>
          <p:spPr>
            <a:xfrm>
              <a:off x="1501541" y="1663444"/>
              <a:ext cx="2515402" cy="523220"/>
            </a:xfrm>
            <a:prstGeom prst="rect">
              <a:avLst/>
            </a:prstGeom>
            <a:noFill/>
            <a:ln>
              <a:noFill/>
            </a:ln>
          </p:spPr>
          <p:txBody>
            <a:bodyPr wrap="square" rtlCol="0">
              <a:spAutoFit/>
            </a:bodyPr>
            <a:lstStyle/>
            <a:p>
              <a:r>
                <a:rPr lang="es-ES" dirty="0">
                  <a:solidFill>
                    <a:schemeClr val="bg1"/>
                  </a:solidFill>
                  <a:latin typeface="Helvetica" pitchFamily="2" charset="0"/>
                </a:rPr>
                <a:t>Ejercicios con</a:t>
              </a:r>
              <a:br>
                <a:rPr lang="es-ES" dirty="0">
                  <a:solidFill>
                    <a:schemeClr val="bg1"/>
                  </a:solidFill>
                  <a:latin typeface="Helvetica" pitchFamily="2" charset="0"/>
                </a:rPr>
              </a:br>
              <a:r>
                <a:rPr lang="es-ES" dirty="0">
                  <a:solidFill>
                    <a:schemeClr val="bg1"/>
                  </a:solidFill>
                  <a:latin typeface="Helvetica" pitchFamily="2" charset="0"/>
                </a:rPr>
                <a:t>estructura switch-case</a:t>
              </a:r>
              <a:endParaRPr lang="en-US" dirty="0">
                <a:solidFill>
                  <a:schemeClr val="bg1"/>
                </a:solidFill>
                <a:latin typeface="Helvetica" pitchFamily="2" charset="0"/>
              </a:endParaRPr>
            </a:p>
          </p:txBody>
        </p:sp>
        <p:sp>
          <p:nvSpPr>
            <p:cNvPr id="8" name="TextBox 7">
              <a:extLst>
                <a:ext uri="{FF2B5EF4-FFF2-40B4-BE49-F238E27FC236}">
                  <a16:creationId xmlns:a16="http://schemas.microsoft.com/office/drawing/2014/main" id="{81534D8D-2C83-7BD4-ECE8-207290047C4E}"/>
                </a:ext>
              </a:extLst>
            </p:cNvPr>
            <p:cNvSpPr txBox="1"/>
            <p:nvPr/>
          </p:nvSpPr>
          <p:spPr>
            <a:xfrm>
              <a:off x="991402" y="1526961"/>
              <a:ext cx="1020278" cy="1015663"/>
            </a:xfrm>
            <a:prstGeom prst="rect">
              <a:avLst/>
            </a:prstGeom>
            <a:noFill/>
            <a:ln>
              <a:noFill/>
            </a:ln>
          </p:spPr>
          <p:txBody>
            <a:bodyPr wrap="square" rtlCol="0">
              <a:spAutoFit/>
            </a:bodyPr>
            <a:lstStyle/>
            <a:p>
              <a:r>
                <a:rPr lang="es-ES" sz="6000" b="1">
                  <a:solidFill>
                    <a:schemeClr val="bg1"/>
                  </a:solidFill>
                  <a:latin typeface="Helvetica" pitchFamily="2" charset="0"/>
                </a:rPr>
                <a:t>3</a:t>
              </a:r>
              <a:endParaRPr lang="en-US" sz="6000" b="1">
                <a:solidFill>
                  <a:schemeClr val="bg1"/>
                </a:solidFill>
                <a:latin typeface="Helvetica" pitchFamily="2" charset="0"/>
              </a:endParaRPr>
            </a:p>
          </p:txBody>
        </p:sp>
        <p:sp>
          <p:nvSpPr>
            <p:cNvPr id="9" name="Rectangle 8">
              <a:extLst>
                <a:ext uri="{FF2B5EF4-FFF2-40B4-BE49-F238E27FC236}">
                  <a16:creationId xmlns:a16="http://schemas.microsoft.com/office/drawing/2014/main" id="{BC6743BB-CF8F-5003-8CAD-9386FF5157C8}"/>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AE16E32-A371-7CA9-FC10-A1CD2AA82C80}"/>
              </a:ext>
            </a:extLst>
          </p:cNvPr>
          <p:cNvSpPr>
            <a:spLocks noGrp="1"/>
          </p:cNvSpPr>
          <p:nvPr>
            <p:ph type="title"/>
          </p:nvPr>
        </p:nvSpPr>
        <p:spPr/>
        <p:txBody>
          <a:bodyPr/>
          <a:lstStyle/>
          <a:p>
            <a:r>
              <a:rPr lang="es-ES" dirty="0"/>
              <a:t>Solución</a:t>
            </a:r>
            <a:endParaRPr lang="en-US" dirty="0"/>
          </a:p>
        </p:txBody>
      </p:sp>
      <p:sp>
        <p:nvSpPr>
          <p:cNvPr id="3" name="Slide Number Placeholder 2">
            <a:extLst>
              <a:ext uri="{FF2B5EF4-FFF2-40B4-BE49-F238E27FC236}">
                <a16:creationId xmlns:a16="http://schemas.microsoft.com/office/drawing/2014/main" id="{A60F509D-479B-DC1E-F942-24FF5764D7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21</a:t>
            </a:fld>
            <a:endParaRPr lang="es-PE"/>
          </a:p>
        </p:txBody>
      </p:sp>
      <p:sp>
        <p:nvSpPr>
          <p:cNvPr id="4" name="Content Placeholder 3">
            <a:extLst>
              <a:ext uri="{FF2B5EF4-FFF2-40B4-BE49-F238E27FC236}">
                <a16:creationId xmlns:a16="http://schemas.microsoft.com/office/drawing/2014/main" id="{8CAE454A-51E6-879B-B5B6-1882249BE694}"/>
              </a:ext>
            </a:extLst>
          </p:cNvPr>
          <p:cNvSpPr>
            <a:spLocks noGrp="1"/>
          </p:cNvSpPr>
          <p:nvPr>
            <p:ph sz="quarter" idx="13"/>
          </p:nvPr>
        </p:nvSpPr>
        <p:spPr/>
        <p:txBody>
          <a:bodyPr/>
          <a:lstStyle/>
          <a:p>
            <a:pPr marL="50800" indent="0">
              <a:buNone/>
            </a:pPr>
            <a:r>
              <a:rPr lang="es-ES" dirty="0"/>
              <a:t>Solución en el archivo :</a:t>
            </a:r>
          </a:p>
          <a:p>
            <a:pPr marL="50800" indent="0">
              <a:buNone/>
            </a:pPr>
            <a:endParaRPr lang="es-ES" b="1" dirty="0"/>
          </a:p>
          <a:p>
            <a:pPr marL="50800" indent="0">
              <a:buNone/>
            </a:pPr>
            <a:endParaRPr lang="es-ES" b="1" dirty="0"/>
          </a:p>
          <a:p>
            <a:pPr marL="50800" indent="0">
              <a:buNone/>
            </a:pPr>
            <a:endParaRPr lang="es-ES" b="1" dirty="0"/>
          </a:p>
          <a:p>
            <a:pPr marL="50800" indent="0">
              <a:buNone/>
            </a:pPr>
            <a:endParaRPr lang="es-ES" b="1" dirty="0"/>
          </a:p>
          <a:p>
            <a:pPr marL="50800" indent="0">
              <a:buNone/>
            </a:pPr>
            <a:endParaRPr lang="es-ES" b="1" dirty="0"/>
          </a:p>
          <a:p>
            <a:pPr marL="50800" indent="0">
              <a:buNone/>
            </a:pPr>
            <a:r>
              <a:rPr lang="es-ES" b="1" dirty="0"/>
              <a:t>PlanTarifario.java</a:t>
            </a:r>
            <a:endParaRPr lang="en-US" b="1" dirty="0"/>
          </a:p>
        </p:txBody>
      </p:sp>
      <p:pic>
        <p:nvPicPr>
          <p:cNvPr id="10" name="Picture 9">
            <a:extLst>
              <a:ext uri="{FF2B5EF4-FFF2-40B4-BE49-F238E27FC236}">
                <a16:creationId xmlns:a16="http://schemas.microsoft.com/office/drawing/2014/main" id="{B9242075-BB53-4C85-67CB-A587EAC2BCB8}"/>
              </a:ext>
            </a:extLst>
          </p:cNvPr>
          <p:cNvPicPr>
            <a:picLocks noChangeAspect="1"/>
          </p:cNvPicPr>
          <p:nvPr/>
        </p:nvPicPr>
        <p:blipFill>
          <a:blip r:embed="rId3"/>
          <a:stretch>
            <a:fillRect/>
          </a:stretch>
        </p:blipFill>
        <p:spPr>
          <a:xfrm>
            <a:off x="1106079" y="2813844"/>
            <a:ext cx="2438400" cy="2438400"/>
          </a:xfrm>
          <a:prstGeom prst="rect">
            <a:avLst/>
          </a:prstGeom>
          <a:effectLst>
            <a:outerShdw blurRad="76200" dir="18900000" sy="23000" kx="-1200000" algn="bl" rotWithShape="0">
              <a:prstClr val="black">
                <a:alpha val="20000"/>
              </a:prstClr>
            </a:outerShdw>
          </a:effectLst>
        </p:spPr>
      </p:pic>
      <p:sp>
        <p:nvSpPr>
          <p:cNvPr id="14" name="TextBox 13">
            <a:extLst>
              <a:ext uri="{FF2B5EF4-FFF2-40B4-BE49-F238E27FC236}">
                <a16:creationId xmlns:a16="http://schemas.microsoft.com/office/drawing/2014/main" id="{7A4B926E-DF80-3F27-703C-2096D8DA94CF}"/>
              </a:ext>
            </a:extLst>
          </p:cNvPr>
          <p:cNvSpPr txBox="1"/>
          <p:nvPr/>
        </p:nvSpPr>
        <p:spPr>
          <a:xfrm>
            <a:off x="187967" y="6334283"/>
            <a:ext cx="6103854" cy="3693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a:t>
            </a:r>
            <a:br>
              <a:rPr lang="en-US" sz="900" dirty="0">
                <a:solidFill>
                  <a:schemeClr val="bg1">
                    <a:lumMod val="50000"/>
                  </a:schemeClr>
                </a:solidFill>
              </a:rPr>
            </a:br>
            <a:r>
              <a:rPr lang="en-US" sz="900" dirty="0">
                <a:solidFill>
                  <a:schemeClr val="bg1">
                    <a:lumMod val="50000"/>
                  </a:schemeClr>
                </a:solidFill>
              </a:rPr>
              <a:t>https://insights.dice.com/wp-content/uploads/2018/03/Hipster-Developer-Dice.jpg</a:t>
            </a:r>
          </a:p>
        </p:txBody>
      </p:sp>
    </p:spTree>
    <p:extLst>
      <p:ext uri="{BB962C8B-B14F-4D97-AF65-F5344CB8AC3E}">
        <p14:creationId xmlns:p14="http://schemas.microsoft.com/office/powerpoint/2010/main" val="2860344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C6B983-D187-5021-011D-340D9A6463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22</a:t>
            </a:fld>
            <a:endParaRPr lang="es-PE"/>
          </a:p>
        </p:txBody>
      </p:sp>
      <p:sp>
        <p:nvSpPr>
          <p:cNvPr id="2" name="TextBox 1">
            <a:extLst>
              <a:ext uri="{FF2B5EF4-FFF2-40B4-BE49-F238E27FC236}">
                <a16:creationId xmlns:a16="http://schemas.microsoft.com/office/drawing/2014/main" id="{6B32F08B-E599-8764-EE5E-B3C48CE274CF}"/>
              </a:ext>
            </a:extLst>
          </p:cNvPr>
          <p:cNvSpPr txBox="1"/>
          <p:nvPr/>
        </p:nvSpPr>
        <p:spPr>
          <a:xfrm rot="16200000">
            <a:off x="-1552306" y="2760043"/>
            <a:ext cx="5599610" cy="1446550"/>
          </a:xfrm>
          <a:prstGeom prst="rect">
            <a:avLst/>
          </a:prstGeom>
          <a:noFill/>
        </p:spPr>
        <p:txBody>
          <a:bodyPr wrap="none" rtlCol="0">
            <a:spAutoFit/>
          </a:bodyPr>
          <a:lstStyle/>
          <a:p>
            <a:r>
              <a:rPr lang="es-ES" sz="8800" b="1" dirty="0">
                <a:solidFill>
                  <a:schemeClr val="bg1">
                    <a:lumMod val="85000"/>
                  </a:schemeClr>
                </a:solidFill>
                <a:latin typeface="Helvetica" pitchFamily="2" charset="0"/>
              </a:rPr>
              <a:t>contenido</a:t>
            </a:r>
            <a:endParaRPr lang="en-US" sz="8800" b="1" dirty="0">
              <a:solidFill>
                <a:schemeClr val="bg1">
                  <a:lumMod val="85000"/>
                </a:schemeClr>
              </a:solidFill>
              <a:latin typeface="Helvetica" pitchFamily="2" charset="0"/>
            </a:endParaRPr>
          </a:p>
        </p:txBody>
      </p:sp>
      <p:grpSp>
        <p:nvGrpSpPr>
          <p:cNvPr id="9" name="Group 8">
            <a:extLst>
              <a:ext uri="{FF2B5EF4-FFF2-40B4-BE49-F238E27FC236}">
                <a16:creationId xmlns:a16="http://schemas.microsoft.com/office/drawing/2014/main" id="{6D8EC2C4-D534-A87E-5305-9BD92B9838D9}"/>
              </a:ext>
            </a:extLst>
          </p:cNvPr>
          <p:cNvGrpSpPr/>
          <p:nvPr/>
        </p:nvGrpSpPr>
        <p:grpSpPr>
          <a:xfrm>
            <a:off x="1955128" y="892964"/>
            <a:ext cx="4629752" cy="1015663"/>
            <a:chOff x="924025" y="1526961"/>
            <a:chExt cx="4629752" cy="1015663"/>
          </a:xfrm>
        </p:grpSpPr>
        <p:sp>
          <p:nvSpPr>
            <p:cNvPr id="6" name="Rectangle 5">
              <a:extLst>
                <a:ext uri="{FF2B5EF4-FFF2-40B4-BE49-F238E27FC236}">
                  <a16:creationId xmlns:a16="http://schemas.microsoft.com/office/drawing/2014/main" id="{AFE41E11-2903-D4AD-BABB-046EDBE4AABD}"/>
                </a:ext>
              </a:extLst>
            </p:cNvPr>
            <p:cNvSpPr/>
            <p:nvPr/>
          </p:nvSpPr>
          <p:spPr>
            <a:xfrm>
              <a:off x="924025" y="1559294"/>
              <a:ext cx="4629752" cy="731520"/>
            </a:xfrm>
            <a:prstGeom prst="rect">
              <a:avLst/>
            </a:prstGeom>
            <a:solidFill>
              <a:srgbClr val="1B5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FB12F7A-F286-0B30-D30E-E9A916CC839B}"/>
                </a:ext>
              </a:extLst>
            </p:cNvPr>
            <p:cNvSpPr txBox="1"/>
            <p:nvPr/>
          </p:nvSpPr>
          <p:spPr>
            <a:xfrm>
              <a:off x="1501541" y="1663444"/>
              <a:ext cx="3062398" cy="523220"/>
            </a:xfrm>
            <a:prstGeom prst="rect">
              <a:avLst/>
            </a:prstGeom>
            <a:noFill/>
            <a:ln>
              <a:noFill/>
            </a:ln>
          </p:spPr>
          <p:txBody>
            <a:bodyPr wrap="square" rtlCol="0">
              <a:spAutoFit/>
            </a:bodyPr>
            <a:lstStyle/>
            <a:p>
              <a:r>
                <a:rPr lang="es-ES" dirty="0">
                  <a:solidFill>
                    <a:schemeClr val="bg1"/>
                  </a:solidFill>
                  <a:latin typeface="Helvetica" pitchFamily="2" charset="0"/>
                </a:rPr>
                <a:t>Estructuras condicionales</a:t>
              </a:r>
              <a:br>
                <a:rPr lang="es-ES" dirty="0">
                  <a:solidFill>
                    <a:schemeClr val="bg1"/>
                  </a:solidFill>
                  <a:latin typeface="Helvetica" pitchFamily="2" charset="0"/>
                </a:rPr>
              </a:br>
              <a:r>
                <a:rPr lang="es-ES" dirty="0">
                  <a:solidFill>
                    <a:schemeClr val="bg1"/>
                  </a:solidFill>
                  <a:latin typeface="Helvetica" pitchFamily="2" charset="0"/>
                </a:rPr>
                <a:t>(repaso)</a:t>
              </a:r>
              <a:endParaRPr lang="en-US" dirty="0">
                <a:solidFill>
                  <a:schemeClr val="bg1"/>
                </a:solidFill>
                <a:latin typeface="Helvetica" pitchFamily="2" charset="0"/>
              </a:endParaRPr>
            </a:p>
          </p:txBody>
        </p:sp>
        <p:sp>
          <p:nvSpPr>
            <p:cNvPr id="7" name="TextBox 6">
              <a:extLst>
                <a:ext uri="{FF2B5EF4-FFF2-40B4-BE49-F238E27FC236}">
                  <a16:creationId xmlns:a16="http://schemas.microsoft.com/office/drawing/2014/main" id="{93EEA1CE-79B2-915B-2C77-2F1212A1BF67}"/>
                </a:ext>
              </a:extLst>
            </p:cNvPr>
            <p:cNvSpPr txBox="1"/>
            <p:nvPr/>
          </p:nvSpPr>
          <p:spPr>
            <a:xfrm>
              <a:off x="991402" y="1526961"/>
              <a:ext cx="1020278" cy="1015663"/>
            </a:xfrm>
            <a:prstGeom prst="rect">
              <a:avLst/>
            </a:prstGeom>
            <a:noFill/>
            <a:ln>
              <a:noFill/>
            </a:ln>
          </p:spPr>
          <p:txBody>
            <a:bodyPr wrap="square" rtlCol="0">
              <a:spAutoFit/>
            </a:bodyPr>
            <a:lstStyle/>
            <a:p>
              <a:r>
                <a:rPr lang="es-ES" sz="6000" b="1" dirty="0">
                  <a:solidFill>
                    <a:schemeClr val="bg1"/>
                  </a:solidFill>
                  <a:latin typeface="Helvetica" pitchFamily="2" charset="0"/>
                </a:rPr>
                <a:t>1</a:t>
              </a:r>
              <a:endParaRPr lang="en-US" sz="6000" b="1" dirty="0">
                <a:solidFill>
                  <a:schemeClr val="bg1"/>
                </a:solidFill>
                <a:latin typeface="Helvetica" pitchFamily="2" charset="0"/>
              </a:endParaRPr>
            </a:p>
          </p:txBody>
        </p:sp>
        <p:sp>
          <p:nvSpPr>
            <p:cNvPr id="8" name="Rectangle 7">
              <a:extLst>
                <a:ext uri="{FF2B5EF4-FFF2-40B4-BE49-F238E27FC236}">
                  <a16:creationId xmlns:a16="http://schemas.microsoft.com/office/drawing/2014/main" id="{830C6426-CF18-244B-D9EC-4576E393467C}"/>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4C62550A-9487-0FB4-AEF5-18BF59D1D1BB}"/>
              </a:ext>
            </a:extLst>
          </p:cNvPr>
          <p:cNvGrpSpPr/>
          <p:nvPr/>
        </p:nvGrpSpPr>
        <p:grpSpPr>
          <a:xfrm>
            <a:off x="1955128" y="1782509"/>
            <a:ext cx="4629752" cy="1015663"/>
            <a:chOff x="924025" y="1526961"/>
            <a:chExt cx="4629752" cy="1015663"/>
          </a:xfrm>
        </p:grpSpPr>
        <p:sp>
          <p:nvSpPr>
            <p:cNvPr id="11" name="Rectangle 10">
              <a:extLst>
                <a:ext uri="{FF2B5EF4-FFF2-40B4-BE49-F238E27FC236}">
                  <a16:creationId xmlns:a16="http://schemas.microsoft.com/office/drawing/2014/main" id="{89EE3C4A-25E0-0661-5719-DFD8A408196E}"/>
                </a:ext>
              </a:extLst>
            </p:cNvPr>
            <p:cNvSpPr/>
            <p:nvPr/>
          </p:nvSpPr>
          <p:spPr>
            <a:xfrm>
              <a:off x="924025" y="1559294"/>
              <a:ext cx="4629752" cy="731520"/>
            </a:xfrm>
            <a:prstGeom prst="rect">
              <a:avLst/>
            </a:prstGeom>
            <a:solidFill>
              <a:srgbClr val="0E7D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F03E694-3539-B74F-A7F9-A90BF4FC7172}"/>
                </a:ext>
              </a:extLst>
            </p:cNvPr>
            <p:cNvSpPr txBox="1"/>
            <p:nvPr/>
          </p:nvSpPr>
          <p:spPr>
            <a:xfrm>
              <a:off x="1501541" y="1663444"/>
              <a:ext cx="2515402" cy="523220"/>
            </a:xfrm>
            <a:prstGeom prst="rect">
              <a:avLst/>
            </a:prstGeom>
            <a:noFill/>
            <a:ln>
              <a:noFill/>
            </a:ln>
          </p:spPr>
          <p:txBody>
            <a:bodyPr wrap="square" rtlCol="0">
              <a:spAutoFit/>
            </a:bodyPr>
            <a:lstStyle/>
            <a:p>
              <a:r>
                <a:rPr lang="es-ES" dirty="0">
                  <a:solidFill>
                    <a:schemeClr val="bg1"/>
                  </a:solidFill>
                  <a:latin typeface="Helvetica" pitchFamily="2" charset="0"/>
                </a:rPr>
                <a:t>Ejercicios con </a:t>
              </a:r>
              <a:br>
                <a:rPr lang="es-ES" dirty="0">
                  <a:solidFill>
                    <a:schemeClr val="bg1"/>
                  </a:solidFill>
                  <a:latin typeface="Helvetica" pitchFamily="2" charset="0"/>
                </a:rPr>
              </a:br>
              <a:r>
                <a:rPr lang="es-ES" dirty="0">
                  <a:solidFill>
                    <a:schemeClr val="bg1"/>
                  </a:solidFill>
                  <a:latin typeface="Helvetica" pitchFamily="2" charset="0"/>
                </a:rPr>
                <a:t>estructura </a:t>
              </a:r>
              <a:r>
                <a:rPr lang="es-ES" dirty="0" err="1">
                  <a:solidFill>
                    <a:schemeClr val="bg1"/>
                  </a:solidFill>
                  <a:latin typeface="Helvetica" pitchFamily="2" charset="0"/>
                </a:rPr>
                <a:t>if</a:t>
              </a:r>
              <a:r>
                <a:rPr lang="es-ES" dirty="0">
                  <a:solidFill>
                    <a:schemeClr val="bg1"/>
                  </a:solidFill>
                  <a:latin typeface="Helvetica" pitchFamily="2" charset="0"/>
                </a:rPr>
                <a:t>..</a:t>
              </a:r>
              <a:r>
                <a:rPr lang="es-ES" dirty="0" err="1">
                  <a:solidFill>
                    <a:schemeClr val="bg1"/>
                  </a:solidFill>
                  <a:latin typeface="Helvetica" pitchFamily="2" charset="0"/>
                </a:rPr>
                <a:t>else</a:t>
              </a:r>
              <a:endParaRPr lang="en-US" dirty="0">
                <a:solidFill>
                  <a:schemeClr val="bg1"/>
                </a:solidFill>
                <a:latin typeface="Helvetica" pitchFamily="2" charset="0"/>
              </a:endParaRPr>
            </a:p>
          </p:txBody>
        </p:sp>
        <p:sp>
          <p:nvSpPr>
            <p:cNvPr id="13" name="TextBox 12">
              <a:extLst>
                <a:ext uri="{FF2B5EF4-FFF2-40B4-BE49-F238E27FC236}">
                  <a16:creationId xmlns:a16="http://schemas.microsoft.com/office/drawing/2014/main" id="{D0BD6589-A9C6-D2FD-D50D-C5AAC8113E8A}"/>
                </a:ext>
              </a:extLst>
            </p:cNvPr>
            <p:cNvSpPr txBox="1"/>
            <p:nvPr/>
          </p:nvSpPr>
          <p:spPr>
            <a:xfrm>
              <a:off x="991402" y="1526961"/>
              <a:ext cx="1020278" cy="1015663"/>
            </a:xfrm>
            <a:prstGeom prst="rect">
              <a:avLst/>
            </a:prstGeom>
            <a:noFill/>
            <a:ln>
              <a:noFill/>
            </a:ln>
          </p:spPr>
          <p:txBody>
            <a:bodyPr wrap="square" rtlCol="0">
              <a:spAutoFit/>
            </a:bodyPr>
            <a:lstStyle/>
            <a:p>
              <a:r>
                <a:rPr lang="es-ES" sz="6000" b="1" dirty="0">
                  <a:solidFill>
                    <a:schemeClr val="bg1"/>
                  </a:solidFill>
                  <a:latin typeface="Helvetica" pitchFamily="2" charset="0"/>
                </a:rPr>
                <a:t>2</a:t>
              </a:r>
              <a:endParaRPr lang="en-US" sz="6000" b="1" dirty="0">
                <a:solidFill>
                  <a:schemeClr val="bg1"/>
                </a:solidFill>
                <a:latin typeface="Helvetica" pitchFamily="2" charset="0"/>
              </a:endParaRPr>
            </a:p>
          </p:txBody>
        </p:sp>
        <p:sp>
          <p:nvSpPr>
            <p:cNvPr id="14" name="Rectangle 13">
              <a:extLst>
                <a:ext uri="{FF2B5EF4-FFF2-40B4-BE49-F238E27FC236}">
                  <a16:creationId xmlns:a16="http://schemas.microsoft.com/office/drawing/2014/main" id="{FE0265B7-9BAF-D770-6E56-5AE1A9C41973}"/>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356232F4-70C8-C517-6AFF-BE83D525DAAD}"/>
              </a:ext>
            </a:extLst>
          </p:cNvPr>
          <p:cNvGrpSpPr/>
          <p:nvPr/>
        </p:nvGrpSpPr>
        <p:grpSpPr>
          <a:xfrm>
            <a:off x="1955128" y="2672054"/>
            <a:ext cx="4629752" cy="1015663"/>
            <a:chOff x="924025" y="1526961"/>
            <a:chExt cx="4629752" cy="1015663"/>
          </a:xfrm>
        </p:grpSpPr>
        <p:sp>
          <p:nvSpPr>
            <p:cNvPr id="15" name="Rectangle 14">
              <a:extLst>
                <a:ext uri="{FF2B5EF4-FFF2-40B4-BE49-F238E27FC236}">
                  <a16:creationId xmlns:a16="http://schemas.microsoft.com/office/drawing/2014/main" id="{7239BAF7-6461-3460-7124-CC87D48DB413}"/>
                </a:ext>
              </a:extLst>
            </p:cNvPr>
            <p:cNvSpPr/>
            <p:nvPr/>
          </p:nvSpPr>
          <p:spPr>
            <a:xfrm>
              <a:off x="924025" y="1559294"/>
              <a:ext cx="4629752" cy="731520"/>
            </a:xfrm>
            <a:prstGeom prst="rect">
              <a:avLst/>
            </a:prstGeom>
            <a:solidFill>
              <a:srgbClr val="75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3E7F899-F28C-C7A1-9A5F-C51ECC1A2501}"/>
                </a:ext>
              </a:extLst>
            </p:cNvPr>
            <p:cNvSpPr txBox="1"/>
            <p:nvPr/>
          </p:nvSpPr>
          <p:spPr>
            <a:xfrm>
              <a:off x="1501541" y="1663444"/>
              <a:ext cx="2515402" cy="523220"/>
            </a:xfrm>
            <a:prstGeom prst="rect">
              <a:avLst/>
            </a:prstGeom>
            <a:noFill/>
            <a:ln>
              <a:noFill/>
            </a:ln>
          </p:spPr>
          <p:txBody>
            <a:bodyPr wrap="square" rtlCol="0">
              <a:spAutoFit/>
            </a:bodyPr>
            <a:lstStyle/>
            <a:p>
              <a:r>
                <a:rPr lang="es-ES" dirty="0">
                  <a:solidFill>
                    <a:schemeClr val="bg1"/>
                  </a:solidFill>
                  <a:latin typeface="Helvetica" pitchFamily="2" charset="0"/>
                </a:rPr>
                <a:t>Ejercicios con</a:t>
              </a:r>
              <a:br>
                <a:rPr lang="es-ES" dirty="0">
                  <a:solidFill>
                    <a:schemeClr val="bg1"/>
                  </a:solidFill>
                  <a:latin typeface="Helvetica" pitchFamily="2" charset="0"/>
                </a:rPr>
              </a:br>
              <a:r>
                <a:rPr lang="es-ES" dirty="0">
                  <a:solidFill>
                    <a:schemeClr val="bg1"/>
                  </a:solidFill>
                  <a:latin typeface="Helvetica" pitchFamily="2" charset="0"/>
                </a:rPr>
                <a:t>estructura switch-case</a:t>
              </a:r>
              <a:endParaRPr lang="en-US" dirty="0">
                <a:solidFill>
                  <a:schemeClr val="bg1"/>
                </a:solidFill>
                <a:latin typeface="Helvetica" pitchFamily="2" charset="0"/>
              </a:endParaRPr>
            </a:p>
          </p:txBody>
        </p:sp>
        <p:sp>
          <p:nvSpPr>
            <p:cNvPr id="17" name="TextBox 16">
              <a:extLst>
                <a:ext uri="{FF2B5EF4-FFF2-40B4-BE49-F238E27FC236}">
                  <a16:creationId xmlns:a16="http://schemas.microsoft.com/office/drawing/2014/main" id="{2AF805C7-CBE8-E255-68DF-C6DE8386ADAF}"/>
                </a:ext>
              </a:extLst>
            </p:cNvPr>
            <p:cNvSpPr txBox="1"/>
            <p:nvPr/>
          </p:nvSpPr>
          <p:spPr>
            <a:xfrm>
              <a:off x="991402" y="1526961"/>
              <a:ext cx="1020278" cy="1015663"/>
            </a:xfrm>
            <a:prstGeom prst="rect">
              <a:avLst/>
            </a:prstGeom>
            <a:noFill/>
            <a:ln>
              <a:noFill/>
            </a:ln>
          </p:spPr>
          <p:txBody>
            <a:bodyPr wrap="square" rtlCol="0">
              <a:spAutoFit/>
            </a:bodyPr>
            <a:lstStyle/>
            <a:p>
              <a:r>
                <a:rPr lang="es-ES" sz="6000" b="1">
                  <a:solidFill>
                    <a:schemeClr val="bg1"/>
                  </a:solidFill>
                  <a:latin typeface="Helvetica" pitchFamily="2" charset="0"/>
                </a:rPr>
                <a:t>3</a:t>
              </a:r>
              <a:endParaRPr lang="en-US" sz="6000" b="1">
                <a:solidFill>
                  <a:schemeClr val="bg1"/>
                </a:solidFill>
                <a:latin typeface="Helvetica" pitchFamily="2" charset="0"/>
              </a:endParaRPr>
            </a:p>
          </p:txBody>
        </p:sp>
        <p:sp>
          <p:nvSpPr>
            <p:cNvPr id="18" name="Rectangle 17">
              <a:extLst>
                <a:ext uri="{FF2B5EF4-FFF2-40B4-BE49-F238E27FC236}">
                  <a16:creationId xmlns:a16="http://schemas.microsoft.com/office/drawing/2014/main" id="{D45F683C-083B-4EAA-D3C1-1A378724E7E2}"/>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45247CA5-A0E6-5FEE-D972-64B7FAA0BBEF}"/>
              </a:ext>
            </a:extLst>
          </p:cNvPr>
          <p:cNvSpPr/>
          <p:nvPr/>
        </p:nvSpPr>
        <p:spPr>
          <a:xfrm>
            <a:off x="1801640" y="683513"/>
            <a:ext cx="9678154" cy="559961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B128E89F-E5A0-B939-5EBB-4F1A37FD8B52}"/>
              </a:ext>
            </a:extLst>
          </p:cNvPr>
          <p:cNvGrpSpPr/>
          <p:nvPr/>
        </p:nvGrpSpPr>
        <p:grpSpPr>
          <a:xfrm>
            <a:off x="1955128" y="3561599"/>
            <a:ext cx="4629752" cy="1015663"/>
            <a:chOff x="924025" y="1526961"/>
            <a:chExt cx="4629752" cy="1015663"/>
          </a:xfrm>
        </p:grpSpPr>
        <p:sp>
          <p:nvSpPr>
            <p:cNvPr id="20" name="Rectangle 19">
              <a:extLst>
                <a:ext uri="{FF2B5EF4-FFF2-40B4-BE49-F238E27FC236}">
                  <a16:creationId xmlns:a16="http://schemas.microsoft.com/office/drawing/2014/main" id="{53DD428E-2B36-BEF9-5D64-F43F2B5FCFAE}"/>
                </a:ext>
              </a:extLst>
            </p:cNvPr>
            <p:cNvSpPr/>
            <p:nvPr/>
          </p:nvSpPr>
          <p:spPr>
            <a:xfrm>
              <a:off x="924025" y="1559294"/>
              <a:ext cx="4629752" cy="731520"/>
            </a:xfrm>
            <a:prstGeom prst="rect">
              <a:avLst/>
            </a:prstGeom>
            <a:solidFill>
              <a:srgbClr val="BA75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E1EBD91-0CD9-10A4-75E7-CB75D7B7D977}"/>
                </a:ext>
              </a:extLst>
            </p:cNvPr>
            <p:cNvSpPr txBox="1"/>
            <p:nvPr/>
          </p:nvSpPr>
          <p:spPr>
            <a:xfrm>
              <a:off x="1501541" y="1663444"/>
              <a:ext cx="2515402" cy="307777"/>
            </a:xfrm>
            <a:prstGeom prst="rect">
              <a:avLst/>
            </a:prstGeom>
            <a:noFill/>
            <a:ln>
              <a:noFill/>
            </a:ln>
          </p:spPr>
          <p:txBody>
            <a:bodyPr wrap="square" rtlCol="0">
              <a:spAutoFit/>
            </a:bodyPr>
            <a:lstStyle/>
            <a:p>
              <a:r>
                <a:rPr lang="es-ES" dirty="0">
                  <a:solidFill>
                    <a:schemeClr val="bg1"/>
                  </a:solidFill>
                  <a:latin typeface="Helvetica" pitchFamily="2" charset="0"/>
                </a:rPr>
                <a:t>Práctica</a:t>
              </a:r>
              <a:endParaRPr lang="en-US" dirty="0">
                <a:solidFill>
                  <a:schemeClr val="bg1"/>
                </a:solidFill>
                <a:latin typeface="Helvetica" pitchFamily="2" charset="0"/>
              </a:endParaRPr>
            </a:p>
          </p:txBody>
        </p:sp>
        <p:sp>
          <p:nvSpPr>
            <p:cNvPr id="22" name="TextBox 21">
              <a:extLst>
                <a:ext uri="{FF2B5EF4-FFF2-40B4-BE49-F238E27FC236}">
                  <a16:creationId xmlns:a16="http://schemas.microsoft.com/office/drawing/2014/main" id="{F1D0630B-0B0F-7C88-7C30-8C1FFFA75754}"/>
                </a:ext>
              </a:extLst>
            </p:cNvPr>
            <p:cNvSpPr txBox="1"/>
            <p:nvPr/>
          </p:nvSpPr>
          <p:spPr>
            <a:xfrm>
              <a:off x="991402" y="1526961"/>
              <a:ext cx="1020278" cy="1015663"/>
            </a:xfrm>
            <a:prstGeom prst="rect">
              <a:avLst/>
            </a:prstGeom>
            <a:noFill/>
            <a:ln>
              <a:noFill/>
            </a:ln>
          </p:spPr>
          <p:txBody>
            <a:bodyPr wrap="square" rtlCol="0">
              <a:spAutoFit/>
            </a:bodyPr>
            <a:lstStyle/>
            <a:p>
              <a:r>
                <a:rPr lang="es-ES" sz="6000" b="1">
                  <a:solidFill>
                    <a:schemeClr val="bg1"/>
                  </a:solidFill>
                  <a:latin typeface="Helvetica" pitchFamily="2" charset="0"/>
                </a:rPr>
                <a:t>4</a:t>
              </a:r>
              <a:endParaRPr lang="en-US" sz="6000" b="1">
                <a:solidFill>
                  <a:schemeClr val="bg1"/>
                </a:solidFill>
                <a:latin typeface="Helvetica" pitchFamily="2" charset="0"/>
              </a:endParaRPr>
            </a:p>
          </p:txBody>
        </p:sp>
        <p:sp>
          <p:nvSpPr>
            <p:cNvPr id="23" name="Rectangle 22">
              <a:extLst>
                <a:ext uri="{FF2B5EF4-FFF2-40B4-BE49-F238E27FC236}">
                  <a16:creationId xmlns:a16="http://schemas.microsoft.com/office/drawing/2014/main" id="{58B17AA6-2A3D-F74D-3001-D04EC4218E54}"/>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99423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85FFDED7-6780-D4CC-D604-59414B4F5C74}"/>
              </a:ext>
            </a:extLst>
          </p:cNvPr>
          <p:cNvPicPr>
            <a:picLocks noChangeAspect="1"/>
          </p:cNvPicPr>
          <p:nvPr/>
        </p:nvPicPr>
        <p:blipFill rotWithShape="1">
          <a:blip r:embed="rId2">
            <a:alphaModFix amt="5000"/>
          </a:blip>
          <a:srcRect b="10326"/>
          <a:stretch/>
        </p:blipFill>
        <p:spPr>
          <a:xfrm>
            <a:off x="0" y="-7589"/>
            <a:ext cx="12192000" cy="6883331"/>
          </a:xfrm>
          <a:prstGeom prst="rect">
            <a:avLst/>
          </a:prstGeom>
        </p:spPr>
      </p:pic>
      <p:grpSp>
        <p:nvGrpSpPr>
          <p:cNvPr id="10" name="Group 9">
            <a:extLst>
              <a:ext uri="{FF2B5EF4-FFF2-40B4-BE49-F238E27FC236}">
                <a16:creationId xmlns:a16="http://schemas.microsoft.com/office/drawing/2014/main" id="{A128C468-2B8B-1D9C-3348-A1106C8E2864}"/>
              </a:ext>
            </a:extLst>
          </p:cNvPr>
          <p:cNvGrpSpPr/>
          <p:nvPr/>
        </p:nvGrpSpPr>
        <p:grpSpPr>
          <a:xfrm>
            <a:off x="838200" y="-39922"/>
            <a:ext cx="4629752" cy="1015663"/>
            <a:chOff x="924025" y="1526961"/>
            <a:chExt cx="4629752" cy="1015663"/>
          </a:xfrm>
        </p:grpSpPr>
        <p:sp>
          <p:nvSpPr>
            <p:cNvPr id="11" name="Rectangle 10">
              <a:extLst>
                <a:ext uri="{FF2B5EF4-FFF2-40B4-BE49-F238E27FC236}">
                  <a16:creationId xmlns:a16="http://schemas.microsoft.com/office/drawing/2014/main" id="{AE3026B0-A7D4-01C2-1465-EEA01995203F}"/>
                </a:ext>
              </a:extLst>
            </p:cNvPr>
            <p:cNvSpPr/>
            <p:nvPr/>
          </p:nvSpPr>
          <p:spPr>
            <a:xfrm>
              <a:off x="924025" y="1559294"/>
              <a:ext cx="4629752" cy="731520"/>
            </a:xfrm>
            <a:prstGeom prst="rect">
              <a:avLst/>
            </a:prstGeom>
            <a:solidFill>
              <a:srgbClr val="BA75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804CF8D-8E47-6A77-9B67-454536668AB9}"/>
                </a:ext>
              </a:extLst>
            </p:cNvPr>
            <p:cNvSpPr txBox="1"/>
            <p:nvPr/>
          </p:nvSpPr>
          <p:spPr>
            <a:xfrm>
              <a:off x="1501541" y="1663444"/>
              <a:ext cx="2515402" cy="307777"/>
            </a:xfrm>
            <a:prstGeom prst="rect">
              <a:avLst/>
            </a:prstGeom>
            <a:noFill/>
            <a:ln>
              <a:noFill/>
            </a:ln>
          </p:spPr>
          <p:txBody>
            <a:bodyPr wrap="square" rtlCol="0">
              <a:spAutoFit/>
            </a:bodyPr>
            <a:lstStyle/>
            <a:p>
              <a:r>
                <a:rPr lang="es-ES" dirty="0">
                  <a:solidFill>
                    <a:schemeClr val="bg1"/>
                  </a:solidFill>
                  <a:latin typeface="Helvetica" pitchFamily="2" charset="0"/>
                </a:rPr>
                <a:t>Práctica</a:t>
              </a:r>
              <a:endParaRPr lang="en-US" dirty="0">
                <a:solidFill>
                  <a:schemeClr val="bg1"/>
                </a:solidFill>
                <a:latin typeface="Helvetica" pitchFamily="2" charset="0"/>
              </a:endParaRPr>
            </a:p>
          </p:txBody>
        </p:sp>
        <p:sp>
          <p:nvSpPr>
            <p:cNvPr id="13" name="TextBox 12">
              <a:extLst>
                <a:ext uri="{FF2B5EF4-FFF2-40B4-BE49-F238E27FC236}">
                  <a16:creationId xmlns:a16="http://schemas.microsoft.com/office/drawing/2014/main" id="{E8A2E63D-4643-3049-44C9-5DB244736879}"/>
                </a:ext>
              </a:extLst>
            </p:cNvPr>
            <p:cNvSpPr txBox="1"/>
            <p:nvPr/>
          </p:nvSpPr>
          <p:spPr>
            <a:xfrm>
              <a:off x="991402" y="1526961"/>
              <a:ext cx="1020278" cy="1015663"/>
            </a:xfrm>
            <a:prstGeom prst="rect">
              <a:avLst/>
            </a:prstGeom>
            <a:noFill/>
            <a:ln>
              <a:noFill/>
            </a:ln>
          </p:spPr>
          <p:txBody>
            <a:bodyPr wrap="square" rtlCol="0">
              <a:spAutoFit/>
            </a:bodyPr>
            <a:lstStyle/>
            <a:p>
              <a:r>
                <a:rPr lang="es-ES" sz="6000" b="1">
                  <a:solidFill>
                    <a:schemeClr val="bg1"/>
                  </a:solidFill>
                  <a:latin typeface="Helvetica" pitchFamily="2" charset="0"/>
                </a:rPr>
                <a:t>4</a:t>
              </a:r>
              <a:endParaRPr lang="en-US" sz="6000" b="1">
                <a:solidFill>
                  <a:schemeClr val="bg1"/>
                </a:solidFill>
                <a:latin typeface="Helvetica" pitchFamily="2" charset="0"/>
              </a:endParaRPr>
            </a:p>
          </p:txBody>
        </p:sp>
        <p:sp>
          <p:nvSpPr>
            <p:cNvPr id="14" name="Rectangle 13">
              <a:extLst>
                <a:ext uri="{FF2B5EF4-FFF2-40B4-BE49-F238E27FC236}">
                  <a16:creationId xmlns:a16="http://schemas.microsoft.com/office/drawing/2014/main" id="{98D2EA76-E1F0-2D46-C84D-75EFBBC1798B}"/>
                </a:ext>
              </a:extLst>
            </p:cNvPr>
            <p:cNvSpPr/>
            <p:nvPr/>
          </p:nvSpPr>
          <p:spPr>
            <a:xfrm>
              <a:off x="4812631" y="1559294"/>
              <a:ext cx="741146" cy="73152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AE16E32-A371-7CA9-FC10-A1CD2AA82C80}"/>
              </a:ext>
            </a:extLst>
          </p:cNvPr>
          <p:cNvSpPr>
            <a:spLocks noGrp="1"/>
          </p:cNvSpPr>
          <p:nvPr>
            <p:ph type="title"/>
          </p:nvPr>
        </p:nvSpPr>
        <p:spPr/>
        <p:txBody>
          <a:bodyPr/>
          <a:lstStyle/>
          <a:p>
            <a:r>
              <a:rPr lang="es-ES" dirty="0"/>
              <a:t>Ejercicio Grupal</a:t>
            </a:r>
            <a:endParaRPr lang="en-US" dirty="0"/>
          </a:p>
        </p:txBody>
      </p:sp>
      <p:sp>
        <p:nvSpPr>
          <p:cNvPr id="3" name="Slide Number Placeholder 2">
            <a:extLst>
              <a:ext uri="{FF2B5EF4-FFF2-40B4-BE49-F238E27FC236}">
                <a16:creationId xmlns:a16="http://schemas.microsoft.com/office/drawing/2014/main" id="{A60F509D-479B-DC1E-F942-24FF5764D7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23</a:t>
            </a:fld>
            <a:endParaRPr lang="es-PE"/>
          </a:p>
        </p:txBody>
      </p:sp>
      <p:sp>
        <p:nvSpPr>
          <p:cNvPr id="4" name="Content Placeholder 3">
            <a:extLst>
              <a:ext uri="{FF2B5EF4-FFF2-40B4-BE49-F238E27FC236}">
                <a16:creationId xmlns:a16="http://schemas.microsoft.com/office/drawing/2014/main" id="{CF31D7AC-91EE-2C3C-CECE-0EE6F7E6214C}"/>
              </a:ext>
            </a:extLst>
          </p:cNvPr>
          <p:cNvSpPr>
            <a:spLocks noGrp="1"/>
          </p:cNvSpPr>
          <p:nvPr>
            <p:ph sz="quarter" idx="13"/>
          </p:nvPr>
        </p:nvSpPr>
        <p:spPr>
          <a:xfrm>
            <a:off x="838200" y="1846263"/>
            <a:ext cx="6534200" cy="4373562"/>
          </a:xfrm>
        </p:spPr>
        <p:txBody>
          <a:bodyPr/>
          <a:lstStyle/>
          <a:p>
            <a:pPr marL="50800" indent="0">
              <a:buNone/>
            </a:pPr>
            <a:r>
              <a:rPr lang="es-ES" dirty="0"/>
              <a:t>Escribir un programa en Java que muestre un menú y lea un tipo de operación (suma, resta, multiplicación, división o potencia) y dos números a operar. Mostrar el resultado de la operación realizada. Si se ingresa un tipo de operación no válido, mostrar el mensaje “operación no soportada”.</a:t>
            </a:r>
            <a:endParaRPr lang="en-US" dirty="0"/>
          </a:p>
        </p:txBody>
      </p:sp>
      <p:sp>
        <p:nvSpPr>
          <p:cNvPr id="19" name="Freeform: Shape 18">
            <a:extLst>
              <a:ext uri="{FF2B5EF4-FFF2-40B4-BE49-F238E27FC236}">
                <a16:creationId xmlns:a16="http://schemas.microsoft.com/office/drawing/2014/main" id="{813C2683-6A6D-3D15-F972-2E2ACCAE4898}"/>
              </a:ext>
            </a:extLst>
          </p:cNvPr>
          <p:cNvSpPr/>
          <p:nvPr/>
        </p:nvSpPr>
        <p:spPr>
          <a:xfrm rot="5400000">
            <a:off x="8051369" y="1242509"/>
            <a:ext cx="2079914" cy="2079914"/>
          </a:xfrm>
          <a:custGeom>
            <a:avLst/>
            <a:gdLst>
              <a:gd name="connsiteX0" fmla="*/ 0 w 2079914"/>
              <a:gd name="connsiteY0" fmla="*/ 1039957 h 2079914"/>
              <a:gd name="connsiteX1" fmla="*/ 226291 w 2079914"/>
              <a:gd name="connsiteY1" fmla="*/ 813666 h 2079914"/>
              <a:gd name="connsiteX2" fmla="*/ 813666 w 2079914"/>
              <a:gd name="connsiteY2" fmla="*/ 813666 h 2079914"/>
              <a:gd name="connsiteX3" fmla="*/ 813666 w 2079914"/>
              <a:gd name="connsiteY3" fmla="*/ 226291 h 2079914"/>
              <a:gd name="connsiteX4" fmla="*/ 1039957 w 2079914"/>
              <a:gd name="connsiteY4" fmla="*/ 0 h 2079914"/>
              <a:gd name="connsiteX5" fmla="*/ 1266248 w 2079914"/>
              <a:gd name="connsiteY5" fmla="*/ 226291 h 2079914"/>
              <a:gd name="connsiteX6" fmla="*/ 1266248 w 2079914"/>
              <a:gd name="connsiteY6" fmla="*/ 813666 h 2079914"/>
              <a:gd name="connsiteX7" fmla="*/ 1853623 w 2079914"/>
              <a:gd name="connsiteY7" fmla="*/ 813666 h 2079914"/>
              <a:gd name="connsiteX8" fmla="*/ 2079914 w 2079914"/>
              <a:gd name="connsiteY8" fmla="*/ 1039957 h 2079914"/>
              <a:gd name="connsiteX9" fmla="*/ 1853623 w 2079914"/>
              <a:gd name="connsiteY9" fmla="*/ 1266248 h 2079914"/>
              <a:gd name="connsiteX10" fmla="*/ 1266248 w 2079914"/>
              <a:gd name="connsiteY10" fmla="*/ 1266248 h 2079914"/>
              <a:gd name="connsiteX11" fmla="*/ 1266248 w 2079914"/>
              <a:gd name="connsiteY11" fmla="*/ 1853623 h 2079914"/>
              <a:gd name="connsiteX12" fmla="*/ 1039957 w 2079914"/>
              <a:gd name="connsiteY12" fmla="*/ 2079914 h 2079914"/>
              <a:gd name="connsiteX13" fmla="*/ 813666 w 2079914"/>
              <a:gd name="connsiteY13" fmla="*/ 1853623 h 2079914"/>
              <a:gd name="connsiteX14" fmla="*/ 813666 w 2079914"/>
              <a:gd name="connsiteY14" fmla="*/ 1266248 h 2079914"/>
              <a:gd name="connsiteX15" fmla="*/ 226291 w 2079914"/>
              <a:gd name="connsiteY15" fmla="*/ 1266248 h 2079914"/>
              <a:gd name="connsiteX16" fmla="*/ 0 w 2079914"/>
              <a:gd name="connsiteY16" fmla="*/ 1039957 h 20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9914" h="2079914">
                <a:moveTo>
                  <a:pt x="0" y="1039957"/>
                </a:moveTo>
                <a:cubicBezTo>
                  <a:pt x="0" y="914980"/>
                  <a:pt x="101314" y="813666"/>
                  <a:pt x="226291" y="813666"/>
                </a:cubicBezTo>
                <a:lnTo>
                  <a:pt x="813666" y="813666"/>
                </a:lnTo>
                <a:lnTo>
                  <a:pt x="813666" y="226291"/>
                </a:lnTo>
                <a:cubicBezTo>
                  <a:pt x="813666" y="101314"/>
                  <a:pt x="914980" y="0"/>
                  <a:pt x="1039957" y="0"/>
                </a:cubicBezTo>
                <a:cubicBezTo>
                  <a:pt x="1164934" y="0"/>
                  <a:pt x="1266248" y="101314"/>
                  <a:pt x="1266248" y="226291"/>
                </a:cubicBezTo>
                <a:lnTo>
                  <a:pt x="1266248" y="813666"/>
                </a:lnTo>
                <a:lnTo>
                  <a:pt x="1853623" y="813666"/>
                </a:lnTo>
                <a:cubicBezTo>
                  <a:pt x="1978600" y="813666"/>
                  <a:pt x="2079914" y="914980"/>
                  <a:pt x="2079914" y="1039957"/>
                </a:cubicBezTo>
                <a:cubicBezTo>
                  <a:pt x="2079914" y="1164934"/>
                  <a:pt x="1978600" y="1266248"/>
                  <a:pt x="1853623" y="1266248"/>
                </a:cubicBezTo>
                <a:lnTo>
                  <a:pt x="1266248" y="1266248"/>
                </a:lnTo>
                <a:lnTo>
                  <a:pt x="1266248" y="1853623"/>
                </a:lnTo>
                <a:cubicBezTo>
                  <a:pt x="1266248" y="1978600"/>
                  <a:pt x="1164934" y="2079914"/>
                  <a:pt x="1039957" y="2079914"/>
                </a:cubicBezTo>
                <a:cubicBezTo>
                  <a:pt x="914980" y="2079914"/>
                  <a:pt x="813666" y="1978600"/>
                  <a:pt x="813666" y="1853623"/>
                </a:cubicBezTo>
                <a:lnTo>
                  <a:pt x="813666" y="1266248"/>
                </a:lnTo>
                <a:lnTo>
                  <a:pt x="226291" y="1266248"/>
                </a:lnTo>
                <a:cubicBezTo>
                  <a:pt x="101314" y="1266248"/>
                  <a:pt x="0" y="1164934"/>
                  <a:pt x="0" y="1039957"/>
                </a:cubicBezTo>
                <a:close/>
              </a:path>
            </a:pathLst>
          </a:cu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D34BEF69-26C8-7B96-E229-AE0447120CFB}"/>
              </a:ext>
            </a:extLst>
          </p:cNvPr>
          <p:cNvSpPr/>
          <p:nvPr/>
        </p:nvSpPr>
        <p:spPr>
          <a:xfrm rot="2700000">
            <a:off x="8843121" y="4417321"/>
            <a:ext cx="2079914" cy="2079914"/>
          </a:xfrm>
          <a:custGeom>
            <a:avLst/>
            <a:gdLst>
              <a:gd name="connsiteX0" fmla="*/ 0 w 2079914"/>
              <a:gd name="connsiteY0" fmla="*/ 1039957 h 2079914"/>
              <a:gd name="connsiteX1" fmla="*/ 226291 w 2079914"/>
              <a:gd name="connsiteY1" fmla="*/ 813666 h 2079914"/>
              <a:gd name="connsiteX2" fmla="*/ 813666 w 2079914"/>
              <a:gd name="connsiteY2" fmla="*/ 813666 h 2079914"/>
              <a:gd name="connsiteX3" fmla="*/ 813666 w 2079914"/>
              <a:gd name="connsiteY3" fmla="*/ 226291 h 2079914"/>
              <a:gd name="connsiteX4" fmla="*/ 1039957 w 2079914"/>
              <a:gd name="connsiteY4" fmla="*/ 0 h 2079914"/>
              <a:gd name="connsiteX5" fmla="*/ 1266248 w 2079914"/>
              <a:gd name="connsiteY5" fmla="*/ 226291 h 2079914"/>
              <a:gd name="connsiteX6" fmla="*/ 1266248 w 2079914"/>
              <a:gd name="connsiteY6" fmla="*/ 813666 h 2079914"/>
              <a:gd name="connsiteX7" fmla="*/ 1853623 w 2079914"/>
              <a:gd name="connsiteY7" fmla="*/ 813666 h 2079914"/>
              <a:gd name="connsiteX8" fmla="*/ 2079914 w 2079914"/>
              <a:gd name="connsiteY8" fmla="*/ 1039957 h 2079914"/>
              <a:gd name="connsiteX9" fmla="*/ 1853623 w 2079914"/>
              <a:gd name="connsiteY9" fmla="*/ 1266248 h 2079914"/>
              <a:gd name="connsiteX10" fmla="*/ 1266248 w 2079914"/>
              <a:gd name="connsiteY10" fmla="*/ 1266248 h 2079914"/>
              <a:gd name="connsiteX11" fmla="*/ 1266248 w 2079914"/>
              <a:gd name="connsiteY11" fmla="*/ 1853623 h 2079914"/>
              <a:gd name="connsiteX12" fmla="*/ 1039957 w 2079914"/>
              <a:gd name="connsiteY12" fmla="*/ 2079914 h 2079914"/>
              <a:gd name="connsiteX13" fmla="*/ 813666 w 2079914"/>
              <a:gd name="connsiteY13" fmla="*/ 1853623 h 2079914"/>
              <a:gd name="connsiteX14" fmla="*/ 813666 w 2079914"/>
              <a:gd name="connsiteY14" fmla="*/ 1266248 h 2079914"/>
              <a:gd name="connsiteX15" fmla="*/ 226291 w 2079914"/>
              <a:gd name="connsiteY15" fmla="*/ 1266248 h 2079914"/>
              <a:gd name="connsiteX16" fmla="*/ 0 w 2079914"/>
              <a:gd name="connsiteY16" fmla="*/ 1039957 h 2079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9914" h="2079914">
                <a:moveTo>
                  <a:pt x="0" y="1039957"/>
                </a:moveTo>
                <a:cubicBezTo>
                  <a:pt x="0" y="914980"/>
                  <a:pt x="101314" y="813666"/>
                  <a:pt x="226291" y="813666"/>
                </a:cubicBezTo>
                <a:lnTo>
                  <a:pt x="813666" y="813666"/>
                </a:lnTo>
                <a:lnTo>
                  <a:pt x="813666" y="226291"/>
                </a:lnTo>
                <a:cubicBezTo>
                  <a:pt x="813666" y="101314"/>
                  <a:pt x="914980" y="0"/>
                  <a:pt x="1039957" y="0"/>
                </a:cubicBezTo>
                <a:cubicBezTo>
                  <a:pt x="1164934" y="0"/>
                  <a:pt x="1266248" y="101314"/>
                  <a:pt x="1266248" y="226291"/>
                </a:cubicBezTo>
                <a:lnTo>
                  <a:pt x="1266248" y="813666"/>
                </a:lnTo>
                <a:lnTo>
                  <a:pt x="1853623" y="813666"/>
                </a:lnTo>
                <a:cubicBezTo>
                  <a:pt x="1978600" y="813666"/>
                  <a:pt x="2079914" y="914980"/>
                  <a:pt x="2079914" y="1039957"/>
                </a:cubicBezTo>
                <a:cubicBezTo>
                  <a:pt x="2079914" y="1164934"/>
                  <a:pt x="1978600" y="1266248"/>
                  <a:pt x="1853623" y="1266248"/>
                </a:cubicBezTo>
                <a:lnTo>
                  <a:pt x="1266248" y="1266248"/>
                </a:lnTo>
                <a:lnTo>
                  <a:pt x="1266248" y="1853623"/>
                </a:lnTo>
                <a:cubicBezTo>
                  <a:pt x="1266248" y="1978600"/>
                  <a:pt x="1164934" y="2079914"/>
                  <a:pt x="1039957" y="2079914"/>
                </a:cubicBezTo>
                <a:cubicBezTo>
                  <a:pt x="914980" y="2079914"/>
                  <a:pt x="813666" y="1978600"/>
                  <a:pt x="813666" y="1853623"/>
                </a:cubicBezTo>
                <a:lnTo>
                  <a:pt x="813666" y="1266248"/>
                </a:lnTo>
                <a:lnTo>
                  <a:pt x="226291" y="1266248"/>
                </a:lnTo>
                <a:cubicBezTo>
                  <a:pt x="101314" y="1266248"/>
                  <a:pt x="0" y="1164934"/>
                  <a:pt x="0" y="1039957"/>
                </a:cubicBezTo>
                <a:close/>
              </a:path>
            </a:pathLst>
          </a:custGeom>
          <a:solidFill>
            <a:srgbClr val="00B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Rounded Corners 19">
            <a:extLst>
              <a:ext uri="{FF2B5EF4-FFF2-40B4-BE49-F238E27FC236}">
                <a16:creationId xmlns:a16="http://schemas.microsoft.com/office/drawing/2014/main" id="{C941D0DE-B3EB-9322-D723-648AB855D544}"/>
              </a:ext>
            </a:extLst>
          </p:cNvPr>
          <p:cNvSpPr/>
          <p:nvPr/>
        </p:nvSpPr>
        <p:spPr>
          <a:xfrm rot="5400000">
            <a:off x="8766970" y="3244141"/>
            <a:ext cx="452582" cy="1592552"/>
          </a:xfrm>
          <a:prstGeom prst="roundRect">
            <a:avLst>
              <a:gd name="adj" fmla="val 50000"/>
            </a:avLst>
          </a:prstGeom>
          <a:solidFill>
            <a:srgbClr val="CC00CC"/>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F8F89D3F-030A-330B-A78A-C4D71829C9CD}"/>
              </a:ext>
            </a:extLst>
          </p:cNvPr>
          <p:cNvSpPr/>
          <p:nvPr/>
        </p:nvSpPr>
        <p:spPr>
          <a:xfrm>
            <a:off x="9909512" y="2457687"/>
            <a:ext cx="1747982" cy="1729471"/>
          </a:xfrm>
          <a:custGeom>
            <a:avLst/>
            <a:gdLst>
              <a:gd name="connsiteX0" fmla="*/ 796277 w 1592552"/>
              <a:gd name="connsiteY0" fmla="*/ 1134893 h 1575687"/>
              <a:gd name="connsiteX1" fmla="*/ 1016674 w 1592552"/>
              <a:gd name="connsiteY1" fmla="*/ 1355290 h 1575687"/>
              <a:gd name="connsiteX2" fmla="*/ 796277 w 1592552"/>
              <a:gd name="connsiteY2" fmla="*/ 1575687 h 1575687"/>
              <a:gd name="connsiteX3" fmla="*/ 575880 w 1592552"/>
              <a:gd name="connsiteY3" fmla="*/ 1355290 h 1575687"/>
              <a:gd name="connsiteX4" fmla="*/ 796277 w 1592552"/>
              <a:gd name="connsiteY4" fmla="*/ 1134893 h 1575687"/>
              <a:gd name="connsiteX5" fmla="*/ 226291 w 1592552"/>
              <a:gd name="connsiteY5" fmla="*/ 561552 h 1575687"/>
              <a:gd name="connsiteX6" fmla="*/ 1366261 w 1592552"/>
              <a:gd name="connsiteY6" fmla="*/ 561552 h 1575687"/>
              <a:gd name="connsiteX7" fmla="*/ 1592552 w 1592552"/>
              <a:gd name="connsiteY7" fmla="*/ 787843 h 1575687"/>
              <a:gd name="connsiteX8" fmla="*/ 1366261 w 1592552"/>
              <a:gd name="connsiteY8" fmla="*/ 1014134 h 1575687"/>
              <a:gd name="connsiteX9" fmla="*/ 226291 w 1592552"/>
              <a:gd name="connsiteY9" fmla="*/ 1014134 h 1575687"/>
              <a:gd name="connsiteX10" fmla="*/ 0 w 1592552"/>
              <a:gd name="connsiteY10" fmla="*/ 787843 h 1575687"/>
              <a:gd name="connsiteX11" fmla="*/ 226291 w 1592552"/>
              <a:gd name="connsiteY11" fmla="*/ 561552 h 1575687"/>
              <a:gd name="connsiteX12" fmla="*/ 796277 w 1592552"/>
              <a:gd name="connsiteY12" fmla="*/ 0 h 1575687"/>
              <a:gd name="connsiteX13" fmla="*/ 1016674 w 1592552"/>
              <a:gd name="connsiteY13" fmla="*/ 220397 h 1575687"/>
              <a:gd name="connsiteX14" fmla="*/ 796277 w 1592552"/>
              <a:gd name="connsiteY14" fmla="*/ 440794 h 1575687"/>
              <a:gd name="connsiteX15" fmla="*/ 575880 w 1592552"/>
              <a:gd name="connsiteY15" fmla="*/ 220397 h 1575687"/>
              <a:gd name="connsiteX16" fmla="*/ 796277 w 1592552"/>
              <a:gd name="connsiteY16" fmla="*/ 0 h 1575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92552" h="1575687">
                <a:moveTo>
                  <a:pt x="796277" y="1134893"/>
                </a:moveTo>
                <a:cubicBezTo>
                  <a:pt x="917999" y="1134893"/>
                  <a:pt x="1016674" y="1233568"/>
                  <a:pt x="1016674" y="1355290"/>
                </a:cubicBezTo>
                <a:cubicBezTo>
                  <a:pt x="1016674" y="1477012"/>
                  <a:pt x="917999" y="1575687"/>
                  <a:pt x="796277" y="1575687"/>
                </a:cubicBezTo>
                <a:cubicBezTo>
                  <a:pt x="674555" y="1575687"/>
                  <a:pt x="575880" y="1477012"/>
                  <a:pt x="575880" y="1355290"/>
                </a:cubicBezTo>
                <a:cubicBezTo>
                  <a:pt x="575880" y="1233568"/>
                  <a:pt x="674555" y="1134893"/>
                  <a:pt x="796277" y="1134893"/>
                </a:cubicBezTo>
                <a:close/>
                <a:moveTo>
                  <a:pt x="226291" y="561552"/>
                </a:moveTo>
                <a:lnTo>
                  <a:pt x="1366261" y="561552"/>
                </a:lnTo>
                <a:cubicBezTo>
                  <a:pt x="1491238" y="561552"/>
                  <a:pt x="1592552" y="662866"/>
                  <a:pt x="1592552" y="787843"/>
                </a:cubicBezTo>
                <a:cubicBezTo>
                  <a:pt x="1592552" y="912820"/>
                  <a:pt x="1491238" y="1014134"/>
                  <a:pt x="1366261" y="1014134"/>
                </a:cubicBezTo>
                <a:lnTo>
                  <a:pt x="226291" y="1014134"/>
                </a:lnTo>
                <a:cubicBezTo>
                  <a:pt x="101314" y="1014134"/>
                  <a:pt x="0" y="912820"/>
                  <a:pt x="0" y="787843"/>
                </a:cubicBezTo>
                <a:cubicBezTo>
                  <a:pt x="0" y="662866"/>
                  <a:pt x="101314" y="561552"/>
                  <a:pt x="226291" y="561552"/>
                </a:cubicBezTo>
                <a:close/>
                <a:moveTo>
                  <a:pt x="796277" y="0"/>
                </a:moveTo>
                <a:cubicBezTo>
                  <a:pt x="917999" y="0"/>
                  <a:pt x="1016674" y="98675"/>
                  <a:pt x="1016674" y="220397"/>
                </a:cubicBezTo>
                <a:cubicBezTo>
                  <a:pt x="1016674" y="342119"/>
                  <a:pt x="917999" y="440794"/>
                  <a:pt x="796277" y="440794"/>
                </a:cubicBezTo>
                <a:cubicBezTo>
                  <a:pt x="674555" y="440794"/>
                  <a:pt x="575880" y="342119"/>
                  <a:pt x="575880" y="220397"/>
                </a:cubicBezTo>
                <a:cubicBezTo>
                  <a:pt x="575880" y="98675"/>
                  <a:pt x="674555" y="0"/>
                  <a:pt x="796277" y="0"/>
                </a:cubicBezTo>
                <a:close/>
              </a:path>
            </a:pathLst>
          </a:custGeom>
          <a:solidFill>
            <a:schemeClr val="accent5">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TextBox 27">
            <a:extLst>
              <a:ext uri="{FF2B5EF4-FFF2-40B4-BE49-F238E27FC236}">
                <a16:creationId xmlns:a16="http://schemas.microsoft.com/office/drawing/2014/main" id="{1328C2C7-BED0-BB81-D6A1-343EA98539F9}"/>
              </a:ext>
            </a:extLst>
          </p:cNvPr>
          <p:cNvSpPr txBox="1"/>
          <p:nvPr/>
        </p:nvSpPr>
        <p:spPr>
          <a:xfrm>
            <a:off x="267855" y="6423496"/>
            <a:ext cx="6096000" cy="2308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 https://cdn.wallpapersafari.com/83/75/yenQsf.jpg</a:t>
            </a:r>
          </a:p>
        </p:txBody>
      </p:sp>
    </p:spTree>
    <p:extLst>
      <p:ext uri="{BB962C8B-B14F-4D97-AF65-F5344CB8AC3E}">
        <p14:creationId xmlns:p14="http://schemas.microsoft.com/office/powerpoint/2010/main" val="275041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6BB5845-9A47-FEDC-A85E-2D014CA2F3DA}"/>
              </a:ext>
            </a:extLst>
          </p:cNvPr>
          <p:cNvSpPr/>
          <p:nvPr/>
        </p:nvSpPr>
        <p:spPr>
          <a:xfrm>
            <a:off x="0" y="6356350"/>
            <a:ext cx="7320380" cy="501650"/>
          </a:xfrm>
          <a:prstGeom prst="rect">
            <a:avLst/>
          </a:prstGeom>
          <a:solidFill>
            <a:srgbClr val="E5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5B03D496-97CF-4B26-B9D0-D39676049E37}"/>
              </a:ext>
            </a:extLst>
          </p:cNvPr>
          <p:cNvSpPr>
            <a:spLocks noGrp="1"/>
          </p:cNvSpPr>
          <p:nvPr>
            <p:ph type="title"/>
          </p:nvPr>
        </p:nvSpPr>
        <p:spPr/>
        <p:txBody>
          <a:bodyPr/>
          <a:lstStyle/>
          <a:p>
            <a:r>
              <a:rPr lang="es-ES" dirty="0"/>
              <a:t>Resumen de la sesión</a:t>
            </a:r>
            <a:endParaRPr lang="en-US" dirty="0"/>
          </a:p>
        </p:txBody>
      </p:sp>
      <p:sp>
        <p:nvSpPr>
          <p:cNvPr id="4" name="Content Placeholder 3">
            <a:extLst>
              <a:ext uri="{FF2B5EF4-FFF2-40B4-BE49-F238E27FC236}">
                <a16:creationId xmlns:a16="http://schemas.microsoft.com/office/drawing/2014/main" id="{13A7D7EB-E94C-4379-ADE6-A12EB7C4CBC6}"/>
              </a:ext>
            </a:extLst>
          </p:cNvPr>
          <p:cNvSpPr>
            <a:spLocks noGrp="1"/>
          </p:cNvSpPr>
          <p:nvPr>
            <p:ph sz="quarter" idx="13"/>
          </p:nvPr>
        </p:nvSpPr>
        <p:spPr>
          <a:xfrm>
            <a:off x="838201" y="1846263"/>
            <a:ext cx="6658068" cy="4373562"/>
          </a:xfrm>
        </p:spPr>
        <p:txBody>
          <a:bodyPr>
            <a:normAutofit/>
          </a:bodyPr>
          <a:lstStyle/>
          <a:p>
            <a:r>
              <a:rPr lang="es-ES" dirty="0"/>
              <a:t>¿Cómo funciona una estructura </a:t>
            </a:r>
            <a:r>
              <a:rPr lang="es-ES" b="1" dirty="0" err="1"/>
              <a:t>if</a:t>
            </a:r>
            <a:r>
              <a:rPr lang="es-ES" b="1" dirty="0"/>
              <a:t>..</a:t>
            </a:r>
            <a:r>
              <a:rPr lang="es-ES" b="1" dirty="0" err="1"/>
              <a:t>else</a:t>
            </a:r>
            <a:r>
              <a:rPr lang="es-ES" dirty="0"/>
              <a:t>?</a:t>
            </a:r>
          </a:p>
          <a:p>
            <a:r>
              <a:rPr lang="es-ES" dirty="0"/>
              <a:t>¿Cómo funciona una estructura </a:t>
            </a:r>
            <a:r>
              <a:rPr lang="es-ES" b="1" dirty="0"/>
              <a:t>switch</a:t>
            </a:r>
            <a:r>
              <a:rPr lang="es-ES" dirty="0"/>
              <a:t>?</a:t>
            </a:r>
          </a:p>
          <a:p>
            <a:r>
              <a:rPr lang="es-ES" dirty="0"/>
              <a:t>¿En qué casos es conveniente utilizar cada una? Proporcione ejemplos.</a:t>
            </a:r>
          </a:p>
        </p:txBody>
      </p:sp>
      <p:sp>
        <p:nvSpPr>
          <p:cNvPr id="2" name="Slide Number Placeholder 1">
            <a:extLst>
              <a:ext uri="{FF2B5EF4-FFF2-40B4-BE49-F238E27FC236}">
                <a16:creationId xmlns:a16="http://schemas.microsoft.com/office/drawing/2014/main" id="{1C714D7F-9F45-47C5-88DE-53E493F191F1}"/>
              </a:ext>
            </a:extLst>
          </p:cNvPr>
          <p:cNvSpPr>
            <a:spLocks noGrp="1"/>
          </p:cNvSpPr>
          <p:nvPr>
            <p:ph type="sldNum" idx="12"/>
          </p:nvPr>
        </p:nvSpPr>
        <p:spPr>
          <a:xfrm>
            <a:off x="8906163" y="6356350"/>
            <a:ext cx="2743200" cy="365125"/>
          </a:xfrm>
        </p:spPr>
        <p:txBody>
          <a:bodyPr/>
          <a:lstStyle/>
          <a:p>
            <a:pPr marL="0" lvl="0" indent="0" algn="r" rtl="0">
              <a:spcBef>
                <a:spcPts val="0"/>
              </a:spcBef>
              <a:spcAft>
                <a:spcPts val="0"/>
              </a:spcAft>
              <a:buNone/>
            </a:pPr>
            <a:fld id="{00000000-1234-1234-1234-123412341234}" type="slidenum">
              <a:rPr lang="es-PE" smtClean="0"/>
              <a:t>24</a:t>
            </a:fld>
            <a:endParaRPr lang="es-PE"/>
          </a:p>
        </p:txBody>
      </p:sp>
      <p:sp>
        <p:nvSpPr>
          <p:cNvPr id="8" name="TextBox 7">
            <a:extLst>
              <a:ext uri="{FF2B5EF4-FFF2-40B4-BE49-F238E27FC236}">
                <a16:creationId xmlns:a16="http://schemas.microsoft.com/office/drawing/2014/main" id="{E2EC220F-3C2B-B243-4B55-66FDD2674876}"/>
              </a:ext>
            </a:extLst>
          </p:cNvPr>
          <p:cNvSpPr txBox="1"/>
          <p:nvPr/>
        </p:nvSpPr>
        <p:spPr>
          <a:xfrm>
            <a:off x="101605" y="6421002"/>
            <a:ext cx="9735126" cy="3693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a:t>
            </a:r>
          </a:p>
          <a:p>
            <a:r>
              <a:rPr lang="en-US" sz="900" dirty="0">
                <a:solidFill>
                  <a:schemeClr val="bg1">
                    <a:lumMod val="50000"/>
                  </a:schemeClr>
                </a:solidFill>
              </a:rPr>
              <a:t>https://dpemfoco.com.br/wp-content/uploads/2019/08/Departamento-de-Pessoal-em-Foco-Checklist-Check-list-Checklists.png</a:t>
            </a:r>
          </a:p>
        </p:txBody>
      </p:sp>
      <p:pic>
        <p:nvPicPr>
          <p:cNvPr id="4098" name="Picture 2" descr="Departamento de Pessoal em Foco - Checklist, Check list, Checklists |  Departamento de Pessoal em Foco">
            <a:extLst>
              <a:ext uri="{FF2B5EF4-FFF2-40B4-BE49-F238E27FC236}">
                <a16:creationId xmlns:a16="http://schemas.microsoft.com/office/drawing/2014/main" id="{F8CB8AA5-99DD-1396-1A63-3757190305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20380" y="2484438"/>
            <a:ext cx="4871619" cy="4373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5705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2AAE1-A89A-796E-F861-8B102D4BD0A5}"/>
              </a:ext>
            </a:extLst>
          </p:cNvPr>
          <p:cNvSpPr>
            <a:spLocks noGrp="1"/>
          </p:cNvSpPr>
          <p:nvPr>
            <p:ph type="title"/>
          </p:nvPr>
        </p:nvSpPr>
        <p:spPr/>
        <p:txBody>
          <a:bodyPr/>
          <a:lstStyle/>
          <a:p>
            <a:r>
              <a:rPr lang="es-ES" dirty="0"/>
              <a:t>Bibliografía</a:t>
            </a:r>
            <a:endParaRPr lang="en-US" dirty="0"/>
          </a:p>
        </p:txBody>
      </p:sp>
      <p:sp>
        <p:nvSpPr>
          <p:cNvPr id="3" name="Slide Number Placeholder 2">
            <a:extLst>
              <a:ext uri="{FF2B5EF4-FFF2-40B4-BE49-F238E27FC236}">
                <a16:creationId xmlns:a16="http://schemas.microsoft.com/office/drawing/2014/main" id="{4E7596FB-30E1-8EAC-F179-F56EE7A8D8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PE" smtClean="0"/>
              <a:t>25</a:t>
            </a:fld>
            <a:endParaRPr lang="es-PE"/>
          </a:p>
        </p:txBody>
      </p:sp>
      <p:sp>
        <p:nvSpPr>
          <p:cNvPr id="4" name="Content Placeholder 3">
            <a:extLst>
              <a:ext uri="{FF2B5EF4-FFF2-40B4-BE49-F238E27FC236}">
                <a16:creationId xmlns:a16="http://schemas.microsoft.com/office/drawing/2014/main" id="{0293BD92-8F52-2949-7992-63F50DB2ABB3}"/>
              </a:ext>
            </a:extLst>
          </p:cNvPr>
          <p:cNvSpPr>
            <a:spLocks noGrp="1"/>
          </p:cNvSpPr>
          <p:nvPr>
            <p:ph sz="quarter" idx="13"/>
          </p:nvPr>
        </p:nvSpPr>
        <p:spPr>
          <a:xfrm>
            <a:off x="838200" y="1846263"/>
            <a:ext cx="8370455" cy="4373562"/>
          </a:xfrm>
        </p:spPr>
        <p:txBody>
          <a:bodyPr>
            <a:normAutofit fontScale="85000" lnSpcReduction="20000"/>
          </a:bodyPr>
          <a:lstStyle/>
          <a:p>
            <a:pPr>
              <a:lnSpc>
                <a:spcPct val="120000"/>
              </a:lnSpc>
            </a:pPr>
            <a:r>
              <a:rPr lang="es-ES" dirty="0"/>
              <a:t>Tanenbaum &amp; Van </a:t>
            </a:r>
            <a:r>
              <a:rPr lang="es-ES" dirty="0" err="1"/>
              <a:t>Steen</a:t>
            </a:r>
            <a:r>
              <a:rPr lang="es-ES" dirty="0"/>
              <a:t> (2008). </a:t>
            </a:r>
            <a:r>
              <a:rPr lang="es-ES" i="1" dirty="0">
                <a:solidFill>
                  <a:schemeClr val="bg1">
                    <a:lumMod val="50000"/>
                  </a:schemeClr>
                </a:solidFill>
              </a:rPr>
              <a:t>Algoritmos y Estructuras de Datos - Principios y Paradigmas, 2da Edición</a:t>
            </a:r>
            <a:r>
              <a:rPr lang="es-ES" dirty="0"/>
              <a:t>. Pearson </a:t>
            </a:r>
            <a:r>
              <a:rPr lang="es-ES" dirty="0" err="1"/>
              <a:t>Education</a:t>
            </a:r>
            <a:r>
              <a:rPr lang="es-ES" dirty="0"/>
              <a:t>​.</a:t>
            </a:r>
          </a:p>
          <a:p>
            <a:pPr>
              <a:lnSpc>
                <a:spcPct val="120000"/>
              </a:lnSpc>
            </a:pPr>
            <a:r>
              <a:rPr lang="en-US" dirty="0"/>
              <a:t>Khalid A. Mughal &amp; Rolf W. Rasmussen (2017). A </a:t>
            </a:r>
            <a:r>
              <a:rPr lang="en-US" i="1" dirty="0">
                <a:solidFill>
                  <a:schemeClr val="bg1">
                    <a:lumMod val="50000"/>
                  </a:schemeClr>
                </a:solidFill>
              </a:rPr>
              <a:t>Programmer’s guide to Java SE 8 Oracle Certified Associate</a:t>
            </a:r>
            <a:r>
              <a:rPr lang="es-ES" dirty="0"/>
              <a:t>.</a:t>
            </a:r>
          </a:p>
          <a:p>
            <a:pPr>
              <a:lnSpc>
                <a:spcPct val="120000"/>
              </a:lnSpc>
            </a:pPr>
            <a:r>
              <a:rPr lang="es-ES" dirty="0" err="1"/>
              <a:t>Schildt</a:t>
            </a:r>
            <a:r>
              <a:rPr lang="es-ES" dirty="0"/>
              <a:t>, Herbert (2019). </a:t>
            </a:r>
            <a:r>
              <a:rPr lang="es-ES" i="1" dirty="0">
                <a:solidFill>
                  <a:schemeClr val="bg1">
                    <a:lumMod val="50000"/>
                  </a:schemeClr>
                </a:solidFill>
              </a:rPr>
              <a:t>A Java </a:t>
            </a:r>
            <a:r>
              <a:rPr lang="es-ES" i="1" dirty="0" err="1">
                <a:solidFill>
                  <a:schemeClr val="bg1">
                    <a:lumMod val="50000"/>
                  </a:schemeClr>
                </a:solidFill>
              </a:rPr>
              <a:t>Beginner’s</a:t>
            </a:r>
            <a:r>
              <a:rPr lang="es-ES" i="1" dirty="0">
                <a:solidFill>
                  <a:schemeClr val="bg1">
                    <a:lumMod val="50000"/>
                  </a:schemeClr>
                </a:solidFill>
              </a:rPr>
              <a:t> Guide </a:t>
            </a:r>
            <a:r>
              <a:rPr lang="es-ES" i="1" dirty="0" err="1">
                <a:solidFill>
                  <a:schemeClr val="bg1">
                    <a:lumMod val="50000"/>
                  </a:schemeClr>
                </a:solidFill>
              </a:rPr>
              <a:t>Eighth</a:t>
            </a:r>
            <a:r>
              <a:rPr lang="es-ES" i="1" dirty="0">
                <a:solidFill>
                  <a:schemeClr val="bg1">
                    <a:lumMod val="50000"/>
                  </a:schemeClr>
                </a:solidFill>
              </a:rPr>
              <a:t> </a:t>
            </a:r>
            <a:r>
              <a:rPr lang="es-ES" i="1" dirty="0" err="1">
                <a:solidFill>
                  <a:schemeClr val="bg1">
                    <a:lumMod val="50000"/>
                  </a:schemeClr>
                </a:solidFill>
              </a:rPr>
              <a:t>Edition</a:t>
            </a:r>
            <a:r>
              <a:rPr lang="es-ES" dirty="0"/>
              <a:t>. Oracle </a:t>
            </a:r>
            <a:r>
              <a:rPr lang="es-ES" dirty="0" err="1"/>
              <a:t>Press</a:t>
            </a:r>
            <a:r>
              <a:rPr lang="es-ES" dirty="0"/>
              <a:t>.</a:t>
            </a:r>
          </a:p>
          <a:p>
            <a:pPr>
              <a:lnSpc>
                <a:spcPct val="120000"/>
              </a:lnSpc>
            </a:pPr>
            <a:r>
              <a:rPr lang="es-ES" dirty="0" err="1"/>
              <a:t>Schildt</a:t>
            </a:r>
            <a:r>
              <a:rPr lang="es-ES" dirty="0"/>
              <a:t>, Herbert (2019). </a:t>
            </a:r>
            <a:r>
              <a:rPr lang="es-ES" i="1" dirty="0">
                <a:solidFill>
                  <a:schemeClr val="bg1">
                    <a:lumMod val="50000"/>
                  </a:schemeClr>
                </a:solidFill>
              </a:rPr>
              <a:t>Java </a:t>
            </a:r>
            <a:r>
              <a:rPr lang="es-ES" i="1" dirty="0" err="1">
                <a:solidFill>
                  <a:schemeClr val="bg1">
                    <a:lumMod val="50000"/>
                  </a:schemeClr>
                </a:solidFill>
              </a:rPr>
              <a:t>The</a:t>
            </a:r>
            <a:r>
              <a:rPr lang="es-ES" i="1" dirty="0">
                <a:solidFill>
                  <a:schemeClr val="bg1">
                    <a:lumMod val="50000"/>
                  </a:schemeClr>
                </a:solidFill>
              </a:rPr>
              <a:t> Complete Reference </a:t>
            </a:r>
            <a:r>
              <a:rPr lang="es-ES" i="1" dirty="0" err="1">
                <a:solidFill>
                  <a:schemeClr val="bg1">
                    <a:lumMod val="50000"/>
                  </a:schemeClr>
                </a:solidFill>
              </a:rPr>
              <a:t>Eleventh</a:t>
            </a:r>
            <a:r>
              <a:rPr lang="es-ES" i="1" dirty="0">
                <a:solidFill>
                  <a:schemeClr val="bg1">
                    <a:lumMod val="50000"/>
                  </a:schemeClr>
                </a:solidFill>
              </a:rPr>
              <a:t> </a:t>
            </a:r>
            <a:r>
              <a:rPr lang="es-ES" i="1" dirty="0" err="1">
                <a:solidFill>
                  <a:schemeClr val="bg1">
                    <a:lumMod val="50000"/>
                  </a:schemeClr>
                </a:solidFill>
              </a:rPr>
              <a:t>Edition</a:t>
            </a:r>
            <a:r>
              <a:rPr lang="es-ES" dirty="0"/>
              <a:t>. Oracle </a:t>
            </a:r>
            <a:r>
              <a:rPr lang="es-ES" dirty="0" err="1"/>
              <a:t>Press</a:t>
            </a:r>
            <a:r>
              <a:rPr lang="es-ES" dirty="0"/>
              <a:t>.</a:t>
            </a:r>
            <a:endParaRPr lang="en-US" dirty="0"/>
          </a:p>
        </p:txBody>
      </p:sp>
      <p:pic>
        <p:nvPicPr>
          <p:cNvPr id="5" name="Picture 4">
            <a:extLst>
              <a:ext uri="{FF2B5EF4-FFF2-40B4-BE49-F238E27FC236}">
                <a16:creationId xmlns:a16="http://schemas.microsoft.com/office/drawing/2014/main" id="{A2021AEC-CD51-7E5F-26CB-5CDC143BC849}"/>
              </a:ext>
            </a:extLst>
          </p:cNvPr>
          <p:cNvPicPr>
            <a:picLocks noChangeAspect="1"/>
          </p:cNvPicPr>
          <p:nvPr/>
        </p:nvPicPr>
        <p:blipFill rotWithShape="1">
          <a:blip r:embed="rId2"/>
          <a:srcRect r="29118"/>
          <a:stretch/>
        </p:blipFill>
        <p:spPr>
          <a:xfrm>
            <a:off x="9208655" y="1057997"/>
            <a:ext cx="2983345" cy="5168601"/>
          </a:xfrm>
          <a:prstGeom prst="rect">
            <a:avLst/>
          </a:prstGeom>
          <a:effectLst>
            <a:glow rad="63500">
              <a:schemeClr val="accent3">
                <a:satMod val="175000"/>
                <a:alpha val="40000"/>
              </a:schemeClr>
            </a:glow>
          </a:effectLst>
        </p:spPr>
      </p:pic>
      <p:sp>
        <p:nvSpPr>
          <p:cNvPr id="6" name="TextBox 5">
            <a:extLst>
              <a:ext uri="{FF2B5EF4-FFF2-40B4-BE49-F238E27FC236}">
                <a16:creationId xmlns:a16="http://schemas.microsoft.com/office/drawing/2014/main" id="{E4B7CE11-3AE4-2A5E-0825-C0E9DFAB006E}"/>
              </a:ext>
            </a:extLst>
          </p:cNvPr>
          <p:cNvSpPr txBox="1"/>
          <p:nvPr/>
        </p:nvSpPr>
        <p:spPr>
          <a:xfrm>
            <a:off x="101605" y="6421002"/>
            <a:ext cx="9735126" cy="369332"/>
          </a:xfrm>
          <a:prstGeom prst="rect">
            <a:avLst/>
          </a:prstGeom>
          <a:noFill/>
        </p:spPr>
        <p:txBody>
          <a:bodyPr wrap="square">
            <a:spAutoFit/>
          </a:bodyPr>
          <a:lstStyle/>
          <a:p>
            <a:r>
              <a:rPr lang="en-US" sz="900" dirty="0">
                <a:solidFill>
                  <a:schemeClr val="bg1">
                    <a:lumMod val="50000"/>
                  </a:schemeClr>
                </a:solidFill>
              </a:rPr>
              <a:t>Imagen </a:t>
            </a:r>
            <a:r>
              <a:rPr lang="en-US" sz="900" dirty="0" err="1">
                <a:solidFill>
                  <a:schemeClr val="bg1">
                    <a:lumMod val="50000"/>
                  </a:schemeClr>
                </a:solidFill>
              </a:rPr>
              <a:t>obtenida</a:t>
            </a:r>
            <a:r>
              <a:rPr lang="en-US" sz="900" dirty="0">
                <a:solidFill>
                  <a:schemeClr val="bg1">
                    <a:lumMod val="50000"/>
                  </a:schemeClr>
                </a:solidFill>
              </a:rPr>
              <a:t> de:</a:t>
            </a:r>
          </a:p>
          <a:p>
            <a:r>
              <a:rPr lang="en-US" sz="900" dirty="0">
                <a:solidFill>
                  <a:schemeClr val="bg1">
                    <a:lumMod val="50000"/>
                  </a:schemeClr>
                </a:solidFill>
              </a:rPr>
              <a:t>https://pngimg.com/d/book_PNG51088.png</a:t>
            </a:r>
          </a:p>
        </p:txBody>
      </p:sp>
    </p:spTree>
    <p:extLst>
      <p:ext uri="{BB962C8B-B14F-4D97-AF65-F5344CB8AC3E}">
        <p14:creationId xmlns:p14="http://schemas.microsoft.com/office/powerpoint/2010/main" val="3598108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aUTP">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8643</TotalTime>
  <Words>1397</Words>
  <Application>Microsoft Office PowerPoint</Application>
  <PresentationFormat>Panorámica</PresentationFormat>
  <Paragraphs>265</Paragraphs>
  <Slides>26</Slides>
  <Notes>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26</vt:i4>
      </vt:variant>
    </vt:vector>
  </HeadingPairs>
  <TitlesOfParts>
    <vt:vector size="31" baseType="lpstr">
      <vt:lpstr>Helvetica</vt:lpstr>
      <vt:lpstr>Cambria Math</vt:lpstr>
      <vt:lpstr>JetBrains Mono</vt:lpstr>
      <vt:lpstr>Arial</vt:lpstr>
      <vt:lpstr>TemaUTP</vt:lpstr>
      <vt:lpstr>Taller de Programación</vt:lpstr>
      <vt:lpstr>Dudas de la clase anterior</vt:lpstr>
      <vt:lpstr>Dudas de la clase anterior</vt:lpstr>
      <vt:lpstr>Dudas de la clase anterior</vt:lpstr>
      <vt:lpstr>Dudas de la clase anterior</vt:lpstr>
      <vt:lpstr>Resolución de problemas con if..else y  switch-case</vt:lpstr>
      <vt:lpstr>Conocimientos previos</vt:lpstr>
      <vt:lpstr>Logro de aprendizaje</vt:lpstr>
      <vt:lpstr>Utilidad</vt:lpstr>
      <vt:lpstr>Presentación de PowerPoint</vt:lpstr>
      <vt:lpstr>Presentación de PowerPoint</vt:lpstr>
      <vt:lpstr>Condicional simple y doble</vt:lpstr>
      <vt:lpstr>Condicional múltiple</vt:lpstr>
      <vt:lpstr>Condicional múltiple: switch mejorado</vt:lpstr>
      <vt:lpstr>Anidamiento de condiciones</vt:lpstr>
      <vt:lpstr>Presentación de PowerPoint</vt:lpstr>
      <vt:lpstr>Ejemplo</vt:lpstr>
      <vt:lpstr>Solución</vt:lpstr>
      <vt:lpstr>Presentación de PowerPoint</vt:lpstr>
      <vt:lpstr>Ejemplo</vt:lpstr>
      <vt:lpstr>Solución</vt:lpstr>
      <vt:lpstr>Presentación de PowerPoint</vt:lpstr>
      <vt:lpstr>Ejercicio Grupal</vt:lpstr>
      <vt:lpstr>Resumen de la sesión</vt:lpstr>
      <vt:lpstr>Bibliografía</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UTP - Taller Programación - Semana 05 - Sesión 09</dc:title>
  <dc:creator>jorgerodcas@hotmail.com</dc:creator>
  <cp:lastModifiedBy>Juan Carlos García</cp:lastModifiedBy>
  <cp:revision>338</cp:revision>
  <dcterms:modified xsi:type="dcterms:W3CDTF">2023-10-20T21:26:22Z</dcterms:modified>
</cp:coreProperties>
</file>