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79" r:id="rId3"/>
    <p:sldId id="400" r:id="rId4"/>
    <p:sldId id="401" r:id="rId5"/>
    <p:sldId id="402" r:id="rId6"/>
    <p:sldId id="258" r:id="rId7"/>
    <p:sldId id="257" r:id="rId8"/>
    <p:sldId id="263" r:id="rId9"/>
    <p:sldId id="264" r:id="rId10"/>
    <p:sldId id="330" r:id="rId11"/>
    <p:sldId id="382" r:id="rId12"/>
    <p:sldId id="281" r:id="rId13"/>
    <p:sldId id="381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261" r:id="rId32"/>
    <p:sldId id="329" r:id="rId33"/>
    <p:sldId id="259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F22"/>
    <a:srgbClr val="FF33CC"/>
    <a:srgbClr val="1B5E8B"/>
    <a:srgbClr val="CC7832"/>
    <a:srgbClr val="758F3A"/>
    <a:srgbClr val="F9F9F9"/>
    <a:srgbClr val="E5E5E6"/>
    <a:srgbClr val="57D3FF"/>
    <a:srgbClr val="DAEEEF"/>
    <a:srgbClr val="0E7D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60B73-A423-B812-5CE1-C8DAD5587D31}" v="389" dt="2023-01-25T19:12:52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3" autoAdjust="0"/>
  </p:normalViewPr>
  <p:slideViewPr>
    <p:cSldViewPr snapToGrid="0">
      <p:cViewPr varScale="1">
        <p:scale>
          <a:sx n="118" d="100"/>
          <a:sy n="118" d="100"/>
        </p:scale>
        <p:origin x="610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54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360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66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510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251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  <a:lvl2pPr>
              <a:lnSpc>
                <a:spcPct val="100000"/>
              </a:lnSpc>
              <a:defRPr>
                <a:latin typeface="+mn-lt"/>
              </a:defRPr>
            </a:lvl2pPr>
            <a:lvl3pPr>
              <a:lnSpc>
                <a:spcPct val="100000"/>
              </a:lnSpc>
              <a:defRPr>
                <a:latin typeface="+mn-lt"/>
              </a:defRPr>
            </a:lvl3pPr>
            <a:lvl4pPr>
              <a:lnSpc>
                <a:spcPct val="100000"/>
              </a:lnSpc>
              <a:defRPr>
                <a:latin typeface="+mn-lt"/>
              </a:defRPr>
            </a:lvl4pPr>
            <a:lvl5pPr>
              <a:lnSpc>
                <a:spcPct val="100000"/>
              </a:lnSpc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/>
              <a:t>Taller de Programación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97D8-1988-8EA2-6C46-C9C1CFD3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795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A32FA-881A-6658-E78B-522E3A3AC1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C8243-B09A-A0DA-E645-A43C931D7914}"/>
              </a:ext>
            </a:extLst>
          </p:cNvPr>
          <p:cNvSpPr/>
          <p:nvPr/>
        </p:nvSpPr>
        <p:spPr>
          <a:xfrm>
            <a:off x="6191250" y="1641475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D0B61-C84B-78EA-6225-A862B3AB7C74}"/>
              </a:ext>
            </a:extLst>
          </p:cNvPr>
          <p:cNvSpPr/>
          <p:nvPr/>
        </p:nvSpPr>
        <p:spPr>
          <a:xfrm>
            <a:off x="1524000" y="4051300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A0EB9-B706-52DE-78F6-38371FC44F43}"/>
              </a:ext>
            </a:extLst>
          </p:cNvPr>
          <p:cNvSpPr/>
          <p:nvPr/>
        </p:nvSpPr>
        <p:spPr>
          <a:xfrm>
            <a:off x="6191250" y="4051300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30FCF5-BFF7-83C2-6B02-6FD8F5CFF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191250" y="1751667"/>
            <a:ext cx="857250" cy="2009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ED9893-E2BE-A833-E254-C68CF75FB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43050" y="4140052"/>
            <a:ext cx="857250" cy="2009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B8131-B0D7-5837-F84C-0E482D1E2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210300" y="4111477"/>
            <a:ext cx="857250" cy="20097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AF249D-01C2-A9F5-3AB4-2F41AC8CB35A}"/>
              </a:ext>
            </a:extLst>
          </p:cNvPr>
          <p:cNvSpPr txBox="1"/>
          <p:nvPr/>
        </p:nvSpPr>
        <p:spPr>
          <a:xfrm>
            <a:off x="7643813" y="2155557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Árboles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de decision ¿Qué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representan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21C262-7AFD-CEA5-C7AF-0B72EFA35C60}"/>
              </a:ext>
            </a:extLst>
          </p:cNvPr>
          <p:cNvSpPr txBox="1"/>
          <p:nvPr/>
        </p:nvSpPr>
        <p:spPr>
          <a:xfrm>
            <a:off x="28813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Diferencias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entre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if..else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y switch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3F1DAC-B052-66BD-F0E0-99B9EAC051F7}"/>
              </a:ext>
            </a:extLst>
          </p:cNvPr>
          <p:cNvSpPr txBox="1"/>
          <p:nvPr/>
        </p:nvSpPr>
        <p:spPr>
          <a:xfrm>
            <a:off x="76438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¿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Cómo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elegir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la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estructura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condicional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35E4AC-8514-E819-F999-05B293F067E3}"/>
              </a:ext>
            </a:extLst>
          </p:cNvPr>
          <p:cNvSpPr/>
          <p:nvPr/>
        </p:nvSpPr>
        <p:spPr>
          <a:xfrm>
            <a:off x="1428750" y="1543050"/>
            <a:ext cx="9334500" cy="482715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84E970-8B6B-C013-9D4E-EF922A529E0E}"/>
              </a:ext>
            </a:extLst>
          </p:cNvPr>
          <p:cNvSpPr/>
          <p:nvPr/>
        </p:nvSpPr>
        <p:spPr>
          <a:xfrm>
            <a:off x="1524000" y="1641475"/>
            <a:ext cx="4457700" cy="2219325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chemeClr val="bg1">
                <a:lumMod val="8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6012E-622C-01FE-D0E7-6284FA5350A4}"/>
              </a:ext>
            </a:extLst>
          </p:cNvPr>
          <p:cNvSpPr txBox="1"/>
          <p:nvPr/>
        </p:nvSpPr>
        <p:spPr>
          <a:xfrm>
            <a:off x="2881313" y="2165736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Anidamiento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¿Qué se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puede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anidar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4F2729-5111-87FA-ABA6-6206BE9F1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33525" y="1780242"/>
            <a:ext cx="8572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5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97D8-1988-8EA2-6C46-C9C1CFD3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795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A32FA-881A-6658-E78B-522E3A3AC1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84E970-8B6B-C013-9D4E-EF922A529E0E}"/>
              </a:ext>
            </a:extLst>
          </p:cNvPr>
          <p:cNvSpPr/>
          <p:nvPr/>
        </p:nvSpPr>
        <p:spPr>
          <a:xfrm>
            <a:off x="1524000" y="1641475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D0B61-C84B-78EA-6225-A862B3AB7C74}"/>
              </a:ext>
            </a:extLst>
          </p:cNvPr>
          <p:cNvSpPr/>
          <p:nvPr/>
        </p:nvSpPr>
        <p:spPr>
          <a:xfrm>
            <a:off x="1524000" y="4051300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A0EB9-B706-52DE-78F6-38371FC44F43}"/>
              </a:ext>
            </a:extLst>
          </p:cNvPr>
          <p:cNvSpPr/>
          <p:nvPr/>
        </p:nvSpPr>
        <p:spPr>
          <a:xfrm>
            <a:off x="6191250" y="4051300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6012E-622C-01FE-D0E7-6284FA5350A4}"/>
              </a:ext>
            </a:extLst>
          </p:cNvPr>
          <p:cNvSpPr txBox="1"/>
          <p:nvPr/>
        </p:nvSpPr>
        <p:spPr>
          <a:xfrm>
            <a:off x="2881313" y="2165736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Anidamiento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¿Qué se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puede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anidar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4F2729-5111-87FA-ABA6-6206BE9F1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24000" y="1780242"/>
            <a:ext cx="857250" cy="2009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ED9893-E2BE-A833-E254-C68CF75FB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43050" y="4140052"/>
            <a:ext cx="857250" cy="2009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B8131-B0D7-5837-F84C-0E482D1E2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210300" y="4111477"/>
            <a:ext cx="857250" cy="20097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21C262-7AFD-CEA5-C7AF-0B72EFA35C60}"/>
              </a:ext>
            </a:extLst>
          </p:cNvPr>
          <p:cNvSpPr txBox="1"/>
          <p:nvPr/>
        </p:nvSpPr>
        <p:spPr>
          <a:xfrm>
            <a:off x="28813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Diferencias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entre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if..else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y switch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3F1DAC-B052-66BD-F0E0-99B9EAC051F7}"/>
              </a:ext>
            </a:extLst>
          </p:cNvPr>
          <p:cNvSpPr txBox="1"/>
          <p:nvPr/>
        </p:nvSpPr>
        <p:spPr>
          <a:xfrm>
            <a:off x="76438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¿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Cómo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elegir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la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estructura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condicional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35E4AC-8514-E819-F999-05B293F067E3}"/>
              </a:ext>
            </a:extLst>
          </p:cNvPr>
          <p:cNvSpPr/>
          <p:nvPr/>
        </p:nvSpPr>
        <p:spPr>
          <a:xfrm>
            <a:off x="1428750" y="1543050"/>
            <a:ext cx="9334500" cy="482715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C8243-B09A-A0DA-E645-A43C931D7914}"/>
              </a:ext>
            </a:extLst>
          </p:cNvPr>
          <p:cNvSpPr/>
          <p:nvPr/>
        </p:nvSpPr>
        <p:spPr>
          <a:xfrm>
            <a:off x="6191250" y="1641475"/>
            <a:ext cx="4457700" cy="2219325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30FCF5-BFF7-83C2-6B02-6FD8F5CFF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191250" y="1751667"/>
            <a:ext cx="857250" cy="20097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AF249D-01C2-A9F5-3AB4-2F41AC8CB35A}"/>
              </a:ext>
            </a:extLst>
          </p:cNvPr>
          <p:cNvSpPr txBox="1"/>
          <p:nvPr/>
        </p:nvSpPr>
        <p:spPr>
          <a:xfrm>
            <a:off x="7643813" y="2155557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Árboles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de decision ¿Qué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representan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934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97D8-1988-8EA2-6C46-C9C1CFD3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795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A32FA-881A-6658-E78B-522E3A3AC1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84E970-8B6B-C013-9D4E-EF922A529E0E}"/>
              </a:ext>
            </a:extLst>
          </p:cNvPr>
          <p:cNvSpPr/>
          <p:nvPr/>
        </p:nvSpPr>
        <p:spPr>
          <a:xfrm>
            <a:off x="1524000" y="1641475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C8243-B09A-A0DA-E645-A43C931D7914}"/>
              </a:ext>
            </a:extLst>
          </p:cNvPr>
          <p:cNvSpPr/>
          <p:nvPr/>
        </p:nvSpPr>
        <p:spPr>
          <a:xfrm>
            <a:off x="6191250" y="1641475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A0EB9-B706-52DE-78F6-38371FC44F43}"/>
              </a:ext>
            </a:extLst>
          </p:cNvPr>
          <p:cNvSpPr/>
          <p:nvPr/>
        </p:nvSpPr>
        <p:spPr>
          <a:xfrm>
            <a:off x="6191250" y="4051300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6012E-622C-01FE-D0E7-6284FA5350A4}"/>
              </a:ext>
            </a:extLst>
          </p:cNvPr>
          <p:cNvSpPr txBox="1"/>
          <p:nvPr/>
        </p:nvSpPr>
        <p:spPr>
          <a:xfrm>
            <a:off x="2881313" y="2165736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Anidamiento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¿Qué se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puede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anidar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4F2729-5111-87FA-ABA6-6206BE9F1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24000" y="1780242"/>
            <a:ext cx="857250" cy="2009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30FCF5-BFF7-83C2-6B02-6FD8F5CFF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191250" y="1751667"/>
            <a:ext cx="857250" cy="2009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B8131-B0D7-5837-F84C-0E482D1E2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210300" y="4111477"/>
            <a:ext cx="857250" cy="20097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AF249D-01C2-A9F5-3AB4-2F41AC8CB35A}"/>
              </a:ext>
            </a:extLst>
          </p:cNvPr>
          <p:cNvSpPr txBox="1"/>
          <p:nvPr/>
        </p:nvSpPr>
        <p:spPr>
          <a:xfrm>
            <a:off x="7643813" y="2155557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Árboles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de decision ¿Qué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representan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3F1DAC-B052-66BD-F0E0-99B9EAC051F7}"/>
              </a:ext>
            </a:extLst>
          </p:cNvPr>
          <p:cNvSpPr txBox="1"/>
          <p:nvPr/>
        </p:nvSpPr>
        <p:spPr>
          <a:xfrm>
            <a:off x="76438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¿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Cómo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elegir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la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estructura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condicional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35E4AC-8514-E819-F999-05B293F067E3}"/>
              </a:ext>
            </a:extLst>
          </p:cNvPr>
          <p:cNvSpPr/>
          <p:nvPr/>
        </p:nvSpPr>
        <p:spPr>
          <a:xfrm>
            <a:off x="1428750" y="1543050"/>
            <a:ext cx="9334500" cy="482715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D0B61-C84B-78EA-6225-A862B3AB7C74}"/>
              </a:ext>
            </a:extLst>
          </p:cNvPr>
          <p:cNvSpPr/>
          <p:nvPr/>
        </p:nvSpPr>
        <p:spPr>
          <a:xfrm>
            <a:off x="1524000" y="4051300"/>
            <a:ext cx="4457700" cy="2219325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ED9893-E2BE-A833-E254-C68CF75FB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24000" y="4140052"/>
            <a:ext cx="857250" cy="2009775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21C262-7AFD-CEA5-C7AF-0B72EFA35C60}"/>
              </a:ext>
            </a:extLst>
          </p:cNvPr>
          <p:cNvSpPr txBox="1"/>
          <p:nvPr/>
        </p:nvSpPr>
        <p:spPr>
          <a:xfrm>
            <a:off x="28813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Diferencias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entre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if..else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y switch</a:t>
            </a:r>
          </a:p>
        </p:txBody>
      </p:sp>
    </p:spTree>
    <p:extLst>
      <p:ext uri="{BB962C8B-B14F-4D97-AF65-F5344CB8AC3E}">
        <p14:creationId xmlns:p14="http://schemas.microsoft.com/office/powerpoint/2010/main" val="195928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97D8-1988-8EA2-6C46-C9C1CFD3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795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A32FA-881A-6658-E78B-522E3A3AC1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84E970-8B6B-C013-9D4E-EF922A529E0E}"/>
              </a:ext>
            </a:extLst>
          </p:cNvPr>
          <p:cNvSpPr/>
          <p:nvPr/>
        </p:nvSpPr>
        <p:spPr>
          <a:xfrm>
            <a:off x="1524000" y="1641475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C8243-B09A-A0DA-E645-A43C931D7914}"/>
              </a:ext>
            </a:extLst>
          </p:cNvPr>
          <p:cNvSpPr/>
          <p:nvPr/>
        </p:nvSpPr>
        <p:spPr>
          <a:xfrm>
            <a:off x="6191250" y="1641475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AD0B61-C84B-78EA-6225-A862B3AB7C74}"/>
              </a:ext>
            </a:extLst>
          </p:cNvPr>
          <p:cNvSpPr/>
          <p:nvPr/>
        </p:nvSpPr>
        <p:spPr>
          <a:xfrm>
            <a:off x="1524000" y="4051300"/>
            <a:ext cx="4457700" cy="22193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6012E-622C-01FE-D0E7-6284FA5350A4}"/>
              </a:ext>
            </a:extLst>
          </p:cNvPr>
          <p:cNvSpPr txBox="1"/>
          <p:nvPr/>
        </p:nvSpPr>
        <p:spPr>
          <a:xfrm>
            <a:off x="2881313" y="2165736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Anidamiento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¿Qué se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puede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anidar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4F2729-5111-87FA-ABA6-6206BE9F1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24000" y="1780242"/>
            <a:ext cx="857250" cy="2009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30FCF5-BFF7-83C2-6B02-6FD8F5CFF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191250" y="1751667"/>
            <a:ext cx="857250" cy="2009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ED9893-E2BE-A833-E254-C68CF75FB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1543050" y="4140052"/>
            <a:ext cx="857250" cy="20097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AF249D-01C2-A9F5-3AB4-2F41AC8CB35A}"/>
              </a:ext>
            </a:extLst>
          </p:cNvPr>
          <p:cNvSpPr txBox="1"/>
          <p:nvPr/>
        </p:nvSpPr>
        <p:spPr>
          <a:xfrm>
            <a:off x="7643813" y="2155557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Árboles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de decision ¿Qué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representan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21C262-7AFD-CEA5-C7AF-0B72EFA35C60}"/>
              </a:ext>
            </a:extLst>
          </p:cNvPr>
          <p:cNvSpPr txBox="1"/>
          <p:nvPr/>
        </p:nvSpPr>
        <p:spPr>
          <a:xfrm>
            <a:off x="28813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Diferencias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entre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if..else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y switch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35E4AC-8514-E819-F999-05B293F067E3}"/>
              </a:ext>
            </a:extLst>
          </p:cNvPr>
          <p:cNvSpPr/>
          <p:nvPr/>
        </p:nvSpPr>
        <p:spPr>
          <a:xfrm>
            <a:off x="1428750" y="1543050"/>
            <a:ext cx="9334500" cy="482715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A0EB9-B706-52DE-78F6-38371FC44F43}"/>
              </a:ext>
            </a:extLst>
          </p:cNvPr>
          <p:cNvSpPr/>
          <p:nvPr/>
        </p:nvSpPr>
        <p:spPr>
          <a:xfrm>
            <a:off x="6191250" y="4051300"/>
            <a:ext cx="4457700" cy="2219325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EB8131-B0D7-5837-F84C-0E482D1E2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39" r="55903"/>
          <a:stretch/>
        </p:blipFill>
        <p:spPr>
          <a:xfrm>
            <a:off x="6191250" y="4111477"/>
            <a:ext cx="857250" cy="20097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3F1DAC-B052-66BD-F0E0-99B9EAC051F7}"/>
              </a:ext>
            </a:extLst>
          </p:cNvPr>
          <p:cNvSpPr txBox="1"/>
          <p:nvPr/>
        </p:nvSpPr>
        <p:spPr>
          <a:xfrm>
            <a:off x="7643812" y="4544774"/>
            <a:ext cx="2200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¿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Cómo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elegir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la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estructura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condicional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404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+mn-lt"/>
              </a:rPr>
              <a:t>Estructuras Repetitivas. Sentencia </a:t>
            </a: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</a:t>
            </a:r>
            <a:r>
              <a:rPr lang="es-ES" dirty="0">
                <a:latin typeface="+mn-lt"/>
              </a:rPr>
              <a:t> (I)</a:t>
            </a:r>
            <a:endParaRPr lang="en-US" dirty="0">
              <a:latin typeface="+mn-lt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5008162-8035-4BC1-8DCF-719FB3E513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1595"/>
            <a:ext cx="10515600" cy="785528"/>
          </a:xfrm>
        </p:spPr>
        <p:txBody>
          <a:bodyPr/>
          <a:lstStyle/>
          <a:p>
            <a:r>
              <a:rPr lang="es-ES"/>
              <a:t>Conocimientos previos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408113"/>
            <a:ext cx="10515600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/>
              <a:t>Observa la imagen y responde: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5D304B-3D75-D02E-034F-CDE1522B2D62}"/>
              </a:ext>
            </a:extLst>
          </p:cNvPr>
          <p:cNvGrpSpPr/>
          <p:nvPr/>
        </p:nvGrpSpPr>
        <p:grpSpPr>
          <a:xfrm>
            <a:off x="810075" y="2323200"/>
            <a:ext cx="10670004" cy="1563002"/>
            <a:chOff x="1543500" y="3138563"/>
            <a:chExt cx="9667297" cy="14161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AFC5506-4D75-A337-80DA-669368D75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3500" y="3462059"/>
              <a:ext cx="1312366" cy="1092621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E3C4B6-C49F-89CB-0BC2-287D9F512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6956" y="3462059"/>
              <a:ext cx="1312366" cy="1092621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56C140C-7159-F766-E688-F809C7365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0412" y="3462059"/>
              <a:ext cx="1312366" cy="1092621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A96D8B-3EC9-FF89-AF10-77AD1FDF7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3868" y="3462059"/>
              <a:ext cx="1312366" cy="1092621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4DCF13-4271-159B-DB67-87CCD313D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7324" y="3462059"/>
              <a:ext cx="1312366" cy="1092621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C37200-3C29-D7DD-C178-7E19042D5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60780" y="3462059"/>
              <a:ext cx="1312366" cy="1092621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DFE2961-1BB6-3357-D4CA-2AE82E60F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4236" y="3462059"/>
              <a:ext cx="1486561" cy="1092622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B7E788-6C95-D550-A030-3BC3E9021411}"/>
                </a:ext>
              </a:extLst>
            </p:cNvPr>
            <p:cNvSpPr txBox="1"/>
            <p:nvPr/>
          </p:nvSpPr>
          <p:spPr>
            <a:xfrm>
              <a:off x="1927813" y="313856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LUN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84CFCC-3C6D-82F6-C80C-A36CE6A38782}"/>
                </a:ext>
              </a:extLst>
            </p:cNvPr>
            <p:cNvSpPr txBox="1"/>
            <p:nvPr/>
          </p:nvSpPr>
          <p:spPr>
            <a:xfrm>
              <a:off x="3271232" y="3138563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MAR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7B1902-0D58-0F12-4E14-05BDAC2A2D8F}"/>
                </a:ext>
              </a:extLst>
            </p:cNvPr>
            <p:cNvSpPr txBox="1"/>
            <p:nvPr/>
          </p:nvSpPr>
          <p:spPr>
            <a:xfrm>
              <a:off x="8673459" y="3138563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SAB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74F4C1-D50D-04D6-C11B-F71CF7FFDED1}"/>
                </a:ext>
              </a:extLst>
            </p:cNvPr>
            <p:cNvSpPr txBox="1"/>
            <p:nvPr/>
          </p:nvSpPr>
          <p:spPr>
            <a:xfrm>
              <a:off x="4641508" y="3138563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MIE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E51C42-2598-15DA-CD95-BA585A8E8F87}"/>
                </a:ext>
              </a:extLst>
            </p:cNvPr>
            <p:cNvSpPr txBox="1"/>
            <p:nvPr/>
          </p:nvSpPr>
          <p:spPr>
            <a:xfrm>
              <a:off x="6027800" y="3138563"/>
              <a:ext cx="5245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JUE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AAD627-2CF2-54F1-842C-8F86DBD92B4C}"/>
                </a:ext>
              </a:extLst>
            </p:cNvPr>
            <p:cNvSpPr txBox="1"/>
            <p:nvPr/>
          </p:nvSpPr>
          <p:spPr>
            <a:xfrm>
              <a:off x="7460463" y="3138563"/>
              <a:ext cx="4748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VIE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EE9F5D-8C74-86AB-75E0-0284E97501FE}"/>
                </a:ext>
              </a:extLst>
            </p:cNvPr>
            <p:cNvSpPr txBox="1"/>
            <p:nvPr/>
          </p:nvSpPr>
          <p:spPr>
            <a:xfrm>
              <a:off x="10165991" y="3138563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DOM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3EFCECF-15CA-1E38-E814-88E53E04C9AD}"/>
              </a:ext>
            </a:extLst>
          </p:cNvPr>
          <p:cNvSpPr txBox="1"/>
          <p:nvPr/>
        </p:nvSpPr>
        <p:spPr>
          <a:xfrm>
            <a:off x="1132187" y="4038416"/>
            <a:ext cx="10347892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¿Qué nos muestra la imagen?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¿Algo se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repite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¿Tiene un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inicio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y un fin?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¿Qué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similitud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puedes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establecer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entre la imagen y la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programación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Logro de aprendizaje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qué son las estructuras repetitivas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mediante la observación, lectura y realización de actividades </a:t>
            </a:r>
            <a:r>
              <a:rPr lang="es-ES" dirty="0">
                <a:solidFill>
                  <a:srgbClr val="7030A0"/>
                </a:solidFill>
              </a:rPr>
              <a:t>para resolver problemas sencillos que requieren que ciertas acciones se repitan.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obtenida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Utilidad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67696-51C5-EB2A-2C76-651B94C3AB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096000" cy="289910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¿Qué expresan las imágenes?</a:t>
            </a:r>
          </a:p>
          <a:p>
            <a:pPr>
              <a:lnSpc>
                <a:spcPct val="120000"/>
              </a:lnSpc>
            </a:pPr>
            <a:r>
              <a:rPr lang="es-ES" dirty="0"/>
              <a:t>¿El reclutador debe entrevistar y evaluar a muchos postulantes?</a:t>
            </a:r>
          </a:p>
          <a:p>
            <a:pPr>
              <a:lnSpc>
                <a:spcPct val="120000"/>
              </a:lnSpc>
            </a:pPr>
            <a:r>
              <a:rPr lang="es-ES" dirty="0"/>
              <a:t>¿Refleja la imagen un proceso repetitivo?</a:t>
            </a:r>
          </a:p>
          <a:p>
            <a:pPr>
              <a:lnSpc>
                <a:spcPct val="120000"/>
              </a:lnSpc>
            </a:pPr>
            <a:r>
              <a:rPr lang="es-ES" dirty="0"/>
              <a:t>¿En qué casos nos es útil realizar acciones repetidamente? ¿En qué nos sirve?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1050463" y="4952031"/>
            <a:ext cx="63767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+mj-lt"/>
              </a:rPr>
              <a:t>Expresar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+mj-lt"/>
              </a:rPr>
              <a:t>procesos</a:t>
            </a:r>
            <a:r>
              <a:rPr lang="en-US" sz="2800" b="1" dirty="0">
                <a:solidFill>
                  <a:srgbClr val="CC7832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+mj-lt"/>
              </a:rPr>
              <a:t>repetitivos</a:t>
            </a:r>
            <a:r>
              <a:rPr lang="en-US" sz="2800" b="1" dirty="0">
                <a:solidFill>
                  <a:srgbClr val="CC7832"/>
                </a:solidFill>
                <a:latin typeface="+mj-lt"/>
              </a:rPr>
              <a:t> </a:t>
            </a:r>
            <a:r>
              <a:rPr lang="en-US" sz="2800" b="1" dirty="0" err="1">
                <a:latin typeface="+mj-lt"/>
              </a:rPr>
              <a:t>en</a:t>
            </a:r>
            <a:r>
              <a:rPr lang="en-US" sz="2800" b="1" dirty="0">
                <a:latin typeface="+mj-lt"/>
              </a:rPr>
              <a:t> Java.</a:t>
            </a:r>
            <a:endParaRPr lang="es-ES" sz="28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AC719-9592-0A7D-92C6-072E78A9B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0" y="720557"/>
            <a:ext cx="4638917" cy="30942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5B002B-10C1-1D8A-41A3-422D4B564915}"/>
              </a:ext>
            </a:extLst>
          </p:cNvPr>
          <p:cNvSpPr txBox="1"/>
          <p:nvPr/>
        </p:nvSpPr>
        <p:spPr>
          <a:xfrm>
            <a:off x="114300" y="6112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https://professionalresumewriters.net/wp-content/uploads/2014/05/alg-job-fair-line-jpg-1.jpg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https://cdn.searchenginejournal.com/wp-content/uploads/2022/04/seo-job-interview-627a3e02754fc-sej-384x202.png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https://o2employmentservices.com/wp-content/uploads/2022/07/row-compensation-box.jpg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C6CE44-88FF-F017-DB7E-D12E0C2EF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508" y="3278818"/>
            <a:ext cx="3657600" cy="19145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3DA99E-1327-BEDB-340F-08AAB3CBD823}"/>
              </a:ext>
            </a:extLst>
          </p:cNvPr>
          <p:cNvSpPr/>
          <p:nvPr/>
        </p:nvSpPr>
        <p:spPr>
          <a:xfrm>
            <a:off x="7305674" y="849745"/>
            <a:ext cx="2362201" cy="30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rgbClr val="CC7832"/>
                </a:solidFill>
              </a:rPr>
              <a:t>ENTREVISTAS DE TRABAJO</a:t>
            </a:r>
            <a:endParaRPr lang="en-US" sz="1200" b="1" dirty="0">
              <a:solidFill>
                <a:srgbClr val="CC783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51EEDA-27C6-95DD-9625-2BC91847F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016" y="4745371"/>
            <a:ext cx="2895751" cy="13920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Estructuras Repetitivas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E6D3E2-EF1A-E27E-7562-EA1A24441B0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Estructuras Repetitivas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237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estructura repetitiva?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8C03CAC-7430-E951-64FC-B01B7C1CEB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067550" cy="46593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Una estructura repetitiva es aquella que permite ejecutar un bloque de sentencias un número finito de veces.</a:t>
            </a:r>
          </a:p>
          <a:p>
            <a:pPr>
              <a:lnSpc>
                <a:spcPct val="110000"/>
              </a:lnSpc>
            </a:pPr>
            <a:r>
              <a:rPr lang="es-ES" dirty="0"/>
              <a:t>A una estructura repetitiva también se le llama </a:t>
            </a:r>
            <a:r>
              <a:rPr lang="es-ES" b="1" dirty="0">
                <a:solidFill>
                  <a:schemeClr val="accent2"/>
                </a:solidFill>
              </a:rPr>
              <a:t>bucle</a:t>
            </a:r>
            <a:r>
              <a:rPr lang="es-ES" dirty="0"/>
              <a:t> (</a:t>
            </a:r>
            <a:r>
              <a:rPr lang="es-ES" dirty="0" err="1"/>
              <a:t>loop</a:t>
            </a:r>
            <a:r>
              <a:rPr lang="es-ES" dirty="0"/>
              <a:t>)</a:t>
            </a:r>
          </a:p>
          <a:p>
            <a:pPr>
              <a:lnSpc>
                <a:spcPct val="110000"/>
              </a:lnSpc>
            </a:pPr>
            <a:r>
              <a:rPr lang="es-ES" dirty="0"/>
              <a:t>Por lo general, un bucle tiene un inicio y una condición de salida.</a:t>
            </a:r>
          </a:p>
          <a:p>
            <a:pPr>
              <a:lnSpc>
                <a:spcPct val="110000"/>
              </a:lnSpc>
            </a:pPr>
            <a:r>
              <a:rPr lang="es-ES" dirty="0"/>
              <a:t>Trabaja conjuntamente con variables de iteración, así como con </a:t>
            </a:r>
            <a:r>
              <a:rPr lang="es-ES" b="1" dirty="0">
                <a:solidFill>
                  <a:schemeClr val="accent2"/>
                </a:solidFill>
              </a:rPr>
              <a:t>contadores</a:t>
            </a:r>
            <a:r>
              <a:rPr lang="es-ES" dirty="0"/>
              <a:t> y </a:t>
            </a:r>
            <a:r>
              <a:rPr lang="es-ES" b="1" dirty="0">
                <a:solidFill>
                  <a:schemeClr val="accent2"/>
                </a:solidFill>
              </a:rPr>
              <a:t>acumuladores</a:t>
            </a:r>
            <a:r>
              <a:rPr lang="es-E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D2E89E-4E8F-6B02-DD8E-3D37FDE280F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A82F43-43B8-FD25-CC0D-DFA51BC54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B284D8-96F3-63AF-9033-FCC999DC86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Estructuras Repetitivas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B3F7EB-256E-1A80-3107-DCC2F7C6FB2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06B7A5-5F84-6846-21F9-88473B3CE88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F52AB0-C5B8-0D4A-71BD-F8C18679E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476" y="1846263"/>
            <a:ext cx="4512858" cy="349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D8AA5D-80BC-8805-8BBA-2BDFC03DD2AA}"/>
              </a:ext>
            </a:extLst>
          </p:cNvPr>
          <p:cNvSpPr txBox="1"/>
          <p:nvPr/>
        </p:nvSpPr>
        <p:spPr>
          <a:xfrm>
            <a:off x="133350" y="6485733"/>
            <a:ext cx="6253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https://creativebonito.com/wp-content/uploads/2018/07/architecture-stairs-design-1160x871.jpg​</a:t>
            </a:r>
          </a:p>
        </p:txBody>
      </p:sp>
    </p:spTree>
    <p:extLst>
      <p:ext uri="{BB962C8B-B14F-4D97-AF65-F5344CB8AC3E}">
        <p14:creationId xmlns:p14="http://schemas.microsoft.com/office/powerpoint/2010/main" val="279832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Estructuras repetitivas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8C03CAC-7430-E951-64FC-B01B7C1CEB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04193"/>
            <a:ext cx="10515600" cy="4373562"/>
          </a:xfrm>
        </p:spPr>
        <p:txBody>
          <a:bodyPr/>
          <a:lstStyle/>
          <a:p>
            <a:r>
              <a:rPr lang="es-ES" dirty="0"/>
              <a:t>Java implementa 3 tipos de estructuras repetitivas.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D2E89E-4E8F-6B02-DD8E-3D37FDE280F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A82F43-43B8-FD25-CC0D-DFA51BC54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B284D8-96F3-63AF-9033-FCC999DC86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Estructuras Repetitivas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B3F7EB-256E-1A80-3107-DCC2F7C6FB2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06B7A5-5F84-6846-21F9-88473B3CE88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553F80-A4AF-98B4-DDD1-D8DCCFF26776}"/>
              </a:ext>
            </a:extLst>
          </p:cNvPr>
          <p:cNvGrpSpPr/>
          <p:nvPr/>
        </p:nvGrpSpPr>
        <p:grpSpPr>
          <a:xfrm>
            <a:off x="1354054" y="3256757"/>
            <a:ext cx="9467850" cy="2391568"/>
            <a:chOff x="1354054" y="2847182"/>
            <a:chExt cx="9467850" cy="23915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38301E4C-C47E-9C4D-292C-B95F8B3AF6D7}"/>
                </a:ext>
              </a:extLst>
            </p:cNvPr>
            <p:cNvSpPr/>
            <p:nvPr/>
          </p:nvSpPr>
          <p:spPr>
            <a:xfrm rot="16200000">
              <a:off x="5627520" y="474495"/>
              <a:ext cx="885825" cy="7099634"/>
            </a:xfrm>
            <a:prstGeom prst="rightBrace">
              <a:avLst>
                <a:gd name="adj1" fmla="val 0"/>
                <a:gd name="adj2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4547CAD-6355-C013-F209-70E9A0999FB4}"/>
                </a:ext>
              </a:extLst>
            </p:cNvPr>
            <p:cNvCxnSpPr/>
            <p:nvPr/>
          </p:nvCxnSpPr>
          <p:spPr>
            <a:xfrm>
              <a:off x="6067425" y="3819526"/>
              <a:ext cx="0" cy="647699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C3A80B3-1010-32BD-86EC-106D61047E96}"/>
                </a:ext>
              </a:extLst>
            </p:cNvPr>
            <p:cNvSpPr/>
            <p:nvPr/>
          </p:nvSpPr>
          <p:spPr>
            <a:xfrm>
              <a:off x="4602078" y="2847182"/>
              <a:ext cx="2971799" cy="762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Estructuras Repetitivas </a:t>
              </a:r>
              <a:b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en Java</a:t>
              </a:r>
              <a:endParaRPr lang="en-US" sz="1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05C5CFA-E53E-B767-3144-BF0ED3A04664}"/>
                </a:ext>
              </a:extLst>
            </p:cNvPr>
            <p:cNvSpPr/>
            <p:nvPr/>
          </p:nvSpPr>
          <p:spPr>
            <a:xfrm>
              <a:off x="1354054" y="4476750"/>
              <a:ext cx="2397292" cy="762000"/>
            </a:xfrm>
            <a:prstGeom prst="round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400" b="1" dirty="0" err="1"/>
                <a:t>while</a:t>
              </a:r>
              <a:endParaRPr lang="en-US" sz="2400" b="1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6963308-D376-72C9-AE19-6A04C2946072}"/>
                </a:ext>
              </a:extLst>
            </p:cNvPr>
            <p:cNvSpPr/>
            <p:nvPr/>
          </p:nvSpPr>
          <p:spPr>
            <a:xfrm>
              <a:off x="4889333" y="4476750"/>
              <a:ext cx="2397292" cy="762000"/>
            </a:xfrm>
            <a:prstGeom prst="roundRect">
              <a:avLst/>
            </a:prstGeom>
            <a:solidFill>
              <a:srgbClr val="CC7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400" b="1" dirty="0"/>
                <a:t>do-</a:t>
              </a:r>
              <a:r>
                <a:rPr lang="es-ES" sz="2400" b="1" dirty="0" err="1"/>
                <a:t>while</a:t>
              </a:r>
              <a:endParaRPr lang="en-US" sz="2400" b="1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E8154AA-4F77-2550-255D-A2E95CEE5609}"/>
                </a:ext>
              </a:extLst>
            </p:cNvPr>
            <p:cNvSpPr/>
            <p:nvPr/>
          </p:nvSpPr>
          <p:spPr>
            <a:xfrm>
              <a:off x="8424612" y="4476750"/>
              <a:ext cx="2397292" cy="762000"/>
            </a:xfrm>
            <a:prstGeom prst="round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400" b="1" dirty="0" err="1"/>
                <a:t>for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4987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Estructuras Repetitivas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8E6D3E2-EF1A-E27E-7562-EA1A24441B0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485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CB6A5C-DBB4-AB63-9D46-730BE753C726}"/>
              </a:ext>
            </a:extLst>
          </p:cNvPr>
          <p:cNvGrpSpPr/>
          <p:nvPr/>
        </p:nvGrpSpPr>
        <p:grpSpPr>
          <a:xfrm>
            <a:off x="838200" y="-31780"/>
            <a:ext cx="4629752" cy="1015663"/>
            <a:chOff x="924025" y="1526961"/>
            <a:chExt cx="4629752" cy="1015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771B44-1BCC-A25B-2F3C-0E35BABF6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9BA64A-2B91-E3AC-4242-79EBD525B74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F2B7A0-0A0E-35DF-626B-8A3F6DD4AAD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4F3856-393F-0522-0BD2-C86F36E9847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repetitiva </a:t>
            </a:r>
            <a:r>
              <a:rPr lang="es-ES" dirty="0" err="1"/>
              <a:t>while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8C03CAC-7430-E951-64FC-B01B7C1CEB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04193"/>
            <a:ext cx="6519959" cy="4373562"/>
          </a:xfrm>
        </p:spPr>
        <p:txBody>
          <a:bodyPr>
            <a:normAutofit/>
          </a:bodyPr>
          <a:lstStyle/>
          <a:p>
            <a:r>
              <a:rPr lang="es-ES" dirty="0"/>
              <a:t>Es aquella en la que el bucle se repite “</a:t>
            </a:r>
            <a:r>
              <a:rPr lang="es-ES" b="1" dirty="0">
                <a:solidFill>
                  <a:schemeClr val="accent2"/>
                </a:solidFill>
              </a:rPr>
              <a:t>mientras</a:t>
            </a:r>
            <a:r>
              <a:rPr lang="es-ES" dirty="0"/>
              <a:t>” se cumpla una determinada condición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(Joyanes, 2008)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El </a:t>
            </a:r>
            <a:r>
              <a:rPr lang="en-US" dirty="0" err="1"/>
              <a:t>bucle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 err="1"/>
              <a:t>ejecución</a:t>
            </a:r>
            <a:r>
              <a:rPr lang="en-US" dirty="0"/>
              <a:t> </a:t>
            </a:r>
            <a:r>
              <a:rPr lang="en-US" dirty="0" err="1"/>
              <a:t>mientras</a:t>
            </a:r>
            <a:r>
              <a:rPr lang="en-US" dirty="0"/>
              <a:t> la </a:t>
            </a:r>
            <a:r>
              <a:rPr lang="en-US" b="1" dirty="0" err="1"/>
              <a:t>condición</a:t>
            </a:r>
            <a:r>
              <a:rPr lang="en-US" dirty="0"/>
              <a:t> es </a:t>
            </a:r>
            <a:r>
              <a:rPr lang="en-US" b="1" dirty="0" err="1"/>
              <a:t>verdadera</a:t>
            </a:r>
            <a:r>
              <a:rPr lang="en-US" dirty="0"/>
              <a:t>. Si es </a:t>
            </a:r>
            <a:r>
              <a:rPr lang="en-US" b="1" dirty="0"/>
              <a:t>falsa</a:t>
            </a:r>
            <a:r>
              <a:rPr lang="en-US" dirty="0"/>
              <a:t> </a:t>
            </a:r>
            <a:r>
              <a:rPr lang="en-US" dirty="0" err="1"/>
              <a:t>entonces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bucle</a:t>
            </a:r>
            <a:r>
              <a:rPr lang="en-US" dirty="0"/>
              <a:t> </a:t>
            </a:r>
            <a:r>
              <a:rPr lang="en-US" b="1" dirty="0"/>
              <a:t>no se </a:t>
            </a:r>
            <a:r>
              <a:rPr lang="en-US" b="1" dirty="0" err="1"/>
              <a:t>ejecuta</a:t>
            </a:r>
            <a:r>
              <a:rPr lang="en-US" dirty="0"/>
              <a:t> o </a:t>
            </a:r>
            <a:r>
              <a:rPr lang="en-US" b="1" dirty="0" err="1"/>
              <a:t>deja</a:t>
            </a:r>
            <a:r>
              <a:rPr lang="en-US" b="1" dirty="0"/>
              <a:t> de </a:t>
            </a:r>
            <a:r>
              <a:rPr lang="en-US" b="1" dirty="0" err="1"/>
              <a:t>ejecutarse</a:t>
            </a:r>
            <a:r>
              <a:rPr lang="en-U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77B73F-19E9-4738-4926-161D2640DE2E}"/>
              </a:ext>
            </a:extLst>
          </p:cNvPr>
          <p:cNvGrpSpPr/>
          <p:nvPr/>
        </p:nvGrpSpPr>
        <p:grpSpPr>
          <a:xfrm>
            <a:off x="7640674" y="1131525"/>
            <a:ext cx="3968095" cy="5046230"/>
            <a:chOff x="7640674" y="1131525"/>
            <a:chExt cx="3968095" cy="5046230"/>
          </a:xfrm>
        </p:grpSpPr>
        <p:sp>
          <p:nvSpPr>
            <p:cNvPr id="2" name="Arrow: U-Turn 1">
              <a:extLst>
                <a:ext uri="{FF2B5EF4-FFF2-40B4-BE49-F238E27FC236}">
                  <a16:creationId xmlns:a16="http://schemas.microsoft.com/office/drawing/2014/main" id="{C298E176-75DF-8681-A4F0-AE54137BA099}"/>
                </a:ext>
              </a:extLst>
            </p:cNvPr>
            <p:cNvSpPr/>
            <p:nvPr/>
          </p:nvSpPr>
          <p:spPr>
            <a:xfrm rot="16200000">
              <a:off x="7265831" y="3199413"/>
              <a:ext cx="2357030" cy="1607343"/>
            </a:xfrm>
            <a:prstGeom prst="uturnArrow">
              <a:avLst>
                <a:gd name="adj1" fmla="val 5646"/>
                <a:gd name="adj2" fmla="val 9165"/>
                <a:gd name="adj3" fmla="val 8578"/>
                <a:gd name="adj4" fmla="val 23810"/>
                <a:gd name="adj5" fmla="val 77714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BBD49737-EA58-F5DF-B543-48EE4F74A054}"/>
                </a:ext>
              </a:extLst>
            </p:cNvPr>
            <p:cNvSpPr/>
            <p:nvPr/>
          </p:nvSpPr>
          <p:spPr>
            <a:xfrm>
              <a:off x="9560519" y="1131525"/>
              <a:ext cx="221670" cy="103743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Bent 23">
              <a:extLst>
                <a:ext uri="{FF2B5EF4-FFF2-40B4-BE49-F238E27FC236}">
                  <a16:creationId xmlns:a16="http://schemas.microsoft.com/office/drawing/2014/main" id="{D34A2E9B-15DB-EEF6-BC5D-AAD914891F65}"/>
                </a:ext>
              </a:extLst>
            </p:cNvPr>
            <p:cNvSpPr/>
            <p:nvPr/>
          </p:nvSpPr>
          <p:spPr>
            <a:xfrm rot="5400000">
              <a:off x="9354332" y="3923318"/>
              <a:ext cx="3255058" cy="1253816"/>
            </a:xfrm>
            <a:prstGeom prst="bentArrow">
              <a:avLst>
                <a:gd name="adj1" fmla="val 6606"/>
                <a:gd name="adj2" fmla="val 12419"/>
                <a:gd name="adj3" fmla="val 13948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9EA7BF7-3AD1-BA7D-D5F0-CA36225A06FD}"/>
                </a:ext>
              </a:extLst>
            </p:cNvPr>
            <p:cNvSpPr/>
            <p:nvPr/>
          </p:nvSpPr>
          <p:spPr>
            <a:xfrm rot="18900000">
              <a:off x="9103073" y="2391252"/>
              <a:ext cx="1136562" cy="1136562"/>
            </a:xfrm>
            <a:prstGeom prst="roundRect">
              <a:avLst>
                <a:gd name="adj" fmla="val 6071"/>
              </a:avLst>
            </a:prstGeom>
            <a:solidFill>
              <a:srgbClr val="92D05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C6E5574-74C2-36F9-E50D-A7D7CDE1B716}"/>
                </a:ext>
              </a:extLst>
            </p:cNvPr>
            <p:cNvSpPr txBox="1"/>
            <p:nvPr/>
          </p:nvSpPr>
          <p:spPr>
            <a:xfrm>
              <a:off x="9091207" y="2750228"/>
              <a:ext cx="1159293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condición</a:t>
              </a:r>
              <a:endParaRPr lang="en-US" sz="1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BA9B56-100A-0540-90EF-A3602DE46BA3}"/>
                </a:ext>
              </a:extLst>
            </p:cNvPr>
            <p:cNvSpPr txBox="1"/>
            <p:nvPr/>
          </p:nvSpPr>
          <p:spPr>
            <a:xfrm>
              <a:off x="9712902" y="3953663"/>
              <a:ext cx="1524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rgbClr val="92D050"/>
                  </a:solidFill>
                </a:rPr>
                <a:t>true</a:t>
              </a:r>
              <a:endParaRPr lang="en-US" sz="1800" dirty="0">
                <a:solidFill>
                  <a:srgbClr val="92D05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EDF0085-A024-B019-B613-1B2B5467D339}"/>
                </a:ext>
              </a:extLst>
            </p:cNvPr>
            <p:cNvSpPr txBox="1"/>
            <p:nvPr/>
          </p:nvSpPr>
          <p:spPr>
            <a:xfrm>
              <a:off x="10489189" y="2507663"/>
              <a:ext cx="82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rgbClr val="C00000"/>
                  </a:solidFill>
                </a:rPr>
                <a:t>false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34" name="Arrow: Down 33">
              <a:extLst>
                <a:ext uri="{FF2B5EF4-FFF2-40B4-BE49-F238E27FC236}">
                  <a16:creationId xmlns:a16="http://schemas.microsoft.com/office/drawing/2014/main" id="{843D6637-FEA8-50EE-2103-6FC0ABE76CF0}"/>
                </a:ext>
              </a:extLst>
            </p:cNvPr>
            <p:cNvSpPr/>
            <p:nvPr/>
          </p:nvSpPr>
          <p:spPr>
            <a:xfrm>
              <a:off x="9545139" y="3713926"/>
              <a:ext cx="221670" cy="103743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5ED43F8-CFF2-87D4-0716-0CD14673B37E}"/>
                </a:ext>
              </a:extLst>
            </p:cNvPr>
            <p:cNvSpPr/>
            <p:nvPr/>
          </p:nvSpPr>
          <p:spPr>
            <a:xfrm>
              <a:off x="8349028" y="4738029"/>
              <a:ext cx="2613891" cy="78552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E51201-DDED-FDB0-1402-9912088B9E72}"/>
                </a:ext>
              </a:extLst>
            </p:cNvPr>
            <p:cNvSpPr txBox="1"/>
            <p:nvPr/>
          </p:nvSpPr>
          <p:spPr>
            <a:xfrm>
              <a:off x="8598683" y="4951724"/>
              <a:ext cx="2082621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código condicional</a:t>
              </a:r>
              <a:endParaRPr lang="en-US" sz="1800" dirty="0"/>
            </a:p>
          </p:txBody>
        </p:sp>
      </p:grpSp>
      <p:sp>
        <p:nvSpPr>
          <p:cNvPr id="38" name="Rectangle 1">
            <a:extLst>
              <a:ext uri="{FF2B5EF4-FFF2-40B4-BE49-F238E27FC236}">
                <a16:creationId xmlns:a16="http://schemas.microsoft.com/office/drawing/2014/main" id="{24C0FCEB-2AF2-F2F7-CB69-4F6DB3A99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7881" y="5438453"/>
            <a:ext cx="2422929" cy="1139603"/>
          </a:xfrm>
          <a:prstGeom prst="roundRect">
            <a:avLst>
              <a:gd name="adj" fmla="val 830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DF953E-DC80-8BD9-1A13-05045D211702}"/>
              </a:ext>
            </a:extLst>
          </p:cNvPr>
          <p:cNvSpPr txBox="1"/>
          <p:nvPr/>
        </p:nvSpPr>
        <p:spPr>
          <a:xfrm>
            <a:off x="1368025" y="5485034"/>
            <a:ext cx="2169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00B0F0"/>
                </a:solidFill>
              </a:rPr>
              <a:t>Sintaxis de la instrucción </a:t>
            </a:r>
            <a:r>
              <a:rPr lang="es-ES" b="1" dirty="0" err="1">
                <a:solidFill>
                  <a:srgbClr val="00B0F0"/>
                </a:solidFill>
              </a:rPr>
              <a:t>while</a:t>
            </a:r>
            <a:r>
              <a:rPr lang="es-ES" dirty="0">
                <a:solidFill>
                  <a:srgbClr val="00B0F0"/>
                </a:solidFill>
              </a:rPr>
              <a:t> de Java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55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CB6A5C-DBB4-AB63-9D46-730BE753C726}"/>
              </a:ext>
            </a:extLst>
          </p:cNvPr>
          <p:cNvGrpSpPr/>
          <p:nvPr/>
        </p:nvGrpSpPr>
        <p:grpSpPr>
          <a:xfrm>
            <a:off x="838200" y="-31780"/>
            <a:ext cx="4629752" cy="1015663"/>
            <a:chOff x="924025" y="1526961"/>
            <a:chExt cx="4629752" cy="1015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771B44-1BCC-A25B-2F3C-0E35BABF6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9BA64A-2B91-E3AC-4242-79EBD525B74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F2B7A0-0A0E-35DF-626B-8A3F6DD4AAD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4F3856-393F-0522-0BD2-C86F36E9847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repetitiva </a:t>
            </a:r>
            <a:r>
              <a:rPr lang="es-ES" dirty="0" err="1"/>
              <a:t>while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80494-69D9-2273-A769-5F7EE7C4E1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4905375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Se requiere un programa que permita ingresar la edad de una persona​.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Si el usuario ingresa un valor negativo, deberá pedir nuevamente la edad​.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Si el valor ingresado no es negativo, el programa deberá mostrar la edad ingresada​.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9911AD-F23A-A510-184A-D0F6053FC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540" y="2161274"/>
            <a:ext cx="4880119" cy="3743539"/>
          </a:xfrm>
          <a:prstGeom prst="roundRect">
            <a:avLst>
              <a:gd name="adj" fmla="val 288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-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Scanner lector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06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CB6A5C-DBB4-AB63-9D46-730BE753C726}"/>
              </a:ext>
            </a:extLst>
          </p:cNvPr>
          <p:cNvGrpSpPr/>
          <p:nvPr/>
        </p:nvGrpSpPr>
        <p:grpSpPr>
          <a:xfrm>
            <a:off x="838200" y="-31780"/>
            <a:ext cx="4629752" cy="1015663"/>
            <a:chOff x="924025" y="1526961"/>
            <a:chExt cx="4629752" cy="1015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771B44-1BCC-A25B-2F3C-0E35BABF6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9BA64A-2B91-E3AC-4242-79EBD525B74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F2B7A0-0A0E-35DF-626B-8A3F6DD4AAD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4F3856-393F-0522-0BD2-C86F36E9847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¿Puede un bucle ser infinito?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80494-69D9-2273-A769-5F7EE7C4E1A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2"/>
                </a:solidFill>
              </a:rPr>
              <a:t>Sí.</a:t>
            </a:r>
          </a:p>
          <a:p>
            <a:r>
              <a:rPr lang="es-ES" dirty="0"/>
              <a:t>Un </a:t>
            </a:r>
            <a:r>
              <a:rPr lang="es-ES" b="1" dirty="0"/>
              <a:t>bucle infinito</a:t>
            </a:r>
            <a:r>
              <a:rPr lang="es-ES" dirty="0"/>
              <a:t> es aquel que se </a:t>
            </a:r>
            <a:r>
              <a:rPr lang="es-ES" b="1" dirty="0"/>
              <a:t>repite</a:t>
            </a:r>
            <a:r>
              <a:rPr lang="es-ES" dirty="0"/>
              <a:t> de </a:t>
            </a:r>
            <a:r>
              <a:rPr lang="es-ES" b="1" dirty="0"/>
              <a:t>forma indefinida</a:t>
            </a:r>
            <a:r>
              <a:rPr lang="es-ES" dirty="0"/>
              <a:t> debido a que la </a:t>
            </a:r>
            <a:r>
              <a:rPr lang="es-ES" b="1" dirty="0"/>
              <a:t>condición</a:t>
            </a:r>
            <a:r>
              <a:rPr lang="es-ES" dirty="0"/>
              <a:t> es </a:t>
            </a:r>
            <a:r>
              <a:rPr lang="es-ES" b="1" dirty="0"/>
              <a:t>siempre verdadera</a:t>
            </a:r>
            <a:r>
              <a:rPr lang="es-ES" dirty="0"/>
              <a:t>.</a:t>
            </a:r>
          </a:p>
          <a:p>
            <a:r>
              <a:rPr lang="es-ES" dirty="0"/>
              <a:t>Tiene un efecto perjudicial pues el </a:t>
            </a:r>
            <a:br>
              <a:rPr lang="es-ES" dirty="0"/>
            </a:br>
            <a:r>
              <a:rPr lang="es-ES" dirty="0"/>
              <a:t>programa no puede completarse.</a:t>
            </a:r>
          </a:p>
          <a:p>
            <a:r>
              <a:rPr lang="es-ES" dirty="0"/>
              <a:t>Deben evitarse los bucles infinitos.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3C11DC-D95D-0F45-FF83-6FFA7059E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916624"/>
            <a:ext cx="4088617" cy="2337886"/>
          </a:xfrm>
          <a:prstGeom prst="roundRect">
            <a:avLst>
              <a:gd name="adj" fmla="val 580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altLang="en-US" sz="1600" dirty="0" err="1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lang="en-US" altLang="en-US" sz="16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AA913-8756-B362-F477-1B1E3DC44503}"/>
              </a:ext>
            </a:extLst>
          </p:cNvPr>
          <p:cNvSpPr txBox="1"/>
          <p:nvPr/>
        </p:nvSpPr>
        <p:spPr>
          <a:xfrm>
            <a:off x="4221945" y="5620590"/>
            <a:ext cx="2169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00B0F0"/>
                </a:solidFill>
              </a:rPr>
              <a:t>La condición siempre será verdadera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1CB2686-0EB2-93EB-193C-A7A550076C33}"/>
              </a:ext>
            </a:extLst>
          </p:cNvPr>
          <p:cNvSpPr/>
          <p:nvPr/>
        </p:nvSpPr>
        <p:spPr>
          <a:xfrm>
            <a:off x="6398408" y="4995372"/>
            <a:ext cx="952500" cy="853264"/>
          </a:xfrm>
          <a:custGeom>
            <a:avLst/>
            <a:gdLst>
              <a:gd name="connsiteX0" fmla="*/ 0 w 771525"/>
              <a:gd name="connsiteY0" fmla="*/ 704850 h 704850"/>
              <a:gd name="connsiteX1" fmla="*/ 771525 w 771525"/>
              <a:gd name="connsiteY1" fmla="*/ 0 h 704850"/>
              <a:gd name="connsiteX0" fmla="*/ 0 w 942975"/>
              <a:gd name="connsiteY0" fmla="*/ 876300 h 876300"/>
              <a:gd name="connsiteX1" fmla="*/ 942975 w 942975"/>
              <a:gd name="connsiteY1" fmla="*/ 0 h 876300"/>
              <a:gd name="connsiteX0" fmla="*/ 0 w 942975"/>
              <a:gd name="connsiteY0" fmla="*/ 876300 h 876300"/>
              <a:gd name="connsiteX1" fmla="*/ 942975 w 942975"/>
              <a:gd name="connsiteY1" fmla="*/ 0 h 876300"/>
              <a:gd name="connsiteX0" fmla="*/ 0 w 952500"/>
              <a:gd name="connsiteY0" fmla="*/ 847725 h 847725"/>
              <a:gd name="connsiteX1" fmla="*/ 952500 w 952500"/>
              <a:gd name="connsiteY1" fmla="*/ 0 h 847725"/>
              <a:gd name="connsiteX0" fmla="*/ 0 w 952500"/>
              <a:gd name="connsiteY0" fmla="*/ 847725 h 862589"/>
              <a:gd name="connsiteX1" fmla="*/ 952500 w 952500"/>
              <a:gd name="connsiteY1" fmla="*/ 0 h 862589"/>
              <a:gd name="connsiteX0" fmla="*/ 0 w 952500"/>
              <a:gd name="connsiteY0" fmla="*/ 854010 h 867477"/>
              <a:gd name="connsiteX1" fmla="*/ 952500 w 952500"/>
              <a:gd name="connsiteY1" fmla="*/ 6285 h 867477"/>
              <a:gd name="connsiteX0" fmla="*/ 0 w 952500"/>
              <a:gd name="connsiteY0" fmla="*/ 847725 h 863120"/>
              <a:gd name="connsiteX1" fmla="*/ 952500 w 952500"/>
              <a:gd name="connsiteY1" fmla="*/ 0 h 863120"/>
              <a:gd name="connsiteX0" fmla="*/ 0 w 952500"/>
              <a:gd name="connsiteY0" fmla="*/ 847725 h 863838"/>
              <a:gd name="connsiteX1" fmla="*/ 952500 w 952500"/>
              <a:gd name="connsiteY1" fmla="*/ 0 h 863838"/>
              <a:gd name="connsiteX0" fmla="*/ 0 w 952500"/>
              <a:gd name="connsiteY0" fmla="*/ 847725 h 864789"/>
              <a:gd name="connsiteX1" fmla="*/ 952500 w 952500"/>
              <a:gd name="connsiteY1" fmla="*/ 0 h 864789"/>
              <a:gd name="connsiteX0" fmla="*/ 0 w 952500"/>
              <a:gd name="connsiteY0" fmla="*/ 847725 h 865667"/>
              <a:gd name="connsiteX1" fmla="*/ 952500 w 952500"/>
              <a:gd name="connsiteY1" fmla="*/ 0 h 865667"/>
              <a:gd name="connsiteX0" fmla="*/ 0 w 952500"/>
              <a:gd name="connsiteY0" fmla="*/ 869142 h 881626"/>
              <a:gd name="connsiteX1" fmla="*/ 952500 w 952500"/>
              <a:gd name="connsiteY1" fmla="*/ 21417 h 881626"/>
              <a:gd name="connsiteX0" fmla="*/ 0 w 952500"/>
              <a:gd name="connsiteY0" fmla="*/ 851026 h 864817"/>
              <a:gd name="connsiteX1" fmla="*/ 952500 w 952500"/>
              <a:gd name="connsiteY1" fmla="*/ 3301 h 864817"/>
              <a:gd name="connsiteX0" fmla="*/ 0 w 952500"/>
              <a:gd name="connsiteY0" fmla="*/ 851332 h 853264"/>
              <a:gd name="connsiteX1" fmla="*/ 952500 w 952500"/>
              <a:gd name="connsiteY1" fmla="*/ 3607 h 853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00" h="853264">
                <a:moveTo>
                  <a:pt x="0" y="851332"/>
                </a:moveTo>
                <a:cubicBezTo>
                  <a:pt x="457200" y="902132"/>
                  <a:pt x="171450" y="-66243"/>
                  <a:pt x="952500" y="3607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2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1BDE0-FF21-0D39-492F-565577208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83"/>
          <a:stretch/>
        </p:blipFill>
        <p:spPr>
          <a:xfrm flipH="1">
            <a:off x="9334500" y="500220"/>
            <a:ext cx="2857500" cy="635778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6CB6A5C-DBB4-AB63-9D46-730BE753C726}"/>
              </a:ext>
            </a:extLst>
          </p:cNvPr>
          <p:cNvGrpSpPr/>
          <p:nvPr/>
        </p:nvGrpSpPr>
        <p:grpSpPr>
          <a:xfrm>
            <a:off x="838200" y="-31780"/>
            <a:ext cx="4629752" cy="1015663"/>
            <a:chOff x="924025" y="1526961"/>
            <a:chExt cx="4629752" cy="1015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771B44-1BCC-A25B-2F3C-0E35BABF6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9BA64A-2B91-E3AC-4242-79EBD525B74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F2B7A0-0A0E-35DF-626B-8A3F6DD4AAD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4F3856-393F-0522-0BD2-C86F36E9847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terminar un bucle. Centinelas.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80494-69D9-2273-A769-5F7EE7C4E1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658225" cy="4373562"/>
          </a:xfrm>
        </p:spPr>
        <p:txBody>
          <a:bodyPr/>
          <a:lstStyle/>
          <a:p>
            <a:r>
              <a:rPr lang="es-ES" dirty="0"/>
              <a:t>La forma más correcta de terminar un bucle es utilizar un </a:t>
            </a:r>
            <a:r>
              <a:rPr lang="es-ES" b="1" dirty="0">
                <a:solidFill>
                  <a:schemeClr val="accent2"/>
                </a:solidFill>
              </a:rPr>
              <a:t>centinela</a:t>
            </a:r>
            <a:r>
              <a:rPr lang="es-ES" dirty="0"/>
              <a:t>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(Joyanes, 2008)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Un </a:t>
            </a:r>
            <a:r>
              <a:rPr lang="en-US" b="1" dirty="0" err="1"/>
              <a:t>centinela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/>
              <a:t>variable</a:t>
            </a:r>
            <a:r>
              <a:rPr lang="en-US" dirty="0"/>
              <a:t> que </a:t>
            </a:r>
            <a:r>
              <a:rPr lang="en-US" b="1" dirty="0"/>
              <a:t>“</a:t>
            </a:r>
            <a:r>
              <a:rPr lang="en-US" b="1" dirty="0" err="1"/>
              <a:t>avisa</a:t>
            </a:r>
            <a:r>
              <a:rPr lang="en-US" b="1" dirty="0"/>
              <a:t>”</a:t>
            </a:r>
            <a:r>
              <a:rPr lang="en-US" dirty="0"/>
              <a:t> al </a:t>
            </a:r>
            <a:r>
              <a:rPr lang="en-US" dirty="0" err="1"/>
              <a:t>bucle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valor </a:t>
            </a:r>
            <a:r>
              <a:rPr lang="en-US" dirty="0" err="1"/>
              <a:t>cumple</a:t>
            </a:r>
            <a:r>
              <a:rPr lang="en-US" dirty="0"/>
              <a:t> </a:t>
            </a:r>
            <a:r>
              <a:rPr lang="en-US" dirty="0" err="1"/>
              <a:t>ciertas</a:t>
            </a:r>
            <a:r>
              <a:rPr lang="en-US" dirty="0"/>
              <a:t> </a:t>
            </a:r>
            <a:r>
              <a:rPr lang="en-US" dirty="0" err="1"/>
              <a:t>condiciones</a:t>
            </a:r>
            <a:r>
              <a:rPr lang="en-US" dirty="0"/>
              <a:t>.</a:t>
            </a:r>
          </a:p>
          <a:p>
            <a:r>
              <a:rPr lang="en-US" dirty="0" err="1"/>
              <a:t>Puede</a:t>
            </a:r>
            <a:r>
              <a:rPr lang="en-US" dirty="0"/>
              <a:t> ser de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dato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es </a:t>
            </a:r>
            <a:r>
              <a:rPr lang="en-US" dirty="0" err="1"/>
              <a:t>especialmente</a:t>
            </a:r>
            <a:r>
              <a:rPr lang="en-US" dirty="0"/>
              <a:t> </a:t>
            </a:r>
            <a:r>
              <a:rPr lang="en-US" dirty="0" err="1"/>
              <a:t>útil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es de </a:t>
            </a:r>
            <a:r>
              <a:rPr lang="en-US" b="1" dirty="0" err="1">
                <a:solidFill>
                  <a:srgbClr val="0070C0"/>
                </a:solidFill>
              </a:rPr>
              <a:t>tipo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lógico</a:t>
            </a:r>
            <a:r>
              <a:rPr lang="en-US" dirty="0"/>
              <a:t>.</a:t>
            </a:r>
          </a:p>
          <a:p>
            <a:r>
              <a:rPr lang="en-US" dirty="0" err="1"/>
              <a:t>Ayuda</a:t>
            </a:r>
            <a:r>
              <a:rPr lang="en-US" dirty="0"/>
              <a:t> a </a:t>
            </a:r>
            <a:r>
              <a:rPr lang="en-US" dirty="0" err="1"/>
              <a:t>mejorar</a:t>
            </a:r>
            <a:r>
              <a:rPr lang="en-US" dirty="0"/>
              <a:t> la </a:t>
            </a:r>
            <a:r>
              <a:rPr lang="en-US" dirty="0" err="1"/>
              <a:t>legibilidad</a:t>
            </a:r>
            <a:r>
              <a:rPr lang="en-US" dirty="0"/>
              <a:t> y </a:t>
            </a:r>
            <a:r>
              <a:rPr lang="en-US" dirty="0" err="1"/>
              <a:t>comprensión</a:t>
            </a:r>
            <a:r>
              <a:rPr lang="en-US" dirty="0"/>
              <a:t> del </a:t>
            </a:r>
            <a:r>
              <a:rPr lang="en-US" dirty="0" err="1"/>
              <a:t>código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9AC85-97A7-F481-8CDB-735F62829251}"/>
              </a:ext>
            </a:extLst>
          </p:cNvPr>
          <p:cNvSpPr txBox="1"/>
          <p:nvPr/>
        </p:nvSpPr>
        <p:spPr>
          <a:xfrm>
            <a:off x="66675" y="6340716"/>
            <a:ext cx="1082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https://media.istockphoto.com/id/185312862/photo/army-soldier-with-a-rifle-holding-and-looking-through-binoculars.jpg?s=612x612&amp;w=0&amp;k=20&amp;c=y5c4YuBpF-GV42QptlgUULCsDCsLzlG0-zvi9xI543c=</a:t>
            </a:r>
          </a:p>
        </p:txBody>
      </p:sp>
    </p:spTree>
    <p:extLst>
      <p:ext uri="{BB962C8B-B14F-4D97-AF65-F5344CB8AC3E}">
        <p14:creationId xmlns:p14="http://schemas.microsoft.com/office/powerpoint/2010/main" val="246559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CB6A5C-DBB4-AB63-9D46-730BE753C726}"/>
              </a:ext>
            </a:extLst>
          </p:cNvPr>
          <p:cNvGrpSpPr/>
          <p:nvPr/>
        </p:nvGrpSpPr>
        <p:grpSpPr>
          <a:xfrm>
            <a:off x="838200" y="-31780"/>
            <a:ext cx="4629752" cy="1015663"/>
            <a:chOff x="924025" y="1526961"/>
            <a:chExt cx="4629752" cy="1015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771B44-1BCC-A25B-2F3C-0E35BABF6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9BA64A-2B91-E3AC-4242-79EBD525B74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F2B7A0-0A0E-35DF-626B-8A3F6DD4AAD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4F3856-393F-0522-0BD2-C86F36E9847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Centinelas.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80494-69D9-2273-A769-5F7EE7C4E1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4914900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Se requiere un programa que permita ingresar el día de la semana en valor numérico). Los valores permitidos son del 1 al 7. 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Si se ingresa otro valor, el programa deberá pedir nuevamente que se ingrese el día de la semana.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DF13D4-BD6F-27B8-94A2-8177F54DDDD4}"/>
              </a:ext>
            </a:extLst>
          </p:cNvPr>
          <p:cNvSpPr/>
          <p:nvPr/>
        </p:nvSpPr>
        <p:spPr>
          <a:xfrm>
            <a:off x="5876925" y="2078072"/>
            <a:ext cx="5802425" cy="3749609"/>
          </a:xfrm>
          <a:prstGeom prst="roundRect">
            <a:avLst>
              <a:gd name="adj" fmla="val 2950"/>
            </a:avLst>
          </a:prstGeom>
          <a:solidFill>
            <a:srgbClr val="1E1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95DFB6-2094-992D-FC8F-53DE2203C4F6}"/>
              </a:ext>
            </a:extLst>
          </p:cNvPr>
          <p:cNvSpPr/>
          <p:nvPr/>
        </p:nvSpPr>
        <p:spPr>
          <a:xfrm>
            <a:off x="6408160" y="4535523"/>
            <a:ext cx="3576205" cy="255552"/>
          </a:xfrm>
          <a:prstGeom prst="roundRect">
            <a:avLst>
              <a:gd name="adj" fmla="val 50000"/>
            </a:avLst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57A406-79C4-13DB-2576-6BFB889E0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2078072"/>
            <a:ext cx="5802425" cy="3749609"/>
          </a:xfrm>
          <a:prstGeom prst="roundRect">
            <a:avLst>
              <a:gd name="adj" fmla="val 2696"/>
            </a:avLst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esDiaInvalido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esDiaInvalido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día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(1-7):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esDiaInvalido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||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"Día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76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Estructuras Repetitivas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8E6D3E2-EF1A-E27E-7562-EA1A24441B0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015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91E858-98ED-AC08-A227-785606CEF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129437"/>
            <a:ext cx="2902719" cy="23852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B4E75D-8D95-219B-526E-1D8AEC9FCA98}"/>
              </a:ext>
            </a:extLst>
          </p:cNvPr>
          <p:cNvGrpSpPr/>
          <p:nvPr/>
        </p:nvGrpSpPr>
        <p:grpSpPr>
          <a:xfrm>
            <a:off x="838200" y="-31781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C017B3-9429-86EA-F638-7A3C633A990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89F6E6-BA6F-48E4-E16F-704FAF12DF0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6AB47E-138D-79DC-1755-E4A8897085A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1AB79D-7477-5460-FE5E-6C5BFD5E178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de control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Al trabajar con estructuras repetitivas </a:t>
            </a:r>
            <a:br>
              <a:rPr lang="es-ES" dirty="0"/>
            </a:br>
            <a:r>
              <a:rPr lang="es-ES" dirty="0"/>
              <a:t>empleamos dos tipos de variables de control: </a:t>
            </a:r>
          </a:p>
          <a:p>
            <a:pPr lvl="1"/>
            <a:r>
              <a:rPr lang="es-ES" dirty="0"/>
              <a:t>Contador.</a:t>
            </a:r>
          </a:p>
          <a:p>
            <a:pPr lvl="1"/>
            <a:r>
              <a:rPr lang="es-ES" dirty="0"/>
              <a:t>Acumulador.</a:t>
            </a:r>
          </a:p>
          <a:p>
            <a:r>
              <a:rPr lang="es-ES" dirty="0"/>
              <a:t>Los </a:t>
            </a:r>
            <a:r>
              <a:rPr lang="es-ES" b="1" dirty="0"/>
              <a:t>contadores</a:t>
            </a:r>
            <a:r>
              <a:rPr lang="es-ES" dirty="0"/>
              <a:t> y </a:t>
            </a:r>
            <a:r>
              <a:rPr lang="es-ES" b="1" dirty="0"/>
              <a:t>acumuladores</a:t>
            </a:r>
            <a:r>
              <a:rPr lang="es-ES" dirty="0"/>
              <a:t> deben </a:t>
            </a:r>
            <a:r>
              <a:rPr lang="es-ES" b="1" dirty="0"/>
              <a:t>inicializarse</a:t>
            </a:r>
            <a:r>
              <a:rPr lang="es-ES" dirty="0"/>
              <a:t> antes de participar en un bucle.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E8F93A-54AB-3484-84F4-58FCA3C8B787}"/>
              </a:ext>
            </a:extLst>
          </p:cNvPr>
          <p:cNvSpPr txBox="1"/>
          <p:nvPr/>
        </p:nvSpPr>
        <p:spPr>
          <a:xfrm>
            <a:off x="1825291" y="5127552"/>
            <a:ext cx="2800767" cy="9702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 err="1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miContador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miAcumulador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2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0CBD0E-73C9-5EC1-EA45-FECFFD96CB69}"/>
              </a:ext>
            </a:extLst>
          </p:cNvPr>
          <p:cNvSpPr txBox="1"/>
          <p:nvPr/>
        </p:nvSpPr>
        <p:spPr>
          <a:xfrm>
            <a:off x="4945881" y="5320265"/>
            <a:ext cx="2902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B0F0"/>
                </a:solidFill>
              </a:rPr>
              <a:t>El valor de inicialización no siempre debe ser cero.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B1F04-7449-1DB6-1117-8F76E2D7ACF7}"/>
              </a:ext>
            </a:extLst>
          </p:cNvPr>
          <p:cNvSpPr txBox="1"/>
          <p:nvPr/>
        </p:nvSpPr>
        <p:spPr>
          <a:xfrm>
            <a:off x="177674" y="63450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https://m.media-amazon.com/images/I/51A445eaJrL.jpg</a:t>
            </a:r>
          </a:p>
        </p:txBody>
      </p:sp>
    </p:spTree>
    <p:extLst>
      <p:ext uri="{BB962C8B-B14F-4D97-AF65-F5344CB8AC3E}">
        <p14:creationId xmlns:p14="http://schemas.microsoft.com/office/powerpoint/2010/main" val="143820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3B4E75D-8D95-219B-526E-1D8AEC9FCA98}"/>
              </a:ext>
            </a:extLst>
          </p:cNvPr>
          <p:cNvGrpSpPr/>
          <p:nvPr/>
        </p:nvGrpSpPr>
        <p:grpSpPr>
          <a:xfrm>
            <a:off x="838200" y="-31781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C017B3-9429-86EA-F638-7A3C633A990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89F6E6-BA6F-48E4-E16F-704FAF12DF0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6AB47E-138D-79DC-1755-E4A8897085A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1AB79D-7477-5460-FE5E-6C5BFD5E178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Contadores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Un </a:t>
            </a:r>
            <a:r>
              <a:rPr lang="es-ES" b="1" dirty="0">
                <a:solidFill>
                  <a:schemeClr val="accent2"/>
                </a:solidFill>
              </a:rPr>
              <a:t>contador</a:t>
            </a:r>
            <a:r>
              <a:rPr lang="es-ES" dirty="0"/>
              <a:t> es una </a:t>
            </a:r>
            <a:r>
              <a:rPr lang="es-ES" b="1" dirty="0">
                <a:solidFill>
                  <a:schemeClr val="accent2"/>
                </a:solidFill>
              </a:rPr>
              <a:t>variable</a:t>
            </a:r>
            <a:r>
              <a:rPr lang="es-ES" dirty="0"/>
              <a:t> que se </a:t>
            </a:r>
            <a:r>
              <a:rPr lang="es-ES" b="1" dirty="0">
                <a:solidFill>
                  <a:schemeClr val="accent2"/>
                </a:solidFill>
              </a:rPr>
              <a:t>incrementa</a:t>
            </a:r>
            <a:r>
              <a:rPr lang="es-ES" dirty="0"/>
              <a:t> o </a:t>
            </a:r>
            <a:r>
              <a:rPr lang="es-ES" b="1" dirty="0">
                <a:solidFill>
                  <a:schemeClr val="accent2"/>
                </a:solidFill>
              </a:rPr>
              <a:t>disminuye</a:t>
            </a:r>
            <a:r>
              <a:rPr lang="es-ES" dirty="0"/>
              <a:t> en un valor </a:t>
            </a:r>
            <a:r>
              <a:rPr lang="es-ES" b="1" dirty="0">
                <a:solidFill>
                  <a:schemeClr val="accent2"/>
                </a:solidFill>
              </a:rPr>
              <a:t>constante</a:t>
            </a:r>
            <a:r>
              <a:rPr lang="es-ES" dirty="0"/>
              <a:t>.</a:t>
            </a:r>
          </a:p>
          <a:p>
            <a:r>
              <a:rPr lang="es-ES" dirty="0"/>
              <a:t>Se utiliza para el conteo de acciones.</a:t>
            </a:r>
          </a:p>
          <a:p>
            <a:r>
              <a:rPr lang="es-ES" dirty="0"/>
              <a:t>Es siempre un valor de tipo </a:t>
            </a:r>
            <a:r>
              <a:rPr lang="es-ES" b="1" dirty="0" err="1">
                <a:solidFill>
                  <a:schemeClr val="accent2"/>
                </a:solidFill>
              </a:rPr>
              <a:t>int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35E9DC-73BC-E8A3-9377-FD808AF6BB74}"/>
              </a:ext>
            </a:extLst>
          </p:cNvPr>
          <p:cNvSpPr txBox="1"/>
          <p:nvPr/>
        </p:nvSpPr>
        <p:spPr>
          <a:xfrm>
            <a:off x="3705708" y="5010110"/>
            <a:ext cx="3952994" cy="1528802"/>
          </a:xfrm>
          <a:prstGeom prst="roundRect">
            <a:avLst>
              <a:gd name="adj" fmla="val 11073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j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x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cantidad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cantidad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EFD6B-1EA1-393F-132F-1ABCA276BD19}"/>
              </a:ext>
            </a:extLst>
          </p:cNvPr>
          <p:cNvSpPr txBox="1"/>
          <p:nvPr/>
        </p:nvSpPr>
        <p:spPr>
          <a:xfrm>
            <a:off x="3705708" y="4341683"/>
            <a:ext cx="5878533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contador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contador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 err="1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valorConstante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EC8CC-060F-1B10-BC6E-726A5A9E3BA5}"/>
              </a:ext>
            </a:extLst>
          </p:cNvPr>
          <p:cNvSpPr txBox="1"/>
          <p:nvPr/>
        </p:nvSpPr>
        <p:spPr>
          <a:xfrm>
            <a:off x="1278720" y="4341683"/>
            <a:ext cx="2169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rgbClr val="00B0F0"/>
                </a:solidFill>
              </a:rPr>
              <a:t>Forma general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412FC-361B-DFC0-FC25-8695FE05A807}"/>
              </a:ext>
            </a:extLst>
          </p:cNvPr>
          <p:cNvSpPr txBox="1"/>
          <p:nvPr/>
        </p:nvSpPr>
        <p:spPr>
          <a:xfrm>
            <a:off x="1328713" y="5111477"/>
            <a:ext cx="2169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rgbClr val="00B0F0"/>
                </a:solidFill>
              </a:rPr>
              <a:t>Ejemplos</a:t>
            </a:r>
            <a:endParaRPr lang="en-US" sz="1600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4E841-ADC0-6598-8C76-CAD0997D4C1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172700" y="2181225"/>
            <a:ext cx="1276350" cy="1276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3EF906-4571-6EE4-C466-FF46247341A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 rot="5400000">
            <a:off x="10172700" y="4103618"/>
            <a:ext cx="12763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3B4E75D-8D95-219B-526E-1D8AEC9FCA98}"/>
              </a:ext>
            </a:extLst>
          </p:cNvPr>
          <p:cNvGrpSpPr/>
          <p:nvPr/>
        </p:nvGrpSpPr>
        <p:grpSpPr>
          <a:xfrm>
            <a:off x="838200" y="-31781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C017B3-9429-86EA-F638-7A3C633A990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89F6E6-BA6F-48E4-E16F-704FAF12DF0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6AB47E-138D-79DC-1755-E4A8897085A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1AB79D-7477-5460-FE5E-6C5BFD5E178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Acumuladores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Un </a:t>
            </a:r>
            <a:r>
              <a:rPr lang="es-ES" b="1" dirty="0">
                <a:solidFill>
                  <a:schemeClr val="accent2"/>
                </a:solidFill>
              </a:rPr>
              <a:t>acumulador</a:t>
            </a:r>
            <a:r>
              <a:rPr lang="es-ES" dirty="0"/>
              <a:t> o </a:t>
            </a:r>
            <a:r>
              <a:rPr lang="es-ES" b="1" dirty="0"/>
              <a:t>totalizador</a:t>
            </a:r>
            <a:r>
              <a:rPr lang="es-ES" dirty="0"/>
              <a:t> es una variable que </a:t>
            </a:r>
            <a:r>
              <a:rPr lang="es-ES" b="1" dirty="0"/>
              <a:t>almacena</a:t>
            </a:r>
            <a:r>
              <a:rPr lang="es-ES" dirty="0"/>
              <a:t> la </a:t>
            </a:r>
            <a:r>
              <a:rPr lang="es-ES" b="1" dirty="0"/>
              <a:t>suma</a:t>
            </a:r>
            <a:r>
              <a:rPr lang="es-ES" dirty="0"/>
              <a:t> de una serie de </a:t>
            </a:r>
            <a:r>
              <a:rPr lang="es-ES" b="1" dirty="0"/>
              <a:t>cantidades</a:t>
            </a:r>
            <a:r>
              <a:rPr lang="es-ES" dirty="0"/>
              <a:t> </a:t>
            </a:r>
            <a:r>
              <a:rPr lang="es-ES" b="1" dirty="0"/>
              <a:t>variables</a:t>
            </a:r>
            <a:r>
              <a:rPr lang="es-ES" dirty="0"/>
              <a:t>. </a:t>
            </a:r>
          </a:p>
          <a:p>
            <a:r>
              <a:rPr lang="es-ES" dirty="0"/>
              <a:t>Es decir, </a:t>
            </a:r>
            <a:r>
              <a:rPr lang="es-ES" b="1" dirty="0">
                <a:solidFill>
                  <a:schemeClr val="accent2"/>
                </a:solidFill>
              </a:rPr>
              <a:t>incrementa</a:t>
            </a:r>
            <a:r>
              <a:rPr lang="es-ES" dirty="0"/>
              <a:t> o </a:t>
            </a:r>
            <a:r>
              <a:rPr lang="es-ES" b="1" dirty="0">
                <a:solidFill>
                  <a:schemeClr val="accent2"/>
                </a:solidFill>
              </a:rPr>
              <a:t>disminuye</a:t>
            </a:r>
            <a:r>
              <a:rPr lang="es-ES" dirty="0"/>
              <a:t> en </a:t>
            </a:r>
            <a:br>
              <a:rPr lang="es-ES" dirty="0"/>
            </a:br>
            <a:r>
              <a:rPr lang="es-ES" dirty="0"/>
              <a:t>un </a:t>
            </a:r>
            <a:r>
              <a:rPr lang="es-ES" b="1" dirty="0">
                <a:solidFill>
                  <a:schemeClr val="accent2"/>
                </a:solidFill>
              </a:rPr>
              <a:t>valor</a:t>
            </a:r>
            <a:r>
              <a:rPr lang="es-ES" dirty="0">
                <a:solidFill>
                  <a:schemeClr val="accent2"/>
                </a:solidFill>
              </a:rPr>
              <a:t> </a:t>
            </a:r>
            <a:r>
              <a:rPr lang="es-ES" b="1" dirty="0">
                <a:solidFill>
                  <a:schemeClr val="accent2"/>
                </a:solidFill>
              </a:rPr>
              <a:t>variable</a:t>
            </a:r>
            <a:r>
              <a:rPr lang="es-ES" dirty="0"/>
              <a:t>.</a:t>
            </a:r>
          </a:p>
          <a:p>
            <a:r>
              <a:rPr lang="es-ES" dirty="0"/>
              <a:t>Pueden ser de tipo </a:t>
            </a:r>
            <a:r>
              <a:rPr lang="es-ES" b="1" dirty="0" err="1">
                <a:solidFill>
                  <a:schemeClr val="accent2"/>
                </a:solidFill>
              </a:rPr>
              <a:t>int</a:t>
            </a:r>
            <a:r>
              <a:rPr lang="es-ES" b="1" dirty="0">
                <a:solidFill>
                  <a:schemeClr val="accent2"/>
                </a:solidFill>
              </a:rPr>
              <a:t>, </a:t>
            </a:r>
            <a:r>
              <a:rPr lang="es-ES" b="1" dirty="0" err="1">
                <a:solidFill>
                  <a:schemeClr val="accent2"/>
                </a:solidFill>
              </a:rPr>
              <a:t>double</a:t>
            </a:r>
            <a:r>
              <a:rPr lang="es-ES" b="1" dirty="0">
                <a:solidFill>
                  <a:schemeClr val="accent2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o</a:t>
            </a:r>
            <a:r>
              <a:rPr lang="es-ES" b="1" dirty="0">
                <a:solidFill>
                  <a:schemeClr val="accent2"/>
                </a:solidFill>
              </a:rPr>
              <a:t> </a:t>
            </a:r>
            <a:r>
              <a:rPr lang="es-ES" b="1" dirty="0" err="1">
                <a:solidFill>
                  <a:schemeClr val="accent2"/>
                </a:solidFill>
              </a:rPr>
              <a:t>String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35E9DC-73BC-E8A3-9377-FD808AF6BB74}"/>
              </a:ext>
            </a:extLst>
          </p:cNvPr>
          <p:cNvSpPr txBox="1"/>
          <p:nvPr/>
        </p:nvSpPr>
        <p:spPr>
          <a:xfrm>
            <a:off x="3703963" y="5137926"/>
            <a:ext cx="4544505" cy="1385786"/>
          </a:xfrm>
          <a:prstGeom prst="roundRect">
            <a:avLst>
              <a:gd name="adj" fmla="val 11073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j 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800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x 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800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cantidad 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cantidad 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s-E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800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variable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EFD6B-1EA1-393F-132F-1ABCA276BD19}"/>
              </a:ext>
            </a:extLst>
          </p:cNvPr>
          <p:cNvSpPr txBox="1"/>
          <p:nvPr/>
        </p:nvSpPr>
        <p:spPr>
          <a:xfrm>
            <a:off x="3732055" y="4635980"/>
            <a:ext cx="6340198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acumulador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acumulador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s-ES" sz="20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 err="1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valorVariable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EC8CC-060F-1B10-BC6E-726A5A9E3BA5}"/>
              </a:ext>
            </a:extLst>
          </p:cNvPr>
          <p:cNvSpPr txBox="1"/>
          <p:nvPr/>
        </p:nvSpPr>
        <p:spPr>
          <a:xfrm>
            <a:off x="1407860" y="4672349"/>
            <a:ext cx="2169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rgbClr val="00B0F0"/>
                </a:solidFill>
              </a:rPr>
              <a:t>Forma general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412FC-361B-DFC0-FC25-8695FE05A807}"/>
              </a:ext>
            </a:extLst>
          </p:cNvPr>
          <p:cNvSpPr txBox="1"/>
          <p:nvPr/>
        </p:nvSpPr>
        <p:spPr>
          <a:xfrm>
            <a:off x="1407859" y="5161673"/>
            <a:ext cx="2169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rgbClr val="00B0F0"/>
                </a:solidFill>
              </a:rPr>
              <a:t>Ejemplos</a:t>
            </a:r>
            <a:endParaRPr lang="en-US" sz="1600" dirty="0">
              <a:solidFill>
                <a:srgbClr val="00B0F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338E90-7EC1-246C-E544-35CEE502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252154" y="2619036"/>
            <a:ext cx="1880419" cy="188041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E4A238-5527-4FDF-3A62-1BBC298600D1}"/>
              </a:ext>
            </a:extLst>
          </p:cNvPr>
          <p:cNvSpPr txBox="1"/>
          <p:nvPr/>
        </p:nvSpPr>
        <p:spPr>
          <a:xfrm>
            <a:off x="147484" y="6559066"/>
            <a:ext cx="111006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https://images.vexels.com/media/users/3/263263/isolated/preview/2a442699958ba3dc6bb0f4ab6d2f4d62-icono-de-alcanca-a-de-negocios-de-dinero.png</a:t>
            </a:r>
          </a:p>
        </p:txBody>
      </p:sp>
    </p:spTree>
    <p:extLst>
      <p:ext uri="{BB962C8B-B14F-4D97-AF65-F5344CB8AC3E}">
        <p14:creationId xmlns:p14="http://schemas.microsoft.com/office/powerpoint/2010/main" val="13264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3B4E75D-8D95-219B-526E-1D8AEC9FCA98}"/>
              </a:ext>
            </a:extLst>
          </p:cNvPr>
          <p:cNvGrpSpPr/>
          <p:nvPr/>
        </p:nvGrpSpPr>
        <p:grpSpPr>
          <a:xfrm>
            <a:off x="838200" y="-31781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C017B3-9429-86EA-F638-7A3C633A990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89F6E6-BA6F-48E4-E16F-704FAF12DF0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6AB47E-138D-79DC-1755-E4A8897085A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1AB79D-7477-5460-FE5E-6C5BFD5E178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Contadores y Acumuladores.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3371850" cy="4373562"/>
          </a:xfrm>
        </p:spPr>
        <p:txBody>
          <a:bodyPr>
            <a:normAutofit lnSpcReduction="10000"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que muestre los números pares menores a 20. 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Contar cuántos números se mostraron y calcular la suma de todos ellos.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B98310-1B55-A8AF-8B2F-D68FA050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528" y="1846263"/>
            <a:ext cx="5075321" cy="4540557"/>
          </a:xfrm>
          <a:prstGeom prst="roundRect">
            <a:avLst>
              <a:gd name="adj" fmla="val 3248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“Números pares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menores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 20"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%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"Suma: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A42DB-8C9B-A556-26A4-373E856C571B}"/>
              </a:ext>
            </a:extLst>
          </p:cNvPr>
          <p:cNvSpPr txBox="1"/>
          <p:nvPr/>
        </p:nvSpPr>
        <p:spPr>
          <a:xfrm>
            <a:off x="8001000" y="4634985"/>
            <a:ext cx="3962400" cy="91940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Números pares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menores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 20</a:t>
            </a:r>
          </a:p>
          <a:p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0, 2, 4, 6, 8, 10, 12, 14, 16, 18, </a:t>
            </a:r>
          </a:p>
          <a:p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Conteo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10</a:t>
            </a:r>
          </a:p>
          <a:p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Suma: 90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5457C-3AF4-92D2-12A6-6D492676E14C}"/>
              </a:ext>
            </a:extLst>
          </p:cNvPr>
          <p:cNvSpPr txBox="1"/>
          <p:nvPr/>
        </p:nvSpPr>
        <p:spPr>
          <a:xfrm>
            <a:off x="9650327" y="4270106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710E7-8AE8-0EB2-DD0E-57CFC8CCD20F}"/>
              </a:ext>
            </a:extLst>
          </p:cNvPr>
          <p:cNvSpPr txBox="1"/>
          <p:nvPr/>
        </p:nvSpPr>
        <p:spPr>
          <a:xfrm>
            <a:off x="7287524" y="3912074"/>
            <a:ext cx="1837424" cy="461665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accent4"/>
                </a:solidFill>
              </a:rPr>
              <a:t>Contador y acumulador modificando su valor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7118C-9FEC-809C-739E-990DFA63D54D}"/>
              </a:ext>
            </a:extLst>
          </p:cNvPr>
          <p:cNvSpPr txBox="1"/>
          <p:nvPr/>
        </p:nvSpPr>
        <p:spPr>
          <a:xfrm>
            <a:off x="6096000" y="2295999"/>
            <a:ext cx="1928663" cy="461665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accent4"/>
                </a:solidFill>
              </a:rPr>
              <a:t>Inicialización del contador y acumulador</a:t>
            </a:r>
            <a:endParaRPr lang="en-US" sz="1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Estructuras Repetitivas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Contadores y Acumuladores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8E6D3E2-EF1A-E27E-7562-EA1A24441B0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915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938B83-3E05-606E-E3AA-9632CD3B8589}"/>
              </a:ext>
            </a:extLst>
          </p:cNvPr>
          <p:cNvGrpSpPr/>
          <p:nvPr/>
        </p:nvGrpSpPr>
        <p:grpSpPr>
          <a:xfrm>
            <a:off x="838200" y="-38100"/>
            <a:ext cx="4629752" cy="1015663"/>
            <a:chOff x="924025" y="1526961"/>
            <a:chExt cx="4629752" cy="10156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50EF41-2106-C937-122E-3F6302533C0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DC77A9-4A50-19B0-EA51-F428022767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24A317-6A56-3734-A2C3-8C75203F9B8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36E960-5BBC-9786-0108-C96B6C3E70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705725" cy="4373562"/>
          </a:xfrm>
        </p:spPr>
        <p:txBody>
          <a:bodyPr>
            <a:normAutofit fontScale="85000" lnSpcReduction="10000"/>
          </a:bodyPr>
          <a:lstStyle/>
          <a:p>
            <a:pPr marL="50800" indent="0">
              <a:buNone/>
            </a:pPr>
            <a:r>
              <a:rPr lang="es-ES" dirty="0"/>
              <a:t>1. Es </a:t>
            </a:r>
            <a:r>
              <a:rPr lang="es-ES" b="1" dirty="0"/>
              <a:t>verdadero</a:t>
            </a:r>
            <a:r>
              <a:rPr lang="es-ES" dirty="0"/>
              <a:t> sobre una estructura repetitiva </a:t>
            </a:r>
            <a:r>
              <a:rPr lang="es-ES" b="1" dirty="0" err="1"/>
              <a:t>while</a:t>
            </a:r>
            <a:r>
              <a:rPr lang="es-ES" dirty="0"/>
              <a:t>:</a:t>
            </a:r>
          </a:p>
          <a:p>
            <a:pPr marL="50800" indent="0">
              <a:buNone/>
            </a:pPr>
            <a:endParaRPr lang="en-US" dirty="0"/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/>
              <a:t>El conjunto de </a:t>
            </a:r>
            <a:r>
              <a:rPr lang="en-US" dirty="0" err="1"/>
              <a:t>instrucciones</a:t>
            </a:r>
            <a:r>
              <a:rPr lang="en-US" dirty="0"/>
              <a:t> que </a:t>
            </a:r>
            <a:r>
              <a:rPr lang="en-US" dirty="0" err="1"/>
              <a:t>contiene</a:t>
            </a:r>
            <a:r>
              <a:rPr lang="en-US" dirty="0"/>
              <a:t> se </a:t>
            </a:r>
            <a:r>
              <a:rPr lang="en-US" dirty="0" err="1"/>
              <a:t>ejecutan</a:t>
            </a:r>
            <a:r>
              <a:rPr lang="en-US" dirty="0"/>
              <a:t> hasta que la </a:t>
            </a:r>
            <a:r>
              <a:rPr lang="en-US" dirty="0" err="1"/>
              <a:t>condición</a:t>
            </a:r>
            <a:r>
              <a:rPr lang="en-US" dirty="0"/>
              <a:t> se </a:t>
            </a:r>
            <a:r>
              <a:rPr lang="en-US" dirty="0" err="1"/>
              <a:t>cumpla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/>
              <a:t>El conjunto de </a:t>
            </a:r>
            <a:r>
              <a:rPr lang="en-US" dirty="0" err="1"/>
              <a:t>instrucciones</a:t>
            </a:r>
            <a:r>
              <a:rPr lang="en-US" dirty="0"/>
              <a:t> que </a:t>
            </a:r>
            <a:r>
              <a:rPr lang="en-US" dirty="0" err="1"/>
              <a:t>contiene</a:t>
            </a:r>
            <a:r>
              <a:rPr lang="en-US" dirty="0"/>
              <a:t> se </a:t>
            </a:r>
            <a:r>
              <a:rPr lang="en-US" dirty="0" err="1"/>
              <a:t>ejecutan</a:t>
            </a:r>
            <a:r>
              <a:rPr lang="en-US" dirty="0"/>
              <a:t> </a:t>
            </a:r>
            <a:r>
              <a:rPr lang="en-US" dirty="0" err="1"/>
              <a:t>mientras</a:t>
            </a:r>
            <a:r>
              <a:rPr lang="en-US" dirty="0"/>
              <a:t> que la </a:t>
            </a:r>
            <a:r>
              <a:rPr lang="en-US" dirty="0" err="1"/>
              <a:t>condición</a:t>
            </a:r>
            <a:r>
              <a:rPr lang="en-US" dirty="0"/>
              <a:t> se </a:t>
            </a:r>
            <a:r>
              <a:rPr lang="en-US" dirty="0" err="1"/>
              <a:t>cumpla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/>
              <a:t>Es un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bucle</a:t>
            </a:r>
            <a:r>
              <a:rPr lang="en-US" dirty="0"/>
              <a:t> que se </a:t>
            </a:r>
            <a:r>
              <a:rPr lang="en-US" dirty="0" err="1"/>
              <a:t>ejecuta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, al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/>
              <a:t>No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anidarse</a:t>
            </a:r>
            <a:r>
              <a:rPr lang="en-US" dirty="0"/>
              <a:t> con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estructuras</a:t>
            </a:r>
            <a:r>
              <a:rPr lang="en-US" dirty="0"/>
              <a:t>.</a:t>
            </a:r>
          </a:p>
        </p:txBody>
      </p:sp>
      <p:pic>
        <p:nvPicPr>
          <p:cNvPr id="11266" name="Picture 2" descr="1 Trick That Instantly Boosts Your Credibility Every Time You Answer a  Question | Inc.com">
            <a:extLst>
              <a:ext uri="{FF2B5EF4-FFF2-40B4-BE49-F238E27FC236}">
                <a16:creationId xmlns:a16="http://schemas.microsoft.com/office/drawing/2014/main" id="{C3BC6B22-D844-F2ED-FC59-34F182F89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01" r="31875"/>
          <a:stretch/>
        </p:blipFill>
        <p:spPr bwMode="auto">
          <a:xfrm>
            <a:off x="8886825" y="0"/>
            <a:ext cx="33191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FC68D8-2D1F-C87B-E5BD-3CEB466C9A20}"/>
              </a:ext>
            </a:extLst>
          </p:cNvPr>
          <p:cNvSpPr txBox="1"/>
          <p:nvPr/>
        </p:nvSpPr>
        <p:spPr>
          <a:xfrm>
            <a:off x="178594" y="6490643"/>
            <a:ext cx="6129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https://www.incimages.com/uploaded_files/image/1920x1080/getty_953426266_380963.jpg</a:t>
            </a:r>
          </a:p>
        </p:txBody>
      </p:sp>
    </p:spTree>
    <p:extLst>
      <p:ext uri="{BB962C8B-B14F-4D97-AF65-F5344CB8AC3E}">
        <p14:creationId xmlns:p14="http://schemas.microsoft.com/office/powerpoint/2010/main" val="46468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938B83-3E05-606E-E3AA-9632CD3B8589}"/>
              </a:ext>
            </a:extLst>
          </p:cNvPr>
          <p:cNvGrpSpPr/>
          <p:nvPr/>
        </p:nvGrpSpPr>
        <p:grpSpPr>
          <a:xfrm>
            <a:off x="838200" y="-38100"/>
            <a:ext cx="4629752" cy="1015663"/>
            <a:chOff x="924025" y="1526961"/>
            <a:chExt cx="4629752" cy="10156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50EF41-2106-C937-122E-3F6302533C0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DC77A9-4A50-19B0-EA51-F428022767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24A317-6A56-3734-A2C3-8C75203F9B8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36E960-5BBC-9786-0108-C96B6C3E70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3"/>
            <a:ext cx="7972425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buNone/>
            </a:pPr>
            <a:r>
              <a:rPr lang="es-ES" dirty="0"/>
              <a:t>2. Es </a:t>
            </a:r>
            <a:r>
              <a:rPr lang="es-ES" b="1" dirty="0"/>
              <a:t>falso</a:t>
            </a:r>
            <a:r>
              <a:rPr lang="es-ES" dirty="0"/>
              <a:t>, respecto a una estructura </a:t>
            </a:r>
            <a:r>
              <a:rPr lang="es-ES" b="1" dirty="0" err="1"/>
              <a:t>while</a:t>
            </a:r>
            <a:r>
              <a:rPr lang="es-ES" b="1" dirty="0"/>
              <a:t>:</a:t>
            </a:r>
            <a:endParaRPr lang="es-ES" dirty="0"/>
          </a:p>
          <a:p>
            <a:pPr marL="508000" lvl="1" indent="0">
              <a:buNone/>
            </a:pPr>
            <a:endParaRPr lang="es-ES" dirty="0"/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s-ES" dirty="0"/>
              <a:t>Puede anidarse con cualquier otra estructura de control.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contener</a:t>
            </a:r>
            <a:r>
              <a:rPr lang="en-US" dirty="0"/>
              <a:t> más de un </a:t>
            </a:r>
            <a:r>
              <a:rPr lang="en-US" b="1" dirty="0" err="1"/>
              <a:t>contador</a:t>
            </a:r>
            <a:r>
              <a:rPr lang="en-US" dirty="0"/>
              <a:t> o </a:t>
            </a:r>
            <a:r>
              <a:rPr lang="en-US" b="1" dirty="0" err="1"/>
              <a:t>acumulador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/>
              <a:t>Es </a:t>
            </a:r>
            <a:r>
              <a:rPr lang="en-US" dirty="0" err="1"/>
              <a:t>posible</a:t>
            </a:r>
            <a:r>
              <a:rPr lang="en-US" dirty="0"/>
              <a:t> pasar la </a:t>
            </a:r>
            <a:r>
              <a:rPr lang="en-US" dirty="0" err="1"/>
              <a:t>condición</a:t>
            </a:r>
            <a:r>
              <a:rPr lang="en-US" dirty="0"/>
              <a:t> al final de la </a:t>
            </a:r>
            <a:r>
              <a:rPr lang="en-US" dirty="0" err="1"/>
              <a:t>estructura</a:t>
            </a:r>
            <a:r>
              <a:rPr lang="en-US" dirty="0"/>
              <a:t>, a fin de </a:t>
            </a:r>
            <a:r>
              <a:rPr lang="en-US" dirty="0" err="1"/>
              <a:t>simular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estructura</a:t>
            </a:r>
            <a:r>
              <a:rPr lang="en-US" dirty="0"/>
              <a:t> </a:t>
            </a:r>
            <a:r>
              <a:rPr lang="en-US" b="1" dirty="0" err="1"/>
              <a:t>repetir</a:t>
            </a:r>
            <a:r>
              <a:rPr lang="en-US" b="1" dirty="0"/>
              <a:t>-hasta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/>
              <a:t>Si no se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cuidado</a:t>
            </a:r>
            <a:r>
              <a:rPr lang="en-US" dirty="0"/>
              <a:t> al </a:t>
            </a:r>
            <a:r>
              <a:rPr lang="en-US" dirty="0" err="1"/>
              <a:t>programar</a:t>
            </a:r>
            <a:r>
              <a:rPr lang="en-US" dirty="0"/>
              <a:t>, 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crearse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un </a:t>
            </a:r>
            <a:r>
              <a:rPr lang="en-US" dirty="0" err="1"/>
              <a:t>bucle</a:t>
            </a:r>
            <a:r>
              <a:rPr lang="en-US" dirty="0"/>
              <a:t> </a:t>
            </a:r>
            <a:r>
              <a:rPr lang="en-US" dirty="0" err="1"/>
              <a:t>infinito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014BB1-B01D-204C-4647-38BD4DCBDA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197" r="29390"/>
          <a:stretch/>
        </p:blipFill>
        <p:spPr>
          <a:xfrm>
            <a:off x="8810625" y="-38100"/>
            <a:ext cx="3448050" cy="68897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EDB607-832C-9E76-FD38-77C26F6D45F6}"/>
              </a:ext>
            </a:extLst>
          </p:cNvPr>
          <p:cNvSpPr txBox="1"/>
          <p:nvPr/>
        </p:nvSpPr>
        <p:spPr>
          <a:xfrm>
            <a:off x="178594" y="6490643"/>
            <a:ext cx="6129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https://blog.4d.com/wp-content/uploads/2018/01/ForEach720.png</a:t>
            </a:r>
          </a:p>
        </p:txBody>
      </p:sp>
    </p:spTree>
    <p:extLst>
      <p:ext uri="{BB962C8B-B14F-4D97-AF65-F5344CB8AC3E}">
        <p14:creationId xmlns:p14="http://schemas.microsoft.com/office/powerpoint/2010/main" val="406433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938B83-3E05-606E-E3AA-9632CD3B8589}"/>
              </a:ext>
            </a:extLst>
          </p:cNvPr>
          <p:cNvGrpSpPr/>
          <p:nvPr/>
        </p:nvGrpSpPr>
        <p:grpSpPr>
          <a:xfrm>
            <a:off x="838200" y="-38100"/>
            <a:ext cx="4629752" cy="1015663"/>
            <a:chOff x="924025" y="1526961"/>
            <a:chExt cx="4629752" cy="10156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50EF41-2106-C937-122E-3F6302533C0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DC77A9-4A50-19B0-EA51-F428022767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24A317-6A56-3734-A2C3-8C75203F9B8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36E960-5BBC-9786-0108-C96B6C3E70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343775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/>
              <a:t>3. Aumenta o disminuye su valor de una </a:t>
            </a:r>
            <a:r>
              <a:rPr lang="es-ES" b="1" dirty="0"/>
              <a:t>forma</a:t>
            </a:r>
            <a:r>
              <a:rPr lang="es-ES" dirty="0"/>
              <a:t> </a:t>
            </a:r>
            <a:r>
              <a:rPr lang="es-ES" b="1" dirty="0"/>
              <a:t>variable</a:t>
            </a:r>
            <a:r>
              <a:rPr lang="es-ES" dirty="0"/>
              <a:t>:</a:t>
            </a:r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s-ES" dirty="0"/>
              <a:t>Acumulador.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s-ES" dirty="0"/>
              <a:t>Centinela.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s-ES" dirty="0"/>
              <a:t>Contador.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s-ES" dirty="0"/>
              <a:t>Condición de salida del bucle.</a:t>
            </a:r>
          </a:p>
          <a:p>
            <a:pPr marL="5080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311DF4-32EA-8EBC-FC0C-8FED6EFAF6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781" r="7428"/>
          <a:stretch/>
        </p:blipFill>
        <p:spPr>
          <a:xfrm>
            <a:off x="8925627" y="-5767"/>
            <a:ext cx="3266373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B8E621-0552-C76B-3A3A-AE524886C65D}"/>
              </a:ext>
            </a:extLst>
          </p:cNvPr>
          <p:cNvSpPr txBox="1"/>
          <p:nvPr/>
        </p:nvSpPr>
        <p:spPr>
          <a:xfrm>
            <a:off x="178594" y="6490643"/>
            <a:ext cx="86225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https://www.incimages.com/uploaded_files/image/1920x1080/getty_179693695_970693970450037_59979.jpg</a:t>
            </a:r>
          </a:p>
        </p:txBody>
      </p:sp>
    </p:spTree>
    <p:extLst>
      <p:ext uri="{BB962C8B-B14F-4D97-AF65-F5344CB8AC3E}">
        <p14:creationId xmlns:p14="http://schemas.microsoft.com/office/powerpoint/2010/main" val="65070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F45E4B-49F6-BD60-6A3C-12E3EB83CA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370" r="18704"/>
          <a:stretch/>
        </p:blipFill>
        <p:spPr>
          <a:xfrm>
            <a:off x="8496300" y="0"/>
            <a:ext cx="36957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7938B83-3E05-606E-E3AA-9632CD3B8589}"/>
              </a:ext>
            </a:extLst>
          </p:cNvPr>
          <p:cNvGrpSpPr/>
          <p:nvPr/>
        </p:nvGrpSpPr>
        <p:grpSpPr>
          <a:xfrm>
            <a:off x="838200" y="-38100"/>
            <a:ext cx="4629752" cy="1015663"/>
            <a:chOff x="924025" y="1526961"/>
            <a:chExt cx="4629752" cy="10156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50EF41-2106-C937-122E-3F6302533C0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DC77A9-4A50-19B0-EA51-F428022767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24A317-6A56-3734-A2C3-8C75203F9B8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36E960-5BBC-9786-0108-C96B6C3E70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067550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/>
              <a:t>4. Tiene como función controlar la salida de un bucle:</a:t>
            </a:r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s-ES" dirty="0"/>
              <a:t>Lectura de datos.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 err="1"/>
              <a:t>Impresión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/>
              <a:t>Centinela.</a:t>
            </a:r>
          </a:p>
          <a:p>
            <a:pPr marL="1022350" lvl="1" indent="-514350">
              <a:lnSpc>
                <a:spcPct val="150000"/>
              </a:lnSpc>
              <a:buAutoNum type="alphaUcPeriod"/>
            </a:pPr>
            <a:r>
              <a:rPr lang="en-US" dirty="0" err="1"/>
              <a:t>Anidamiento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C45AC-3AB3-BBA5-F2FE-9BC636860487}"/>
              </a:ext>
            </a:extLst>
          </p:cNvPr>
          <p:cNvSpPr txBox="1"/>
          <p:nvPr/>
        </p:nvSpPr>
        <p:spPr>
          <a:xfrm>
            <a:off x="178594" y="6490643"/>
            <a:ext cx="6129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https://gaijinpot.scdn3.secure.raxcdn.com/app/uploads/sites/4/2018/10/iStock-661289636.jpg</a:t>
            </a:r>
          </a:p>
        </p:txBody>
      </p:sp>
    </p:spTree>
    <p:extLst>
      <p:ext uri="{BB962C8B-B14F-4D97-AF65-F5344CB8AC3E}">
        <p14:creationId xmlns:p14="http://schemas.microsoft.com/office/powerpoint/2010/main" val="282799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698A2FD-C4B3-C563-AA51-820949A473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</a:blip>
          <a:srcRect l="-708" t="322" r="708" b="32047"/>
          <a:stretch/>
        </p:blipFill>
        <p:spPr>
          <a:xfrm>
            <a:off x="1102278" y="3685042"/>
            <a:ext cx="4695825" cy="317585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7938B83-3E05-606E-E3AA-9632CD3B8589}"/>
              </a:ext>
            </a:extLst>
          </p:cNvPr>
          <p:cNvGrpSpPr/>
          <p:nvPr/>
        </p:nvGrpSpPr>
        <p:grpSpPr>
          <a:xfrm>
            <a:off x="838200" y="-38100"/>
            <a:ext cx="4629752" cy="1015663"/>
            <a:chOff x="924025" y="1526961"/>
            <a:chExt cx="4629752" cy="10156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50EF41-2106-C937-122E-3F6302533C0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DC77A9-4A50-19B0-EA51-F428022767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24A317-6A56-3734-A2C3-8C75203F9B8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36E960-5BBC-9786-0108-C96B6C3E702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E109DD-EB3D-B14B-2FE8-7DE0FD091F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/>
              <a:t>5. ¿Cuál de los siguientes bloques de código genera un bucle infinito?</a:t>
            </a:r>
          </a:p>
          <a:p>
            <a:pPr marL="50800" indent="0">
              <a:buNone/>
            </a:pPr>
            <a:r>
              <a:rPr lang="es-ES" dirty="0"/>
              <a:t>	  A.			B.			C.			D.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29B21E0-8A5B-908D-C362-01E5D2165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694" y="3583759"/>
            <a:ext cx="2198918" cy="1496767"/>
          </a:xfrm>
          <a:prstGeom prst="roundRect">
            <a:avLst>
              <a:gd name="adj" fmla="val 611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x -=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(x--);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1089582-C1D5-B820-A7DE-41204EC0A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7157" y="3583759"/>
            <a:ext cx="2396550" cy="2375474"/>
          </a:xfrm>
          <a:prstGeom prst="roundRect">
            <a:avLst>
              <a:gd name="adj" fmla="val 5440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x /=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%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x++;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E9976AE-DE39-1D08-356E-211F607BC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141" y="3583759"/>
            <a:ext cx="2452211" cy="1353917"/>
          </a:xfrm>
          <a:prstGeom prst="roundRect">
            <a:avLst>
              <a:gd name="adj" fmla="val 752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(x--);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9364A38-2BBE-8689-637B-B00BE6165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8881" y="3583759"/>
            <a:ext cx="2269748" cy="2684416"/>
          </a:xfrm>
          <a:prstGeom prst="roundRect">
            <a:avLst>
              <a:gd name="adj" fmla="val 642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x--;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%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x++;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x--;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C7EB62-55A4-32B0-1A26-367DF0459A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</a:blip>
          <a:srcRect t="41350"/>
          <a:stretch/>
        </p:blipFill>
        <p:spPr>
          <a:xfrm>
            <a:off x="5767989" y="0"/>
            <a:ext cx="4695825" cy="275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2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 de la sesión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60491" cy="4373562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¿A qué le llamamos “bucle”?</a:t>
            </a:r>
          </a:p>
          <a:p>
            <a:r>
              <a:rPr lang="es-ES" dirty="0">
                <a:latin typeface="Helvetica"/>
              </a:rPr>
              <a:t>¿Qué es un contador?</a:t>
            </a:r>
          </a:p>
          <a:p>
            <a:r>
              <a:rPr lang="es-ES" dirty="0">
                <a:latin typeface="Helvetica"/>
              </a:rPr>
              <a:t>¿Qué es un acumulador?</a:t>
            </a:r>
          </a:p>
          <a:p>
            <a:r>
              <a:rPr lang="es-ES" dirty="0">
                <a:latin typeface="Helvetica"/>
              </a:rPr>
              <a:t>¿Cómo funciona la estructura 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es un centinela?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/>
              <a:t>Tanenbaum &amp; Van </a:t>
            </a:r>
            <a:r>
              <a:rPr lang="es-ES" err="1"/>
              <a:t>Steen</a:t>
            </a:r>
            <a:r>
              <a:rPr lang="es-ES"/>
              <a:t> (2008).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/>
              <a:t>. Pearson </a:t>
            </a:r>
            <a:r>
              <a:rPr lang="es-ES" err="1"/>
              <a:t>Education</a:t>
            </a:r>
            <a:r>
              <a:rPr lang="es-ES"/>
              <a:t>​.</a:t>
            </a:r>
          </a:p>
          <a:p>
            <a:pPr>
              <a:lnSpc>
                <a:spcPct val="120000"/>
              </a:lnSpc>
            </a:pPr>
            <a:r>
              <a:rPr lang="en-US"/>
              <a:t>Khalid A. Mughal &amp; Rolf W. Rasmussen (2017). A </a:t>
            </a:r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2248</Words>
  <Application>Microsoft Office PowerPoint</Application>
  <PresentationFormat>Panorámica</PresentationFormat>
  <Paragraphs>303</Paragraphs>
  <Slides>33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Estructuras Repetitivas. Sentencia while (I)</vt:lpstr>
      <vt:lpstr>Conocimientos previos</vt:lpstr>
      <vt:lpstr>Logro de aprendizaje</vt:lpstr>
      <vt:lpstr>Utilidad</vt:lpstr>
      <vt:lpstr>Presentación de PowerPoint</vt:lpstr>
      <vt:lpstr>Presentación de PowerPoint</vt:lpstr>
      <vt:lpstr>¿Qué es una estructura repetitiva?</vt:lpstr>
      <vt:lpstr>Estructuras repetitivas en Java</vt:lpstr>
      <vt:lpstr>Presentación de PowerPoint</vt:lpstr>
      <vt:lpstr>Estructura repetitiva while</vt:lpstr>
      <vt:lpstr>Estructura repetitiva while. Ejemplo.</vt:lpstr>
      <vt:lpstr>¿Puede un bucle ser infinito?</vt:lpstr>
      <vt:lpstr>Cómo terminar un bucle. Centinelas.</vt:lpstr>
      <vt:lpstr>Centinelas. Ejemplo.</vt:lpstr>
      <vt:lpstr>Presentación de PowerPoint</vt:lpstr>
      <vt:lpstr>Variables de control</vt:lpstr>
      <vt:lpstr>Contadores</vt:lpstr>
      <vt:lpstr>Acumuladores</vt:lpstr>
      <vt:lpstr>Contadores y Acumuladores. Ejemplo.</vt:lpstr>
      <vt:lpstr>Presentación de PowerPoint</vt:lpstr>
      <vt:lpstr>Cuestionario</vt:lpstr>
      <vt:lpstr>Cuestionario</vt:lpstr>
      <vt:lpstr>Cuestionario</vt:lpstr>
      <vt:lpstr>Cuestionario</vt:lpstr>
      <vt:lpstr>Cuestionario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06-Sesión 11</dc:title>
  <dc:creator>jorgerodcas@hotmail.com</dc:creator>
  <cp:lastModifiedBy>Juan Carlos García</cp:lastModifiedBy>
  <cp:revision>103</cp:revision>
  <dcterms:modified xsi:type="dcterms:W3CDTF">2023-10-20T21:31:52Z</dcterms:modified>
</cp:coreProperties>
</file>